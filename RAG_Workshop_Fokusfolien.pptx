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9.svg" ContentType="image/svg+xml"/>
  <Override PartName="/ppt/media/image30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19" r:id="rId11"/>
    <p:sldId id="320" r:id="rId33"/>
    <p:sldId id="321" r:id="rId34"/>
    <p:sldId id="322" r:id="rId35"/>
    <p:sldId id="323" r:id="rId36"/>
  </p:sldIdLst>
  <p:sldSz cx="12192000" cy="6858000"/>
  <p:notesSz cx="6858000" cy="9144000"/>
  <p:custDataLst>
    <p:tags r:id="rId2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CF0866B-2EFC-4CA7-8393-D6AFEE97856F}">
          <p14:sldIdLst>
            <p14:sldId id="290"/>
            <p14:sldId id="279"/>
            <p14:sldId id="296"/>
            <p14:sldId id="301"/>
            <p14:sldId id="263"/>
            <p14:sldId id="317"/>
            <p14:sldId id="319"/>
            <p14:sldId id="266"/>
            <p14:sldId id="307"/>
            <p14:sldId id="322"/>
            <p14:sldId id="308"/>
            <p14:sldId id="256"/>
            <p14:sldId id="313"/>
            <p14:sldId id="320"/>
            <p14:sldId id="321"/>
            <p14:sldId id="271"/>
            <p14:sldId id="272"/>
            <p14:sldId id="274"/>
            <p14:sldId id="275"/>
            <p14:sldId id="27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58A"/>
    <a:srgbClr val="C60C30"/>
    <a:srgbClr val="FA9400"/>
    <a:srgbClr val="2D3F4B"/>
    <a:srgbClr val="81725E"/>
    <a:srgbClr val="C3B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6331" autoAdjust="0"/>
  </p:normalViewPr>
  <p:slideViewPr>
    <p:cSldViewPr snapToGrid="0">
      <p:cViewPr varScale="1">
        <p:scale>
          <a:sx n="111" d="100"/>
          <a:sy n="111" d="100"/>
        </p:scale>
        <p:origin x="5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627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tags" Target="tags/tag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6A69B8-F8BF-45E8-8E26-C1AD319FA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C8C891-3080-4C4A-9398-0E083D417F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8011C-FE86-4EBC-8644-A1C19BB3B3D0}" type="datetimeFigureOut">
              <a:rPr lang="de-DE" sz="1000" smtClean="0"/>
              <a:t>08.08.2026</a:t>
            </a:fld>
            <a:endParaRPr lang="de-DE" sz="10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7B172A-3C37-4057-ACE2-175B96FA97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66941-C97F-43D0-BDF7-53041F8558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CC31A-7437-4AD4-BE25-A3E9DE772000}" type="slidenum">
              <a:rPr lang="de-DE" sz="1000" smtClean="0"/>
              <a:t>‹Nr.›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32502882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ADD5FE3D-F70B-4796-8811-3B9EE273F98E}" type="datetimeFigureOut">
              <a:rPr lang="de-DE" smtClean="0"/>
              <a:pPr/>
              <a:t>08.08.2026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79938" y="616828"/>
            <a:ext cx="4698124" cy="264269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4952" y="3417562"/>
            <a:ext cx="6448096" cy="510961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042C5124-4C40-4574-A599-2A4750070F6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556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32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648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864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080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081088" y="617538"/>
            <a:ext cx="4695825" cy="26416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Kernbotschaft: Ein Vector RAG besteht aus einer vorbereitenden Ingest-Pipeline und einer Laufzeit-Pipeline für Fragen.</a:t>
            </a:r>
          </a:p>
          <a:p>
            <a:endParaRPr/>
          </a:p>
          <a:p>
            <a:r>
              <a:t>Sprechtext: Links läuft der Ingest: Rohdateien werden extrahiert, bereinigt, in Chunks geteilt, in Embeddings übersetzt und in ChromaDB gespeichert. Rechts läuft die Anfrage: Auch die Frage wird mit demselben Embedding-Modell in einen Vektor übersetzt. Die Datenbank sucht ähnliche Chunks; diese werden als relevanter Kontext zusammen mit der Frage an das Chat-LLM gegeben.</a:t>
            </a:r>
          </a:p>
          <a:p>
            <a:endParaRPr/>
          </a:p>
          <a:p>
            <a:r>
              <a:t>Wichtig: Embedding-LLM und Chat-LLM haben unterschiedliche Aufgaben. Das Embedding-Modell erzeugt vergleichbare Vektoren; das Chat-Modell formuliert die Antwort.</a:t>
            </a:r>
          </a:p>
          <a:p>
            <a:endParaRPr/>
          </a:p>
          <a:p>
            <a:r>
              <a:t>Übergang: Auf der nächsten Folie lesen wir denselben Ablauf als klar getrennten Offline- und Online-Prozess.</a:t>
            </a:r>
          </a:p>
          <a:p>
            <a:endParaRPr/>
          </a:p>
          <a:p>
            <a:r>
              <a:t>Kernbotschaft: Die aufwendige Dokumentverarbeitung geschieht offline; bei jeder Frage werden nur Query-Embedding, Suche und Generierung ausgeführt.</a:t>
            </a:r>
          </a:p>
          <a:p>
            <a:endParaRPr/>
          </a:p>
          <a:p>
            <a:r>
              <a:t>Sprechtext: Der obere beziehungsweise linke Pfad wird beim Aufbau oder Aktualisieren des Index ausgeführt. Der Anfragepfad beginnt bei der Query, erzeugt ein Query-Embedding, sucht in der Vector Database und übergibt nur die ausgewählten Chunks an das LLM. Genau diese „Relevant Data“ sind der abgefragte Dokumentkontext, den wir später in der Evaluation vermessen.</a:t>
            </a:r>
          </a:p>
          <a:p>
            <a:endParaRPr/>
          </a:p>
          <a:p>
            <a:r>
              <a:t>Publikumsfrage: An welchen Stellen kann trotz dieser Pipeline noch ein Fehler entstehen?</a:t>
            </a:r>
          </a:p>
          <a:p>
            <a:endParaRPr/>
          </a:p>
          <a:p>
            <a:r>
              <a:t>Mögliche Antworten: schlechte PDF-Extraktion, ungünstige Chunk-Grenzen, unpassende Embeddings, falsche Rangfolge oder eine fehlerhafte Nutzung des richtigen Kontexts durch das Chat-LLM.</a:t>
            </a:r>
          </a:p>
          <a:p>
            <a:endParaRPr/>
          </a:p>
          <a:p>
            <a:r>
              <a:t>Übergang: Diese Fehlerquellen bearbeiten wir im Repository in aufeinander aufbauenden Stufen.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B78C75-CA31-41AE-AEDE-620AE0B6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6955077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0B5DAE3-E9C3-48BD-9F84-B39C87C1D4EA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A3F16-FDB8-4953-A58C-2B60646B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6955077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EF96BDF-1EFD-C687-37EA-26A9820E5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681902"/>
            <a:ext cx="11213810" cy="2627953"/>
          </a:xfrm>
        </p:spPr>
        <p:txBody>
          <a:bodyPr anchor="b">
            <a:noAutofit/>
          </a:bodyPr>
          <a:lstStyle>
            <a:lvl1pPr algn="l">
              <a:defRPr sz="64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B9821CB4-4105-593A-8910-0631B1C4B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3759402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6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9" name="Grafik 8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4EDD70EE-192C-2566-C8E2-2FA335FB8F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21801" y="5807997"/>
            <a:ext cx="2390774" cy="796924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ED41F76-2FD8-C695-9AAB-E13A38368370}"/>
              </a:ext>
            </a:extLst>
          </p:cNvPr>
          <p:cNvCxnSpPr/>
          <p:nvPr userDrawn="1"/>
        </p:nvCxnSpPr>
        <p:spPr>
          <a:xfrm>
            <a:off x="482461" y="3476438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665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CA178C-2C73-463F-9F14-7C3AB8FE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7004480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B295712-26CE-4B63-A766-0110588AF45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CD4E-8DD8-480D-BACB-090CB38CC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7004480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89A4928-6045-6BA7-0796-4C85DAD89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2503864"/>
            <a:ext cx="11213810" cy="2627953"/>
          </a:xfrm>
        </p:spPr>
        <p:txBody>
          <a:bodyPr anchor="b">
            <a:noAutofit/>
          </a:bodyPr>
          <a:lstStyle>
            <a:lvl1pPr algn="l">
              <a:defRPr sz="48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78CB770C-79C3-DDA1-7310-08E1E6209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5651499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0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258E601A-84E1-B74E-C78F-566D5650845E}"/>
              </a:ext>
            </a:extLst>
          </p:cNvPr>
          <p:cNvCxnSpPr/>
          <p:nvPr userDrawn="1"/>
        </p:nvCxnSpPr>
        <p:spPr>
          <a:xfrm>
            <a:off x="482461" y="5365704"/>
            <a:ext cx="11709539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fik 16" descr="Ein Bild, das Person, Bürogebäude, Job, Im Haus enthält.&#10;&#10;Automatisch generierte Beschreibung">
            <a:extLst>
              <a:ext uri="{FF2B5EF4-FFF2-40B4-BE49-F238E27FC236}">
                <a16:creationId xmlns:a16="http://schemas.microsoft.com/office/drawing/2014/main" id="{E3597F30-0234-397C-2EA6-057ADD201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323"/>
            <a:ext cx="12218321" cy="3430323"/>
          </a:xfrm>
          <a:prstGeom prst="rect">
            <a:avLst/>
          </a:prstGeom>
        </p:spPr>
      </p:pic>
      <p:pic>
        <p:nvPicPr>
          <p:cNvPr id="18" name="Grafik 17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8CB349CA-52F4-2981-3073-1A216557DF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77413" y="5870578"/>
            <a:ext cx="2035162" cy="6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40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CFD17-B4B7-4718-A0B2-C6A29F34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306F30-4A06-4848-889C-2B49A0310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6E7C6-F2CE-4756-8C9C-414CDB636DDE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D22D5-1327-4CC6-BC04-BBBA842D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064667C-5F85-4F72-9F6B-BFF00F7DBD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2461" y="1412875"/>
            <a:ext cx="11230114" cy="4752975"/>
          </a:xfrm>
        </p:spPr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33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A376F-3B67-4495-9024-BFB364999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A6E583-214B-4790-B49E-75E172B9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11384-F462-4D90-9803-E7B6DB23FD1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71F9D4-799C-4023-A650-6ADDB366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E37E4F-CE4E-4777-9C17-53E5210C7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818BD93-1DDD-412D-A871-6BC5B00BBC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03950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074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59010-3833-46D1-85CE-E9F83B9A0CA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81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rgbClr val="C3B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8AD2-0CB6-4686-BC54-BC8E97B8777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8" name="Titel 5">
            <a:extLst>
              <a:ext uri="{FF2B5EF4-FFF2-40B4-BE49-F238E27FC236}">
                <a16:creationId xmlns:a16="http://schemas.microsoft.com/office/drawing/2014/main" id="{3A643077-A9CA-F47F-0A9E-1AF3807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2A728F00-27F7-562C-219D-86F622B7FDD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85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57833-6AB4-4458-8CD6-D82947634C0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 descr="Ein Bild, das Kleidung, Person, Menschliches Gesicht, Wand enthält.&#10;&#10;Automatisch generierte Beschreibung">
            <a:extLst>
              <a:ext uri="{FF2B5EF4-FFF2-40B4-BE49-F238E27FC236}">
                <a16:creationId xmlns:a16="http://schemas.microsoft.com/office/drawing/2014/main" id="{B0B4ED09-54AD-0FA1-50C1-0D8D4FD221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4017" cy="445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41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801D-3341-4DAA-8DB7-EA54BF0E83F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 descr="Ein Bild, das Kleidung, Person, Job, Mann enthält.&#10;&#10;Automatisch generierte Beschreibung">
            <a:extLst>
              <a:ext uri="{FF2B5EF4-FFF2-40B4-BE49-F238E27FC236}">
                <a16:creationId xmlns:a16="http://schemas.microsoft.com/office/drawing/2014/main" id="{9B02C635-22D7-3C01-B31E-8BF39184E5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207274" cy="4453467"/>
          </a:xfrm>
          <a:prstGeom prst="rect">
            <a:avLst/>
          </a:prstGeom>
        </p:spPr>
      </p:pic>
      <p:sp>
        <p:nvSpPr>
          <p:cNvPr id="7" name="Titel 5">
            <a:extLst>
              <a:ext uri="{FF2B5EF4-FFF2-40B4-BE49-F238E27FC236}">
                <a16:creationId xmlns:a16="http://schemas.microsoft.com/office/drawing/2014/main" id="{2479842B-4F83-0530-611F-DABFE9C1B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995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335EF-45ED-4E9C-9C66-FA632E3C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C1744-D639-45C4-8D62-63B8E6EA4645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5661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68D4EDF-0B8A-EC57-FA1B-8F6B30C70DBD}"/>
              </a:ext>
            </a:extLst>
          </p:cNvPr>
          <p:cNvSpPr/>
          <p:nvPr userDrawn="1"/>
        </p:nvSpPr>
        <p:spPr>
          <a:xfrm>
            <a:off x="0" y="0"/>
            <a:ext cx="12192000" cy="59195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DD234-259D-4F15-8408-EA64820F639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609E4E5-60AD-96A2-134A-7945378C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0575"/>
            <a:ext cx="11230114" cy="2901141"/>
          </a:xfrm>
        </p:spPr>
        <p:txBody>
          <a:bodyPr anchor="b" anchorCtr="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899FE9C-58B2-B080-35E1-68B9BECC2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461" y="3483324"/>
            <a:ext cx="6168505" cy="46412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41543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1E2B7DFD-A86C-4E70-8523-5C51C2182A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6732680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306" imgH="306" progId="TCLayout.ActiveDocument.1">
                  <p:embed/>
                </p:oleObj>
              </mc:Choice>
              <mc:Fallback>
                <p:oleObj name="think-cell Folie" r:id="rId14" imgW="306" imgH="3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DD4019C-FA41-4DCB-805B-361EDF75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346633"/>
            <a:ext cx="11230114" cy="7676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2891B6-CDC1-4079-B1F7-551FF564F3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3451" y="6359712"/>
            <a:ext cx="61674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F18E43C-E52F-48EA-B380-1F3AB6DC196F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ED3B5-429C-4615-9F3E-01C199CD6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2461" y="6359712"/>
            <a:ext cx="41527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550445BB-B4A0-4D52-8CFF-52C0C8209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461" y="1412875"/>
            <a:ext cx="11230114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  <a:p>
            <a:pPr lvl="5"/>
            <a:r>
              <a:rPr lang="de-CH" dirty="0"/>
              <a:t>Sechste Ebene</a:t>
            </a:r>
          </a:p>
          <a:p>
            <a:pPr lvl="6"/>
            <a:r>
              <a:rPr lang="de-CH" dirty="0"/>
              <a:t>Siebte Ebene</a:t>
            </a:r>
          </a:p>
          <a:p>
            <a:pPr lvl="7"/>
            <a:r>
              <a:rPr lang="de-CH" dirty="0"/>
              <a:t>Achte Ebene</a:t>
            </a:r>
          </a:p>
          <a:p>
            <a:pPr lvl="8"/>
            <a:r>
              <a:rPr lang="de-CH" dirty="0"/>
              <a:t>Neunte Ebene</a:t>
            </a:r>
          </a:p>
        </p:txBody>
      </p:sp>
      <p:pic>
        <p:nvPicPr>
          <p:cNvPr id="7" name="Grafik 6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634BCDEB-7373-351C-E4E2-551AB91F5BE0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509163" y="6232744"/>
            <a:ext cx="1213732" cy="404577"/>
          </a:xfrm>
          <a:prstGeom prst="rect">
            <a:avLst/>
          </a:prstGeom>
        </p:spPr>
      </p:pic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8286FE18-28CD-A869-E5C9-DD9B69D00291}"/>
              </a:ext>
            </a:extLst>
          </p:cNvPr>
          <p:cNvCxnSpPr/>
          <p:nvPr userDrawn="1"/>
        </p:nvCxnSpPr>
        <p:spPr>
          <a:xfrm>
            <a:off x="482461" y="1130864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A4311B1-BD77-70B6-72ED-8322B6F15F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476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CH" sz="7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C2 - Intern</a:t>
            </a:r>
          </a:p>
        </p:txBody>
      </p:sp>
    </p:spTree>
    <p:extLst>
      <p:ext uri="{BB962C8B-B14F-4D97-AF65-F5344CB8AC3E}">
        <p14:creationId xmlns:p14="http://schemas.microsoft.com/office/powerpoint/2010/main" val="389667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5" r:id="rId5"/>
    <p:sldLayoutId id="2147483664" r:id="rId6"/>
    <p:sldLayoutId id="2147483667" r:id="rId7"/>
    <p:sldLayoutId id="2147483668" r:id="rId8"/>
    <p:sldLayoutId id="2147483654" r:id="rId9"/>
    <p:sldLayoutId id="2147483666" r:id="rId10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296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51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72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94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84" userDrawn="1">
          <p15:clr>
            <a:srgbClr val="F26B43"/>
          </p15:clr>
        </p15:guide>
        <p15:guide id="2" pos="7378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4" orient="horz" pos="89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3772" userDrawn="1">
          <p15:clr>
            <a:srgbClr val="F26B43"/>
          </p15:clr>
        </p15:guide>
        <p15:guide id="7" pos="3908" userDrawn="1">
          <p15:clr>
            <a:srgbClr val="F26B43"/>
          </p15:clr>
        </p15:guide>
        <p15:guide id="8" orient="horz" pos="238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1 · Chat ohne 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>
            <a:off x="91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uppe Query"/>
          <p:cNvGrpSpPr/>
          <p:nvPr/>
        </p:nvGrpSpPr>
        <p:grpSpPr>
          <a:xfrm>
            <a:off x="9540000" y="1440000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40000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40000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07600"/>
            <a:ext cx="1800000" cy="273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LLM"/>
          <p:cNvSpPr/>
          <p:nvPr/>
        </p:nvSpPr>
        <p:spPr>
          <a:xfrm>
            <a:off x="7696800" y="49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Query"/>
          <p:cNvSpPr/>
          <p:nvPr/>
        </p:nvSpPr>
        <p:spPr>
          <a:xfrm>
            <a:off x="9496800" y="13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esponse"/>
          <p:cNvSpPr/>
          <p:nvPr/>
        </p:nvSpPr>
        <p:spPr>
          <a:xfrm>
            <a:off x="9496800" y="49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2a · Ingest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>
            <a:off x="1980000" y="1873800"/>
            <a:ext cx="21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>
            <a:off x="91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40000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0000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40000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780000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700000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700000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700000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40000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40000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0000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07600"/>
            <a:ext cx="1800000" cy="273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65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Chunks"/>
          <p:cNvSpPr/>
          <p:nvPr/>
        </p:nvSpPr>
        <p:spPr>
          <a:xfrm>
            <a:off x="496800" y="13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Embedding LLM@4140000"/>
          <p:cNvSpPr/>
          <p:nvPr/>
        </p:nvSpPr>
        <p:spPr>
          <a:xfrm>
            <a:off x="4096800" y="13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Embeddings@4140000"/>
          <p:cNvSpPr/>
          <p:nvPr/>
        </p:nvSpPr>
        <p:spPr>
          <a:xfrm>
            <a:off x="4096800" y="265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4" name="Marker Information Extraction"/>
          <p:cNvSpPr/>
          <p:nvPr/>
        </p:nvSpPr>
        <p:spPr>
          <a:xfrm>
            <a:off x="496800" y="373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5" name="Marker Raw Data Files"/>
          <p:cNvSpPr/>
          <p:nvPr/>
        </p:nvSpPr>
        <p:spPr>
          <a:xfrm>
            <a:off x="496800" y="49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6" name="Marker Vector Database"/>
          <p:cNvSpPr/>
          <p:nvPr/>
        </p:nvSpPr>
        <p:spPr>
          <a:xfrm>
            <a:off x="5896800" y="265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2b · Retrieval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>
            <a:off x="1980000" y="1873800"/>
            <a:ext cx="21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>
            <a:off x="91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>
            <a:off x="9180000" y="18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40000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0000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40000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780000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700000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700000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700000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40000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0000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8:svgBlip xmlns:ns8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40000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40000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0000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700000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780000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07600"/>
            <a:ext cx="1800000" cy="273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Embedding LLM@7740000"/>
          <p:cNvSpPr/>
          <p:nvPr/>
        </p:nvSpPr>
        <p:spPr>
          <a:xfrm>
            <a:off x="7696800" y="13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Embeddings@7740000"/>
          <p:cNvSpPr/>
          <p:nvPr/>
        </p:nvSpPr>
        <p:spPr>
          <a:xfrm>
            <a:off x="7696800" y="265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anking"/>
          <p:cNvSpPr/>
          <p:nvPr/>
        </p:nvSpPr>
        <p:spPr>
          <a:xfrm>
            <a:off x="5896800" y="373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Relevant Data"/>
          <p:cNvSpPr/>
          <p:nvPr/>
        </p:nvSpPr>
        <p:spPr>
          <a:xfrm>
            <a:off x="5896800" y="499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3 · Chunking und Reranking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>
            <a:off x="1980000" y="1873800"/>
            <a:ext cx="21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>
            <a:off x="91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>
            <a:off x="9180000" y="18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40000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0000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40000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780000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700000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700000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700000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40000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0000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8:svgBlip xmlns:ns8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40000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40000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0000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700000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780000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07600"/>
            <a:ext cx="1800000" cy="273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65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Ranking"/>
          <p:cNvSpPr/>
          <p:nvPr/>
        </p:nvSpPr>
        <p:spPr>
          <a:xfrm>
            <a:off x="5896800" y="373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4 · GraphRAG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>
            <a:off x="1980000" y="1873800"/>
            <a:ext cx="21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>
            <a:off x="9180000" y="54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>
            <a:off x="9180000" y="187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0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13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67600"/>
            <a:ext cx="0" cy="21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116">
            <a:extLst>
              <a:ext uri="{FF2B5EF4-FFF2-40B4-BE49-F238E27FC236}">
                <a16:creationId xmlns:a16="http://schemas.microsoft.com/office/drawing/2014/main" id="{3BE2586C-9C1C-363F-5145-8C1A7F21DECA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1980000" y="421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116">
            <a:extLst>
              <a:ext uri="{FF2B5EF4-FFF2-40B4-BE49-F238E27FC236}">
                <a16:creationId xmlns:a16="http://schemas.microsoft.com/office/drawing/2014/main" id="{25C8CBDB-7E9A-B6BE-F8EC-E9E9D762206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3780000" y="421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47600"/>
            <a:ext cx="0" cy="39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116">
            <a:extLst>
              <a:ext uri="{FF2B5EF4-FFF2-40B4-BE49-F238E27FC236}">
                <a16:creationId xmlns:a16="http://schemas.microsoft.com/office/drawing/2014/main" id="{FF4DA23A-99B1-2EA7-2BF4-A55BB1B63FEE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>
            <a:off x="5580000" y="4213800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40000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0000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40000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780000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700000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700000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700000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40000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0000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8:svgBlip xmlns:ns8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40000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40000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0000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700000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3" name="Gruppe Graph Engine">
            <a:extLst>
              <a:ext uri="{FF2B5EF4-FFF2-40B4-BE49-F238E27FC236}">
                <a16:creationId xmlns:a16="http://schemas.microsoft.com/office/drawing/2014/main" id="{D25D0927-7500-9C4D-B2AC-C86A40E321DD}"/>
              </a:ext>
            </a:extLst>
          </p:cNvPr>
          <p:cNvGrpSpPr/>
          <p:nvPr/>
        </p:nvGrpSpPr>
        <p:grpSpPr>
          <a:xfrm>
            <a:off x="2340000" y="3780000"/>
            <a:ext cx="1440000" cy="867600"/>
            <a:chOff x="2783916" y="1570799"/>
            <a:chExt cx="1440000" cy="867600"/>
          </a:xfrm>
        </p:grpSpPr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6FECBFFE-AEE2-FC47-F568-0299509D082E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Engine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1" name="Grafik 39">
              <a:extLst>
                <a:ext uri="{FF2B5EF4-FFF2-40B4-BE49-F238E27FC236}">
                  <a16:creationId xmlns:a16="http://schemas.microsoft.com/office/drawing/2014/main" id="{0EFCE21A-B763-94D4-1211-67A4EFC1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ns13:svgBlip xmlns:ns13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36" name="Gerader Verbinder 35">
              <a:extLst>
                <a:ext uri="{FF2B5EF4-FFF2-40B4-BE49-F238E27FC236}">
                  <a16:creationId xmlns:a16="http://schemas.microsoft.com/office/drawing/2014/main" id="{7AF572F4-9F0D-9BB4-7971-013A069E5F43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2" name="Gruppe Graph Database">
            <a:extLst>
              <a:ext uri="{FF2B5EF4-FFF2-40B4-BE49-F238E27FC236}">
                <a16:creationId xmlns:a16="http://schemas.microsoft.com/office/drawing/2014/main" id="{BFB423DB-992A-5876-26AC-811D2AA99C40}"/>
              </a:ext>
            </a:extLst>
          </p:cNvPr>
          <p:cNvGrpSpPr/>
          <p:nvPr/>
        </p:nvGrpSpPr>
        <p:grpSpPr>
          <a:xfrm>
            <a:off x="4140000" y="3780000"/>
            <a:ext cx="1440000" cy="867600"/>
            <a:chOff x="5005715" y="2776165"/>
            <a:chExt cx="1440000" cy="867600"/>
          </a:xfrm>
        </p:grpSpPr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CC99E781-A55C-22DF-C8AA-03E22653591B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7" name="Grafik 14">
              <a:extLst>
                <a:ext uri="{FF2B5EF4-FFF2-40B4-BE49-F238E27FC236}">
                  <a16:creationId xmlns:a16="http://schemas.microsoft.com/office/drawing/2014/main" id="{E645D8D1-1C81-9BB2-4C15-4C7B2E7D1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ns14:svgBlip xmlns:ns14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D3D9A905-2AB4-FDD0-3893-A133C5A52487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780000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07600"/>
            <a:ext cx="1800000" cy="273240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Graph Database"/>
          <p:cNvSpPr/>
          <p:nvPr/>
        </p:nvSpPr>
        <p:spPr>
          <a:xfrm>
            <a:off x="4096800" y="373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Graph Engine"/>
          <p:cNvSpPr/>
          <p:nvPr/>
        </p:nvSpPr>
        <p:spPr>
          <a:xfrm>
            <a:off x="2296800" y="3736800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KROS">
  <a:themeElements>
    <a:clrScheme name="AKROS">
      <a:dk1>
        <a:srgbClr val="2D3F4B"/>
      </a:dk1>
      <a:lt1>
        <a:srgbClr val="FFFFFF"/>
      </a:lt1>
      <a:dk2>
        <a:srgbClr val="C3BBB2"/>
      </a:dk2>
      <a:lt2>
        <a:srgbClr val="EAE8E5"/>
      </a:lt2>
      <a:accent1>
        <a:srgbClr val="C60C30"/>
      </a:accent1>
      <a:accent2>
        <a:srgbClr val="9BC7EE"/>
      </a:accent2>
      <a:accent3>
        <a:srgbClr val="81725E"/>
      </a:accent3>
      <a:accent4>
        <a:srgbClr val="7C466F"/>
      </a:accent4>
      <a:accent5>
        <a:srgbClr val="43858A"/>
      </a:accent5>
      <a:accent6>
        <a:srgbClr val="C9960F"/>
      </a:accent6>
      <a:hlink>
        <a:srgbClr val="9BC7EE"/>
      </a:hlink>
      <a:folHlink>
        <a:srgbClr val="7C46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88367761-9025-4769-BDE4-09E40FE64903}" vid="{2F0FD1FC-3CEC-4585-A92B-9814C981C47B}"/>
    </a:ext>
  </a:extLst>
</a:theme>
</file>

<file path=ppt/theme/theme2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D39DBAC6A50C74E998B9EB660A68B40" ma:contentTypeVersion="12" ma:contentTypeDescription="Ein neues Dokument erstellen." ma:contentTypeScope="" ma:versionID="34dc225a7d6106712b96f9699847575b">
  <xsd:schema xmlns:xsd="http://www.w3.org/2001/XMLSchema" xmlns:xs="http://www.w3.org/2001/XMLSchema" xmlns:p="http://schemas.microsoft.com/office/2006/metadata/properties" xmlns:ns2="501edefc-5b9b-422a-9450-cf7f1f30e3fa" xmlns:ns3="3083c7a9-d95a-44c4-8fb8-f93b125494d6" targetNamespace="http://schemas.microsoft.com/office/2006/metadata/properties" ma:root="true" ma:fieldsID="b7244162b0b071e6bfc5af2eca0d94d3" ns2:_="" ns3:_="">
    <xsd:import namespace="501edefc-5b9b-422a-9450-cf7f1f30e3fa"/>
    <xsd:import namespace="3083c7a9-d95a-44c4-8fb8-f93b125494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edefc-5b9b-422a-9450-cf7f1f30e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d4e16f4a-3b6f-4338-be2c-d51c74cd1a9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83c7a9-d95a-44c4-8fb8-f93b125494d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59f4a8-ef3d-48d5-9536-d2a90983fe2c}" ma:internalName="TaxCatchAll" ma:showField="CatchAllData" ma:web="3083c7a9-d95a-44c4-8fb8-f93b125494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01edefc-5b9b-422a-9450-cf7f1f30e3fa">
      <Terms xmlns="http://schemas.microsoft.com/office/infopath/2007/PartnerControls"/>
    </lcf76f155ced4ddcb4097134ff3c332f>
    <TaxCatchAll xmlns="3083c7a9-d95a-44c4-8fb8-f93b125494d6" xsi:nil="true"/>
  </documentManagement>
</p:properties>
</file>

<file path=customXml/itemProps1.xml><?xml version="1.0" encoding="utf-8"?>
<ds:datastoreItem xmlns:ds="http://schemas.openxmlformats.org/officeDocument/2006/customXml" ds:itemID="{42C8284C-7C61-4B35-A2FD-8E50AFE936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edefc-5b9b-422a-9450-cf7f1f30e3fa"/>
    <ds:schemaRef ds:uri="3083c7a9-d95a-44c4-8fb8-f93b125494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4436CE-240F-4EE4-9FC5-4255E68742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02A1CC-4AEF-4830-BB1C-A446161EB02D}">
  <ds:schemaRefs>
    <ds:schemaRef ds:uri="http://schemas.microsoft.com/office/2006/metadata/properties"/>
    <ds:schemaRef ds:uri="http://schemas.microsoft.com/office/infopath/2007/PartnerControls"/>
    <ds:schemaRef ds:uri="7052a6c1-2dbf-49e9-b6e1-6fe4487af028"/>
    <ds:schemaRef ds:uri="d8f140f0-05e7-48e3-ba8b-dcc0ff83b3dd"/>
    <ds:schemaRef ds:uri="b22023f0-d141-4df7-85ad-6dd1e1377ec8"/>
    <ds:schemaRef ds:uri="bf122554-6983-45b2-a605-6e185ba8cf82"/>
    <ds:schemaRef ds:uri="501edefc-5b9b-422a-9450-cf7f1f30e3fa"/>
    <ds:schemaRef ds:uri="3083c7a9-d95a-44c4-8fb8-f93b125494d6"/>
  </ds:schemaRefs>
</ds:datastoreItem>
</file>

<file path=docMetadata/LabelInfo.xml><?xml version="1.0" encoding="utf-8"?>
<clbl:labelList xmlns:clbl="http://schemas.microsoft.com/office/2020/mipLabelMetadata">
  <clbl:label id="{42e461c6-591f-4920-9cf0-f1389542f8ad}" enabled="1" method="Standard" siteId="{2cda5d11-f0ac-46b3-967d-af1b2e1bd01a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AKROS_Firmenpräsentation</Template>
  <TotalTime>0</TotalTime>
  <Words>3970</Words>
  <Application>Microsoft Office PowerPoint</Application>
  <PresentationFormat>Breitbild</PresentationFormat>
  <Paragraphs>565</Paragraphs>
  <Slides>21</Slides>
  <Notes>20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Courier New</vt:lpstr>
      <vt:lpstr>AKROS</vt:lpstr>
      <vt:lpstr>think-cell Folie</vt:lpstr>
      <vt:lpstr>Retrieval-Augmented Generator (RAG)</vt:lpstr>
      <vt:lpstr>Agenda</vt:lpstr>
      <vt:lpstr>Was ist RAG?</vt:lpstr>
      <vt:lpstr>Reine LLMs haben drei blinde Flecken</vt:lpstr>
      <vt:lpstr>RAG verschiebt die Aufgabe</vt:lpstr>
      <vt:lpstr>Vier Bausteine formen den LLM-Kontext</vt:lpstr>
      <vt:lpstr>Aufbau eines Vector RAGs</vt:lpstr>
      <vt:lpstr>Vom Modellaufruf zum messbaren RAG</vt:lpstr>
      <vt:lpstr>Hands-on</vt:lpstr>
      <vt:lpstr>Vom Setup zur ersten belegbaren Antwort</vt:lpstr>
      <vt:lpstr>Advanced RAG</vt:lpstr>
      <vt:lpstr>PowerPoint-Präsentation</vt:lpstr>
      <vt:lpstr>PowerPoint-Präsentation</vt:lpstr>
      <vt:lpstr>PowerPoint-Präsentation</vt:lpstr>
      <vt:lpstr>PowerPoint-Präsentation</vt:lpstr>
      <vt:lpstr>GraphRAG: höchster Article-Recall, kleinster Kontext</vt:lpstr>
      <vt:lpstr>PowerPoint-Präsentation</vt:lpstr>
      <vt:lpstr>PowerPoint-Präsentation</vt:lpstr>
      <vt:lpstr>PowerPoint-Präsentation</vt:lpstr>
      <vt:lpstr>PowerPoint-Präsentation</vt:lpstr>
      <vt:lpstr>Vielen Dank für Ihr Interesse!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Mehltretter Stephanie</dc:creator>
  <cp:lastModifiedBy>Frey Daniel (IT-DA-EXT - Extern)</cp:lastModifiedBy>
  <cp:revision>43</cp:revision>
  <dcterms:created xsi:type="dcterms:W3CDTF">2026-08-04T12:09:36Z</dcterms:created>
  <dcterms:modified xsi:type="dcterms:W3CDTF">2026-08-08T14:32:16Z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0x0101007D39DBAC6A50C74E998B9EB660A68B40</vt:lpwstr>
  </property>
  <property fmtid="{D5CDD505-2E9C-101B-9397-08002B2CF9AE}" pid="3" name="Order">
    <vt:r8>3495600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MediaServiceImageTags">
    <vt:lpwstr/>
  </property>
  <property fmtid="{D5CDD505-2E9C-101B-9397-08002B2CF9AE}" pid="10" name="ClassificationContentMarkingFooterLocations">
    <vt:lpwstr>AKROS:8</vt:lpwstr>
  </property>
  <property fmtid="{D5CDD505-2E9C-101B-9397-08002B2CF9AE}" pid="11" name="ClassificationContentMarkingFooterText">
    <vt:lpwstr>C2 - Intern</vt:lpwstr>
  </property>
</Properties>
</file>