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notesMasters/notesMaster1.xml" ContentType="application/vnd.openxmlformats-officedocument.presentationml.notesMaster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319" r:id="rId11"/>
    <p:sldId id="320" r:id="rId33"/>
    <p:sldId id="321" r:id="rId34"/>
    <p:sldId id="322" r:id="rId35"/>
    <p:sldId id="323" r:id="rId36"/>
  </p:sldIdLst>
  <p:sldSz cx="12192000" cy="6858000"/>
  <p:notesSz cx="6858000" cy="9144000"/>
  <p:custDataLst>
    <p:tags r:id="rId28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6CF0866B-2EFC-4CA7-8393-D6AFEE97856F}">
          <p14:sldIdLst>
            <p14:sldId id="290"/>
            <p14:sldId id="279"/>
            <p14:sldId id="296"/>
            <p14:sldId id="301"/>
            <p14:sldId id="263"/>
            <p14:sldId id="317"/>
            <p14:sldId id="319"/>
            <p14:sldId id="266"/>
            <p14:sldId id="307"/>
            <p14:sldId id="322"/>
            <p14:sldId id="308"/>
            <p14:sldId id="256"/>
            <p14:sldId id="313"/>
            <p14:sldId id="320"/>
            <p14:sldId id="321"/>
            <p14:sldId id="271"/>
            <p14:sldId id="272"/>
            <p14:sldId id="274"/>
            <p14:sldId id="275"/>
            <p14:sldId id="276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858A"/>
    <a:srgbClr val="C60C30"/>
    <a:srgbClr val="FA9400"/>
    <a:srgbClr val="2D3F4B"/>
    <a:srgbClr val="81725E"/>
    <a:srgbClr val="C3BB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86331" autoAdjust="0"/>
  </p:normalViewPr>
  <p:slideViewPr>
    <p:cSldViewPr snapToGrid="0">
      <p:cViewPr varScale="1">
        <p:scale>
          <a:sx n="111" d="100"/>
          <a:sy n="111" d="100"/>
        </p:scale>
        <p:origin x="51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21" d="100"/>
          <a:sy n="121" d="100"/>
        </p:scale>
        <p:origin x="627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tags" Target="tags/tag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06A69B8-F8BF-45E8-8E26-C1AD319FAF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sz="100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9C8C891-3080-4C4A-9398-0E083D417F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E8011C-FE86-4EBC-8644-A1C19BB3B3D0}" type="datetimeFigureOut">
              <a:rPr lang="de-DE" sz="1000" smtClean="0"/>
              <a:t>08.08.2026</a:t>
            </a:fld>
            <a:endParaRPr lang="de-DE" sz="100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37B172A-3C37-4057-ACE2-175B96FA97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sz="100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066941-C97F-43D0-BDF7-53041F8558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CC31A-7437-4AD4-BE25-A3E9DE772000}" type="slidenum">
              <a:rPr lang="de-DE" sz="1000" smtClean="0"/>
              <a:t>‹Nr.›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32502882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ADD5FE3D-F70B-4796-8811-3B9EE273F98E}" type="datetimeFigureOut">
              <a:rPr lang="de-DE" smtClean="0"/>
              <a:pPr/>
              <a:t>08.08.2026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079938" y="616828"/>
            <a:ext cx="4698124" cy="264269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204952" y="3417562"/>
            <a:ext cx="6448096" cy="510961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042C5124-4C40-4574-A599-2A4750070F64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5562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indent="-216000" algn="l" defTabSz="914400" rtl="0" eaLnBrk="1" latinLnBrk="0" hangingPunct="1">
      <a:spcAft>
        <a:spcPts val="1000"/>
      </a:spcAft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32000" indent="-216000" algn="l" defTabSz="914400" rtl="0" eaLnBrk="1" latinLnBrk="0" hangingPunct="1">
      <a:spcAft>
        <a:spcPts val="1000"/>
      </a:spcAft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648000" indent="-216000" algn="l" defTabSz="914400" rtl="0" eaLnBrk="1" latinLnBrk="0" hangingPunct="1">
      <a:spcAft>
        <a:spcPts val="1000"/>
      </a:spcAft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864000" indent="-216000" algn="l" defTabSz="914400" rtl="0" eaLnBrk="1" latinLnBrk="0" hangingPunct="1">
      <a:spcAft>
        <a:spcPts val="1000"/>
      </a:spcAft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080000" indent="-216000" algn="l" defTabSz="914400" rtl="0" eaLnBrk="1" latinLnBrk="0" hangingPunct="1">
      <a:spcAft>
        <a:spcPts val="1000"/>
      </a:spcAft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1081088" y="617538"/>
            <a:ext cx="4695825" cy="26416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Kernbotschaft: Ein Vector RAG besteht aus einer vorbereitenden Ingest-Pipeline und einer Laufzeit-Pipeline für Fragen.</a:t>
            </a:r>
          </a:p>
          <a:p>
            <a:endParaRPr/>
          </a:p>
          <a:p>
            <a:r>
              <a:t>Sprechtext: Links läuft der Ingest: Rohdateien werden extrahiert, bereinigt, in Chunks geteilt, in Embeddings übersetzt und in ChromaDB gespeichert. Rechts läuft die Anfrage: Auch die Frage wird mit demselben Embedding-Modell in einen Vektor übersetzt. Die Datenbank sucht ähnliche Chunks; diese werden als relevanter Kontext zusammen mit der Frage an das Chat-LLM gegeben.</a:t>
            </a:r>
          </a:p>
          <a:p>
            <a:endParaRPr/>
          </a:p>
          <a:p>
            <a:r>
              <a:t>Wichtig: Embedding-LLM und Chat-LLM haben unterschiedliche Aufgaben. Das Embedding-Modell erzeugt vergleichbare Vektoren; das Chat-Modell formuliert die Antwort.</a:t>
            </a:r>
          </a:p>
          <a:p>
            <a:endParaRPr/>
          </a:p>
          <a:p>
            <a:r>
              <a:t>Übergang: Auf der nächsten Folie lesen wir denselben Ablauf als klar getrennten Offline- und Online-Prozess.</a:t>
            </a:r>
          </a:p>
          <a:p>
            <a:endParaRPr/>
          </a:p>
          <a:p>
            <a:r>
              <a:t>Kernbotschaft: Die aufwendige Dokumentverarbeitung geschieht offline; bei jeder Frage werden nur Query-Embedding, Suche und Generierung ausgeführt.</a:t>
            </a:r>
          </a:p>
          <a:p>
            <a:endParaRPr/>
          </a:p>
          <a:p>
            <a:r>
              <a:t>Sprechtext: Der obere beziehungsweise linke Pfad wird beim Aufbau oder Aktualisieren des Index ausgeführt. Der Anfragepfad beginnt bei der Query, erzeugt ein Query-Embedding, sucht in der Vector Database und übergibt nur die ausgewählten Chunks an das LLM. Genau diese „Relevant Data“ sind der abgefragte Dokumentkontext, den wir später in der Evaluation vermessen.</a:t>
            </a:r>
          </a:p>
          <a:p>
            <a:endParaRPr/>
          </a:p>
          <a:p>
            <a:r>
              <a:t>Publikumsfrage: An welchen Stellen kann trotz dieser Pipeline noch ein Fehler entstehen?</a:t>
            </a:r>
          </a:p>
          <a:p>
            <a:endParaRPr/>
          </a:p>
          <a:p>
            <a:r>
              <a:t>Mögliche Antworten: schlechte PDF-Extraktion, ungünstige Chunk-Grenzen, unpassende Embeddings, falsche Rangfolge oder eine fehlerhafte Nutzung des richtigen Kontexts durch das Chat-LLM.</a:t>
            </a:r>
          </a:p>
          <a:p>
            <a:endParaRPr/>
          </a:p>
          <a:p>
            <a:r>
              <a:t>Übergang: Diese Fehlerquellen bearbeiten wir im Repository in aufeinander aufbauenden Stufen.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CB78C75-CA31-41AE-AEDE-620AE0B6A6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3451" y="6955077"/>
            <a:ext cx="616744" cy="15389"/>
          </a:xfrm>
        </p:spPr>
        <p:txBody>
          <a:bodyPr>
            <a:spAutoFit/>
          </a:bodyPr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C0B5DAE3-E9C3-48BD-9F84-B39C87C1D4EA}" type="datetime1">
              <a:rPr lang="de-CH" smtClean="0"/>
              <a:t>08.08.2026</a:t>
            </a:fld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0A3F16-FDB8-4953-A58C-2B60646BE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2461" y="6955077"/>
            <a:ext cx="415270" cy="15389"/>
          </a:xfrm>
        </p:spPr>
        <p:txBody>
          <a:bodyPr>
            <a:spAutoFit/>
          </a:bodyPr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CE7E00E2-F08D-429A-AD9B-1ECBEC02F4DB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EF96BDF-1EFD-C687-37EA-26A9820E53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765" y="681902"/>
            <a:ext cx="11213810" cy="2627953"/>
          </a:xfrm>
        </p:spPr>
        <p:txBody>
          <a:bodyPr anchor="b">
            <a:noAutofit/>
          </a:bodyPr>
          <a:lstStyle>
            <a:lvl1pPr algn="l">
              <a:defRPr sz="6400">
                <a:solidFill>
                  <a:srgbClr val="2D3F4B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B9821CB4-4105-593A-8910-0631B1C4B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765" y="3759402"/>
            <a:ext cx="6148215" cy="514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600" b="0">
                <a:solidFill>
                  <a:srgbClr val="2D3F4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 dirty="0"/>
          </a:p>
        </p:txBody>
      </p:sp>
      <p:pic>
        <p:nvPicPr>
          <p:cNvPr id="9" name="Grafik 8" descr="Ein Bild, das Text, Schrift, Grafiken, Logo enthält.&#10;&#10;Automatisch generierte Beschreibung">
            <a:extLst>
              <a:ext uri="{FF2B5EF4-FFF2-40B4-BE49-F238E27FC236}">
                <a16:creationId xmlns:a16="http://schemas.microsoft.com/office/drawing/2014/main" id="{4EDD70EE-192C-2566-C8E2-2FA335FB8F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21801" y="5807997"/>
            <a:ext cx="2390774" cy="796924"/>
          </a:xfrm>
          <a:prstGeom prst="rect">
            <a:avLst/>
          </a:prstGeom>
        </p:spPr>
      </p:pic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1ED41F76-2FD8-C695-9AAB-E13A38368370}"/>
              </a:ext>
            </a:extLst>
          </p:cNvPr>
          <p:cNvCxnSpPr/>
          <p:nvPr userDrawn="1"/>
        </p:nvCxnSpPr>
        <p:spPr>
          <a:xfrm>
            <a:off x="482461" y="3476438"/>
            <a:ext cx="11709539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2665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CA178C-2C73-463F-9F14-7C3AB8FE20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3451" y="7004480"/>
            <a:ext cx="616744" cy="15389"/>
          </a:xfrm>
        </p:spPr>
        <p:txBody>
          <a:bodyPr>
            <a:spAutoFit/>
          </a:bodyPr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CB295712-26CE-4B63-A766-0110588AF456}" type="datetime1">
              <a:rPr lang="de-CH" smtClean="0"/>
              <a:t>08.08.2026</a:t>
            </a:fld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B4CD4E-8DD8-480D-BACB-090CB38CC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2461" y="7004480"/>
            <a:ext cx="415270" cy="15389"/>
          </a:xfrm>
        </p:spPr>
        <p:txBody>
          <a:bodyPr>
            <a:spAutoFit/>
          </a:bodyPr>
          <a:lstStyle>
            <a:lvl1pPr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CE7E00E2-F08D-429A-AD9B-1ECBEC02F4DB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89A4928-6045-6BA7-0796-4C85DAD89B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765" y="2503864"/>
            <a:ext cx="11213810" cy="2627953"/>
          </a:xfrm>
        </p:spPr>
        <p:txBody>
          <a:bodyPr anchor="b">
            <a:noAutofit/>
          </a:bodyPr>
          <a:lstStyle>
            <a:lvl1pPr algn="l">
              <a:defRPr sz="4800">
                <a:solidFill>
                  <a:srgbClr val="2D3F4B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78CB770C-79C3-DDA1-7310-08E1E6209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765" y="5651499"/>
            <a:ext cx="6148215" cy="514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0">
                <a:solidFill>
                  <a:srgbClr val="2D3F4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 dirty="0"/>
          </a:p>
        </p:txBody>
      </p: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258E601A-84E1-B74E-C78F-566D5650845E}"/>
              </a:ext>
            </a:extLst>
          </p:cNvPr>
          <p:cNvCxnSpPr/>
          <p:nvPr userDrawn="1"/>
        </p:nvCxnSpPr>
        <p:spPr>
          <a:xfrm>
            <a:off x="482461" y="5365704"/>
            <a:ext cx="1170953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fik 16" descr="Ein Bild, das Person, Bürogebäude, Job, Im Haus enthält.&#10;&#10;Automatisch generierte Beschreibung">
            <a:extLst>
              <a:ext uri="{FF2B5EF4-FFF2-40B4-BE49-F238E27FC236}">
                <a16:creationId xmlns:a16="http://schemas.microsoft.com/office/drawing/2014/main" id="{E3597F30-0234-397C-2EA6-057ADD201C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323"/>
            <a:ext cx="12218321" cy="3430323"/>
          </a:xfrm>
          <a:prstGeom prst="rect">
            <a:avLst/>
          </a:prstGeom>
        </p:spPr>
      </p:pic>
      <p:pic>
        <p:nvPicPr>
          <p:cNvPr id="18" name="Grafik 17" descr="Ein Bild, das Text, Schrift, Grafiken, Logo enthält.&#10;&#10;Automatisch generierte Beschreibung">
            <a:extLst>
              <a:ext uri="{FF2B5EF4-FFF2-40B4-BE49-F238E27FC236}">
                <a16:creationId xmlns:a16="http://schemas.microsoft.com/office/drawing/2014/main" id="{8CB349CA-52F4-2981-3073-1A216557DF9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77413" y="5870578"/>
            <a:ext cx="2035162" cy="67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40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BCFD17-B4B7-4718-A0B2-C6A29F34A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306F30-4A06-4848-889C-2B49A0310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6E7C6-F2CE-4756-8C9C-414CDB636DDE}" type="datetime1">
              <a:rPr lang="de-CH" smtClean="0"/>
              <a:t>08.08.2026</a:t>
            </a:fld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9D22D5-1327-4CC6-BC04-BBBA842D5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00E2-F08D-429A-AD9B-1ECBEC02F4DB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9064667C-5F85-4F72-9F6B-BFF00F7DBD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2461" y="1412875"/>
            <a:ext cx="11230114" cy="4752975"/>
          </a:xfrm>
        </p:spPr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523351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FA376F-3B67-4495-9024-BFB36499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CA6E583-214B-4790-B49E-75E172B91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11384-F462-4D90-9803-E7B6DB23FD1B}" type="datetime1">
              <a:rPr lang="de-CH" smtClean="0"/>
              <a:t>08.08.2026</a:t>
            </a:fld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F71F9D4-799C-4023-A650-6ADDB366A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00E2-F08D-429A-AD9B-1ECBEC02F4DB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AEE37E4F-CE4E-4777-9C17-53E5210C7D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5" y="1412875"/>
            <a:ext cx="5508625" cy="47529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A818BD93-1DDD-412D-A871-6BC5B00BBC1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03950" y="1412875"/>
            <a:ext cx="5508625" cy="47529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50747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folie ohne Bild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2B569FC-FE53-4146-618B-EFBC7A5A6A0E}"/>
              </a:ext>
            </a:extLst>
          </p:cNvPr>
          <p:cNvSpPr/>
          <p:nvPr userDrawn="1"/>
        </p:nvSpPr>
        <p:spPr>
          <a:xfrm>
            <a:off x="0" y="0"/>
            <a:ext cx="12192000" cy="60577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8FAAB2D-A293-4D3D-9F4E-0FAB456D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59010-3833-46D1-85CE-E9F83B9A0CAB}" type="datetime1">
              <a:rPr lang="de-CH" smtClean="0"/>
              <a:t>08.08.2026</a:t>
            </a:fld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7690C60-FE02-43F5-B09D-31F22CBBD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00E2-F08D-429A-AD9B-1ECBEC02F4DB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7E1B35D-2558-4834-BED2-DCB957EFA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61" y="0"/>
            <a:ext cx="11230114" cy="2038490"/>
          </a:xfrm>
        </p:spPr>
        <p:txBody>
          <a:bodyPr anchor="b" anchorCtr="0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cxnSp>
        <p:nvCxnSpPr>
          <p:cNvPr id="4" name="Gerade Verbindung 3">
            <a:extLst>
              <a:ext uri="{FF2B5EF4-FFF2-40B4-BE49-F238E27FC236}">
                <a16:creationId xmlns:a16="http://schemas.microsoft.com/office/drawing/2014/main" id="{CCF65D67-392D-94A6-A705-0356D6275D98}"/>
              </a:ext>
            </a:extLst>
          </p:cNvPr>
          <p:cNvCxnSpPr/>
          <p:nvPr userDrawn="1"/>
        </p:nvCxnSpPr>
        <p:spPr>
          <a:xfrm>
            <a:off x="482461" y="2289762"/>
            <a:ext cx="11709539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2813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folie ohne Bild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2B569FC-FE53-4146-618B-EFBC7A5A6A0E}"/>
              </a:ext>
            </a:extLst>
          </p:cNvPr>
          <p:cNvSpPr/>
          <p:nvPr userDrawn="1"/>
        </p:nvSpPr>
        <p:spPr>
          <a:xfrm>
            <a:off x="0" y="0"/>
            <a:ext cx="12192000" cy="6057767"/>
          </a:xfrm>
          <a:prstGeom prst="rect">
            <a:avLst/>
          </a:prstGeom>
          <a:solidFill>
            <a:srgbClr val="C3BB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8FAAB2D-A293-4D3D-9F4E-0FAB456D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B8AD2-0CB6-4686-BC54-BC8E97B87777}" type="datetime1">
              <a:rPr lang="de-CH" smtClean="0"/>
              <a:t>08.08.2026</a:t>
            </a:fld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7690C60-FE02-43F5-B09D-31F22CBBD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00E2-F08D-429A-AD9B-1ECBEC02F4DB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8" name="Titel 5">
            <a:extLst>
              <a:ext uri="{FF2B5EF4-FFF2-40B4-BE49-F238E27FC236}">
                <a16:creationId xmlns:a16="http://schemas.microsoft.com/office/drawing/2014/main" id="{3A643077-A9CA-F47F-0A9E-1AF380752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61" y="0"/>
            <a:ext cx="11230114" cy="2038490"/>
          </a:xfrm>
        </p:spPr>
        <p:txBody>
          <a:bodyPr anchor="b" anchorCtr="0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2A728F00-27F7-562C-219D-86F622B7FDD8}"/>
              </a:ext>
            </a:extLst>
          </p:cNvPr>
          <p:cNvCxnSpPr/>
          <p:nvPr userDrawn="1"/>
        </p:nvCxnSpPr>
        <p:spPr>
          <a:xfrm>
            <a:off x="482461" y="2289762"/>
            <a:ext cx="11709539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0856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folie mit Bild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2B569FC-FE53-4146-618B-EFBC7A5A6A0E}"/>
              </a:ext>
            </a:extLst>
          </p:cNvPr>
          <p:cNvSpPr/>
          <p:nvPr userDrawn="1"/>
        </p:nvSpPr>
        <p:spPr>
          <a:xfrm>
            <a:off x="0" y="4453466"/>
            <a:ext cx="12192000" cy="16043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8FAAB2D-A293-4D3D-9F4E-0FAB456D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57833-6AB4-4458-8CD6-D82947634C0B}" type="datetime1">
              <a:rPr lang="de-CH" smtClean="0"/>
              <a:t>08.08.2026</a:t>
            </a:fld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7690C60-FE02-43F5-B09D-31F22CBBD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00E2-F08D-429A-AD9B-1ECBEC02F4DB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7E1B35D-2558-4834-BED2-DCB957EFA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61" y="4453467"/>
            <a:ext cx="11230114" cy="1604300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cxnSp>
        <p:nvCxnSpPr>
          <p:cNvPr id="4" name="Gerade Verbindung 3">
            <a:extLst>
              <a:ext uri="{FF2B5EF4-FFF2-40B4-BE49-F238E27FC236}">
                <a16:creationId xmlns:a16="http://schemas.microsoft.com/office/drawing/2014/main" id="{CCF65D67-392D-94A6-A705-0356D6275D98}"/>
              </a:ext>
            </a:extLst>
          </p:cNvPr>
          <p:cNvCxnSpPr/>
          <p:nvPr userDrawn="1"/>
        </p:nvCxnSpPr>
        <p:spPr>
          <a:xfrm>
            <a:off x="482461" y="3089995"/>
            <a:ext cx="1170953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 descr="Ein Bild, das Kleidung, Person, Menschliches Gesicht, Wand enthält.&#10;&#10;Automatisch generierte Beschreibung">
            <a:extLst>
              <a:ext uri="{FF2B5EF4-FFF2-40B4-BE49-F238E27FC236}">
                <a16:creationId xmlns:a16="http://schemas.microsoft.com/office/drawing/2014/main" id="{B0B4ED09-54AD-0FA1-50C1-0D8D4FD221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4017" cy="445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041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folie mit Bild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2B569FC-FE53-4146-618B-EFBC7A5A6A0E}"/>
              </a:ext>
            </a:extLst>
          </p:cNvPr>
          <p:cNvSpPr/>
          <p:nvPr userDrawn="1"/>
        </p:nvSpPr>
        <p:spPr>
          <a:xfrm>
            <a:off x="0" y="4453466"/>
            <a:ext cx="12192000" cy="16043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8FAAB2D-A293-4D3D-9F4E-0FAB456D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801D-3341-4DAA-8DB7-EA54BF0E83F6}" type="datetime1">
              <a:rPr lang="de-CH" smtClean="0"/>
              <a:t>08.08.2026</a:t>
            </a:fld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7690C60-FE02-43F5-B09D-31F22CBBD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00E2-F08D-429A-AD9B-1ECBEC02F4DB}" type="slidenum">
              <a:rPr lang="de-CH" smtClean="0"/>
              <a:t>‹Nr.›</a:t>
            </a:fld>
            <a:endParaRPr lang="de-CH" dirty="0"/>
          </a:p>
        </p:txBody>
      </p:sp>
      <p:cxnSp>
        <p:nvCxnSpPr>
          <p:cNvPr id="4" name="Gerade Verbindung 3">
            <a:extLst>
              <a:ext uri="{FF2B5EF4-FFF2-40B4-BE49-F238E27FC236}">
                <a16:creationId xmlns:a16="http://schemas.microsoft.com/office/drawing/2014/main" id="{CCF65D67-392D-94A6-A705-0356D6275D98}"/>
              </a:ext>
            </a:extLst>
          </p:cNvPr>
          <p:cNvCxnSpPr/>
          <p:nvPr userDrawn="1"/>
        </p:nvCxnSpPr>
        <p:spPr>
          <a:xfrm>
            <a:off x="482461" y="3089995"/>
            <a:ext cx="1170953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7" descr="Ein Bild, das Kleidung, Person, Job, Mann enthält.&#10;&#10;Automatisch generierte Beschreibung">
            <a:extLst>
              <a:ext uri="{FF2B5EF4-FFF2-40B4-BE49-F238E27FC236}">
                <a16:creationId xmlns:a16="http://schemas.microsoft.com/office/drawing/2014/main" id="{9B02C635-22D7-3C01-B31E-8BF39184E5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207274" cy="4453467"/>
          </a:xfrm>
          <a:prstGeom prst="rect">
            <a:avLst/>
          </a:prstGeom>
        </p:spPr>
      </p:pic>
      <p:sp>
        <p:nvSpPr>
          <p:cNvPr id="7" name="Titel 5">
            <a:extLst>
              <a:ext uri="{FF2B5EF4-FFF2-40B4-BE49-F238E27FC236}">
                <a16:creationId xmlns:a16="http://schemas.microsoft.com/office/drawing/2014/main" id="{2479842B-4F83-0530-611F-DABFE9C1B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61" y="4453467"/>
            <a:ext cx="11230114" cy="1604300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89958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4335EF-45ED-4E9C-9C66-FA632E3C4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8FAAB2D-A293-4D3D-9F4E-0FAB456D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C1744-D639-45C4-8D62-63B8E6EA4645}" type="datetime1">
              <a:rPr lang="de-CH" smtClean="0"/>
              <a:t>08.08.2026</a:t>
            </a:fld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7690C60-FE02-43F5-B09D-31F22CBBD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00E2-F08D-429A-AD9B-1ECBEC02F4DB}" type="slidenum">
              <a:rPr lang="de-CH" smtClean="0"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65661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68D4EDF-0B8A-EC57-FA1B-8F6B30C70DBD}"/>
              </a:ext>
            </a:extLst>
          </p:cNvPr>
          <p:cNvSpPr/>
          <p:nvPr userDrawn="1"/>
        </p:nvSpPr>
        <p:spPr>
          <a:xfrm>
            <a:off x="0" y="0"/>
            <a:ext cx="12192000" cy="59195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>
              <a:solidFill>
                <a:schemeClr val="tx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8FAAB2D-A293-4D3D-9F4E-0FAB456D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DD234-259D-4F15-8408-EA64820F6397}" type="datetime1">
              <a:rPr lang="de-CH" smtClean="0"/>
              <a:t>08.08.2026</a:t>
            </a:fld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7690C60-FE02-43F5-B09D-31F22CBBD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00E2-F08D-429A-AD9B-1ECBEC02F4DB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0609E4E5-60AD-96A2-134A-7945378CC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61" y="440575"/>
            <a:ext cx="11230114" cy="2901141"/>
          </a:xfrm>
        </p:spPr>
        <p:txBody>
          <a:bodyPr anchor="b" anchorCtr="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7899FE9C-58B2-B080-35E1-68B9BECC2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2461" y="3483324"/>
            <a:ext cx="6168505" cy="46412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34154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72336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tags" Target="../tags/tag2.xml"/><Relationship Id="rId14" Type="http://schemas.openxmlformats.org/officeDocument/2006/relationships/oleObject" Target="../embeddings/oleObject1.bin"/><Relationship Id="rId15" Type="http://schemas.openxmlformats.org/officeDocument/2006/relationships/image" Target="../media/image1.emf"/><Relationship Id="rId1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1E2B7DFD-A86C-4E70-8523-5C51C2182A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6732680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306" imgH="306" progId="TCLayout.ActiveDocument.1">
                  <p:embed/>
                </p:oleObj>
              </mc:Choice>
              <mc:Fallback>
                <p:oleObj name="think-cell Folie" r:id="rId14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DD4019C-FA41-4DCB-805B-361EDF756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61" y="346633"/>
            <a:ext cx="11230114" cy="76760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2891B6-CDC1-4079-B1F7-551FF564F3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451" y="6359712"/>
            <a:ext cx="616744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F18E43C-E52F-48EA-B380-1F3AB6DC196F}" type="datetime1">
              <a:rPr lang="de-CH" smtClean="0"/>
              <a:t>08.08.2026</a:t>
            </a:fld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FED3B5-429C-4615-9F3E-01C199CD6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2461" y="6359712"/>
            <a:ext cx="41527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fld id="{CE7E00E2-F08D-429A-AD9B-1ECBEC02F4DB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550445BB-B4A0-4D52-8CFF-52C0C8209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461" y="1412875"/>
            <a:ext cx="11230114" cy="47529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dirty="0"/>
              <a:t>Mastertextformat bearbeiten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  <a:p>
            <a:pPr lvl="5"/>
            <a:r>
              <a:rPr lang="de-CH" dirty="0"/>
              <a:t>Sechste Ebene</a:t>
            </a:r>
          </a:p>
          <a:p>
            <a:pPr lvl="6"/>
            <a:r>
              <a:rPr lang="de-CH" dirty="0"/>
              <a:t>Siebte Ebene</a:t>
            </a:r>
          </a:p>
          <a:p>
            <a:pPr lvl="7"/>
            <a:r>
              <a:rPr lang="de-CH" dirty="0"/>
              <a:t>Achte Ebene</a:t>
            </a:r>
          </a:p>
          <a:p>
            <a:pPr lvl="8"/>
            <a:r>
              <a:rPr lang="de-CH" dirty="0"/>
              <a:t>Neunte Ebene</a:t>
            </a:r>
          </a:p>
        </p:txBody>
      </p:sp>
      <p:pic>
        <p:nvPicPr>
          <p:cNvPr id="7" name="Grafik 6" descr="Ein Bild, das Text, Schrift, Grafiken, Logo enthält.&#10;&#10;Automatisch generierte Beschreibung">
            <a:extLst>
              <a:ext uri="{FF2B5EF4-FFF2-40B4-BE49-F238E27FC236}">
                <a16:creationId xmlns:a16="http://schemas.microsoft.com/office/drawing/2014/main" id="{634BCDEB-7373-351C-E4E2-551AB91F5BE0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509163" y="6232744"/>
            <a:ext cx="1213732" cy="404577"/>
          </a:xfrm>
          <a:prstGeom prst="rect">
            <a:avLst/>
          </a:prstGeom>
        </p:spPr>
      </p:pic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8286FE18-28CD-A869-E5C9-DD9B69D00291}"/>
              </a:ext>
            </a:extLst>
          </p:cNvPr>
          <p:cNvCxnSpPr/>
          <p:nvPr userDrawn="1"/>
        </p:nvCxnSpPr>
        <p:spPr>
          <a:xfrm>
            <a:off x="482461" y="1130864"/>
            <a:ext cx="11709539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DA4311B1-BD77-70B6-72ED-8322B6F15FF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44767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CH" sz="7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C2 - Intern</a:t>
            </a:r>
          </a:p>
        </p:txBody>
      </p:sp>
    </p:spTree>
    <p:extLst>
      <p:ext uri="{BB962C8B-B14F-4D97-AF65-F5344CB8AC3E}">
        <p14:creationId xmlns:p14="http://schemas.microsoft.com/office/powerpoint/2010/main" val="389667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2" r:id="rId4"/>
    <p:sldLayoutId id="2147483665" r:id="rId5"/>
    <p:sldLayoutId id="2147483664" r:id="rId6"/>
    <p:sldLayoutId id="2147483667" r:id="rId7"/>
    <p:sldLayoutId id="2147483668" r:id="rId8"/>
    <p:sldLayoutId id="2147483654" r:id="rId9"/>
    <p:sldLayoutId id="2147483666" r:id="rId10"/>
    <p:sldLayoutId id="214748366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296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1512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1728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1944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84" userDrawn="1">
          <p15:clr>
            <a:srgbClr val="F26B43"/>
          </p15:clr>
        </p15:guide>
        <p15:guide id="2" pos="7378" userDrawn="1">
          <p15:clr>
            <a:srgbClr val="F26B43"/>
          </p15:clr>
        </p15:guide>
        <p15:guide id="3" pos="302" userDrawn="1">
          <p15:clr>
            <a:srgbClr val="F26B43"/>
          </p15:clr>
        </p15:guide>
        <p15:guide id="4" orient="horz" pos="890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3772" userDrawn="1">
          <p15:clr>
            <a:srgbClr val="F26B43"/>
          </p15:clr>
        </p15:guide>
        <p15:guide id="7" pos="3908" userDrawn="1">
          <p15:clr>
            <a:srgbClr val="F26B43"/>
          </p15:clr>
        </p15:guide>
        <p15:guide id="8" orient="horz" pos="238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6.png"/><Relationship Id="rId17" Type="http://schemas.openxmlformats.org/officeDocument/2006/relationships/image" Target="../media/image27.svg"/><Relationship Id="rId18" Type="http://schemas.openxmlformats.org/officeDocument/2006/relationships/image" Target="../media/image28.png"/><Relationship Id="rId19" Type="http://schemas.openxmlformats.org/officeDocument/2006/relationships/image" Target="../media/image29.svg"/><Relationship Id="rId20" Type="http://schemas.openxmlformats.org/officeDocument/2006/relationships/image" Target="../media/image30.png"/><Relationship Id="rId21" Type="http://schemas.openxmlformats.org/officeDocument/2006/relationships/image" Target="../media/image31.svg"/><Relationship Id="rId22" Type="http://schemas.openxmlformats.org/officeDocument/2006/relationships/image" Target="../media/image32.png"/><Relationship Id="rId23" Type="http://schemas.openxmlformats.org/officeDocument/2006/relationships/image" Target="../media/image33.svg"/><Relationship Id="rId24" Type="http://schemas.openxmlformats.org/officeDocument/2006/relationships/image" Target="../media/image34.png"/><Relationship Id="rId25" Type="http://schemas.openxmlformats.org/officeDocument/2006/relationships/image" Target="../media/image35.svg"/><Relationship Id="rId26" Type="http://schemas.openxmlformats.org/officeDocument/2006/relationships/image" Target="../media/image36.png"/><Relationship Id="rId27" Type="http://schemas.openxmlformats.org/officeDocument/2006/relationships/image" Target="../media/image37.svg"/><Relationship Id="rId28" Type="http://schemas.openxmlformats.org/officeDocument/2006/relationships/image" Target="../media/image38.png"/><Relationship Id="rId29" Type="http://schemas.openxmlformats.org/officeDocument/2006/relationships/image" Target="../media/image39.svg"/><Relationship Id="rId30" Type="http://schemas.openxmlformats.org/officeDocument/2006/relationships/image" Target="../media/image40.png"/><Relationship Id="rId31" Type="http://schemas.openxmlformats.org/officeDocument/2006/relationships/image" Target="../media/image41.svg"/><Relationship Id="rId32" Type="http://schemas.openxmlformats.org/officeDocument/2006/relationships/image" Target="../media/image42.png"/><Relationship Id="rId33" Type="http://schemas.openxmlformats.org/officeDocument/2006/relationships/image" Target="../media/image43.svg"/><Relationship Id="rId34" Type="http://schemas.openxmlformats.org/officeDocument/2006/relationships/image" Target="../media/image44.png"/><Relationship Id="rId35" Type="http://schemas.openxmlformats.org/officeDocument/2006/relationships/image" Target="../media/image45.svg"/><Relationship Id="rId36" Type="http://schemas.openxmlformats.org/officeDocument/2006/relationships/image" Target="../media/image46.png"/><Relationship Id="rId37" Type="http://schemas.openxmlformats.org/officeDocument/2006/relationships/image" Target="../media/image47.svg"/><Relationship Id="rId38" Type="http://schemas.openxmlformats.org/officeDocument/2006/relationships/image" Target="../media/image48.png"/><Relationship Id="rId39" Type="http://schemas.openxmlformats.org/officeDocument/2006/relationships/image" Target="../media/image49.svg"/><Relationship Id="rId40" Type="http://schemas.openxmlformats.org/officeDocument/2006/relationships/image" Target="../media/image50.png"/><Relationship Id="rId41" Type="http://schemas.openxmlformats.org/officeDocument/2006/relationships/image" Target="../media/image51.svg"/><Relationship Id="rId42" Type="http://schemas.openxmlformats.org/officeDocument/2006/relationships/image" Target="../media/image52.png"/><Relationship Id="rId43" Type="http://schemas.openxmlformats.org/officeDocument/2006/relationships/image" Target="../media/image5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16" Type="http://schemas.openxmlformats.org/officeDocument/2006/relationships/image" Target="../media/image26.png"/><Relationship Id="rId17" Type="http://schemas.openxmlformats.org/officeDocument/2006/relationships/image" Target="../media/image27.svg"/><Relationship Id="rId18" Type="http://schemas.openxmlformats.org/officeDocument/2006/relationships/image" Target="../media/image28.png"/><Relationship Id="rId19" Type="http://schemas.openxmlformats.org/officeDocument/2006/relationships/image" Target="../media/image29.svg"/><Relationship Id="rId20" Type="http://schemas.openxmlformats.org/officeDocument/2006/relationships/image" Target="../media/image30.png"/><Relationship Id="rId21" Type="http://schemas.openxmlformats.org/officeDocument/2006/relationships/image" Target="../media/image31.svg"/><Relationship Id="rId22" Type="http://schemas.openxmlformats.org/officeDocument/2006/relationships/image" Target="../media/image32.png"/><Relationship Id="rId23" Type="http://schemas.openxmlformats.org/officeDocument/2006/relationships/image" Target="../media/image33.svg"/><Relationship Id="rId24" Type="http://schemas.openxmlformats.org/officeDocument/2006/relationships/image" Target="../media/image34.png"/><Relationship Id="rId25" Type="http://schemas.openxmlformats.org/officeDocument/2006/relationships/image" Target="../media/image35.svg"/><Relationship Id="rId26" Type="http://schemas.openxmlformats.org/officeDocument/2006/relationships/image" Target="../media/image36.png"/><Relationship Id="rId27" Type="http://schemas.openxmlformats.org/officeDocument/2006/relationships/image" Target="../media/image37.svg"/><Relationship Id="rId28" Type="http://schemas.openxmlformats.org/officeDocument/2006/relationships/image" Target="../media/image38.png"/><Relationship Id="rId29" Type="http://schemas.openxmlformats.org/officeDocument/2006/relationships/image" Target="../media/image39.svg"/><Relationship Id="rId30" Type="http://schemas.openxmlformats.org/officeDocument/2006/relationships/image" Target="../media/image40.png"/><Relationship Id="rId31" Type="http://schemas.openxmlformats.org/officeDocument/2006/relationships/image" Target="../media/image41.svg"/><Relationship Id="rId32" Type="http://schemas.openxmlformats.org/officeDocument/2006/relationships/image" Target="../media/image42.png"/><Relationship Id="rId33" Type="http://schemas.openxmlformats.org/officeDocument/2006/relationships/image" Target="../media/image43.svg"/><Relationship Id="rId34" Type="http://schemas.openxmlformats.org/officeDocument/2006/relationships/image" Target="../media/image44.png"/><Relationship Id="rId35" Type="http://schemas.openxmlformats.org/officeDocument/2006/relationships/image" Target="../media/image45.svg"/><Relationship Id="rId36" Type="http://schemas.openxmlformats.org/officeDocument/2006/relationships/image" Target="../media/image46.png"/><Relationship Id="rId37" Type="http://schemas.openxmlformats.org/officeDocument/2006/relationships/image" Target="../media/image47.svg"/><Relationship Id="rId38" Type="http://schemas.openxmlformats.org/officeDocument/2006/relationships/image" Target="../media/image48.png"/><Relationship Id="rId39" Type="http://schemas.openxmlformats.org/officeDocument/2006/relationships/image" Target="../media/image49.svg"/><Relationship Id="rId40" Type="http://schemas.openxmlformats.org/officeDocument/2006/relationships/image" Target="../media/image50.png"/><Relationship Id="rId41" Type="http://schemas.openxmlformats.org/officeDocument/2006/relationships/image" Target="../media/image51.svg"/><Relationship Id="rId42" Type="http://schemas.openxmlformats.org/officeDocument/2006/relationships/image" Target="../media/image52.png"/><Relationship Id="rId43" Type="http://schemas.openxmlformats.org/officeDocument/2006/relationships/image" Target="../media/image5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16" Type="http://schemas.openxmlformats.org/officeDocument/2006/relationships/image" Target="../media/image26.png"/><Relationship Id="rId17" Type="http://schemas.openxmlformats.org/officeDocument/2006/relationships/image" Target="../media/image27.svg"/><Relationship Id="rId18" Type="http://schemas.openxmlformats.org/officeDocument/2006/relationships/image" Target="../media/image28.png"/><Relationship Id="rId19" Type="http://schemas.openxmlformats.org/officeDocument/2006/relationships/image" Target="../media/image29.svg"/><Relationship Id="rId20" Type="http://schemas.openxmlformats.org/officeDocument/2006/relationships/image" Target="../media/image30.png"/><Relationship Id="rId21" Type="http://schemas.openxmlformats.org/officeDocument/2006/relationships/image" Target="../media/image31.svg"/><Relationship Id="rId22" Type="http://schemas.openxmlformats.org/officeDocument/2006/relationships/image" Target="../media/image32.png"/><Relationship Id="rId23" Type="http://schemas.openxmlformats.org/officeDocument/2006/relationships/image" Target="../media/image33.svg"/><Relationship Id="rId24" Type="http://schemas.openxmlformats.org/officeDocument/2006/relationships/image" Target="../media/image34.png"/><Relationship Id="rId25" Type="http://schemas.openxmlformats.org/officeDocument/2006/relationships/image" Target="../media/image35.svg"/><Relationship Id="rId26" Type="http://schemas.openxmlformats.org/officeDocument/2006/relationships/image" Target="../media/image36.png"/><Relationship Id="rId27" Type="http://schemas.openxmlformats.org/officeDocument/2006/relationships/image" Target="../media/image37.svg"/><Relationship Id="rId28" Type="http://schemas.openxmlformats.org/officeDocument/2006/relationships/image" Target="../media/image38.png"/><Relationship Id="rId29" Type="http://schemas.openxmlformats.org/officeDocument/2006/relationships/image" Target="../media/image39.svg"/><Relationship Id="rId30" Type="http://schemas.openxmlformats.org/officeDocument/2006/relationships/image" Target="../media/image40.png"/><Relationship Id="rId31" Type="http://schemas.openxmlformats.org/officeDocument/2006/relationships/image" Target="../media/image41.svg"/><Relationship Id="rId32" Type="http://schemas.openxmlformats.org/officeDocument/2006/relationships/image" Target="../media/image42.png"/><Relationship Id="rId33" Type="http://schemas.openxmlformats.org/officeDocument/2006/relationships/image" Target="../media/image43.svg"/><Relationship Id="rId34" Type="http://schemas.openxmlformats.org/officeDocument/2006/relationships/image" Target="../media/image44.png"/><Relationship Id="rId35" Type="http://schemas.openxmlformats.org/officeDocument/2006/relationships/image" Target="../media/image45.svg"/><Relationship Id="rId36" Type="http://schemas.openxmlformats.org/officeDocument/2006/relationships/image" Target="../media/image46.png"/><Relationship Id="rId37" Type="http://schemas.openxmlformats.org/officeDocument/2006/relationships/image" Target="../media/image47.svg"/><Relationship Id="rId38" Type="http://schemas.openxmlformats.org/officeDocument/2006/relationships/image" Target="../media/image48.png"/><Relationship Id="rId39" Type="http://schemas.openxmlformats.org/officeDocument/2006/relationships/image" Target="../media/image49.svg"/><Relationship Id="rId40" Type="http://schemas.openxmlformats.org/officeDocument/2006/relationships/image" Target="../media/image50.png"/><Relationship Id="rId41" Type="http://schemas.openxmlformats.org/officeDocument/2006/relationships/image" Target="../media/image51.svg"/><Relationship Id="rId42" Type="http://schemas.openxmlformats.org/officeDocument/2006/relationships/image" Target="../media/image52.png"/><Relationship Id="rId43" Type="http://schemas.openxmlformats.org/officeDocument/2006/relationships/image" Target="../media/image5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16" Type="http://schemas.openxmlformats.org/officeDocument/2006/relationships/image" Target="../media/image26.png"/><Relationship Id="rId17" Type="http://schemas.openxmlformats.org/officeDocument/2006/relationships/image" Target="../media/image27.svg"/><Relationship Id="rId18" Type="http://schemas.openxmlformats.org/officeDocument/2006/relationships/image" Target="../media/image28.png"/><Relationship Id="rId19" Type="http://schemas.openxmlformats.org/officeDocument/2006/relationships/image" Target="../media/image29.svg"/><Relationship Id="rId20" Type="http://schemas.openxmlformats.org/officeDocument/2006/relationships/image" Target="../media/image30.png"/><Relationship Id="rId21" Type="http://schemas.openxmlformats.org/officeDocument/2006/relationships/image" Target="../media/image31.svg"/><Relationship Id="rId22" Type="http://schemas.openxmlformats.org/officeDocument/2006/relationships/image" Target="../media/image32.png"/><Relationship Id="rId23" Type="http://schemas.openxmlformats.org/officeDocument/2006/relationships/image" Target="../media/image33.svg"/><Relationship Id="rId24" Type="http://schemas.openxmlformats.org/officeDocument/2006/relationships/image" Target="../media/image34.png"/><Relationship Id="rId25" Type="http://schemas.openxmlformats.org/officeDocument/2006/relationships/image" Target="../media/image35.svg"/><Relationship Id="rId26" Type="http://schemas.openxmlformats.org/officeDocument/2006/relationships/image" Target="../media/image36.png"/><Relationship Id="rId27" Type="http://schemas.openxmlformats.org/officeDocument/2006/relationships/image" Target="../media/image37.svg"/><Relationship Id="rId28" Type="http://schemas.openxmlformats.org/officeDocument/2006/relationships/image" Target="../media/image38.png"/><Relationship Id="rId29" Type="http://schemas.openxmlformats.org/officeDocument/2006/relationships/image" Target="../media/image39.svg"/><Relationship Id="rId30" Type="http://schemas.openxmlformats.org/officeDocument/2006/relationships/image" Target="../media/image40.png"/><Relationship Id="rId31" Type="http://schemas.openxmlformats.org/officeDocument/2006/relationships/image" Target="../media/image41.svg"/><Relationship Id="rId32" Type="http://schemas.openxmlformats.org/officeDocument/2006/relationships/image" Target="../media/image42.png"/><Relationship Id="rId33" Type="http://schemas.openxmlformats.org/officeDocument/2006/relationships/image" Target="../media/image43.svg"/><Relationship Id="rId34" Type="http://schemas.openxmlformats.org/officeDocument/2006/relationships/image" Target="../media/image44.png"/><Relationship Id="rId35" Type="http://schemas.openxmlformats.org/officeDocument/2006/relationships/image" Target="../media/image45.svg"/><Relationship Id="rId36" Type="http://schemas.openxmlformats.org/officeDocument/2006/relationships/image" Target="../media/image46.png"/><Relationship Id="rId37" Type="http://schemas.openxmlformats.org/officeDocument/2006/relationships/image" Target="../media/image47.svg"/><Relationship Id="rId38" Type="http://schemas.openxmlformats.org/officeDocument/2006/relationships/image" Target="../media/image48.png"/><Relationship Id="rId39" Type="http://schemas.openxmlformats.org/officeDocument/2006/relationships/image" Target="../media/image49.svg"/><Relationship Id="rId40" Type="http://schemas.openxmlformats.org/officeDocument/2006/relationships/image" Target="../media/image50.png"/><Relationship Id="rId41" Type="http://schemas.openxmlformats.org/officeDocument/2006/relationships/image" Target="../media/image51.svg"/><Relationship Id="rId42" Type="http://schemas.openxmlformats.org/officeDocument/2006/relationships/image" Target="../media/image52.png"/><Relationship Id="rId43" Type="http://schemas.openxmlformats.org/officeDocument/2006/relationships/image" Target="../media/image5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16" Type="http://schemas.openxmlformats.org/officeDocument/2006/relationships/image" Target="../media/image26.png"/><Relationship Id="rId17" Type="http://schemas.openxmlformats.org/officeDocument/2006/relationships/image" Target="../media/image27.svg"/><Relationship Id="rId18" Type="http://schemas.openxmlformats.org/officeDocument/2006/relationships/image" Target="../media/image28.png"/><Relationship Id="rId19" Type="http://schemas.openxmlformats.org/officeDocument/2006/relationships/image" Target="../media/image29.svg"/><Relationship Id="rId20" Type="http://schemas.openxmlformats.org/officeDocument/2006/relationships/image" Target="../media/image30.png"/><Relationship Id="rId21" Type="http://schemas.openxmlformats.org/officeDocument/2006/relationships/image" Target="../media/image31.svg"/><Relationship Id="rId22" Type="http://schemas.openxmlformats.org/officeDocument/2006/relationships/image" Target="../media/image32.png"/><Relationship Id="rId23" Type="http://schemas.openxmlformats.org/officeDocument/2006/relationships/image" Target="../media/image33.svg"/><Relationship Id="rId24" Type="http://schemas.openxmlformats.org/officeDocument/2006/relationships/image" Target="../media/image34.png"/><Relationship Id="rId25" Type="http://schemas.openxmlformats.org/officeDocument/2006/relationships/image" Target="../media/image35.svg"/><Relationship Id="rId26" Type="http://schemas.openxmlformats.org/officeDocument/2006/relationships/image" Target="../media/image36.png"/><Relationship Id="rId27" Type="http://schemas.openxmlformats.org/officeDocument/2006/relationships/image" Target="../media/image37.svg"/><Relationship Id="rId28" Type="http://schemas.openxmlformats.org/officeDocument/2006/relationships/image" Target="../media/image38.png"/><Relationship Id="rId29" Type="http://schemas.openxmlformats.org/officeDocument/2006/relationships/image" Target="../media/image39.svg"/><Relationship Id="rId30" Type="http://schemas.openxmlformats.org/officeDocument/2006/relationships/image" Target="../media/image40.png"/><Relationship Id="rId31" Type="http://schemas.openxmlformats.org/officeDocument/2006/relationships/image" Target="../media/image41.svg"/><Relationship Id="rId32" Type="http://schemas.openxmlformats.org/officeDocument/2006/relationships/image" Target="../media/image42.png"/><Relationship Id="rId33" Type="http://schemas.openxmlformats.org/officeDocument/2006/relationships/image" Target="../media/image43.svg"/><Relationship Id="rId34" Type="http://schemas.openxmlformats.org/officeDocument/2006/relationships/image" Target="../media/image44.png"/><Relationship Id="rId35" Type="http://schemas.openxmlformats.org/officeDocument/2006/relationships/image" Target="../media/image45.svg"/><Relationship Id="rId36" Type="http://schemas.openxmlformats.org/officeDocument/2006/relationships/image" Target="../media/image46.png"/><Relationship Id="rId37" Type="http://schemas.openxmlformats.org/officeDocument/2006/relationships/image" Target="../media/image47.svg"/><Relationship Id="rId38" Type="http://schemas.openxmlformats.org/officeDocument/2006/relationships/image" Target="../media/image48.png"/><Relationship Id="rId39" Type="http://schemas.openxmlformats.org/officeDocument/2006/relationships/image" Target="../media/image49.svg"/><Relationship Id="rId40" Type="http://schemas.openxmlformats.org/officeDocument/2006/relationships/image" Target="../media/image50.png"/><Relationship Id="rId41" Type="http://schemas.openxmlformats.org/officeDocument/2006/relationships/image" Target="../media/image51.svg"/><Relationship Id="rId42" Type="http://schemas.openxmlformats.org/officeDocument/2006/relationships/image" Target="../media/image52.png"/><Relationship Id="rId43" Type="http://schemas.openxmlformats.org/officeDocument/2006/relationships/image" Target="../media/image5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BAC6-BCB5-98B3-8A58-1C6E4848A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A77537-C1FE-7896-AA65-64600F1BA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Stufe 1 · Chat ohne RAG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35B4C6F-32DB-B58C-A30E-9F6EA38F5F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7E00E2-F08D-429A-AD9B-1ECBEC02F4DB}" type="slidenum">
              <a:rPr lang="de-CH" smtClean="0"/>
              <a:t>7</a:t>
            </a:fld>
            <a:endParaRPr lang="de-CH"/>
          </a:p>
        </p:txBody>
      </p:sp>
      <p:cxnSp>
        <p:nvCxnSpPr>
          <p:cNvPr id="15" name="Gerade Verbindung mit Pfeil 143">
            <a:extLst>
              <a:ext uri="{FF2B5EF4-FFF2-40B4-BE49-F238E27FC236}">
                <a16:creationId xmlns:a16="http://schemas.microsoft.com/office/drawing/2014/main" id="{A1A5E8C3-3F80-9A63-9DF4-CD841A9DCB7A}"/>
              </a:ext>
            </a:extLst>
          </p:cNvPr>
          <p:cNvCxnSpPr>
            <a:cxnSpLocks/>
            <a:stCxn id="102" idx="3"/>
            <a:endCxn id="24" idx="1"/>
          </p:cNvCxnSpPr>
          <p:nvPr/>
        </p:nvCxnSpPr>
        <p:spPr>
          <a:xfrm flipV="1">
            <a:off x="9180000" y="5461803"/>
            <a:ext cx="360000" cy="9525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7" name="Gruppe Query"/>
          <p:cNvGrpSpPr/>
          <p:nvPr/>
        </p:nvGrpSpPr>
        <p:grpSpPr>
          <a:xfrm>
            <a:off x="9540000" y="1449525"/>
            <a:ext cx="1440000" cy="867600"/>
            <a:chOff x="10196840" y="1570799"/>
            <a:chExt cx="1440000" cy="867600"/>
          </a:xfrm>
        </p:grpSpPr>
        <p:sp>
          <p:nvSpPr>
            <p:cNvPr id="18" name="Rechteck: abgerundete Ecken 17">
              <a:extLst>
                <a:ext uri="{FF2B5EF4-FFF2-40B4-BE49-F238E27FC236}">
                  <a16:creationId xmlns:a16="http://schemas.microsoft.com/office/drawing/2014/main" id="{D9E7FE46-B6BE-8721-269A-6415AA075AA3}"/>
                </a:ext>
              </a:extLst>
            </p:cNvPr>
            <p:cNvSpPr>
              <a:spLocks/>
            </p:cNvSpPr>
            <p:nvPr/>
          </p:nvSpPr>
          <p:spPr>
            <a:xfrm>
              <a:off x="10196840" y="1570799"/>
              <a:ext cx="1440000" cy="867600"/>
            </a:xfrm>
            <a:prstGeom prst="roundRect">
              <a:avLst/>
            </a:prstGeom>
            <a:solidFill>
              <a:srgbClr val="C60C30">
                <a:alpha val="20000"/>
              </a:srgbClr>
            </a:solidFill>
            <a:ln w="1587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Query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20" name="Grafik 16">
              <a:extLst>
                <a:ext uri="{FF2B5EF4-FFF2-40B4-BE49-F238E27FC236}">
                  <a16:creationId xmlns:a16="http://schemas.microsoft.com/office/drawing/2014/main" id="{3FD27254-6A1A-1764-0C62-B71541831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ns1:svgBlip xmlns:ns1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682840" y="1914879"/>
              <a:ext cx="468000" cy="468000"/>
            </a:xfrm>
            <a:prstGeom prst="rect">
              <a:avLst/>
            </a:prstGeom>
          </p:spPr>
        </p:pic>
        <p:sp>
          <p:nvSpPr>
            <p:cNvPr id="159" name="Gerader Verbinder 159"/>
            <p:cNvSpPr>
              <a:spLocks/>
            </p:cNvSpPr>
            <p:nvPr/>
          </p:nvSpPr>
          <p:spPr>
            <a:xfrm flipV="1">
              <a:off x="10196840" y="1859360"/>
              <a:ext cx="1440000" cy="0"/>
            </a:xfrm>
            <a:prstGeom prst="line">
              <a:avLst/>
            </a:prstGeom>
            <a:ln w="15875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48" name="Gruppe Response"/>
          <p:cNvGrpSpPr/>
          <p:nvPr/>
        </p:nvGrpSpPr>
        <p:grpSpPr>
          <a:xfrm>
            <a:off x="9540000" y="5028003"/>
            <a:ext cx="1440000" cy="867600"/>
            <a:chOff x="10196840" y="5161353"/>
            <a:chExt cx="1440000" cy="867600"/>
          </a:xfrm>
        </p:grpSpPr>
        <p:sp>
          <p:nvSpPr>
            <p:cNvPr id="24" name="Rechteck: abgerundete Ecken 23">
              <a:extLst>
                <a:ext uri="{FF2B5EF4-FFF2-40B4-BE49-F238E27FC236}">
                  <a16:creationId xmlns:a16="http://schemas.microsoft.com/office/drawing/2014/main" id="{EF7C69F7-3BA6-3716-FB87-C6056C54CA0B}"/>
                </a:ext>
              </a:extLst>
            </p:cNvPr>
            <p:cNvSpPr>
              <a:spLocks/>
            </p:cNvSpPr>
            <p:nvPr/>
          </p:nvSpPr>
          <p:spPr>
            <a:xfrm>
              <a:off x="10196840" y="5161353"/>
              <a:ext cx="1440000" cy="867600"/>
            </a:xfrm>
            <a:prstGeom prst="roundRect">
              <a:avLst/>
            </a:prstGeom>
            <a:solidFill>
              <a:srgbClr val="43858A">
                <a:alpha val="20000"/>
              </a:srgbClr>
            </a:solidFill>
            <a:ln w="158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Response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28" name="Grafik 22">
              <a:extLst>
                <a:ext uri="{FF2B5EF4-FFF2-40B4-BE49-F238E27FC236}">
                  <a16:creationId xmlns:a16="http://schemas.microsoft.com/office/drawing/2014/main" id="{8C3ACE01-CA21-EEDC-1F98-9D084AF04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ns2:svgBlip xmlns:ns2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682840" y="5505433"/>
              <a:ext cx="468000" cy="468000"/>
            </a:xfrm>
            <a:prstGeom prst="rect">
              <a:avLst/>
            </a:prstGeom>
          </p:spPr>
        </p:pic>
        <p:sp>
          <p:nvSpPr>
            <p:cNvPr id="160" name="Gerader Verbinder 160"/>
            <p:cNvSpPr>
              <a:spLocks/>
            </p:cNvSpPr>
            <p:nvPr/>
          </p:nvSpPr>
          <p:spPr>
            <a:xfrm flipV="1">
              <a:off x="10196840" y="5449914"/>
              <a:ext cx="1440000" cy="0"/>
            </a:xfrm>
            <a:prstGeom prst="line">
              <a:avLst/>
            </a:prstGeom>
            <a:ln w="15875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27" name="Gruppe LLM">
            <a:extLst>
              <a:ext uri="{FF2B5EF4-FFF2-40B4-BE49-F238E27FC236}">
                <a16:creationId xmlns:a16="http://schemas.microsoft.com/office/drawing/2014/main" id="{CC8957DA-7EEF-07E6-4817-4A1CAB29C56A}"/>
              </a:ext>
            </a:extLst>
          </p:cNvPr>
          <p:cNvGrpSpPr/>
          <p:nvPr/>
        </p:nvGrpSpPr>
        <p:grpSpPr>
          <a:xfrm>
            <a:off x="7740000" y="5037528"/>
            <a:ext cx="1440000" cy="867600"/>
            <a:chOff x="8006090" y="5161353"/>
            <a:chExt cx="1440000" cy="867600"/>
          </a:xfrm>
        </p:grpSpPr>
        <p:sp>
          <p:nvSpPr>
            <p:cNvPr id="102" name="Rechteck: abgerundete Ecken 101">
              <a:extLst>
                <a:ext uri="{FF2B5EF4-FFF2-40B4-BE49-F238E27FC236}">
                  <a16:creationId xmlns:a16="http://schemas.microsoft.com/office/drawing/2014/main" id="{CCD2EF0F-009E-7BB9-2850-8D80476CA421}"/>
                </a:ext>
              </a:extLst>
            </p:cNvPr>
            <p:cNvSpPr>
              <a:spLocks/>
            </p:cNvSpPr>
            <p:nvPr/>
          </p:nvSpPr>
          <p:spPr>
            <a:xfrm>
              <a:off x="8006090" y="5161353"/>
              <a:ext cx="1440000" cy="867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LLM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104" name="Grafik 20">
              <a:extLst>
                <a:ext uri="{FF2B5EF4-FFF2-40B4-BE49-F238E27FC236}">
                  <a16:creationId xmlns:a16="http://schemas.microsoft.com/office/drawing/2014/main" id="{45D89FC9-D1BB-FFF3-F2CC-C8155D447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ns9:svgBlip xmlns:ns9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8492090" y="5505433"/>
              <a:ext cx="468000" cy="468000"/>
            </a:xfrm>
            <a:prstGeom prst="rect">
              <a:avLst/>
            </a:prstGeom>
          </p:spPr>
        </p:pic>
        <p:sp>
          <p:nvSpPr>
            <p:cNvPr id="106" name="Gerader Verbinder 105">
              <a:extLst>
                <a:ext uri="{FF2B5EF4-FFF2-40B4-BE49-F238E27FC236}">
                  <a16:creationId xmlns:a16="http://schemas.microsoft.com/office/drawing/2014/main" id="{C25ABEB4-F7C7-3DF5-DEEF-6DD6C45FCF01}"/>
                </a:ext>
              </a:extLst>
            </p:cNvPr>
            <p:cNvSpPr>
              <a:spLocks/>
            </p:cNvSpPr>
            <p:nvPr/>
          </p:nvSpPr>
          <p:spPr>
            <a:xfrm flipV="1">
              <a:off x="8006090" y="5449914"/>
              <a:ext cx="1440000" cy="0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cxnSp>
        <p:nvCxnSpPr>
          <p:cNvPr id="161" name="Gerade Verbindung Query LLM"/>
          <p:cNvCxnSpPr>
            <a:cxnSpLocks/>
            <a:stCxn id="18" idx="2"/>
            <a:endCxn id="102" idx="0"/>
          </p:cNvCxnSpPr>
          <p:nvPr/>
        </p:nvCxnSpPr>
        <p:spPr>
          <a:xfrm flipH="1">
            <a:off x="8460000" y="2317125"/>
            <a:ext cx="1800000" cy="2720403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0" name="Marker LLM"/>
          <p:cNvSpPr/>
          <p:nvPr/>
        </p:nvSpPr>
        <p:spPr>
          <a:xfrm>
            <a:off x="7696800" y="4994328"/>
            <a:ext cx="1526400" cy="954000"/>
          </a:xfrm>
          <a:prstGeom prst="roundRect">
            <a:avLst/>
          </a:prstGeom>
          <a:noFill/>
          <a:ln w="28575">
            <a:solidFill>
              <a:srgbClr val="C60C30"/>
            </a:solidFill>
            <a:prstDash val="dash"/>
          </a:ln>
        </p:spPr>
        <p:txBody>
          <a:bodyPr/>
          <a:lstStyle/>
          <a:p/>
        </p:txBody>
      </p:sp>
      <p:sp>
        <p:nvSpPr>
          <p:cNvPr id="1001" name="Marker Query"/>
          <p:cNvSpPr/>
          <p:nvPr/>
        </p:nvSpPr>
        <p:spPr>
          <a:xfrm>
            <a:off x="9496800" y="1406325"/>
            <a:ext cx="1526400" cy="954000"/>
          </a:xfrm>
          <a:prstGeom prst="roundRect">
            <a:avLst/>
          </a:prstGeom>
          <a:noFill/>
          <a:ln w="28575">
            <a:solidFill>
              <a:srgbClr val="C60C30"/>
            </a:solidFill>
            <a:prstDash val="dash"/>
          </a:ln>
        </p:spPr>
        <p:txBody>
          <a:bodyPr/>
          <a:lstStyle/>
          <a:p/>
        </p:txBody>
      </p:sp>
      <p:sp>
        <p:nvSpPr>
          <p:cNvPr id="1002" name="Marker Response"/>
          <p:cNvSpPr/>
          <p:nvPr/>
        </p:nvSpPr>
        <p:spPr>
          <a:xfrm>
            <a:off x="9496800" y="4984803"/>
            <a:ext cx="1526400" cy="954000"/>
          </a:xfrm>
          <a:prstGeom prst="roundRect">
            <a:avLst/>
          </a:prstGeom>
          <a:noFill/>
          <a:ln w="28575">
            <a:solidFill>
              <a:srgbClr val="C60C30"/>
            </a:solidFill>
            <a:prstDash val="dash"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074129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BAC6-BCB5-98B3-8A58-1C6E4848A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A77537-C1FE-7896-AA65-64600F1BA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Stufe 2a · Ingest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35B4C6F-32DB-B58C-A30E-9F6EA38F5F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7E00E2-F08D-429A-AD9B-1ECBEC02F4DB}" type="slidenum">
              <a:rPr lang="de-CH" smtClean="0"/>
              <a:t>7</a:t>
            </a:fld>
            <a:endParaRPr lang="de-CH"/>
          </a:p>
        </p:txBody>
      </p:sp>
      <p:cxnSp>
        <p:nvCxnSpPr>
          <p:cNvPr id="108" name="Gerade Verbindung mit Pfeil 116">
            <a:extLst>
              <a:ext uri="{FF2B5EF4-FFF2-40B4-BE49-F238E27FC236}">
                <a16:creationId xmlns:a16="http://schemas.microsoft.com/office/drawing/2014/main" id="{0BDDCE84-4016-2B9D-139E-B6028861F673}"/>
              </a:ext>
            </a:extLst>
          </p:cNvPr>
          <p:cNvCxnSpPr>
            <a:cxnSpLocks/>
            <a:stCxn id="37" idx="0"/>
            <a:endCxn id="45" idx="2"/>
          </p:cNvCxnSpPr>
          <p:nvPr/>
        </p:nvCxnSpPr>
        <p:spPr>
          <a:xfrm flipV="1">
            <a:off x="1260000" y="3505199"/>
            <a:ext cx="0" cy="323025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18">
            <a:extLst>
              <a:ext uri="{FF2B5EF4-FFF2-40B4-BE49-F238E27FC236}">
                <a16:creationId xmlns:a16="http://schemas.microsoft.com/office/drawing/2014/main" id="{0BB315D1-6C56-0674-6B65-3777144E7075}"/>
              </a:ext>
            </a:extLst>
          </p:cNvPr>
          <p:cNvCxnSpPr>
            <a:cxnSpLocks/>
            <a:stCxn id="45" idx="0"/>
            <a:endCxn id="121" idx="2"/>
          </p:cNvCxnSpPr>
          <p:nvPr/>
        </p:nvCxnSpPr>
        <p:spPr>
          <a:xfrm flipV="1">
            <a:off x="1260000" y="2314574"/>
            <a:ext cx="0" cy="323025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Gerade Verbindung mit Pfeil 175">
            <a:extLst>
              <a:ext uri="{FF2B5EF4-FFF2-40B4-BE49-F238E27FC236}">
                <a16:creationId xmlns:a16="http://schemas.microsoft.com/office/drawing/2014/main" id="{C72D8DE9-33EF-8199-896F-3B4B34E4C33F}"/>
              </a:ext>
            </a:extLst>
          </p:cNvPr>
          <p:cNvCxnSpPr>
            <a:cxnSpLocks/>
            <a:stCxn id="121" idx="3"/>
            <a:endCxn id="137" idx="1"/>
          </p:cNvCxnSpPr>
          <p:nvPr/>
        </p:nvCxnSpPr>
        <p:spPr>
          <a:xfrm flipV="1">
            <a:off x="1980000" y="1866221"/>
            <a:ext cx="2160000" cy="14553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175">
            <a:extLst>
              <a:ext uri="{FF2B5EF4-FFF2-40B4-BE49-F238E27FC236}">
                <a16:creationId xmlns:a16="http://schemas.microsoft.com/office/drawing/2014/main" id="{0D4E258E-510F-CDC1-7824-B97B0D97B16A}"/>
              </a:ext>
            </a:extLst>
          </p:cNvPr>
          <p:cNvCxnSpPr>
            <a:cxnSpLocks/>
            <a:stCxn id="137" idx="2"/>
            <a:endCxn id="54" idx="0"/>
          </p:cNvCxnSpPr>
          <p:nvPr/>
        </p:nvCxnSpPr>
        <p:spPr>
          <a:xfrm>
            <a:off x="4860000" y="2300021"/>
            <a:ext cx="0" cy="336752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3">
            <a:extLst>
              <a:ext uri="{FF2B5EF4-FFF2-40B4-BE49-F238E27FC236}">
                <a16:creationId xmlns:a16="http://schemas.microsoft.com/office/drawing/2014/main" id="{A1A5E8C3-3F80-9A63-9DF4-CD841A9DCB7A}"/>
              </a:ext>
            </a:extLst>
          </p:cNvPr>
          <p:cNvCxnSpPr>
            <a:cxnSpLocks/>
            <a:stCxn id="102" idx="3"/>
            <a:endCxn id="24" idx="1"/>
          </p:cNvCxnSpPr>
          <p:nvPr/>
        </p:nvCxnSpPr>
        <p:spPr>
          <a:xfrm flipV="1">
            <a:off x="9180000" y="5461803"/>
            <a:ext cx="360000" cy="9525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116">
            <a:extLst>
              <a:ext uri="{FF2B5EF4-FFF2-40B4-BE49-F238E27FC236}">
                <a16:creationId xmlns:a16="http://schemas.microsoft.com/office/drawing/2014/main" id="{02CDE7FC-A0D5-07F3-2CE6-481F9220CCFB}"/>
              </a:ext>
            </a:extLst>
          </p:cNvPr>
          <p:cNvCxnSpPr>
            <a:cxnSpLocks/>
            <a:stCxn id="10" idx="0"/>
            <a:endCxn id="37" idx="2"/>
          </p:cNvCxnSpPr>
          <p:nvPr/>
        </p:nvCxnSpPr>
        <p:spPr>
          <a:xfrm flipV="1">
            <a:off x="1260000" y="4695824"/>
            <a:ext cx="0" cy="323025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116">
            <a:extLst>
              <a:ext uri="{FF2B5EF4-FFF2-40B4-BE49-F238E27FC236}">
                <a16:creationId xmlns:a16="http://schemas.microsoft.com/office/drawing/2014/main" id="{BBC39D6B-1A7E-43A7-AB4C-507B2811AD74}"/>
              </a:ext>
            </a:extLst>
          </p:cNvPr>
          <p:cNvCxnSpPr>
            <a:cxnSpLocks/>
            <a:stCxn id="54" idx="3"/>
            <a:endCxn id="72" idx="1"/>
          </p:cNvCxnSpPr>
          <p:nvPr/>
        </p:nvCxnSpPr>
        <p:spPr>
          <a:xfrm>
            <a:off x="5580000" y="3070573"/>
            <a:ext cx="360000" cy="826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6" name="Gruppe Raw Data Files"/>
          <p:cNvGrpSpPr/>
          <p:nvPr/>
        </p:nvGrpSpPr>
        <p:grpSpPr>
          <a:xfrm>
            <a:off x="540000" y="5018849"/>
            <a:ext cx="1440000" cy="867600"/>
            <a:chOff x="624215" y="5142674"/>
            <a:chExt cx="1440000" cy="867600"/>
          </a:xfrm>
        </p:grpSpPr>
        <p:sp>
          <p:nvSpPr>
            <p:cNvPr id="10" name="Rechteck: abgerundete Ecken 9">
              <a:extLst>
                <a:ext uri="{FF2B5EF4-FFF2-40B4-BE49-F238E27FC236}">
                  <a16:creationId xmlns:a16="http://schemas.microsoft.com/office/drawing/2014/main" id="{B38993B1-D63F-B962-E43D-16CB3FBB6F39}"/>
                </a:ext>
              </a:extLst>
            </p:cNvPr>
            <p:cNvSpPr>
              <a:spLocks/>
            </p:cNvSpPr>
            <p:nvPr/>
          </p:nvSpPr>
          <p:spPr>
            <a:xfrm>
              <a:off x="624215" y="5142674"/>
              <a:ext cx="1440000" cy="867600"/>
            </a:xfrm>
            <a:prstGeom prst="roundRect">
              <a:avLst/>
            </a:prstGeom>
            <a:solidFill>
              <a:schemeClr val="accent2">
                <a:alpha val="50000"/>
              </a:schemeClr>
            </a:solidFill>
            <a:ln w="158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Raw Data Files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4" name="Gerader Verbinder 13">
              <a:extLst>
                <a:ext uri="{FF2B5EF4-FFF2-40B4-BE49-F238E27FC236}">
                  <a16:creationId xmlns:a16="http://schemas.microsoft.com/office/drawing/2014/main" id="{CD93CF7F-4061-47BC-D2DF-7546F2E82AED}"/>
                </a:ext>
              </a:extLst>
            </p:cNvPr>
            <p:cNvSpPr>
              <a:spLocks/>
            </p:cNvSpPr>
            <p:nvPr/>
          </p:nvSpPr>
          <p:spPr>
            <a:xfrm>
              <a:off x="624215" y="5431235"/>
              <a:ext cx="1440000" cy="0"/>
            </a:xfrm>
            <a:prstGeom prst="line">
              <a:avLst/>
            </a:prstGeom>
            <a:ln w="158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  <p:pic>
          <p:nvPicPr>
            <p:cNvPr id="16" name="Inhaltsplatzhalter 6">
              <a:extLst>
                <a:ext uri="{FF2B5EF4-FFF2-40B4-BE49-F238E27FC236}">
                  <a16:creationId xmlns:a16="http://schemas.microsoft.com/office/drawing/2014/main" id="{A13C77ED-349F-9371-0221-46DB83263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ns0:svgBlip xmlns:ns0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10215" y="5486754"/>
              <a:ext cx="468000" cy="468000"/>
            </a:xfrm>
            <a:prstGeom prst="rect">
              <a:avLst/>
            </a:prstGeom>
          </p:spPr>
        </p:pic>
      </p:grpSp>
      <p:grpSp>
        <p:nvGrpSpPr>
          <p:cNvPr id="147" name="Gruppe Query"/>
          <p:cNvGrpSpPr/>
          <p:nvPr/>
        </p:nvGrpSpPr>
        <p:grpSpPr>
          <a:xfrm>
            <a:off x="9540000" y="1449525"/>
            <a:ext cx="1440000" cy="867600"/>
            <a:chOff x="10196840" y="1570799"/>
            <a:chExt cx="1440000" cy="867600"/>
          </a:xfrm>
        </p:grpSpPr>
        <p:sp>
          <p:nvSpPr>
            <p:cNvPr id="18" name="Rechteck: abgerundete Ecken 17">
              <a:extLst>
                <a:ext uri="{FF2B5EF4-FFF2-40B4-BE49-F238E27FC236}">
                  <a16:creationId xmlns:a16="http://schemas.microsoft.com/office/drawing/2014/main" id="{D9E7FE46-B6BE-8721-269A-6415AA075AA3}"/>
                </a:ext>
              </a:extLst>
            </p:cNvPr>
            <p:cNvSpPr>
              <a:spLocks/>
            </p:cNvSpPr>
            <p:nvPr/>
          </p:nvSpPr>
          <p:spPr>
            <a:xfrm>
              <a:off x="10196840" y="1570799"/>
              <a:ext cx="1440000" cy="867600"/>
            </a:xfrm>
            <a:prstGeom prst="roundRect">
              <a:avLst/>
            </a:prstGeom>
            <a:solidFill>
              <a:srgbClr val="C60C30">
                <a:alpha val="20000"/>
              </a:srgbClr>
            </a:solidFill>
            <a:ln w="1587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Query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20" name="Grafik 16">
              <a:extLst>
                <a:ext uri="{FF2B5EF4-FFF2-40B4-BE49-F238E27FC236}">
                  <a16:creationId xmlns:a16="http://schemas.microsoft.com/office/drawing/2014/main" id="{3FD27254-6A1A-1764-0C62-B71541831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ns1:svgBlip xmlns:ns1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682840" y="1914879"/>
              <a:ext cx="468000" cy="468000"/>
            </a:xfrm>
            <a:prstGeom prst="rect">
              <a:avLst/>
            </a:prstGeom>
          </p:spPr>
        </p:pic>
        <p:sp>
          <p:nvSpPr>
            <p:cNvPr id="159" name="Gerader Verbinder 159"/>
            <p:cNvSpPr>
              <a:spLocks/>
            </p:cNvSpPr>
            <p:nvPr/>
          </p:nvSpPr>
          <p:spPr>
            <a:xfrm flipV="1">
              <a:off x="10196840" y="1859360"/>
              <a:ext cx="1440000" cy="0"/>
            </a:xfrm>
            <a:prstGeom prst="line">
              <a:avLst/>
            </a:prstGeom>
            <a:ln w="15875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48" name="Gruppe Response"/>
          <p:cNvGrpSpPr/>
          <p:nvPr/>
        </p:nvGrpSpPr>
        <p:grpSpPr>
          <a:xfrm>
            <a:off x="9540000" y="5028003"/>
            <a:ext cx="1440000" cy="867600"/>
            <a:chOff x="10196840" y="5161353"/>
            <a:chExt cx="1440000" cy="867600"/>
          </a:xfrm>
        </p:grpSpPr>
        <p:sp>
          <p:nvSpPr>
            <p:cNvPr id="24" name="Rechteck: abgerundete Ecken 23">
              <a:extLst>
                <a:ext uri="{FF2B5EF4-FFF2-40B4-BE49-F238E27FC236}">
                  <a16:creationId xmlns:a16="http://schemas.microsoft.com/office/drawing/2014/main" id="{EF7C69F7-3BA6-3716-FB87-C6056C54CA0B}"/>
                </a:ext>
              </a:extLst>
            </p:cNvPr>
            <p:cNvSpPr>
              <a:spLocks/>
            </p:cNvSpPr>
            <p:nvPr/>
          </p:nvSpPr>
          <p:spPr>
            <a:xfrm>
              <a:off x="10196840" y="5161353"/>
              <a:ext cx="1440000" cy="867600"/>
            </a:xfrm>
            <a:prstGeom prst="roundRect">
              <a:avLst/>
            </a:prstGeom>
            <a:solidFill>
              <a:srgbClr val="43858A">
                <a:alpha val="20000"/>
              </a:srgbClr>
            </a:solidFill>
            <a:ln w="158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Response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28" name="Grafik 22">
              <a:extLst>
                <a:ext uri="{FF2B5EF4-FFF2-40B4-BE49-F238E27FC236}">
                  <a16:creationId xmlns:a16="http://schemas.microsoft.com/office/drawing/2014/main" id="{8C3ACE01-CA21-EEDC-1F98-9D084AF04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ns2:svgBlip xmlns:ns2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682840" y="5505433"/>
              <a:ext cx="468000" cy="468000"/>
            </a:xfrm>
            <a:prstGeom prst="rect">
              <a:avLst/>
            </a:prstGeom>
          </p:spPr>
        </p:pic>
        <p:sp>
          <p:nvSpPr>
            <p:cNvPr id="160" name="Gerader Verbinder 160"/>
            <p:cNvSpPr>
              <a:spLocks/>
            </p:cNvSpPr>
            <p:nvPr/>
          </p:nvSpPr>
          <p:spPr>
            <a:xfrm flipV="1">
              <a:off x="10196840" y="5449914"/>
              <a:ext cx="1440000" cy="0"/>
            </a:xfrm>
            <a:prstGeom prst="line">
              <a:avLst/>
            </a:prstGeom>
            <a:ln w="15875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49" name="Gruppe Information Extraction"/>
          <p:cNvGrpSpPr/>
          <p:nvPr/>
        </p:nvGrpSpPr>
        <p:grpSpPr>
          <a:xfrm>
            <a:off x="540000" y="3828224"/>
            <a:ext cx="1440000" cy="867600"/>
            <a:chOff x="622908" y="3952049"/>
            <a:chExt cx="1440000" cy="867600"/>
          </a:xfrm>
        </p:grpSpPr>
        <p:sp>
          <p:nvSpPr>
            <p:cNvPr id="37" name="Rechteck: abgerundete Ecken 36">
              <a:extLst>
                <a:ext uri="{FF2B5EF4-FFF2-40B4-BE49-F238E27FC236}">
                  <a16:creationId xmlns:a16="http://schemas.microsoft.com/office/drawing/2014/main" id="{955C229C-DF37-3394-7852-D2530C311E3D}"/>
                </a:ext>
              </a:extLst>
            </p:cNvPr>
            <p:cNvSpPr>
              <a:spLocks/>
            </p:cNvSpPr>
            <p:nvPr/>
          </p:nvSpPr>
          <p:spPr>
            <a:xfrm>
              <a:off x="622908" y="3952049"/>
              <a:ext cx="1440000" cy="867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" rIns="36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Information Extraction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42" name="Grafik 8">
              <a:extLst>
                <a:ext uri="{FF2B5EF4-FFF2-40B4-BE49-F238E27FC236}">
                  <a16:creationId xmlns:a16="http://schemas.microsoft.com/office/drawing/2014/main" id="{8D120EA8-E27A-D0DD-C5B0-F34B5211F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ns3:svgBlip xmlns:ns3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108908" y="4296129"/>
              <a:ext cx="468000" cy="468000"/>
            </a:xfrm>
            <a:prstGeom prst="rect">
              <a:avLst/>
            </a:prstGeom>
          </p:spPr>
        </p:pic>
        <p:sp>
          <p:nvSpPr>
            <p:cNvPr id="44" name="Gerader Verbinder 43">
              <a:extLst>
                <a:ext uri="{FF2B5EF4-FFF2-40B4-BE49-F238E27FC236}">
                  <a16:creationId xmlns:a16="http://schemas.microsoft.com/office/drawing/2014/main" id="{6BF87FBA-FFD4-A870-8990-3B36EDECACE0}"/>
                </a:ext>
              </a:extLst>
            </p:cNvPr>
            <p:cNvSpPr>
              <a:spLocks/>
            </p:cNvSpPr>
            <p:nvPr/>
          </p:nvSpPr>
          <p:spPr>
            <a:xfrm>
              <a:off x="622908" y="4240610"/>
              <a:ext cx="1440000" cy="0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54000" tIns="28800" rIns="54000"/>
            <a:lstStyle/>
            <a:p>
              <a:endParaRPr lang="de-CH" sz="900" b="1"/>
            </a:p>
          </p:txBody>
        </p:sp>
      </p:grpSp>
      <p:grpSp>
        <p:nvGrpSpPr>
          <p:cNvPr id="50" name="Gruppe Chunking">
            <a:extLst>
              <a:ext uri="{FF2B5EF4-FFF2-40B4-BE49-F238E27FC236}">
                <a16:creationId xmlns:a16="http://schemas.microsoft.com/office/drawing/2014/main" id="{8508E21A-AF16-CF37-8FB0-BF8A7BDA03CE}"/>
              </a:ext>
            </a:extLst>
          </p:cNvPr>
          <p:cNvGrpSpPr/>
          <p:nvPr/>
        </p:nvGrpSpPr>
        <p:grpSpPr>
          <a:xfrm>
            <a:off x="540000" y="2637599"/>
            <a:ext cx="1440000" cy="867600"/>
            <a:chOff x="624215" y="2761424"/>
            <a:chExt cx="1440000" cy="867600"/>
          </a:xfrm>
        </p:grpSpPr>
        <p:sp>
          <p:nvSpPr>
            <p:cNvPr id="45" name="Rechteck: abgerundete Ecken 44">
              <a:extLst>
                <a:ext uri="{FF2B5EF4-FFF2-40B4-BE49-F238E27FC236}">
                  <a16:creationId xmlns:a16="http://schemas.microsoft.com/office/drawing/2014/main" id="{D48A7F4F-BE6B-CD6F-E690-688E3245F2C5}"/>
                </a:ext>
              </a:extLst>
            </p:cNvPr>
            <p:cNvSpPr>
              <a:spLocks/>
            </p:cNvSpPr>
            <p:nvPr/>
          </p:nvSpPr>
          <p:spPr>
            <a:xfrm>
              <a:off x="624215" y="2761424"/>
              <a:ext cx="1440000" cy="867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/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Chunking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51" name="Gerader Verbinder 50">
              <a:extLst>
                <a:ext uri="{FF2B5EF4-FFF2-40B4-BE49-F238E27FC236}">
                  <a16:creationId xmlns:a16="http://schemas.microsoft.com/office/drawing/2014/main" id="{329E3D98-43F4-135D-5087-525B26A0404F}"/>
                </a:ext>
              </a:extLst>
            </p:cNvPr>
            <p:cNvSpPr>
              <a:spLocks/>
            </p:cNvSpPr>
            <p:nvPr/>
          </p:nvSpPr>
          <p:spPr>
            <a:xfrm>
              <a:off x="624215" y="3049985"/>
              <a:ext cx="1440000" cy="0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  <p:pic>
          <p:nvPicPr>
            <p:cNvPr id="122" name="Grafik 165">
              <a:extLst>
                <a:ext uri="{FF2B5EF4-FFF2-40B4-BE49-F238E27FC236}">
                  <a16:creationId xmlns:a16="http://schemas.microsoft.com/office/drawing/2014/main" id="{C58BB8C8-2491-48E5-46A3-5E1BEB7A5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ns4:svgBlip xmlns:ns4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110215" y="3105504"/>
              <a:ext cx="468000" cy="468000"/>
            </a:xfrm>
            <a:prstGeom prst="rect">
              <a:avLst/>
            </a:prstGeom>
          </p:spPr>
        </p:pic>
      </p:grpSp>
      <p:grpSp>
        <p:nvGrpSpPr>
          <p:cNvPr id="151" name="Gruppe Embeddings"/>
          <p:cNvGrpSpPr/>
          <p:nvPr/>
        </p:nvGrpSpPr>
        <p:grpSpPr>
          <a:xfrm>
            <a:off x="4140000" y="2636773"/>
            <a:ext cx="1440000" cy="867600"/>
            <a:chOff x="5009244" y="1578083"/>
            <a:chExt cx="1440000" cy="867600"/>
          </a:xfrm>
        </p:grpSpPr>
        <p:sp>
          <p:nvSpPr>
            <p:cNvPr id="54" name="Rechteck: abgerundete Ecken 53">
              <a:extLst>
                <a:ext uri="{FF2B5EF4-FFF2-40B4-BE49-F238E27FC236}">
                  <a16:creationId xmlns:a16="http://schemas.microsoft.com/office/drawing/2014/main" id="{F6937E87-FFDC-5644-BE6B-D3AF0FCBAA56}"/>
                </a:ext>
              </a:extLst>
            </p:cNvPr>
            <p:cNvSpPr>
              <a:spLocks/>
            </p:cNvSpPr>
            <p:nvPr/>
          </p:nvSpPr>
          <p:spPr>
            <a:xfrm>
              <a:off x="5009244" y="1578083"/>
              <a:ext cx="1440000" cy="867600"/>
            </a:xfrm>
            <a:prstGeom prst="roundRect">
              <a:avLst/>
            </a:prstGeom>
            <a:solidFill>
              <a:schemeClr val="accent2">
                <a:alpha val="50000"/>
              </a:schemeClr>
            </a:solidFill>
            <a:ln w="158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 err="1">
                  <a:solidFill>
                    <a:schemeClr val="bg2">
                      <a:lumMod val="10000"/>
                    </a:schemeClr>
                  </a:solidFill>
                </a:rPr>
                <a:t>Embeddings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56" name="Grafik 33">
              <a:extLst>
                <a:ext uri="{FF2B5EF4-FFF2-40B4-BE49-F238E27FC236}">
                  <a16:creationId xmlns:a16="http://schemas.microsoft.com/office/drawing/2014/main" id="{4180022B-D146-7907-A8C7-659A2713F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ns5:svgBlip xmlns:ns5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495244" y="1922163"/>
              <a:ext cx="468000" cy="468000"/>
            </a:xfrm>
            <a:prstGeom prst="rect">
              <a:avLst/>
            </a:prstGeom>
          </p:spPr>
        </p:pic>
        <p:sp>
          <p:nvSpPr>
            <p:cNvPr id="58" name="Gerader Verbinder 57">
              <a:extLst>
                <a:ext uri="{FF2B5EF4-FFF2-40B4-BE49-F238E27FC236}">
                  <a16:creationId xmlns:a16="http://schemas.microsoft.com/office/drawing/2014/main" id="{2358A794-930F-1800-2F3C-5B5ECED2E77E}"/>
                </a:ext>
              </a:extLst>
            </p:cNvPr>
            <p:cNvSpPr>
              <a:spLocks/>
            </p:cNvSpPr>
            <p:nvPr/>
          </p:nvSpPr>
          <p:spPr>
            <a:xfrm flipV="1">
              <a:off x="5009244" y="1866644"/>
              <a:ext cx="1440000" cy="0"/>
            </a:xfrm>
            <a:prstGeom prst="line">
              <a:avLst/>
            </a:prstGeom>
            <a:ln w="158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53" name="Gruppe Vector Database"/>
          <p:cNvGrpSpPr/>
          <p:nvPr/>
        </p:nvGrpSpPr>
        <p:grpSpPr>
          <a:xfrm>
            <a:off x="5940000" y="2637599"/>
            <a:ext cx="1440000" cy="867600"/>
            <a:chOff x="5005715" y="2776165"/>
            <a:chExt cx="1440000" cy="867600"/>
          </a:xfrm>
        </p:grpSpPr>
        <p:sp>
          <p:nvSpPr>
            <p:cNvPr id="72" name="Rechteck: abgerundete Ecken 71">
              <a:extLst>
                <a:ext uri="{FF2B5EF4-FFF2-40B4-BE49-F238E27FC236}">
                  <a16:creationId xmlns:a16="http://schemas.microsoft.com/office/drawing/2014/main" id="{E9A14601-129B-5663-F0ED-B2E1BD20F945}"/>
                </a:ext>
              </a:extLst>
            </p:cNvPr>
            <p:cNvSpPr>
              <a:spLocks/>
            </p:cNvSpPr>
            <p:nvPr/>
          </p:nvSpPr>
          <p:spPr>
            <a:xfrm>
              <a:off x="5005715" y="2776165"/>
              <a:ext cx="1440000" cy="867600"/>
            </a:xfrm>
            <a:prstGeom prst="roundRect">
              <a:avLst/>
            </a:prstGeom>
            <a:solidFill>
              <a:schemeClr val="bg2">
                <a:alpha val="50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Vector Database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74" name="Grafik 14">
              <a:extLst>
                <a:ext uri="{FF2B5EF4-FFF2-40B4-BE49-F238E27FC236}">
                  <a16:creationId xmlns:a16="http://schemas.microsoft.com/office/drawing/2014/main" id="{C9AA9F1F-BE1C-5F83-5671-91EF5A5DC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ns6:svgBlip xmlns:ns6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5491715" y="3120245"/>
              <a:ext cx="468000" cy="468000"/>
            </a:xfrm>
            <a:prstGeom prst="rect">
              <a:avLst/>
            </a:prstGeom>
          </p:spPr>
        </p:pic>
        <p:sp>
          <p:nvSpPr>
            <p:cNvPr id="79" name="Gerader Verbinder 78">
              <a:extLst>
                <a:ext uri="{FF2B5EF4-FFF2-40B4-BE49-F238E27FC236}">
                  <a16:creationId xmlns:a16="http://schemas.microsoft.com/office/drawing/2014/main" id="{89A0E0B7-A2BB-83F8-DDEA-7BF8AF689E44}"/>
                </a:ext>
              </a:extLst>
            </p:cNvPr>
            <p:cNvSpPr>
              <a:spLocks/>
            </p:cNvSpPr>
            <p:nvPr/>
          </p:nvSpPr>
          <p:spPr>
            <a:xfrm>
              <a:off x="5005715" y="3064726"/>
              <a:ext cx="1440000" cy="0"/>
            </a:xfrm>
            <a:prstGeom prst="line">
              <a:avLst/>
            </a:prstGeom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27" name="Gruppe LLM">
            <a:extLst>
              <a:ext uri="{FF2B5EF4-FFF2-40B4-BE49-F238E27FC236}">
                <a16:creationId xmlns:a16="http://schemas.microsoft.com/office/drawing/2014/main" id="{CC8957DA-7EEF-07E6-4817-4A1CAB29C56A}"/>
              </a:ext>
            </a:extLst>
          </p:cNvPr>
          <p:cNvGrpSpPr/>
          <p:nvPr/>
        </p:nvGrpSpPr>
        <p:grpSpPr>
          <a:xfrm>
            <a:off x="7740000" y="5037528"/>
            <a:ext cx="1440000" cy="867600"/>
            <a:chOff x="8006090" y="5161353"/>
            <a:chExt cx="1440000" cy="867600"/>
          </a:xfrm>
        </p:grpSpPr>
        <p:sp>
          <p:nvSpPr>
            <p:cNvPr id="102" name="Rechteck: abgerundete Ecken 101">
              <a:extLst>
                <a:ext uri="{FF2B5EF4-FFF2-40B4-BE49-F238E27FC236}">
                  <a16:creationId xmlns:a16="http://schemas.microsoft.com/office/drawing/2014/main" id="{CCD2EF0F-009E-7BB9-2850-8D80476CA421}"/>
                </a:ext>
              </a:extLst>
            </p:cNvPr>
            <p:cNvSpPr>
              <a:spLocks/>
            </p:cNvSpPr>
            <p:nvPr/>
          </p:nvSpPr>
          <p:spPr>
            <a:xfrm>
              <a:off x="8006090" y="5161353"/>
              <a:ext cx="1440000" cy="867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LLM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104" name="Grafik 20">
              <a:extLst>
                <a:ext uri="{FF2B5EF4-FFF2-40B4-BE49-F238E27FC236}">
                  <a16:creationId xmlns:a16="http://schemas.microsoft.com/office/drawing/2014/main" id="{45D89FC9-D1BB-FFF3-F2CC-C8155D447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ns9:svgBlip xmlns:ns9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8492090" y="5505433"/>
              <a:ext cx="468000" cy="468000"/>
            </a:xfrm>
            <a:prstGeom prst="rect">
              <a:avLst/>
            </a:prstGeom>
          </p:spPr>
        </p:pic>
        <p:sp>
          <p:nvSpPr>
            <p:cNvPr id="106" name="Gerader Verbinder 105">
              <a:extLst>
                <a:ext uri="{FF2B5EF4-FFF2-40B4-BE49-F238E27FC236}">
                  <a16:creationId xmlns:a16="http://schemas.microsoft.com/office/drawing/2014/main" id="{C25ABEB4-F7C7-3DF5-DEEF-6DD6C45FCF01}"/>
                </a:ext>
              </a:extLst>
            </p:cNvPr>
            <p:cNvSpPr>
              <a:spLocks/>
            </p:cNvSpPr>
            <p:nvPr/>
          </p:nvSpPr>
          <p:spPr>
            <a:xfrm flipV="1">
              <a:off x="8006090" y="5449914"/>
              <a:ext cx="1440000" cy="0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57" name="Gruppe Embedding LLM"/>
          <p:cNvGrpSpPr/>
          <p:nvPr/>
        </p:nvGrpSpPr>
        <p:grpSpPr>
          <a:xfrm>
            <a:off x="4140000" y="1432421"/>
            <a:ext cx="1440000" cy="867600"/>
            <a:chOff x="2783916" y="1570799"/>
            <a:chExt cx="1440000" cy="867600"/>
          </a:xfrm>
        </p:grpSpPr>
        <p:sp>
          <p:nvSpPr>
            <p:cNvPr id="137" name="Rechteck: abgerundete Ecken 136">
              <a:extLst>
                <a:ext uri="{FF2B5EF4-FFF2-40B4-BE49-F238E27FC236}">
                  <a16:creationId xmlns:a16="http://schemas.microsoft.com/office/drawing/2014/main" id="{2F0E7FDF-A2C6-F785-F1E7-936F202EF2F8}"/>
                </a:ext>
              </a:extLst>
            </p:cNvPr>
            <p:cNvSpPr>
              <a:spLocks/>
            </p:cNvSpPr>
            <p:nvPr/>
          </p:nvSpPr>
          <p:spPr>
            <a:xfrm>
              <a:off x="2783916" y="1570799"/>
              <a:ext cx="1440000" cy="867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Embedding LLM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138" name="Grafik 39">
              <a:extLst>
                <a:ext uri="{FF2B5EF4-FFF2-40B4-BE49-F238E27FC236}">
                  <a16:creationId xmlns:a16="http://schemas.microsoft.com/office/drawing/2014/main" id="{CED68F23-700B-1E3E-A249-76DCDEF47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ns10:svgBlip xmlns:ns10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3269916" y="1914879"/>
              <a:ext cx="468000" cy="468000"/>
            </a:xfrm>
            <a:prstGeom prst="rect">
              <a:avLst/>
            </a:prstGeom>
          </p:spPr>
        </p:pic>
        <p:sp>
          <p:nvSpPr>
            <p:cNvPr id="140" name="Gerader Verbinder 139">
              <a:extLst>
                <a:ext uri="{FF2B5EF4-FFF2-40B4-BE49-F238E27FC236}">
                  <a16:creationId xmlns:a16="http://schemas.microsoft.com/office/drawing/2014/main" id="{FAE015C5-0604-FCE4-AE8F-E2A5506C996F}"/>
                </a:ext>
              </a:extLst>
            </p:cNvPr>
            <p:cNvSpPr>
              <a:spLocks/>
            </p:cNvSpPr>
            <p:nvPr/>
          </p:nvSpPr>
          <p:spPr>
            <a:xfrm>
              <a:off x="2783916" y="1859360"/>
              <a:ext cx="1440000" cy="0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58" name="Gruppe Chunks"/>
          <p:cNvGrpSpPr/>
          <p:nvPr/>
        </p:nvGrpSpPr>
        <p:grpSpPr>
          <a:xfrm>
            <a:off x="540000" y="1446974"/>
            <a:ext cx="1440000" cy="867600"/>
            <a:chOff x="617904" y="1570799"/>
            <a:chExt cx="1440000" cy="867600"/>
          </a:xfrm>
        </p:grpSpPr>
        <p:sp>
          <p:nvSpPr>
            <p:cNvPr id="121" name="Rechteck: abgerundete Ecken 120">
              <a:extLst>
                <a:ext uri="{FF2B5EF4-FFF2-40B4-BE49-F238E27FC236}">
                  <a16:creationId xmlns:a16="http://schemas.microsoft.com/office/drawing/2014/main" id="{AD7B8046-A7E5-977B-9789-31E7E99EC995}"/>
                </a:ext>
              </a:extLst>
            </p:cNvPr>
            <p:cNvSpPr>
              <a:spLocks/>
            </p:cNvSpPr>
            <p:nvPr/>
          </p:nvSpPr>
          <p:spPr>
            <a:xfrm>
              <a:off x="617904" y="1570799"/>
              <a:ext cx="1440000" cy="867600"/>
            </a:xfrm>
            <a:prstGeom prst="roundRect">
              <a:avLst/>
            </a:prstGeom>
            <a:solidFill>
              <a:schemeClr val="accent2">
                <a:alpha val="50000"/>
              </a:schemeClr>
            </a:solidFill>
            <a:ln w="158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Chunks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46" name="Grafik 10">
              <a:extLst>
                <a:ext uri="{FF2B5EF4-FFF2-40B4-BE49-F238E27FC236}">
                  <a16:creationId xmlns:a16="http://schemas.microsoft.com/office/drawing/2014/main" id="{BE3EA945-55FA-7EAD-DC73-B9FB8CEDC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ns11:svgBlip xmlns:ns11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03904" y="1914879"/>
              <a:ext cx="468000" cy="468000"/>
            </a:xfrm>
            <a:prstGeom prst="rect">
              <a:avLst/>
            </a:prstGeom>
          </p:spPr>
        </p:pic>
        <p:sp>
          <p:nvSpPr>
            <p:cNvPr id="124" name="Gerader Verbinder 123">
              <a:extLst>
                <a:ext uri="{FF2B5EF4-FFF2-40B4-BE49-F238E27FC236}">
                  <a16:creationId xmlns:a16="http://schemas.microsoft.com/office/drawing/2014/main" id="{E1830494-1611-ADE7-C919-BF9ADBCD7AEF}"/>
                </a:ext>
              </a:extLst>
            </p:cNvPr>
            <p:cNvSpPr>
              <a:spLocks/>
            </p:cNvSpPr>
            <p:nvPr/>
          </p:nvSpPr>
          <p:spPr>
            <a:xfrm>
              <a:off x="617904" y="1859360"/>
              <a:ext cx="1440000" cy="0"/>
            </a:xfrm>
            <a:prstGeom prst="line">
              <a:avLst/>
            </a:prstGeom>
            <a:ln w="158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cxnSp>
        <p:nvCxnSpPr>
          <p:cNvPr id="161" name="Gerade Verbindung Query LLM"/>
          <p:cNvCxnSpPr>
            <a:cxnSpLocks/>
            <a:stCxn id="18" idx="2"/>
            <a:endCxn id="102" idx="0"/>
          </p:cNvCxnSpPr>
          <p:nvPr/>
        </p:nvCxnSpPr>
        <p:spPr>
          <a:xfrm flipH="1">
            <a:off x="8460000" y="2317125"/>
            <a:ext cx="1800000" cy="2720403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0" name="Marker Chunking"/>
          <p:cNvSpPr/>
          <p:nvPr/>
        </p:nvSpPr>
        <p:spPr>
          <a:xfrm>
            <a:off x="496800" y="2594399"/>
            <a:ext cx="1526400" cy="954000"/>
          </a:xfrm>
          <a:prstGeom prst="roundRect">
            <a:avLst/>
          </a:prstGeom>
          <a:noFill/>
          <a:ln w="28575">
            <a:solidFill>
              <a:srgbClr val="C60C30"/>
            </a:solidFill>
            <a:prstDash val="dash"/>
          </a:ln>
        </p:spPr>
        <p:txBody>
          <a:bodyPr/>
          <a:lstStyle/>
          <a:p/>
        </p:txBody>
      </p:sp>
      <p:sp>
        <p:nvSpPr>
          <p:cNvPr id="1001" name="Marker Chunks"/>
          <p:cNvSpPr/>
          <p:nvPr/>
        </p:nvSpPr>
        <p:spPr>
          <a:xfrm>
            <a:off x="496800" y="1403774"/>
            <a:ext cx="1526400" cy="954000"/>
          </a:xfrm>
          <a:prstGeom prst="roundRect">
            <a:avLst/>
          </a:prstGeom>
          <a:noFill/>
          <a:ln w="28575">
            <a:solidFill>
              <a:srgbClr val="C60C30"/>
            </a:solidFill>
            <a:prstDash val="dash"/>
          </a:ln>
        </p:spPr>
        <p:txBody>
          <a:bodyPr/>
          <a:lstStyle/>
          <a:p/>
        </p:txBody>
      </p:sp>
      <p:sp>
        <p:nvSpPr>
          <p:cNvPr id="1002" name="Marker Embedding LLM@4140000"/>
          <p:cNvSpPr/>
          <p:nvPr/>
        </p:nvSpPr>
        <p:spPr>
          <a:xfrm>
            <a:off x="4096800" y="1389221"/>
            <a:ext cx="1526400" cy="954000"/>
          </a:xfrm>
          <a:prstGeom prst="roundRect">
            <a:avLst/>
          </a:prstGeom>
          <a:noFill/>
          <a:ln w="28575">
            <a:solidFill>
              <a:srgbClr val="C60C30"/>
            </a:solidFill>
            <a:prstDash val="dash"/>
          </a:ln>
        </p:spPr>
        <p:txBody>
          <a:bodyPr/>
          <a:lstStyle/>
          <a:p/>
        </p:txBody>
      </p:sp>
      <p:sp>
        <p:nvSpPr>
          <p:cNvPr id="1003" name="Marker Embeddings@4140000"/>
          <p:cNvSpPr/>
          <p:nvPr/>
        </p:nvSpPr>
        <p:spPr>
          <a:xfrm>
            <a:off x="4096800" y="2593573"/>
            <a:ext cx="1526400" cy="954000"/>
          </a:xfrm>
          <a:prstGeom prst="roundRect">
            <a:avLst/>
          </a:prstGeom>
          <a:noFill/>
          <a:ln w="28575">
            <a:solidFill>
              <a:srgbClr val="C60C30"/>
            </a:solidFill>
            <a:prstDash val="dash"/>
          </a:ln>
        </p:spPr>
        <p:txBody>
          <a:bodyPr/>
          <a:lstStyle/>
          <a:p/>
        </p:txBody>
      </p:sp>
      <p:sp>
        <p:nvSpPr>
          <p:cNvPr id="1004" name="Marker Information Extraction"/>
          <p:cNvSpPr/>
          <p:nvPr/>
        </p:nvSpPr>
        <p:spPr>
          <a:xfrm>
            <a:off x="496800" y="3785024"/>
            <a:ext cx="1526400" cy="954000"/>
          </a:xfrm>
          <a:prstGeom prst="roundRect">
            <a:avLst/>
          </a:prstGeom>
          <a:noFill/>
          <a:ln w="28575">
            <a:solidFill>
              <a:srgbClr val="C60C30"/>
            </a:solidFill>
            <a:prstDash val="dash"/>
          </a:ln>
        </p:spPr>
        <p:txBody>
          <a:bodyPr/>
          <a:lstStyle/>
          <a:p/>
        </p:txBody>
      </p:sp>
      <p:sp>
        <p:nvSpPr>
          <p:cNvPr id="1005" name="Marker Raw Data Files"/>
          <p:cNvSpPr/>
          <p:nvPr/>
        </p:nvSpPr>
        <p:spPr>
          <a:xfrm>
            <a:off x="496800" y="4975649"/>
            <a:ext cx="1526400" cy="954000"/>
          </a:xfrm>
          <a:prstGeom prst="roundRect">
            <a:avLst/>
          </a:prstGeom>
          <a:noFill/>
          <a:ln w="28575">
            <a:solidFill>
              <a:srgbClr val="C60C30"/>
            </a:solidFill>
            <a:prstDash val="dash"/>
          </a:ln>
        </p:spPr>
        <p:txBody>
          <a:bodyPr/>
          <a:lstStyle/>
          <a:p/>
        </p:txBody>
      </p:sp>
      <p:sp>
        <p:nvSpPr>
          <p:cNvPr id="1006" name="Marker Vector Database"/>
          <p:cNvSpPr/>
          <p:nvPr/>
        </p:nvSpPr>
        <p:spPr>
          <a:xfrm>
            <a:off x="5896800" y="2594399"/>
            <a:ext cx="1526400" cy="954000"/>
          </a:xfrm>
          <a:prstGeom prst="roundRect">
            <a:avLst/>
          </a:prstGeom>
          <a:noFill/>
          <a:ln w="28575">
            <a:solidFill>
              <a:srgbClr val="C60C30"/>
            </a:solidFill>
            <a:prstDash val="dash"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074129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BAC6-BCB5-98B3-8A58-1C6E4848A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A77537-C1FE-7896-AA65-64600F1BA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Stufe 2b · Retrieval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35B4C6F-32DB-B58C-A30E-9F6EA38F5F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7E00E2-F08D-429A-AD9B-1ECBEC02F4DB}" type="slidenum">
              <a:rPr lang="de-CH" smtClean="0"/>
              <a:t>7</a:t>
            </a:fld>
            <a:endParaRPr lang="de-CH"/>
          </a:p>
        </p:txBody>
      </p:sp>
      <p:cxnSp>
        <p:nvCxnSpPr>
          <p:cNvPr id="108" name="Gerade Verbindung mit Pfeil 116">
            <a:extLst>
              <a:ext uri="{FF2B5EF4-FFF2-40B4-BE49-F238E27FC236}">
                <a16:creationId xmlns:a16="http://schemas.microsoft.com/office/drawing/2014/main" id="{0BDDCE84-4016-2B9D-139E-B6028861F673}"/>
              </a:ext>
            </a:extLst>
          </p:cNvPr>
          <p:cNvCxnSpPr>
            <a:cxnSpLocks/>
            <a:stCxn id="37" idx="0"/>
            <a:endCxn id="45" idx="2"/>
          </p:cNvCxnSpPr>
          <p:nvPr/>
        </p:nvCxnSpPr>
        <p:spPr>
          <a:xfrm flipV="1">
            <a:off x="1260000" y="3505199"/>
            <a:ext cx="0" cy="323025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18">
            <a:extLst>
              <a:ext uri="{FF2B5EF4-FFF2-40B4-BE49-F238E27FC236}">
                <a16:creationId xmlns:a16="http://schemas.microsoft.com/office/drawing/2014/main" id="{0BB315D1-6C56-0674-6B65-3777144E7075}"/>
              </a:ext>
            </a:extLst>
          </p:cNvPr>
          <p:cNvCxnSpPr>
            <a:cxnSpLocks/>
            <a:stCxn id="45" idx="0"/>
            <a:endCxn id="121" idx="2"/>
          </p:cNvCxnSpPr>
          <p:nvPr/>
        </p:nvCxnSpPr>
        <p:spPr>
          <a:xfrm flipV="1">
            <a:off x="1260000" y="2314574"/>
            <a:ext cx="0" cy="323025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Gerade Verbindung mit Pfeil 143">
            <a:extLst>
              <a:ext uri="{FF2B5EF4-FFF2-40B4-BE49-F238E27FC236}">
                <a16:creationId xmlns:a16="http://schemas.microsoft.com/office/drawing/2014/main" id="{56983D44-8E80-3AB3-A9CF-D7232B3BF542}"/>
              </a:ext>
            </a:extLst>
          </p:cNvPr>
          <p:cNvCxnSpPr>
            <a:cxnSpLocks/>
            <a:stCxn id="81" idx="3"/>
            <a:endCxn id="102" idx="1"/>
          </p:cNvCxnSpPr>
          <p:nvPr/>
        </p:nvCxnSpPr>
        <p:spPr>
          <a:xfrm>
            <a:off x="7380000" y="5471328"/>
            <a:ext cx="360000" cy="0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Gerade Verbindung mit Pfeil 148">
            <a:extLst>
              <a:ext uri="{FF2B5EF4-FFF2-40B4-BE49-F238E27FC236}">
                <a16:creationId xmlns:a16="http://schemas.microsoft.com/office/drawing/2014/main" id="{F5BC60B3-6D21-34AF-F241-F9DCA2E051D9}"/>
              </a:ext>
            </a:extLst>
          </p:cNvPr>
          <p:cNvCxnSpPr>
            <a:cxnSpLocks/>
            <a:stCxn id="32" idx="1"/>
            <a:endCxn id="72" idx="3"/>
          </p:cNvCxnSpPr>
          <p:nvPr/>
        </p:nvCxnSpPr>
        <p:spPr>
          <a:xfrm flipH="1">
            <a:off x="7380000" y="3071399"/>
            <a:ext cx="360000" cy="0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Gerade Verbindung mit Pfeil 175">
            <a:extLst>
              <a:ext uri="{FF2B5EF4-FFF2-40B4-BE49-F238E27FC236}">
                <a16:creationId xmlns:a16="http://schemas.microsoft.com/office/drawing/2014/main" id="{C72D8DE9-33EF-8199-896F-3B4B34E4C33F}"/>
              </a:ext>
            </a:extLst>
          </p:cNvPr>
          <p:cNvCxnSpPr>
            <a:cxnSpLocks/>
            <a:stCxn id="121" idx="3"/>
            <a:endCxn id="137" idx="1"/>
          </p:cNvCxnSpPr>
          <p:nvPr/>
        </p:nvCxnSpPr>
        <p:spPr>
          <a:xfrm flipV="1">
            <a:off x="1980000" y="1866221"/>
            <a:ext cx="2160000" cy="14553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175">
            <a:extLst>
              <a:ext uri="{FF2B5EF4-FFF2-40B4-BE49-F238E27FC236}">
                <a16:creationId xmlns:a16="http://schemas.microsoft.com/office/drawing/2014/main" id="{0D4E258E-510F-CDC1-7824-B97B0D97B16A}"/>
              </a:ext>
            </a:extLst>
          </p:cNvPr>
          <p:cNvCxnSpPr>
            <a:cxnSpLocks/>
            <a:stCxn id="137" idx="2"/>
            <a:endCxn id="54" idx="0"/>
          </p:cNvCxnSpPr>
          <p:nvPr/>
        </p:nvCxnSpPr>
        <p:spPr>
          <a:xfrm>
            <a:off x="4860000" y="2300021"/>
            <a:ext cx="0" cy="336752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3">
            <a:extLst>
              <a:ext uri="{FF2B5EF4-FFF2-40B4-BE49-F238E27FC236}">
                <a16:creationId xmlns:a16="http://schemas.microsoft.com/office/drawing/2014/main" id="{A1A5E8C3-3F80-9A63-9DF4-CD841A9DCB7A}"/>
              </a:ext>
            </a:extLst>
          </p:cNvPr>
          <p:cNvCxnSpPr>
            <a:cxnSpLocks/>
            <a:stCxn id="102" idx="3"/>
            <a:endCxn id="24" idx="1"/>
          </p:cNvCxnSpPr>
          <p:nvPr/>
        </p:nvCxnSpPr>
        <p:spPr>
          <a:xfrm flipV="1">
            <a:off x="9180000" y="5461803"/>
            <a:ext cx="360000" cy="9525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116">
            <a:extLst>
              <a:ext uri="{FF2B5EF4-FFF2-40B4-BE49-F238E27FC236}">
                <a16:creationId xmlns:a16="http://schemas.microsoft.com/office/drawing/2014/main" id="{02CDE7FC-A0D5-07F3-2CE6-481F9220CCFB}"/>
              </a:ext>
            </a:extLst>
          </p:cNvPr>
          <p:cNvCxnSpPr>
            <a:cxnSpLocks/>
            <a:stCxn id="10" idx="0"/>
            <a:endCxn id="37" idx="2"/>
          </p:cNvCxnSpPr>
          <p:nvPr/>
        </p:nvCxnSpPr>
        <p:spPr>
          <a:xfrm flipV="1">
            <a:off x="1260000" y="4695824"/>
            <a:ext cx="0" cy="323025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116">
            <a:extLst>
              <a:ext uri="{FF2B5EF4-FFF2-40B4-BE49-F238E27FC236}">
                <a16:creationId xmlns:a16="http://schemas.microsoft.com/office/drawing/2014/main" id="{F834C3E5-D35F-44C7-AEE0-6AEAEACA36B4}"/>
              </a:ext>
            </a:extLst>
          </p:cNvPr>
          <p:cNvCxnSpPr>
            <a:cxnSpLocks/>
            <a:stCxn id="18" idx="1"/>
            <a:endCxn id="93" idx="3"/>
          </p:cNvCxnSpPr>
          <p:nvPr/>
        </p:nvCxnSpPr>
        <p:spPr>
          <a:xfrm flipH="1" flipV="1">
            <a:off x="9180000" y="1880774"/>
            <a:ext cx="360000" cy="2551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116">
            <a:extLst>
              <a:ext uri="{FF2B5EF4-FFF2-40B4-BE49-F238E27FC236}">
                <a16:creationId xmlns:a16="http://schemas.microsoft.com/office/drawing/2014/main" id="{AAD4A9FA-5DEA-3E74-98D7-E03DAAF937A5}"/>
              </a:ext>
            </a:extLst>
          </p:cNvPr>
          <p:cNvCxnSpPr>
            <a:cxnSpLocks/>
            <a:stCxn id="93" idx="2"/>
            <a:endCxn id="32" idx="0"/>
          </p:cNvCxnSpPr>
          <p:nvPr/>
        </p:nvCxnSpPr>
        <p:spPr>
          <a:xfrm>
            <a:off x="8460000" y="2314574"/>
            <a:ext cx="0" cy="323025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116">
            <a:extLst>
              <a:ext uri="{FF2B5EF4-FFF2-40B4-BE49-F238E27FC236}">
                <a16:creationId xmlns:a16="http://schemas.microsoft.com/office/drawing/2014/main" id="{BBC39D6B-1A7E-43A7-AB4C-507B2811AD74}"/>
              </a:ext>
            </a:extLst>
          </p:cNvPr>
          <p:cNvCxnSpPr>
            <a:cxnSpLocks/>
            <a:stCxn id="54" idx="3"/>
            <a:endCxn id="72" idx="1"/>
          </p:cNvCxnSpPr>
          <p:nvPr/>
        </p:nvCxnSpPr>
        <p:spPr>
          <a:xfrm>
            <a:off x="5580000" y="3070573"/>
            <a:ext cx="360000" cy="826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116">
            <a:extLst>
              <a:ext uri="{FF2B5EF4-FFF2-40B4-BE49-F238E27FC236}">
                <a16:creationId xmlns:a16="http://schemas.microsoft.com/office/drawing/2014/main" id="{95BD79AE-8E27-C417-44A9-1DA30BB87BB2}"/>
              </a:ext>
            </a:extLst>
          </p:cNvPr>
          <p:cNvCxnSpPr>
            <a:cxnSpLocks/>
            <a:stCxn id="72" idx="2"/>
            <a:endCxn id="41" idx="0"/>
          </p:cNvCxnSpPr>
          <p:nvPr/>
        </p:nvCxnSpPr>
        <p:spPr>
          <a:xfrm>
            <a:off x="6660000" y="3505199"/>
            <a:ext cx="0" cy="323025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116">
            <a:extLst>
              <a:ext uri="{FF2B5EF4-FFF2-40B4-BE49-F238E27FC236}">
                <a16:creationId xmlns:a16="http://schemas.microsoft.com/office/drawing/2014/main" id="{68090A40-0C56-9665-5D8C-4909AE97B1B9}"/>
              </a:ext>
            </a:extLst>
          </p:cNvPr>
          <p:cNvCxnSpPr>
            <a:cxnSpLocks/>
            <a:stCxn id="41" idx="2"/>
            <a:endCxn id="81" idx="0"/>
          </p:cNvCxnSpPr>
          <p:nvPr/>
        </p:nvCxnSpPr>
        <p:spPr>
          <a:xfrm>
            <a:off x="6660000" y="4695824"/>
            <a:ext cx="0" cy="341704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6" name="Gruppe Raw Data Files"/>
          <p:cNvGrpSpPr/>
          <p:nvPr/>
        </p:nvGrpSpPr>
        <p:grpSpPr>
          <a:xfrm>
            <a:off x="540000" y="5018849"/>
            <a:ext cx="1440000" cy="867600"/>
            <a:chOff x="624215" y="5142674"/>
            <a:chExt cx="1440000" cy="867600"/>
          </a:xfrm>
        </p:grpSpPr>
        <p:sp>
          <p:nvSpPr>
            <p:cNvPr id="10" name="Rechteck: abgerundete Ecken 9">
              <a:extLst>
                <a:ext uri="{FF2B5EF4-FFF2-40B4-BE49-F238E27FC236}">
                  <a16:creationId xmlns:a16="http://schemas.microsoft.com/office/drawing/2014/main" id="{B38993B1-D63F-B962-E43D-16CB3FBB6F39}"/>
                </a:ext>
              </a:extLst>
            </p:cNvPr>
            <p:cNvSpPr>
              <a:spLocks/>
            </p:cNvSpPr>
            <p:nvPr/>
          </p:nvSpPr>
          <p:spPr>
            <a:xfrm>
              <a:off x="624215" y="5142674"/>
              <a:ext cx="1440000" cy="867600"/>
            </a:xfrm>
            <a:prstGeom prst="roundRect">
              <a:avLst/>
            </a:prstGeom>
            <a:solidFill>
              <a:schemeClr val="accent2">
                <a:alpha val="50000"/>
              </a:schemeClr>
            </a:solidFill>
            <a:ln w="158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Raw Data Files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4" name="Gerader Verbinder 13">
              <a:extLst>
                <a:ext uri="{FF2B5EF4-FFF2-40B4-BE49-F238E27FC236}">
                  <a16:creationId xmlns:a16="http://schemas.microsoft.com/office/drawing/2014/main" id="{CD93CF7F-4061-47BC-D2DF-7546F2E82AED}"/>
                </a:ext>
              </a:extLst>
            </p:cNvPr>
            <p:cNvSpPr>
              <a:spLocks/>
            </p:cNvSpPr>
            <p:nvPr/>
          </p:nvSpPr>
          <p:spPr>
            <a:xfrm>
              <a:off x="624215" y="5431235"/>
              <a:ext cx="1440000" cy="0"/>
            </a:xfrm>
            <a:prstGeom prst="line">
              <a:avLst/>
            </a:prstGeom>
            <a:ln w="158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  <p:pic>
          <p:nvPicPr>
            <p:cNvPr id="16" name="Inhaltsplatzhalter 6">
              <a:extLst>
                <a:ext uri="{FF2B5EF4-FFF2-40B4-BE49-F238E27FC236}">
                  <a16:creationId xmlns:a16="http://schemas.microsoft.com/office/drawing/2014/main" id="{A13C77ED-349F-9371-0221-46DB83263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ns0:svgBlip xmlns:ns0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10215" y="5486754"/>
              <a:ext cx="468000" cy="468000"/>
            </a:xfrm>
            <a:prstGeom prst="rect">
              <a:avLst/>
            </a:prstGeom>
          </p:spPr>
        </p:pic>
      </p:grpSp>
      <p:grpSp>
        <p:nvGrpSpPr>
          <p:cNvPr id="147" name="Gruppe Query"/>
          <p:cNvGrpSpPr/>
          <p:nvPr/>
        </p:nvGrpSpPr>
        <p:grpSpPr>
          <a:xfrm>
            <a:off x="9540000" y="1449525"/>
            <a:ext cx="1440000" cy="867600"/>
            <a:chOff x="10196840" y="1570799"/>
            <a:chExt cx="1440000" cy="867600"/>
          </a:xfrm>
        </p:grpSpPr>
        <p:sp>
          <p:nvSpPr>
            <p:cNvPr id="18" name="Rechteck: abgerundete Ecken 17">
              <a:extLst>
                <a:ext uri="{FF2B5EF4-FFF2-40B4-BE49-F238E27FC236}">
                  <a16:creationId xmlns:a16="http://schemas.microsoft.com/office/drawing/2014/main" id="{D9E7FE46-B6BE-8721-269A-6415AA075AA3}"/>
                </a:ext>
              </a:extLst>
            </p:cNvPr>
            <p:cNvSpPr>
              <a:spLocks/>
            </p:cNvSpPr>
            <p:nvPr/>
          </p:nvSpPr>
          <p:spPr>
            <a:xfrm>
              <a:off x="10196840" y="1570799"/>
              <a:ext cx="1440000" cy="867600"/>
            </a:xfrm>
            <a:prstGeom prst="roundRect">
              <a:avLst/>
            </a:prstGeom>
            <a:solidFill>
              <a:srgbClr val="C60C30">
                <a:alpha val="20000"/>
              </a:srgbClr>
            </a:solidFill>
            <a:ln w="1587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Query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20" name="Grafik 16">
              <a:extLst>
                <a:ext uri="{FF2B5EF4-FFF2-40B4-BE49-F238E27FC236}">
                  <a16:creationId xmlns:a16="http://schemas.microsoft.com/office/drawing/2014/main" id="{3FD27254-6A1A-1764-0C62-B71541831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ns1:svgBlip xmlns:ns1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682840" y="1914879"/>
              <a:ext cx="468000" cy="468000"/>
            </a:xfrm>
            <a:prstGeom prst="rect">
              <a:avLst/>
            </a:prstGeom>
          </p:spPr>
        </p:pic>
        <p:sp>
          <p:nvSpPr>
            <p:cNvPr id="159" name="Gerader Verbinder 159"/>
            <p:cNvSpPr>
              <a:spLocks/>
            </p:cNvSpPr>
            <p:nvPr/>
          </p:nvSpPr>
          <p:spPr>
            <a:xfrm flipV="1">
              <a:off x="10196840" y="1859360"/>
              <a:ext cx="1440000" cy="0"/>
            </a:xfrm>
            <a:prstGeom prst="line">
              <a:avLst/>
            </a:prstGeom>
            <a:ln w="15875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48" name="Gruppe Response"/>
          <p:cNvGrpSpPr/>
          <p:nvPr/>
        </p:nvGrpSpPr>
        <p:grpSpPr>
          <a:xfrm>
            <a:off x="9540000" y="5028003"/>
            <a:ext cx="1440000" cy="867600"/>
            <a:chOff x="10196840" y="5161353"/>
            <a:chExt cx="1440000" cy="867600"/>
          </a:xfrm>
        </p:grpSpPr>
        <p:sp>
          <p:nvSpPr>
            <p:cNvPr id="24" name="Rechteck: abgerundete Ecken 23">
              <a:extLst>
                <a:ext uri="{FF2B5EF4-FFF2-40B4-BE49-F238E27FC236}">
                  <a16:creationId xmlns:a16="http://schemas.microsoft.com/office/drawing/2014/main" id="{EF7C69F7-3BA6-3716-FB87-C6056C54CA0B}"/>
                </a:ext>
              </a:extLst>
            </p:cNvPr>
            <p:cNvSpPr>
              <a:spLocks/>
            </p:cNvSpPr>
            <p:nvPr/>
          </p:nvSpPr>
          <p:spPr>
            <a:xfrm>
              <a:off x="10196840" y="5161353"/>
              <a:ext cx="1440000" cy="867600"/>
            </a:xfrm>
            <a:prstGeom prst="roundRect">
              <a:avLst/>
            </a:prstGeom>
            <a:solidFill>
              <a:srgbClr val="43858A">
                <a:alpha val="20000"/>
              </a:srgbClr>
            </a:solidFill>
            <a:ln w="158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Response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28" name="Grafik 22">
              <a:extLst>
                <a:ext uri="{FF2B5EF4-FFF2-40B4-BE49-F238E27FC236}">
                  <a16:creationId xmlns:a16="http://schemas.microsoft.com/office/drawing/2014/main" id="{8C3ACE01-CA21-EEDC-1F98-9D084AF04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ns2:svgBlip xmlns:ns2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682840" y="5505433"/>
              <a:ext cx="468000" cy="468000"/>
            </a:xfrm>
            <a:prstGeom prst="rect">
              <a:avLst/>
            </a:prstGeom>
          </p:spPr>
        </p:pic>
        <p:sp>
          <p:nvSpPr>
            <p:cNvPr id="160" name="Gerader Verbinder 160"/>
            <p:cNvSpPr>
              <a:spLocks/>
            </p:cNvSpPr>
            <p:nvPr/>
          </p:nvSpPr>
          <p:spPr>
            <a:xfrm flipV="1">
              <a:off x="10196840" y="5449914"/>
              <a:ext cx="1440000" cy="0"/>
            </a:xfrm>
            <a:prstGeom prst="line">
              <a:avLst/>
            </a:prstGeom>
            <a:ln w="15875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49" name="Gruppe Information Extraction"/>
          <p:cNvGrpSpPr/>
          <p:nvPr/>
        </p:nvGrpSpPr>
        <p:grpSpPr>
          <a:xfrm>
            <a:off x="540000" y="3828224"/>
            <a:ext cx="1440000" cy="867600"/>
            <a:chOff x="622908" y="3952049"/>
            <a:chExt cx="1440000" cy="867600"/>
          </a:xfrm>
        </p:grpSpPr>
        <p:sp>
          <p:nvSpPr>
            <p:cNvPr id="37" name="Rechteck: abgerundete Ecken 36">
              <a:extLst>
                <a:ext uri="{FF2B5EF4-FFF2-40B4-BE49-F238E27FC236}">
                  <a16:creationId xmlns:a16="http://schemas.microsoft.com/office/drawing/2014/main" id="{955C229C-DF37-3394-7852-D2530C311E3D}"/>
                </a:ext>
              </a:extLst>
            </p:cNvPr>
            <p:cNvSpPr>
              <a:spLocks/>
            </p:cNvSpPr>
            <p:nvPr/>
          </p:nvSpPr>
          <p:spPr>
            <a:xfrm>
              <a:off x="622908" y="3952049"/>
              <a:ext cx="1440000" cy="867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" rIns="36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Information Extraction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42" name="Grafik 8">
              <a:extLst>
                <a:ext uri="{FF2B5EF4-FFF2-40B4-BE49-F238E27FC236}">
                  <a16:creationId xmlns:a16="http://schemas.microsoft.com/office/drawing/2014/main" id="{8D120EA8-E27A-D0DD-C5B0-F34B5211F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ns3:svgBlip xmlns:ns3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108908" y="4296129"/>
              <a:ext cx="468000" cy="468000"/>
            </a:xfrm>
            <a:prstGeom prst="rect">
              <a:avLst/>
            </a:prstGeom>
          </p:spPr>
        </p:pic>
        <p:sp>
          <p:nvSpPr>
            <p:cNvPr id="44" name="Gerader Verbinder 43">
              <a:extLst>
                <a:ext uri="{FF2B5EF4-FFF2-40B4-BE49-F238E27FC236}">
                  <a16:creationId xmlns:a16="http://schemas.microsoft.com/office/drawing/2014/main" id="{6BF87FBA-FFD4-A870-8990-3B36EDECACE0}"/>
                </a:ext>
              </a:extLst>
            </p:cNvPr>
            <p:cNvSpPr>
              <a:spLocks/>
            </p:cNvSpPr>
            <p:nvPr/>
          </p:nvSpPr>
          <p:spPr>
            <a:xfrm>
              <a:off x="622908" y="4240610"/>
              <a:ext cx="1440000" cy="0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54000" tIns="28800" rIns="54000"/>
            <a:lstStyle/>
            <a:p>
              <a:endParaRPr lang="de-CH" sz="900" b="1"/>
            </a:p>
          </p:txBody>
        </p:sp>
      </p:grpSp>
      <p:grpSp>
        <p:nvGrpSpPr>
          <p:cNvPr id="50" name="Gruppe Chunking">
            <a:extLst>
              <a:ext uri="{FF2B5EF4-FFF2-40B4-BE49-F238E27FC236}">
                <a16:creationId xmlns:a16="http://schemas.microsoft.com/office/drawing/2014/main" id="{8508E21A-AF16-CF37-8FB0-BF8A7BDA03CE}"/>
              </a:ext>
            </a:extLst>
          </p:cNvPr>
          <p:cNvGrpSpPr/>
          <p:nvPr/>
        </p:nvGrpSpPr>
        <p:grpSpPr>
          <a:xfrm>
            <a:off x="540000" y="2637599"/>
            <a:ext cx="1440000" cy="867600"/>
            <a:chOff x="624215" y="2761424"/>
            <a:chExt cx="1440000" cy="867600"/>
          </a:xfrm>
        </p:grpSpPr>
        <p:sp>
          <p:nvSpPr>
            <p:cNvPr id="45" name="Rechteck: abgerundete Ecken 44">
              <a:extLst>
                <a:ext uri="{FF2B5EF4-FFF2-40B4-BE49-F238E27FC236}">
                  <a16:creationId xmlns:a16="http://schemas.microsoft.com/office/drawing/2014/main" id="{D48A7F4F-BE6B-CD6F-E690-688E3245F2C5}"/>
                </a:ext>
              </a:extLst>
            </p:cNvPr>
            <p:cNvSpPr>
              <a:spLocks/>
            </p:cNvSpPr>
            <p:nvPr/>
          </p:nvSpPr>
          <p:spPr>
            <a:xfrm>
              <a:off x="624215" y="2761424"/>
              <a:ext cx="1440000" cy="867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/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Chunking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51" name="Gerader Verbinder 50">
              <a:extLst>
                <a:ext uri="{FF2B5EF4-FFF2-40B4-BE49-F238E27FC236}">
                  <a16:creationId xmlns:a16="http://schemas.microsoft.com/office/drawing/2014/main" id="{329E3D98-43F4-135D-5087-525B26A0404F}"/>
                </a:ext>
              </a:extLst>
            </p:cNvPr>
            <p:cNvSpPr>
              <a:spLocks/>
            </p:cNvSpPr>
            <p:nvPr/>
          </p:nvSpPr>
          <p:spPr>
            <a:xfrm>
              <a:off x="624215" y="3049985"/>
              <a:ext cx="1440000" cy="0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  <p:pic>
          <p:nvPicPr>
            <p:cNvPr id="122" name="Grafik 165">
              <a:extLst>
                <a:ext uri="{FF2B5EF4-FFF2-40B4-BE49-F238E27FC236}">
                  <a16:creationId xmlns:a16="http://schemas.microsoft.com/office/drawing/2014/main" id="{C58BB8C8-2491-48E5-46A3-5E1BEB7A5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ns4:svgBlip xmlns:ns4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110215" y="3105504"/>
              <a:ext cx="468000" cy="468000"/>
            </a:xfrm>
            <a:prstGeom prst="rect">
              <a:avLst/>
            </a:prstGeom>
          </p:spPr>
        </p:pic>
      </p:grpSp>
      <p:grpSp>
        <p:nvGrpSpPr>
          <p:cNvPr id="151" name="Gruppe Embeddings"/>
          <p:cNvGrpSpPr/>
          <p:nvPr/>
        </p:nvGrpSpPr>
        <p:grpSpPr>
          <a:xfrm>
            <a:off x="4140000" y="2636773"/>
            <a:ext cx="1440000" cy="867600"/>
            <a:chOff x="5009244" y="1578083"/>
            <a:chExt cx="1440000" cy="867600"/>
          </a:xfrm>
        </p:grpSpPr>
        <p:sp>
          <p:nvSpPr>
            <p:cNvPr id="54" name="Rechteck: abgerundete Ecken 53">
              <a:extLst>
                <a:ext uri="{FF2B5EF4-FFF2-40B4-BE49-F238E27FC236}">
                  <a16:creationId xmlns:a16="http://schemas.microsoft.com/office/drawing/2014/main" id="{F6937E87-FFDC-5644-BE6B-D3AF0FCBAA56}"/>
                </a:ext>
              </a:extLst>
            </p:cNvPr>
            <p:cNvSpPr>
              <a:spLocks/>
            </p:cNvSpPr>
            <p:nvPr/>
          </p:nvSpPr>
          <p:spPr>
            <a:xfrm>
              <a:off x="5009244" y="1578083"/>
              <a:ext cx="1440000" cy="867600"/>
            </a:xfrm>
            <a:prstGeom prst="roundRect">
              <a:avLst/>
            </a:prstGeom>
            <a:solidFill>
              <a:schemeClr val="accent2">
                <a:alpha val="50000"/>
              </a:schemeClr>
            </a:solidFill>
            <a:ln w="158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 err="1">
                  <a:solidFill>
                    <a:schemeClr val="bg2">
                      <a:lumMod val="10000"/>
                    </a:schemeClr>
                  </a:solidFill>
                </a:rPr>
                <a:t>Embeddings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56" name="Grafik 33">
              <a:extLst>
                <a:ext uri="{FF2B5EF4-FFF2-40B4-BE49-F238E27FC236}">
                  <a16:creationId xmlns:a16="http://schemas.microsoft.com/office/drawing/2014/main" id="{4180022B-D146-7907-A8C7-659A2713F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ns5:svgBlip xmlns:ns5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495244" y="1922163"/>
              <a:ext cx="468000" cy="468000"/>
            </a:xfrm>
            <a:prstGeom prst="rect">
              <a:avLst/>
            </a:prstGeom>
          </p:spPr>
        </p:pic>
        <p:sp>
          <p:nvSpPr>
            <p:cNvPr id="58" name="Gerader Verbinder 57">
              <a:extLst>
                <a:ext uri="{FF2B5EF4-FFF2-40B4-BE49-F238E27FC236}">
                  <a16:creationId xmlns:a16="http://schemas.microsoft.com/office/drawing/2014/main" id="{2358A794-930F-1800-2F3C-5B5ECED2E77E}"/>
                </a:ext>
              </a:extLst>
            </p:cNvPr>
            <p:cNvSpPr>
              <a:spLocks/>
            </p:cNvSpPr>
            <p:nvPr/>
          </p:nvSpPr>
          <p:spPr>
            <a:xfrm flipV="1">
              <a:off x="5009244" y="1866644"/>
              <a:ext cx="1440000" cy="0"/>
            </a:xfrm>
            <a:prstGeom prst="line">
              <a:avLst/>
            </a:prstGeom>
            <a:ln w="158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53" name="Gruppe Vector Database"/>
          <p:cNvGrpSpPr/>
          <p:nvPr/>
        </p:nvGrpSpPr>
        <p:grpSpPr>
          <a:xfrm>
            <a:off x="5940000" y="2637599"/>
            <a:ext cx="1440000" cy="867600"/>
            <a:chOff x="5005715" y="2776165"/>
            <a:chExt cx="1440000" cy="867600"/>
          </a:xfrm>
        </p:grpSpPr>
        <p:sp>
          <p:nvSpPr>
            <p:cNvPr id="72" name="Rechteck: abgerundete Ecken 71">
              <a:extLst>
                <a:ext uri="{FF2B5EF4-FFF2-40B4-BE49-F238E27FC236}">
                  <a16:creationId xmlns:a16="http://schemas.microsoft.com/office/drawing/2014/main" id="{E9A14601-129B-5663-F0ED-B2E1BD20F945}"/>
                </a:ext>
              </a:extLst>
            </p:cNvPr>
            <p:cNvSpPr>
              <a:spLocks/>
            </p:cNvSpPr>
            <p:nvPr/>
          </p:nvSpPr>
          <p:spPr>
            <a:xfrm>
              <a:off x="5005715" y="2776165"/>
              <a:ext cx="1440000" cy="867600"/>
            </a:xfrm>
            <a:prstGeom prst="roundRect">
              <a:avLst/>
            </a:prstGeom>
            <a:solidFill>
              <a:schemeClr val="bg2">
                <a:alpha val="50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Vector Database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74" name="Grafik 14">
              <a:extLst>
                <a:ext uri="{FF2B5EF4-FFF2-40B4-BE49-F238E27FC236}">
                  <a16:creationId xmlns:a16="http://schemas.microsoft.com/office/drawing/2014/main" id="{C9AA9F1F-BE1C-5F83-5671-91EF5A5DC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ns6:svgBlip xmlns:ns6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5491715" y="3120245"/>
              <a:ext cx="468000" cy="468000"/>
            </a:xfrm>
            <a:prstGeom prst="rect">
              <a:avLst/>
            </a:prstGeom>
          </p:spPr>
        </p:pic>
        <p:sp>
          <p:nvSpPr>
            <p:cNvPr id="79" name="Gerader Verbinder 78">
              <a:extLst>
                <a:ext uri="{FF2B5EF4-FFF2-40B4-BE49-F238E27FC236}">
                  <a16:creationId xmlns:a16="http://schemas.microsoft.com/office/drawing/2014/main" id="{89A0E0B7-A2BB-83F8-DDEA-7BF8AF689E44}"/>
                </a:ext>
              </a:extLst>
            </p:cNvPr>
            <p:cNvSpPr>
              <a:spLocks/>
            </p:cNvSpPr>
            <p:nvPr/>
          </p:nvSpPr>
          <p:spPr>
            <a:xfrm>
              <a:off x="5005715" y="3064726"/>
              <a:ext cx="1440000" cy="0"/>
            </a:xfrm>
            <a:prstGeom prst="line">
              <a:avLst/>
            </a:prstGeom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54" name="Gruppe Relevant Data"/>
          <p:cNvGrpSpPr/>
          <p:nvPr/>
        </p:nvGrpSpPr>
        <p:grpSpPr>
          <a:xfrm>
            <a:off x="5940000" y="5037528"/>
            <a:ext cx="1440000" cy="867600"/>
            <a:chOff x="5005715" y="5161353"/>
            <a:chExt cx="1440000" cy="867600"/>
          </a:xfrm>
        </p:grpSpPr>
        <p:sp>
          <p:nvSpPr>
            <p:cNvPr id="81" name="Rechteck: abgerundete Ecken 80">
              <a:extLst>
                <a:ext uri="{FF2B5EF4-FFF2-40B4-BE49-F238E27FC236}">
                  <a16:creationId xmlns:a16="http://schemas.microsoft.com/office/drawing/2014/main" id="{299209A1-E60D-B54F-BCE0-B59442B6BA9E}"/>
                </a:ext>
              </a:extLst>
            </p:cNvPr>
            <p:cNvSpPr>
              <a:spLocks/>
            </p:cNvSpPr>
            <p:nvPr/>
          </p:nvSpPr>
          <p:spPr>
            <a:xfrm>
              <a:off x="5005715" y="5161353"/>
              <a:ext cx="1440000" cy="867600"/>
            </a:xfrm>
            <a:prstGeom prst="roundRect">
              <a:avLst/>
            </a:prstGeom>
            <a:solidFill>
              <a:schemeClr val="accent2">
                <a:alpha val="50000"/>
              </a:schemeClr>
            </a:solidFill>
            <a:ln w="158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Relevant Data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84" name="Grafik 18">
              <a:extLst>
                <a:ext uri="{FF2B5EF4-FFF2-40B4-BE49-F238E27FC236}">
                  <a16:creationId xmlns:a16="http://schemas.microsoft.com/office/drawing/2014/main" id="{75982C35-E39A-47E4-7B79-4694BEFA0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ns7:svgBlip xmlns:ns7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5491715" y="5505433"/>
              <a:ext cx="468000" cy="468000"/>
            </a:xfrm>
            <a:prstGeom prst="rect">
              <a:avLst/>
            </a:prstGeom>
          </p:spPr>
        </p:pic>
        <p:sp>
          <p:nvSpPr>
            <p:cNvPr id="90" name="Gerader Verbinder 89">
              <a:extLst>
                <a:ext uri="{FF2B5EF4-FFF2-40B4-BE49-F238E27FC236}">
                  <a16:creationId xmlns:a16="http://schemas.microsoft.com/office/drawing/2014/main" id="{28E3CEA1-5C20-114C-95BF-87C047395FE4}"/>
                </a:ext>
              </a:extLst>
            </p:cNvPr>
            <p:cNvSpPr>
              <a:spLocks/>
            </p:cNvSpPr>
            <p:nvPr/>
          </p:nvSpPr>
          <p:spPr>
            <a:xfrm>
              <a:off x="5005715" y="5449914"/>
              <a:ext cx="1440000" cy="0"/>
            </a:xfrm>
            <a:prstGeom prst="line">
              <a:avLst/>
            </a:prstGeom>
            <a:ln w="158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55" name="Gruppe Embedding LLM"/>
          <p:cNvGrpSpPr/>
          <p:nvPr/>
        </p:nvGrpSpPr>
        <p:grpSpPr>
          <a:xfrm>
            <a:off x="7740000" y="1446974"/>
            <a:ext cx="1440000" cy="867600"/>
            <a:chOff x="7996042" y="1570799"/>
            <a:chExt cx="1440000" cy="867600"/>
          </a:xfrm>
        </p:grpSpPr>
        <p:sp>
          <p:nvSpPr>
            <p:cNvPr id="93" name="Rechteck: abgerundete Ecken 92">
              <a:extLst>
                <a:ext uri="{FF2B5EF4-FFF2-40B4-BE49-F238E27FC236}">
                  <a16:creationId xmlns:a16="http://schemas.microsoft.com/office/drawing/2014/main" id="{AD79A1D2-E83B-1112-88E6-A41F8B4E30C4}"/>
                </a:ext>
              </a:extLst>
            </p:cNvPr>
            <p:cNvSpPr>
              <a:spLocks/>
            </p:cNvSpPr>
            <p:nvPr/>
          </p:nvSpPr>
          <p:spPr>
            <a:xfrm>
              <a:off x="7996042" y="1570799"/>
              <a:ext cx="1440000" cy="867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Embedding LLM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96" name="Grafik 39">
              <a:extLst>
                <a:ext uri="{FF2B5EF4-FFF2-40B4-BE49-F238E27FC236}">
                  <a16:creationId xmlns:a16="http://schemas.microsoft.com/office/drawing/2014/main" id="{61249CC0-2AE7-1CF4-AF70-749961979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ns8:svgBlip xmlns:ns8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8482042" y="1914879"/>
              <a:ext cx="468000" cy="468000"/>
            </a:xfrm>
            <a:prstGeom prst="rect">
              <a:avLst/>
            </a:prstGeom>
          </p:spPr>
        </p:pic>
        <p:sp>
          <p:nvSpPr>
            <p:cNvPr id="101" name="Gerader Verbinder 100">
              <a:extLst>
                <a:ext uri="{FF2B5EF4-FFF2-40B4-BE49-F238E27FC236}">
                  <a16:creationId xmlns:a16="http://schemas.microsoft.com/office/drawing/2014/main" id="{E72F8E13-9942-DFD0-1B23-F1C4A1D4EC76}"/>
                </a:ext>
              </a:extLst>
            </p:cNvPr>
            <p:cNvSpPr>
              <a:spLocks/>
            </p:cNvSpPr>
            <p:nvPr/>
          </p:nvSpPr>
          <p:spPr>
            <a:xfrm>
              <a:off x="7996042" y="1859360"/>
              <a:ext cx="1440000" cy="0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27" name="Gruppe LLM">
            <a:extLst>
              <a:ext uri="{FF2B5EF4-FFF2-40B4-BE49-F238E27FC236}">
                <a16:creationId xmlns:a16="http://schemas.microsoft.com/office/drawing/2014/main" id="{CC8957DA-7EEF-07E6-4817-4A1CAB29C56A}"/>
              </a:ext>
            </a:extLst>
          </p:cNvPr>
          <p:cNvGrpSpPr/>
          <p:nvPr/>
        </p:nvGrpSpPr>
        <p:grpSpPr>
          <a:xfrm>
            <a:off x="7740000" y="5037528"/>
            <a:ext cx="1440000" cy="867600"/>
            <a:chOff x="8006090" y="5161353"/>
            <a:chExt cx="1440000" cy="867600"/>
          </a:xfrm>
        </p:grpSpPr>
        <p:sp>
          <p:nvSpPr>
            <p:cNvPr id="102" name="Rechteck: abgerundete Ecken 101">
              <a:extLst>
                <a:ext uri="{FF2B5EF4-FFF2-40B4-BE49-F238E27FC236}">
                  <a16:creationId xmlns:a16="http://schemas.microsoft.com/office/drawing/2014/main" id="{CCD2EF0F-009E-7BB9-2850-8D80476CA421}"/>
                </a:ext>
              </a:extLst>
            </p:cNvPr>
            <p:cNvSpPr>
              <a:spLocks/>
            </p:cNvSpPr>
            <p:nvPr/>
          </p:nvSpPr>
          <p:spPr>
            <a:xfrm>
              <a:off x="8006090" y="5161353"/>
              <a:ext cx="1440000" cy="867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LLM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104" name="Grafik 20">
              <a:extLst>
                <a:ext uri="{FF2B5EF4-FFF2-40B4-BE49-F238E27FC236}">
                  <a16:creationId xmlns:a16="http://schemas.microsoft.com/office/drawing/2014/main" id="{45D89FC9-D1BB-FFF3-F2CC-C8155D447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ns9:svgBlip xmlns:ns9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8492090" y="5505433"/>
              <a:ext cx="468000" cy="468000"/>
            </a:xfrm>
            <a:prstGeom prst="rect">
              <a:avLst/>
            </a:prstGeom>
          </p:spPr>
        </p:pic>
        <p:sp>
          <p:nvSpPr>
            <p:cNvPr id="106" name="Gerader Verbinder 105">
              <a:extLst>
                <a:ext uri="{FF2B5EF4-FFF2-40B4-BE49-F238E27FC236}">
                  <a16:creationId xmlns:a16="http://schemas.microsoft.com/office/drawing/2014/main" id="{C25ABEB4-F7C7-3DF5-DEEF-6DD6C45FCF01}"/>
                </a:ext>
              </a:extLst>
            </p:cNvPr>
            <p:cNvSpPr>
              <a:spLocks/>
            </p:cNvSpPr>
            <p:nvPr/>
          </p:nvSpPr>
          <p:spPr>
            <a:xfrm flipV="1">
              <a:off x="8006090" y="5449914"/>
              <a:ext cx="1440000" cy="0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57" name="Gruppe Embedding LLM"/>
          <p:cNvGrpSpPr/>
          <p:nvPr/>
        </p:nvGrpSpPr>
        <p:grpSpPr>
          <a:xfrm>
            <a:off x="4140000" y="1432421"/>
            <a:ext cx="1440000" cy="867600"/>
            <a:chOff x="2783916" y="1570799"/>
            <a:chExt cx="1440000" cy="867600"/>
          </a:xfrm>
        </p:grpSpPr>
        <p:sp>
          <p:nvSpPr>
            <p:cNvPr id="137" name="Rechteck: abgerundete Ecken 136">
              <a:extLst>
                <a:ext uri="{FF2B5EF4-FFF2-40B4-BE49-F238E27FC236}">
                  <a16:creationId xmlns:a16="http://schemas.microsoft.com/office/drawing/2014/main" id="{2F0E7FDF-A2C6-F785-F1E7-936F202EF2F8}"/>
                </a:ext>
              </a:extLst>
            </p:cNvPr>
            <p:cNvSpPr>
              <a:spLocks/>
            </p:cNvSpPr>
            <p:nvPr/>
          </p:nvSpPr>
          <p:spPr>
            <a:xfrm>
              <a:off x="2783916" y="1570799"/>
              <a:ext cx="1440000" cy="867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Embedding LLM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138" name="Grafik 39">
              <a:extLst>
                <a:ext uri="{FF2B5EF4-FFF2-40B4-BE49-F238E27FC236}">
                  <a16:creationId xmlns:a16="http://schemas.microsoft.com/office/drawing/2014/main" id="{CED68F23-700B-1E3E-A249-76DCDEF47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ns10:svgBlip xmlns:ns10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3269916" y="1914879"/>
              <a:ext cx="468000" cy="468000"/>
            </a:xfrm>
            <a:prstGeom prst="rect">
              <a:avLst/>
            </a:prstGeom>
          </p:spPr>
        </p:pic>
        <p:sp>
          <p:nvSpPr>
            <p:cNvPr id="140" name="Gerader Verbinder 139">
              <a:extLst>
                <a:ext uri="{FF2B5EF4-FFF2-40B4-BE49-F238E27FC236}">
                  <a16:creationId xmlns:a16="http://schemas.microsoft.com/office/drawing/2014/main" id="{FAE015C5-0604-FCE4-AE8F-E2A5506C996F}"/>
                </a:ext>
              </a:extLst>
            </p:cNvPr>
            <p:cNvSpPr>
              <a:spLocks/>
            </p:cNvSpPr>
            <p:nvPr/>
          </p:nvSpPr>
          <p:spPr>
            <a:xfrm>
              <a:off x="2783916" y="1859360"/>
              <a:ext cx="1440000" cy="0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58" name="Gruppe Chunks"/>
          <p:cNvGrpSpPr/>
          <p:nvPr/>
        </p:nvGrpSpPr>
        <p:grpSpPr>
          <a:xfrm>
            <a:off x="540000" y="1446974"/>
            <a:ext cx="1440000" cy="867600"/>
            <a:chOff x="617904" y="1570799"/>
            <a:chExt cx="1440000" cy="867600"/>
          </a:xfrm>
        </p:grpSpPr>
        <p:sp>
          <p:nvSpPr>
            <p:cNvPr id="121" name="Rechteck: abgerundete Ecken 120">
              <a:extLst>
                <a:ext uri="{FF2B5EF4-FFF2-40B4-BE49-F238E27FC236}">
                  <a16:creationId xmlns:a16="http://schemas.microsoft.com/office/drawing/2014/main" id="{AD7B8046-A7E5-977B-9789-31E7E99EC995}"/>
                </a:ext>
              </a:extLst>
            </p:cNvPr>
            <p:cNvSpPr>
              <a:spLocks/>
            </p:cNvSpPr>
            <p:nvPr/>
          </p:nvSpPr>
          <p:spPr>
            <a:xfrm>
              <a:off x="617904" y="1570799"/>
              <a:ext cx="1440000" cy="867600"/>
            </a:xfrm>
            <a:prstGeom prst="roundRect">
              <a:avLst/>
            </a:prstGeom>
            <a:solidFill>
              <a:schemeClr val="accent2">
                <a:alpha val="50000"/>
              </a:schemeClr>
            </a:solidFill>
            <a:ln w="158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Chunks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46" name="Grafik 10">
              <a:extLst>
                <a:ext uri="{FF2B5EF4-FFF2-40B4-BE49-F238E27FC236}">
                  <a16:creationId xmlns:a16="http://schemas.microsoft.com/office/drawing/2014/main" id="{BE3EA945-55FA-7EAD-DC73-B9FB8CEDC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ns11:svgBlip xmlns:ns11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03904" y="1914879"/>
              <a:ext cx="468000" cy="468000"/>
            </a:xfrm>
            <a:prstGeom prst="rect">
              <a:avLst/>
            </a:prstGeom>
          </p:spPr>
        </p:pic>
        <p:sp>
          <p:nvSpPr>
            <p:cNvPr id="124" name="Gerader Verbinder 123">
              <a:extLst>
                <a:ext uri="{FF2B5EF4-FFF2-40B4-BE49-F238E27FC236}">
                  <a16:creationId xmlns:a16="http://schemas.microsoft.com/office/drawing/2014/main" id="{E1830494-1611-ADE7-C919-BF9ADBCD7AEF}"/>
                </a:ext>
              </a:extLst>
            </p:cNvPr>
            <p:cNvSpPr>
              <a:spLocks/>
            </p:cNvSpPr>
            <p:nvPr/>
          </p:nvSpPr>
          <p:spPr>
            <a:xfrm>
              <a:off x="617904" y="1859360"/>
              <a:ext cx="1440000" cy="0"/>
            </a:xfrm>
            <a:prstGeom prst="line">
              <a:avLst/>
            </a:prstGeom>
            <a:ln w="158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39" name="Gruppe Embeddings">
            <a:extLst>
              <a:ext uri="{FF2B5EF4-FFF2-40B4-BE49-F238E27FC236}">
                <a16:creationId xmlns:a16="http://schemas.microsoft.com/office/drawing/2014/main" id="{1CE371FF-AA8D-9463-C284-4D4EC69E806E}"/>
              </a:ext>
            </a:extLst>
          </p:cNvPr>
          <p:cNvGrpSpPr/>
          <p:nvPr/>
        </p:nvGrpSpPr>
        <p:grpSpPr>
          <a:xfrm>
            <a:off x="7740000" y="2637599"/>
            <a:ext cx="1440000" cy="867600"/>
            <a:chOff x="8006090" y="2794529"/>
            <a:chExt cx="1440000" cy="867600"/>
          </a:xfrm>
        </p:grpSpPr>
        <p:sp>
          <p:nvSpPr>
            <p:cNvPr id="32" name="Rechteck: abgerundete Ecken 31">
              <a:extLst>
                <a:ext uri="{FF2B5EF4-FFF2-40B4-BE49-F238E27FC236}">
                  <a16:creationId xmlns:a16="http://schemas.microsoft.com/office/drawing/2014/main" id="{2A723AF4-EAB5-14C5-1FA0-86467149575A}"/>
                </a:ext>
              </a:extLst>
            </p:cNvPr>
            <p:cNvSpPr>
              <a:spLocks/>
            </p:cNvSpPr>
            <p:nvPr/>
          </p:nvSpPr>
          <p:spPr>
            <a:xfrm>
              <a:off x="8006090" y="2794529"/>
              <a:ext cx="1440000" cy="867600"/>
            </a:xfrm>
            <a:prstGeom prst="roundRect">
              <a:avLst/>
            </a:prstGeom>
            <a:solidFill>
              <a:schemeClr val="accent2">
                <a:alpha val="50000"/>
              </a:schemeClr>
            </a:solidFill>
            <a:ln w="158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/>
              <a:r>
                <a:rPr lang="de-CH" sz="900" b="1" dirty="0" err="1">
                  <a:solidFill>
                    <a:schemeClr val="bg2">
                      <a:lumMod val="10000"/>
                    </a:schemeClr>
                  </a:solidFill>
                </a:rPr>
                <a:t>Embeddings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33" name="Grafik 20">
              <a:extLst>
                <a:ext uri="{FF2B5EF4-FFF2-40B4-BE49-F238E27FC236}">
                  <a16:creationId xmlns:a16="http://schemas.microsoft.com/office/drawing/2014/main" id="{91CCA1BF-A0BC-0AD7-2334-443BD9585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ns12:svgBlip xmlns:ns12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8492090" y="3138609"/>
              <a:ext cx="468000" cy="468000"/>
            </a:xfrm>
            <a:prstGeom prst="rect">
              <a:avLst/>
            </a:prstGeom>
          </p:spPr>
        </p:pic>
        <p:sp>
          <p:nvSpPr>
            <p:cNvPr id="35" name="Gerader Verbinder 34">
              <a:extLst>
                <a:ext uri="{FF2B5EF4-FFF2-40B4-BE49-F238E27FC236}">
                  <a16:creationId xmlns:a16="http://schemas.microsoft.com/office/drawing/2014/main" id="{D8883587-3324-32F7-891A-2B743485D887}"/>
                </a:ext>
              </a:extLst>
            </p:cNvPr>
            <p:cNvSpPr>
              <a:spLocks/>
            </p:cNvSpPr>
            <p:nvPr/>
          </p:nvSpPr>
          <p:spPr>
            <a:xfrm flipV="1">
              <a:off x="8006090" y="3083090"/>
              <a:ext cx="1440000" cy="0"/>
            </a:xfrm>
            <a:prstGeom prst="line">
              <a:avLst/>
            </a:prstGeom>
            <a:ln w="158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40" name="Gruppe Ranking">
            <a:extLst>
              <a:ext uri="{FF2B5EF4-FFF2-40B4-BE49-F238E27FC236}">
                <a16:creationId xmlns:a16="http://schemas.microsoft.com/office/drawing/2014/main" id="{62657446-9BFF-60C0-3E07-97265A6E0278}"/>
              </a:ext>
            </a:extLst>
          </p:cNvPr>
          <p:cNvGrpSpPr/>
          <p:nvPr/>
        </p:nvGrpSpPr>
        <p:grpSpPr>
          <a:xfrm>
            <a:off x="5940000" y="3828224"/>
            <a:ext cx="1440000" cy="867600"/>
            <a:chOff x="2783916" y="1570799"/>
            <a:chExt cx="1440000" cy="867600"/>
          </a:xfrm>
        </p:grpSpPr>
        <p:sp>
          <p:nvSpPr>
            <p:cNvPr id="41" name="Rechteck: abgerundete Ecken 40">
              <a:extLst>
                <a:ext uri="{FF2B5EF4-FFF2-40B4-BE49-F238E27FC236}">
                  <a16:creationId xmlns:a16="http://schemas.microsoft.com/office/drawing/2014/main" id="{E7DEB9CD-56E2-EB2F-CD4E-69F8AEE0181F}"/>
                </a:ext>
              </a:extLst>
            </p:cNvPr>
            <p:cNvSpPr>
              <a:spLocks/>
            </p:cNvSpPr>
            <p:nvPr/>
          </p:nvSpPr>
          <p:spPr>
            <a:xfrm>
              <a:off x="2783916" y="1570799"/>
              <a:ext cx="1440000" cy="867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Ranking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47" name="Grafik 39">
              <a:extLst>
                <a:ext uri="{FF2B5EF4-FFF2-40B4-BE49-F238E27FC236}">
                  <a16:creationId xmlns:a16="http://schemas.microsoft.com/office/drawing/2014/main" id="{6081DB9F-9BB1-BAD7-BD2A-137B3169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>
              <a:extLst>
                <a:ext uri="{96DAC541-7B7A-43D3-8B79-37D633B846F1}">
                  <ns15:svgBlip xmlns:ns15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3269916" y="1914879"/>
              <a:ext cx="468000" cy="468000"/>
            </a:xfrm>
            <a:prstGeom prst="rect">
              <a:avLst/>
            </a:prstGeom>
          </p:spPr>
        </p:pic>
        <p:sp>
          <p:nvSpPr>
            <p:cNvPr id="48" name="Gerader Verbinder 47">
              <a:extLst>
                <a:ext uri="{FF2B5EF4-FFF2-40B4-BE49-F238E27FC236}">
                  <a16:creationId xmlns:a16="http://schemas.microsoft.com/office/drawing/2014/main" id="{C564D42D-36CE-ADD3-7AB2-73E4D9CA0D06}"/>
                </a:ext>
              </a:extLst>
            </p:cNvPr>
            <p:cNvSpPr>
              <a:spLocks/>
            </p:cNvSpPr>
            <p:nvPr/>
          </p:nvSpPr>
          <p:spPr>
            <a:xfrm>
              <a:off x="2783916" y="1859360"/>
              <a:ext cx="1440000" cy="0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cxnSp>
        <p:nvCxnSpPr>
          <p:cNvPr id="161" name="Gerade Verbindung Query LLM"/>
          <p:cNvCxnSpPr>
            <a:cxnSpLocks/>
            <a:stCxn id="18" idx="2"/>
            <a:endCxn id="102" idx="0"/>
          </p:cNvCxnSpPr>
          <p:nvPr/>
        </p:nvCxnSpPr>
        <p:spPr>
          <a:xfrm flipH="1">
            <a:off x="8460000" y="2317125"/>
            <a:ext cx="1800000" cy="2720403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0" name="Marker Embedding LLM@7740000"/>
          <p:cNvSpPr/>
          <p:nvPr/>
        </p:nvSpPr>
        <p:spPr>
          <a:xfrm>
            <a:off x="7696800" y="1403774"/>
            <a:ext cx="1526400" cy="954000"/>
          </a:xfrm>
          <a:prstGeom prst="roundRect">
            <a:avLst/>
          </a:prstGeom>
          <a:noFill/>
          <a:ln w="28575">
            <a:solidFill>
              <a:srgbClr val="C60C30"/>
            </a:solidFill>
            <a:prstDash val="dash"/>
          </a:ln>
        </p:spPr>
        <p:txBody>
          <a:bodyPr/>
          <a:lstStyle/>
          <a:p/>
        </p:txBody>
      </p:sp>
      <p:sp>
        <p:nvSpPr>
          <p:cNvPr id="1001" name="Marker Embeddings@7740000"/>
          <p:cNvSpPr/>
          <p:nvPr/>
        </p:nvSpPr>
        <p:spPr>
          <a:xfrm>
            <a:off x="7696800" y="2594399"/>
            <a:ext cx="1526400" cy="954000"/>
          </a:xfrm>
          <a:prstGeom prst="roundRect">
            <a:avLst/>
          </a:prstGeom>
          <a:noFill/>
          <a:ln w="28575">
            <a:solidFill>
              <a:srgbClr val="C60C30"/>
            </a:solidFill>
            <a:prstDash val="dash"/>
          </a:ln>
        </p:spPr>
        <p:txBody>
          <a:bodyPr/>
          <a:lstStyle/>
          <a:p/>
        </p:txBody>
      </p:sp>
      <p:sp>
        <p:nvSpPr>
          <p:cNvPr id="1002" name="Marker Ranking"/>
          <p:cNvSpPr/>
          <p:nvPr/>
        </p:nvSpPr>
        <p:spPr>
          <a:xfrm>
            <a:off x="5896800" y="3785024"/>
            <a:ext cx="1526400" cy="954000"/>
          </a:xfrm>
          <a:prstGeom prst="roundRect">
            <a:avLst/>
          </a:prstGeom>
          <a:noFill/>
          <a:ln w="28575">
            <a:solidFill>
              <a:srgbClr val="C60C30"/>
            </a:solidFill>
            <a:prstDash val="dash"/>
          </a:ln>
        </p:spPr>
        <p:txBody>
          <a:bodyPr/>
          <a:lstStyle/>
          <a:p/>
        </p:txBody>
      </p:sp>
      <p:sp>
        <p:nvSpPr>
          <p:cNvPr id="1003" name="Marker Relevant Data"/>
          <p:cNvSpPr/>
          <p:nvPr/>
        </p:nvSpPr>
        <p:spPr>
          <a:xfrm>
            <a:off x="5896800" y="4994328"/>
            <a:ext cx="1526400" cy="954000"/>
          </a:xfrm>
          <a:prstGeom prst="roundRect">
            <a:avLst/>
          </a:prstGeom>
          <a:noFill/>
          <a:ln w="28575">
            <a:solidFill>
              <a:srgbClr val="C60C30"/>
            </a:solidFill>
            <a:prstDash val="dash"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074129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BAC6-BCB5-98B3-8A58-1C6E4848A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A77537-C1FE-7896-AA65-64600F1BA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Stufe 3 · Chunking und Reranking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35B4C6F-32DB-B58C-A30E-9F6EA38F5F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7E00E2-F08D-429A-AD9B-1ECBEC02F4DB}" type="slidenum">
              <a:rPr lang="de-CH" smtClean="0"/>
              <a:t>7</a:t>
            </a:fld>
            <a:endParaRPr lang="de-CH"/>
          </a:p>
        </p:txBody>
      </p:sp>
      <p:cxnSp>
        <p:nvCxnSpPr>
          <p:cNvPr id="108" name="Gerade Verbindung mit Pfeil 116">
            <a:extLst>
              <a:ext uri="{FF2B5EF4-FFF2-40B4-BE49-F238E27FC236}">
                <a16:creationId xmlns:a16="http://schemas.microsoft.com/office/drawing/2014/main" id="{0BDDCE84-4016-2B9D-139E-B6028861F673}"/>
              </a:ext>
            </a:extLst>
          </p:cNvPr>
          <p:cNvCxnSpPr>
            <a:cxnSpLocks/>
            <a:stCxn id="37" idx="0"/>
            <a:endCxn id="45" idx="2"/>
          </p:cNvCxnSpPr>
          <p:nvPr/>
        </p:nvCxnSpPr>
        <p:spPr>
          <a:xfrm flipV="1">
            <a:off x="1260000" y="3505199"/>
            <a:ext cx="0" cy="323025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18">
            <a:extLst>
              <a:ext uri="{FF2B5EF4-FFF2-40B4-BE49-F238E27FC236}">
                <a16:creationId xmlns:a16="http://schemas.microsoft.com/office/drawing/2014/main" id="{0BB315D1-6C56-0674-6B65-3777144E7075}"/>
              </a:ext>
            </a:extLst>
          </p:cNvPr>
          <p:cNvCxnSpPr>
            <a:cxnSpLocks/>
            <a:stCxn id="45" idx="0"/>
            <a:endCxn id="121" idx="2"/>
          </p:cNvCxnSpPr>
          <p:nvPr/>
        </p:nvCxnSpPr>
        <p:spPr>
          <a:xfrm flipV="1">
            <a:off x="1260000" y="2314574"/>
            <a:ext cx="0" cy="323025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Gerade Verbindung mit Pfeil 143">
            <a:extLst>
              <a:ext uri="{FF2B5EF4-FFF2-40B4-BE49-F238E27FC236}">
                <a16:creationId xmlns:a16="http://schemas.microsoft.com/office/drawing/2014/main" id="{56983D44-8E80-3AB3-A9CF-D7232B3BF542}"/>
              </a:ext>
            </a:extLst>
          </p:cNvPr>
          <p:cNvCxnSpPr>
            <a:cxnSpLocks/>
            <a:stCxn id="81" idx="3"/>
            <a:endCxn id="102" idx="1"/>
          </p:cNvCxnSpPr>
          <p:nvPr/>
        </p:nvCxnSpPr>
        <p:spPr>
          <a:xfrm>
            <a:off x="7380000" y="5471328"/>
            <a:ext cx="360000" cy="0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Gerade Verbindung mit Pfeil 148">
            <a:extLst>
              <a:ext uri="{FF2B5EF4-FFF2-40B4-BE49-F238E27FC236}">
                <a16:creationId xmlns:a16="http://schemas.microsoft.com/office/drawing/2014/main" id="{F5BC60B3-6D21-34AF-F241-F9DCA2E051D9}"/>
              </a:ext>
            </a:extLst>
          </p:cNvPr>
          <p:cNvCxnSpPr>
            <a:cxnSpLocks/>
            <a:stCxn id="32" idx="1"/>
            <a:endCxn id="72" idx="3"/>
          </p:cNvCxnSpPr>
          <p:nvPr/>
        </p:nvCxnSpPr>
        <p:spPr>
          <a:xfrm flipH="1">
            <a:off x="7380000" y="3071399"/>
            <a:ext cx="360000" cy="0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Gerade Verbindung mit Pfeil 175">
            <a:extLst>
              <a:ext uri="{FF2B5EF4-FFF2-40B4-BE49-F238E27FC236}">
                <a16:creationId xmlns:a16="http://schemas.microsoft.com/office/drawing/2014/main" id="{C72D8DE9-33EF-8199-896F-3B4B34E4C33F}"/>
              </a:ext>
            </a:extLst>
          </p:cNvPr>
          <p:cNvCxnSpPr>
            <a:cxnSpLocks/>
            <a:stCxn id="121" idx="3"/>
            <a:endCxn id="137" idx="1"/>
          </p:cNvCxnSpPr>
          <p:nvPr/>
        </p:nvCxnSpPr>
        <p:spPr>
          <a:xfrm flipV="1">
            <a:off x="1980000" y="1866221"/>
            <a:ext cx="2160000" cy="14553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175">
            <a:extLst>
              <a:ext uri="{FF2B5EF4-FFF2-40B4-BE49-F238E27FC236}">
                <a16:creationId xmlns:a16="http://schemas.microsoft.com/office/drawing/2014/main" id="{0D4E258E-510F-CDC1-7824-B97B0D97B16A}"/>
              </a:ext>
            </a:extLst>
          </p:cNvPr>
          <p:cNvCxnSpPr>
            <a:cxnSpLocks/>
            <a:stCxn id="137" idx="2"/>
            <a:endCxn id="54" idx="0"/>
          </p:cNvCxnSpPr>
          <p:nvPr/>
        </p:nvCxnSpPr>
        <p:spPr>
          <a:xfrm>
            <a:off x="4860000" y="2300021"/>
            <a:ext cx="0" cy="336752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3">
            <a:extLst>
              <a:ext uri="{FF2B5EF4-FFF2-40B4-BE49-F238E27FC236}">
                <a16:creationId xmlns:a16="http://schemas.microsoft.com/office/drawing/2014/main" id="{A1A5E8C3-3F80-9A63-9DF4-CD841A9DCB7A}"/>
              </a:ext>
            </a:extLst>
          </p:cNvPr>
          <p:cNvCxnSpPr>
            <a:cxnSpLocks/>
            <a:stCxn id="102" idx="3"/>
            <a:endCxn id="24" idx="1"/>
          </p:cNvCxnSpPr>
          <p:nvPr/>
        </p:nvCxnSpPr>
        <p:spPr>
          <a:xfrm flipV="1">
            <a:off x="9180000" y="5461803"/>
            <a:ext cx="360000" cy="9525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116">
            <a:extLst>
              <a:ext uri="{FF2B5EF4-FFF2-40B4-BE49-F238E27FC236}">
                <a16:creationId xmlns:a16="http://schemas.microsoft.com/office/drawing/2014/main" id="{02CDE7FC-A0D5-07F3-2CE6-481F9220CCFB}"/>
              </a:ext>
            </a:extLst>
          </p:cNvPr>
          <p:cNvCxnSpPr>
            <a:cxnSpLocks/>
            <a:stCxn id="10" idx="0"/>
            <a:endCxn id="37" idx="2"/>
          </p:cNvCxnSpPr>
          <p:nvPr/>
        </p:nvCxnSpPr>
        <p:spPr>
          <a:xfrm flipV="1">
            <a:off x="1260000" y="4695824"/>
            <a:ext cx="0" cy="323025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116">
            <a:extLst>
              <a:ext uri="{FF2B5EF4-FFF2-40B4-BE49-F238E27FC236}">
                <a16:creationId xmlns:a16="http://schemas.microsoft.com/office/drawing/2014/main" id="{F834C3E5-D35F-44C7-AEE0-6AEAEACA36B4}"/>
              </a:ext>
            </a:extLst>
          </p:cNvPr>
          <p:cNvCxnSpPr>
            <a:cxnSpLocks/>
            <a:stCxn id="18" idx="1"/>
            <a:endCxn id="93" idx="3"/>
          </p:cNvCxnSpPr>
          <p:nvPr/>
        </p:nvCxnSpPr>
        <p:spPr>
          <a:xfrm flipH="1" flipV="1">
            <a:off x="9180000" y="1880774"/>
            <a:ext cx="360000" cy="2551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116">
            <a:extLst>
              <a:ext uri="{FF2B5EF4-FFF2-40B4-BE49-F238E27FC236}">
                <a16:creationId xmlns:a16="http://schemas.microsoft.com/office/drawing/2014/main" id="{AAD4A9FA-5DEA-3E74-98D7-E03DAAF937A5}"/>
              </a:ext>
            </a:extLst>
          </p:cNvPr>
          <p:cNvCxnSpPr>
            <a:cxnSpLocks/>
            <a:stCxn id="93" idx="2"/>
            <a:endCxn id="32" idx="0"/>
          </p:cNvCxnSpPr>
          <p:nvPr/>
        </p:nvCxnSpPr>
        <p:spPr>
          <a:xfrm>
            <a:off x="8460000" y="2314574"/>
            <a:ext cx="0" cy="323025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116">
            <a:extLst>
              <a:ext uri="{FF2B5EF4-FFF2-40B4-BE49-F238E27FC236}">
                <a16:creationId xmlns:a16="http://schemas.microsoft.com/office/drawing/2014/main" id="{BBC39D6B-1A7E-43A7-AB4C-507B2811AD74}"/>
              </a:ext>
            </a:extLst>
          </p:cNvPr>
          <p:cNvCxnSpPr>
            <a:cxnSpLocks/>
            <a:stCxn id="54" idx="3"/>
            <a:endCxn id="72" idx="1"/>
          </p:cNvCxnSpPr>
          <p:nvPr/>
        </p:nvCxnSpPr>
        <p:spPr>
          <a:xfrm>
            <a:off x="5580000" y="3070573"/>
            <a:ext cx="360000" cy="826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116">
            <a:extLst>
              <a:ext uri="{FF2B5EF4-FFF2-40B4-BE49-F238E27FC236}">
                <a16:creationId xmlns:a16="http://schemas.microsoft.com/office/drawing/2014/main" id="{95BD79AE-8E27-C417-44A9-1DA30BB87BB2}"/>
              </a:ext>
            </a:extLst>
          </p:cNvPr>
          <p:cNvCxnSpPr>
            <a:cxnSpLocks/>
            <a:stCxn id="72" idx="2"/>
            <a:endCxn id="41" idx="0"/>
          </p:cNvCxnSpPr>
          <p:nvPr/>
        </p:nvCxnSpPr>
        <p:spPr>
          <a:xfrm>
            <a:off x="6660000" y="3505199"/>
            <a:ext cx="0" cy="323025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116">
            <a:extLst>
              <a:ext uri="{FF2B5EF4-FFF2-40B4-BE49-F238E27FC236}">
                <a16:creationId xmlns:a16="http://schemas.microsoft.com/office/drawing/2014/main" id="{68090A40-0C56-9665-5D8C-4909AE97B1B9}"/>
              </a:ext>
            </a:extLst>
          </p:cNvPr>
          <p:cNvCxnSpPr>
            <a:cxnSpLocks/>
            <a:stCxn id="41" idx="2"/>
            <a:endCxn id="81" idx="0"/>
          </p:cNvCxnSpPr>
          <p:nvPr/>
        </p:nvCxnSpPr>
        <p:spPr>
          <a:xfrm>
            <a:off x="6660000" y="4695824"/>
            <a:ext cx="0" cy="341704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6" name="Gruppe Raw Data Files"/>
          <p:cNvGrpSpPr/>
          <p:nvPr/>
        </p:nvGrpSpPr>
        <p:grpSpPr>
          <a:xfrm>
            <a:off x="540000" y="5018849"/>
            <a:ext cx="1440000" cy="867600"/>
            <a:chOff x="624215" y="5142674"/>
            <a:chExt cx="1440000" cy="867600"/>
          </a:xfrm>
        </p:grpSpPr>
        <p:sp>
          <p:nvSpPr>
            <p:cNvPr id="10" name="Rechteck: abgerundete Ecken 9">
              <a:extLst>
                <a:ext uri="{FF2B5EF4-FFF2-40B4-BE49-F238E27FC236}">
                  <a16:creationId xmlns:a16="http://schemas.microsoft.com/office/drawing/2014/main" id="{B38993B1-D63F-B962-E43D-16CB3FBB6F39}"/>
                </a:ext>
              </a:extLst>
            </p:cNvPr>
            <p:cNvSpPr>
              <a:spLocks/>
            </p:cNvSpPr>
            <p:nvPr/>
          </p:nvSpPr>
          <p:spPr>
            <a:xfrm>
              <a:off x="624215" y="5142674"/>
              <a:ext cx="1440000" cy="867600"/>
            </a:xfrm>
            <a:prstGeom prst="roundRect">
              <a:avLst/>
            </a:prstGeom>
            <a:solidFill>
              <a:schemeClr val="accent2">
                <a:alpha val="50000"/>
              </a:schemeClr>
            </a:solidFill>
            <a:ln w="158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Raw Data Files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4" name="Gerader Verbinder 13">
              <a:extLst>
                <a:ext uri="{FF2B5EF4-FFF2-40B4-BE49-F238E27FC236}">
                  <a16:creationId xmlns:a16="http://schemas.microsoft.com/office/drawing/2014/main" id="{CD93CF7F-4061-47BC-D2DF-7546F2E82AED}"/>
                </a:ext>
              </a:extLst>
            </p:cNvPr>
            <p:cNvSpPr>
              <a:spLocks/>
            </p:cNvSpPr>
            <p:nvPr/>
          </p:nvSpPr>
          <p:spPr>
            <a:xfrm>
              <a:off x="624215" y="5431235"/>
              <a:ext cx="1440000" cy="0"/>
            </a:xfrm>
            <a:prstGeom prst="line">
              <a:avLst/>
            </a:prstGeom>
            <a:ln w="158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  <p:pic>
          <p:nvPicPr>
            <p:cNvPr id="16" name="Inhaltsplatzhalter 6">
              <a:extLst>
                <a:ext uri="{FF2B5EF4-FFF2-40B4-BE49-F238E27FC236}">
                  <a16:creationId xmlns:a16="http://schemas.microsoft.com/office/drawing/2014/main" id="{A13C77ED-349F-9371-0221-46DB83263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ns0:svgBlip xmlns:ns0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10215" y="5486754"/>
              <a:ext cx="468000" cy="468000"/>
            </a:xfrm>
            <a:prstGeom prst="rect">
              <a:avLst/>
            </a:prstGeom>
          </p:spPr>
        </p:pic>
      </p:grpSp>
      <p:grpSp>
        <p:nvGrpSpPr>
          <p:cNvPr id="147" name="Gruppe Query"/>
          <p:cNvGrpSpPr/>
          <p:nvPr/>
        </p:nvGrpSpPr>
        <p:grpSpPr>
          <a:xfrm>
            <a:off x="9540000" y="1449525"/>
            <a:ext cx="1440000" cy="867600"/>
            <a:chOff x="10196840" y="1570799"/>
            <a:chExt cx="1440000" cy="867600"/>
          </a:xfrm>
        </p:grpSpPr>
        <p:sp>
          <p:nvSpPr>
            <p:cNvPr id="18" name="Rechteck: abgerundete Ecken 17">
              <a:extLst>
                <a:ext uri="{FF2B5EF4-FFF2-40B4-BE49-F238E27FC236}">
                  <a16:creationId xmlns:a16="http://schemas.microsoft.com/office/drawing/2014/main" id="{D9E7FE46-B6BE-8721-269A-6415AA075AA3}"/>
                </a:ext>
              </a:extLst>
            </p:cNvPr>
            <p:cNvSpPr>
              <a:spLocks/>
            </p:cNvSpPr>
            <p:nvPr/>
          </p:nvSpPr>
          <p:spPr>
            <a:xfrm>
              <a:off x="10196840" y="1570799"/>
              <a:ext cx="1440000" cy="867600"/>
            </a:xfrm>
            <a:prstGeom prst="roundRect">
              <a:avLst/>
            </a:prstGeom>
            <a:solidFill>
              <a:srgbClr val="C60C30">
                <a:alpha val="20000"/>
              </a:srgbClr>
            </a:solidFill>
            <a:ln w="1587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Query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20" name="Grafik 16">
              <a:extLst>
                <a:ext uri="{FF2B5EF4-FFF2-40B4-BE49-F238E27FC236}">
                  <a16:creationId xmlns:a16="http://schemas.microsoft.com/office/drawing/2014/main" id="{3FD27254-6A1A-1764-0C62-B71541831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ns1:svgBlip xmlns:ns1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682840" y="1914879"/>
              <a:ext cx="468000" cy="468000"/>
            </a:xfrm>
            <a:prstGeom prst="rect">
              <a:avLst/>
            </a:prstGeom>
          </p:spPr>
        </p:pic>
        <p:sp>
          <p:nvSpPr>
            <p:cNvPr id="159" name="Gerader Verbinder 159"/>
            <p:cNvSpPr>
              <a:spLocks/>
            </p:cNvSpPr>
            <p:nvPr/>
          </p:nvSpPr>
          <p:spPr>
            <a:xfrm flipV="1">
              <a:off x="10196840" y="1859360"/>
              <a:ext cx="1440000" cy="0"/>
            </a:xfrm>
            <a:prstGeom prst="line">
              <a:avLst/>
            </a:prstGeom>
            <a:ln w="15875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48" name="Gruppe Response"/>
          <p:cNvGrpSpPr/>
          <p:nvPr/>
        </p:nvGrpSpPr>
        <p:grpSpPr>
          <a:xfrm>
            <a:off x="9540000" y="5028003"/>
            <a:ext cx="1440000" cy="867600"/>
            <a:chOff x="10196840" y="5161353"/>
            <a:chExt cx="1440000" cy="867600"/>
          </a:xfrm>
        </p:grpSpPr>
        <p:sp>
          <p:nvSpPr>
            <p:cNvPr id="24" name="Rechteck: abgerundete Ecken 23">
              <a:extLst>
                <a:ext uri="{FF2B5EF4-FFF2-40B4-BE49-F238E27FC236}">
                  <a16:creationId xmlns:a16="http://schemas.microsoft.com/office/drawing/2014/main" id="{EF7C69F7-3BA6-3716-FB87-C6056C54CA0B}"/>
                </a:ext>
              </a:extLst>
            </p:cNvPr>
            <p:cNvSpPr>
              <a:spLocks/>
            </p:cNvSpPr>
            <p:nvPr/>
          </p:nvSpPr>
          <p:spPr>
            <a:xfrm>
              <a:off x="10196840" y="5161353"/>
              <a:ext cx="1440000" cy="867600"/>
            </a:xfrm>
            <a:prstGeom prst="roundRect">
              <a:avLst/>
            </a:prstGeom>
            <a:solidFill>
              <a:srgbClr val="43858A">
                <a:alpha val="20000"/>
              </a:srgbClr>
            </a:solidFill>
            <a:ln w="158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Response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28" name="Grafik 22">
              <a:extLst>
                <a:ext uri="{FF2B5EF4-FFF2-40B4-BE49-F238E27FC236}">
                  <a16:creationId xmlns:a16="http://schemas.microsoft.com/office/drawing/2014/main" id="{8C3ACE01-CA21-EEDC-1F98-9D084AF04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ns2:svgBlip xmlns:ns2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682840" y="5505433"/>
              <a:ext cx="468000" cy="468000"/>
            </a:xfrm>
            <a:prstGeom prst="rect">
              <a:avLst/>
            </a:prstGeom>
          </p:spPr>
        </p:pic>
        <p:sp>
          <p:nvSpPr>
            <p:cNvPr id="160" name="Gerader Verbinder 160"/>
            <p:cNvSpPr>
              <a:spLocks/>
            </p:cNvSpPr>
            <p:nvPr/>
          </p:nvSpPr>
          <p:spPr>
            <a:xfrm flipV="1">
              <a:off x="10196840" y="5449914"/>
              <a:ext cx="1440000" cy="0"/>
            </a:xfrm>
            <a:prstGeom prst="line">
              <a:avLst/>
            </a:prstGeom>
            <a:ln w="15875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49" name="Gruppe Information Extraction"/>
          <p:cNvGrpSpPr/>
          <p:nvPr/>
        </p:nvGrpSpPr>
        <p:grpSpPr>
          <a:xfrm>
            <a:off x="540000" y="3828224"/>
            <a:ext cx="1440000" cy="867600"/>
            <a:chOff x="622908" y="3952049"/>
            <a:chExt cx="1440000" cy="867600"/>
          </a:xfrm>
        </p:grpSpPr>
        <p:sp>
          <p:nvSpPr>
            <p:cNvPr id="37" name="Rechteck: abgerundete Ecken 36">
              <a:extLst>
                <a:ext uri="{FF2B5EF4-FFF2-40B4-BE49-F238E27FC236}">
                  <a16:creationId xmlns:a16="http://schemas.microsoft.com/office/drawing/2014/main" id="{955C229C-DF37-3394-7852-D2530C311E3D}"/>
                </a:ext>
              </a:extLst>
            </p:cNvPr>
            <p:cNvSpPr>
              <a:spLocks/>
            </p:cNvSpPr>
            <p:nvPr/>
          </p:nvSpPr>
          <p:spPr>
            <a:xfrm>
              <a:off x="622908" y="3952049"/>
              <a:ext cx="1440000" cy="867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" rIns="36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Information Extraction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42" name="Grafik 8">
              <a:extLst>
                <a:ext uri="{FF2B5EF4-FFF2-40B4-BE49-F238E27FC236}">
                  <a16:creationId xmlns:a16="http://schemas.microsoft.com/office/drawing/2014/main" id="{8D120EA8-E27A-D0DD-C5B0-F34B5211F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ns3:svgBlip xmlns:ns3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108908" y="4296129"/>
              <a:ext cx="468000" cy="468000"/>
            </a:xfrm>
            <a:prstGeom prst="rect">
              <a:avLst/>
            </a:prstGeom>
          </p:spPr>
        </p:pic>
        <p:sp>
          <p:nvSpPr>
            <p:cNvPr id="44" name="Gerader Verbinder 43">
              <a:extLst>
                <a:ext uri="{FF2B5EF4-FFF2-40B4-BE49-F238E27FC236}">
                  <a16:creationId xmlns:a16="http://schemas.microsoft.com/office/drawing/2014/main" id="{6BF87FBA-FFD4-A870-8990-3B36EDECACE0}"/>
                </a:ext>
              </a:extLst>
            </p:cNvPr>
            <p:cNvSpPr>
              <a:spLocks/>
            </p:cNvSpPr>
            <p:nvPr/>
          </p:nvSpPr>
          <p:spPr>
            <a:xfrm>
              <a:off x="622908" y="4240610"/>
              <a:ext cx="1440000" cy="0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54000" tIns="28800" rIns="54000"/>
            <a:lstStyle/>
            <a:p>
              <a:endParaRPr lang="de-CH" sz="900" b="1"/>
            </a:p>
          </p:txBody>
        </p:sp>
      </p:grpSp>
      <p:grpSp>
        <p:nvGrpSpPr>
          <p:cNvPr id="50" name="Gruppe Chunking">
            <a:extLst>
              <a:ext uri="{FF2B5EF4-FFF2-40B4-BE49-F238E27FC236}">
                <a16:creationId xmlns:a16="http://schemas.microsoft.com/office/drawing/2014/main" id="{8508E21A-AF16-CF37-8FB0-BF8A7BDA03CE}"/>
              </a:ext>
            </a:extLst>
          </p:cNvPr>
          <p:cNvGrpSpPr/>
          <p:nvPr/>
        </p:nvGrpSpPr>
        <p:grpSpPr>
          <a:xfrm>
            <a:off x="540000" y="2637599"/>
            <a:ext cx="1440000" cy="867600"/>
            <a:chOff x="624215" y="2761424"/>
            <a:chExt cx="1440000" cy="867600"/>
          </a:xfrm>
        </p:grpSpPr>
        <p:sp>
          <p:nvSpPr>
            <p:cNvPr id="45" name="Rechteck: abgerundete Ecken 44">
              <a:extLst>
                <a:ext uri="{FF2B5EF4-FFF2-40B4-BE49-F238E27FC236}">
                  <a16:creationId xmlns:a16="http://schemas.microsoft.com/office/drawing/2014/main" id="{D48A7F4F-BE6B-CD6F-E690-688E3245F2C5}"/>
                </a:ext>
              </a:extLst>
            </p:cNvPr>
            <p:cNvSpPr>
              <a:spLocks/>
            </p:cNvSpPr>
            <p:nvPr/>
          </p:nvSpPr>
          <p:spPr>
            <a:xfrm>
              <a:off x="624215" y="2761424"/>
              <a:ext cx="1440000" cy="867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/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Chunking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51" name="Gerader Verbinder 50">
              <a:extLst>
                <a:ext uri="{FF2B5EF4-FFF2-40B4-BE49-F238E27FC236}">
                  <a16:creationId xmlns:a16="http://schemas.microsoft.com/office/drawing/2014/main" id="{329E3D98-43F4-135D-5087-525B26A0404F}"/>
                </a:ext>
              </a:extLst>
            </p:cNvPr>
            <p:cNvSpPr>
              <a:spLocks/>
            </p:cNvSpPr>
            <p:nvPr/>
          </p:nvSpPr>
          <p:spPr>
            <a:xfrm>
              <a:off x="624215" y="3049985"/>
              <a:ext cx="1440000" cy="0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  <p:pic>
          <p:nvPicPr>
            <p:cNvPr id="122" name="Grafik 165">
              <a:extLst>
                <a:ext uri="{FF2B5EF4-FFF2-40B4-BE49-F238E27FC236}">
                  <a16:creationId xmlns:a16="http://schemas.microsoft.com/office/drawing/2014/main" id="{C58BB8C8-2491-48E5-46A3-5E1BEB7A5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ns4:svgBlip xmlns:ns4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110215" y="3105504"/>
              <a:ext cx="468000" cy="468000"/>
            </a:xfrm>
            <a:prstGeom prst="rect">
              <a:avLst/>
            </a:prstGeom>
          </p:spPr>
        </p:pic>
      </p:grpSp>
      <p:grpSp>
        <p:nvGrpSpPr>
          <p:cNvPr id="151" name="Gruppe Embeddings"/>
          <p:cNvGrpSpPr/>
          <p:nvPr/>
        </p:nvGrpSpPr>
        <p:grpSpPr>
          <a:xfrm>
            <a:off x="4140000" y="2636773"/>
            <a:ext cx="1440000" cy="867600"/>
            <a:chOff x="5009244" y="1578083"/>
            <a:chExt cx="1440000" cy="867600"/>
          </a:xfrm>
        </p:grpSpPr>
        <p:sp>
          <p:nvSpPr>
            <p:cNvPr id="54" name="Rechteck: abgerundete Ecken 53">
              <a:extLst>
                <a:ext uri="{FF2B5EF4-FFF2-40B4-BE49-F238E27FC236}">
                  <a16:creationId xmlns:a16="http://schemas.microsoft.com/office/drawing/2014/main" id="{F6937E87-FFDC-5644-BE6B-D3AF0FCBAA56}"/>
                </a:ext>
              </a:extLst>
            </p:cNvPr>
            <p:cNvSpPr>
              <a:spLocks/>
            </p:cNvSpPr>
            <p:nvPr/>
          </p:nvSpPr>
          <p:spPr>
            <a:xfrm>
              <a:off x="5009244" y="1578083"/>
              <a:ext cx="1440000" cy="867600"/>
            </a:xfrm>
            <a:prstGeom prst="roundRect">
              <a:avLst/>
            </a:prstGeom>
            <a:solidFill>
              <a:schemeClr val="accent2">
                <a:alpha val="50000"/>
              </a:schemeClr>
            </a:solidFill>
            <a:ln w="158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 err="1">
                  <a:solidFill>
                    <a:schemeClr val="bg2">
                      <a:lumMod val="10000"/>
                    </a:schemeClr>
                  </a:solidFill>
                </a:rPr>
                <a:t>Embeddings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56" name="Grafik 33">
              <a:extLst>
                <a:ext uri="{FF2B5EF4-FFF2-40B4-BE49-F238E27FC236}">
                  <a16:creationId xmlns:a16="http://schemas.microsoft.com/office/drawing/2014/main" id="{4180022B-D146-7907-A8C7-659A2713F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ns5:svgBlip xmlns:ns5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495244" y="1922163"/>
              <a:ext cx="468000" cy="468000"/>
            </a:xfrm>
            <a:prstGeom prst="rect">
              <a:avLst/>
            </a:prstGeom>
          </p:spPr>
        </p:pic>
        <p:sp>
          <p:nvSpPr>
            <p:cNvPr id="58" name="Gerader Verbinder 57">
              <a:extLst>
                <a:ext uri="{FF2B5EF4-FFF2-40B4-BE49-F238E27FC236}">
                  <a16:creationId xmlns:a16="http://schemas.microsoft.com/office/drawing/2014/main" id="{2358A794-930F-1800-2F3C-5B5ECED2E77E}"/>
                </a:ext>
              </a:extLst>
            </p:cNvPr>
            <p:cNvSpPr>
              <a:spLocks/>
            </p:cNvSpPr>
            <p:nvPr/>
          </p:nvSpPr>
          <p:spPr>
            <a:xfrm flipV="1">
              <a:off x="5009244" y="1866644"/>
              <a:ext cx="1440000" cy="0"/>
            </a:xfrm>
            <a:prstGeom prst="line">
              <a:avLst/>
            </a:prstGeom>
            <a:ln w="158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53" name="Gruppe Vector Database"/>
          <p:cNvGrpSpPr/>
          <p:nvPr/>
        </p:nvGrpSpPr>
        <p:grpSpPr>
          <a:xfrm>
            <a:off x="5940000" y="2637599"/>
            <a:ext cx="1440000" cy="867600"/>
            <a:chOff x="5005715" y="2776165"/>
            <a:chExt cx="1440000" cy="867600"/>
          </a:xfrm>
        </p:grpSpPr>
        <p:sp>
          <p:nvSpPr>
            <p:cNvPr id="72" name="Rechteck: abgerundete Ecken 71">
              <a:extLst>
                <a:ext uri="{FF2B5EF4-FFF2-40B4-BE49-F238E27FC236}">
                  <a16:creationId xmlns:a16="http://schemas.microsoft.com/office/drawing/2014/main" id="{E9A14601-129B-5663-F0ED-B2E1BD20F945}"/>
                </a:ext>
              </a:extLst>
            </p:cNvPr>
            <p:cNvSpPr>
              <a:spLocks/>
            </p:cNvSpPr>
            <p:nvPr/>
          </p:nvSpPr>
          <p:spPr>
            <a:xfrm>
              <a:off x="5005715" y="2776165"/>
              <a:ext cx="1440000" cy="867600"/>
            </a:xfrm>
            <a:prstGeom prst="roundRect">
              <a:avLst/>
            </a:prstGeom>
            <a:solidFill>
              <a:schemeClr val="bg2">
                <a:alpha val="50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Vector Database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74" name="Grafik 14">
              <a:extLst>
                <a:ext uri="{FF2B5EF4-FFF2-40B4-BE49-F238E27FC236}">
                  <a16:creationId xmlns:a16="http://schemas.microsoft.com/office/drawing/2014/main" id="{C9AA9F1F-BE1C-5F83-5671-91EF5A5DC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ns6:svgBlip xmlns:ns6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5491715" y="3120245"/>
              <a:ext cx="468000" cy="468000"/>
            </a:xfrm>
            <a:prstGeom prst="rect">
              <a:avLst/>
            </a:prstGeom>
          </p:spPr>
        </p:pic>
        <p:sp>
          <p:nvSpPr>
            <p:cNvPr id="79" name="Gerader Verbinder 78">
              <a:extLst>
                <a:ext uri="{FF2B5EF4-FFF2-40B4-BE49-F238E27FC236}">
                  <a16:creationId xmlns:a16="http://schemas.microsoft.com/office/drawing/2014/main" id="{89A0E0B7-A2BB-83F8-DDEA-7BF8AF689E44}"/>
                </a:ext>
              </a:extLst>
            </p:cNvPr>
            <p:cNvSpPr>
              <a:spLocks/>
            </p:cNvSpPr>
            <p:nvPr/>
          </p:nvSpPr>
          <p:spPr>
            <a:xfrm>
              <a:off x="5005715" y="3064726"/>
              <a:ext cx="1440000" cy="0"/>
            </a:xfrm>
            <a:prstGeom prst="line">
              <a:avLst/>
            </a:prstGeom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54" name="Gruppe Relevant Data"/>
          <p:cNvGrpSpPr/>
          <p:nvPr/>
        </p:nvGrpSpPr>
        <p:grpSpPr>
          <a:xfrm>
            <a:off x="5940000" y="5037528"/>
            <a:ext cx="1440000" cy="867600"/>
            <a:chOff x="5005715" y="5161353"/>
            <a:chExt cx="1440000" cy="867600"/>
          </a:xfrm>
        </p:grpSpPr>
        <p:sp>
          <p:nvSpPr>
            <p:cNvPr id="81" name="Rechteck: abgerundete Ecken 80">
              <a:extLst>
                <a:ext uri="{FF2B5EF4-FFF2-40B4-BE49-F238E27FC236}">
                  <a16:creationId xmlns:a16="http://schemas.microsoft.com/office/drawing/2014/main" id="{299209A1-E60D-B54F-BCE0-B59442B6BA9E}"/>
                </a:ext>
              </a:extLst>
            </p:cNvPr>
            <p:cNvSpPr>
              <a:spLocks/>
            </p:cNvSpPr>
            <p:nvPr/>
          </p:nvSpPr>
          <p:spPr>
            <a:xfrm>
              <a:off x="5005715" y="5161353"/>
              <a:ext cx="1440000" cy="867600"/>
            </a:xfrm>
            <a:prstGeom prst="roundRect">
              <a:avLst/>
            </a:prstGeom>
            <a:solidFill>
              <a:schemeClr val="accent2">
                <a:alpha val="50000"/>
              </a:schemeClr>
            </a:solidFill>
            <a:ln w="158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Relevant Data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84" name="Grafik 18">
              <a:extLst>
                <a:ext uri="{FF2B5EF4-FFF2-40B4-BE49-F238E27FC236}">
                  <a16:creationId xmlns:a16="http://schemas.microsoft.com/office/drawing/2014/main" id="{75982C35-E39A-47E4-7B79-4694BEFA0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ns7:svgBlip xmlns:ns7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5491715" y="5505433"/>
              <a:ext cx="468000" cy="468000"/>
            </a:xfrm>
            <a:prstGeom prst="rect">
              <a:avLst/>
            </a:prstGeom>
          </p:spPr>
        </p:pic>
        <p:sp>
          <p:nvSpPr>
            <p:cNvPr id="90" name="Gerader Verbinder 89">
              <a:extLst>
                <a:ext uri="{FF2B5EF4-FFF2-40B4-BE49-F238E27FC236}">
                  <a16:creationId xmlns:a16="http://schemas.microsoft.com/office/drawing/2014/main" id="{28E3CEA1-5C20-114C-95BF-87C047395FE4}"/>
                </a:ext>
              </a:extLst>
            </p:cNvPr>
            <p:cNvSpPr>
              <a:spLocks/>
            </p:cNvSpPr>
            <p:nvPr/>
          </p:nvSpPr>
          <p:spPr>
            <a:xfrm>
              <a:off x="5005715" y="5449914"/>
              <a:ext cx="1440000" cy="0"/>
            </a:xfrm>
            <a:prstGeom prst="line">
              <a:avLst/>
            </a:prstGeom>
            <a:ln w="158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55" name="Gruppe Embedding LLM"/>
          <p:cNvGrpSpPr/>
          <p:nvPr/>
        </p:nvGrpSpPr>
        <p:grpSpPr>
          <a:xfrm>
            <a:off x="7740000" y="1446974"/>
            <a:ext cx="1440000" cy="867600"/>
            <a:chOff x="7996042" y="1570799"/>
            <a:chExt cx="1440000" cy="867600"/>
          </a:xfrm>
        </p:grpSpPr>
        <p:sp>
          <p:nvSpPr>
            <p:cNvPr id="93" name="Rechteck: abgerundete Ecken 92">
              <a:extLst>
                <a:ext uri="{FF2B5EF4-FFF2-40B4-BE49-F238E27FC236}">
                  <a16:creationId xmlns:a16="http://schemas.microsoft.com/office/drawing/2014/main" id="{AD79A1D2-E83B-1112-88E6-A41F8B4E30C4}"/>
                </a:ext>
              </a:extLst>
            </p:cNvPr>
            <p:cNvSpPr>
              <a:spLocks/>
            </p:cNvSpPr>
            <p:nvPr/>
          </p:nvSpPr>
          <p:spPr>
            <a:xfrm>
              <a:off x="7996042" y="1570799"/>
              <a:ext cx="1440000" cy="867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Embedding LLM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96" name="Grafik 39">
              <a:extLst>
                <a:ext uri="{FF2B5EF4-FFF2-40B4-BE49-F238E27FC236}">
                  <a16:creationId xmlns:a16="http://schemas.microsoft.com/office/drawing/2014/main" id="{61249CC0-2AE7-1CF4-AF70-749961979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ns8:svgBlip xmlns:ns8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8482042" y="1914879"/>
              <a:ext cx="468000" cy="468000"/>
            </a:xfrm>
            <a:prstGeom prst="rect">
              <a:avLst/>
            </a:prstGeom>
          </p:spPr>
        </p:pic>
        <p:sp>
          <p:nvSpPr>
            <p:cNvPr id="101" name="Gerader Verbinder 100">
              <a:extLst>
                <a:ext uri="{FF2B5EF4-FFF2-40B4-BE49-F238E27FC236}">
                  <a16:creationId xmlns:a16="http://schemas.microsoft.com/office/drawing/2014/main" id="{E72F8E13-9942-DFD0-1B23-F1C4A1D4EC76}"/>
                </a:ext>
              </a:extLst>
            </p:cNvPr>
            <p:cNvSpPr>
              <a:spLocks/>
            </p:cNvSpPr>
            <p:nvPr/>
          </p:nvSpPr>
          <p:spPr>
            <a:xfrm>
              <a:off x="7996042" y="1859360"/>
              <a:ext cx="1440000" cy="0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27" name="Gruppe LLM">
            <a:extLst>
              <a:ext uri="{FF2B5EF4-FFF2-40B4-BE49-F238E27FC236}">
                <a16:creationId xmlns:a16="http://schemas.microsoft.com/office/drawing/2014/main" id="{CC8957DA-7EEF-07E6-4817-4A1CAB29C56A}"/>
              </a:ext>
            </a:extLst>
          </p:cNvPr>
          <p:cNvGrpSpPr/>
          <p:nvPr/>
        </p:nvGrpSpPr>
        <p:grpSpPr>
          <a:xfrm>
            <a:off x="7740000" y="5037528"/>
            <a:ext cx="1440000" cy="867600"/>
            <a:chOff x="8006090" y="5161353"/>
            <a:chExt cx="1440000" cy="867600"/>
          </a:xfrm>
        </p:grpSpPr>
        <p:sp>
          <p:nvSpPr>
            <p:cNvPr id="102" name="Rechteck: abgerundete Ecken 101">
              <a:extLst>
                <a:ext uri="{FF2B5EF4-FFF2-40B4-BE49-F238E27FC236}">
                  <a16:creationId xmlns:a16="http://schemas.microsoft.com/office/drawing/2014/main" id="{CCD2EF0F-009E-7BB9-2850-8D80476CA421}"/>
                </a:ext>
              </a:extLst>
            </p:cNvPr>
            <p:cNvSpPr>
              <a:spLocks/>
            </p:cNvSpPr>
            <p:nvPr/>
          </p:nvSpPr>
          <p:spPr>
            <a:xfrm>
              <a:off x="8006090" y="5161353"/>
              <a:ext cx="1440000" cy="867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LLM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104" name="Grafik 20">
              <a:extLst>
                <a:ext uri="{FF2B5EF4-FFF2-40B4-BE49-F238E27FC236}">
                  <a16:creationId xmlns:a16="http://schemas.microsoft.com/office/drawing/2014/main" id="{45D89FC9-D1BB-FFF3-F2CC-C8155D447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ns9:svgBlip xmlns:ns9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8492090" y="5505433"/>
              <a:ext cx="468000" cy="468000"/>
            </a:xfrm>
            <a:prstGeom prst="rect">
              <a:avLst/>
            </a:prstGeom>
          </p:spPr>
        </p:pic>
        <p:sp>
          <p:nvSpPr>
            <p:cNvPr id="106" name="Gerader Verbinder 105">
              <a:extLst>
                <a:ext uri="{FF2B5EF4-FFF2-40B4-BE49-F238E27FC236}">
                  <a16:creationId xmlns:a16="http://schemas.microsoft.com/office/drawing/2014/main" id="{C25ABEB4-F7C7-3DF5-DEEF-6DD6C45FCF01}"/>
                </a:ext>
              </a:extLst>
            </p:cNvPr>
            <p:cNvSpPr>
              <a:spLocks/>
            </p:cNvSpPr>
            <p:nvPr/>
          </p:nvSpPr>
          <p:spPr>
            <a:xfrm flipV="1">
              <a:off x="8006090" y="5449914"/>
              <a:ext cx="1440000" cy="0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57" name="Gruppe Embedding LLM"/>
          <p:cNvGrpSpPr/>
          <p:nvPr/>
        </p:nvGrpSpPr>
        <p:grpSpPr>
          <a:xfrm>
            <a:off x="4140000" y="1432421"/>
            <a:ext cx="1440000" cy="867600"/>
            <a:chOff x="2783916" y="1570799"/>
            <a:chExt cx="1440000" cy="867600"/>
          </a:xfrm>
        </p:grpSpPr>
        <p:sp>
          <p:nvSpPr>
            <p:cNvPr id="137" name="Rechteck: abgerundete Ecken 136">
              <a:extLst>
                <a:ext uri="{FF2B5EF4-FFF2-40B4-BE49-F238E27FC236}">
                  <a16:creationId xmlns:a16="http://schemas.microsoft.com/office/drawing/2014/main" id="{2F0E7FDF-A2C6-F785-F1E7-936F202EF2F8}"/>
                </a:ext>
              </a:extLst>
            </p:cNvPr>
            <p:cNvSpPr>
              <a:spLocks/>
            </p:cNvSpPr>
            <p:nvPr/>
          </p:nvSpPr>
          <p:spPr>
            <a:xfrm>
              <a:off x="2783916" y="1570799"/>
              <a:ext cx="1440000" cy="867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Embedding LLM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138" name="Grafik 39">
              <a:extLst>
                <a:ext uri="{FF2B5EF4-FFF2-40B4-BE49-F238E27FC236}">
                  <a16:creationId xmlns:a16="http://schemas.microsoft.com/office/drawing/2014/main" id="{CED68F23-700B-1E3E-A249-76DCDEF47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ns10:svgBlip xmlns:ns10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3269916" y="1914879"/>
              <a:ext cx="468000" cy="468000"/>
            </a:xfrm>
            <a:prstGeom prst="rect">
              <a:avLst/>
            </a:prstGeom>
          </p:spPr>
        </p:pic>
        <p:sp>
          <p:nvSpPr>
            <p:cNvPr id="140" name="Gerader Verbinder 139">
              <a:extLst>
                <a:ext uri="{FF2B5EF4-FFF2-40B4-BE49-F238E27FC236}">
                  <a16:creationId xmlns:a16="http://schemas.microsoft.com/office/drawing/2014/main" id="{FAE015C5-0604-FCE4-AE8F-E2A5506C996F}"/>
                </a:ext>
              </a:extLst>
            </p:cNvPr>
            <p:cNvSpPr>
              <a:spLocks/>
            </p:cNvSpPr>
            <p:nvPr/>
          </p:nvSpPr>
          <p:spPr>
            <a:xfrm>
              <a:off x="2783916" y="1859360"/>
              <a:ext cx="1440000" cy="0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58" name="Gruppe Chunks"/>
          <p:cNvGrpSpPr/>
          <p:nvPr/>
        </p:nvGrpSpPr>
        <p:grpSpPr>
          <a:xfrm>
            <a:off x="540000" y="1446974"/>
            <a:ext cx="1440000" cy="867600"/>
            <a:chOff x="617904" y="1570799"/>
            <a:chExt cx="1440000" cy="867600"/>
          </a:xfrm>
        </p:grpSpPr>
        <p:sp>
          <p:nvSpPr>
            <p:cNvPr id="121" name="Rechteck: abgerundete Ecken 120">
              <a:extLst>
                <a:ext uri="{FF2B5EF4-FFF2-40B4-BE49-F238E27FC236}">
                  <a16:creationId xmlns:a16="http://schemas.microsoft.com/office/drawing/2014/main" id="{AD7B8046-A7E5-977B-9789-31E7E99EC995}"/>
                </a:ext>
              </a:extLst>
            </p:cNvPr>
            <p:cNvSpPr>
              <a:spLocks/>
            </p:cNvSpPr>
            <p:nvPr/>
          </p:nvSpPr>
          <p:spPr>
            <a:xfrm>
              <a:off x="617904" y="1570799"/>
              <a:ext cx="1440000" cy="867600"/>
            </a:xfrm>
            <a:prstGeom prst="roundRect">
              <a:avLst/>
            </a:prstGeom>
            <a:solidFill>
              <a:schemeClr val="accent2">
                <a:alpha val="50000"/>
              </a:schemeClr>
            </a:solidFill>
            <a:ln w="158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Chunks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46" name="Grafik 10">
              <a:extLst>
                <a:ext uri="{FF2B5EF4-FFF2-40B4-BE49-F238E27FC236}">
                  <a16:creationId xmlns:a16="http://schemas.microsoft.com/office/drawing/2014/main" id="{BE3EA945-55FA-7EAD-DC73-B9FB8CEDC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ns11:svgBlip xmlns:ns11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03904" y="1914879"/>
              <a:ext cx="468000" cy="468000"/>
            </a:xfrm>
            <a:prstGeom prst="rect">
              <a:avLst/>
            </a:prstGeom>
          </p:spPr>
        </p:pic>
        <p:sp>
          <p:nvSpPr>
            <p:cNvPr id="124" name="Gerader Verbinder 123">
              <a:extLst>
                <a:ext uri="{FF2B5EF4-FFF2-40B4-BE49-F238E27FC236}">
                  <a16:creationId xmlns:a16="http://schemas.microsoft.com/office/drawing/2014/main" id="{E1830494-1611-ADE7-C919-BF9ADBCD7AEF}"/>
                </a:ext>
              </a:extLst>
            </p:cNvPr>
            <p:cNvSpPr>
              <a:spLocks/>
            </p:cNvSpPr>
            <p:nvPr/>
          </p:nvSpPr>
          <p:spPr>
            <a:xfrm>
              <a:off x="617904" y="1859360"/>
              <a:ext cx="1440000" cy="0"/>
            </a:xfrm>
            <a:prstGeom prst="line">
              <a:avLst/>
            </a:prstGeom>
            <a:ln w="158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39" name="Gruppe Embeddings">
            <a:extLst>
              <a:ext uri="{FF2B5EF4-FFF2-40B4-BE49-F238E27FC236}">
                <a16:creationId xmlns:a16="http://schemas.microsoft.com/office/drawing/2014/main" id="{1CE371FF-AA8D-9463-C284-4D4EC69E806E}"/>
              </a:ext>
            </a:extLst>
          </p:cNvPr>
          <p:cNvGrpSpPr/>
          <p:nvPr/>
        </p:nvGrpSpPr>
        <p:grpSpPr>
          <a:xfrm>
            <a:off x="7740000" y="2637599"/>
            <a:ext cx="1440000" cy="867600"/>
            <a:chOff x="8006090" y="2794529"/>
            <a:chExt cx="1440000" cy="867600"/>
          </a:xfrm>
        </p:grpSpPr>
        <p:sp>
          <p:nvSpPr>
            <p:cNvPr id="32" name="Rechteck: abgerundete Ecken 31">
              <a:extLst>
                <a:ext uri="{FF2B5EF4-FFF2-40B4-BE49-F238E27FC236}">
                  <a16:creationId xmlns:a16="http://schemas.microsoft.com/office/drawing/2014/main" id="{2A723AF4-EAB5-14C5-1FA0-86467149575A}"/>
                </a:ext>
              </a:extLst>
            </p:cNvPr>
            <p:cNvSpPr>
              <a:spLocks/>
            </p:cNvSpPr>
            <p:nvPr/>
          </p:nvSpPr>
          <p:spPr>
            <a:xfrm>
              <a:off x="8006090" y="2794529"/>
              <a:ext cx="1440000" cy="867600"/>
            </a:xfrm>
            <a:prstGeom prst="roundRect">
              <a:avLst/>
            </a:prstGeom>
            <a:solidFill>
              <a:schemeClr val="accent2">
                <a:alpha val="50000"/>
              </a:schemeClr>
            </a:solidFill>
            <a:ln w="158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/>
              <a:r>
                <a:rPr lang="de-CH" sz="900" b="1" dirty="0" err="1">
                  <a:solidFill>
                    <a:schemeClr val="bg2">
                      <a:lumMod val="10000"/>
                    </a:schemeClr>
                  </a:solidFill>
                </a:rPr>
                <a:t>Embeddings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33" name="Grafik 20">
              <a:extLst>
                <a:ext uri="{FF2B5EF4-FFF2-40B4-BE49-F238E27FC236}">
                  <a16:creationId xmlns:a16="http://schemas.microsoft.com/office/drawing/2014/main" id="{91CCA1BF-A0BC-0AD7-2334-443BD9585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ns12:svgBlip xmlns:ns12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8492090" y="3138609"/>
              <a:ext cx="468000" cy="468000"/>
            </a:xfrm>
            <a:prstGeom prst="rect">
              <a:avLst/>
            </a:prstGeom>
          </p:spPr>
        </p:pic>
        <p:sp>
          <p:nvSpPr>
            <p:cNvPr id="35" name="Gerader Verbinder 34">
              <a:extLst>
                <a:ext uri="{FF2B5EF4-FFF2-40B4-BE49-F238E27FC236}">
                  <a16:creationId xmlns:a16="http://schemas.microsoft.com/office/drawing/2014/main" id="{D8883587-3324-32F7-891A-2B743485D887}"/>
                </a:ext>
              </a:extLst>
            </p:cNvPr>
            <p:cNvSpPr>
              <a:spLocks/>
            </p:cNvSpPr>
            <p:nvPr/>
          </p:nvSpPr>
          <p:spPr>
            <a:xfrm flipV="1">
              <a:off x="8006090" y="3083090"/>
              <a:ext cx="1440000" cy="0"/>
            </a:xfrm>
            <a:prstGeom prst="line">
              <a:avLst/>
            </a:prstGeom>
            <a:ln w="158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40" name="Gruppe Ranking">
            <a:extLst>
              <a:ext uri="{FF2B5EF4-FFF2-40B4-BE49-F238E27FC236}">
                <a16:creationId xmlns:a16="http://schemas.microsoft.com/office/drawing/2014/main" id="{62657446-9BFF-60C0-3E07-97265A6E0278}"/>
              </a:ext>
            </a:extLst>
          </p:cNvPr>
          <p:cNvGrpSpPr/>
          <p:nvPr/>
        </p:nvGrpSpPr>
        <p:grpSpPr>
          <a:xfrm>
            <a:off x="5940000" y="3828224"/>
            <a:ext cx="1440000" cy="867600"/>
            <a:chOff x="2783916" y="1570799"/>
            <a:chExt cx="1440000" cy="867600"/>
          </a:xfrm>
        </p:grpSpPr>
        <p:sp>
          <p:nvSpPr>
            <p:cNvPr id="41" name="Rechteck: abgerundete Ecken 40">
              <a:extLst>
                <a:ext uri="{FF2B5EF4-FFF2-40B4-BE49-F238E27FC236}">
                  <a16:creationId xmlns:a16="http://schemas.microsoft.com/office/drawing/2014/main" id="{E7DEB9CD-56E2-EB2F-CD4E-69F8AEE0181F}"/>
                </a:ext>
              </a:extLst>
            </p:cNvPr>
            <p:cNvSpPr>
              <a:spLocks/>
            </p:cNvSpPr>
            <p:nvPr/>
          </p:nvSpPr>
          <p:spPr>
            <a:xfrm>
              <a:off x="2783916" y="1570799"/>
              <a:ext cx="1440000" cy="867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Ranking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47" name="Grafik 39">
              <a:extLst>
                <a:ext uri="{FF2B5EF4-FFF2-40B4-BE49-F238E27FC236}">
                  <a16:creationId xmlns:a16="http://schemas.microsoft.com/office/drawing/2014/main" id="{6081DB9F-9BB1-BAD7-BD2A-137B3169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>
              <a:extLst>
                <a:ext uri="{96DAC541-7B7A-43D3-8B79-37D633B846F1}">
                  <ns15:svgBlip xmlns:ns15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3269916" y="1914879"/>
              <a:ext cx="468000" cy="468000"/>
            </a:xfrm>
            <a:prstGeom prst="rect">
              <a:avLst/>
            </a:prstGeom>
          </p:spPr>
        </p:pic>
        <p:sp>
          <p:nvSpPr>
            <p:cNvPr id="48" name="Gerader Verbinder 47">
              <a:extLst>
                <a:ext uri="{FF2B5EF4-FFF2-40B4-BE49-F238E27FC236}">
                  <a16:creationId xmlns:a16="http://schemas.microsoft.com/office/drawing/2014/main" id="{C564D42D-36CE-ADD3-7AB2-73E4D9CA0D06}"/>
                </a:ext>
              </a:extLst>
            </p:cNvPr>
            <p:cNvSpPr>
              <a:spLocks/>
            </p:cNvSpPr>
            <p:nvPr/>
          </p:nvSpPr>
          <p:spPr>
            <a:xfrm>
              <a:off x="2783916" y="1859360"/>
              <a:ext cx="1440000" cy="0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cxnSp>
        <p:nvCxnSpPr>
          <p:cNvPr id="161" name="Gerade Verbindung Query LLM"/>
          <p:cNvCxnSpPr>
            <a:cxnSpLocks/>
            <a:stCxn id="18" idx="2"/>
            <a:endCxn id="102" idx="0"/>
          </p:cNvCxnSpPr>
          <p:nvPr/>
        </p:nvCxnSpPr>
        <p:spPr>
          <a:xfrm flipH="1">
            <a:off x="8460000" y="2317125"/>
            <a:ext cx="1800000" cy="2720403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0" name="Marker Chunking"/>
          <p:cNvSpPr/>
          <p:nvPr/>
        </p:nvSpPr>
        <p:spPr>
          <a:xfrm>
            <a:off x="496800" y="2594399"/>
            <a:ext cx="1526400" cy="954000"/>
          </a:xfrm>
          <a:prstGeom prst="roundRect">
            <a:avLst/>
          </a:prstGeom>
          <a:noFill/>
          <a:ln w="28575">
            <a:solidFill>
              <a:srgbClr val="C60C30"/>
            </a:solidFill>
            <a:prstDash val="dash"/>
          </a:ln>
        </p:spPr>
        <p:txBody>
          <a:bodyPr/>
          <a:lstStyle/>
          <a:p/>
        </p:txBody>
      </p:sp>
      <p:sp>
        <p:nvSpPr>
          <p:cNvPr id="1001" name="Marker Ranking"/>
          <p:cNvSpPr/>
          <p:nvPr/>
        </p:nvSpPr>
        <p:spPr>
          <a:xfrm>
            <a:off x="5896800" y="3785024"/>
            <a:ext cx="1526400" cy="954000"/>
          </a:xfrm>
          <a:prstGeom prst="roundRect">
            <a:avLst/>
          </a:prstGeom>
          <a:noFill/>
          <a:ln w="28575">
            <a:solidFill>
              <a:srgbClr val="C60C30"/>
            </a:solidFill>
            <a:prstDash val="dash"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074129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BAC6-BCB5-98B3-8A58-1C6E4848A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A77537-C1FE-7896-AA65-64600F1BA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Stufe 4 · GraphRAG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35B4C6F-32DB-B58C-A30E-9F6EA38F5F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7E00E2-F08D-429A-AD9B-1ECBEC02F4DB}" type="slidenum">
              <a:rPr lang="de-CH" smtClean="0"/>
              <a:t>7</a:t>
            </a:fld>
            <a:endParaRPr lang="de-CH"/>
          </a:p>
        </p:txBody>
      </p:sp>
      <p:cxnSp>
        <p:nvCxnSpPr>
          <p:cNvPr id="108" name="Gerade Verbindung mit Pfeil 116">
            <a:extLst>
              <a:ext uri="{FF2B5EF4-FFF2-40B4-BE49-F238E27FC236}">
                <a16:creationId xmlns:a16="http://schemas.microsoft.com/office/drawing/2014/main" id="{0BDDCE84-4016-2B9D-139E-B6028861F673}"/>
              </a:ext>
            </a:extLst>
          </p:cNvPr>
          <p:cNvCxnSpPr>
            <a:cxnSpLocks/>
            <a:stCxn id="37" idx="0"/>
            <a:endCxn id="45" idx="2"/>
          </p:cNvCxnSpPr>
          <p:nvPr/>
        </p:nvCxnSpPr>
        <p:spPr>
          <a:xfrm flipV="1">
            <a:off x="1260000" y="3505199"/>
            <a:ext cx="0" cy="323025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18">
            <a:extLst>
              <a:ext uri="{FF2B5EF4-FFF2-40B4-BE49-F238E27FC236}">
                <a16:creationId xmlns:a16="http://schemas.microsoft.com/office/drawing/2014/main" id="{0BB315D1-6C56-0674-6B65-3777144E7075}"/>
              </a:ext>
            </a:extLst>
          </p:cNvPr>
          <p:cNvCxnSpPr>
            <a:cxnSpLocks/>
            <a:stCxn id="45" idx="0"/>
            <a:endCxn id="121" idx="2"/>
          </p:cNvCxnSpPr>
          <p:nvPr/>
        </p:nvCxnSpPr>
        <p:spPr>
          <a:xfrm flipV="1">
            <a:off x="1260000" y="2314574"/>
            <a:ext cx="0" cy="323025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Gerade Verbindung mit Pfeil 143">
            <a:extLst>
              <a:ext uri="{FF2B5EF4-FFF2-40B4-BE49-F238E27FC236}">
                <a16:creationId xmlns:a16="http://schemas.microsoft.com/office/drawing/2014/main" id="{56983D44-8E80-3AB3-A9CF-D7232B3BF542}"/>
              </a:ext>
            </a:extLst>
          </p:cNvPr>
          <p:cNvCxnSpPr>
            <a:cxnSpLocks/>
            <a:stCxn id="81" idx="3"/>
            <a:endCxn id="102" idx="1"/>
          </p:cNvCxnSpPr>
          <p:nvPr/>
        </p:nvCxnSpPr>
        <p:spPr>
          <a:xfrm>
            <a:off x="7380000" y="5471328"/>
            <a:ext cx="360000" cy="0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Gerade Verbindung mit Pfeil 148">
            <a:extLst>
              <a:ext uri="{FF2B5EF4-FFF2-40B4-BE49-F238E27FC236}">
                <a16:creationId xmlns:a16="http://schemas.microsoft.com/office/drawing/2014/main" id="{F5BC60B3-6D21-34AF-F241-F9DCA2E051D9}"/>
              </a:ext>
            </a:extLst>
          </p:cNvPr>
          <p:cNvCxnSpPr>
            <a:cxnSpLocks/>
            <a:stCxn id="32" idx="1"/>
            <a:endCxn id="72" idx="3"/>
          </p:cNvCxnSpPr>
          <p:nvPr/>
        </p:nvCxnSpPr>
        <p:spPr>
          <a:xfrm flipH="1">
            <a:off x="7380000" y="3071399"/>
            <a:ext cx="360000" cy="0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Gerade Verbindung mit Pfeil 175">
            <a:extLst>
              <a:ext uri="{FF2B5EF4-FFF2-40B4-BE49-F238E27FC236}">
                <a16:creationId xmlns:a16="http://schemas.microsoft.com/office/drawing/2014/main" id="{C72D8DE9-33EF-8199-896F-3B4B34E4C33F}"/>
              </a:ext>
            </a:extLst>
          </p:cNvPr>
          <p:cNvCxnSpPr>
            <a:cxnSpLocks/>
            <a:stCxn id="121" idx="3"/>
            <a:endCxn id="137" idx="1"/>
          </p:cNvCxnSpPr>
          <p:nvPr/>
        </p:nvCxnSpPr>
        <p:spPr>
          <a:xfrm flipV="1">
            <a:off x="1980000" y="1866221"/>
            <a:ext cx="2160000" cy="14553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175">
            <a:extLst>
              <a:ext uri="{FF2B5EF4-FFF2-40B4-BE49-F238E27FC236}">
                <a16:creationId xmlns:a16="http://schemas.microsoft.com/office/drawing/2014/main" id="{0D4E258E-510F-CDC1-7824-B97B0D97B16A}"/>
              </a:ext>
            </a:extLst>
          </p:cNvPr>
          <p:cNvCxnSpPr>
            <a:cxnSpLocks/>
            <a:stCxn id="137" idx="2"/>
            <a:endCxn id="54" idx="0"/>
          </p:cNvCxnSpPr>
          <p:nvPr/>
        </p:nvCxnSpPr>
        <p:spPr>
          <a:xfrm>
            <a:off x="4860000" y="2300021"/>
            <a:ext cx="0" cy="336752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3">
            <a:extLst>
              <a:ext uri="{FF2B5EF4-FFF2-40B4-BE49-F238E27FC236}">
                <a16:creationId xmlns:a16="http://schemas.microsoft.com/office/drawing/2014/main" id="{A1A5E8C3-3F80-9A63-9DF4-CD841A9DCB7A}"/>
              </a:ext>
            </a:extLst>
          </p:cNvPr>
          <p:cNvCxnSpPr>
            <a:cxnSpLocks/>
            <a:stCxn id="102" idx="3"/>
            <a:endCxn id="24" idx="1"/>
          </p:cNvCxnSpPr>
          <p:nvPr/>
        </p:nvCxnSpPr>
        <p:spPr>
          <a:xfrm flipV="1">
            <a:off x="9180000" y="5461803"/>
            <a:ext cx="360000" cy="9525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116">
            <a:extLst>
              <a:ext uri="{FF2B5EF4-FFF2-40B4-BE49-F238E27FC236}">
                <a16:creationId xmlns:a16="http://schemas.microsoft.com/office/drawing/2014/main" id="{02CDE7FC-A0D5-07F3-2CE6-481F9220CCFB}"/>
              </a:ext>
            </a:extLst>
          </p:cNvPr>
          <p:cNvCxnSpPr>
            <a:cxnSpLocks/>
            <a:stCxn id="10" idx="0"/>
            <a:endCxn id="37" idx="2"/>
          </p:cNvCxnSpPr>
          <p:nvPr/>
        </p:nvCxnSpPr>
        <p:spPr>
          <a:xfrm flipV="1">
            <a:off x="1260000" y="4695824"/>
            <a:ext cx="0" cy="323025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116">
            <a:extLst>
              <a:ext uri="{FF2B5EF4-FFF2-40B4-BE49-F238E27FC236}">
                <a16:creationId xmlns:a16="http://schemas.microsoft.com/office/drawing/2014/main" id="{F834C3E5-D35F-44C7-AEE0-6AEAEACA36B4}"/>
              </a:ext>
            </a:extLst>
          </p:cNvPr>
          <p:cNvCxnSpPr>
            <a:cxnSpLocks/>
            <a:stCxn id="18" idx="1"/>
            <a:endCxn id="93" idx="3"/>
          </p:cNvCxnSpPr>
          <p:nvPr/>
        </p:nvCxnSpPr>
        <p:spPr>
          <a:xfrm flipH="1" flipV="1">
            <a:off x="9180000" y="1880774"/>
            <a:ext cx="360000" cy="2551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116">
            <a:extLst>
              <a:ext uri="{FF2B5EF4-FFF2-40B4-BE49-F238E27FC236}">
                <a16:creationId xmlns:a16="http://schemas.microsoft.com/office/drawing/2014/main" id="{AAD4A9FA-5DEA-3E74-98D7-E03DAAF937A5}"/>
              </a:ext>
            </a:extLst>
          </p:cNvPr>
          <p:cNvCxnSpPr>
            <a:cxnSpLocks/>
            <a:stCxn id="93" idx="2"/>
            <a:endCxn id="32" idx="0"/>
          </p:cNvCxnSpPr>
          <p:nvPr/>
        </p:nvCxnSpPr>
        <p:spPr>
          <a:xfrm>
            <a:off x="8460000" y="2314574"/>
            <a:ext cx="0" cy="323025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116">
            <a:extLst>
              <a:ext uri="{FF2B5EF4-FFF2-40B4-BE49-F238E27FC236}">
                <a16:creationId xmlns:a16="http://schemas.microsoft.com/office/drawing/2014/main" id="{BBC39D6B-1A7E-43A7-AB4C-507B2811AD74}"/>
              </a:ext>
            </a:extLst>
          </p:cNvPr>
          <p:cNvCxnSpPr>
            <a:cxnSpLocks/>
            <a:stCxn id="54" idx="3"/>
            <a:endCxn id="72" idx="1"/>
          </p:cNvCxnSpPr>
          <p:nvPr/>
        </p:nvCxnSpPr>
        <p:spPr>
          <a:xfrm>
            <a:off x="5580000" y="3070573"/>
            <a:ext cx="360000" cy="826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116">
            <a:extLst>
              <a:ext uri="{FF2B5EF4-FFF2-40B4-BE49-F238E27FC236}">
                <a16:creationId xmlns:a16="http://schemas.microsoft.com/office/drawing/2014/main" id="{95BD79AE-8E27-C417-44A9-1DA30BB87BB2}"/>
              </a:ext>
            </a:extLst>
          </p:cNvPr>
          <p:cNvCxnSpPr>
            <a:cxnSpLocks/>
            <a:stCxn id="72" idx="2"/>
            <a:endCxn id="41" idx="0"/>
          </p:cNvCxnSpPr>
          <p:nvPr/>
        </p:nvCxnSpPr>
        <p:spPr>
          <a:xfrm>
            <a:off x="6660000" y="3505199"/>
            <a:ext cx="0" cy="323025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116">
            <a:extLst>
              <a:ext uri="{FF2B5EF4-FFF2-40B4-BE49-F238E27FC236}">
                <a16:creationId xmlns:a16="http://schemas.microsoft.com/office/drawing/2014/main" id="{3BE2586C-9C1C-363F-5145-8C1A7F21DECA}"/>
              </a:ext>
            </a:extLst>
          </p:cNvPr>
          <p:cNvCxnSpPr>
            <a:cxnSpLocks/>
            <a:stCxn id="37" idx="3"/>
            <a:endCxn id="25" idx="1"/>
          </p:cNvCxnSpPr>
          <p:nvPr/>
        </p:nvCxnSpPr>
        <p:spPr>
          <a:xfrm>
            <a:off x="1980000" y="4262024"/>
            <a:ext cx="360000" cy="0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116">
            <a:extLst>
              <a:ext uri="{FF2B5EF4-FFF2-40B4-BE49-F238E27FC236}">
                <a16:creationId xmlns:a16="http://schemas.microsoft.com/office/drawing/2014/main" id="{25C8CBDB-7E9A-B6BE-F8EC-E9E9D7622066}"/>
              </a:ext>
            </a:extLst>
          </p:cNvPr>
          <p:cNvCxnSpPr>
            <a:cxnSpLocks/>
            <a:stCxn id="25" idx="3"/>
            <a:endCxn id="13" idx="1"/>
          </p:cNvCxnSpPr>
          <p:nvPr/>
        </p:nvCxnSpPr>
        <p:spPr>
          <a:xfrm>
            <a:off x="3780000" y="4262024"/>
            <a:ext cx="360000" cy="0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116">
            <a:extLst>
              <a:ext uri="{FF2B5EF4-FFF2-40B4-BE49-F238E27FC236}">
                <a16:creationId xmlns:a16="http://schemas.microsoft.com/office/drawing/2014/main" id="{68090A40-0C56-9665-5D8C-4909AE97B1B9}"/>
              </a:ext>
            </a:extLst>
          </p:cNvPr>
          <p:cNvCxnSpPr>
            <a:cxnSpLocks/>
            <a:stCxn id="41" idx="2"/>
            <a:endCxn id="81" idx="0"/>
          </p:cNvCxnSpPr>
          <p:nvPr/>
        </p:nvCxnSpPr>
        <p:spPr>
          <a:xfrm>
            <a:off x="6660000" y="4695824"/>
            <a:ext cx="0" cy="341704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116">
            <a:extLst>
              <a:ext uri="{FF2B5EF4-FFF2-40B4-BE49-F238E27FC236}">
                <a16:creationId xmlns:a16="http://schemas.microsoft.com/office/drawing/2014/main" id="{FF4DA23A-99B1-2EA7-2BF4-A55BB1B63FEE}"/>
              </a:ext>
            </a:extLst>
          </p:cNvPr>
          <p:cNvCxnSpPr>
            <a:cxnSpLocks/>
            <a:stCxn id="13" idx="3"/>
            <a:endCxn id="41" idx="1"/>
          </p:cNvCxnSpPr>
          <p:nvPr/>
        </p:nvCxnSpPr>
        <p:spPr>
          <a:xfrm>
            <a:off x="5580000" y="4262024"/>
            <a:ext cx="360000" cy="0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6" name="Gruppe Raw Data Files"/>
          <p:cNvGrpSpPr/>
          <p:nvPr/>
        </p:nvGrpSpPr>
        <p:grpSpPr>
          <a:xfrm>
            <a:off x="540000" y="5018849"/>
            <a:ext cx="1440000" cy="867600"/>
            <a:chOff x="624215" y="5142674"/>
            <a:chExt cx="1440000" cy="867600"/>
          </a:xfrm>
        </p:grpSpPr>
        <p:sp>
          <p:nvSpPr>
            <p:cNvPr id="10" name="Rechteck: abgerundete Ecken 9">
              <a:extLst>
                <a:ext uri="{FF2B5EF4-FFF2-40B4-BE49-F238E27FC236}">
                  <a16:creationId xmlns:a16="http://schemas.microsoft.com/office/drawing/2014/main" id="{B38993B1-D63F-B962-E43D-16CB3FBB6F39}"/>
                </a:ext>
              </a:extLst>
            </p:cNvPr>
            <p:cNvSpPr>
              <a:spLocks/>
            </p:cNvSpPr>
            <p:nvPr/>
          </p:nvSpPr>
          <p:spPr>
            <a:xfrm>
              <a:off x="624215" y="5142674"/>
              <a:ext cx="1440000" cy="867600"/>
            </a:xfrm>
            <a:prstGeom prst="roundRect">
              <a:avLst/>
            </a:prstGeom>
            <a:solidFill>
              <a:schemeClr val="accent2">
                <a:alpha val="50000"/>
              </a:schemeClr>
            </a:solidFill>
            <a:ln w="158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Raw Data Files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4" name="Gerader Verbinder 13">
              <a:extLst>
                <a:ext uri="{FF2B5EF4-FFF2-40B4-BE49-F238E27FC236}">
                  <a16:creationId xmlns:a16="http://schemas.microsoft.com/office/drawing/2014/main" id="{CD93CF7F-4061-47BC-D2DF-7546F2E82AED}"/>
                </a:ext>
              </a:extLst>
            </p:cNvPr>
            <p:cNvSpPr>
              <a:spLocks/>
            </p:cNvSpPr>
            <p:nvPr/>
          </p:nvSpPr>
          <p:spPr>
            <a:xfrm>
              <a:off x="624215" y="5431235"/>
              <a:ext cx="1440000" cy="0"/>
            </a:xfrm>
            <a:prstGeom prst="line">
              <a:avLst/>
            </a:prstGeom>
            <a:ln w="158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  <p:pic>
          <p:nvPicPr>
            <p:cNvPr id="16" name="Inhaltsplatzhalter 6">
              <a:extLst>
                <a:ext uri="{FF2B5EF4-FFF2-40B4-BE49-F238E27FC236}">
                  <a16:creationId xmlns:a16="http://schemas.microsoft.com/office/drawing/2014/main" id="{A13C77ED-349F-9371-0221-46DB83263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ns0:svgBlip xmlns:ns0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10215" y="5486754"/>
              <a:ext cx="468000" cy="468000"/>
            </a:xfrm>
            <a:prstGeom prst="rect">
              <a:avLst/>
            </a:prstGeom>
          </p:spPr>
        </p:pic>
      </p:grpSp>
      <p:grpSp>
        <p:nvGrpSpPr>
          <p:cNvPr id="147" name="Gruppe Query"/>
          <p:cNvGrpSpPr/>
          <p:nvPr/>
        </p:nvGrpSpPr>
        <p:grpSpPr>
          <a:xfrm>
            <a:off x="9540000" y="1449525"/>
            <a:ext cx="1440000" cy="867600"/>
            <a:chOff x="10196840" y="1570799"/>
            <a:chExt cx="1440000" cy="867600"/>
          </a:xfrm>
        </p:grpSpPr>
        <p:sp>
          <p:nvSpPr>
            <p:cNvPr id="18" name="Rechteck: abgerundete Ecken 17">
              <a:extLst>
                <a:ext uri="{FF2B5EF4-FFF2-40B4-BE49-F238E27FC236}">
                  <a16:creationId xmlns:a16="http://schemas.microsoft.com/office/drawing/2014/main" id="{D9E7FE46-B6BE-8721-269A-6415AA075AA3}"/>
                </a:ext>
              </a:extLst>
            </p:cNvPr>
            <p:cNvSpPr>
              <a:spLocks/>
            </p:cNvSpPr>
            <p:nvPr/>
          </p:nvSpPr>
          <p:spPr>
            <a:xfrm>
              <a:off x="10196840" y="1570799"/>
              <a:ext cx="1440000" cy="867600"/>
            </a:xfrm>
            <a:prstGeom prst="roundRect">
              <a:avLst/>
            </a:prstGeom>
            <a:solidFill>
              <a:srgbClr val="C60C30">
                <a:alpha val="20000"/>
              </a:srgbClr>
            </a:solidFill>
            <a:ln w="1587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Query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20" name="Grafik 16">
              <a:extLst>
                <a:ext uri="{FF2B5EF4-FFF2-40B4-BE49-F238E27FC236}">
                  <a16:creationId xmlns:a16="http://schemas.microsoft.com/office/drawing/2014/main" id="{3FD27254-6A1A-1764-0C62-B71541831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ns1:svgBlip xmlns:ns1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682840" y="1914879"/>
              <a:ext cx="468000" cy="468000"/>
            </a:xfrm>
            <a:prstGeom prst="rect">
              <a:avLst/>
            </a:prstGeom>
          </p:spPr>
        </p:pic>
        <p:sp>
          <p:nvSpPr>
            <p:cNvPr id="159" name="Gerader Verbinder 159"/>
            <p:cNvSpPr>
              <a:spLocks/>
            </p:cNvSpPr>
            <p:nvPr/>
          </p:nvSpPr>
          <p:spPr>
            <a:xfrm flipV="1">
              <a:off x="10196840" y="1859360"/>
              <a:ext cx="1440000" cy="0"/>
            </a:xfrm>
            <a:prstGeom prst="line">
              <a:avLst/>
            </a:prstGeom>
            <a:ln w="15875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48" name="Gruppe Response"/>
          <p:cNvGrpSpPr/>
          <p:nvPr/>
        </p:nvGrpSpPr>
        <p:grpSpPr>
          <a:xfrm>
            <a:off x="9540000" y="5028003"/>
            <a:ext cx="1440000" cy="867600"/>
            <a:chOff x="10196840" y="5161353"/>
            <a:chExt cx="1440000" cy="867600"/>
          </a:xfrm>
        </p:grpSpPr>
        <p:sp>
          <p:nvSpPr>
            <p:cNvPr id="24" name="Rechteck: abgerundete Ecken 23">
              <a:extLst>
                <a:ext uri="{FF2B5EF4-FFF2-40B4-BE49-F238E27FC236}">
                  <a16:creationId xmlns:a16="http://schemas.microsoft.com/office/drawing/2014/main" id="{EF7C69F7-3BA6-3716-FB87-C6056C54CA0B}"/>
                </a:ext>
              </a:extLst>
            </p:cNvPr>
            <p:cNvSpPr>
              <a:spLocks/>
            </p:cNvSpPr>
            <p:nvPr/>
          </p:nvSpPr>
          <p:spPr>
            <a:xfrm>
              <a:off x="10196840" y="5161353"/>
              <a:ext cx="1440000" cy="867600"/>
            </a:xfrm>
            <a:prstGeom prst="roundRect">
              <a:avLst/>
            </a:prstGeom>
            <a:solidFill>
              <a:srgbClr val="43858A">
                <a:alpha val="20000"/>
              </a:srgbClr>
            </a:solidFill>
            <a:ln w="158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Response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28" name="Grafik 22">
              <a:extLst>
                <a:ext uri="{FF2B5EF4-FFF2-40B4-BE49-F238E27FC236}">
                  <a16:creationId xmlns:a16="http://schemas.microsoft.com/office/drawing/2014/main" id="{8C3ACE01-CA21-EEDC-1F98-9D084AF04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ns2:svgBlip xmlns:ns2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682840" y="5505433"/>
              <a:ext cx="468000" cy="468000"/>
            </a:xfrm>
            <a:prstGeom prst="rect">
              <a:avLst/>
            </a:prstGeom>
          </p:spPr>
        </p:pic>
        <p:sp>
          <p:nvSpPr>
            <p:cNvPr id="160" name="Gerader Verbinder 160"/>
            <p:cNvSpPr>
              <a:spLocks/>
            </p:cNvSpPr>
            <p:nvPr/>
          </p:nvSpPr>
          <p:spPr>
            <a:xfrm flipV="1">
              <a:off x="10196840" y="5449914"/>
              <a:ext cx="1440000" cy="0"/>
            </a:xfrm>
            <a:prstGeom prst="line">
              <a:avLst/>
            </a:prstGeom>
            <a:ln w="15875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49" name="Gruppe Information Extraction"/>
          <p:cNvGrpSpPr/>
          <p:nvPr/>
        </p:nvGrpSpPr>
        <p:grpSpPr>
          <a:xfrm>
            <a:off x="540000" y="3828224"/>
            <a:ext cx="1440000" cy="867600"/>
            <a:chOff x="622908" y="3952049"/>
            <a:chExt cx="1440000" cy="867600"/>
          </a:xfrm>
        </p:grpSpPr>
        <p:sp>
          <p:nvSpPr>
            <p:cNvPr id="37" name="Rechteck: abgerundete Ecken 36">
              <a:extLst>
                <a:ext uri="{FF2B5EF4-FFF2-40B4-BE49-F238E27FC236}">
                  <a16:creationId xmlns:a16="http://schemas.microsoft.com/office/drawing/2014/main" id="{955C229C-DF37-3394-7852-D2530C311E3D}"/>
                </a:ext>
              </a:extLst>
            </p:cNvPr>
            <p:cNvSpPr>
              <a:spLocks/>
            </p:cNvSpPr>
            <p:nvPr/>
          </p:nvSpPr>
          <p:spPr>
            <a:xfrm>
              <a:off x="622908" y="3952049"/>
              <a:ext cx="1440000" cy="867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28800" rIns="36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Information Extraction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42" name="Grafik 8">
              <a:extLst>
                <a:ext uri="{FF2B5EF4-FFF2-40B4-BE49-F238E27FC236}">
                  <a16:creationId xmlns:a16="http://schemas.microsoft.com/office/drawing/2014/main" id="{8D120EA8-E27A-D0DD-C5B0-F34B5211F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ns3:svgBlip xmlns:ns3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108908" y="4296129"/>
              <a:ext cx="468000" cy="468000"/>
            </a:xfrm>
            <a:prstGeom prst="rect">
              <a:avLst/>
            </a:prstGeom>
          </p:spPr>
        </p:pic>
        <p:sp>
          <p:nvSpPr>
            <p:cNvPr id="44" name="Gerader Verbinder 43">
              <a:extLst>
                <a:ext uri="{FF2B5EF4-FFF2-40B4-BE49-F238E27FC236}">
                  <a16:creationId xmlns:a16="http://schemas.microsoft.com/office/drawing/2014/main" id="{6BF87FBA-FFD4-A870-8990-3B36EDECACE0}"/>
                </a:ext>
              </a:extLst>
            </p:cNvPr>
            <p:cNvSpPr>
              <a:spLocks/>
            </p:cNvSpPr>
            <p:nvPr/>
          </p:nvSpPr>
          <p:spPr>
            <a:xfrm>
              <a:off x="622908" y="4240610"/>
              <a:ext cx="1440000" cy="0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54000" tIns="28800" rIns="54000"/>
            <a:lstStyle/>
            <a:p>
              <a:endParaRPr lang="de-CH" sz="900" b="1"/>
            </a:p>
          </p:txBody>
        </p:sp>
      </p:grpSp>
      <p:grpSp>
        <p:nvGrpSpPr>
          <p:cNvPr id="50" name="Gruppe Chunking">
            <a:extLst>
              <a:ext uri="{FF2B5EF4-FFF2-40B4-BE49-F238E27FC236}">
                <a16:creationId xmlns:a16="http://schemas.microsoft.com/office/drawing/2014/main" id="{8508E21A-AF16-CF37-8FB0-BF8A7BDA03CE}"/>
              </a:ext>
            </a:extLst>
          </p:cNvPr>
          <p:cNvGrpSpPr/>
          <p:nvPr/>
        </p:nvGrpSpPr>
        <p:grpSpPr>
          <a:xfrm>
            <a:off x="540000" y="2637599"/>
            <a:ext cx="1440000" cy="867600"/>
            <a:chOff x="624215" y="2761424"/>
            <a:chExt cx="1440000" cy="867600"/>
          </a:xfrm>
        </p:grpSpPr>
        <p:sp>
          <p:nvSpPr>
            <p:cNvPr id="45" name="Rechteck: abgerundete Ecken 44">
              <a:extLst>
                <a:ext uri="{FF2B5EF4-FFF2-40B4-BE49-F238E27FC236}">
                  <a16:creationId xmlns:a16="http://schemas.microsoft.com/office/drawing/2014/main" id="{D48A7F4F-BE6B-CD6F-E690-688E3245F2C5}"/>
                </a:ext>
              </a:extLst>
            </p:cNvPr>
            <p:cNvSpPr>
              <a:spLocks/>
            </p:cNvSpPr>
            <p:nvPr/>
          </p:nvSpPr>
          <p:spPr>
            <a:xfrm>
              <a:off x="624215" y="2761424"/>
              <a:ext cx="1440000" cy="867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/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Chunking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51" name="Gerader Verbinder 50">
              <a:extLst>
                <a:ext uri="{FF2B5EF4-FFF2-40B4-BE49-F238E27FC236}">
                  <a16:creationId xmlns:a16="http://schemas.microsoft.com/office/drawing/2014/main" id="{329E3D98-43F4-135D-5087-525B26A0404F}"/>
                </a:ext>
              </a:extLst>
            </p:cNvPr>
            <p:cNvSpPr>
              <a:spLocks/>
            </p:cNvSpPr>
            <p:nvPr/>
          </p:nvSpPr>
          <p:spPr>
            <a:xfrm>
              <a:off x="624215" y="3049985"/>
              <a:ext cx="1440000" cy="0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  <p:pic>
          <p:nvPicPr>
            <p:cNvPr id="122" name="Grafik 165">
              <a:extLst>
                <a:ext uri="{FF2B5EF4-FFF2-40B4-BE49-F238E27FC236}">
                  <a16:creationId xmlns:a16="http://schemas.microsoft.com/office/drawing/2014/main" id="{C58BB8C8-2491-48E5-46A3-5E1BEB7A5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ns4:svgBlip xmlns:ns4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110215" y="3105504"/>
              <a:ext cx="468000" cy="468000"/>
            </a:xfrm>
            <a:prstGeom prst="rect">
              <a:avLst/>
            </a:prstGeom>
          </p:spPr>
        </p:pic>
      </p:grpSp>
      <p:grpSp>
        <p:nvGrpSpPr>
          <p:cNvPr id="151" name="Gruppe Embeddings"/>
          <p:cNvGrpSpPr/>
          <p:nvPr/>
        </p:nvGrpSpPr>
        <p:grpSpPr>
          <a:xfrm>
            <a:off x="4140000" y="2636773"/>
            <a:ext cx="1440000" cy="867600"/>
            <a:chOff x="5009244" y="1578083"/>
            <a:chExt cx="1440000" cy="867600"/>
          </a:xfrm>
        </p:grpSpPr>
        <p:sp>
          <p:nvSpPr>
            <p:cNvPr id="54" name="Rechteck: abgerundete Ecken 53">
              <a:extLst>
                <a:ext uri="{FF2B5EF4-FFF2-40B4-BE49-F238E27FC236}">
                  <a16:creationId xmlns:a16="http://schemas.microsoft.com/office/drawing/2014/main" id="{F6937E87-FFDC-5644-BE6B-D3AF0FCBAA56}"/>
                </a:ext>
              </a:extLst>
            </p:cNvPr>
            <p:cNvSpPr>
              <a:spLocks/>
            </p:cNvSpPr>
            <p:nvPr/>
          </p:nvSpPr>
          <p:spPr>
            <a:xfrm>
              <a:off x="5009244" y="1578083"/>
              <a:ext cx="1440000" cy="867600"/>
            </a:xfrm>
            <a:prstGeom prst="roundRect">
              <a:avLst/>
            </a:prstGeom>
            <a:solidFill>
              <a:schemeClr val="accent2">
                <a:alpha val="50000"/>
              </a:schemeClr>
            </a:solidFill>
            <a:ln w="158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 err="1">
                  <a:solidFill>
                    <a:schemeClr val="bg2">
                      <a:lumMod val="10000"/>
                    </a:schemeClr>
                  </a:solidFill>
                </a:rPr>
                <a:t>Embeddings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56" name="Grafik 33">
              <a:extLst>
                <a:ext uri="{FF2B5EF4-FFF2-40B4-BE49-F238E27FC236}">
                  <a16:creationId xmlns:a16="http://schemas.microsoft.com/office/drawing/2014/main" id="{4180022B-D146-7907-A8C7-659A2713F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ns5:svgBlip xmlns:ns5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495244" y="1922163"/>
              <a:ext cx="468000" cy="468000"/>
            </a:xfrm>
            <a:prstGeom prst="rect">
              <a:avLst/>
            </a:prstGeom>
          </p:spPr>
        </p:pic>
        <p:sp>
          <p:nvSpPr>
            <p:cNvPr id="58" name="Gerader Verbinder 57">
              <a:extLst>
                <a:ext uri="{FF2B5EF4-FFF2-40B4-BE49-F238E27FC236}">
                  <a16:creationId xmlns:a16="http://schemas.microsoft.com/office/drawing/2014/main" id="{2358A794-930F-1800-2F3C-5B5ECED2E77E}"/>
                </a:ext>
              </a:extLst>
            </p:cNvPr>
            <p:cNvSpPr>
              <a:spLocks/>
            </p:cNvSpPr>
            <p:nvPr/>
          </p:nvSpPr>
          <p:spPr>
            <a:xfrm flipV="1">
              <a:off x="5009244" y="1866644"/>
              <a:ext cx="1440000" cy="0"/>
            </a:xfrm>
            <a:prstGeom prst="line">
              <a:avLst/>
            </a:prstGeom>
            <a:ln w="158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53" name="Gruppe Vector Database"/>
          <p:cNvGrpSpPr/>
          <p:nvPr/>
        </p:nvGrpSpPr>
        <p:grpSpPr>
          <a:xfrm>
            <a:off x="5940000" y="2637599"/>
            <a:ext cx="1440000" cy="867600"/>
            <a:chOff x="5005715" y="2776165"/>
            <a:chExt cx="1440000" cy="867600"/>
          </a:xfrm>
        </p:grpSpPr>
        <p:sp>
          <p:nvSpPr>
            <p:cNvPr id="72" name="Rechteck: abgerundete Ecken 71">
              <a:extLst>
                <a:ext uri="{FF2B5EF4-FFF2-40B4-BE49-F238E27FC236}">
                  <a16:creationId xmlns:a16="http://schemas.microsoft.com/office/drawing/2014/main" id="{E9A14601-129B-5663-F0ED-B2E1BD20F945}"/>
                </a:ext>
              </a:extLst>
            </p:cNvPr>
            <p:cNvSpPr>
              <a:spLocks/>
            </p:cNvSpPr>
            <p:nvPr/>
          </p:nvSpPr>
          <p:spPr>
            <a:xfrm>
              <a:off x="5005715" y="2776165"/>
              <a:ext cx="1440000" cy="867600"/>
            </a:xfrm>
            <a:prstGeom prst="roundRect">
              <a:avLst/>
            </a:prstGeom>
            <a:solidFill>
              <a:schemeClr val="bg2">
                <a:alpha val="50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Vector Database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74" name="Grafik 14">
              <a:extLst>
                <a:ext uri="{FF2B5EF4-FFF2-40B4-BE49-F238E27FC236}">
                  <a16:creationId xmlns:a16="http://schemas.microsoft.com/office/drawing/2014/main" id="{C9AA9F1F-BE1C-5F83-5671-91EF5A5DC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ns6:svgBlip xmlns:ns6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5491715" y="3120245"/>
              <a:ext cx="468000" cy="468000"/>
            </a:xfrm>
            <a:prstGeom prst="rect">
              <a:avLst/>
            </a:prstGeom>
          </p:spPr>
        </p:pic>
        <p:sp>
          <p:nvSpPr>
            <p:cNvPr id="79" name="Gerader Verbinder 78">
              <a:extLst>
                <a:ext uri="{FF2B5EF4-FFF2-40B4-BE49-F238E27FC236}">
                  <a16:creationId xmlns:a16="http://schemas.microsoft.com/office/drawing/2014/main" id="{89A0E0B7-A2BB-83F8-DDEA-7BF8AF689E44}"/>
                </a:ext>
              </a:extLst>
            </p:cNvPr>
            <p:cNvSpPr>
              <a:spLocks/>
            </p:cNvSpPr>
            <p:nvPr/>
          </p:nvSpPr>
          <p:spPr>
            <a:xfrm>
              <a:off x="5005715" y="3064726"/>
              <a:ext cx="1440000" cy="0"/>
            </a:xfrm>
            <a:prstGeom prst="line">
              <a:avLst/>
            </a:prstGeom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54" name="Gruppe Relevant Data"/>
          <p:cNvGrpSpPr/>
          <p:nvPr/>
        </p:nvGrpSpPr>
        <p:grpSpPr>
          <a:xfrm>
            <a:off x="5940000" y="5037528"/>
            <a:ext cx="1440000" cy="867600"/>
            <a:chOff x="5005715" y="5161353"/>
            <a:chExt cx="1440000" cy="867600"/>
          </a:xfrm>
        </p:grpSpPr>
        <p:sp>
          <p:nvSpPr>
            <p:cNvPr id="81" name="Rechteck: abgerundete Ecken 80">
              <a:extLst>
                <a:ext uri="{FF2B5EF4-FFF2-40B4-BE49-F238E27FC236}">
                  <a16:creationId xmlns:a16="http://schemas.microsoft.com/office/drawing/2014/main" id="{299209A1-E60D-B54F-BCE0-B59442B6BA9E}"/>
                </a:ext>
              </a:extLst>
            </p:cNvPr>
            <p:cNvSpPr>
              <a:spLocks/>
            </p:cNvSpPr>
            <p:nvPr/>
          </p:nvSpPr>
          <p:spPr>
            <a:xfrm>
              <a:off x="5005715" y="5161353"/>
              <a:ext cx="1440000" cy="867600"/>
            </a:xfrm>
            <a:prstGeom prst="roundRect">
              <a:avLst/>
            </a:prstGeom>
            <a:solidFill>
              <a:schemeClr val="accent2">
                <a:alpha val="50000"/>
              </a:schemeClr>
            </a:solidFill>
            <a:ln w="158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Relevant Data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84" name="Grafik 18">
              <a:extLst>
                <a:ext uri="{FF2B5EF4-FFF2-40B4-BE49-F238E27FC236}">
                  <a16:creationId xmlns:a16="http://schemas.microsoft.com/office/drawing/2014/main" id="{75982C35-E39A-47E4-7B79-4694BEFA0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ns7:svgBlip xmlns:ns7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5491715" y="5505433"/>
              <a:ext cx="468000" cy="468000"/>
            </a:xfrm>
            <a:prstGeom prst="rect">
              <a:avLst/>
            </a:prstGeom>
          </p:spPr>
        </p:pic>
        <p:sp>
          <p:nvSpPr>
            <p:cNvPr id="90" name="Gerader Verbinder 89">
              <a:extLst>
                <a:ext uri="{FF2B5EF4-FFF2-40B4-BE49-F238E27FC236}">
                  <a16:creationId xmlns:a16="http://schemas.microsoft.com/office/drawing/2014/main" id="{28E3CEA1-5C20-114C-95BF-87C047395FE4}"/>
                </a:ext>
              </a:extLst>
            </p:cNvPr>
            <p:cNvSpPr>
              <a:spLocks/>
            </p:cNvSpPr>
            <p:nvPr/>
          </p:nvSpPr>
          <p:spPr>
            <a:xfrm>
              <a:off x="5005715" y="5449914"/>
              <a:ext cx="1440000" cy="0"/>
            </a:xfrm>
            <a:prstGeom prst="line">
              <a:avLst/>
            </a:prstGeom>
            <a:ln w="158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55" name="Gruppe Embedding LLM"/>
          <p:cNvGrpSpPr/>
          <p:nvPr/>
        </p:nvGrpSpPr>
        <p:grpSpPr>
          <a:xfrm>
            <a:off x="7740000" y="1446974"/>
            <a:ext cx="1440000" cy="867600"/>
            <a:chOff x="7996042" y="1570799"/>
            <a:chExt cx="1440000" cy="867600"/>
          </a:xfrm>
        </p:grpSpPr>
        <p:sp>
          <p:nvSpPr>
            <p:cNvPr id="93" name="Rechteck: abgerundete Ecken 92">
              <a:extLst>
                <a:ext uri="{FF2B5EF4-FFF2-40B4-BE49-F238E27FC236}">
                  <a16:creationId xmlns:a16="http://schemas.microsoft.com/office/drawing/2014/main" id="{AD79A1D2-E83B-1112-88E6-A41F8B4E30C4}"/>
                </a:ext>
              </a:extLst>
            </p:cNvPr>
            <p:cNvSpPr>
              <a:spLocks/>
            </p:cNvSpPr>
            <p:nvPr/>
          </p:nvSpPr>
          <p:spPr>
            <a:xfrm>
              <a:off x="7996042" y="1570799"/>
              <a:ext cx="1440000" cy="867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Embedding LLM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96" name="Grafik 39">
              <a:extLst>
                <a:ext uri="{FF2B5EF4-FFF2-40B4-BE49-F238E27FC236}">
                  <a16:creationId xmlns:a16="http://schemas.microsoft.com/office/drawing/2014/main" id="{61249CC0-2AE7-1CF4-AF70-749961979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ns8:svgBlip xmlns:ns8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8482042" y="1914879"/>
              <a:ext cx="468000" cy="468000"/>
            </a:xfrm>
            <a:prstGeom prst="rect">
              <a:avLst/>
            </a:prstGeom>
          </p:spPr>
        </p:pic>
        <p:sp>
          <p:nvSpPr>
            <p:cNvPr id="101" name="Gerader Verbinder 100">
              <a:extLst>
                <a:ext uri="{FF2B5EF4-FFF2-40B4-BE49-F238E27FC236}">
                  <a16:creationId xmlns:a16="http://schemas.microsoft.com/office/drawing/2014/main" id="{E72F8E13-9942-DFD0-1B23-F1C4A1D4EC76}"/>
                </a:ext>
              </a:extLst>
            </p:cNvPr>
            <p:cNvSpPr>
              <a:spLocks/>
            </p:cNvSpPr>
            <p:nvPr/>
          </p:nvSpPr>
          <p:spPr>
            <a:xfrm>
              <a:off x="7996042" y="1859360"/>
              <a:ext cx="1440000" cy="0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27" name="Gruppe LLM">
            <a:extLst>
              <a:ext uri="{FF2B5EF4-FFF2-40B4-BE49-F238E27FC236}">
                <a16:creationId xmlns:a16="http://schemas.microsoft.com/office/drawing/2014/main" id="{CC8957DA-7EEF-07E6-4817-4A1CAB29C56A}"/>
              </a:ext>
            </a:extLst>
          </p:cNvPr>
          <p:cNvGrpSpPr/>
          <p:nvPr/>
        </p:nvGrpSpPr>
        <p:grpSpPr>
          <a:xfrm>
            <a:off x="7740000" y="5037528"/>
            <a:ext cx="1440000" cy="867600"/>
            <a:chOff x="8006090" y="5161353"/>
            <a:chExt cx="1440000" cy="867600"/>
          </a:xfrm>
        </p:grpSpPr>
        <p:sp>
          <p:nvSpPr>
            <p:cNvPr id="102" name="Rechteck: abgerundete Ecken 101">
              <a:extLst>
                <a:ext uri="{FF2B5EF4-FFF2-40B4-BE49-F238E27FC236}">
                  <a16:creationId xmlns:a16="http://schemas.microsoft.com/office/drawing/2014/main" id="{CCD2EF0F-009E-7BB9-2850-8D80476CA421}"/>
                </a:ext>
              </a:extLst>
            </p:cNvPr>
            <p:cNvSpPr>
              <a:spLocks/>
            </p:cNvSpPr>
            <p:nvPr/>
          </p:nvSpPr>
          <p:spPr>
            <a:xfrm>
              <a:off x="8006090" y="5161353"/>
              <a:ext cx="1440000" cy="867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LLM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104" name="Grafik 20">
              <a:extLst>
                <a:ext uri="{FF2B5EF4-FFF2-40B4-BE49-F238E27FC236}">
                  <a16:creationId xmlns:a16="http://schemas.microsoft.com/office/drawing/2014/main" id="{45D89FC9-D1BB-FFF3-F2CC-C8155D447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ns9:svgBlip xmlns:ns9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8492090" y="5505433"/>
              <a:ext cx="468000" cy="468000"/>
            </a:xfrm>
            <a:prstGeom prst="rect">
              <a:avLst/>
            </a:prstGeom>
          </p:spPr>
        </p:pic>
        <p:sp>
          <p:nvSpPr>
            <p:cNvPr id="106" name="Gerader Verbinder 105">
              <a:extLst>
                <a:ext uri="{FF2B5EF4-FFF2-40B4-BE49-F238E27FC236}">
                  <a16:creationId xmlns:a16="http://schemas.microsoft.com/office/drawing/2014/main" id="{C25ABEB4-F7C7-3DF5-DEEF-6DD6C45FCF01}"/>
                </a:ext>
              </a:extLst>
            </p:cNvPr>
            <p:cNvSpPr>
              <a:spLocks/>
            </p:cNvSpPr>
            <p:nvPr/>
          </p:nvSpPr>
          <p:spPr>
            <a:xfrm flipV="1">
              <a:off x="8006090" y="5449914"/>
              <a:ext cx="1440000" cy="0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57" name="Gruppe Embedding LLM"/>
          <p:cNvGrpSpPr/>
          <p:nvPr/>
        </p:nvGrpSpPr>
        <p:grpSpPr>
          <a:xfrm>
            <a:off x="4140000" y="1432421"/>
            <a:ext cx="1440000" cy="867600"/>
            <a:chOff x="2783916" y="1570799"/>
            <a:chExt cx="1440000" cy="867600"/>
          </a:xfrm>
        </p:grpSpPr>
        <p:sp>
          <p:nvSpPr>
            <p:cNvPr id="137" name="Rechteck: abgerundete Ecken 136">
              <a:extLst>
                <a:ext uri="{FF2B5EF4-FFF2-40B4-BE49-F238E27FC236}">
                  <a16:creationId xmlns:a16="http://schemas.microsoft.com/office/drawing/2014/main" id="{2F0E7FDF-A2C6-F785-F1E7-936F202EF2F8}"/>
                </a:ext>
              </a:extLst>
            </p:cNvPr>
            <p:cNvSpPr>
              <a:spLocks/>
            </p:cNvSpPr>
            <p:nvPr/>
          </p:nvSpPr>
          <p:spPr>
            <a:xfrm>
              <a:off x="2783916" y="1570799"/>
              <a:ext cx="1440000" cy="867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Embedding LLM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138" name="Grafik 39">
              <a:extLst>
                <a:ext uri="{FF2B5EF4-FFF2-40B4-BE49-F238E27FC236}">
                  <a16:creationId xmlns:a16="http://schemas.microsoft.com/office/drawing/2014/main" id="{CED68F23-700B-1E3E-A249-76DCDEF47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ns10:svgBlip xmlns:ns10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3269916" y="1914879"/>
              <a:ext cx="468000" cy="468000"/>
            </a:xfrm>
            <a:prstGeom prst="rect">
              <a:avLst/>
            </a:prstGeom>
          </p:spPr>
        </p:pic>
        <p:sp>
          <p:nvSpPr>
            <p:cNvPr id="140" name="Gerader Verbinder 139">
              <a:extLst>
                <a:ext uri="{FF2B5EF4-FFF2-40B4-BE49-F238E27FC236}">
                  <a16:creationId xmlns:a16="http://schemas.microsoft.com/office/drawing/2014/main" id="{FAE015C5-0604-FCE4-AE8F-E2A5506C996F}"/>
                </a:ext>
              </a:extLst>
            </p:cNvPr>
            <p:cNvSpPr>
              <a:spLocks/>
            </p:cNvSpPr>
            <p:nvPr/>
          </p:nvSpPr>
          <p:spPr>
            <a:xfrm>
              <a:off x="2783916" y="1859360"/>
              <a:ext cx="1440000" cy="0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58" name="Gruppe Chunks"/>
          <p:cNvGrpSpPr/>
          <p:nvPr/>
        </p:nvGrpSpPr>
        <p:grpSpPr>
          <a:xfrm>
            <a:off x="540000" y="1446974"/>
            <a:ext cx="1440000" cy="867600"/>
            <a:chOff x="617904" y="1570799"/>
            <a:chExt cx="1440000" cy="867600"/>
          </a:xfrm>
        </p:grpSpPr>
        <p:sp>
          <p:nvSpPr>
            <p:cNvPr id="121" name="Rechteck: abgerundete Ecken 120">
              <a:extLst>
                <a:ext uri="{FF2B5EF4-FFF2-40B4-BE49-F238E27FC236}">
                  <a16:creationId xmlns:a16="http://schemas.microsoft.com/office/drawing/2014/main" id="{AD7B8046-A7E5-977B-9789-31E7E99EC995}"/>
                </a:ext>
              </a:extLst>
            </p:cNvPr>
            <p:cNvSpPr>
              <a:spLocks/>
            </p:cNvSpPr>
            <p:nvPr/>
          </p:nvSpPr>
          <p:spPr>
            <a:xfrm>
              <a:off x="617904" y="1570799"/>
              <a:ext cx="1440000" cy="867600"/>
            </a:xfrm>
            <a:prstGeom prst="roundRect">
              <a:avLst/>
            </a:prstGeom>
            <a:solidFill>
              <a:schemeClr val="accent2">
                <a:alpha val="50000"/>
              </a:schemeClr>
            </a:solidFill>
            <a:ln w="158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Chunks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46" name="Grafik 10">
              <a:extLst>
                <a:ext uri="{FF2B5EF4-FFF2-40B4-BE49-F238E27FC236}">
                  <a16:creationId xmlns:a16="http://schemas.microsoft.com/office/drawing/2014/main" id="{BE3EA945-55FA-7EAD-DC73-B9FB8CEDC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ns11:svgBlip xmlns:ns11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03904" y="1914879"/>
              <a:ext cx="468000" cy="468000"/>
            </a:xfrm>
            <a:prstGeom prst="rect">
              <a:avLst/>
            </a:prstGeom>
          </p:spPr>
        </p:pic>
        <p:sp>
          <p:nvSpPr>
            <p:cNvPr id="124" name="Gerader Verbinder 123">
              <a:extLst>
                <a:ext uri="{FF2B5EF4-FFF2-40B4-BE49-F238E27FC236}">
                  <a16:creationId xmlns:a16="http://schemas.microsoft.com/office/drawing/2014/main" id="{E1830494-1611-ADE7-C919-BF9ADBCD7AEF}"/>
                </a:ext>
              </a:extLst>
            </p:cNvPr>
            <p:cNvSpPr>
              <a:spLocks/>
            </p:cNvSpPr>
            <p:nvPr/>
          </p:nvSpPr>
          <p:spPr>
            <a:xfrm>
              <a:off x="617904" y="1859360"/>
              <a:ext cx="1440000" cy="0"/>
            </a:xfrm>
            <a:prstGeom prst="line">
              <a:avLst/>
            </a:prstGeom>
            <a:ln w="158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39" name="Gruppe Embeddings">
            <a:extLst>
              <a:ext uri="{FF2B5EF4-FFF2-40B4-BE49-F238E27FC236}">
                <a16:creationId xmlns:a16="http://schemas.microsoft.com/office/drawing/2014/main" id="{1CE371FF-AA8D-9463-C284-4D4EC69E806E}"/>
              </a:ext>
            </a:extLst>
          </p:cNvPr>
          <p:cNvGrpSpPr/>
          <p:nvPr/>
        </p:nvGrpSpPr>
        <p:grpSpPr>
          <a:xfrm>
            <a:off x="7740000" y="2637599"/>
            <a:ext cx="1440000" cy="867600"/>
            <a:chOff x="8006090" y="2794529"/>
            <a:chExt cx="1440000" cy="867600"/>
          </a:xfrm>
        </p:grpSpPr>
        <p:sp>
          <p:nvSpPr>
            <p:cNvPr id="32" name="Rechteck: abgerundete Ecken 31">
              <a:extLst>
                <a:ext uri="{FF2B5EF4-FFF2-40B4-BE49-F238E27FC236}">
                  <a16:creationId xmlns:a16="http://schemas.microsoft.com/office/drawing/2014/main" id="{2A723AF4-EAB5-14C5-1FA0-86467149575A}"/>
                </a:ext>
              </a:extLst>
            </p:cNvPr>
            <p:cNvSpPr>
              <a:spLocks/>
            </p:cNvSpPr>
            <p:nvPr/>
          </p:nvSpPr>
          <p:spPr>
            <a:xfrm>
              <a:off x="8006090" y="2794529"/>
              <a:ext cx="1440000" cy="867600"/>
            </a:xfrm>
            <a:prstGeom prst="roundRect">
              <a:avLst/>
            </a:prstGeom>
            <a:solidFill>
              <a:schemeClr val="accent2">
                <a:alpha val="50000"/>
              </a:schemeClr>
            </a:solidFill>
            <a:ln w="158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/>
              <a:r>
                <a:rPr lang="de-CH" sz="900" b="1" dirty="0" err="1">
                  <a:solidFill>
                    <a:schemeClr val="bg2">
                      <a:lumMod val="10000"/>
                    </a:schemeClr>
                  </a:solidFill>
                </a:rPr>
                <a:t>Embeddings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33" name="Grafik 20">
              <a:extLst>
                <a:ext uri="{FF2B5EF4-FFF2-40B4-BE49-F238E27FC236}">
                  <a16:creationId xmlns:a16="http://schemas.microsoft.com/office/drawing/2014/main" id="{91CCA1BF-A0BC-0AD7-2334-443BD9585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ns12:svgBlip xmlns:ns12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8492090" y="3138609"/>
              <a:ext cx="468000" cy="468000"/>
            </a:xfrm>
            <a:prstGeom prst="rect">
              <a:avLst/>
            </a:prstGeom>
          </p:spPr>
        </p:pic>
        <p:sp>
          <p:nvSpPr>
            <p:cNvPr id="35" name="Gerader Verbinder 34">
              <a:extLst>
                <a:ext uri="{FF2B5EF4-FFF2-40B4-BE49-F238E27FC236}">
                  <a16:creationId xmlns:a16="http://schemas.microsoft.com/office/drawing/2014/main" id="{D8883587-3324-32F7-891A-2B743485D887}"/>
                </a:ext>
              </a:extLst>
            </p:cNvPr>
            <p:cNvSpPr>
              <a:spLocks/>
            </p:cNvSpPr>
            <p:nvPr/>
          </p:nvSpPr>
          <p:spPr>
            <a:xfrm flipV="1">
              <a:off x="8006090" y="3083090"/>
              <a:ext cx="1440000" cy="0"/>
            </a:xfrm>
            <a:prstGeom prst="line">
              <a:avLst/>
            </a:prstGeom>
            <a:ln w="158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23" name="Gruppe Graph Engine">
            <a:extLst>
              <a:ext uri="{FF2B5EF4-FFF2-40B4-BE49-F238E27FC236}">
                <a16:creationId xmlns:a16="http://schemas.microsoft.com/office/drawing/2014/main" id="{D25D0927-7500-9C4D-B2AC-C86A40E321DD}"/>
              </a:ext>
            </a:extLst>
          </p:cNvPr>
          <p:cNvGrpSpPr/>
          <p:nvPr/>
        </p:nvGrpSpPr>
        <p:grpSpPr>
          <a:xfrm>
            <a:off x="2340000" y="3828224"/>
            <a:ext cx="1440000" cy="867600"/>
            <a:chOff x="2783916" y="1570799"/>
            <a:chExt cx="1440000" cy="867600"/>
          </a:xfrm>
        </p:grpSpPr>
        <p:sp>
          <p:nvSpPr>
            <p:cNvPr id="25" name="Rechteck: abgerundete Ecken 24">
              <a:extLst>
                <a:ext uri="{FF2B5EF4-FFF2-40B4-BE49-F238E27FC236}">
                  <a16:creationId xmlns:a16="http://schemas.microsoft.com/office/drawing/2014/main" id="{6FECBFFE-AEE2-FC47-F568-0299509D082E}"/>
                </a:ext>
              </a:extLst>
            </p:cNvPr>
            <p:cNvSpPr>
              <a:spLocks/>
            </p:cNvSpPr>
            <p:nvPr/>
          </p:nvSpPr>
          <p:spPr>
            <a:xfrm>
              <a:off x="2783916" y="1570799"/>
              <a:ext cx="1440000" cy="867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Graph Engine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31" name="Grafik 39">
              <a:extLst>
                <a:ext uri="{FF2B5EF4-FFF2-40B4-BE49-F238E27FC236}">
                  <a16:creationId xmlns:a16="http://schemas.microsoft.com/office/drawing/2014/main" id="{0EFCE21A-B763-94D4-1211-67A4EFC1B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ns13:svgBlip xmlns:ns13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3269916" y="1914879"/>
              <a:ext cx="468000" cy="468000"/>
            </a:xfrm>
            <a:prstGeom prst="rect">
              <a:avLst/>
            </a:prstGeom>
          </p:spPr>
        </p:pic>
        <p:sp>
          <p:nvSpPr>
            <p:cNvPr id="36" name="Gerader Verbinder 35">
              <a:extLst>
                <a:ext uri="{FF2B5EF4-FFF2-40B4-BE49-F238E27FC236}">
                  <a16:creationId xmlns:a16="http://schemas.microsoft.com/office/drawing/2014/main" id="{7AF572F4-9F0D-9BB4-7971-013A069E5F43}"/>
                </a:ext>
              </a:extLst>
            </p:cNvPr>
            <p:cNvSpPr>
              <a:spLocks/>
            </p:cNvSpPr>
            <p:nvPr/>
          </p:nvSpPr>
          <p:spPr>
            <a:xfrm>
              <a:off x="2783916" y="1859360"/>
              <a:ext cx="1440000" cy="0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12" name="Gruppe Graph Database">
            <a:extLst>
              <a:ext uri="{FF2B5EF4-FFF2-40B4-BE49-F238E27FC236}">
                <a16:creationId xmlns:a16="http://schemas.microsoft.com/office/drawing/2014/main" id="{BFB423DB-992A-5876-26AC-811D2AA99C40}"/>
              </a:ext>
            </a:extLst>
          </p:cNvPr>
          <p:cNvGrpSpPr/>
          <p:nvPr/>
        </p:nvGrpSpPr>
        <p:grpSpPr>
          <a:xfrm>
            <a:off x="4140000" y="3828224"/>
            <a:ext cx="1440000" cy="867600"/>
            <a:chOff x="5005715" y="2776165"/>
            <a:chExt cx="1440000" cy="867600"/>
          </a:xfrm>
        </p:grpSpPr>
        <p:sp>
          <p:nvSpPr>
            <p:cNvPr id="13" name="Rechteck: abgerundete Ecken 12">
              <a:extLst>
                <a:ext uri="{FF2B5EF4-FFF2-40B4-BE49-F238E27FC236}">
                  <a16:creationId xmlns:a16="http://schemas.microsoft.com/office/drawing/2014/main" id="{CC99E781-A55C-22DF-C8AA-03E22653591B}"/>
                </a:ext>
              </a:extLst>
            </p:cNvPr>
            <p:cNvSpPr>
              <a:spLocks/>
            </p:cNvSpPr>
            <p:nvPr/>
          </p:nvSpPr>
          <p:spPr>
            <a:xfrm>
              <a:off x="5005715" y="2776165"/>
              <a:ext cx="1440000" cy="867600"/>
            </a:xfrm>
            <a:prstGeom prst="roundRect">
              <a:avLst/>
            </a:prstGeom>
            <a:solidFill>
              <a:schemeClr val="bg2">
                <a:alpha val="50000"/>
              </a:schemeClr>
            </a:solidFill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Graph Database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17" name="Grafik 14">
              <a:extLst>
                <a:ext uri="{FF2B5EF4-FFF2-40B4-BE49-F238E27FC236}">
                  <a16:creationId xmlns:a16="http://schemas.microsoft.com/office/drawing/2014/main" id="{E645D8D1-1C81-9BB2-4C15-4C7B2E7D1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96DAC541-7B7A-43D3-8B79-37D633B846F1}">
                  <ns14:svgBlip xmlns:ns14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5491715" y="3120245"/>
              <a:ext cx="468000" cy="468000"/>
            </a:xfrm>
            <a:prstGeom prst="rect">
              <a:avLst/>
            </a:prstGeom>
          </p:spPr>
        </p:pic>
        <p:sp>
          <p:nvSpPr>
            <p:cNvPr id="19" name="Gerader Verbinder 18">
              <a:extLst>
                <a:ext uri="{FF2B5EF4-FFF2-40B4-BE49-F238E27FC236}">
                  <a16:creationId xmlns:a16="http://schemas.microsoft.com/office/drawing/2014/main" id="{D3D9A905-2AB4-FDD0-3893-A133C5A52487}"/>
                </a:ext>
              </a:extLst>
            </p:cNvPr>
            <p:cNvSpPr>
              <a:spLocks/>
            </p:cNvSpPr>
            <p:nvPr/>
          </p:nvSpPr>
          <p:spPr>
            <a:xfrm>
              <a:off x="5005715" y="3064726"/>
              <a:ext cx="1440000" cy="0"/>
            </a:xfrm>
            <a:prstGeom prst="line">
              <a:avLst/>
            </a:prstGeom>
            <a:ln w="15875"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grpSp>
        <p:nvGrpSpPr>
          <p:cNvPr id="40" name="Gruppe Ranking">
            <a:extLst>
              <a:ext uri="{FF2B5EF4-FFF2-40B4-BE49-F238E27FC236}">
                <a16:creationId xmlns:a16="http://schemas.microsoft.com/office/drawing/2014/main" id="{62657446-9BFF-60C0-3E07-97265A6E0278}"/>
              </a:ext>
            </a:extLst>
          </p:cNvPr>
          <p:cNvGrpSpPr/>
          <p:nvPr/>
        </p:nvGrpSpPr>
        <p:grpSpPr>
          <a:xfrm>
            <a:off x="5940000" y="3828224"/>
            <a:ext cx="1440000" cy="867600"/>
            <a:chOff x="2783916" y="1570799"/>
            <a:chExt cx="1440000" cy="867600"/>
          </a:xfrm>
        </p:grpSpPr>
        <p:sp>
          <p:nvSpPr>
            <p:cNvPr id="41" name="Rechteck: abgerundete Ecken 40">
              <a:extLst>
                <a:ext uri="{FF2B5EF4-FFF2-40B4-BE49-F238E27FC236}">
                  <a16:creationId xmlns:a16="http://schemas.microsoft.com/office/drawing/2014/main" id="{E7DEB9CD-56E2-EB2F-CD4E-69F8AEE0181F}"/>
                </a:ext>
              </a:extLst>
            </p:cNvPr>
            <p:cNvSpPr>
              <a:spLocks/>
            </p:cNvSpPr>
            <p:nvPr/>
          </p:nvSpPr>
          <p:spPr>
            <a:xfrm>
              <a:off x="2783916" y="1570799"/>
              <a:ext cx="1440000" cy="867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tIns="28800" rIns="54000" bIns="90000" anchor="t"/>
            <a:lstStyle/>
            <a:p>
              <a:pPr algn="ctr">
                <a:buNone/>
              </a:pPr>
              <a:r>
                <a:rPr lang="de-CH" sz="900" b="1" dirty="0">
                  <a:solidFill>
                    <a:schemeClr val="bg2">
                      <a:lumMod val="10000"/>
                    </a:schemeClr>
                  </a:solidFill>
                </a:rPr>
                <a:t>Ranking</a:t>
              </a:r>
              <a:endParaRPr sz="900" b="1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pic>
          <p:nvPicPr>
            <p:cNvPr id="47" name="Grafik 39">
              <a:extLst>
                <a:ext uri="{FF2B5EF4-FFF2-40B4-BE49-F238E27FC236}">
                  <a16:creationId xmlns:a16="http://schemas.microsoft.com/office/drawing/2014/main" id="{6081DB9F-9BB1-BAD7-BD2A-137B31691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>
              <a:extLst>
                <a:ext uri="{96DAC541-7B7A-43D3-8B79-37D633B846F1}">
                  <ns15:svgBlip xmlns:ns15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3269916" y="1914879"/>
              <a:ext cx="468000" cy="468000"/>
            </a:xfrm>
            <a:prstGeom prst="rect">
              <a:avLst/>
            </a:prstGeom>
          </p:spPr>
        </p:pic>
        <p:sp>
          <p:nvSpPr>
            <p:cNvPr id="48" name="Gerader Verbinder 47">
              <a:extLst>
                <a:ext uri="{FF2B5EF4-FFF2-40B4-BE49-F238E27FC236}">
                  <a16:creationId xmlns:a16="http://schemas.microsoft.com/office/drawing/2014/main" id="{C564D42D-36CE-ADD3-7AB2-73E4D9CA0D06}"/>
                </a:ext>
              </a:extLst>
            </p:cNvPr>
            <p:cNvSpPr>
              <a:spLocks/>
            </p:cNvSpPr>
            <p:nvPr/>
          </p:nvSpPr>
          <p:spPr>
            <a:xfrm>
              <a:off x="2783916" y="1859360"/>
              <a:ext cx="1440000" cy="0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de-CH" sz="900" b="1"/>
            </a:p>
          </p:txBody>
        </p:sp>
      </p:grpSp>
      <p:cxnSp>
        <p:nvCxnSpPr>
          <p:cNvPr id="161" name="Gerade Verbindung Query LLM"/>
          <p:cNvCxnSpPr>
            <a:cxnSpLocks/>
            <a:stCxn id="18" idx="2"/>
            <a:endCxn id="102" idx="0"/>
          </p:cNvCxnSpPr>
          <p:nvPr/>
        </p:nvCxnSpPr>
        <p:spPr>
          <a:xfrm flipH="1">
            <a:off x="8460000" y="2317125"/>
            <a:ext cx="1800000" cy="2720403"/>
          </a:xfrm>
          <a:prstGeom prst="straightConnector1">
            <a:avLst/>
          </a:prstGeom>
          <a:ln w="50800">
            <a:solidFill>
              <a:schemeClr val="tx1">
                <a:alpha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0" name="Marker Graph Database"/>
          <p:cNvSpPr/>
          <p:nvPr/>
        </p:nvSpPr>
        <p:spPr>
          <a:xfrm>
            <a:off x="4096800" y="3785024"/>
            <a:ext cx="1526400" cy="954000"/>
          </a:xfrm>
          <a:prstGeom prst="roundRect">
            <a:avLst/>
          </a:prstGeom>
          <a:noFill/>
          <a:ln w="28575">
            <a:solidFill>
              <a:srgbClr val="C60C30"/>
            </a:solidFill>
            <a:prstDash val="dash"/>
          </a:ln>
        </p:spPr>
        <p:txBody>
          <a:bodyPr/>
          <a:lstStyle/>
          <a:p/>
        </p:txBody>
      </p:sp>
      <p:sp>
        <p:nvSpPr>
          <p:cNvPr id="1001" name="Marker Graph Engine"/>
          <p:cNvSpPr/>
          <p:nvPr/>
        </p:nvSpPr>
        <p:spPr>
          <a:xfrm>
            <a:off x="2296800" y="3785024"/>
            <a:ext cx="1526400" cy="954000"/>
          </a:xfrm>
          <a:prstGeom prst="roundRect">
            <a:avLst/>
          </a:prstGeom>
          <a:noFill/>
          <a:ln w="28575">
            <a:solidFill>
              <a:srgbClr val="C60C30"/>
            </a:solidFill>
            <a:prstDash val="dash"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0741294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KROS">
  <a:themeElements>
    <a:clrScheme name="AKROS">
      <a:dk1>
        <a:srgbClr val="2D3F4B"/>
      </a:dk1>
      <a:lt1>
        <a:srgbClr val="FFFFFF"/>
      </a:lt1>
      <a:dk2>
        <a:srgbClr val="C3BBB2"/>
      </a:dk2>
      <a:lt2>
        <a:srgbClr val="EAE8E5"/>
      </a:lt2>
      <a:accent1>
        <a:srgbClr val="C60C30"/>
      </a:accent1>
      <a:accent2>
        <a:srgbClr val="9BC7EE"/>
      </a:accent2>
      <a:accent3>
        <a:srgbClr val="81725E"/>
      </a:accent3>
      <a:accent4>
        <a:srgbClr val="7C466F"/>
      </a:accent4>
      <a:accent5>
        <a:srgbClr val="43858A"/>
      </a:accent5>
      <a:accent6>
        <a:srgbClr val="C9960F"/>
      </a:accent6>
      <a:hlink>
        <a:srgbClr val="9BC7EE"/>
      </a:hlink>
      <a:folHlink>
        <a:srgbClr val="7C46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88367761-9025-4769-BDE4-09E40FE64903}" vid="{2F0FD1FC-3CEC-4585-A92B-9814C981C47B}"/>
    </a:ext>
  </a:extLst>
</a:theme>
</file>

<file path=ppt/theme/theme2.xml><?xml version="1.0" encoding="utf-8"?>
<a:theme xmlns:a="http://schemas.openxmlformats.org/drawingml/2006/main" name="Office">
  <a:themeElements>
    <a:clrScheme name="Noser Farben">
      <a:dk1>
        <a:srgbClr val="424242"/>
      </a:dk1>
      <a:lt1>
        <a:sysClr val="window" lastClr="FFFFFF"/>
      </a:lt1>
      <a:dk2>
        <a:srgbClr val="212D8C"/>
      </a:dk2>
      <a:lt2>
        <a:srgbClr val="E9E3DD"/>
      </a:lt2>
      <a:accent1>
        <a:srgbClr val="FA9400"/>
      </a:accent1>
      <a:accent2>
        <a:srgbClr val="C3DBE9"/>
      </a:accent2>
      <a:accent3>
        <a:srgbClr val="DC5401"/>
      </a:accent3>
      <a:accent4>
        <a:srgbClr val="FFE851"/>
      </a:accent4>
      <a:accent5>
        <a:srgbClr val="A22E1D"/>
      </a:accent5>
      <a:accent6>
        <a:srgbClr val="FBAA8F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Noser Farben">
      <a:dk1>
        <a:srgbClr val="424242"/>
      </a:dk1>
      <a:lt1>
        <a:sysClr val="window" lastClr="FFFFFF"/>
      </a:lt1>
      <a:dk2>
        <a:srgbClr val="212D8C"/>
      </a:dk2>
      <a:lt2>
        <a:srgbClr val="E9E3DD"/>
      </a:lt2>
      <a:accent1>
        <a:srgbClr val="FA9400"/>
      </a:accent1>
      <a:accent2>
        <a:srgbClr val="C3DBE9"/>
      </a:accent2>
      <a:accent3>
        <a:srgbClr val="DC5401"/>
      </a:accent3>
      <a:accent4>
        <a:srgbClr val="FFE851"/>
      </a:accent4>
      <a:accent5>
        <a:srgbClr val="A22E1D"/>
      </a:accent5>
      <a:accent6>
        <a:srgbClr val="FBAA8F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D39DBAC6A50C74E998B9EB660A68B40" ma:contentTypeVersion="12" ma:contentTypeDescription="Ein neues Dokument erstellen." ma:contentTypeScope="" ma:versionID="34dc225a7d6106712b96f9699847575b">
  <xsd:schema xmlns:xsd="http://www.w3.org/2001/XMLSchema" xmlns:xs="http://www.w3.org/2001/XMLSchema" xmlns:p="http://schemas.microsoft.com/office/2006/metadata/properties" xmlns:ns2="501edefc-5b9b-422a-9450-cf7f1f30e3fa" xmlns:ns3="3083c7a9-d95a-44c4-8fb8-f93b125494d6" targetNamespace="http://schemas.microsoft.com/office/2006/metadata/properties" ma:root="true" ma:fieldsID="b7244162b0b071e6bfc5af2eca0d94d3" ns2:_="" ns3:_="">
    <xsd:import namespace="501edefc-5b9b-422a-9450-cf7f1f30e3fa"/>
    <xsd:import namespace="3083c7a9-d95a-44c4-8fb8-f93b125494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1edefc-5b9b-422a-9450-cf7f1f30e3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d4e16f4a-3b6f-4338-be2c-d51c74cd1a9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83c7a9-d95a-44c4-8fb8-f93b125494d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d59f4a8-ef3d-48d5-9536-d2a90983fe2c}" ma:internalName="TaxCatchAll" ma:showField="CatchAllData" ma:web="3083c7a9-d95a-44c4-8fb8-f93b125494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01edefc-5b9b-422a-9450-cf7f1f30e3fa">
      <Terms xmlns="http://schemas.microsoft.com/office/infopath/2007/PartnerControls"/>
    </lcf76f155ced4ddcb4097134ff3c332f>
    <TaxCatchAll xmlns="3083c7a9-d95a-44c4-8fb8-f93b125494d6" xsi:nil="true"/>
  </documentManagement>
</p:properties>
</file>

<file path=customXml/itemProps1.xml><?xml version="1.0" encoding="utf-8"?>
<ds:datastoreItem xmlns:ds="http://schemas.openxmlformats.org/officeDocument/2006/customXml" ds:itemID="{42C8284C-7C61-4B35-A2FD-8E50AFE936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1edefc-5b9b-422a-9450-cf7f1f30e3fa"/>
    <ds:schemaRef ds:uri="3083c7a9-d95a-44c4-8fb8-f93b125494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34436CE-240F-4EE4-9FC5-4255E68742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02A1CC-4AEF-4830-BB1C-A446161EB02D}">
  <ds:schemaRefs>
    <ds:schemaRef ds:uri="http://schemas.microsoft.com/office/2006/metadata/properties"/>
    <ds:schemaRef ds:uri="http://schemas.microsoft.com/office/infopath/2007/PartnerControls"/>
    <ds:schemaRef ds:uri="7052a6c1-2dbf-49e9-b6e1-6fe4487af028"/>
    <ds:schemaRef ds:uri="d8f140f0-05e7-48e3-ba8b-dcc0ff83b3dd"/>
    <ds:schemaRef ds:uri="b22023f0-d141-4df7-85ad-6dd1e1377ec8"/>
    <ds:schemaRef ds:uri="bf122554-6983-45b2-a605-6e185ba8cf82"/>
    <ds:schemaRef ds:uri="501edefc-5b9b-422a-9450-cf7f1f30e3fa"/>
    <ds:schemaRef ds:uri="3083c7a9-d95a-44c4-8fb8-f93b125494d6"/>
  </ds:schemaRefs>
</ds:datastoreItem>
</file>

<file path=docMetadata/LabelInfo.xml><?xml version="1.0" encoding="utf-8"?>
<clbl:labelList xmlns:clbl="http://schemas.microsoft.com/office/2020/mipLabelMetadata">
  <clbl:label id="{42e461c6-591f-4920-9cf0-f1389542f8ad}" enabled="1" method="Standard" siteId="{2cda5d11-f0ac-46b3-967d-af1b2e1bd01a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AKROS_Firmenpräsentation</Template>
  <TotalTime>0</TotalTime>
  <Words>3970</Words>
  <Application>Microsoft Office PowerPoint</Application>
  <PresentationFormat>Breitbild</PresentationFormat>
  <Paragraphs>565</Paragraphs>
  <Slides>21</Slides>
  <Notes>20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5" baseType="lpstr">
      <vt:lpstr>Arial</vt:lpstr>
      <vt:lpstr>Courier New</vt:lpstr>
      <vt:lpstr>AKROS</vt:lpstr>
      <vt:lpstr>think-cell Folie</vt:lpstr>
      <vt:lpstr>Retrieval-Augmented Generator (RAG)</vt:lpstr>
      <vt:lpstr>Agenda</vt:lpstr>
      <vt:lpstr>Was ist RAG?</vt:lpstr>
      <vt:lpstr>Reine LLMs haben drei blinde Flecken</vt:lpstr>
      <vt:lpstr>RAG verschiebt die Aufgabe</vt:lpstr>
      <vt:lpstr>Vier Bausteine formen den LLM-Kontext</vt:lpstr>
      <vt:lpstr>Aufbau eines Vector RAGs</vt:lpstr>
      <vt:lpstr>Vom Modellaufruf zum messbaren RAG</vt:lpstr>
      <vt:lpstr>Hands-on</vt:lpstr>
      <vt:lpstr>Vom Setup zur ersten belegbaren Antwort</vt:lpstr>
      <vt:lpstr>Advanced RAG</vt:lpstr>
      <vt:lpstr>PowerPoint-Präsentation</vt:lpstr>
      <vt:lpstr>PowerPoint-Präsentation</vt:lpstr>
      <vt:lpstr>PowerPoint-Präsentation</vt:lpstr>
      <vt:lpstr>PowerPoint-Präsentation</vt:lpstr>
      <vt:lpstr>GraphRAG: höchster Article-Recall, kleinster Kontext</vt:lpstr>
      <vt:lpstr>PowerPoint-Präsentation</vt:lpstr>
      <vt:lpstr>PowerPoint-Präsentation</vt:lpstr>
      <vt:lpstr>PowerPoint-Präsentation</vt:lpstr>
      <vt:lpstr>PowerPoint-Präsentation</vt:lpstr>
      <vt:lpstr>Vielen Dank für Ihr Interesse!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Mehltretter Stephanie</dc:creator>
  <cp:lastModifiedBy>Frey Daniel (IT-DA-EXT - Extern)</cp:lastModifiedBy>
  <cp:revision>43</cp:revision>
  <dcterms:created xsi:type="dcterms:W3CDTF">2026-08-04T12:09:36Z</dcterms:created>
  <dcterms:modified xsi:type="dcterms:W3CDTF">2026-08-08T14:32:16Z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0x0101007D39DBAC6A50C74E998B9EB660A68B40</vt:lpwstr>
  </property>
  <property fmtid="{D5CDD505-2E9C-101B-9397-08002B2CF9AE}" pid="3" name="Order">
    <vt:r8>3495600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MediaServiceImageTags">
    <vt:lpwstr/>
  </property>
  <property fmtid="{D5CDD505-2E9C-101B-9397-08002B2CF9AE}" pid="10" name="ClassificationContentMarkingFooterLocations">
    <vt:lpwstr>AKROS:8</vt:lpwstr>
  </property>
  <property fmtid="{D5CDD505-2E9C-101B-9397-08002B2CF9AE}" pid="11" name="ClassificationContentMarkingFooterText">
    <vt:lpwstr>C2 - Intern</vt:lpwstr>
  </property>
</Properties>
</file>