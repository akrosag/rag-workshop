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90" r:id="rId5"/>
    <p:sldId id="279" r:id="rId6"/>
    <p:sldId id="296" r:id="rId7"/>
    <p:sldId id="301" r:id="rId8"/>
    <p:sldId id="263" r:id="rId9"/>
    <p:sldId id="317" r:id="rId10"/>
    <p:sldId id="319" r:id="rId11"/>
    <p:sldId id="266" r:id="rId12"/>
    <p:sldId id="307" r:id="rId13"/>
    <p:sldId id="323" r:id="rId14"/>
    <p:sldId id="322" r:id="rId15"/>
    <p:sldId id="324" r:id="rId16"/>
    <p:sldId id="325" r:id="rId17"/>
    <p:sldId id="308" r:id="rId18"/>
    <p:sldId id="326" r:id="rId19"/>
    <p:sldId id="256" r:id="rId20"/>
    <p:sldId id="313" r:id="rId21"/>
    <p:sldId id="327" r:id="rId22"/>
    <p:sldId id="320" r:id="rId23"/>
    <p:sldId id="321" r:id="rId24"/>
    <p:sldId id="328" r:id="rId25"/>
    <p:sldId id="271" r:id="rId26"/>
    <p:sldId id="272" r:id="rId27"/>
    <p:sldId id="274" r:id="rId28"/>
    <p:sldId id="275" r:id="rId29"/>
    <p:sldId id="276" r:id="rId30"/>
    <p:sldId id="295" r:id="rId31"/>
  </p:sldIdLst>
  <p:sldSz cx="12192000" cy="6858000"/>
  <p:notesSz cx="6858000" cy="9144000"/>
  <p:custDataLst>
    <p:tags r:id="rId3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3"/>
            <p14:sldId id="322"/>
            <p14:sldId id="324"/>
            <p14:sldId id="325"/>
            <p14:sldId id="308"/>
            <p14:sldId id="326"/>
            <p14:sldId id="256"/>
            <p14:sldId id="313"/>
            <p14:sldId id="327"/>
            <p14:sldId id="320"/>
            <p14:sldId id="321"/>
            <p14:sldId id="328"/>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4" d="100"/>
          <a:sy n="104" d="100"/>
        </p:scale>
        <p:origin x="69" y="20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3.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10</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3" grpId="0" animBg="1"/>
      <p:bldP spid="25" grpId="0" animBg="1"/>
      <p:bldP spid="26" grpId="0"/>
      <p:bldP spid="2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43" grpId="0" animBg="1"/>
      <p:bldP spid="45" grpId="0"/>
      <p:bldP spid="46" grpId="0"/>
      <p:bldP spid="47" grpId="0" animBg="1"/>
      <p:bldP spid="48" grpId="0"/>
      <p:bldP spid="6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p:nvPr/>
        </p:nvSpPr>
        <p:spPr>
          <a:xfrm>
            <a:off x="2490937"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p:nvPr/>
        </p:nvSpPr>
        <p:spPr>
          <a:xfrm>
            <a:off x="5128508"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pPr algn="ctr"/>
            <a:r>
              <a:rPr lang="de-CH" sz="1400" b="1" dirty="0">
                <a:solidFill>
                  <a:srgbClr val="304452"/>
                </a:solidFill>
              </a:rPr>
              <a:t>CHROMA INDEX</a:t>
            </a:r>
          </a:p>
          <a:p>
            <a:pPr algn="ctr"/>
            <a:r>
              <a:rPr lang="de-CH" sz="1400" b="1" dirty="0">
                <a:solidFill>
                  <a:srgbClr val="438B92"/>
                </a:solidFill>
              </a:rPr>
              <a:t>≋</a:t>
            </a:r>
            <a:endParaRPr lang="de-CH" sz="1400" b="1" dirty="0">
              <a:solidFill>
                <a:srgbClr val="304452"/>
              </a:solidFill>
            </a:endParaRPr>
          </a:p>
          <a:p>
            <a:pPr algn="ctr"/>
            <a:r>
              <a:rPr lang="de-CH" sz="1400" dirty="0">
                <a:solidFill>
                  <a:srgbClr val="304452"/>
                </a:solidFill>
              </a:rPr>
              <a:t>Chunks + </a:t>
            </a:r>
            <a:r>
              <a:rPr lang="de-CH" sz="1400" dirty="0" err="1">
                <a:solidFill>
                  <a:srgbClr val="304452"/>
                </a:solidFill>
              </a:rPr>
              <a:t>Embeddings</a:t>
            </a:r>
            <a:endParaRPr lang="de-CH" sz="1400" b="1" dirty="0">
              <a:solidFill>
                <a:srgbClr val="304452"/>
              </a:solidFill>
            </a:endParaRPr>
          </a:p>
        </p:txBody>
      </p:sp>
      <p:sp>
        <p:nvSpPr>
          <p:cNvPr id="18" name="graph-builder">
            <a:extLst>
              <a:ext uri="{FF2B5EF4-FFF2-40B4-BE49-F238E27FC236}">
                <a16:creationId xmlns:a16="http://schemas.microsoft.com/office/drawing/2014/main" id="{7403451D-2936-47A8-987E-8CB23B3AD79B}"/>
              </a:ext>
            </a:extLst>
          </p:cNvPr>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pPr algn="ctr"/>
            <a:r>
              <a:rPr lang="de-CH" sz="1400" b="1" dirty="0">
                <a:solidFill>
                  <a:srgbClr val="304452"/>
                </a:solidFill>
              </a:rPr>
              <a:t>GRAPH AUFBAU</a:t>
            </a:r>
          </a:p>
          <a:p>
            <a:pPr algn="ctr">
              <a:defRPr sz="1125" b="0">
                <a:solidFill>
                  <a:srgbClr val="304452"/>
                </a:solidFill>
              </a:defRPr>
            </a:pPr>
            <a:r>
              <a:rPr lang="de-CH" sz="1400" dirty="0">
                <a:solidFill>
                  <a:srgbClr val="304452"/>
                </a:solidFill>
              </a:rPr>
              <a:t>Nachbar-Chunks verbinden</a:t>
            </a:r>
          </a:p>
          <a:p>
            <a:pPr algn="ctr">
              <a:defRPr sz="1125" b="0">
                <a:solidFill>
                  <a:srgbClr val="304452"/>
                </a:solidFill>
              </a:defRPr>
            </a:pPr>
            <a:r>
              <a:rPr lang="de-CH" sz="1400" dirty="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p:nvPr/>
        </p:nvSpPr>
        <p:spPr>
          <a:xfrm>
            <a:off x="5450545" y="1624186"/>
            <a:ext cx="2700000" cy="1440000"/>
          </a:xfrm>
          <a:prstGeom prst="roundRect">
            <a:avLst>
              <a:gd name="adj" fmla="val 9524"/>
            </a:avLst>
          </a:prstGeom>
          <a:solidFill>
            <a:srgbClr val="FBF3DF"/>
          </a:solidFill>
          <a:ln w="12383">
            <a:solidFill>
              <a:srgbClr val="D4B873"/>
            </a:solidFill>
            <a:prstDash val="solid"/>
          </a:ln>
        </p:spPr>
        <p:txBody>
          <a:bodyPr/>
          <a:lstStyle/>
          <a:p>
            <a:r>
              <a:rPr lang="de-CH" sz="1400" b="1" dirty="0">
                <a:solidFill>
                  <a:srgbClr val="304452"/>
                </a:solidFill>
              </a:rPr>
              <a:t>RETRIEVAL-GRAPH</a:t>
            </a: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endParaRPr lang="de-CH" sz="1400" b="1" dirty="0">
              <a:solidFill>
                <a:srgbClr val="304452"/>
              </a:solidFill>
            </a:endParaRPr>
          </a:p>
          <a:p>
            <a:r>
              <a:rPr lang="de-CH" sz="1400" dirty="0">
                <a:solidFill>
                  <a:srgbClr val="746B5F"/>
                </a:solidFill>
              </a:rPr>
              <a:t>JSON · versioniert</a:t>
            </a:r>
            <a:endParaRPr lang="de-CH" sz="1400" b="1" dirty="0">
              <a:solidFill>
                <a:srgbClr val="304452"/>
              </a:solidFill>
            </a:endParaRPr>
          </a:p>
          <a:p>
            <a:endParaRPr lang="de-DE" sz="1400" dirty="0"/>
          </a:p>
        </p:txBody>
      </p:sp>
      <p:sp>
        <p:nvSpPr>
          <p:cNvPr id="33" name="query">
            <a:extLst>
              <a:ext uri="{FF2B5EF4-FFF2-40B4-BE49-F238E27FC236}">
                <a16:creationId xmlns:a16="http://schemas.microsoft.com/office/drawing/2014/main" id="{89EEF038-DF75-4FD3-8420-37BD6E68EC96}"/>
              </a:ext>
            </a:extLst>
          </p:cNvPr>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lang="de-CH" sz="2700" b="1" dirty="0">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grpSp>
        <p:nvGrpSpPr>
          <p:cNvPr id="2" name="Gruppieren 1">
            <a:extLst>
              <a:ext uri="{FF2B5EF4-FFF2-40B4-BE49-F238E27FC236}">
                <a16:creationId xmlns:a16="http://schemas.microsoft.com/office/drawing/2014/main" id="{72E379B3-099D-9B7B-DCB0-D4063D4FAAD2}"/>
              </a:ext>
            </a:extLst>
          </p:cNvPr>
          <p:cNvGrpSpPr/>
          <p:nvPr/>
        </p:nvGrpSpPr>
        <p:grpSpPr>
          <a:xfrm>
            <a:off x="6628695" y="1708805"/>
            <a:ext cx="1485000" cy="1305000"/>
            <a:chOff x="7380000" y="2520000"/>
            <a:chExt cx="1485000" cy="1305000"/>
          </a:xfrm>
        </p:grpSpPr>
        <p:sp>
          <p:nvSpPr>
            <p:cNvPr id="128" name="edge-a">
              <a:extLst>
                <a:ext uri="{FF2B5EF4-FFF2-40B4-BE49-F238E27FC236}">
                  <a16:creationId xmlns:a16="http://schemas.microsoft.com/office/drawing/2014/main" id="{B41D3A01-C151-E634-F0C1-BCD5F55A484D}"/>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129" name="edge-b">
              <a:extLst>
                <a:ext uri="{FF2B5EF4-FFF2-40B4-BE49-F238E27FC236}">
                  <a16:creationId xmlns:a16="http://schemas.microsoft.com/office/drawing/2014/main" id="{762CB202-B4CA-9A1F-9F2F-27B9832D52C1}"/>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130" name="edge-c">
              <a:extLst>
                <a:ext uri="{FF2B5EF4-FFF2-40B4-BE49-F238E27FC236}">
                  <a16:creationId xmlns:a16="http://schemas.microsoft.com/office/drawing/2014/main" id="{9B302D92-15BE-E306-2286-6E957EDC9401}"/>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131" name="node-main">
              <a:extLst>
                <a:ext uri="{FF2B5EF4-FFF2-40B4-BE49-F238E27FC236}">
                  <a16:creationId xmlns:a16="http://schemas.microsoft.com/office/drawing/2014/main" id="{000D9B39-3D89-B7AD-01A5-BC4F06430B07}"/>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132" name="node-neighbor-1">
              <a:extLst>
                <a:ext uri="{FF2B5EF4-FFF2-40B4-BE49-F238E27FC236}">
                  <a16:creationId xmlns:a16="http://schemas.microsoft.com/office/drawing/2014/main" id="{E644E788-3E58-72C2-36D3-EDE36F5D71AA}"/>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134" name="node-neighbor-2">
              <a:extLst>
                <a:ext uri="{FF2B5EF4-FFF2-40B4-BE49-F238E27FC236}">
                  <a16:creationId xmlns:a16="http://schemas.microsoft.com/office/drawing/2014/main" id="{E7FC3BA0-6B77-6D06-6B12-1D0D63C35738}"/>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21</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p:nvPr/>
        </p:nvSpPr>
        <p:spPr>
          <a:xfrm>
            <a:off x="54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dirty="0">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5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2" name="Gruppieren 1">
            <a:extLst>
              <a:ext uri="{FF2B5EF4-FFF2-40B4-BE49-F238E27FC236}">
                <a16:creationId xmlns:a16="http://schemas.microsoft.com/office/drawing/2014/main" id="{58F4AE17-A10A-607C-53CB-C11338F32BC9}"/>
              </a:ext>
            </a:extLst>
          </p:cNvPr>
          <p:cNvGrpSpPr/>
          <p:nvPr/>
        </p:nvGrpSpPr>
        <p:grpSpPr>
          <a:xfrm>
            <a:off x="540000" y="2700000"/>
            <a:ext cx="1440000" cy="900000"/>
            <a:chOff x="899999" y="2700000"/>
            <a:chExt cx="1260000" cy="948600"/>
          </a:xfrm>
        </p:grpSpPr>
        <p:sp>
          <p:nvSpPr>
            <p:cNvPr id="9" name="ARTICLE RECALL@K-vector-label">
              <a:extLst>
                <a:ext uri="{FF2B5EF4-FFF2-40B4-BE49-F238E27FC236}">
                  <a16:creationId xmlns:a16="http://schemas.microsoft.com/office/drawing/2014/main" id="{6807D616-2734-411A-9F80-248B050D6544}"/>
                </a:ext>
              </a:extLst>
            </p:cNvPr>
            <p:cNvSpPr/>
            <p:nvPr/>
          </p:nvSpPr>
          <p:spPr>
            <a:xfrm>
              <a:off x="89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899999"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grpSp>
      <p:grpSp>
        <p:nvGrpSpPr>
          <p:cNvPr id="3" name="Gruppieren 2">
            <a:extLst>
              <a:ext uri="{FF2B5EF4-FFF2-40B4-BE49-F238E27FC236}">
                <a16:creationId xmlns:a16="http://schemas.microsoft.com/office/drawing/2014/main" id="{CE1C2434-3A1F-4655-57E9-7BD0D75BBA0E}"/>
              </a:ext>
            </a:extLst>
          </p:cNvPr>
          <p:cNvGrpSpPr/>
          <p:nvPr/>
        </p:nvGrpSpPr>
        <p:grpSpPr>
          <a:xfrm>
            <a:off x="1980000" y="2700000"/>
            <a:ext cx="1440000" cy="900000"/>
            <a:chOff x="2339999" y="2700000"/>
            <a:chExt cx="1260001" cy="948600"/>
          </a:xfrm>
        </p:grpSpPr>
        <p:sp>
          <p:nvSpPr>
            <p:cNvPr id="11" name="ARTICLE RECALL@K-graph-label">
              <a:extLst>
                <a:ext uri="{FF2B5EF4-FFF2-40B4-BE49-F238E27FC236}">
                  <a16:creationId xmlns:a16="http://schemas.microsoft.com/office/drawing/2014/main" id="{547E2263-E275-431C-90EE-995868326356}"/>
                </a:ext>
              </a:extLst>
            </p:cNvPr>
            <p:cNvSpPr/>
            <p:nvPr/>
          </p:nvSpPr>
          <p:spPr>
            <a:xfrm>
              <a:off x="23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88 %</a:t>
              </a:r>
            </a:p>
          </p:txBody>
        </p:sp>
      </p:grpSp>
      <p:sp>
        <p:nvSpPr>
          <p:cNvPr id="13" name="ARTICLE RECALL@K-divider">
            <a:extLst>
              <a:ext uri="{FF2B5EF4-FFF2-40B4-BE49-F238E27FC236}">
                <a16:creationId xmlns:a16="http://schemas.microsoft.com/office/drawing/2014/main" id="{60C88283-300A-41E7-BA4D-36B297E1C6AD}"/>
              </a:ext>
            </a:extLst>
          </p:cNvPr>
          <p:cNvSpPr/>
          <p:nvPr/>
        </p:nvSpPr>
        <p:spPr>
          <a:xfrm>
            <a:off x="198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54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a:t>
            </a:r>
            <a:r>
              <a:rPr sz="1050" b="1" dirty="0" err="1">
                <a:solidFill>
                  <a:srgbClr val="304554"/>
                </a:solidFill>
                <a:latin typeface="Arial"/>
                <a:ea typeface="Arial"/>
                <a:cs typeface="Arial"/>
              </a:rPr>
              <a:t>liefert</a:t>
            </a:r>
            <a:r>
              <a:rPr sz="1050" b="1" dirty="0">
                <a:solidFill>
                  <a:srgbClr val="304554"/>
                </a:solidFill>
                <a:latin typeface="Arial"/>
                <a:ea typeface="Arial"/>
                <a:cs typeface="Arial"/>
              </a:rPr>
              <a:t> den </a:t>
            </a:r>
            <a:r>
              <a:rPr sz="1050" b="1" dirty="0" err="1">
                <a:solidFill>
                  <a:srgbClr val="304554"/>
                </a:solidFill>
                <a:latin typeface="Arial"/>
                <a:ea typeface="Arial"/>
                <a:cs typeface="Arial"/>
              </a:rPr>
              <a:t>höchsten</a:t>
            </a:r>
            <a:r>
              <a:rPr sz="1050" b="1" dirty="0">
                <a:solidFill>
                  <a:srgbClr val="304554"/>
                </a:solidFill>
                <a:latin typeface="Arial"/>
                <a:ea typeface="Arial"/>
                <a:cs typeface="Arial"/>
              </a:rPr>
              <a:t> Recall</a:t>
            </a:r>
          </a:p>
        </p:txBody>
      </p:sp>
      <p:sp>
        <p:nvSpPr>
          <p:cNvPr id="15" name="ARTICLE MRR-label">
            <a:extLst>
              <a:ext uri="{FF2B5EF4-FFF2-40B4-BE49-F238E27FC236}">
                <a16:creationId xmlns:a16="http://schemas.microsoft.com/office/drawing/2014/main" id="{428A152A-7185-4B7C-9D9F-F04877D61454}"/>
              </a:ext>
            </a:extLst>
          </p:cNvPr>
          <p:cNvSpPr/>
          <p:nvPr/>
        </p:nvSpPr>
        <p:spPr>
          <a:xfrm>
            <a:off x="414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14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4" name="Gruppieren 33">
            <a:extLst>
              <a:ext uri="{FF2B5EF4-FFF2-40B4-BE49-F238E27FC236}">
                <a16:creationId xmlns:a16="http://schemas.microsoft.com/office/drawing/2014/main" id="{EA017B8D-C6B9-EB55-C0E4-B1502E161B61}"/>
              </a:ext>
            </a:extLst>
          </p:cNvPr>
          <p:cNvGrpSpPr/>
          <p:nvPr/>
        </p:nvGrpSpPr>
        <p:grpSpPr>
          <a:xfrm>
            <a:off x="4140000" y="2700000"/>
            <a:ext cx="1440000" cy="900000"/>
            <a:chOff x="4319999" y="2700000"/>
            <a:chExt cx="1260001" cy="948600"/>
          </a:xfrm>
        </p:grpSpPr>
        <p:sp>
          <p:nvSpPr>
            <p:cNvPr id="17" name="ARTICLE MRR-vector-label">
              <a:extLst>
                <a:ext uri="{FF2B5EF4-FFF2-40B4-BE49-F238E27FC236}">
                  <a16:creationId xmlns:a16="http://schemas.microsoft.com/office/drawing/2014/main" id="{231458E9-0363-4E1A-909E-88E4A78AF7E5}"/>
                </a:ext>
              </a:extLst>
            </p:cNvPr>
            <p:cNvSpPr/>
            <p:nvPr/>
          </p:nvSpPr>
          <p:spPr>
            <a:xfrm>
              <a:off x="431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0.25</a:t>
              </a:r>
            </a:p>
          </p:txBody>
        </p:sp>
      </p:grpSp>
      <p:grpSp>
        <p:nvGrpSpPr>
          <p:cNvPr id="33" name="Gruppieren 32">
            <a:extLst>
              <a:ext uri="{FF2B5EF4-FFF2-40B4-BE49-F238E27FC236}">
                <a16:creationId xmlns:a16="http://schemas.microsoft.com/office/drawing/2014/main" id="{478926ED-6920-8D6B-6060-A543468EE399}"/>
              </a:ext>
            </a:extLst>
          </p:cNvPr>
          <p:cNvGrpSpPr/>
          <p:nvPr/>
        </p:nvGrpSpPr>
        <p:grpSpPr>
          <a:xfrm>
            <a:off x="5580000" y="2700000"/>
            <a:ext cx="1440000" cy="900000"/>
            <a:chOff x="5759999" y="2700000"/>
            <a:chExt cx="1260001" cy="948600"/>
          </a:xfrm>
        </p:grpSpPr>
        <p:sp>
          <p:nvSpPr>
            <p:cNvPr id="19" name="ARTICLE MRR-graph-label">
              <a:extLst>
                <a:ext uri="{FF2B5EF4-FFF2-40B4-BE49-F238E27FC236}">
                  <a16:creationId xmlns:a16="http://schemas.microsoft.com/office/drawing/2014/main" id="{34D2D5AD-316C-4BC7-AB0E-006E3CD5A7A1}"/>
                </a:ext>
              </a:extLst>
            </p:cNvPr>
            <p:cNvSpPr/>
            <p:nvPr/>
          </p:nvSpPr>
          <p:spPr>
            <a:xfrm>
              <a:off x="57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0.52</a:t>
              </a:r>
            </a:p>
          </p:txBody>
        </p:sp>
      </p:grpSp>
      <p:sp>
        <p:nvSpPr>
          <p:cNvPr id="21" name="ARTICLE MRR-divider">
            <a:extLst>
              <a:ext uri="{FF2B5EF4-FFF2-40B4-BE49-F238E27FC236}">
                <a16:creationId xmlns:a16="http://schemas.microsoft.com/office/drawing/2014/main" id="{AF3DB5C0-E728-477B-889B-6F68B673147F}"/>
              </a:ext>
            </a:extLst>
          </p:cNvPr>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13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err="1">
                <a:solidFill>
                  <a:srgbClr val="304554"/>
                </a:solidFill>
                <a:latin typeface="Arial"/>
                <a:ea typeface="Arial"/>
                <a:cs typeface="Arial"/>
              </a:rPr>
              <a:t>Reranker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ordnet</a:t>
            </a:r>
            <a:r>
              <a:rPr sz="1050" b="1" dirty="0">
                <a:solidFill>
                  <a:srgbClr val="304554"/>
                </a:solidFill>
                <a:latin typeface="Arial"/>
                <a:ea typeface="Arial"/>
                <a:cs typeface="Arial"/>
              </a:rPr>
              <a:t> Treffer am </a:t>
            </a:r>
            <a:r>
              <a:rPr sz="1050" b="1" dirty="0" err="1">
                <a:solidFill>
                  <a:srgbClr val="304554"/>
                </a:solidFill>
                <a:latin typeface="Arial"/>
                <a:ea typeface="Arial"/>
                <a:cs typeface="Arial"/>
              </a:rPr>
              <a:t>besten</a:t>
            </a:r>
            <a:endParaRPr sz="1050" b="1" dirty="0">
              <a:solidFill>
                <a:srgbClr val="304554"/>
              </a:solidFill>
              <a:latin typeface="Arial"/>
              <a:ea typeface="Arial"/>
              <a:cs typeface="Arial"/>
            </a:endParaRPr>
          </a:p>
        </p:txBody>
      </p:sp>
      <p:grpSp>
        <p:nvGrpSpPr>
          <p:cNvPr id="38" name="Gruppieren 37">
            <a:extLst>
              <a:ext uri="{FF2B5EF4-FFF2-40B4-BE49-F238E27FC236}">
                <a16:creationId xmlns:a16="http://schemas.microsoft.com/office/drawing/2014/main" id="{FD890A52-9E28-BD03-9461-B689DD2F4364}"/>
              </a:ext>
            </a:extLst>
          </p:cNvPr>
          <p:cNvGrpSpPr/>
          <p:nvPr/>
        </p:nvGrpSpPr>
        <p:grpSpPr>
          <a:xfrm>
            <a:off x="7740000" y="1980000"/>
            <a:ext cx="2880000" cy="2520000"/>
            <a:chOff x="7560000" y="1980000"/>
            <a:chExt cx="2880000" cy="2520000"/>
          </a:xfrm>
        </p:grpSpPr>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dirty="0">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5" name="Gruppieren 34">
              <a:extLst>
                <a:ext uri="{FF2B5EF4-FFF2-40B4-BE49-F238E27FC236}">
                  <a16:creationId xmlns:a16="http://schemas.microsoft.com/office/drawing/2014/main" id="{39E951EB-21A8-3BCA-9924-A7A0B8E85324}"/>
                </a:ext>
              </a:extLst>
            </p:cNvPr>
            <p:cNvGrpSpPr/>
            <p:nvPr/>
          </p:nvGrpSpPr>
          <p:grpSpPr>
            <a:xfrm>
              <a:off x="7560000" y="2700000"/>
              <a:ext cx="1440000" cy="900000"/>
              <a:chOff x="7739999" y="2700000"/>
              <a:chExt cx="1260001" cy="948600"/>
            </a:xfrm>
          </p:grpSpPr>
          <p:sp>
            <p:nvSpPr>
              <p:cNvPr id="25" name="Ø KONTEXT-TOKENS-vector-label">
                <a:extLst>
                  <a:ext uri="{FF2B5EF4-FFF2-40B4-BE49-F238E27FC236}">
                    <a16:creationId xmlns:a16="http://schemas.microsoft.com/office/drawing/2014/main" id="{D47DBC2B-B2FA-49FF-B10A-1CA89217518E}"/>
                  </a:ext>
                </a:extLst>
              </p:cNvPr>
              <p:cNvSpPr/>
              <p:nvPr/>
            </p:nvSpPr>
            <p:spPr>
              <a:xfrm>
                <a:off x="77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grpSp>
        <p:grpSp>
          <p:nvGrpSpPr>
            <p:cNvPr id="37" name="Gruppieren 36">
              <a:extLst>
                <a:ext uri="{FF2B5EF4-FFF2-40B4-BE49-F238E27FC236}">
                  <a16:creationId xmlns:a16="http://schemas.microsoft.com/office/drawing/2014/main" id="{098DE64C-2F4B-878B-49E4-63A2EF9465C7}"/>
                </a:ext>
              </a:extLst>
            </p:cNvPr>
            <p:cNvGrpSpPr/>
            <p:nvPr/>
          </p:nvGrpSpPr>
          <p:grpSpPr>
            <a:xfrm>
              <a:off x="9000000" y="2700000"/>
              <a:ext cx="1440000" cy="900000"/>
              <a:chOff x="9359999" y="2700000"/>
              <a:chExt cx="1260001" cy="948600"/>
            </a:xfrm>
          </p:grpSpPr>
          <p:sp>
            <p:nvSpPr>
              <p:cNvPr id="27" name="Ø KONTEXT-TOKENS-graph-label">
                <a:extLst>
                  <a:ext uri="{FF2B5EF4-FFF2-40B4-BE49-F238E27FC236}">
                    <a16:creationId xmlns:a16="http://schemas.microsoft.com/office/drawing/2014/main" id="{5ADB093D-5CA8-470A-B582-671D3E476C43}"/>
                  </a:ext>
                </a:extLst>
              </p:cNvPr>
              <p:cNvSpPr/>
              <p:nvPr/>
            </p:nvSpPr>
            <p:spPr>
              <a:xfrm>
                <a:off x="93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802</a:t>
                </a:r>
              </a:p>
            </p:txBody>
          </p:sp>
        </p:grpSp>
        <p:sp>
          <p:nvSpPr>
            <p:cNvPr id="29" name="Ø KONTEXT-TOKENS-divider">
              <a:extLst>
                <a:ext uri="{FF2B5EF4-FFF2-40B4-BE49-F238E27FC236}">
                  <a16:creationId xmlns:a16="http://schemas.microsoft.com/office/drawing/2014/main" id="{145BFBDE-E6FD-49B8-BBC5-524B55F1BA5C}"/>
                </a:ext>
              </a:extLst>
            </p:cNvPr>
            <p:cNvSpPr/>
            <p:nvPr/>
          </p:nvSpPr>
          <p:spPr>
            <a:xfrm>
              <a:off x="900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56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10 % </a:t>
              </a:r>
              <a:r>
                <a:rPr sz="1050" b="1" dirty="0" err="1">
                  <a:solidFill>
                    <a:srgbClr val="304554"/>
                  </a:solidFill>
                  <a:latin typeface="Arial"/>
                  <a:ea typeface="Arial"/>
                  <a:cs typeface="Arial"/>
                </a:rPr>
                <a:t>weniger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als</a:t>
              </a:r>
              <a:r>
                <a:rPr sz="1050" b="1" dirty="0">
                  <a:solidFill>
                    <a:srgbClr val="304554"/>
                  </a:solidFill>
                  <a:latin typeface="Arial"/>
                  <a:ea typeface="Arial"/>
                  <a:cs typeface="Arial"/>
                </a:rPr>
                <a:t> Semantic</a:t>
              </a:r>
            </a:p>
          </p:txBody>
        </p:sp>
      </p:grpSp>
      <p:sp>
        <p:nvSpPr>
          <p:cNvPr id="31" name="retrieval-warning">
            <a:extLst>
              <a:ext uri="{FF2B5EF4-FFF2-40B4-BE49-F238E27FC236}">
                <a16:creationId xmlns:a16="http://schemas.microsoft.com/office/drawing/2014/main" id="{2F201B38-0977-4C2C-9102-295F9B84C078}"/>
              </a:ext>
            </a:extLst>
          </p:cNvPr>
          <p:cNvSpPr/>
          <p:nvPr/>
        </p:nvSpPr>
        <p:spPr>
          <a:xfrm>
            <a:off x="1619997" y="5133300"/>
            <a:ext cx="7920000" cy="720000"/>
          </a:xfrm>
          <a:prstGeom prst="roundRect">
            <a:avLst>
              <a:gd name="adj" fmla="val 22857"/>
            </a:avLst>
          </a:prstGeom>
          <a:solidFill>
            <a:srgbClr val="2D3F4B"/>
          </a:solidFill>
          <a:ln w="0">
            <a:solidFill>
              <a:srgbClr val="2D3F4B"/>
            </a:solidFill>
            <a:prstDash val="solid"/>
          </a:ln>
        </p:spPr>
        <p:txBody>
          <a:bodyPr/>
          <a:lstStyle/>
          <a:p>
            <a:pPr algn="ctr"/>
            <a:r>
              <a:rPr lang="de-DE" sz="1600" b="1" dirty="0">
                <a:solidFill>
                  <a:srgbClr val="FFFFFF"/>
                </a:solidFil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dirty="0">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dirty="0">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a:t>
            </a:r>
          </a:p>
        </p:txBody>
      </p:sp>
    </p:spTree>
    <p:extLst>
      <p:ext uri="{BB962C8B-B14F-4D97-AF65-F5344CB8AC3E}">
        <p14:creationId xmlns:p14="http://schemas.microsoft.com/office/powerpoint/2010/main" val="11416475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4165</Words>
  <Application>Microsoft Office PowerPoint</Application>
  <PresentationFormat>Breitbild</PresentationFormat>
  <Paragraphs>677</Paragraphs>
  <Slides>27</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27</vt:i4>
      </vt:variant>
    </vt:vector>
  </HeadingPairs>
  <TitlesOfParts>
    <vt:vector size="31"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59</cp:revision>
  <dcterms:created xsi:type="dcterms:W3CDTF">2026-08-04T12:09:36Z</dcterms:created>
  <dcterms:modified xsi:type="dcterms:W3CDTF">2026-08-10T18:53:13Z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