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79298" autoAdjust="0"/>
  </p:normalViewPr>
  <p:slideViewPr>
    <p:cSldViewPr snapToGrid="0">
      <p:cViewPr varScale="1">
        <p:scale>
          <a:sx n="98" d="100"/>
          <a:sy n="98" d="100"/>
        </p:scale>
        <p:origin x="1014"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p>
            <a:r>
              <a:t>Publikumsfrage: Welche dieser Operationen ist bei einer Frage wie „Was steht in Art. 1 OR?“ am wichtigsten?</a:t>
            </a:r>
          </a:p>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p>
            <a:r>
              <a:t>Wichtig: Ein Skill ist nicht einfach eine Wissensdatenbank. Er beschreibt vor allem, wie eine Aufgabe ausgeführt werden soll; RAG liefert dagegen die konkreten Dokumentinhalte.</a:t>
            </a:r>
          </a:p>
          <a:p/>
          <a:p>
            <a:r>
              <a:t>Übergang: Auf der nächsten Folie trennen wir noch genauer zwischen Anweisung und bereitgestelltem Kontext.</a:t>
            </a:r>
          </a:p>
          <a:p/>
          <a:p>
            <a:r>
              <a:t>Kernbotschaft: Der Systemprompt greift nicht selbst auf Dokumente zu – er legt Regeln fest, nach denen das Modell den bereitgestellten Kontext verwendet.</a:t>
            </a:r>
          </a:p>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p>
            <a:r>
              <a:t>Publikumsfrage: Was passiert, wenn der Systemprompt korrekt ist, aber Retrieval den falschen Artikel liefert?</a:t>
            </a:r>
          </a:p>
          <a:p/>
          <a:p>
            <a:r>
              <a:t>Erwartete Antwort: Das Modell kann die korrekte Information nicht zuverlässig nutzen; Prompting ersetzt kein gutes Retrieval.</a:t>
            </a:r>
          </a:p>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p>
            <a:r>
              <a:t>Hinweis für die Demo: Die Collections und Embeddings müssen vor dem jeweiligen Chat- oder Evaluationslauf aufgebaut sein. VPN, API-Key und die konfigurierte .env sind erforderlich.</a:t>
            </a:r>
          </a:p>
          <a:p/>
          <a:p>
            <a:r>
              <a:t>Übergang: Nun wechseln wir vom Konzept in den praktischen Teil.</a:t>
            </a:r>
          </a:p>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p>
            <a:r>
              <a:t>Präzisierung: Unser Budget beträgt 800 Zeichen, nicht 800 Tokens. Das Verfahren ist deshalb besser als „strukturorientiertes Chunking“ beschrieben; es ist kein LLM-basiertes semantisches Chunking.</a:t>
            </a:r>
          </a:p>
          <a:p/>
          <a:p>
            <a:r>
              <a:t>Zusätzlich entfernen wir typisches PDF-Rauschen wie Seitenmarker, Inhaltsverzeichnisse und isolierte Fundstellenblöcke. Quellen, die zum Gesetzesinhalt gehören, werden nicht pauschal gelöscht.</a:t>
            </a:r>
          </a:p>
          <a:p/>
          <a:p>
            <a:r>
              <a:t>Publikumsfrage: Welche Seite würdet ihr für die Suche nach Art. 335b OR bevorzugen – und warum?</a:t>
            </a:r>
          </a:p>
          <a:p/>
          <a:p>
            <a:r>
              <a:t>Übergang: Gute Chunks erzeugen bessere Kandidaten. Als Nächstes verbessern wir deren Reihenfolge.</a:t>
            </a:r>
          </a:p>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p>
            <a:r>
              <a:t>Der wichtigste Unterschied: Ein Bi-Encoder berechnet Dokument- und Query-Vektoren getrennt und ist schnell. Ein Cross-Encoder betrachtet beide Texte gemeinsam und ist präziser, aber langsamer. Deshalb wird er erst auf einer kleinen Kandidatenliste eingesetzt.</a:t>
            </a:r>
          </a:p>
          <a:p/>
          <a:p>
            <a:r>
              <a:t>Publikumsfrage: Was passiert, wenn Art. 1 OR in den ersten Kandidaten überhaupt nicht enthalten ist?</a:t>
            </a:r>
          </a:p>
          <a:p/>
          <a:p>
            <a:r>
              <a:t>Erwartete Antwort: Der Reranker kann ihn nicht auswählen; dafür brauchen wir besseren Recall im vorgelagerten Retrieval.</a:t>
            </a:r>
          </a:p>
          <a:p/>
          <a:p>
            <a:r>
              <a:t>Übergang: Genau dort setzt die hybride und graphbasierte Suche an.</a:t>
            </a:r>
          </a:p>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p>
            <a:r>
              <a:t>Der Graph ersetzt die Suche nicht. Er erweitert gute Seed-Treffer um strukturell verwandten Kontext. Das hilft besonders bei Fragen, die mehrere Artikel oder Erlasse verbinden.</a:t>
            </a:r>
          </a:p>
          <a:p/>
          <a:p>
            <a:r>
              <a:t>Publikumsfrage: Warum ist eine lexikalische Suche bei „Art. 1 OR“ oft zuverlässiger als reine semantische Ähnlichkeit?</a:t>
            </a:r>
          </a:p>
          <a:p/>
          <a:p>
            <a:r>
              <a:t>Übergang: Jetzt prüfen wir, ob diese zusätzliche Logik tatsächlich Recall, Rangfolge und Kontextbedarf verbessert.</a:t>
            </a:r>
          </a:p>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p>
            <a:r>
              <a:t>Die Werte: Fixed erreicht 54 Prozent Recall, 0,43 MRR und 1.289 Tokens. Semantic erreicht 33 Prozent, 0,25 und 892 Tokens. Reranking erreicht 71 Prozent, 0,68 und 923 Tokens. GraphRAG erreicht 88 Prozent Recall, 0,52 MRR und 802 Tokens.</a:t>
            </a:r>
          </a:p>
          <a:p/>
          <a:p>
            <a:r>
              <a:t>Lesart: GraphRAG maximiert hier die Vollständigkeit bei kleinem Kontext. Reranking positioniert den ersten relevanten Treffer am besten. Diese sechs Fragen sind eine Workshop-Messung, keine allgemeine Benchmark.</a:t>
            </a:r>
          </a:p>
          <a:p/>
          <a:p>
            <a:r>
              <a:t>Übergang: Ein guter Retrieval-Treffer ist notwendig – aber beantwortet noch nicht, ob das LLM daraus eine vollständige und korrekt belegte Antwort erzeugt.</a:t>
            </a:r>
          </a:p>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p>
            <a:r>
              <a:t>Übergang: Diese Ergebnisse bilden die Grundlage für die Gruppenarbeit: Wo würden wir als Nächstes investieren?</a:t>
            </a:r>
          </a:p>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p>
            <a:r>
              <a:t>Hinweis: Achtet darauf, Retrieval und Generierung nicht zu vermischen. Eine Maßnahme kann Recall verbessern, ohne die Antwortqualität automatisch im gleichen Maß zu erhöhen.</a:t>
            </a:r>
          </a:p>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p>
            <a:r>
              <a:t>Leitfrage: Welche Anforderungen dominieren im echten Projekt – schnelle Entwicklung, maximale Transparenz, komplexe Orchestrierung oder geringer Betrieb?</a:t>
            </a:r>
          </a:p>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p>
            <a:r>
              <a:t>Abschlussfrage: Welchen dieser Hebel würdet ihr in eurem eigenen Projekt als Erstes messen?</a:t>
            </a:r>
          </a:p>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Heute bauen wir nicht nur einen Chatbot, sondern verstehen die Mechanik eines belastbaren RAG-Systems.</a:t>
            </a:r>
          </a:p>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p>
            <a:r>
              <a:t>Wichtig: Die Demo erklärt technische Konzepte und ist keine Rechtsberatung.</a:t>
            </a:r>
          </a:p>
          <a:p/>
          <a:p>
            <a:r>
              <a:t>Übergang: Schauen wir zuerst auf den Ablauf und das Ziel der kommenden 90 Minuten.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Wir entwickeln die Lösung schrittweise und messen nach jeder Verbesserung erneut.</a:t>
            </a:r>
          </a:p>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p>
            <a:r>
              <a:t>Publikumsfrage: Wer hat bereits selbst ein RAG-System gebaut oder eine Vektordatenbank verwendet?</a:t>
            </a:r>
          </a:p>
          <a:p/>
          <a:p>
            <a:r>
              <a:t>Übergang: Bevor wir RAG definieren, schauen wir auf die Grenzen eines reinen LLMs.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RAG ist eine Methode, dem Modell zur Laufzeit gezielt externes Wissen bereitzustellen.</a:t>
            </a:r>
          </a:p>
          <a:p/>
          <a:p>
            <a:r>
              <a:t>Sprechtext: In diesem Abschnitt geht es zunächst um das Warum. Wir trennen dabei zwei Dinge: Das Sprachmodell formuliert die Antwort; das Retrieval entscheidet, welche Informationen es dafür überhaupt sieht.</a:t>
            </a:r>
          </a:p>
          <a:p/>
          <a:p>
            <a:r>
              <a:t>Publikumsfrage: Was fehlt einem reinen LLM, wenn wir eine aktuelle oder intern belegbare Antwort erwarten?</a:t>
            </a:r>
          </a:p>
          <a:p/>
          <a:p>
            <a:r>
              <a:t>Übergang: Drei typische blinde Flecken machen dieses Problem sichtbar.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Ein reines LLM kennt nicht automatisch unsere aktuellen Daten, liefert keine verlässlichen Belege und kann nicht beliebig viel Kontext effizient verarbeiten.</a:t>
            </a:r>
          </a:p>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p>
            <a:r>
              <a:t>RAG macht das Modell nicht intelligenter. RAG steuert, welche Evidenz das Modell für eine konkrete Frage erhält.</a:t>
            </a:r>
          </a:p>
          <a:p/>
          <a:p>
            <a:r>
              <a:t>Übergang: Diese Steuerung kann man als drei grundlegende Kontextoperationen verstehen.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Ein Vector RAG besteht aus einer vorbereitenden Ingest-Pipeline und einer Laufzeit-Pipeline für Fragen.</a:t>
            </a:r>
          </a:p>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p>
            <a:r>
              <a:t>Wichtig: Embedding-LLM und Chat-LLM haben unterschiedliche Aufgaben. Das Embedding-Modell erzeugt vergleichbare Vektoren; das Chat-Modell formuliert die Antwort.</a:t>
            </a:r>
          </a:p>
          <a:p/>
          <a:p>
            <a:r>
              <a:t>Übergang: Auf der nächsten Folie lesen wir denselben Ablauf als klar getrennten Offline- und Online-Prozess.</a:t>
            </a:r>
          </a:p>
          <a:p/>
          <a:p>
            <a:r>
              <a:t>Kernbotschaft: Die aufwendige Dokumentverarbeitung geschieht offline; bei jeder Frage werden nur Query-Embedding, Suche und Generierung ausgeführt.</a:t>
            </a:r>
          </a:p>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p>
            <a:r>
              <a:t>Publikumsfrage: An welchen Stellen kann trotz dieser Pipeline noch ein Fehler entstehen?</a:t>
            </a:r>
          </a:p>
          <a:p/>
          <a:p>
            <a:r>
              <a:t>Mögliche Antworten: schlechte PDF-Extraktion, ungünstige Chunk-Grenzen, unpassende Embeddings, falsche Rangfolge oder eine fehlerhafte Nutzung des richtigen Kontexts durch das Chat-LLM.</a:t>
            </a:r>
          </a:p>
          <a:p/>
          <a:p>
            <a:r>
              <a:t>Übergang: Diese Fehlerquellen bearbeiten wir im Repository in aufeinander aufbauenden Stufen.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Im Hands-on bauen und testen wir die Pipeline selbst.</a:t>
            </a:r>
          </a:p>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p>
            <a:r>
              <a:t>Publikumsfrage: Gibt es noch technische Blocker, bevor wir starten?</a:t>
            </a:r>
          </a:p>
          <a:p/>
          <a:p>
            <a:r>
              <a:t>Übergang: Wir beginnen mit der einfachsten lauffähigen Variante und erhöhen die Qualität schrittweise.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Advanced RAG beginnt dort, wo wir Retrieval nicht mehr als einzelne Vektorsuche betrachten.</a:t>
            </a:r>
          </a:p>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p>
            <a:r>
              <a:t>Übergang: Der erste und oft unterschätzte Hebel ist das Chunking.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Die Teilnehmenden sollen die Pipeline jetzt nicht nur ausführen, sondern ihre Qualitätsentscheidungen begründen können.</a:t>
            </a:r>
          </a:p>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p>
            <a:r>
              <a:t>Mögliche Abschlussfragen an das Publikum: Wo würdet ihr RAG in eurem Umfeld einsetzen? Welche Daten- oder Compliance-Anforderungen wären dort kritisch? Welche Metrik fehlt euch für eine produktive Entscheidung?</a:t>
            </a:r>
          </a:p>
          <a:p/>
          <a:p>
            <a:r>
              <a:t>Hinweis: Bei einer Live-Demo am Ende lieber eine bereits evaluierte Frage verwenden und gemeinsam Kontext, Quellen und Antwort vergleichen.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jpg"/><Relationship Id="rId3" Type="http://schemas.openxmlformats.org/officeDocument/2006/relationships/image" Target="../media/image21.png"/><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dirty="0" err="1">
                <a:solidFill>
                  <a:srgbClr val="2D3F4B"/>
                </a:solidFill>
                <a:latin typeface="Arial"/>
                <a:ea typeface="Arial"/>
                <a:cs typeface="Arial"/>
              </a:rPr>
              <a:t>Vom</a:t>
            </a:r>
            <a:r>
              <a:rPr sz="2850" dirty="0">
                <a:solidFill>
                  <a:srgbClr val="2D3F4B"/>
                </a:solidFill>
                <a:latin typeface="Arial"/>
                <a:ea typeface="Arial"/>
                <a:cs typeface="Arial"/>
              </a:rPr>
              <a:t> </a:t>
            </a:r>
            <a:r>
              <a:rPr sz="2850" dirty="0" err="1">
                <a:solidFill>
                  <a:srgbClr val="2D3F4B"/>
                </a:solidFill>
                <a:latin typeface="Arial"/>
                <a:ea typeface="Arial"/>
                <a:cs typeface="Arial"/>
              </a:rPr>
              <a:t>Modellaufruf</a:t>
            </a:r>
            <a:r>
              <a:rPr sz="2850" dirty="0">
                <a:solidFill>
                  <a:srgbClr val="2D3F4B"/>
                </a:solidFill>
                <a:latin typeface="Arial"/>
                <a:ea typeface="Arial"/>
                <a:cs typeface="Arial"/>
              </a:rPr>
              <a:t> </a:t>
            </a:r>
            <a:r>
              <a:rPr sz="2850" dirty="0" err="1">
                <a:solidFill>
                  <a:srgbClr val="2D3F4B"/>
                </a:solidFill>
                <a:latin typeface="Arial"/>
                <a:ea typeface="Arial"/>
                <a:cs typeface="Arial"/>
              </a:rPr>
              <a:t>zum</a:t>
            </a:r>
            <a:r>
              <a:rPr sz="2850" dirty="0">
                <a:solidFill>
                  <a:srgbClr val="2D3F4B"/>
                </a:solidFill>
                <a:latin typeface="Arial"/>
                <a:ea typeface="Arial"/>
                <a:cs typeface="Arial"/>
              </a:rPr>
              <a:t> </a:t>
            </a:r>
            <a:r>
              <a:rPr sz="2850" dirty="0" err="1">
                <a:solidFill>
                  <a:srgbClr val="2D3F4B"/>
                </a:solidFill>
                <a:latin typeface="Arial"/>
                <a:ea typeface="Arial"/>
                <a:cs typeface="Arial"/>
              </a:rPr>
              <a:t>messbaren</a:t>
            </a:r>
            <a:r>
              <a:rPr sz="2850" dirty="0">
                <a:solidFill>
                  <a:srgbClr val="2D3F4B"/>
                </a:solidFill>
                <a:latin typeface="Arial"/>
                <a:ea typeface="Arial"/>
                <a:cs typeface="Arial"/>
              </a:rPr>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07.08.2026</a:t>
            </a:fld>
            <a:endParaRPr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8</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2850" dirty="0">
                <a:solidFill>
                  <a:srgbClr val="2D3F4B"/>
                </a:solidFill>
                <a:latin typeface="Arial"/>
                <a:ea typeface="Arial"/>
                <a:cs typeface="Arial"/>
              </a:rPr>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2090</Words>
  <Application>Microsoft Office PowerPoint</Application>
  <PresentationFormat>Breitbild</PresentationFormat>
  <Paragraphs>447</Paragraphs>
  <Slides>21</Slides>
  <Notes>12</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24</cp:revision>
  <dcterms:created xsi:type="dcterms:W3CDTF">2026-08-04T12:09:36Z</dcterms:created>
  <dcterms:modified xsi:type="dcterms:W3CDTF">2026-08-07T11:47:32Z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