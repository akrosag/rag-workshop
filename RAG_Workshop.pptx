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1"/>
  </p:notesMasterIdLst>
  <p:handoutMasterIdLst>
    <p:handoutMasterId r:id="rId32"/>
  </p:handoutMasterIdLst>
  <p:sldIdLst>
    <p:sldId id="290" r:id="rId5"/>
    <p:sldId id="279" r:id="rId6"/>
    <p:sldId id="296" r:id="rId7"/>
    <p:sldId id="301" r:id="rId8"/>
    <p:sldId id="263" r:id="rId9"/>
    <p:sldId id="317" r:id="rId10"/>
    <p:sldId id="319" r:id="rId11"/>
    <p:sldId id="266" r:id="rId12"/>
    <p:sldId id="307" r:id="rId13"/>
    <p:sldId id="323" r:id="rId14"/>
    <p:sldId id="322" r:id="rId15"/>
    <p:sldId id="324" r:id="rId16"/>
    <p:sldId id="325" r:id="rId17"/>
    <p:sldId id="308" r:id="rId18"/>
    <p:sldId id="326" r:id="rId19"/>
    <p:sldId id="256" r:id="rId20"/>
    <p:sldId id="313" r:id="rId21"/>
    <p:sldId id="327" r:id="rId22"/>
    <p:sldId id="320" r:id="rId23"/>
    <p:sldId id="321" r:id="rId24"/>
    <p:sldId id="271" r:id="rId25"/>
    <p:sldId id="272" r:id="rId26"/>
    <p:sldId id="274" r:id="rId27"/>
    <p:sldId id="275" r:id="rId28"/>
    <p:sldId id="276" r:id="rId29"/>
    <p:sldId id="295" r:id="rId30"/>
  </p:sldIdLst>
  <p:sldSz cx="12192000" cy="685800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3"/>
            <p14:sldId id="322"/>
            <p14:sldId id="324"/>
            <p14:sldId id="325"/>
            <p14:sldId id="308"/>
            <p14:sldId id="326"/>
            <p14:sldId id="256"/>
            <p14:sldId id="313"/>
            <p14:sldId id="327"/>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CFC"/>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varScale="1">
        <p:scale>
          <a:sx n="104" d="100"/>
          <a:sy n="104" d="100"/>
        </p:scale>
        <p:origin x="69" y="207"/>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10.08.2026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10.08.2026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10.08.2026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10.08.2026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10.08.2026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10.08.2026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tags" Target="../tags/tag2.xml"/><Relationship Id="rId13" Type="http://schemas.openxmlformats.org/officeDocument/2006/relationships/oleObject" Target="../embeddings/oleObject1.bin"/><Relationship Id="rId14" Type="http://schemas.openxmlformats.org/officeDocument/2006/relationships/image" Target="../media/image1.emf"/><Relationship Id="rId1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2"/>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3" imgW="306" imgH="306" progId="TCLayout.ActiveDocument.1">
                  <p:embed/>
                </p:oleObj>
              </mc:Choice>
              <mc:Fallback>
                <p:oleObj name="think-cell Folie" r:id="rId13" imgW="306" imgH="306" progId="TCLayout.ActiveDocument.1">
                  <p:embed/>
                  <p:pic>
                    <p:nvPicPr>
                      <p:cNvPr id="0" name=""/>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10.08.2026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5"/>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9.svg"/><Relationship Id="rId4" Type="http://schemas.openxmlformats.org/officeDocument/2006/relationships/image" Target="../media/image10.svg"/><Relationship Id="rId5" Type="http://schemas.openxmlformats.org/officeDocument/2006/relationships/image" Target="../media/image11.svg"/><Relationship Id="rId6" Type="http://schemas.openxmlformats.org/officeDocument/2006/relationships/image" Target="../media/image12.svg"/><Relationship Id="rId7" Type="http://schemas.openxmlformats.org/officeDocument/2006/relationships/image" Target="../media/image13.svg"/><Relationship Id="rId8" Type="http://schemas.openxmlformats.org/officeDocument/2006/relationships/image" Target="../media/image14.svg"/><Relationship Id="rId9" Type="http://schemas.openxmlformats.org/officeDocument/2006/relationships/image" Target="../media/image15.svg"/><Relationship Id="rId10" Type="http://schemas.openxmlformats.org/officeDocument/2006/relationships/image" Target="../media/image16.svg"/><Relationship Id="rId11" Type="http://schemas.openxmlformats.org/officeDocument/2006/relationships/image" Target="../media/image17.svg"/><Relationship Id="rId12" Type="http://schemas.openxmlformats.org/officeDocument/2006/relationships/image" Target="../media/image18.svg"/><Relationship Id="rId13" Type="http://schemas.openxmlformats.org/officeDocument/2006/relationships/image" Target="../media/image19.svg"/><Relationship Id="rId14" Type="http://schemas.openxmlformats.org/officeDocument/2006/relationships/image" Target="../media/image20.svg"/><Relationship Id="rId15" Type="http://schemas.openxmlformats.org/officeDocument/2006/relationships/image" Target="../media/image21.svg"/><Relationship Id="rId16" Type="http://schemas.openxmlformats.org/officeDocument/2006/relationships/image" Target="../media/image22.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svg"/><Relationship Id="rId3" Type="http://schemas.openxmlformats.org/officeDocument/2006/relationships/image" Target="../media/image12.svg"/><Relationship Id="rId4" Type="http://schemas.openxmlformats.org/officeDocument/2006/relationships/image" Target="../media/image13.svg"/><Relationship Id="rId5" Type="http://schemas.openxmlformats.org/officeDocument/2006/relationships/image" Target="../media/image14.svg"/><Relationship Id="rId6" Type="http://schemas.openxmlformats.org/officeDocument/2006/relationships/image" Target="../media/image15.svg"/><Relationship Id="rId7" Type="http://schemas.openxmlformats.org/officeDocument/2006/relationships/image" Target="../media/image16.svg"/><Relationship Id="rId8" Type="http://schemas.openxmlformats.org/officeDocument/2006/relationships/image" Target="../media/image17.svg"/><Relationship Id="rId9" Type="http://schemas.openxmlformats.org/officeDocument/2006/relationships/image" Target="../media/image19.svg"/><Relationship Id="rId10" Type="http://schemas.openxmlformats.org/officeDocument/2006/relationships/image" Target="../media/image20.svg"/><Relationship Id="rId11" Type="http://schemas.openxmlformats.org/officeDocument/2006/relationships/image" Target="../media/image21.svg"/><Relationship Id="rId12" Type="http://schemas.openxmlformats.org/officeDocument/2006/relationships/image" Target="../media/image22.svg"/><Relationship Id="rId13" Type="http://schemas.openxmlformats.org/officeDocument/2006/relationships/image" Target="../media/image10.svg"/><Relationship Id="rId14" Type="http://schemas.openxmlformats.org/officeDocument/2006/relationships/image" Target="../media/image11.svg"/><Relationship Id="rId15" Type="http://schemas.openxmlformats.org/officeDocument/2006/relationships/image" Target="../media/image18.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svg"/><Relationship Id="rId3" Type="http://schemas.openxmlformats.org/officeDocument/2006/relationships/image" Target="../media/image17.svg"/><Relationship Id="rId4" Type="http://schemas.openxmlformats.org/officeDocument/2006/relationships/image" Target="../media/image14.svg"/><Relationship Id="rId5" Type="http://schemas.openxmlformats.org/officeDocument/2006/relationships/image" Target="../media/image20.svg"/><Relationship Id="rId6" Type="http://schemas.openxmlformats.org/officeDocument/2006/relationships/image" Target="../media/image21.svg"/><Relationship Id="rId7" Type="http://schemas.openxmlformats.org/officeDocument/2006/relationships/image" Target="../media/image22.svg"/><Relationship Id="rId8" Type="http://schemas.openxmlformats.org/officeDocument/2006/relationships/image" Target="../media/image9.svg"/><Relationship Id="rId9" Type="http://schemas.openxmlformats.org/officeDocument/2006/relationships/image" Target="../media/image10.svg"/><Relationship Id="rId10" Type="http://schemas.openxmlformats.org/officeDocument/2006/relationships/image" Target="../media/image11.svg"/><Relationship Id="rId11" Type="http://schemas.openxmlformats.org/officeDocument/2006/relationships/image" Target="../media/image12.svg"/><Relationship Id="rId12" Type="http://schemas.openxmlformats.org/officeDocument/2006/relationships/image" Target="../media/image13.svg"/><Relationship Id="rId13" Type="http://schemas.openxmlformats.org/officeDocument/2006/relationships/image" Target="../media/image15.svg"/><Relationship Id="rId14" Type="http://schemas.openxmlformats.org/officeDocument/2006/relationships/image" Target="../media/image18.svg"/><Relationship Id="rId15" Type="http://schemas.openxmlformats.org/officeDocument/2006/relationships/image" Target="../media/image19.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svg"/><Relationship Id="rId3" Type="http://schemas.openxmlformats.org/officeDocument/2006/relationships/image" Target="../media/image12.svg"/><Relationship Id="rId4" Type="http://schemas.openxmlformats.org/officeDocument/2006/relationships/image" Target="../media/image13.svg"/><Relationship Id="rId5" Type="http://schemas.openxmlformats.org/officeDocument/2006/relationships/image" Target="../media/image14.svg"/><Relationship Id="rId6" Type="http://schemas.openxmlformats.org/officeDocument/2006/relationships/image" Target="../media/image17.svg"/><Relationship Id="rId7" Type="http://schemas.openxmlformats.org/officeDocument/2006/relationships/image" Target="../media/image19.svg"/><Relationship Id="rId8" Type="http://schemas.openxmlformats.org/officeDocument/2006/relationships/image" Target="../media/image20.svg"/><Relationship Id="rId9" Type="http://schemas.openxmlformats.org/officeDocument/2006/relationships/image" Target="../media/image21.svg"/><Relationship Id="rId10" Type="http://schemas.openxmlformats.org/officeDocument/2006/relationships/image" Target="../media/image10.svg"/><Relationship Id="rId11" Type="http://schemas.openxmlformats.org/officeDocument/2006/relationships/image" Target="../media/image11.svg"/><Relationship Id="rId12" Type="http://schemas.openxmlformats.org/officeDocument/2006/relationships/image" Target="../media/image15.svg"/><Relationship Id="rId13" Type="http://schemas.openxmlformats.org/officeDocument/2006/relationships/image" Target="../media/image16.svg"/><Relationship Id="rId14" Type="http://schemas.openxmlformats.org/officeDocument/2006/relationships/image" Target="../media/image18.svg"/><Relationship Id="rId15" Type="http://schemas.openxmlformats.org/officeDocument/2006/relationships/image" Target="../media/image2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svg"/><Relationship Id="rId3" Type="http://schemas.openxmlformats.org/officeDocument/2006/relationships/image" Target="../media/image21.svg"/><Relationship Id="rId4" Type="http://schemas.openxmlformats.org/officeDocument/2006/relationships/image" Target="../media/image9.svg"/><Relationship Id="rId5" Type="http://schemas.openxmlformats.org/officeDocument/2006/relationships/image" Target="../media/image10.svg"/><Relationship Id="rId6" Type="http://schemas.openxmlformats.org/officeDocument/2006/relationships/image" Target="../media/image11.svg"/><Relationship Id="rId7" Type="http://schemas.openxmlformats.org/officeDocument/2006/relationships/image" Target="../media/image12.svg"/><Relationship Id="rId8" Type="http://schemas.openxmlformats.org/officeDocument/2006/relationships/image" Target="../media/image13.svg"/><Relationship Id="rId9" Type="http://schemas.openxmlformats.org/officeDocument/2006/relationships/image" Target="../media/image14.svg"/><Relationship Id="rId10" Type="http://schemas.openxmlformats.org/officeDocument/2006/relationships/image" Target="../media/image15.svg"/><Relationship Id="rId11" Type="http://schemas.openxmlformats.org/officeDocument/2006/relationships/image" Target="../media/image16.svg"/><Relationship Id="rId12" Type="http://schemas.openxmlformats.org/officeDocument/2006/relationships/image" Target="../media/image17.svg"/><Relationship Id="rId13" Type="http://schemas.openxmlformats.org/officeDocument/2006/relationships/image" Target="../media/image18.svg"/><Relationship Id="rId14" Type="http://schemas.openxmlformats.org/officeDocument/2006/relationships/image" Target="../media/image19.svg"/><Relationship Id="rId15" Type="http://schemas.openxmlformats.org/officeDocument/2006/relationships/image" Target="../media/image22.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3.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svg"/><Relationship Id="rId3" Type="http://schemas.openxmlformats.org/officeDocument/2006/relationships/image" Target="../media/image14.svg"/><Relationship Id="rId4" Type="http://schemas.openxmlformats.org/officeDocument/2006/relationships/image" Target="../media/image15.svg"/><Relationship Id="rId5" Type="http://schemas.openxmlformats.org/officeDocument/2006/relationships/image" Target="../media/image17.svg"/><Relationship Id="rId6" Type="http://schemas.openxmlformats.org/officeDocument/2006/relationships/image" Target="../media/image19.svg"/><Relationship Id="rId7" Type="http://schemas.openxmlformats.org/officeDocument/2006/relationships/image" Target="../media/image9.svg"/><Relationship Id="rId8" Type="http://schemas.openxmlformats.org/officeDocument/2006/relationships/image" Target="../media/image10.svg"/><Relationship Id="rId9" Type="http://schemas.openxmlformats.org/officeDocument/2006/relationships/image" Target="../media/image11.svg"/><Relationship Id="rId10" Type="http://schemas.openxmlformats.org/officeDocument/2006/relationships/image" Target="../media/image12.svg"/><Relationship Id="rId11" Type="http://schemas.openxmlformats.org/officeDocument/2006/relationships/image" Target="../media/image16.svg"/><Relationship Id="rId12" Type="http://schemas.openxmlformats.org/officeDocument/2006/relationships/image" Target="../media/image18.svg"/><Relationship Id="rId13" Type="http://schemas.openxmlformats.org/officeDocument/2006/relationships/image" Target="../media/image20.svg"/><Relationship Id="rId14" Type="http://schemas.openxmlformats.org/officeDocument/2006/relationships/image" Target="../media/image21.svg"/><Relationship Id="rId15" Type="http://schemas.openxmlformats.org/officeDocument/2006/relationships/image" Target="../media/image22.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4.jpg"/><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10.08.2026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540000" y="3600000"/>
            <a:ext cx="6120000" cy="900000"/>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10.08.2026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10.08.2026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540000" y="3780000"/>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p:nvPr/>
        </p:nvSpPr>
        <p:spPr>
          <a:xfrm>
            <a:off x="540000" y="2700000"/>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p:nvPr/>
        </p:nvSpPr>
        <p:spPr>
          <a:xfrm>
            <a:off x="4500000" y="2700000"/>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p:nvPr/>
        </p:nvSpPr>
        <p:spPr>
          <a:xfrm>
            <a:off x="8460000" y="2700000"/>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540000" y="2880000"/>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500000" y="2880000"/>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60000" y="2880000"/>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540000" y="4860000"/>
            <a:ext cx="10980000" cy="10800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720000" y="1620000"/>
            <a:ext cx="4500000" cy="2880000"/>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7020000" y="1620000"/>
            <a:ext cx="4500000" cy="2880000"/>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10.08.2026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p:nvPr/>
        </p:nvSpPr>
        <p:spPr>
          <a:xfrm>
            <a:off x="720000" y="1620000"/>
            <a:ext cx="4500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p:nvPr/>
        </p:nvSpPr>
        <p:spPr>
          <a:xfrm>
            <a:off x="7020000" y="1620000"/>
            <a:ext cx="4500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p:nvPr/>
        </p:nvSpPr>
        <p:spPr>
          <a:xfrm>
            <a:off x="5490000" y="2700000"/>
            <a:ext cx="1260000" cy="72000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p:nvPr/>
        </p:nvSpPr>
        <p:spPr>
          <a:xfrm>
            <a:off x="720000" y="4860000"/>
            <a:ext cx="85725" cy="1028700"/>
          </a:xfrm>
          <a:prstGeom prst="rect">
            <a:avLst/>
          </a:prstGeom>
          <a:solidFill>
            <a:srgbClr val="C9960F"/>
          </a:solidFill>
          <a:ln w="0">
            <a:solidFill>
              <a:srgbClr val="C9960F"/>
            </a:solidFill>
            <a:prstDash val="solid"/>
          </a:ln>
        </p:spPr>
        <p:txBody>
          <a:bodyPr/>
          <a:lstStyle/>
          <a:p>
            <a:endParaRPr lang="de-CH"/>
          </a:p>
        </p:txBody>
      </p:sp>
      <p:pic>
        <p:nvPicPr>
          <p:cNvPr id="27" name="Icon Komprimiere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0000" y="1980000"/>
            <a:ext cx="1080000" cy="1080000"/>
          </a:xfrm>
          <a:prstGeom prst="rect">
            <a:avLst/>
          </a:prstGeom>
        </p:spPr>
      </p:pic>
      <p:sp>
        <p:nvSpPr>
          <p:cNvPr id="28" name="Rechteck 27">
            <a:extLst>
              <a:ext uri="{FF2B5EF4-FFF2-40B4-BE49-F238E27FC236}">
                <a16:creationId xmlns:a16="http://schemas.microsoft.com/office/drawing/2014/main" id="{EEACB154-8F23-4F3B-90DA-78C963ADE415}"/>
              </a:ext>
            </a:extLst>
          </p:cNvPr>
          <p:cNvSpPr/>
          <p:nvPr/>
        </p:nvSpPr>
        <p:spPr>
          <a:xfrm>
            <a:off x="8460000" y="19800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p:nvPr/>
        </p:nvSpPr>
        <p:spPr>
          <a:xfrm>
            <a:off x="8460000" y="23400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p:nvPr/>
        </p:nvSpPr>
        <p:spPr>
          <a:xfrm>
            <a:off x="7200000" y="3240000"/>
            <a:ext cx="3960000" cy="90000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pic>
        <p:nvPicPr>
          <p:cNvPr id="35" name="Icon Expandiere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80000" y="1980000"/>
            <a:ext cx="1080000" cy="1080000"/>
          </a:xfrm>
          <a:prstGeom prst="rect">
            <a:avLst/>
          </a:prstGeom>
        </p:spPr>
      </p:pic>
      <p:sp>
        <p:nvSpPr>
          <p:cNvPr id="36" name="Rechteck 35">
            <a:extLst>
              <a:ext uri="{FF2B5EF4-FFF2-40B4-BE49-F238E27FC236}">
                <a16:creationId xmlns:a16="http://schemas.microsoft.com/office/drawing/2014/main" id="{9C059803-0FCD-4255-82D1-E5486EDB1ABE}"/>
              </a:ext>
            </a:extLst>
          </p:cNvPr>
          <p:cNvSpPr/>
          <p:nvPr/>
        </p:nvSpPr>
        <p:spPr>
          <a:xfrm>
            <a:off x="2160000" y="19800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p:nvPr/>
        </p:nvSpPr>
        <p:spPr>
          <a:xfrm>
            <a:off x="2160000" y="23400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dirty="0" err="1">
                <a:solidFill>
                  <a:srgbClr val="2D3F4B"/>
                </a:solidFill>
                <a:latin typeface="Arial"/>
                <a:ea typeface="Arial"/>
                <a:cs typeface="Arial"/>
              </a:rPr>
              <a:t>Expandieren</a:t>
            </a:r>
            <a:endParaRPr sz="2550" b="1" dirty="0">
              <a:solidFill>
                <a:srgbClr val="2D3F4B"/>
              </a:solidFill>
              <a:latin typeface="Arial"/>
              <a:ea typeface="Arial"/>
              <a:cs typeface="Arial"/>
            </a:endParaRPr>
          </a:p>
        </p:txBody>
      </p:sp>
      <p:sp>
        <p:nvSpPr>
          <p:cNvPr id="38" name="Rechteck 37">
            <a:extLst>
              <a:ext uri="{FF2B5EF4-FFF2-40B4-BE49-F238E27FC236}">
                <a16:creationId xmlns:a16="http://schemas.microsoft.com/office/drawing/2014/main" id="{ACFCC35B-9CB1-45B1-9CAA-5FC9371705C0}"/>
              </a:ext>
            </a:extLst>
          </p:cNvPr>
          <p:cNvSpPr/>
          <p:nvPr/>
        </p:nvSpPr>
        <p:spPr>
          <a:xfrm>
            <a:off x="1080000" y="3240000"/>
            <a:ext cx="3960000" cy="90000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Icon Translatieren"/>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0000" y="4854216"/>
            <a:ext cx="1034484" cy="1034484"/>
          </a:xfrm>
          <a:prstGeom prst="rect">
            <a:avLst/>
          </a:prstGeom>
        </p:spPr>
      </p:pic>
      <p:sp>
        <p:nvSpPr>
          <p:cNvPr id="42" name="Rechteck 41">
            <a:extLst>
              <a:ext uri="{FF2B5EF4-FFF2-40B4-BE49-F238E27FC236}">
                <a16:creationId xmlns:a16="http://schemas.microsoft.com/office/drawing/2014/main" id="{D3F77ACE-A9C1-407A-8F7A-E075BA0C63A1}"/>
              </a:ext>
            </a:extLst>
          </p:cNvPr>
          <p:cNvSpPr/>
          <p:nvPr/>
        </p:nvSpPr>
        <p:spPr>
          <a:xfrm>
            <a:off x="1934484" y="4874580"/>
            <a:ext cx="2246766" cy="525420"/>
          </a:xfrm>
          <a:prstGeom prst="rect">
            <a:avLst/>
          </a:prstGeom>
          <a:noFill/>
          <a:ln w="0">
            <a:noFill/>
            <a:prstDash val="solid"/>
          </a:ln>
        </p:spPr>
        <p:txBody>
          <a:bodyPr anchor="t"/>
          <a:lstStyle/>
          <a:p>
            <a:pPr>
              <a:defRPr sz="2025" b="1">
                <a:solidFill>
                  <a:srgbClr val="2D3F4B"/>
                </a:solidFill>
                <a:latin typeface="Arial"/>
                <a:ea typeface="Arial"/>
                <a:cs typeface="Arial"/>
              </a:defRPr>
            </a:pPr>
            <a:r>
              <a:rPr sz="2550" b="1" dirty="0" err="1">
                <a:solidFill>
                  <a:srgbClr val="2D3F4B"/>
                </a:solidFill>
                <a:latin typeface="Arial"/>
                <a:ea typeface="Arial"/>
                <a:cs typeface="Arial"/>
              </a:rPr>
              <a:t>Translatieren</a:t>
            </a:r>
            <a:endParaRPr sz="2550"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p:nvPr/>
        </p:nvSpPr>
        <p:spPr>
          <a:xfrm>
            <a:off x="1934484" y="5400000"/>
            <a:ext cx="9415104"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730" dirty="0">
                <a:solidFill>
                  <a:srgbClr val="2D3F4B"/>
                </a:solidFill>
                <a:latin typeface="Arial"/>
                <a:ea typeface="Arial"/>
                <a:cs typeface="Arial"/>
              </a:rPr>
              <a:t>Gleicher </a:t>
            </a:r>
            <a:r>
              <a:rPr sz="1730" dirty="0" err="1">
                <a:solidFill>
                  <a:srgbClr val="2D3F4B"/>
                </a:solidFill>
                <a:latin typeface="Arial"/>
                <a:ea typeface="Arial"/>
                <a:cs typeface="Arial"/>
              </a:rPr>
              <a:t>Inhalt</a:t>
            </a:r>
            <a:r>
              <a:rPr sz="1730" dirty="0">
                <a:solidFill>
                  <a:srgbClr val="2D3F4B"/>
                </a:solidFill>
                <a:latin typeface="Arial"/>
                <a:ea typeface="Arial"/>
                <a:cs typeface="Arial"/>
              </a:rPr>
              <a:t> → </a:t>
            </a:r>
            <a:r>
              <a:rPr sz="1730" dirty="0" err="1">
                <a:solidFill>
                  <a:srgbClr val="2D3F4B"/>
                </a:solidFill>
                <a:latin typeface="Arial"/>
                <a:ea typeface="Arial"/>
                <a:cs typeface="Arial"/>
              </a:rPr>
              <a:t>andere</a:t>
            </a:r>
            <a:r>
              <a:rPr sz="1730" dirty="0">
                <a:solidFill>
                  <a:srgbClr val="2D3F4B"/>
                </a:solidFill>
                <a:latin typeface="Arial"/>
                <a:ea typeface="Arial"/>
                <a:cs typeface="Arial"/>
              </a:rPr>
              <a:t> </a:t>
            </a:r>
            <a:r>
              <a:rPr sz="1730" dirty="0" err="1">
                <a:solidFill>
                  <a:srgbClr val="2D3F4B"/>
                </a:solidFill>
                <a:latin typeface="Arial"/>
                <a:ea typeface="Arial"/>
                <a:cs typeface="Arial"/>
              </a:rPr>
              <a:t>Sprache</a:t>
            </a:r>
            <a:r>
              <a:rPr sz="1730" dirty="0">
                <a:solidFill>
                  <a:srgbClr val="2D3F4B"/>
                </a:solidFill>
                <a:latin typeface="Arial"/>
                <a:ea typeface="Arial"/>
                <a:cs typeface="Arial"/>
              </a:rPr>
              <a:t>, Form </a:t>
            </a:r>
            <a:r>
              <a:rPr sz="1730" dirty="0" err="1">
                <a:solidFill>
                  <a:srgbClr val="2D3F4B"/>
                </a:solidFill>
                <a:latin typeface="Arial"/>
                <a:ea typeface="Arial"/>
                <a:cs typeface="Arial"/>
              </a:rPr>
              <a:t>oder</a:t>
            </a:r>
            <a:r>
              <a:rPr sz="1730" dirty="0">
                <a:solidFill>
                  <a:srgbClr val="2D3F4B"/>
                </a:solidFill>
                <a:latin typeface="Arial"/>
                <a:ea typeface="Arial"/>
                <a:cs typeface="Arial"/>
              </a:rPr>
              <a:t> </a:t>
            </a:r>
            <a:r>
              <a:rPr sz="1730" dirty="0" err="1">
                <a:solidFill>
                  <a:srgbClr val="2D3F4B"/>
                </a:solidFill>
                <a:latin typeface="Arial"/>
                <a:ea typeface="Arial"/>
                <a:cs typeface="Arial"/>
              </a:rPr>
              <a:t>Struktur</a:t>
            </a:r>
            <a:r>
              <a:rPr sz="1730" dirty="0">
                <a:solidFill>
                  <a:srgbClr val="2D3F4B"/>
                </a:solidFill>
                <a:latin typeface="Arial"/>
                <a:ea typeface="Arial"/>
                <a:cs typeface="Arial"/>
              </a:rPr>
              <a:t>. RAG </a:t>
            </a:r>
            <a:r>
              <a:rPr sz="1730" dirty="0" err="1">
                <a:solidFill>
                  <a:srgbClr val="2D3F4B"/>
                </a:solidFill>
                <a:latin typeface="Arial"/>
                <a:ea typeface="Arial"/>
                <a:cs typeface="Arial"/>
              </a:rPr>
              <a:t>ist</a:t>
            </a:r>
            <a:r>
              <a:rPr sz="1730" dirty="0">
                <a:solidFill>
                  <a:srgbClr val="2D3F4B"/>
                </a:solidFill>
                <a:latin typeface="Arial"/>
                <a:ea typeface="Arial"/>
                <a:cs typeface="Arial"/>
              </a:rPr>
              <a:t> </a:t>
            </a:r>
            <a:r>
              <a:rPr sz="1730" dirty="0" err="1">
                <a:solidFill>
                  <a:srgbClr val="2D3F4B"/>
                </a:solidFill>
                <a:latin typeface="Arial"/>
                <a:ea typeface="Arial"/>
                <a:cs typeface="Arial"/>
              </a:rPr>
              <a:t>dafür</a:t>
            </a:r>
            <a:r>
              <a:rPr sz="1730" dirty="0">
                <a:solidFill>
                  <a:srgbClr val="2D3F4B"/>
                </a:solidFill>
                <a:latin typeface="Arial"/>
                <a:ea typeface="Arial"/>
                <a:cs typeface="Arial"/>
              </a:rPr>
              <a:t> nicht </a:t>
            </a:r>
            <a:r>
              <a:rPr sz="1730" dirty="0" err="1">
                <a:solidFill>
                  <a:srgbClr val="2D3F4B"/>
                </a:solidFill>
                <a:latin typeface="Arial"/>
                <a:ea typeface="Arial"/>
                <a:cs typeface="Arial"/>
              </a:rPr>
              <a:t>zwingend</a:t>
            </a:r>
            <a:r>
              <a:rPr sz="1730" dirty="0">
                <a:solidFill>
                  <a:srgbClr val="2D3F4B"/>
                </a:solidFill>
                <a:latin typeface="Arial"/>
                <a:ea typeface="Arial"/>
                <a:cs typeface="Arial"/>
              </a:rPr>
              <a:t> </a:t>
            </a:r>
            <a:r>
              <a:rPr sz="1730" dirty="0" err="1">
                <a:solidFill>
                  <a:srgbClr val="2D3F4B"/>
                </a:solidFill>
                <a:latin typeface="Arial"/>
                <a:ea typeface="Arial"/>
                <a:cs typeface="Arial"/>
              </a:rPr>
              <a:t>nötig</a:t>
            </a:r>
            <a:r>
              <a:rPr sz="1730" dirty="0">
                <a:solidFill>
                  <a:srgbClr val="2D3F4B"/>
                </a:solidFill>
                <a:latin typeface="Arial"/>
                <a:ea typeface="Arial"/>
                <a:cs typeface="Arial"/>
              </a:rPr>
              <a:t>.</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6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0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72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10.08.2026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p:nvPr/>
        </p:nvSpPr>
        <p:spPr>
          <a:xfrm>
            <a:off x="719999" y="4680000"/>
            <a:ext cx="2520000"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p:nvPr/>
        </p:nvSpPr>
        <p:spPr>
          <a:xfrm>
            <a:off x="72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p:nvPr/>
        </p:nvSpPr>
        <p:spPr>
          <a:xfrm>
            <a:off x="720000" y="4680000"/>
            <a:ext cx="2520000" cy="900000"/>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p:nvPr/>
        </p:nvSpPr>
        <p:spPr>
          <a:xfrm>
            <a:off x="3599999" y="4245340"/>
            <a:ext cx="2520000" cy="433898"/>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p:nvPr/>
        </p:nvSpPr>
        <p:spPr>
          <a:xfrm>
            <a:off x="360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p:nvPr/>
        </p:nvSpPr>
        <p:spPr>
          <a:xfrm>
            <a:off x="6480000" y="4680000"/>
            <a:ext cx="2520000"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p:nvPr/>
        </p:nvSpPr>
        <p:spPr>
          <a:xfrm>
            <a:off x="648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p:nvPr/>
        </p:nvSpPr>
        <p:spPr>
          <a:xfrm>
            <a:off x="648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Anweisungen</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p:nvPr/>
        </p:nvSpPr>
        <p:spPr>
          <a:xfrm>
            <a:off x="9359999" y="4680000"/>
            <a:ext cx="2520000"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p:nvPr/>
        </p:nvSpPr>
        <p:spPr>
          <a:xfrm>
            <a:off x="9360000" y="4233355"/>
            <a:ext cx="2520000" cy="44588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err="1">
                <a:solidFill>
                  <a:srgbClr val="2D3F4B"/>
                </a:solidFill>
                <a:latin typeface="Arial"/>
                <a:ea typeface="Arial"/>
                <a:cs typeface="Arial"/>
              </a:rPr>
              <a:t>Kontextfenster</a:t>
            </a:r>
            <a:endParaRPr sz="1800" b="1" dirty="0">
              <a:solidFill>
                <a:srgbClr val="2D3F4B"/>
              </a:solidFill>
              <a:latin typeface="Arial"/>
              <a:ea typeface="Arial"/>
              <a:cs typeface="Arial"/>
            </a:endParaRPr>
          </a:p>
        </p:txBody>
      </p:sp>
      <p:sp>
        <p:nvSpPr>
          <p:cNvPr id="31" name="Textfeld 30">
            <a:extLst>
              <a:ext uri="{FF2B5EF4-FFF2-40B4-BE49-F238E27FC236}">
                <a16:creationId xmlns:a16="http://schemas.microsoft.com/office/drawing/2014/main" id="{ACB039CC-F485-C051-649D-630116902526}"/>
              </a:ext>
            </a:extLst>
          </p:cNvPr>
          <p:cNvSpPr/>
          <p:nvPr/>
        </p:nvSpPr>
        <p:spPr>
          <a:xfrm>
            <a:off x="9359999" y="4671659"/>
            <a:ext cx="2520000" cy="908341"/>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p:nvPr/>
        </p:nvSpPr>
        <p:spPr>
          <a:xfrm>
            <a:off x="4320000" y="2520000"/>
            <a:ext cx="3600000" cy="90000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de-CH" b="1" dirty="0">
                <a:solidFill>
                  <a:srgbClr val="2D3F4B"/>
                </a:solidFill>
                <a:ea typeface="Arial"/>
                <a:cs typeface="Arial"/>
              </a:rPr>
              <a:t>LLM-KONTEXT</a:t>
            </a:r>
            <a:endParaRPr lang="de-CH" sz="2000" b="1" dirty="0">
              <a:solidFill>
                <a:srgbClr val="2D3F4B"/>
              </a:solidFil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3" idx="1"/>
          </p:cNvCxnSpPr>
          <p:nvPr/>
        </p:nvCxnSpPr>
        <p:spPr>
          <a:xfrm flipV="1">
            <a:off x="1979999" y="2970000"/>
            <a:ext cx="2340001" cy="1170000"/>
          </a:xfrm>
          <a:prstGeom prst="straightConnector1">
            <a:avLst/>
          </a:prstGeom>
          <a:ln w="50800" cap="rnd">
            <a:solidFill>
              <a:srgbClr val="C60C30"/>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a:stCxn id="55" idx="0"/>
          </p:cNvCxnSpPr>
          <p:nvPr/>
        </p:nvCxnSpPr>
        <p:spPr>
          <a:xfrm flipV="1">
            <a:off x="4859999" y="3420000"/>
            <a:ext cx="543691" cy="720000"/>
          </a:xfrm>
          <a:prstGeom prst="straightConnector1">
            <a:avLst/>
          </a:prstGeom>
          <a:ln w="50800" cap="rnd">
            <a:solidFill>
              <a:srgbClr val="9BC7EE"/>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a:stCxn id="56" idx="0"/>
          </p:cNvCxnSpPr>
          <p:nvPr/>
        </p:nvCxnSpPr>
        <p:spPr>
          <a:xfrm flipH="1" flipV="1">
            <a:off x="7131401" y="3420000"/>
            <a:ext cx="608598" cy="720000"/>
          </a:xfrm>
          <a:prstGeom prst="straightConnector1">
            <a:avLst/>
          </a:prstGeom>
          <a:ln w="50800" cap="rnd">
            <a:solidFill>
              <a:srgbClr val="43858A"/>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3" idx="3"/>
          </p:cNvCxnSpPr>
          <p:nvPr/>
        </p:nvCxnSpPr>
        <p:spPr>
          <a:xfrm flipH="1" flipV="1">
            <a:off x="7920000" y="2970000"/>
            <a:ext cx="2699999" cy="1170000"/>
          </a:xfrm>
          <a:prstGeom prst="straightConnector1">
            <a:avLst/>
          </a:prstGeom>
          <a:ln w="50800" cap="rnd">
            <a:solidFill>
              <a:srgbClr val="C9960F"/>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p:nvPr/>
        </p:nvSpPr>
        <p:spPr>
          <a:xfrm>
            <a:off x="719999" y="4140000"/>
            <a:ext cx="2520000"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p:nvPr/>
        </p:nvSpPr>
        <p:spPr>
          <a:xfrm>
            <a:off x="3599999" y="4140000"/>
            <a:ext cx="2520000"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p:nvPr/>
        </p:nvSpPr>
        <p:spPr>
          <a:xfrm>
            <a:off x="6479999" y="4140000"/>
            <a:ext cx="2520000"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p:nvPr/>
        </p:nvSpPr>
        <p:spPr>
          <a:xfrm>
            <a:off x="9359999" y="4140000"/>
            <a:ext cx="2520000"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p:nvPr/>
        </p:nvSpPr>
        <p:spPr>
          <a:xfrm>
            <a:off x="4320000" y="198000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p:nvPr/>
        </p:nvSpPr>
        <p:spPr>
          <a:xfrm>
            <a:off x="3600000" y="4680000"/>
            <a:ext cx="2520000"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10.08.2026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11" name="repo-progression-subtitle">
            <a:extLst>
              <a:ext uri="{FF2B5EF4-FFF2-40B4-BE49-F238E27FC236}">
                <a16:creationId xmlns:a16="http://schemas.microsoft.com/office/drawing/2014/main" id="{93070F9C-1D73-491A-AA83-B0CD1488E27D}"/>
              </a:ext>
            </a:extLst>
          </p:cNvPr>
          <p:cNvSpPr/>
          <p:nvPr/>
        </p:nvSpPr>
        <p:spPr>
          <a:xfrm>
            <a:off x="540000" y="14400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p:nvPr/>
        </p:nvSpPr>
        <p:spPr>
          <a:xfrm>
            <a:off x="1259999" y="2502900"/>
            <a:ext cx="9432508"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p:nvPr/>
        </p:nvSpPr>
        <p:spPr>
          <a:xfrm>
            <a:off x="1440000" y="2160000"/>
            <a:ext cx="720000" cy="7200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p:nvPr/>
        </p:nvSpPr>
        <p:spPr>
          <a:xfrm>
            <a:off x="720000" y="3060000"/>
            <a:ext cx="2160000"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lang="de-CH" sz="1200" b="1" dirty="0">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p:nvPr/>
        </p:nvSpPr>
        <p:spPr>
          <a:xfrm>
            <a:off x="7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LLM-</a:t>
            </a:r>
            <a:r>
              <a:rPr sz="1800" b="1" dirty="0" err="1">
                <a:solidFill>
                  <a:srgbClr val="2D3F4B"/>
                </a:solidFill>
                <a:latin typeface="Arial"/>
                <a:ea typeface="Arial"/>
                <a:cs typeface="Arial"/>
              </a:rPr>
              <a:t>Aufruf</a:t>
            </a:r>
            <a:endParaRPr sz="1800" b="1" dirty="0">
              <a:solidFill>
                <a:srgbClr val="2D3F4B"/>
              </a:solidFill>
              <a:latin typeface="Arial"/>
              <a:ea typeface="Arial"/>
              <a:cs typeface="Arial"/>
            </a:endParaRPr>
          </a:p>
        </p:txBody>
      </p:sp>
      <p:sp>
        <p:nvSpPr>
          <p:cNvPr id="16" name="stage-1-copy">
            <a:extLst>
              <a:ext uri="{FF2B5EF4-FFF2-40B4-BE49-F238E27FC236}">
                <a16:creationId xmlns:a16="http://schemas.microsoft.com/office/drawing/2014/main" id="{C5B9BC2D-8807-4358-9EC7-F52D82CC6BF4}"/>
              </a:ext>
            </a:extLst>
          </p:cNvPr>
          <p:cNvSpPr/>
          <p:nvPr/>
        </p:nvSpPr>
        <p:spPr>
          <a:xfrm>
            <a:off x="7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Prompt </a:t>
            </a:r>
            <a:r>
              <a:rPr sz="1500" dirty="0" err="1">
                <a:solidFill>
                  <a:srgbClr val="2D3F4B"/>
                </a:solidFill>
                <a:latin typeface="Arial"/>
                <a:ea typeface="Arial"/>
                <a:cs typeface="Arial"/>
              </a:rPr>
              <a:t>senden</a:t>
            </a:r>
            <a:endParaRPr sz="1500" dirty="0">
              <a:solidFill>
                <a:srgbClr val="2D3F4B"/>
              </a:solidFill>
              <a:latin typeface="Arial"/>
              <a:ea typeface="Arial"/>
              <a:cs typeface="Arial"/>
            </a:endParaRP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Antwort</a:t>
            </a:r>
            <a:r>
              <a:rPr sz="1500" dirty="0">
                <a:solidFill>
                  <a:srgbClr val="2D3F4B"/>
                </a:solidFill>
                <a:latin typeface="Arial"/>
                <a:ea typeface="Arial"/>
                <a:cs typeface="Arial"/>
              </a:rPr>
              <a:t> </a:t>
            </a:r>
            <a:r>
              <a:rPr sz="1500" dirty="0" err="1">
                <a:solidFill>
                  <a:srgbClr val="2D3F4B"/>
                </a:solidFill>
                <a:latin typeface="Arial"/>
                <a:ea typeface="Arial"/>
                <a:cs typeface="Arial"/>
              </a:rPr>
              <a:t>erhalten</a:t>
            </a:r>
            <a:endParaRPr sz="1500" dirty="0">
              <a:solidFill>
                <a:srgbClr val="2D3F4B"/>
              </a:solidFill>
              <a:latin typeface="Arial"/>
              <a:ea typeface="Arial"/>
              <a:cs typeface="Arial"/>
            </a:endParaRPr>
          </a:p>
        </p:txBody>
      </p:sp>
      <p:sp>
        <p:nvSpPr>
          <p:cNvPr id="17" name="stage-2-circle">
            <a:extLst>
              <a:ext uri="{FF2B5EF4-FFF2-40B4-BE49-F238E27FC236}">
                <a16:creationId xmlns:a16="http://schemas.microsoft.com/office/drawing/2014/main" id="{788267D1-787C-48BB-921D-457EA3D4064D}"/>
              </a:ext>
            </a:extLst>
          </p:cNvPr>
          <p:cNvSpPr/>
          <p:nvPr/>
        </p:nvSpPr>
        <p:spPr>
          <a:xfrm>
            <a:off x="4230000" y="2160000"/>
            <a:ext cx="720000" cy="7200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p:nvPr/>
        </p:nvSpPr>
        <p:spPr>
          <a:xfrm>
            <a:off x="3480000" y="3060000"/>
            <a:ext cx="2160000"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p:nvPr/>
        </p:nvSpPr>
        <p:spPr>
          <a:xfrm>
            <a:off x="34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p:nvPr/>
        </p:nvSpPr>
        <p:spPr>
          <a:xfrm>
            <a:off x="34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p:nvPr/>
        </p:nvSpPr>
        <p:spPr>
          <a:xfrm>
            <a:off x="7020000" y="2160000"/>
            <a:ext cx="720000" cy="7200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dirty="0">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p:nvPr/>
        </p:nvSpPr>
        <p:spPr>
          <a:xfrm>
            <a:off x="6240000" y="3060000"/>
            <a:ext cx="2160000"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p:nvPr/>
        </p:nvSpPr>
        <p:spPr>
          <a:xfrm>
            <a:off x="63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p:nvPr/>
        </p:nvSpPr>
        <p:spPr>
          <a:xfrm>
            <a:off x="63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Suche</a:t>
            </a:r>
            <a:r>
              <a:rPr sz="1500" dirty="0">
                <a:solidFill>
                  <a:srgbClr val="2D3F4B"/>
                </a:solidFill>
                <a:latin typeface="Arial"/>
                <a:ea typeface="Arial"/>
                <a:cs typeface="Arial"/>
              </a:rPr>
              <a:t> + Reranking</a:t>
            </a:r>
          </a:p>
        </p:txBody>
      </p:sp>
      <p:sp>
        <p:nvSpPr>
          <p:cNvPr id="25" name="stage-4-circle">
            <a:extLst>
              <a:ext uri="{FF2B5EF4-FFF2-40B4-BE49-F238E27FC236}">
                <a16:creationId xmlns:a16="http://schemas.microsoft.com/office/drawing/2014/main" id="{1D3AC8DC-9B1D-4449-B0CF-7DCD74368364}"/>
              </a:ext>
            </a:extLst>
          </p:cNvPr>
          <p:cNvSpPr/>
          <p:nvPr/>
        </p:nvSpPr>
        <p:spPr>
          <a:xfrm>
            <a:off x="9720000" y="2160000"/>
            <a:ext cx="720000" cy="7200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p:nvPr/>
        </p:nvSpPr>
        <p:spPr>
          <a:xfrm>
            <a:off x="9000000" y="3060000"/>
            <a:ext cx="2160000" cy="36000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dirty="0">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p:nvPr/>
        </p:nvSpPr>
        <p:spPr>
          <a:xfrm>
            <a:off x="90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p:nvPr/>
        </p:nvSpPr>
        <p:spPr>
          <a:xfrm>
            <a:off x="90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p:nvPr/>
        </p:nvSpPr>
        <p:spPr>
          <a:xfrm>
            <a:off x="1260000" y="5040000"/>
            <a:ext cx="9900000" cy="72000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1 · Chat ohne 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10</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4575600"/>
          </a:xfrm>
          <a:prstGeom prst="rect">
            <a:avLst/>
          </a:prstGeom>
          <a:solidFill>
            <a:srgbClr val="FFFFFF">
              <a:alpha val="70000"/>
            </a:srgbClr>
          </a:solidFill>
          <a:ln>
            <a:noFill/>
          </a:ln>
        </p:spPr>
        <p:txBody>
          <a:bodyPr/>
          <a:lstStyle/>
          <a:p>
            <a:endParaRPr/>
          </a:p>
        </p:txBody>
      </p: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LLM"/>
          <p:cNvSpPr/>
          <p:nvPr/>
        </p:nvSpPr>
        <p:spPr>
          <a:xfrm>
            <a:off x="7696800" y="4996800"/>
            <a:ext cx="1526400" cy="954000"/>
          </a:xfrm>
          <a:prstGeom prst="roundRect">
            <a:avLst/>
          </a:prstGeom>
          <a:noFill/>
          <a:ln w="28575">
            <a:solidFill>
              <a:srgbClr val="C60C30"/>
            </a:solidFill>
            <a:prstDash val="dash"/>
          </a:ln>
        </p:spPr>
        <p:txBody>
          <a:bodyPr/>
          <a:lstStyle/>
          <a:p>
            <a:endParaRPr/>
          </a:p>
        </p:txBody>
      </p:sp>
      <p:sp>
        <p:nvSpPr>
          <p:cNvPr id="2001" name="Marker Query"/>
          <p:cNvSpPr/>
          <p:nvPr/>
        </p:nvSpPr>
        <p:spPr>
          <a:xfrm>
            <a:off x="9496800" y="1396800"/>
            <a:ext cx="1526400" cy="954000"/>
          </a:xfrm>
          <a:prstGeom prst="roundRect">
            <a:avLst/>
          </a:prstGeom>
          <a:noFill/>
          <a:ln w="28575">
            <a:solidFill>
              <a:srgbClr val="C60C30"/>
            </a:solidFill>
            <a:prstDash val="dash"/>
          </a:ln>
        </p:spPr>
        <p:txBody>
          <a:bodyPr/>
          <a:lstStyle/>
          <a:p>
            <a:endParaRPr/>
          </a:p>
        </p:txBody>
      </p:sp>
      <p:sp>
        <p:nvSpPr>
          <p:cNvPr id="2002" name="Marker Response"/>
          <p:cNvSpPr/>
          <p:nvPr/>
        </p:nvSpPr>
        <p:spPr>
          <a:xfrm>
            <a:off x="94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2a · Ingest</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12</a:t>
            </a:fld>
            <a:endParaRPr lang="de-CH"/>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1386000"/>
            <a:ext cx="7668000" cy="45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Chunks"/>
          <p:cNvSpPr/>
          <p:nvPr/>
        </p:nvSpPr>
        <p:spPr>
          <a:xfrm>
            <a:off x="496800" y="1396800"/>
            <a:ext cx="1526400" cy="954000"/>
          </a:xfrm>
          <a:prstGeom prst="roundRect">
            <a:avLst/>
          </a:prstGeom>
          <a:noFill/>
          <a:ln w="28575">
            <a:solidFill>
              <a:srgbClr val="C60C30"/>
            </a:solidFill>
            <a:prstDash val="dash"/>
          </a:ln>
        </p:spPr>
        <p:txBody>
          <a:bodyPr/>
          <a:lstStyle/>
          <a:p>
            <a:endParaRPr/>
          </a:p>
        </p:txBody>
      </p:sp>
      <p:sp>
        <p:nvSpPr>
          <p:cNvPr id="2002" name="Marker Embedding LLM@4140000"/>
          <p:cNvSpPr/>
          <p:nvPr/>
        </p:nvSpPr>
        <p:spPr>
          <a:xfrm>
            <a:off x="4096800" y="1396800"/>
            <a:ext cx="1526400" cy="954000"/>
          </a:xfrm>
          <a:prstGeom prst="roundRect">
            <a:avLst/>
          </a:prstGeom>
          <a:noFill/>
          <a:ln w="28575">
            <a:solidFill>
              <a:srgbClr val="C60C30"/>
            </a:solidFill>
            <a:prstDash val="dash"/>
          </a:ln>
        </p:spPr>
        <p:txBody>
          <a:bodyPr/>
          <a:lstStyle/>
          <a:p>
            <a:endParaRPr/>
          </a:p>
        </p:txBody>
      </p:sp>
      <p:sp>
        <p:nvSpPr>
          <p:cNvPr id="2003" name="Marker Embeddings@4140000"/>
          <p:cNvSpPr/>
          <p:nvPr/>
        </p:nvSpPr>
        <p:spPr>
          <a:xfrm>
            <a:off x="4096800" y="2656800"/>
            <a:ext cx="1526400" cy="954000"/>
          </a:xfrm>
          <a:prstGeom prst="roundRect">
            <a:avLst/>
          </a:prstGeom>
          <a:noFill/>
          <a:ln w="28575">
            <a:solidFill>
              <a:srgbClr val="C60C30"/>
            </a:solidFill>
            <a:prstDash val="dash"/>
          </a:ln>
        </p:spPr>
        <p:txBody>
          <a:bodyPr/>
          <a:lstStyle/>
          <a:p>
            <a:endParaRPr/>
          </a:p>
        </p:txBody>
      </p:sp>
      <p:sp>
        <p:nvSpPr>
          <p:cNvPr id="2004" name="Marker Information Extraction"/>
          <p:cNvSpPr/>
          <p:nvPr/>
        </p:nvSpPr>
        <p:spPr>
          <a:xfrm>
            <a:off x="496800" y="3736800"/>
            <a:ext cx="1526400" cy="954000"/>
          </a:xfrm>
          <a:prstGeom prst="roundRect">
            <a:avLst/>
          </a:prstGeom>
          <a:noFill/>
          <a:ln w="28575">
            <a:solidFill>
              <a:srgbClr val="C60C30"/>
            </a:solidFill>
            <a:prstDash val="dash"/>
          </a:ln>
        </p:spPr>
        <p:txBody>
          <a:bodyPr/>
          <a:lstStyle/>
          <a:p>
            <a:endParaRPr/>
          </a:p>
        </p:txBody>
      </p:sp>
      <p:sp>
        <p:nvSpPr>
          <p:cNvPr id="2005" name="Marker Raw Data Files"/>
          <p:cNvSpPr/>
          <p:nvPr/>
        </p:nvSpPr>
        <p:spPr>
          <a:xfrm>
            <a:off x="496800" y="4996800"/>
            <a:ext cx="1526400" cy="954000"/>
          </a:xfrm>
          <a:prstGeom prst="roundRect">
            <a:avLst/>
          </a:prstGeom>
          <a:noFill/>
          <a:ln w="28575">
            <a:solidFill>
              <a:srgbClr val="C60C30"/>
            </a:solidFill>
            <a:prstDash val="dash"/>
          </a:ln>
        </p:spPr>
        <p:txBody>
          <a:bodyPr/>
          <a:lstStyle/>
          <a:p>
            <a:endParaRPr/>
          </a:p>
        </p:txBody>
      </p:sp>
      <p:sp>
        <p:nvSpPr>
          <p:cNvPr id="2006" name="Marker Vector Database"/>
          <p:cNvSpPr/>
          <p:nvPr/>
        </p:nvSpPr>
        <p:spPr>
          <a:xfrm>
            <a:off x="5896800" y="265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2b · Retrieval</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13</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5508000" cy="45756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Embedding LLM@7740000"/>
          <p:cNvSpPr/>
          <p:nvPr/>
        </p:nvSpPr>
        <p:spPr>
          <a:xfrm>
            <a:off x="7696800" y="1396800"/>
            <a:ext cx="1526400" cy="954000"/>
          </a:xfrm>
          <a:prstGeom prst="roundRect">
            <a:avLst/>
          </a:prstGeom>
          <a:noFill/>
          <a:ln w="28575">
            <a:solidFill>
              <a:srgbClr val="C60C30"/>
            </a:solidFill>
            <a:prstDash val="dash"/>
          </a:ln>
        </p:spPr>
        <p:txBody>
          <a:bodyPr/>
          <a:lstStyle/>
          <a:p>
            <a:endParaRPr/>
          </a:p>
        </p:txBody>
      </p:sp>
      <p:sp>
        <p:nvSpPr>
          <p:cNvPr id="2001" name="Marker Embeddings@7740000"/>
          <p:cNvSpPr/>
          <p:nvPr/>
        </p:nvSpPr>
        <p:spPr>
          <a:xfrm>
            <a:off x="7696800" y="2656800"/>
            <a:ext cx="1526400" cy="954000"/>
          </a:xfrm>
          <a:prstGeom prst="roundRect">
            <a:avLst/>
          </a:prstGeom>
          <a:noFill/>
          <a:ln w="28575">
            <a:solidFill>
              <a:srgbClr val="C60C30"/>
            </a:solidFill>
            <a:prstDash val="dash"/>
          </a:ln>
        </p:spPr>
        <p:txBody>
          <a:bodyPr/>
          <a:lstStyle/>
          <a:p>
            <a:endParaRPr/>
          </a:p>
        </p:txBody>
      </p:sp>
      <p:sp>
        <p:nvSpPr>
          <p:cNvPr id="2002"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
        <p:nvSpPr>
          <p:cNvPr id="2003" name="Marker Relevant Data"/>
          <p:cNvSpPr/>
          <p:nvPr/>
        </p:nvSpPr>
        <p:spPr>
          <a:xfrm>
            <a:off x="58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14</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3 · Chunking und Reranking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15</a:t>
            </a:fld>
            <a:endParaRPr lang="de-CH"/>
          </a:p>
        </p:txBody>
      </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3726000"/>
            <a:ext cx="4068000" cy="9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p:nvPr/>
        </p:nvSpPr>
        <p:spPr>
          <a:xfrm>
            <a:off x="540000" y="12600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p:nvPr/>
        </p:nvSpPr>
        <p:spPr>
          <a:xfrm>
            <a:off x="540000" y="1800000"/>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p:nvPr/>
        </p:nvSpPr>
        <p:spPr>
          <a:xfrm>
            <a:off x="540000" y="19800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p:nvPr/>
        </p:nvSpPr>
        <p:spPr>
          <a:xfrm>
            <a:off x="6300000" y="1800000"/>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p:nvPr/>
        </p:nvSpPr>
        <p:spPr>
          <a:xfrm>
            <a:off x="6300000" y="19800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p:nvPr/>
        </p:nvSpPr>
        <p:spPr>
          <a:xfrm>
            <a:off x="540000" y="2340000"/>
            <a:ext cx="5220000" cy="28800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p:nvPr/>
        </p:nvSpPr>
        <p:spPr>
          <a:xfrm>
            <a:off x="6300000" y="2340000"/>
            <a:ext cx="5400000" cy="28800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p:nvPr/>
        </p:nvSpPr>
        <p:spPr>
          <a:xfrm>
            <a:off x="7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p:nvPr/>
        </p:nvSpPr>
        <p:spPr>
          <a:xfrm>
            <a:off x="720000" y="2880000"/>
            <a:ext cx="2160000" cy="1440000"/>
          </a:xfrm>
          <a:prstGeom prst="rect">
            <a:avLst/>
          </a:prstGeom>
          <a:noFill/>
          <a:ln w="0">
            <a:noFill/>
            <a:prstDash val="solid"/>
          </a:ln>
        </p:spPr>
        <p:txBody>
          <a:bodyPr anchor="ctr"/>
          <a:lstStyle/>
          <a:p>
            <a:pPr algn="l">
              <a:defRPr sz="1350" b="0">
                <a:solidFill>
                  <a:srgbClr val="304452"/>
                </a:solidFill>
              </a:defRPr>
            </a:pPr>
            <a:r>
              <a:rPr sz="1350" b="0" dirty="0">
                <a:solidFill>
                  <a:srgbClr val="304452"/>
                </a:solidFill>
              </a:rPr>
              <a:t>Art. 335b · </a:t>
            </a:r>
            <a:r>
              <a:rPr sz="1350" b="0" dirty="0" err="1">
                <a:solidFill>
                  <a:srgbClr val="304452"/>
                </a:solidFill>
              </a:rPr>
              <a:t>Probezeit</a:t>
            </a:r>
            <a:endParaRPr sz="1350" b="0" dirty="0">
              <a:solidFill>
                <a:srgbClr val="304452"/>
              </a:solidFill>
            </a:endParaRPr>
          </a:p>
          <a:p>
            <a:pPr algn="l">
              <a:defRPr sz="1350" b="0">
                <a:solidFill>
                  <a:srgbClr val="304452"/>
                </a:solidFill>
              </a:defRPr>
            </a:pPr>
            <a:r>
              <a:rPr sz="1350" b="0" dirty="0">
                <a:solidFill>
                  <a:srgbClr val="304452"/>
                </a:solidFill>
              </a:rPr>
              <a:t>Die </a:t>
            </a:r>
            <a:r>
              <a:rPr sz="1350" b="0" dirty="0" err="1">
                <a:solidFill>
                  <a:srgbClr val="304452"/>
                </a:solidFill>
              </a:rPr>
              <a:t>Probezeit</a:t>
            </a:r>
            <a:r>
              <a:rPr sz="1350" b="0" dirty="0">
                <a:solidFill>
                  <a:srgbClr val="304452"/>
                </a:solidFill>
              </a:rPr>
              <a:t> </a:t>
            </a:r>
            <a:r>
              <a:rPr sz="1350" b="0" dirty="0" err="1">
                <a:solidFill>
                  <a:srgbClr val="304452"/>
                </a:solidFill>
              </a:rPr>
              <a:t>beträgt</a:t>
            </a:r>
            <a:r>
              <a:rPr sz="1350" b="0" dirty="0">
                <a:solidFill>
                  <a:srgbClr val="304452"/>
                </a:solidFill>
              </a:rPr>
              <a:t> </a:t>
            </a:r>
            <a:r>
              <a:rPr sz="1350" b="0" dirty="0" err="1">
                <a:solidFill>
                  <a:srgbClr val="304452"/>
                </a:solidFill>
              </a:rPr>
              <a:t>grundsätzlich</a:t>
            </a:r>
            <a:r>
              <a:rPr sz="1350" b="0" dirty="0">
                <a:solidFill>
                  <a:srgbClr val="304452"/>
                </a:solidFill>
              </a:rPr>
              <a:t> den </a:t>
            </a:r>
            <a:r>
              <a:rPr sz="1350" b="0" dirty="0" err="1">
                <a:solidFill>
                  <a:srgbClr val="304452"/>
                </a:solidFill>
              </a:rPr>
              <a:t>ersten</a:t>
            </a:r>
            <a:r>
              <a:rPr sz="1350" b="0" dirty="0">
                <a:solidFill>
                  <a:srgbClr val="304452"/>
                </a:solidFill>
              </a:rPr>
              <a:t> Monat. Sie </a:t>
            </a:r>
            <a:r>
              <a:rPr sz="1350" b="0" dirty="0" err="1">
                <a:solidFill>
                  <a:srgbClr val="304452"/>
                </a:solidFill>
              </a:rPr>
              <a:t>kann</a:t>
            </a:r>
            <a:r>
              <a:rPr sz="1350" b="0" dirty="0">
                <a:solidFill>
                  <a:srgbClr val="304452"/>
                </a:solidFill>
              </a:rPr>
              <a:t> auf </a:t>
            </a:r>
            <a:r>
              <a:rPr sz="1350" b="0" dirty="0" err="1">
                <a:solidFill>
                  <a:srgbClr val="304452"/>
                </a:solidFill>
              </a:rPr>
              <a:t>höchstens</a:t>
            </a:r>
            <a:r>
              <a:rPr sz="1350" b="0" dirty="0">
                <a:solidFill>
                  <a:srgbClr val="304452"/>
                </a:solidFill>
              </a:rPr>
              <a:t> </a:t>
            </a:r>
            <a:r>
              <a:rPr sz="1350" b="0" dirty="0" err="1">
                <a:solidFill>
                  <a:srgbClr val="304452"/>
                </a:solidFill>
              </a:rPr>
              <a:t>drei</a:t>
            </a:r>
            <a:r>
              <a:rPr sz="1350" b="0" dirty="0">
                <a:solidFill>
                  <a:srgbClr val="304452"/>
                </a:solidFill>
              </a:rPr>
              <a:t> </a:t>
            </a:r>
            <a:r>
              <a:rPr sz="1350" b="0" dirty="0" err="1">
                <a:solidFill>
                  <a:srgbClr val="304452"/>
                </a:solidFill>
              </a:rPr>
              <a:t>Monate</a:t>
            </a:r>
            <a:r>
              <a:rPr sz="1350" b="0" dirty="0">
                <a:solidFill>
                  <a:srgbClr val="304452"/>
                </a:solidFill>
              </a:rPr>
              <a:t> </a:t>
            </a:r>
            <a:r>
              <a:rPr sz="1350" b="0" dirty="0" err="1">
                <a:solidFill>
                  <a:srgbClr val="304452"/>
                </a:solidFill>
              </a:rPr>
              <a:t>verlän</a:t>
            </a:r>
            <a:r>
              <a:rPr sz="1350" b="0" dirty="0">
                <a:solidFill>
                  <a:srgbClr val="304452"/>
                </a:solidFill>
              </a:rPr>
              <a:t>-</a:t>
            </a:r>
          </a:p>
        </p:txBody>
      </p:sp>
      <p:sp>
        <p:nvSpPr>
          <p:cNvPr id="12" name="chunk18">
            <a:extLst>
              <a:ext uri="{FF2B5EF4-FFF2-40B4-BE49-F238E27FC236}">
                <a16:creationId xmlns:a16="http://schemas.microsoft.com/office/drawing/2014/main" id="{F7A34B1E-6B6D-4093-A46C-5EE5D8C2BE3A}"/>
              </a:ext>
            </a:extLst>
          </p:cNvPr>
          <p:cNvSpPr/>
          <p:nvPr/>
        </p:nvSpPr>
        <p:spPr>
          <a:xfrm>
            <a:off x="34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p:nvPr/>
        </p:nvSpPr>
        <p:spPr>
          <a:xfrm>
            <a:off x="3420000" y="2880000"/>
            <a:ext cx="1980000" cy="1440000"/>
          </a:xfrm>
          <a:prstGeom prst="rect">
            <a:avLst/>
          </a:prstGeom>
          <a:noFill/>
          <a:ln w="0">
            <a:noFill/>
            <a:prstDash val="solid"/>
          </a:ln>
        </p:spPr>
        <p:txBody>
          <a:bodyPr anchor="ctr"/>
          <a:lstStyle/>
          <a:p>
            <a:pPr algn="l">
              <a:defRPr sz="1350" b="0">
                <a:solidFill>
                  <a:srgbClr val="304452"/>
                </a:solidFill>
              </a:defRPr>
            </a:pPr>
            <a:r>
              <a:rPr sz="1350" b="0" dirty="0" err="1">
                <a:solidFill>
                  <a:srgbClr val="304452"/>
                </a:solidFill>
              </a:rPr>
              <a:t>gert</a:t>
            </a:r>
            <a:r>
              <a:rPr sz="1350" b="0" dirty="0">
                <a:solidFill>
                  <a:srgbClr val="304452"/>
                </a:solidFill>
              </a:rPr>
              <a:t> </a:t>
            </a:r>
            <a:r>
              <a:rPr sz="1350" b="0" dirty="0" err="1">
                <a:solidFill>
                  <a:srgbClr val="304452"/>
                </a:solidFill>
              </a:rPr>
              <a:t>werden</a:t>
            </a:r>
            <a:r>
              <a:rPr sz="1350" b="0" dirty="0">
                <a:solidFill>
                  <a:srgbClr val="304452"/>
                </a:solidFill>
              </a:rPr>
              <a:t>. Bei </a:t>
            </a:r>
            <a:r>
              <a:rPr sz="1350" b="0" dirty="0" err="1">
                <a:solidFill>
                  <a:srgbClr val="304452"/>
                </a:solidFill>
              </a:rPr>
              <a:t>Krankheit</a:t>
            </a:r>
            <a:r>
              <a:rPr sz="1350" b="0" dirty="0">
                <a:solidFill>
                  <a:srgbClr val="304452"/>
                </a:solidFill>
              </a:rPr>
              <a:t> …</a:t>
            </a:r>
          </a:p>
          <a:p>
            <a:endParaRPr sz="1350" b="0" dirty="0">
              <a:solidFill>
                <a:srgbClr val="304452"/>
              </a:solidFill>
            </a:endParaRPr>
          </a:p>
          <a:p>
            <a:pPr algn="l">
              <a:defRPr sz="1350" b="0">
                <a:solidFill>
                  <a:srgbClr val="304452"/>
                </a:solidFill>
              </a:defRPr>
            </a:pPr>
            <a:r>
              <a:rPr sz="1350" b="0" dirty="0">
                <a:solidFill>
                  <a:srgbClr val="304452"/>
                </a:solidFill>
              </a:rPr>
              <a:t>Art. 335c</a:t>
            </a:r>
          </a:p>
          <a:p>
            <a:pPr algn="l">
              <a:defRPr sz="1350" b="0">
                <a:solidFill>
                  <a:srgbClr val="304452"/>
                </a:solidFill>
              </a:defRPr>
            </a:pPr>
            <a:r>
              <a:rPr sz="1350" b="0" dirty="0" err="1">
                <a:solidFill>
                  <a:srgbClr val="304452"/>
                </a:solidFill>
              </a:rPr>
              <a:t>Kündigungsfristen</a:t>
            </a:r>
            <a:r>
              <a:rPr sz="1350" b="0" dirty="0">
                <a:solidFill>
                  <a:srgbClr val="304452"/>
                </a:solidFill>
              </a:rPr>
              <a:t> …</a:t>
            </a:r>
          </a:p>
        </p:txBody>
      </p:sp>
      <p:sp>
        <p:nvSpPr>
          <p:cNvPr id="14" name="hard-boundary">
            <a:extLst>
              <a:ext uri="{FF2B5EF4-FFF2-40B4-BE49-F238E27FC236}">
                <a16:creationId xmlns:a16="http://schemas.microsoft.com/office/drawing/2014/main" id="{3A8DD313-725B-4E1C-9433-3901D5DAF639}"/>
              </a:ext>
            </a:extLst>
          </p:cNvPr>
          <p:cNvSpPr/>
          <p:nvPr/>
        </p:nvSpPr>
        <p:spPr>
          <a:xfrm>
            <a:off x="3150000" y="252000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p:nvPr/>
        </p:nvSpPr>
        <p:spPr>
          <a:xfrm>
            <a:off x="2721375" y="4320000"/>
            <a:ext cx="857250" cy="400050"/>
          </a:xfrm>
          <a:prstGeom prst="rect">
            <a:avLst/>
          </a:prstGeom>
          <a:noFill/>
          <a:ln w="0">
            <a:noFill/>
            <a:prstDash val="solid"/>
          </a:ln>
        </p:spPr>
        <p:txBody>
          <a:bodyPr anchor="ctr"/>
          <a:lstStyle/>
          <a:p>
            <a:pPr algn="ctr">
              <a:defRPr sz="825" b="1">
                <a:solidFill>
                  <a:srgbClr val="D20A32"/>
                </a:solidFill>
              </a:defRPr>
            </a:pPr>
            <a:r>
              <a:rPr sz="825" b="1" dirty="0">
                <a:solidFill>
                  <a:srgbClr val="D20A32"/>
                </a:solidFill>
              </a:rPr>
              <a:t>STARRE</a:t>
            </a:r>
          </a:p>
          <a:p>
            <a:pPr algn="ctr">
              <a:defRPr sz="825" b="1">
                <a:solidFill>
                  <a:srgbClr val="D20A32"/>
                </a:solidFill>
              </a:defRPr>
            </a:pPr>
            <a:r>
              <a:rPr sz="825" b="1" dirty="0">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p:nvPr/>
        </p:nvSpPr>
        <p:spPr>
          <a:xfrm>
            <a:off x="883050" y="4680000"/>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p:nvPr/>
        </p:nvSpPr>
        <p:spPr>
          <a:xfrm>
            <a:off x="6660000" y="2520000"/>
            <a:ext cx="4680000" cy="1080000"/>
          </a:xfrm>
          <a:prstGeom prst="roundRect">
            <a:avLst>
              <a:gd name="adj" fmla="val 7273"/>
            </a:avLst>
          </a:prstGeom>
          <a:solidFill>
            <a:srgbClr val="FFFFFF"/>
          </a:solidFill>
          <a:ln w="12700">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p:nvPr/>
        </p:nvSpPr>
        <p:spPr>
          <a:xfrm>
            <a:off x="6840000" y="270000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p:nvPr/>
        </p:nvSpPr>
        <p:spPr>
          <a:xfrm>
            <a:off x="6840000" y="288000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r>
              <a:rPr lang="de-CH" sz="1350" b="1" dirty="0">
                <a:solidFill>
                  <a:srgbClr val="304452"/>
                </a:solidFill>
              </a:rPr>
              <a:t> </a:t>
            </a: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3" name="result-chip">
            <a:extLst>
              <a:ext uri="{FF2B5EF4-FFF2-40B4-BE49-F238E27FC236}">
                <a16:creationId xmlns:a16="http://schemas.microsoft.com/office/drawing/2014/main" id="{7BBF8A2F-B0CE-4AF3-A58D-9B9260B96072}"/>
              </a:ext>
            </a:extLst>
          </p:cNvPr>
          <p:cNvSpPr/>
          <p:nvPr/>
        </p:nvSpPr>
        <p:spPr>
          <a:xfrm>
            <a:off x="7380000" y="4320000"/>
            <a:ext cx="3238500" cy="457200"/>
          </a:xfrm>
          <a:prstGeom prst="roundRect">
            <a:avLst>
              <a:gd name="adj" fmla="val 16667"/>
            </a:avLst>
          </a:prstGeom>
          <a:solidFill>
            <a:srgbClr val="EAF4F4"/>
          </a:solidFill>
          <a:ln w="12700">
            <a:solidFill>
              <a:srgbClr val="307F87"/>
            </a:solidFill>
            <a:prstDash val="solid"/>
          </a:ln>
        </p:spPr>
        <p:txBody>
          <a:bodyPr anchor="ctr"/>
          <a:lstStyle/>
          <a:p>
            <a:pPr algn="ctr"/>
            <a:r>
              <a:rPr lang="de-CH" sz="1400" b="1" dirty="0">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p:nvPr/>
        </p:nvSpPr>
        <p:spPr>
          <a:xfrm>
            <a:off x="2160000" y="5400000"/>
            <a:ext cx="7920000" cy="7200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p:nvPr/>
        </p:nvSpPr>
        <p:spPr>
          <a:xfrm>
            <a:off x="2340000" y="55800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791735" y="3989550"/>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73340" y="3106154"/>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29" name="Gerade Verbindung mit Pfeil 28">
            <a:extLst>
              <a:ext uri="{FF2B5EF4-FFF2-40B4-BE49-F238E27FC236}">
                <a16:creationId xmlns:a16="http://schemas.microsoft.com/office/drawing/2014/main" id="{D8CAD5DB-1C3A-7209-B0FF-1D186D705450}"/>
              </a:ext>
            </a:extLst>
          </p:cNvPr>
          <p:cNvCxnSpPr>
            <a:stCxn id="23" idx="0"/>
            <a:endCxn id="17" idx="2"/>
          </p:cNvCxnSpPr>
          <p:nvPr/>
        </p:nvCxnSpPr>
        <p:spPr>
          <a:xfrm flipV="1">
            <a:off x="8999250" y="3600000"/>
            <a:ext cx="750" cy="720000"/>
          </a:xfrm>
          <a:prstGeom prst="straightConnector1">
            <a:avLst/>
          </a:prstGeom>
          <a:solidFill>
            <a:srgbClr val="EAF4F4"/>
          </a:solidFill>
          <a:ln w="12700">
            <a:solidFill>
              <a:srgbClr val="307F87"/>
            </a:solidFill>
            <a:prstDash val="solid"/>
          </a:ln>
        </p:spPr>
      </p:cxnSp>
      <p:sp>
        <p:nvSpPr>
          <p:cNvPr id="21" name="oversize-note">
            <a:extLst>
              <a:ext uri="{FF2B5EF4-FFF2-40B4-BE49-F238E27FC236}">
                <a16:creationId xmlns:a16="http://schemas.microsoft.com/office/drawing/2014/main" id="{6557A38C-4E89-4CDC-8237-FCB0C661E68A}"/>
              </a:ext>
            </a:extLst>
          </p:cNvPr>
          <p:cNvSpPr/>
          <p:nvPr/>
        </p:nvSpPr>
        <p:spPr>
          <a:xfrm>
            <a:off x="7125750" y="3826650"/>
            <a:ext cx="4095750" cy="266700"/>
          </a:xfrm>
          <a:prstGeom prst="rect">
            <a:avLst/>
          </a:prstGeom>
          <a:solidFill>
            <a:srgbClr val="F8FCFC"/>
          </a:solidFill>
          <a:ln w="0">
            <a:noFill/>
            <a:prstDash val="solid"/>
          </a:ln>
        </p:spPr>
        <p:txBody>
          <a:bodyPr anchor="ctr"/>
          <a:lstStyle/>
          <a:p>
            <a:pPr algn="ctr">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3" grpId="0" animBg="1"/>
      <p:bldP spid="25" grpId="0" animBg="1"/>
      <p:bldP spid="26" grpId="0"/>
      <p:bldP spid="2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Titel 1"/>
          <p:cNvSpPr>
            <a:spLocks noGrp="1"/>
          </p:cNvSpPr>
          <p:nvPr>
            <p:ph type="title"/>
          </p:nvPr>
        </p:nvSpPr>
        <p:spPr>
          <a:xfrm>
            <a:off x="482461" y="346633"/>
            <a:ext cx="11230114" cy="767605"/>
          </a:xfrm>
        </p:spPr>
        <p:txBody>
          <a:bodyPr/>
          <a:lstStyle/>
          <a:p>
            <a:r>
              <a:rPr lang="de-CH" sz="3600" dirty="0"/>
              <a:t>Reranking sortiert Kandidaten – es findet keine neuen</a:t>
            </a:r>
          </a:p>
        </p:txBody>
      </p:sp>
      <p:sp>
        <p:nvSpPr>
          <p:cNvPr id="19" name="slide-subtitle">
            <a:extLst>
              <a:ext uri="{FF2B5EF4-FFF2-40B4-BE49-F238E27FC236}">
                <a16:creationId xmlns:a16="http://schemas.microsoft.com/office/drawing/2014/main" id="{2B01E572-7675-4F03-90C2-090B6A8A6308}"/>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p:nvPr/>
        </p:nvSpPr>
        <p:spPr>
          <a:xfrm>
            <a:off x="720000" y="198000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p:nvPr/>
        </p:nvSpPr>
        <p:spPr>
          <a:xfrm>
            <a:off x="720000" y="2340000"/>
            <a:ext cx="2160000" cy="720000"/>
          </a:xfrm>
          <a:prstGeom prst="roundRect">
            <a:avLst>
              <a:gd name="adj" fmla="val 19512"/>
            </a:avLst>
          </a:prstGeom>
          <a:solidFill>
            <a:srgbClr val="2D3F4B"/>
          </a:solidFill>
          <a:ln w="0">
            <a:solidFill>
              <a:srgbClr val="2D3F4B"/>
            </a:solidFill>
            <a:prstDash val="solid"/>
          </a:ln>
        </p:spPr>
        <p:txBody>
          <a:bodyPr/>
          <a:lstStyle/>
          <a:p>
            <a:pPr algn="ctr">
              <a:defRPr sz="1575" b="1">
                <a:solidFill>
                  <a:srgbClr val="FFFFFF"/>
                </a:solidFill>
                <a:latin typeface="Arial"/>
                <a:ea typeface="Arial"/>
                <a:cs typeface="Arial"/>
              </a:defRPr>
            </a:pPr>
            <a:r>
              <a:rPr lang="de-DE" b="1" dirty="0">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lang="de-DE" b="1" dirty="0">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p:nvPr/>
        </p:nvSpPr>
        <p:spPr>
          <a:xfrm>
            <a:off x="2880000" y="2700000"/>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p:nvPr/>
        </p:nvSpPr>
        <p:spPr>
          <a:xfrm>
            <a:off x="3960000" y="198000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p:nvPr/>
        </p:nvSpPr>
        <p:spPr>
          <a:xfrm>
            <a:off x="3780000" y="23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p:nvPr/>
        </p:nvSpPr>
        <p:spPr>
          <a:xfrm>
            <a:off x="3960000" y="242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p:nvPr/>
        </p:nvSpPr>
        <p:spPr>
          <a:xfrm>
            <a:off x="4320000" y="242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Kündigungsfrist</a:t>
            </a:r>
            <a:endParaRPr sz="1275" b="0" dirty="0">
              <a:solidFill>
                <a:srgbClr val="2D3F4B"/>
              </a:solidFill>
              <a:latin typeface="Arial"/>
              <a:ea typeface="Arial"/>
              <a:cs typeface="Arial"/>
            </a:endParaRPr>
          </a:p>
        </p:txBody>
      </p:sp>
      <p:sp>
        <p:nvSpPr>
          <p:cNvPr id="30" name="vector-score-0">
            <a:extLst>
              <a:ext uri="{FF2B5EF4-FFF2-40B4-BE49-F238E27FC236}">
                <a16:creationId xmlns:a16="http://schemas.microsoft.com/office/drawing/2014/main" id="{F3A744E8-F2AE-463C-86F7-923304CFAC8C}"/>
              </a:ext>
            </a:extLst>
          </p:cNvPr>
          <p:cNvSpPr/>
          <p:nvPr/>
        </p:nvSpPr>
        <p:spPr>
          <a:xfrm>
            <a:off x="576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p:nvPr/>
        </p:nvSpPr>
        <p:spPr>
          <a:xfrm>
            <a:off x="3780000" y="2880000"/>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p:nvPr/>
        </p:nvSpPr>
        <p:spPr>
          <a:xfrm>
            <a:off x="3960000" y="296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p:nvPr/>
        </p:nvSpPr>
        <p:spPr>
          <a:xfrm>
            <a:off x="4320000" y="296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p:nvPr/>
        </p:nvSpPr>
        <p:spPr>
          <a:xfrm>
            <a:off x="576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p:nvPr/>
        </p:nvSpPr>
        <p:spPr>
          <a:xfrm>
            <a:off x="3780000" y="333576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p:nvPr/>
        </p:nvSpPr>
        <p:spPr>
          <a:xfrm>
            <a:off x="3960000" y="341672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p:nvPr/>
        </p:nvSpPr>
        <p:spPr>
          <a:xfrm>
            <a:off x="4320000" y="341672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p:nvPr/>
        </p:nvSpPr>
        <p:spPr>
          <a:xfrm>
            <a:off x="5760000" y="341672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dirty="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p:nvPr/>
        </p:nvSpPr>
        <p:spPr>
          <a:xfrm>
            <a:off x="3780000" y="3789038"/>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p:nvPr/>
        </p:nvSpPr>
        <p:spPr>
          <a:xfrm>
            <a:off x="3960000" y="387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p:nvPr/>
        </p:nvSpPr>
        <p:spPr>
          <a:xfrm>
            <a:off x="4320000" y="387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p:nvPr/>
        </p:nvSpPr>
        <p:spPr>
          <a:xfrm>
            <a:off x="5760000" y="3870000"/>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p:nvPr/>
        </p:nvSpPr>
        <p:spPr>
          <a:xfrm>
            <a:off x="6480000" y="3060000"/>
            <a:ext cx="762000" cy="0"/>
          </a:xfrm>
          <a:prstGeom prst="line">
            <a:avLst/>
          </a:prstGeom>
          <a:ln w="23813">
            <a:solidFill>
              <a:srgbClr val="43858A"/>
            </a:solidFill>
            <a:prstDash val="solid"/>
          </a:ln>
        </p:spPr>
        <p:txBody>
          <a:bodyPr/>
          <a:lstStyle/>
          <a:p>
            <a:endParaRPr lang="de-CH"/>
          </a:p>
        </p:txBody>
      </p:sp>
      <p:sp>
        <p:nvSpPr>
          <p:cNvPr id="45" name="cross-label">
            <a:extLst>
              <a:ext uri="{FF2B5EF4-FFF2-40B4-BE49-F238E27FC236}">
                <a16:creationId xmlns:a16="http://schemas.microsoft.com/office/drawing/2014/main" id="{7DBDADD9-B218-4FA9-8FE1-859807B1D72A}"/>
              </a:ext>
            </a:extLst>
          </p:cNvPr>
          <p:cNvSpPr/>
          <p:nvPr/>
        </p:nvSpPr>
        <p:spPr>
          <a:xfrm>
            <a:off x="6840000" y="360000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p:nvPr/>
        </p:nvSpPr>
        <p:spPr>
          <a:xfrm>
            <a:off x="6840000" y="378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p:nvPr/>
        </p:nvSpPr>
        <p:spPr>
          <a:xfrm>
            <a:off x="8100000" y="30600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p:nvPr/>
        </p:nvSpPr>
        <p:spPr>
          <a:xfrm>
            <a:off x="8820000" y="198000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p:nvPr/>
        </p:nvSpPr>
        <p:spPr>
          <a:xfrm>
            <a:off x="8820000" y="234000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p:nvPr/>
        </p:nvSpPr>
        <p:spPr>
          <a:xfrm>
            <a:off x="8820000" y="242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p:nvPr/>
        </p:nvSpPr>
        <p:spPr>
          <a:xfrm>
            <a:off x="9180000" y="242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p:nvPr/>
        </p:nvSpPr>
        <p:spPr>
          <a:xfrm>
            <a:off x="1080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p:nvPr/>
        </p:nvSpPr>
        <p:spPr>
          <a:xfrm>
            <a:off x="8820000" y="28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p:nvPr/>
        </p:nvSpPr>
        <p:spPr>
          <a:xfrm>
            <a:off x="8820000" y="296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p:nvPr/>
        </p:nvSpPr>
        <p:spPr>
          <a:xfrm>
            <a:off x="9180000" y="296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p:nvPr/>
        </p:nvSpPr>
        <p:spPr>
          <a:xfrm>
            <a:off x="1080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p:nvPr/>
        </p:nvSpPr>
        <p:spPr>
          <a:xfrm>
            <a:off x="8820000" y="324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p:nvPr/>
        </p:nvSpPr>
        <p:spPr>
          <a:xfrm>
            <a:off x="8820000" y="342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p:nvPr/>
        </p:nvSpPr>
        <p:spPr>
          <a:xfrm>
            <a:off x="9180000" y="342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p:nvPr/>
        </p:nvSpPr>
        <p:spPr>
          <a:xfrm>
            <a:off x="10800000" y="342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p:nvPr/>
        </p:nvSpPr>
        <p:spPr>
          <a:xfrm>
            <a:off x="8820000" y="37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p:nvPr/>
        </p:nvSpPr>
        <p:spPr>
          <a:xfrm>
            <a:off x="8820000" y="396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p:nvPr/>
        </p:nvSpPr>
        <p:spPr>
          <a:xfrm>
            <a:off x="9180000" y="396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p:nvPr/>
        </p:nvSpPr>
        <p:spPr>
          <a:xfrm>
            <a:off x="10800000" y="3960000"/>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p:nvPr/>
        </p:nvSpPr>
        <p:spPr>
          <a:xfrm>
            <a:off x="2160000" y="5040000"/>
            <a:ext cx="7740000" cy="720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p:nvPr/>
        </p:nvSpPr>
        <p:spPr>
          <a:xfrm>
            <a:off x="2520000" y="5040000"/>
            <a:ext cx="7200000" cy="54000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Icon Cross-Encoder">
            <a:extLst>
              <a:ext uri="{FF2B5EF4-FFF2-40B4-BE49-F238E27FC236}">
                <a16:creationId xmlns:a16="http://schemas.microsoft.com/office/drawing/2014/main" id="{010C40FB-D25D-CD65-BF09-E9CF2713632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0000" y="2700000"/>
            <a:ext cx="720000" cy="72000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grpId="0" nodeType="withEffect" nodePh="1">
                                  <p:stCondLst>
                                    <p:cond delay="0"/>
                                  </p:stCondLst>
                                  <p:endCondLst>
                                    <p:cond evt="begin" delay="0">
                                      <p:tn val="35"/>
                                    </p:cond>
                                  </p:endCondLst>
                                  <p:childTnLst>
                                    <p:set>
                                      <p:cBhvr>
                                        <p:cTn id="36" dur="1" fill="hold">
                                          <p:stCondLst>
                                            <p:cond delay="0"/>
                                          </p:stCondLst>
                                        </p:cTn>
                                        <p:tgtEl>
                                          <p:spTgt spid="4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8"/>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3"/>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5"/>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7"/>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9"/>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0"/>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1"/>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2"/>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3"/>
                                        </p:tgtEl>
                                        <p:attrNameLst>
                                          <p:attrName>style.visibility</p:attrName>
                                        </p:attrNameLst>
                                      </p:cBhvr>
                                      <p:to>
                                        <p:strVal val="visible"/>
                                      </p:to>
                                    </p:set>
                                  </p:childTnLst>
                                </p:cTn>
                              </p:par>
                              <p:par>
                                <p:cTn id="75" presetID="1" presetClass="entr" presetSubtype="0" fill="hold" grpId="0" nodeType="withEffect" nodePh="1">
                                  <p:stCondLst>
                                    <p:cond delay="0"/>
                                  </p:stCondLst>
                                  <p:endCondLst>
                                    <p:cond evt="begin" delay="0">
                                      <p:tn val="75"/>
                                    </p:cond>
                                  </p:endCondLst>
                                  <p:childTnLst>
                                    <p:set>
                                      <p:cBhvr>
                                        <p:cTn id="76" dur="1" fill="hold">
                                          <p:stCondLst>
                                            <p:cond delay="0"/>
                                          </p:stCondLst>
                                        </p:cTn>
                                        <p:tgtEl>
                                          <p:spTgt spid="64"/>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5"/>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6"/>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2"/>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grpId="0" nodeType="clickEffect">
                                  <p:stCondLst>
                                    <p:cond delay="0"/>
                                  </p:stCondLst>
                                  <p:childTnLst>
                                    <p:set>
                                      <p:cBhvr>
                                        <p:cTn id="92" dur="1" fill="hold">
                                          <p:stCondLst>
                                            <p:cond delay="0"/>
                                          </p:stCondLst>
                                        </p:cTn>
                                        <p:tgtEl>
                                          <p:spTgt spid="65"/>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4 · GraphRAG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18</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24480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Graph Database"/>
          <p:cNvSpPr/>
          <p:nvPr/>
        </p:nvSpPr>
        <p:spPr>
          <a:xfrm>
            <a:off x="4096800" y="3736800"/>
            <a:ext cx="1526400" cy="954000"/>
          </a:xfrm>
          <a:prstGeom prst="roundRect">
            <a:avLst/>
          </a:prstGeom>
          <a:noFill/>
          <a:ln w="28575">
            <a:solidFill>
              <a:srgbClr val="C60C30"/>
            </a:solidFill>
            <a:prstDash val="dash"/>
          </a:ln>
        </p:spPr>
        <p:txBody>
          <a:bodyPr/>
          <a:lstStyle/>
          <a:p>
            <a:endParaRPr/>
          </a:p>
        </p:txBody>
      </p:sp>
      <p:sp>
        <p:nvSpPr>
          <p:cNvPr id="2001" name="Marker Graph Engine"/>
          <p:cNvSpPr/>
          <p:nvPr/>
        </p:nvSpPr>
        <p:spPr>
          <a:xfrm>
            <a:off x="22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p:nvPr/>
        </p:nvSpPr>
        <p:spPr>
          <a:xfrm>
            <a:off x="540000" y="1260000"/>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p:nvPr/>
        </p:nvSpPr>
        <p:spPr>
          <a:xfrm>
            <a:off x="198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p:nvPr/>
        </p:nvSpPr>
        <p:spPr>
          <a:xfrm>
            <a:off x="486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p:nvPr/>
        </p:nvSpPr>
        <p:spPr>
          <a:xfrm>
            <a:off x="666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p:nvPr/>
        </p:nvSpPr>
        <p:spPr>
          <a:xfrm>
            <a:off x="918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p:nvPr/>
        </p:nvSpPr>
        <p:spPr>
          <a:xfrm>
            <a:off x="540000" y="198000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p:nvPr/>
        </p:nvSpPr>
        <p:spPr>
          <a:xfrm>
            <a:off x="540000" y="2340000"/>
            <a:ext cx="1440000" cy="198000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p:nvPr/>
        </p:nvSpPr>
        <p:spPr>
          <a:xfrm>
            <a:off x="1080000" y="252000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p:nvPr/>
        </p:nvSpPr>
        <p:spPr>
          <a:xfrm>
            <a:off x="720000" y="3240000"/>
            <a:ext cx="1260000" cy="7200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p:nvPr/>
        </p:nvSpPr>
        <p:spPr>
          <a:xfrm>
            <a:off x="2520000" y="198000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p:nvPr/>
        </p:nvSpPr>
        <p:spPr>
          <a:xfrm>
            <a:off x="2340000" y="2340000"/>
            <a:ext cx="2700000" cy="216000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p:nvPr/>
        </p:nvSpPr>
        <p:spPr>
          <a:xfrm>
            <a:off x="2520000" y="2520000"/>
            <a:ext cx="2160000" cy="720000"/>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p:nvPr/>
        </p:nvSpPr>
        <p:spPr>
          <a:xfrm>
            <a:off x="2700000" y="252000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p:nvPr/>
        </p:nvSpPr>
        <p:spPr>
          <a:xfrm>
            <a:off x="2700000" y="2880000"/>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p:nvPr/>
        </p:nvSpPr>
        <p:spPr>
          <a:xfrm>
            <a:off x="2520000" y="3420000"/>
            <a:ext cx="2160000" cy="720000"/>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p:nvPr/>
        </p:nvSpPr>
        <p:spPr>
          <a:xfrm>
            <a:off x="2700000" y="36000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p:nvPr/>
        </p:nvSpPr>
        <p:spPr>
          <a:xfrm>
            <a:off x="2700000" y="3780000"/>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p:nvPr/>
        </p:nvSpPr>
        <p:spPr>
          <a:xfrm>
            <a:off x="5220000" y="198000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p:nvPr/>
        </p:nvSpPr>
        <p:spPr>
          <a:xfrm>
            <a:off x="5220000" y="2700000"/>
            <a:ext cx="1260000" cy="126000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p:nvPr/>
        </p:nvSpPr>
        <p:spPr>
          <a:xfrm>
            <a:off x="5580000" y="3060000"/>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p:nvPr/>
        </p:nvSpPr>
        <p:spPr>
          <a:xfrm>
            <a:off x="5220000" y="3960000"/>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p:nvPr/>
        </p:nvSpPr>
        <p:spPr>
          <a:xfrm>
            <a:off x="7020000" y="198000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p:nvPr/>
        </p:nvSpPr>
        <p:spPr>
          <a:xfrm>
            <a:off x="7020000" y="2340000"/>
            <a:ext cx="2340000" cy="216000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p:nvPr/>
        </p:nvSpPr>
        <p:spPr>
          <a:xfrm>
            <a:off x="7560000" y="306000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p:nvPr/>
        </p:nvSpPr>
        <p:spPr>
          <a:xfrm>
            <a:off x="7560000" y="306000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p:nvPr/>
        </p:nvSpPr>
        <p:spPr>
          <a:xfrm>
            <a:off x="8280000" y="27000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p:nvPr/>
        </p:nvSpPr>
        <p:spPr>
          <a:xfrm>
            <a:off x="7380000" y="2880000"/>
            <a:ext cx="540000" cy="54000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p:nvPr/>
        </p:nvSpPr>
        <p:spPr>
          <a:xfrm>
            <a:off x="8100000" y="2520000"/>
            <a:ext cx="540000" cy="54000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p:nvPr/>
        </p:nvSpPr>
        <p:spPr>
          <a:xfrm>
            <a:off x="8280000" y="3240000"/>
            <a:ext cx="540000" cy="54000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p:nvPr/>
        </p:nvSpPr>
        <p:spPr>
          <a:xfrm>
            <a:off x="7380000" y="306000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p:nvPr/>
        </p:nvSpPr>
        <p:spPr>
          <a:xfrm>
            <a:off x="8100000" y="27000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p:nvPr/>
        </p:nvSpPr>
        <p:spPr>
          <a:xfrm>
            <a:off x="8280000" y="34200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p:nvPr/>
        </p:nvSpPr>
        <p:spPr>
          <a:xfrm>
            <a:off x="7200000" y="3960000"/>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p:nvPr/>
        </p:nvSpPr>
        <p:spPr>
          <a:xfrm>
            <a:off x="9720000" y="198000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p:nvPr/>
        </p:nvSpPr>
        <p:spPr>
          <a:xfrm>
            <a:off x="9540000" y="2340000"/>
            <a:ext cx="2160000" cy="216000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p:nvPr/>
        </p:nvSpPr>
        <p:spPr>
          <a:xfrm>
            <a:off x="9900000" y="25200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p:nvPr/>
        </p:nvSpPr>
        <p:spPr>
          <a:xfrm>
            <a:off x="9900000" y="3060000"/>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p:nvPr/>
        </p:nvSpPr>
        <p:spPr>
          <a:xfrm>
            <a:off x="9900000" y="3240000"/>
            <a:ext cx="1620000" cy="9000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p:nvPr/>
        </p:nvSpPr>
        <p:spPr>
          <a:xfrm>
            <a:off x="1980000" y="5040000"/>
            <a:ext cx="8280000" cy="7200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p:nvPr/>
        </p:nvSpPr>
        <p:spPr>
          <a:xfrm>
            <a:off x="2160000" y="5040000"/>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p:nvPr/>
        </p:nvSpPr>
        <p:spPr>
          <a:xfrm>
            <a:off x="2160000" y="540000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sz="3600" dirty="0"/>
              <a:t>GraphRAG verbindet mehrere Suchsignale</a:t>
            </a: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p:nvPr/>
        </p:nvSpPr>
        <p:spPr>
          <a:xfrm>
            <a:off x="540000" y="126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p:nvPr/>
        </p:nvSpPr>
        <p:spPr>
          <a:xfrm>
            <a:off x="540000" y="324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p:nvPr/>
        </p:nvSpPr>
        <p:spPr>
          <a:xfrm>
            <a:off x="2520000"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p:nvPr/>
        </p:nvSpPr>
        <p:spPr>
          <a:xfrm>
            <a:off x="5040000"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p:nvPr/>
        </p:nvSpPr>
        <p:spPr>
          <a:xfrm>
            <a:off x="1620000" y="28800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p:nvPr/>
        </p:nvSpPr>
        <p:spPr>
          <a:xfrm>
            <a:off x="6840000" y="28800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p:nvPr/>
        </p:nvSpPr>
        <p:spPr>
          <a:xfrm>
            <a:off x="198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p:nvPr/>
        </p:nvSpPr>
        <p:spPr>
          <a:xfrm>
            <a:off x="52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p:nvPr/>
        </p:nvSpPr>
        <p:spPr>
          <a:xfrm>
            <a:off x="720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p:nvPr/>
        </p:nvSpPr>
        <p:spPr>
          <a:xfrm>
            <a:off x="88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p:nvPr/>
        </p:nvSpPr>
        <p:spPr>
          <a:xfrm>
            <a:off x="10260000" y="4320000"/>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p:nvPr/>
        </p:nvSpPr>
        <p:spPr>
          <a:xfrm>
            <a:off x="540000" y="1620000"/>
            <a:ext cx="1800000" cy="126000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p:nvPr/>
        </p:nvSpPr>
        <p:spPr>
          <a:xfrm>
            <a:off x="720000" y="18000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p:nvPr/>
        </p:nvSpPr>
        <p:spPr>
          <a:xfrm>
            <a:off x="1260000" y="216000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p:nvPr/>
        </p:nvSpPr>
        <p:spPr>
          <a:xfrm>
            <a:off x="720000" y="25200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p:nvPr/>
        </p:nvSpPr>
        <p:spPr>
          <a:xfrm>
            <a:off x="2880000" y="1620000"/>
            <a:ext cx="2160000" cy="126000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p:nvPr/>
        </p:nvSpPr>
        <p:spPr>
          <a:xfrm>
            <a:off x="3060000" y="18000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p:nvPr/>
        </p:nvSpPr>
        <p:spPr>
          <a:xfrm>
            <a:off x="3060000" y="21600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p:nvPr/>
        </p:nvSpPr>
        <p:spPr>
          <a:xfrm>
            <a:off x="5400000" y="1440000"/>
            <a:ext cx="2700000" cy="1440000"/>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p:nvPr/>
        </p:nvSpPr>
        <p:spPr>
          <a:xfrm>
            <a:off x="5580000" y="1620000"/>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p:nvPr/>
        </p:nvSpPr>
        <p:spPr>
          <a:xfrm>
            <a:off x="6300000" y="2160000"/>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p:nvPr/>
        </p:nvSpPr>
        <p:spPr>
          <a:xfrm>
            <a:off x="6300000" y="2160000"/>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p:nvPr/>
        </p:nvSpPr>
        <p:spPr>
          <a:xfrm>
            <a:off x="6840000" y="1980000"/>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p:nvPr/>
        </p:nvSpPr>
        <p:spPr>
          <a:xfrm>
            <a:off x="6120000" y="1980000"/>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p:nvPr/>
        </p:nvSpPr>
        <p:spPr>
          <a:xfrm>
            <a:off x="6660000" y="1800000"/>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p:nvPr/>
        </p:nvSpPr>
        <p:spPr>
          <a:xfrm>
            <a:off x="6660000" y="2340000"/>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p:nvPr/>
        </p:nvSpPr>
        <p:spPr>
          <a:xfrm>
            <a:off x="6120000" y="2160000"/>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p:nvPr/>
        </p:nvSpPr>
        <p:spPr>
          <a:xfrm>
            <a:off x="6660000" y="1980000"/>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p:nvPr/>
        </p:nvSpPr>
        <p:spPr>
          <a:xfrm>
            <a:off x="6660000" y="2520000"/>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p:nvPr/>
        </p:nvSpPr>
        <p:spPr>
          <a:xfrm>
            <a:off x="7200000" y="2520000"/>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p:nvPr/>
        </p:nvSpPr>
        <p:spPr>
          <a:xfrm>
            <a:off x="540000" y="3780000"/>
            <a:ext cx="1260000" cy="126000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p:nvPr/>
        </p:nvSpPr>
        <p:spPr>
          <a:xfrm>
            <a:off x="720000" y="3960000"/>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p:nvPr/>
        </p:nvSpPr>
        <p:spPr>
          <a:xfrm>
            <a:off x="900000" y="414000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p:nvPr/>
        </p:nvSpPr>
        <p:spPr>
          <a:xfrm>
            <a:off x="720000" y="4680000"/>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p:nvPr/>
        </p:nvSpPr>
        <p:spPr>
          <a:xfrm>
            <a:off x="2340000" y="3600000"/>
            <a:ext cx="2880000" cy="162000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p:nvPr/>
        </p:nvSpPr>
        <p:spPr>
          <a:xfrm>
            <a:off x="2520000" y="378000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p:nvPr/>
        </p:nvSpPr>
        <p:spPr>
          <a:xfrm>
            <a:off x="2520000" y="4140000"/>
            <a:ext cx="1260000" cy="9000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p:nvPr/>
        </p:nvSpPr>
        <p:spPr>
          <a:xfrm>
            <a:off x="2520000" y="4140000"/>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p:nvPr/>
        </p:nvSpPr>
        <p:spPr>
          <a:xfrm>
            <a:off x="2520000" y="432000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p:nvPr/>
        </p:nvSpPr>
        <p:spPr>
          <a:xfrm>
            <a:off x="3780000" y="4140000"/>
            <a:ext cx="1260000" cy="9000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p:nvPr/>
        </p:nvSpPr>
        <p:spPr>
          <a:xfrm>
            <a:off x="3780000" y="4140000"/>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p:nvPr/>
        </p:nvSpPr>
        <p:spPr>
          <a:xfrm>
            <a:off x="3780000" y="432000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p:nvPr/>
        </p:nvSpPr>
        <p:spPr>
          <a:xfrm>
            <a:off x="5580000" y="3780000"/>
            <a:ext cx="1440000" cy="126000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p:nvPr/>
        </p:nvSpPr>
        <p:spPr>
          <a:xfrm>
            <a:off x="5760000" y="3960000"/>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p:nvPr/>
        </p:nvSpPr>
        <p:spPr>
          <a:xfrm>
            <a:off x="5760000" y="450000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p:nvPr/>
        </p:nvSpPr>
        <p:spPr>
          <a:xfrm>
            <a:off x="7560000" y="3780000"/>
            <a:ext cx="1080000" cy="126000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p:nvPr/>
        </p:nvSpPr>
        <p:spPr>
          <a:xfrm>
            <a:off x="7560000" y="3960000"/>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p:nvPr/>
        </p:nvSpPr>
        <p:spPr>
          <a:xfrm>
            <a:off x="7740000" y="4140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p:nvPr/>
        </p:nvSpPr>
        <p:spPr>
          <a:xfrm>
            <a:off x="7560000" y="4680000"/>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p:nvPr/>
        </p:nvSpPr>
        <p:spPr>
          <a:xfrm>
            <a:off x="9000000" y="3780000"/>
            <a:ext cx="1080000" cy="126000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p:nvPr/>
        </p:nvSpPr>
        <p:spPr>
          <a:xfrm>
            <a:off x="9180000" y="3960000"/>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p:nvPr/>
        </p:nvSpPr>
        <p:spPr>
          <a:xfrm>
            <a:off x="9180000" y="4320000"/>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p:nvPr/>
        </p:nvSpPr>
        <p:spPr>
          <a:xfrm>
            <a:off x="9180000" y="4680000"/>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p:nvPr/>
        </p:nvSpPr>
        <p:spPr>
          <a:xfrm>
            <a:off x="10620000" y="3780000"/>
            <a:ext cx="1080000" cy="126000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p:nvPr/>
        </p:nvSpPr>
        <p:spPr>
          <a:xfrm>
            <a:off x="10620000" y="3960000"/>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p:nvPr/>
        </p:nvSpPr>
        <p:spPr>
          <a:xfrm>
            <a:off x="10800000" y="4140000"/>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p:nvPr/>
        </p:nvSpPr>
        <p:spPr>
          <a:xfrm>
            <a:off x="10620000" y="4680000"/>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p:nvPr/>
        </p:nvSpPr>
        <p:spPr>
          <a:xfrm>
            <a:off x="2160000" y="5400000"/>
            <a:ext cx="7920000" cy="54000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p:nvPr/>
        </p:nvSpPr>
        <p:spPr>
          <a:xfrm>
            <a:off x="2340000" y="5580000"/>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3" name="Titel 1"/>
          <p:cNvSpPr>
            <a:spLocks noGrp="1"/>
          </p:cNvSpPr>
          <p:nvPr>
            <p:ph type="title"/>
          </p:nvPr>
        </p:nvSpPr>
        <p:spPr>
          <a:xfrm>
            <a:off x="482461" y="346633"/>
            <a:ext cx="11230114" cy="767605"/>
          </a:xfrm>
        </p:spPr>
        <p:txBody>
          <a:bodyPr/>
          <a:lstStyle/>
          <a:p>
            <a:r>
              <a:rPr lang="de-CH" sz="3600" dirty="0"/>
              <a:t>Hybrider GraphRAG verbindet mehrere Suchsignale</a:t>
            </a:r>
          </a:p>
        </p:txBody>
      </p:sp>
    </p:spTree>
    <p:extLst>
      <p:ext uri="{BB962C8B-B14F-4D97-AF65-F5344CB8AC3E}">
        <p14:creationId xmlns:p14="http://schemas.microsoft.com/office/powerpoint/2010/main" val="10800522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subtitle">
            <a:extLst>
              <a:ext uri="{FF2B5EF4-FFF2-40B4-BE49-F238E27FC236}">
                <a16:creationId xmlns:a16="http://schemas.microsoft.com/office/drawing/2014/main" id="{D4843392-06B7-4F34-8C77-0B596171C446}"/>
              </a:ext>
            </a:extLst>
          </p:cNvPr>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p:nvPr/>
        </p:nvSpPr>
        <p:spPr>
          <a:xfrm>
            <a:off x="540000" y="1980000"/>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p:nvPr/>
        </p:nvSpPr>
        <p:spPr>
          <a:xfrm>
            <a:off x="54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p:nvPr/>
        </p:nvSpPr>
        <p:spPr>
          <a:xfrm>
            <a:off x="90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p:nvPr/>
        </p:nvSpPr>
        <p:spPr>
          <a:xfrm>
            <a:off x="90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p:nvPr/>
        </p:nvSpPr>
        <p:spPr>
          <a:xfrm>
            <a:off x="234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p:nvPr/>
        </p:nvSpPr>
        <p:spPr>
          <a:xfrm>
            <a:off x="234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p:nvPr/>
        </p:nvSpPr>
        <p:spPr>
          <a:xfrm>
            <a:off x="2160000" y="270000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p:nvPr/>
        </p:nvSpPr>
        <p:spPr>
          <a:xfrm>
            <a:off x="90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p:nvPr/>
        </p:nvSpPr>
        <p:spPr>
          <a:xfrm>
            <a:off x="4140000" y="1980000"/>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p:nvPr/>
        </p:nvSpPr>
        <p:spPr>
          <a:xfrm>
            <a:off x="414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p:nvPr/>
        </p:nvSpPr>
        <p:spPr>
          <a:xfrm>
            <a:off x="432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p:nvPr/>
        </p:nvSpPr>
        <p:spPr>
          <a:xfrm>
            <a:off x="432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p:nvPr/>
        </p:nvSpPr>
        <p:spPr>
          <a:xfrm>
            <a:off x="576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p:nvPr/>
        </p:nvSpPr>
        <p:spPr>
          <a:xfrm>
            <a:off x="57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p:nvPr/>
        </p:nvSpPr>
        <p:spPr>
          <a:xfrm>
            <a:off x="5580000" y="270000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p:nvPr/>
        </p:nvSpPr>
        <p:spPr>
          <a:xfrm>
            <a:off x="432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p:nvPr/>
        </p:nvSpPr>
        <p:spPr>
          <a:xfrm>
            <a:off x="7560000" y="1980000"/>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p:nvPr/>
        </p:nvSpPr>
        <p:spPr>
          <a:xfrm>
            <a:off x="756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p:nvPr/>
        </p:nvSpPr>
        <p:spPr>
          <a:xfrm>
            <a:off x="774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p:nvPr/>
        </p:nvSpPr>
        <p:spPr>
          <a:xfrm>
            <a:off x="774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p:nvPr/>
        </p:nvSpPr>
        <p:spPr>
          <a:xfrm>
            <a:off x="936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p:nvPr/>
        </p:nvSpPr>
        <p:spPr>
          <a:xfrm>
            <a:off x="93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p:nvPr/>
        </p:nvSpPr>
        <p:spPr>
          <a:xfrm>
            <a:off x="9180000" y="270000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p:nvPr/>
        </p:nvSpPr>
        <p:spPr>
          <a:xfrm>
            <a:off x="792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p:nvPr/>
        </p:nvSpPr>
        <p:spPr>
          <a:xfrm>
            <a:off x="2160000" y="5040000"/>
            <a:ext cx="7920000" cy="72000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p:nvPr/>
        </p:nvSpPr>
        <p:spPr>
          <a:xfrm>
            <a:off x="2340000" y="52200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p:cNvSpPr>
            <a:spLocks noGrp="1"/>
          </p:cNvSpPr>
          <p:nvPr>
            <p:ph type="title"/>
          </p:nvPr>
        </p:nvSpPr>
        <p:spPr>
          <a:xfrm>
            <a:off x="482461" y="346633"/>
            <a:ext cx="11230114" cy="767605"/>
          </a:xfrm>
        </p:spPr>
        <p:txBody>
          <a:bodyPr/>
          <a:lstStyle/>
          <a:p>
            <a:r>
              <a:rPr lang="de-CH" sz="2800" dirty="0"/>
              <a:t>Besseres Retrieval verbessert Antworten – garantiert sie aber nicht</a:t>
            </a:r>
          </a:p>
        </p:txBody>
      </p:sp>
      <p:sp>
        <p:nvSpPr>
          <p:cNvPr id="4" name="slide-subtitle">
            <a:extLst>
              <a:ext uri="{FF2B5EF4-FFF2-40B4-BE49-F238E27FC236}">
                <a16:creationId xmlns:a16="http://schemas.microsoft.com/office/drawing/2014/main" id="{4E8CE74E-69E1-4652-A334-2E118021F7D4}"/>
              </a:ext>
            </a:extLst>
          </p:cNvPr>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p:nvPr/>
        </p:nvSpPr>
        <p:spPr>
          <a:xfrm>
            <a:off x="5940000" y="1980000"/>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p:nvPr/>
        </p:nvSpPr>
        <p:spPr>
          <a:xfrm>
            <a:off x="9360000" y="1980000"/>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p:nvPr/>
        </p:nvSpPr>
        <p:spPr>
          <a:xfrm>
            <a:off x="720000" y="234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p:nvPr/>
        </p:nvSpPr>
        <p:spPr>
          <a:xfrm>
            <a:off x="3420000" y="234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p:nvPr/>
        </p:nvSpPr>
        <p:spPr>
          <a:xfrm>
            <a:off x="3420000" y="234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p:nvPr/>
        </p:nvSpPr>
        <p:spPr>
          <a:xfrm>
            <a:off x="3420000" y="2520000"/>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p:nvPr/>
        </p:nvSpPr>
        <p:spPr>
          <a:xfrm>
            <a:off x="5940000" y="234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p:nvPr/>
        </p:nvSpPr>
        <p:spPr>
          <a:xfrm>
            <a:off x="9360000" y="2340000"/>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p:nvPr/>
        </p:nvSpPr>
        <p:spPr>
          <a:xfrm>
            <a:off x="720000" y="306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p:nvPr/>
        </p:nvSpPr>
        <p:spPr>
          <a:xfrm>
            <a:off x="3420000" y="306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p:nvPr/>
        </p:nvSpPr>
        <p:spPr>
          <a:xfrm>
            <a:off x="3420000" y="3060000"/>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p:nvPr/>
        </p:nvSpPr>
        <p:spPr>
          <a:xfrm>
            <a:off x="3420000" y="3240000"/>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p:nvPr/>
        </p:nvSpPr>
        <p:spPr>
          <a:xfrm>
            <a:off x="5940000" y="3060000"/>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p:nvPr/>
        </p:nvSpPr>
        <p:spPr>
          <a:xfrm>
            <a:off x="9360000" y="306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p:nvPr/>
        </p:nvSpPr>
        <p:spPr>
          <a:xfrm>
            <a:off x="720000" y="378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p:nvPr/>
        </p:nvSpPr>
        <p:spPr>
          <a:xfrm>
            <a:off x="3420000" y="378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p:nvPr/>
        </p:nvSpPr>
        <p:spPr>
          <a:xfrm>
            <a:off x="3420000" y="378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p:nvPr/>
        </p:nvSpPr>
        <p:spPr>
          <a:xfrm>
            <a:off x="3420000" y="3960000"/>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p:nvPr/>
        </p:nvSpPr>
        <p:spPr>
          <a:xfrm>
            <a:off x="5940000" y="3780000"/>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p:nvPr/>
        </p:nvSpPr>
        <p:spPr>
          <a:xfrm>
            <a:off x="9360000" y="378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p:nvPr/>
        </p:nvSpPr>
        <p:spPr>
          <a:xfrm>
            <a:off x="720000" y="450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p:nvPr/>
        </p:nvSpPr>
        <p:spPr>
          <a:xfrm>
            <a:off x="3420000" y="450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p:nvPr/>
        </p:nvSpPr>
        <p:spPr>
          <a:xfrm>
            <a:off x="3420000" y="450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p:nvPr/>
        </p:nvSpPr>
        <p:spPr>
          <a:xfrm>
            <a:off x="3420000" y="4680000"/>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p:nvPr/>
        </p:nvSpPr>
        <p:spPr>
          <a:xfrm>
            <a:off x="5940000" y="450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p:nvPr/>
        </p:nvSpPr>
        <p:spPr>
          <a:xfrm>
            <a:off x="9360000" y="4500000"/>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p:nvPr/>
        </p:nvSpPr>
        <p:spPr>
          <a:xfrm>
            <a:off x="1440000" y="540000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sz="3600" dirty="0"/>
              <a:t>Wahlmodul: Drei Gruppen, ein gemeinsamer Befund</a:t>
            </a:r>
          </a:p>
        </p:txBody>
      </p:sp>
      <p:sp>
        <p:nvSpPr>
          <p:cNvPr id="4" name="slide-subtitle">
            <a:extLst>
              <a:ext uri="{FF2B5EF4-FFF2-40B4-BE49-F238E27FC236}">
                <a16:creationId xmlns:a16="http://schemas.microsoft.com/office/drawing/2014/main" id="{70ADD6C2-1AC9-4217-B4C9-AF01182573B5}"/>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p:nvPr/>
        </p:nvSpPr>
        <p:spPr>
          <a:xfrm>
            <a:off x="5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p:nvPr/>
        </p:nvSpPr>
        <p:spPr>
          <a:xfrm>
            <a:off x="720000" y="2340000"/>
            <a:ext cx="540000" cy="54000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p:nvPr/>
        </p:nvSpPr>
        <p:spPr>
          <a:xfrm>
            <a:off x="1440000" y="23400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p:nvPr/>
        </p:nvSpPr>
        <p:spPr>
          <a:xfrm>
            <a:off x="7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p:nvPr/>
        </p:nvSpPr>
        <p:spPr>
          <a:xfrm>
            <a:off x="90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p:nvPr/>
        </p:nvSpPr>
        <p:spPr>
          <a:xfrm>
            <a:off x="90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p:nvPr/>
        </p:nvSpPr>
        <p:spPr>
          <a:xfrm>
            <a:off x="41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p:nvPr/>
        </p:nvSpPr>
        <p:spPr>
          <a:xfrm>
            <a:off x="4320000" y="2340000"/>
            <a:ext cx="540000" cy="54000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p:nvPr/>
        </p:nvSpPr>
        <p:spPr>
          <a:xfrm>
            <a:off x="5040000" y="23400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p:nvPr/>
        </p:nvSpPr>
        <p:spPr>
          <a:xfrm>
            <a:off x="43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p:nvPr/>
        </p:nvSpPr>
        <p:spPr>
          <a:xfrm>
            <a:off x="450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p:nvPr/>
        </p:nvSpPr>
        <p:spPr>
          <a:xfrm>
            <a:off x="450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p:nvPr/>
        </p:nvSpPr>
        <p:spPr>
          <a:xfrm>
            <a:off x="77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p:nvPr/>
        </p:nvSpPr>
        <p:spPr>
          <a:xfrm>
            <a:off x="7920000" y="2340000"/>
            <a:ext cx="540000" cy="54000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p:nvPr/>
        </p:nvSpPr>
        <p:spPr>
          <a:xfrm>
            <a:off x="8640000" y="23400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p:nvPr/>
        </p:nvSpPr>
        <p:spPr>
          <a:xfrm>
            <a:off x="79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p:nvPr/>
        </p:nvSpPr>
        <p:spPr>
          <a:xfrm>
            <a:off x="792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p:nvPr/>
        </p:nvSpPr>
        <p:spPr>
          <a:xfrm>
            <a:off x="792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p:nvPr/>
        </p:nvSpPr>
        <p:spPr>
          <a:xfrm>
            <a:off x="2160000" y="5220000"/>
            <a:ext cx="7740000" cy="5400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p:nvPr/>
        </p:nvSpPr>
        <p:spPr>
          <a:xfrm>
            <a:off x="2340000" y="54000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sz="3600" dirty="0"/>
              <a:t>Frameworkwahl ist eine Betriebsentscheidung</a:t>
            </a:r>
          </a:p>
        </p:txBody>
      </p:sp>
      <p:sp>
        <p:nvSpPr>
          <p:cNvPr id="4" name="slide-subtitle">
            <a:extLst>
              <a:ext uri="{FF2B5EF4-FFF2-40B4-BE49-F238E27FC236}">
                <a16:creationId xmlns:a16="http://schemas.microsoft.com/office/drawing/2014/main" id="{19E3B18D-0B98-4491-AD8E-10927075BBBF}"/>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p:nvPr/>
        </p:nvSpPr>
        <p:spPr>
          <a:xfrm>
            <a:off x="1800000" y="4860000"/>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p:nvPr/>
        </p:nvSpPr>
        <p:spPr>
          <a:xfrm>
            <a:off x="1800000" y="1980000"/>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p:nvPr/>
        </p:nvSpPr>
        <p:spPr>
          <a:xfrm>
            <a:off x="1800000" y="5040000"/>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p:nvPr/>
        </p:nvSpPr>
        <p:spPr>
          <a:xfrm>
            <a:off x="8460000" y="504000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p:nvPr/>
        </p:nvSpPr>
        <p:spPr>
          <a:xfrm>
            <a:off x="540000" y="1800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p:nvPr/>
        </p:nvSpPr>
        <p:spPr>
          <a:xfrm>
            <a:off x="540000" y="486000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p:nvPr/>
        </p:nvSpPr>
        <p:spPr>
          <a:xfrm>
            <a:off x="2700000" y="2340000"/>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p:nvPr/>
        </p:nvSpPr>
        <p:spPr>
          <a:xfrm>
            <a:off x="1980000" y="1980000"/>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p:nvPr/>
        </p:nvSpPr>
        <p:spPr>
          <a:xfrm>
            <a:off x="1800000" y="288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p:nvPr/>
        </p:nvSpPr>
        <p:spPr>
          <a:xfrm>
            <a:off x="5220000" y="3240000"/>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p:nvPr/>
        </p:nvSpPr>
        <p:spPr>
          <a:xfrm>
            <a:off x="4500000" y="2880000"/>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p:nvPr/>
        </p:nvSpPr>
        <p:spPr>
          <a:xfrm>
            <a:off x="4320000" y="36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p:nvPr/>
        </p:nvSpPr>
        <p:spPr>
          <a:xfrm>
            <a:off x="7020000" y="2340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p:nvPr/>
        </p:nvSpPr>
        <p:spPr>
          <a:xfrm>
            <a:off x="6300000" y="198000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p:nvPr/>
        </p:nvSpPr>
        <p:spPr>
          <a:xfrm>
            <a:off x="6120000" y="27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p:nvPr/>
        </p:nvSpPr>
        <p:spPr>
          <a:xfrm>
            <a:off x="8640000" y="3780000"/>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p:nvPr/>
        </p:nvSpPr>
        <p:spPr>
          <a:xfrm>
            <a:off x="7920000" y="3420000"/>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p:nvPr/>
        </p:nvSpPr>
        <p:spPr>
          <a:xfrm>
            <a:off x="7740000" y="432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p:nvPr/>
        </p:nvSpPr>
        <p:spPr>
          <a:xfrm>
            <a:off x="2520000" y="5580000"/>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p:nvPr/>
        </p:nvSpPr>
        <p:spPr>
          <a:xfrm>
            <a:off x="2700000" y="558000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sz="3600" dirty="0"/>
              <a:t>Drei Leitlinien für gutes RAG</a:t>
            </a:r>
          </a:p>
        </p:txBody>
      </p:sp>
      <p:sp>
        <p:nvSpPr>
          <p:cNvPr id="4" name="slide-subtitle">
            <a:extLst>
              <a:ext uri="{FF2B5EF4-FFF2-40B4-BE49-F238E27FC236}">
                <a16:creationId xmlns:a16="http://schemas.microsoft.com/office/drawing/2014/main" id="{BDF0D373-FA57-4027-8FD3-996257B19EC7}"/>
              </a:ext>
            </a:extLst>
          </p:cNvPr>
          <p:cNvSpPr/>
          <p:nvPr/>
        </p:nvSpPr>
        <p:spPr>
          <a:xfrm>
            <a:off x="540000" y="1440000"/>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p:nvPr/>
        </p:nvSpPr>
        <p:spPr>
          <a:xfrm>
            <a:off x="900000" y="2160000"/>
            <a:ext cx="720000" cy="7200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p:nvPr/>
        </p:nvSpPr>
        <p:spPr>
          <a:xfrm>
            <a:off x="1800000" y="2160000"/>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p:nvPr/>
        </p:nvSpPr>
        <p:spPr>
          <a:xfrm>
            <a:off x="5400000" y="216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p:nvPr/>
        </p:nvSpPr>
        <p:spPr>
          <a:xfrm>
            <a:off x="1800000" y="2880000"/>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p:nvPr/>
        </p:nvSpPr>
        <p:spPr>
          <a:xfrm>
            <a:off x="900000" y="3240000"/>
            <a:ext cx="720000" cy="7200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p:nvPr/>
        </p:nvSpPr>
        <p:spPr>
          <a:xfrm>
            <a:off x="1800000" y="3240000"/>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p:nvPr/>
        </p:nvSpPr>
        <p:spPr>
          <a:xfrm>
            <a:off x="5400000" y="324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p:nvPr/>
        </p:nvSpPr>
        <p:spPr>
          <a:xfrm>
            <a:off x="1800000" y="3960000"/>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p:nvPr/>
        </p:nvSpPr>
        <p:spPr>
          <a:xfrm>
            <a:off x="900000" y="4320000"/>
            <a:ext cx="720000" cy="7200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p:nvPr/>
        </p:nvSpPr>
        <p:spPr>
          <a:xfrm>
            <a:off x="1800000" y="4500000"/>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p:nvPr/>
        </p:nvSpPr>
        <p:spPr>
          <a:xfrm>
            <a:off x="5400000" y="432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p:nvPr/>
        </p:nvSpPr>
        <p:spPr>
          <a:xfrm>
            <a:off x="2520000" y="5580000"/>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p:nvPr/>
        </p:nvSpPr>
        <p:spPr>
          <a:xfrm>
            <a:off x="2700000" y="558000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10.08.2026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26</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540000" y="1440000"/>
            <a:ext cx="1980000" cy="1980000"/>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20000" y="1440000"/>
            <a:ext cx="1980000" cy="19800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20000" y="3600000"/>
            <a:ext cx="3420000" cy="1980000"/>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4084</Words>
  <Application>Microsoft Office PowerPoint</Application>
  <PresentationFormat>Breitbild</PresentationFormat>
  <Paragraphs>646</Paragraphs>
  <Slides>26</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26</vt:i4>
      </vt:variant>
    </vt:vector>
  </HeadingPairs>
  <TitlesOfParts>
    <vt:vector size="30"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Stufe 1 · Chat ohne RAG</vt:lpstr>
      <vt:lpstr>Vom Setup zur ersten belegbaren Antwort</vt:lpstr>
      <vt:lpstr>Stufe 2a · Ingest</vt:lpstr>
      <vt:lpstr>Stufe 2b · Retrieval</vt:lpstr>
      <vt:lpstr>Advanced RAG</vt:lpstr>
      <vt:lpstr>Stufe 3 · Chunking und Reranking</vt:lpstr>
      <vt:lpstr>Chunking entscheidet, was auffindbar bleibt</vt:lpstr>
      <vt:lpstr>Reranking sortiert Kandidaten – es findet keine neuen</vt:lpstr>
      <vt:lpstr>Stufe 4 · GraphRAG</vt:lpstr>
      <vt:lpstr>GraphRAG verbindet mehrere Suchsignale</vt:lpstr>
      <vt:lpstr>Hybrider GraphRAG verbindet mehrere Suchsignale</vt:lpstr>
      <vt:lpstr>GraphRAG: höchster Article-Recall, kleinster Kontext</vt:lpstr>
      <vt:lpstr>Besseres Retrieval verbessert Antworten – garantiert sie aber nicht</vt:lpstr>
      <vt:lpstr>Wahlmodul: Drei Gruppen, ein gemeinsamer Befund</vt:lpstr>
      <vt:lpstr>Frameworkwahl ist eine Betriebsentscheidung</vt:lpstr>
      <vt:lpstr>Drei Leitlinien für gutes RAG</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51</cp:revision>
  <dcterms:created xsi:type="dcterms:W3CDTF">2026-08-04T12:09:36Z</dcterms:created>
  <dcterms:modified xsi:type="dcterms:W3CDTF">2026-08-10T15:40:16Z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