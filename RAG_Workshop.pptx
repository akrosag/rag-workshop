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F4B"/>
    <a:srgbClr val="81725E"/>
    <a:srgbClr val="C3BBB2"/>
    <a:srgbClr val="C60C30"/>
    <a:srgbClr val="FA94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79298" autoAdjust="0"/>
  </p:normalViewPr>
  <p:slideViewPr>
    <p:cSldViewPr snapToGrid="0">
      <p:cViewPr varScale="1">
        <p:scale>
          <a:sx n="98" d="100"/>
          <a:sy n="98" d="100"/>
        </p:scale>
        <p:origin x="1014" y="51"/>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07.08.2026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07.08.2026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Folie baut auf den drei Anfragearten der vorherigen Folie auf. Ohne Kontext muss das Modell fehlende Details expandieren. RAG liefert relevante Dokumentstellen und macht daraus eine Kompressionsaufgabe. Translation verändert dagegen primär Darstellung oder Sprache.</a:t>
            </a:r>
          </a:p>
          <a:p>
            <a:endParaRPr/>
          </a:p>
          <a:p>
            <a:r>
              <a:t>[Sources]</a:t>
            </a:r>
          </a:p>
          <a:p>
            <a:r>
              <a:t>- Workshop - RAG (Retrieval Augmented Generation), Confluence, Seite 321455241</a:t>
            </a:r>
          </a:p>
          <a:p>
            <a:r>
              <a:t>- Google Material Design Icons: open_in_full, compress, translate; Apache License 2.0</a:t>
            </a:r>
          </a:p>
          <a:p>
            <a:r>
              <a:t>- https://github.com/google/material-design-icons</a:t>
            </a:r>
          </a:p>
          <a:p>
            <a:r>
              <a:t>- https://github.com/google/material-design-icons/blob/master/LICENSE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Context Engineering ist die bewusste Zusammenstellung dessen, was das Modell für die aktuelle Anfrage sieht. RAG liefert relevante Dokument-Chunks. MCP-Tools stellen aktuelle Daten bereit oder führen Aktionen aus. Skills aktivieren spezialisierte Anweisungen und Workflows. Das Kontextfenster enthält schließlich Frage, Verlauf und die ausgewählten Inhalte.</a:t>
            </a:r>
          </a:p>
          <a:p>
            <a:endParaRPr/>
          </a:p>
          <a:p>
            <a:r>
              <a:t>[Sources]</a:t>
            </a:r>
          </a:p>
          <a:p>
            <a:r>
              <a:t>- Workshop - RAG (Retrieval Augmented Generation), Confluence, Seite 321455241</a:t>
            </a:r>
          </a:p>
          <a:p>
            <a:r>
              <a:t>- RAG-Workshop Repository README.md</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Das Repository ist bewusst stufenweise aufgebaut. rag-1 zeigt nur den Modellaufruf. rag-2 ergänzt Fixed-Size-Chunking, Chroma und klassisches Vector Retrieval. rag-3 führt strukturorientiertes Legal-Chunking sowie optionales Cross-Encoder-Reranking ein. rag-4 ergänzt hybrides Retrieval und Graph-Nachbarn. evaluate.py vergleicht Retrieval, Antwortqualität und Tokenverbrauch. Die Stufen sind Lernschritte und keine konkurrierenden Produktversionen.</a:t>
            </a:r>
          </a:p>
          <a:p>
            <a:endParaRPr/>
          </a:p>
          <a:p>
            <a:r>
              <a:t>[Sources]</a:t>
            </a:r>
          </a:p>
          <a:p>
            <a:r>
              <a:t>- C:/Users/mehlst/Documents/RAG-Workshop/README.md</a:t>
            </a:r>
          </a:p>
          <a:p>
            <a:r>
              <a:t>- C:/Users/mehlst/Documents/RAG-Workshop/Workshop2026-RAG-Workshop-Script.txt</a:t>
            </a:r>
          </a:p>
          <a:p>
            <a:r>
              <a:t>- C:/Users/mehlst/Documents/RAG-Workshop/rag-1-chat.py</a:t>
            </a:r>
          </a:p>
          <a:p>
            <a:r>
              <a:t>- C:/Users/mehlst/Documents/RAG-Workshop/rag-2a-ingest.py</a:t>
            </a:r>
          </a:p>
          <a:p>
            <a:r>
              <a:t>- C:/Users/mehlst/Documents/RAG-Workshop/rag-3a-ingest.py</a:t>
            </a:r>
          </a:p>
          <a:p>
            <a:r>
              <a:t>- C:/Users/mehlst/Documents/RAG-Workshop/rag-4b-chat.py</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pPr marL="0" indent="0">
              <a:buNone/>
            </a:pPr>
            <a:r>
              <a:rPr lang="de-DE" dirty="0"/>
              <a:t>Semantische Chunking in unserer Implementierung:</a:t>
            </a:r>
          </a:p>
          <a:p>
            <a:r>
              <a:rPr lang="de-DE" dirty="0"/>
              <a:t>So funktioniert es:</a:t>
            </a:r>
          </a:p>
          <a:p>
            <a:r>
              <a:rPr lang="de-DE" dirty="0" err="1"/>
              <a:t>Markdown</a:t>
            </a:r>
            <a:r>
              <a:rPr lang="de-DE" dirty="0"/>
              <a:t> wird in Blöcke beziehungsweise Absätze zerlegt.</a:t>
            </a:r>
          </a:p>
          <a:p>
            <a:r>
              <a:rPr lang="de-DE" dirty="0"/>
              <a:t>PDF-Seitenmarker, Inhaltsverzeichnisse und isolierte Quellenfragmente werden entfernt.</a:t>
            </a:r>
          </a:p>
          <a:p>
            <a:r>
              <a:rPr lang="de-DE" dirty="0"/>
              <a:t>Eine Zeile mit </a:t>
            </a:r>
            <a:r>
              <a:rPr lang="de-DE" sz="1800" kern="1200" dirty="0">
                <a:solidFill>
                  <a:schemeClr val="tx1"/>
                </a:solidFill>
                <a:latin typeface="+mn-lt"/>
                <a:ea typeface="+mn-ea"/>
                <a:cs typeface="+mn-cs"/>
              </a:rPr>
              <a:t>Art. &lt;Nummer&gt;</a:t>
            </a:r>
            <a:r>
              <a:rPr lang="de-DE" dirty="0"/>
              <a:t> beginnt einen neuen Artikel-Chunk.</a:t>
            </a:r>
          </a:p>
          <a:p>
            <a:r>
              <a:rPr lang="de-DE" dirty="0"/>
              <a:t>Ein Artikel bleibt möglichst vollständig zusammen.</a:t>
            </a:r>
          </a:p>
          <a:p>
            <a:r>
              <a:rPr lang="de-DE" dirty="0"/>
              <a:t>Ist ein Artikel zu groß, wird bevorzugt getrennt an:</a:t>
            </a:r>
          </a:p>
          <a:p>
            <a:pPr lvl="1"/>
            <a:r>
              <a:rPr lang="de-DE" dirty="0"/>
              <a:t>Absätzen</a:t>
            </a:r>
          </a:p>
          <a:p>
            <a:pPr lvl="1"/>
            <a:r>
              <a:rPr lang="de-DE" dirty="0"/>
              <a:t>nummerierten Bestimmungen</a:t>
            </a:r>
          </a:p>
          <a:p>
            <a:pPr lvl="1"/>
            <a:r>
              <a:rPr lang="de-DE" dirty="0"/>
              <a:t>Satzgrenzen</a:t>
            </a:r>
          </a:p>
          <a:p>
            <a:pPr lvl="1"/>
            <a:r>
              <a:rPr lang="de-DE" dirty="0"/>
              <a:t>erst im Notfall an Leerzeichen beziehungsweise Zeichen</a:t>
            </a:r>
          </a:p>
          <a:p>
            <a:r>
              <a:rPr lang="de-DE" dirty="0"/>
              <a:t>Fortsetzungen erhalten einen Präfix wie:</a:t>
            </a:r>
          </a:p>
          <a:p>
            <a:pPr rtl="0"/>
            <a:r>
              <a:rPr lang="de-DE" sz="1800" kern="1200" dirty="0">
                <a:solidFill>
                  <a:schemeClr val="tx1"/>
                </a:solidFill>
                <a:latin typeface="+mn-lt"/>
                <a:ea typeface="+mn-ea"/>
                <a:cs typeface="+mn-cs"/>
              </a:rPr>
              <a:t>Art. 13 (Fortsetzung)</a:t>
            </a:r>
          </a:p>
          <a:p>
            <a:r>
              <a:rPr lang="de-DE" dirty="0"/>
              <a:t>Kleine Nicht-Artikel-Blöcke werden bis zum Größenbudget zusammengeführt.</a:t>
            </a:r>
          </a:p>
          <a:p>
            <a:endParaRPr lang="de-DE"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1000"/>
              </a:spcAft>
              <a:buClrTx/>
              <a:buSzTx/>
              <a:buFont typeface="Arial" panose="020B0604020202020204" pitchFamily="34" charset="0"/>
              <a:buNone/>
              <a:tabLst/>
              <a:defRPr/>
            </a:pPr>
            <a:r>
              <a:rPr lang="de-CH" sz="1800" kern="1200" dirty="0">
                <a:solidFill>
                  <a:schemeClr val="tx1"/>
                </a:solidFill>
                <a:latin typeface="+mn-lt"/>
                <a:ea typeface="+mn-ea"/>
                <a:cs typeface="+mn-cs"/>
              </a:rPr>
              <a:t>BAAI/bge-reranker-v2-m3 ist unser Cross-Encoder</a:t>
            </a:r>
          </a:p>
          <a:p>
            <a:pPr marL="0" marR="0" lvl="0" indent="0" algn="l" defTabSz="914400" rtl="0" eaLnBrk="1" fontAlgn="auto" latinLnBrk="0" hangingPunct="1">
              <a:lnSpc>
                <a:spcPct val="100000"/>
              </a:lnSpc>
              <a:spcBef>
                <a:spcPts val="0"/>
              </a:spcBef>
              <a:spcAft>
                <a:spcPts val="1000"/>
              </a:spcAft>
              <a:buClrTx/>
              <a:buSzTx/>
              <a:buFont typeface="Arial" panose="020B0604020202020204" pitchFamily="34" charset="0"/>
              <a:buNone/>
              <a:tabLst/>
              <a:defRPr/>
            </a:pPr>
            <a:endParaRPr lang="de-DE" dirty="0"/>
          </a:p>
          <a:p>
            <a:r>
              <a:rPr dirty="0"/>
              <a:t>rag-3c holt </a:t>
            </a:r>
            <a:r>
              <a:rPr dirty="0" err="1"/>
              <a:t>zunächst</a:t>
            </a:r>
            <a:r>
              <a:rPr dirty="0"/>
              <a:t> Vector-</a:t>
            </a:r>
            <a:r>
              <a:rPr dirty="0" err="1"/>
              <a:t>Kandidaten</a:t>
            </a:r>
            <a:r>
              <a:rPr dirty="0"/>
              <a:t> und </a:t>
            </a:r>
            <a:r>
              <a:rPr dirty="0" err="1"/>
              <a:t>bewertet</a:t>
            </a:r>
            <a:r>
              <a:rPr dirty="0"/>
              <a:t> </a:t>
            </a:r>
            <a:r>
              <a:rPr dirty="0" err="1"/>
              <a:t>anschließend</a:t>
            </a:r>
            <a:r>
              <a:rPr dirty="0"/>
              <a:t> Frage und Chunk </a:t>
            </a:r>
            <a:r>
              <a:rPr dirty="0" err="1"/>
              <a:t>gemeinsam</a:t>
            </a:r>
            <a:r>
              <a:rPr dirty="0"/>
              <a:t> </a:t>
            </a:r>
            <a:r>
              <a:rPr dirty="0" err="1"/>
              <a:t>mit</a:t>
            </a:r>
            <a:r>
              <a:rPr dirty="0"/>
              <a:t> </a:t>
            </a:r>
            <a:r>
              <a:rPr dirty="0" err="1"/>
              <a:t>einem</a:t>
            </a:r>
            <a:r>
              <a:rPr dirty="0"/>
              <a:t> Cross-Encoder. Nur die </a:t>
            </a:r>
            <a:r>
              <a:rPr dirty="0" err="1"/>
              <a:t>bestbewerteten</a:t>
            </a:r>
            <a:r>
              <a:rPr dirty="0"/>
              <a:t> Chunks </a:t>
            </a:r>
            <a:r>
              <a:rPr dirty="0" err="1"/>
              <a:t>gehen</a:t>
            </a:r>
            <a:r>
              <a:rPr dirty="0"/>
              <a:t> in den Prompt. Reranking </a:t>
            </a:r>
            <a:r>
              <a:rPr dirty="0" err="1"/>
              <a:t>verbessert</a:t>
            </a:r>
            <a:r>
              <a:rPr dirty="0"/>
              <a:t> </a:t>
            </a:r>
            <a:r>
              <a:rPr dirty="0" err="1"/>
              <a:t>Präzision</a:t>
            </a:r>
            <a:r>
              <a:rPr dirty="0"/>
              <a:t> und </a:t>
            </a:r>
            <a:r>
              <a:rPr dirty="0" err="1"/>
              <a:t>Reihenfolge</a:t>
            </a:r>
            <a:r>
              <a:rPr dirty="0"/>
              <a:t>, </a:t>
            </a:r>
            <a:r>
              <a:rPr dirty="0" err="1"/>
              <a:t>aber</a:t>
            </a:r>
            <a:r>
              <a:rPr dirty="0"/>
              <a:t> </a:t>
            </a:r>
            <a:r>
              <a:rPr dirty="0" err="1"/>
              <a:t>nicht</a:t>
            </a:r>
            <a:r>
              <a:rPr dirty="0"/>
              <a:t> den </a:t>
            </a:r>
            <a:r>
              <a:rPr dirty="0" err="1"/>
              <a:t>Kandidaten</a:t>
            </a:r>
            <a:r>
              <a:rPr dirty="0"/>
              <a:t>-Recall.</a:t>
            </a:r>
          </a:p>
          <a:p>
            <a:endParaRPr dirty="0"/>
          </a:p>
          <a:p>
            <a:r>
              <a:rPr dirty="0"/>
              <a:t>[Sources]</a:t>
            </a:r>
          </a:p>
          <a:p>
            <a:r>
              <a:rPr dirty="0"/>
              <a:t>- C:/Users/mehlst/Documents/RAG-Workshop/rag-3c-chat-rerank.py</a:t>
            </a:r>
          </a:p>
          <a:p>
            <a:r>
              <a:rPr dirty="0"/>
              <a:t>- C:/Users/mehlst/Documents/RAG-Workshop/Workshop2026-RAG-Workshop-Script.txt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lang="de-CH" dirty="0" err="1"/>
              <a:t>graph_retrieve</a:t>
            </a:r>
            <a:r>
              <a:rPr lang="de-CH" dirty="0"/>
              <a:t> kombiniert semantische Treffer mit lexikalischen Artikelkandidaten. </a:t>
            </a:r>
            <a:r>
              <a:rPr lang="de-CH" dirty="0" err="1"/>
              <a:t>Reciprocal</a:t>
            </a:r>
            <a:r>
              <a:rPr lang="de-CH" dirty="0"/>
              <a:t> Rank Fusion führt die Rankings zusammen. Erst danach werden Graph-Nachbarn und erkannte Artikelverweise ergänzt. Der Graph ersetzt die Suche nicht, sondern erweitert gute Seeds.</a:t>
            </a:r>
          </a:p>
          <a:p>
            <a:endParaRPr lang="de-CH" dirty="0"/>
          </a:p>
          <a:p>
            <a:r>
              <a:rPr lang="de-CH" dirty="0"/>
              <a:t>[Sources]</a:t>
            </a:r>
          </a:p>
          <a:p>
            <a:r>
              <a:rPr lang="de-CH" dirty="0"/>
              <a:t>- C:/Users/mehlst/Documents/RAG-Workshop/graph_retrieval.py</a:t>
            </a:r>
          </a:p>
          <a:p>
            <a:r>
              <a:rPr lang="de-CH" dirty="0"/>
              <a:t>- C:/Users/mehlst/Documents/RAG-Workshop/rag-4b-chat.py</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Der vollständige Lauf umfasst sechs Fragen und ein gemeinsames Budget von sechs Chunks. GraphRAG erreicht mit 87,5 Prozent den höchsten Article Recall@K und verwendet durchschnittlich 802 Prompt-Kontext-Tokens. Der Reranker erzielt mit 0,68 die beste MRR. Diese Werte sind eine Workshop-Messung und keine allgemeine Benchmark.</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Im vollständigen Lauf erreicht GraphRAG 55,6 Prozent Faktenabdeckung und 66,7 Prozent Zitationsvollständigkeit. Fixed Vector erzielt trotz schwächerem Retrieval 61,1 Prozent Faktenabdeckung. Die Antwortmetriken schwanken, weil das LLM nicht deterministisch antwortet und trotz Quellenprompt falsche Artikel nennen kann. Retrieval und Generierung müssen deshalb getrennt bewertet werden.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Gruppen arbeiten parallel an Chunking, Reranking oder Graph plus Evaluation. Jede Gruppe berichtet maximal zwei Minuten und beantwortet drei Fragen: Was wurde ausgeführt oder verändert? Was wurde besser oder schlechter? Welche Grenze bleibt bestehen?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Matrix ist eine qualitative Orientierung, keine Rangliste. From scratch maximiert Verständnis und Kontrolle. Frameworks reduzieren Implementierungsaufwand. LangGraph adressiert komplexere zustandsbasierte Abläufe. Managed Services reduzieren Eigenbetrieb, erhöhen aber Abhängigkeit und erfordern eine Prüfung von Datenresidenz, Berechtigungen, Kosten und Lock-in.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drei Leitlinien fassen den Workshop zusammen. Kontext ist ein Engineering-Artefakt. Retrieval und Antwortqualität brauchen getrennte Metriken. Komplexität wie Reranking oder GraphRAG sollte nur ergänzt werden, wenn ein konkretes Problem gemessen wurde.</a:t>
            </a:r>
          </a:p>
          <a:p>
            <a:endParaRPr/>
          </a:p>
          <a:p>
            <a:r>
              <a:t>[Sources]</a:t>
            </a:r>
          </a:p>
          <a:p>
            <a:r>
              <a:t>- C:/Users/mehlst/Documents/RAG-Workshop/Workshop2026-RAG-Workshop-Script.txt</a:t>
            </a:r>
          </a:p>
          <a:p>
            <a:r>
              <a:t>- C:/Users/mehlst/Documents/RAG-Workshop/evaluation/report.md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07.08.2026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07.08.2026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07.08.2026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07.08.2026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1.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3.xml"/><Relationship Id="rId6" Type="http://schemas.openxmlformats.org/officeDocument/2006/relationships/image" Target="../media/image13.png"/><Relationship Id="rId11" Type="http://schemas.openxmlformats.org/officeDocument/2006/relationships/image" Target="../media/image18.png"/><Relationship Id="rId5" Type="http://schemas.openxmlformats.org/officeDocument/2006/relationships/image" Target="../media/image12.png"/><Relationship Id="rId10" Type="http://schemas.openxmlformats.org/officeDocument/2006/relationships/image" Target="../media/image17.png"/><Relationship Id="rId4" Type="http://schemas.openxmlformats.org/officeDocument/2006/relationships/image" Target="../media/image11.png"/><Relationship Id="rId9"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jp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07.08.2026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514351"/>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07.08.2026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07.08.2026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07.08.2026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sp>
        <p:nvSpPr>
          <p:cNvPr id="10" name="Rechteck: abgerundete Ecken 9">
            <a:extLst>
              <a:ext uri="{FF2B5EF4-FFF2-40B4-BE49-F238E27FC236}">
                <a16:creationId xmlns:a16="http://schemas.microsoft.com/office/drawing/2014/main" id="{B38993B1-D63F-B962-E43D-16CB3FBB6F39}"/>
              </a:ext>
            </a:extLst>
          </p:cNvPr>
          <p:cNvSpPr>
            <a:spLocks noGrp="1"/>
          </p:cNvSpPr>
          <p:nvPr/>
        </p:nvSpPr>
        <p:spPr>
          <a:xfrm>
            <a:off x="714375" y="514350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Textfeld 74">
            <a:extLst>
              <a:ext uri="{FF2B5EF4-FFF2-40B4-BE49-F238E27FC236}">
                <a16:creationId xmlns:a16="http://schemas.microsoft.com/office/drawing/2014/main" id="{DECF3306-686E-CFF1-9A40-27FB67140A18}"/>
              </a:ext>
            </a:extLst>
          </p:cNvPr>
          <p:cNvSpPr>
            <a:spLocks noGrp="1"/>
          </p:cNvSpPr>
          <p:nvPr/>
        </p:nvSpPr>
        <p:spPr>
          <a:xfrm>
            <a:off x="701754" y="5162179"/>
            <a:ext cx="1259680" cy="276999"/>
          </a:xfrm>
          <a:prstGeom prst="rect">
            <a:avLst/>
          </a:prstGeom>
          <a:noFill/>
        </p:spPr>
        <p:txBody>
          <a:bodyPr wrap="square">
            <a:spAutoFit/>
          </a:bodyPr>
          <a:lstStyle/>
          <a:p>
            <a:pPr algn="ctr">
              <a:buNone/>
            </a:pPr>
            <a:r>
              <a:rPr sz="1200"/>
              <a:t>Raw Data Files</a:t>
            </a:r>
          </a:p>
        </p:txBody>
      </p:sp>
      <p:sp>
        <p:nvSpPr>
          <p:cNvPr id="14" name="Gerader Verbinder 13">
            <a:extLst>
              <a:ext uri="{FF2B5EF4-FFF2-40B4-BE49-F238E27FC236}">
                <a16:creationId xmlns:a16="http://schemas.microsoft.com/office/drawing/2014/main" id="{CD93CF7F-4061-47BC-D2DF-7546F2E82AED}"/>
              </a:ext>
            </a:extLst>
          </p:cNvPr>
          <p:cNvSpPr>
            <a:spLocks noGrp="1"/>
          </p:cNvSpPr>
          <p:nvPr/>
        </p:nvSpPr>
        <p:spPr>
          <a:xfrm>
            <a:off x="714375" y="5439178"/>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stretch>
            <a:fillRect/>
          </a:stretch>
        </p:blipFill>
        <p:spPr>
          <a:xfrm flipH="1">
            <a:off x="1133584" y="5503383"/>
            <a:ext cx="415070" cy="480063"/>
          </a:xfrm>
          <a:prstGeom prst="rect">
            <a:avLst/>
          </a:prstGeom>
        </p:spPr>
      </p:pic>
      <p:sp>
        <p:nvSpPr>
          <p:cNvPr id="18" name="Rechteck: abgerundete Ecken 17">
            <a:extLst>
              <a:ext uri="{FF2B5EF4-FFF2-40B4-BE49-F238E27FC236}">
                <a16:creationId xmlns:a16="http://schemas.microsoft.com/office/drawing/2014/main" id="{D9E7FE46-B6BE-8721-269A-6415AA075AA3}"/>
              </a:ext>
            </a:extLst>
          </p:cNvPr>
          <p:cNvSpPr>
            <a:spLocks noGrp="1"/>
          </p:cNvSpPr>
          <p:nvPr/>
        </p:nvSpPr>
        <p:spPr>
          <a:xfrm>
            <a:off x="10287000" y="1571625"/>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3"/>
          <a:stretch>
            <a:fillRect/>
          </a:stretch>
        </p:blipFill>
        <p:spPr>
          <a:xfrm flipH="1">
            <a:off x="10611919" y="1867303"/>
            <a:ext cx="609861" cy="566720"/>
          </a:xfrm>
          <a:prstGeom prst="rect">
            <a:avLst/>
          </a:prstGeom>
        </p:spPr>
      </p:pic>
      <p:sp>
        <p:nvSpPr>
          <p:cNvPr id="22" name="Textfeld 51">
            <a:extLst>
              <a:ext uri="{FF2B5EF4-FFF2-40B4-BE49-F238E27FC236}">
                <a16:creationId xmlns:a16="http://schemas.microsoft.com/office/drawing/2014/main" id="{E9B671B8-ADBD-7C77-A761-7D4C7F8DC77F}"/>
              </a:ext>
            </a:extLst>
          </p:cNvPr>
          <p:cNvSpPr>
            <a:spLocks noGrp="1"/>
          </p:cNvSpPr>
          <p:nvPr/>
        </p:nvSpPr>
        <p:spPr>
          <a:xfrm>
            <a:off x="10274379" y="1590304"/>
            <a:ext cx="1259680" cy="276999"/>
          </a:xfrm>
          <a:prstGeom prst="rect">
            <a:avLst/>
          </a:prstGeom>
          <a:noFill/>
        </p:spPr>
        <p:txBody>
          <a:bodyPr wrap="square">
            <a:spAutoFit/>
          </a:bodyPr>
          <a:lstStyle/>
          <a:p>
            <a:pPr algn="ctr">
              <a:buNone/>
            </a:pPr>
            <a:r>
              <a:rPr sz="1200">
                <a:solidFill>
                  <a:schemeClr val="bg1"/>
                </a:solidFill>
              </a:rPr>
              <a:t>Query</a:t>
            </a:r>
          </a:p>
        </p:txBody>
      </p:sp>
      <p:sp>
        <p:nvSpPr>
          <p:cNvPr id="24" name="Rechteck: abgerundete Ecken 23">
            <a:extLst>
              <a:ext uri="{FF2B5EF4-FFF2-40B4-BE49-F238E27FC236}">
                <a16:creationId xmlns:a16="http://schemas.microsoft.com/office/drawing/2014/main" id="{EF7C69F7-3BA6-3716-FB87-C6056C54CA0B}"/>
              </a:ext>
            </a:extLst>
          </p:cNvPr>
          <p:cNvSpPr>
            <a:spLocks noGrp="1"/>
          </p:cNvSpPr>
          <p:nvPr/>
        </p:nvSpPr>
        <p:spPr>
          <a:xfrm>
            <a:off x="10287000" y="4619625"/>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4"/>
          <a:stretch>
            <a:fillRect/>
          </a:stretch>
        </p:blipFill>
        <p:spPr>
          <a:xfrm flipH="1">
            <a:off x="10596787" y="4903297"/>
            <a:ext cx="614864" cy="571508"/>
          </a:xfrm>
          <a:prstGeom prst="rect">
            <a:avLst/>
          </a:prstGeom>
        </p:spPr>
      </p:pic>
      <p:sp>
        <p:nvSpPr>
          <p:cNvPr id="31" name="Textfeld 54">
            <a:extLst>
              <a:ext uri="{FF2B5EF4-FFF2-40B4-BE49-F238E27FC236}">
                <a16:creationId xmlns:a16="http://schemas.microsoft.com/office/drawing/2014/main" id="{D4C33B49-7891-AAA7-51F9-90B1FAAF4FA6}"/>
              </a:ext>
            </a:extLst>
          </p:cNvPr>
          <p:cNvSpPr>
            <a:spLocks noGrp="1"/>
          </p:cNvSpPr>
          <p:nvPr/>
        </p:nvSpPr>
        <p:spPr>
          <a:xfrm>
            <a:off x="10274379" y="4638304"/>
            <a:ext cx="1259680" cy="276999"/>
          </a:xfrm>
          <a:prstGeom prst="rect">
            <a:avLst/>
          </a:prstGeom>
          <a:noFill/>
        </p:spPr>
        <p:txBody>
          <a:bodyPr wrap="square">
            <a:spAutoFit/>
          </a:bodyPr>
          <a:lstStyle/>
          <a:p>
            <a:pPr algn="ctr">
              <a:buNone/>
            </a:pPr>
            <a:r>
              <a:rPr sz="1200">
                <a:solidFill>
                  <a:schemeClr val="bg1"/>
                </a:solidFill>
              </a:rPr>
              <a:t>Response</a:t>
            </a:r>
          </a:p>
        </p:txBody>
      </p:sp>
      <p:sp>
        <p:nvSpPr>
          <p:cNvPr id="37" name="Rechteck: abgerundete Ecken 36">
            <a:extLst>
              <a:ext uri="{FF2B5EF4-FFF2-40B4-BE49-F238E27FC236}">
                <a16:creationId xmlns:a16="http://schemas.microsoft.com/office/drawing/2014/main" id="{955C229C-DF37-3394-7852-D2530C311E3D}"/>
              </a:ext>
            </a:extLst>
          </p:cNvPr>
          <p:cNvSpPr>
            <a:spLocks noGrp="1"/>
          </p:cNvSpPr>
          <p:nvPr/>
        </p:nvSpPr>
        <p:spPr>
          <a:xfrm>
            <a:off x="523875" y="3952875"/>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5"/>
          <a:stretch>
            <a:fillRect/>
          </a:stretch>
        </p:blipFill>
        <p:spPr>
          <a:xfrm flipH="1">
            <a:off x="1119276" y="4248553"/>
            <a:ext cx="467360" cy="559581"/>
          </a:xfrm>
          <a:prstGeom prst="rect">
            <a:avLst/>
          </a:prstGeom>
        </p:spPr>
      </p:pic>
      <p:sp>
        <p:nvSpPr>
          <p:cNvPr id="43" name="Textfeld 48">
            <a:extLst>
              <a:ext uri="{FF2B5EF4-FFF2-40B4-BE49-F238E27FC236}">
                <a16:creationId xmlns:a16="http://schemas.microsoft.com/office/drawing/2014/main" id="{2441BB71-C515-3F41-6A7B-CFE04B47BE00}"/>
              </a:ext>
            </a:extLst>
          </p:cNvPr>
          <p:cNvSpPr>
            <a:spLocks noGrp="1"/>
          </p:cNvSpPr>
          <p:nvPr/>
        </p:nvSpPr>
        <p:spPr>
          <a:xfrm>
            <a:off x="511254" y="3971554"/>
            <a:ext cx="1733633" cy="276999"/>
          </a:xfrm>
          <a:prstGeom prst="rect">
            <a:avLst/>
          </a:prstGeom>
          <a:noFill/>
        </p:spPr>
        <p:txBody>
          <a:bodyPr wrap="square">
            <a:spAutoFit/>
          </a:bodyPr>
          <a:lstStyle/>
          <a:p>
            <a:pPr algn="ctr">
              <a:buNone/>
            </a:pPr>
            <a:r>
              <a:rPr sz="1200"/>
              <a:t>Information Extraction</a:t>
            </a:r>
          </a:p>
        </p:txBody>
      </p:sp>
      <p:sp>
        <p:nvSpPr>
          <p:cNvPr id="44" name="Gerader Verbinder 43">
            <a:extLst>
              <a:ext uri="{FF2B5EF4-FFF2-40B4-BE49-F238E27FC236}">
                <a16:creationId xmlns:a16="http://schemas.microsoft.com/office/drawing/2014/main" id="{6BF87FBA-FFD4-A870-8990-3B36EDECACE0}"/>
              </a:ext>
            </a:extLst>
          </p:cNvPr>
          <p:cNvSpPr>
            <a:spLocks noGrp="1"/>
          </p:cNvSpPr>
          <p:nvPr/>
        </p:nvSpPr>
        <p:spPr>
          <a:xfrm>
            <a:off x="523875" y="4248553"/>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45" name="Rechteck: abgerundete Ecken 44">
            <a:extLst>
              <a:ext uri="{FF2B5EF4-FFF2-40B4-BE49-F238E27FC236}">
                <a16:creationId xmlns:a16="http://schemas.microsoft.com/office/drawing/2014/main" id="{D48A7F4F-BE6B-CD6F-E690-688E3245F2C5}"/>
              </a:ext>
            </a:extLst>
          </p:cNvPr>
          <p:cNvSpPr>
            <a:spLocks noGrp="1"/>
          </p:cNvSpPr>
          <p:nvPr/>
        </p:nvSpPr>
        <p:spPr>
          <a:xfrm>
            <a:off x="714375" y="276225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6"/>
          <a:stretch>
            <a:fillRect/>
          </a:stretch>
        </p:blipFill>
        <p:spPr>
          <a:xfrm flipH="1">
            <a:off x="1116684" y="3076607"/>
            <a:ext cx="455061" cy="530359"/>
          </a:xfrm>
          <a:prstGeom prst="rect">
            <a:avLst/>
          </a:prstGeom>
        </p:spPr>
      </p:pic>
      <p:sp>
        <p:nvSpPr>
          <p:cNvPr id="48" name="Textfeld 60">
            <a:extLst>
              <a:ext uri="{FF2B5EF4-FFF2-40B4-BE49-F238E27FC236}">
                <a16:creationId xmlns:a16="http://schemas.microsoft.com/office/drawing/2014/main" id="{9300C327-65D2-42BB-19E9-6CBA235D48A3}"/>
              </a:ext>
            </a:extLst>
          </p:cNvPr>
          <p:cNvSpPr>
            <a:spLocks noGrp="1"/>
          </p:cNvSpPr>
          <p:nvPr/>
        </p:nvSpPr>
        <p:spPr>
          <a:xfrm>
            <a:off x="701754" y="2780929"/>
            <a:ext cx="1259680" cy="276999"/>
          </a:xfrm>
          <a:prstGeom prst="rect">
            <a:avLst/>
          </a:prstGeom>
          <a:noFill/>
        </p:spPr>
        <p:txBody>
          <a:bodyPr wrap="square">
            <a:spAutoFit/>
          </a:bodyPr>
          <a:lstStyle/>
          <a:p>
            <a:pPr algn="ctr">
              <a:buNone/>
            </a:pPr>
            <a:r>
              <a:rPr sz="1200"/>
              <a:t>Chunking</a:t>
            </a:r>
          </a:p>
        </p:txBody>
      </p:sp>
      <p:sp>
        <p:nvSpPr>
          <p:cNvPr id="51" name="Gerader Verbinder 50">
            <a:extLst>
              <a:ext uri="{FF2B5EF4-FFF2-40B4-BE49-F238E27FC236}">
                <a16:creationId xmlns:a16="http://schemas.microsoft.com/office/drawing/2014/main" id="{329E3D98-43F4-135D-5087-525B26A0404F}"/>
              </a:ext>
            </a:extLst>
          </p:cNvPr>
          <p:cNvSpPr>
            <a:spLocks noGrp="1"/>
          </p:cNvSpPr>
          <p:nvPr/>
        </p:nvSpPr>
        <p:spPr>
          <a:xfrm>
            <a:off x="701754" y="3054904"/>
            <a:ext cx="1272301"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54" name="Rechteck: abgerundete Ecken 53">
            <a:extLst>
              <a:ext uri="{FF2B5EF4-FFF2-40B4-BE49-F238E27FC236}">
                <a16:creationId xmlns:a16="http://schemas.microsoft.com/office/drawing/2014/main" id="{F6937E87-FFDC-5644-BE6B-D3AF0FCBAA56}"/>
              </a:ext>
            </a:extLst>
          </p:cNvPr>
          <p:cNvSpPr>
            <a:spLocks noGrp="1"/>
          </p:cNvSpPr>
          <p:nvPr/>
        </p:nvSpPr>
        <p:spPr>
          <a:xfrm>
            <a:off x="5119500" y="1578909"/>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7"/>
          <a:stretch>
            <a:fillRect/>
          </a:stretch>
        </p:blipFill>
        <p:spPr>
          <a:xfrm flipH="1">
            <a:off x="5478577" y="1886883"/>
            <a:ext cx="541526" cy="571097"/>
          </a:xfrm>
          <a:prstGeom prst="rect">
            <a:avLst/>
          </a:prstGeom>
        </p:spPr>
      </p:pic>
      <p:sp>
        <p:nvSpPr>
          <p:cNvPr id="57" name="Textfeld 34">
            <a:extLst>
              <a:ext uri="{FF2B5EF4-FFF2-40B4-BE49-F238E27FC236}">
                <a16:creationId xmlns:a16="http://schemas.microsoft.com/office/drawing/2014/main" id="{957FA4FE-DEF6-E882-2842-2649F9966023}"/>
              </a:ext>
            </a:extLst>
          </p:cNvPr>
          <p:cNvSpPr>
            <a:spLocks noGrp="1"/>
          </p:cNvSpPr>
          <p:nvPr/>
        </p:nvSpPr>
        <p:spPr>
          <a:xfrm>
            <a:off x="5106879" y="1597588"/>
            <a:ext cx="1259680" cy="276999"/>
          </a:xfrm>
          <a:prstGeom prst="rect">
            <a:avLst/>
          </a:prstGeom>
          <a:noFill/>
        </p:spPr>
        <p:txBody>
          <a:bodyPr wrap="square">
            <a:spAutoFit/>
          </a:bodyPr>
          <a:lstStyle/>
          <a:p>
            <a:pPr algn="ctr">
              <a:buNone/>
            </a:pPr>
            <a:r>
              <a:rPr sz="1200"/>
              <a:t>Embedding</a:t>
            </a:r>
          </a:p>
        </p:txBody>
      </p:sp>
      <p:sp>
        <p:nvSpPr>
          <p:cNvPr id="58" name="Gerader Verbinder 57">
            <a:extLst>
              <a:ext uri="{FF2B5EF4-FFF2-40B4-BE49-F238E27FC236}">
                <a16:creationId xmlns:a16="http://schemas.microsoft.com/office/drawing/2014/main" id="{2358A794-930F-1800-2F3C-5B5ECED2E77E}"/>
              </a:ext>
            </a:extLst>
          </p:cNvPr>
          <p:cNvSpPr>
            <a:spLocks noGrp="1"/>
          </p:cNvSpPr>
          <p:nvPr/>
        </p:nvSpPr>
        <p:spPr>
          <a:xfrm flipV="1">
            <a:off x="5119500" y="1874587"/>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60" name="Rechteck: abgerundete Ecken 59">
            <a:extLst>
              <a:ext uri="{FF2B5EF4-FFF2-40B4-BE49-F238E27FC236}">
                <a16:creationId xmlns:a16="http://schemas.microsoft.com/office/drawing/2014/main" id="{0F97695A-AB9E-12B2-E874-0BCD324FB8A7}"/>
              </a:ext>
            </a:extLst>
          </p:cNvPr>
          <p:cNvSpPr>
            <a:spLocks noGrp="1"/>
          </p:cNvSpPr>
          <p:nvPr/>
        </p:nvSpPr>
        <p:spPr>
          <a:xfrm>
            <a:off x="8096250"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63" name="Grafik 12">
            <a:extLst>
              <a:ext uri="{FF2B5EF4-FFF2-40B4-BE49-F238E27FC236}">
                <a16:creationId xmlns:a16="http://schemas.microsoft.com/office/drawing/2014/main" id="{E86CBA64-1F16-70AF-49B8-BA3DAF1F453E}"/>
              </a:ext>
            </a:extLst>
          </p:cNvPr>
          <p:cNvPicPr>
            <a:picLocks noChangeAspect="1"/>
          </p:cNvPicPr>
          <p:nvPr/>
        </p:nvPicPr>
        <p:blipFill>
          <a:blip r:embed="rId7"/>
          <a:stretch>
            <a:fillRect/>
          </a:stretch>
        </p:blipFill>
        <p:spPr>
          <a:xfrm flipH="1">
            <a:off x="8455327" y="3355974"/>
            <a:ext cx="541526" cy="571097"/>
          </a:xfrm>
          <a:prstGeom prst="rect">
            <a:avLst/>
          </a:prstGeom>
        </p:spPr>
      </p:pic>
      <p:sp>
        <p:nvSpPr>
          <p:cNvPr id="67" name="Textfeld 31">
            <a:extLst>
              <a:ext uri="{FF2B5EF4-FFF2-40B4-BE49-F238E27FC236}">
                <a16:creationId xmlns:a16="http://schemas.microsoft.com/office/drawing/2014/main" id="{93602E7B-DC37-F2CD-0924-065EFB64C7BA}"/>
              </a:ext>
            </a:extLst>
          </p:cNvPr>
          <p:cNvSpPr>
            <a:spLocks noGrp="1"/>
          </p:cNvSpPr>
          <p:nvPr/>
        </p:nvSpPr>
        <p:spPr>
          <a:xfrm>
            <a:off x="8083629" y="3066679"/>
            <a:ext cx="1259680" cy="276999"/>
          </a:xfrm>
          <a:prstGeom prst="rect">
            <a:avLst/>
          </a:prstGeom>
          <a:noFill/>
        </p:spPr>
        <p:txBody>
          <a:bodyPr wrap="square">
            <a:spAutoFit/>
          </a:bodyPr>
          <a:lstStyle/>
          <a:p>
            <a:pPr algn="ctr">
              <a:buNone/>
            </a:pPr>
            <a:r>
              <a:rPr sz="1200"/>
              <a:t>Embedding</a:t>
            </a:r>
          </a:p>
        </p:txBody>
      </p:sp>
      <p:sp>
        <p:nvSpPr>
          <p:cNvPr id="69" name="Gerader Verbinder 68">
            <a:extLst>
              <a:ext uri="{FF2B5EF4-FFF2-40B4-BE49-F238E27FC236}">
                <a16:creationId xmlns:a16="http://schemas.microsoft.com/office/drawing/2014/main" id="{919036DE-C489-76A0-3FDD-88C13187B396}"/>
              </a:ext>
            </a:extLst>
          </p:cNvPr>
          <p:cNvSpPr>
            <a:spLocks noGrp="1"/>
          </p:cNvSpPr>
          <p:nvPr/>
        </p:nvSpPr>
        <p:spPr>
          <a:xfrm flipV="1">
            <a:off x="8096250" y="3343678"/>
            <a:ext cx="1259680" cy="12296"/>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72" name="Rechteck: abgerundete Ecken 71">
            <a:extLst>
              <a:ext uri="{FF2B5EF4-FFF2-40B4-BE49-F238E27FC236}">
                <a16:creationId xmlns:a16="http://schemas.microsoft.com/office/drawing/2014/main" id="{E9A14601-129B-5663-F0ED-B2E1BD20F945}"/>
              </a:ext>
            </a:extLst>
          </p:cNvPr>
          <p:cNvSpPr>
            <a:spLocks noGrp="1"/>
          </p:cNvSpPr>
          <p:nvPr/>
        </p:nvSpPr>
        <p:spPr>
          <a:xfrm>
            <a:off x="5095875"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8"/>
          <a:stretch>
            <a:fillRect/>
          </a:stretch>
        </p:blipFill>
        <p:spPr>
          <a:xfrm flipH="1">
            <a:off x="5405249" y="3397860"/>
            <a:ext cx="631298" cy="547851"/>
          </a:xfrm>
          <a:prstGeom prst="rect">
            <a:avLst/>
          </a:prstGeom>
        </p:spPr>
      </p:pic>
      <p:sp>
        <p:nvSpPr>
          <p:cNvPr id="77" name="Textfeld 25">
            <a:extLst>
              <a:ext uri="{FF2B5EF4-FFF2-40B4-BE49-F238E27FC236}">
                <a16:creationId xmlns:a16="http://schemas.microsoft.com/office/drawing/2014/main" id="{1C80D23E-AF36-ADDD-DF87-F60A5AC8096B}"/>
              </a:ext>
            </a:extLst>
          </p:cNvPr>
          <p:cNvSpPr>
            <a:spLocks noGrp="1"/>
          </p:cNvSpPr>
          <p:nvPr/>
        </p:nvSpPr>
        <p:spPr>
          <a:xfrm>
            <a:off x="5083254" y="3066679"/>
            <a:ext cx="1341782" cy="285750"/>
          </a:xfrm>
          <a:prstGeom prst="rect">
            <a:avLst/>
          </a:prstGeom>
          <a:noFill/>
        </p:spPr>
        <p:txBody>
          <a:bodyPr wrap="square">
            <a:spAutoFit/>
          </a:bodyPr>
          <a:lstStyle/>
          <a:p>
            <a:pPr algn="ctr">
              <a:buNone/>
            </a:pPr>
            <a:r>
              <a:rPr sz="1200" dirty="0"/>
              <a:t>Vector Database</a:t>
            </a:r>
          </a:p>
        </p:txBody>
      </p:sp>
      <p:sp>
        <p:nvSpPr>
          <p:cNvPr id="79" name="Gerader Verbinder 78">
            <a:extLst>
              <a:ext uri="{FF2B5EF4-FFF2-40B4-BE49-F238E27FC236}">
                <a16:creationId xmlns:a16="http://schemas.microsoft.com/office/drawing/2014/main" id="{89A0E0B7-A2BB-83F8-DDEA-7BF8AF689E44}"/>
              </a:ext>
            </a:extLst>
          </p:cNvPr>
          <p:cNvSpPr>
            <a:spLocks noGrp="1"/>
          </p:cNvSpPr>
          <p:nvPr/>
        </p:nvSpPr>
        <p:spPr>
          <a:xfrm>
            <a:off x="5095875" y="3352429"/>
            <a:ext cx="1252223"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81" name="Rechteck: abgerundete Ecken 80">
            <a:extLst>
              <a:ext uri="{FF2B5EF4-FFF2-40B4-BE49-F238E27FC236}">
                <a16:creationId xmlns:a16="http://schemas.microsoft.com/office/drawing/2014/main" id="{299209A1-E60D-B54F-BCE0-B59442B6BA9E}"/>
              </a:ext>
            </a:extLst>
          </p:cNvPr>
          <p:cNvSpPr>
            <a:spLocks noGrp="1"/>
          </p:cNvSpPr>
          <p:nvPr/>
        </p:nvSpPr>
        <p:spPr>
          <a:xfrm>
            <a:off x="5095875" y="4619625"/>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9"/>
          <a:stretch>
            <a:fillRect/>
          </a:stretch>
        </p:blipFill>
        <p:spPr>
          <a:xfrm flipH="1">
            <a:off x="5365621" y="4886943"/>
            <a:ext cx="694946" cy="618136"/>
          </a:xfrm>
          <a:prstGeom prst="rect">
            <a:avLst/>
          </a:prstGeom>
        </p:spPr>
      </p:pic>
      <p:sp>
        <p:nvSpPr>
          <p:cNvPr id="87" name="Textfeld 28">
            <a:extLst>
              <a:ext uri="{FF2B5EF4-FFF2-40B4-BE49-F238E27FC236}">
                <a16:creationId xmlns:a16="http://schemas.microsoft.com/office/drawing/2014/main" id="{97FD2241-5B61-D9A8-9B5C-DE6B07A2BCBE}"/>
              </a:ext>
            </a:extLst>
          </p:cNvPr>
          <p:cNvSpPr>
            <a:spLocks noGrp="1"/>
          </p:cNvSpPr>
          <p:nvPr/>
        </p:nvSpPr>
        <p:spPr>
          <a:xfrm>
            <a:off x="5083254" y="4638304"/>
            <a:ext cx="1259680" cy="276999"/>
          </a:xfrm>
          <a:prstGeom prst="rect">
            <a:avLst/>
          </a:prstGeom>
          <a:noFill/>
        </p:spPr>
        <p:txBody>
          <a:bodyPr wrap="square">
            <a:spAutoFit/>
          </a:bodyPr>
          <a:lstStyle/>
          <a:p>
            <a:pPr algn="ctr">
              <a:buNone/>
            </a:pPr>
            <a:r>
              <a:rPr sz="1200"/>
              <a:t>Relevant Data</a:t>
            </a:r>
          </a:p>
        </p:txBody>
      </p:sp>
      <p:sp>
        <p:nvSpPr>
          <p:cNvPr id="90" name="Gerader Verbinder 89">
            <a:extLst>
              <a:ext uri="{FF2B5EF4-FFF2-40B4-BE49-F238E27FC236}">
                <a16:creationId xmlns:a16="http://schemas.microsoft.com/office/drawing/2014/main" id="{28E3CEA1-5C20-114C-95BF-87C047395FE4}"/>
              </a:ext>
            </a:extLst>
          </p:cNvPr>
          <p:cNvSpPr>
            <a:spLocks noGrp="1"/>
          </p:cNvSpPr>
          <p:nvPr/>
        </p:nvSpPr>
        <p:spPr>
          <a:xfrm>
            <a:off x="5083254" y="4915303"/>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93" name="Rechteck: abgerundete Ecken 92">
            <a:extLst>
              <a:ext uri="{FF2B5EF4-FFF2-40B4-BE49-F238E27FC236}">
                <a16:creationId xmlns:a16="http://schemas.microsoft.com/office/drawing/2014/main" id="{AD79A1D2-E83B-1112-88E6-A41F8B4E30C4}"/>
              </a:ext>
            </a:extLst>
          </p:cNvPr>
          <p:cNvSpPr>
            <a:spLocks noGrp="1"/>
          </p:cNvSpPr>
          <p:nvPr/>
        </p:nvSpPr>
        <p:spPr>
          <a:xfrm>
            <a:off x="8096250"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0"/>
          <a:stretch>
            <a:fillRect/>
          </a:stretch>
        </p:blipFill>
        <p:spPr>
          <a:xfrm flipH="1">
            <a:off x="8437495" y="1867303"/>
            <a:ext cx="584924" cy="593680"/>
          </a:xfrm>
          <a:prstGeom prst="rect">
            <a:avLst/>
          </a:prstGeom>
        </p:spPr>
      </p:pic>
      <p:sp>
        <p:nvSpPr>
          <p:cNvPr id="99" name="Textfeld 40">
            <a:extLst>
              <a:ext uri="{FF2B5EF4-FFF2-40B4-BE49-F238E27FC236}">
                <a16:creationId xmlns:a16="http://schemas.microsoft.com/office/drawing/2014/main" id="{39ADD9CF-0CDD-69E9-2A07-C125FCAA3B7D}"/>
              </a:ext>
            </a:extLst>
          </p:cNvPr>
          <p:cNvSpPr>
            <a:spLocks noGrp="1"/>
          </p:cNvSpPr>
          <p:nvPr/>
        </p:nvSpPr>
        <p:spPr>
          <a:xfrm>
            <a:off x="8050449" y="1571625"/>
            <a:ext cx="1414131" cy="276999"/>
          </a:xfrm>
          <a:prstGeom prst="rect">
            <a:avLst/>
          </a:prstGeom>
          <a:noFill/>
        </p:spPr>
        <p:txBody>
          <a:bodyPr wrap="square">
            <a:spAutoFit/>
          </a:bodyPr>
          <a:lstStyle/>
          <a:p>
            <a:pPr algn="ctr">
              <a:buNone/>
            </a:pPr>
            <a:r>
              <a:rPr sz="1200" dirty="0"/>
              <a:t>Embedding LLM</a:t>
            </a:r>
          </a:p>
        </p:txBody>
      </p:sp>
      <p:sp>
        <p:nvSpPr>
          <p:cNvPr id="101" name="Gerader Verbinder 100">
            <a:extLst>
              <a:ext uri="{FF2B5EF4-FFF2-40B4-BE49-F238E27FC236}">
                <a16:creationId xmlns:a16="http://schemas.microsoft.com/office/drawing/2014/main" id="{E72F8E13-9942-DFD0-1B23-F1C4A1D4EC76}"/>
              </a:ext>
            </a:extLst>
          </p:cNvPr>
          <p:cNvSpPr>
            <a:spLocks noGrp="1"/>
          </p:cNvSpPr>
          <p:nvPr/>
        </p:nvSpPr>
        <p:spPr>
          <a:xfrm>
            <a:off x="8096250"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02" name="Rechteck: abgerundete Ecken 101">
            <a:extLst>
              <a:ext uri="{FF2B5EF4-FFF2-40B4-BE49-F238E27FC236}">
                <a16:creationId xmlns:a16="http://schemas.microsoft.com/office/drawing/2014/main" id="{CCD2EF0F-009E-7BB9-2850-8D80476CA421}"/>
              </a:ext>
            </a:extLst>
          </p:cNvPr>
          <p:cNvSpPr>
            <a:spLocks noGrp="1"/>
          </p:cNvSpPr>
          <p:nvPr/>
        </p:nvSpPr>
        <p:spPr>
          <a:xfrm>
            <a:off x="8096250" y="4619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0"/>
          <a:stretch>
            <a:fillRect/>
          </a:stretch>
        </p:blipFill>
        <p:spPr>
          <a:xfrm flipH="1">
            <a:off x="8437495" y="4915303"/>
            <a:ext cx="584924" cy="593680"/>
          </a:xfrm>
          <a:prstGeom prst="rect">
            <a:avLst/>
          </a:prstGeom>
        </p:spPr>
      </p:pic>
      <p:sp>
        <p:nvSpPr>
          <p:cNvPr id="105" name="Textfeld 37">
            <a:extLst>
              <a:ext uri="{FF2B5EF4-FFF2-40B4-BE49-F238E27FC236}">
                <a16:creationId xmlns:a16="http://schemas.microsoft.com/office/drawing/2014/main" id="{50BD9ACB-9327-9657-F19C-720F9C5F935E}"/>
              </a:ext>
            </a:extLst>
          </p:cNvPr>
          <p:cNvSpPr>
            <a:spLocks noGrp="1"/>
          </p:cNvSpPr>
          <p:nvPr/>
        </p:nvSpPr>
        <p:spPr>
          <a:xfrm>
            <a:off x="8155543" y="4665605"/>
            <a:ext cx="1128128" cy="276999"/>
          </a:xfrm>
          <a:prstGeom prst="rect">
            <a:avLst/>
          </a:prstGeom>
          <a:solidFill>
            <a:schemeClr val="accent6">
              <a:lumMod val="40000"/>
              <a:lumOff val="60000"/>
            </a:schemeClr>
          </a:solidFill>
          <a:ln>
            <a:noFill/>
          </a:ln>
        </p:spPr>
        <p:txBody>
          <a:bodyPr wrap="square">
            <a:spAutoFit/>
          </a:bodyPr>
          <a:lstStyle/>
          <a:p>
            <a:pPr algn="ctr">
              <a:buNone/>
            </a:pPr>
            <a:r>
              <a:rPr sz="1200"/>
              <a:t>LLM</a:t>
            </a:r>
          </a:p>
        </p:txBody>
      </p:sp>
      <p:sp>
        <p:nvSpPr>
          <p:cNvPr id="106" name="Gerader Verbinder 105">
            <a:extLst>
              <a:ext uri="{FF2B5EF4-FFF2-40B4-BE49-F238E27FC236}">
                <a16:creationId xmlns:a16="http://schemas.microsoft.com/office/drawing/2014/main" id="{C25ABEB4-F7C7-3DF5-DEEF-6DD6C45FCF01}"/>
              </a:ext>
            </a:extLst>
          </p:cNvPr>
          <p:cNvSpPr>
            <a:spLocks noGrp="1"/>
          </p:cNvSpPr>
          <p:nvPr/>
        </p:nvSpPr>
        <p:spPr>
          <a:xfrm flipV="1">
            <a:off x="8083629" y="4908186"/>
            <a:ext cx="1272301" cy="711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400"/>
            <a:ext cx="2159701" cy="270510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stCxn id="37" idx="0"/>
            <a:endCxn id="45" idx="2"/>
          </p:cNvCxnSpPr>
          <p:nvPr/>
        </p:nvCxnSpPr>
        <p:spPr>
          <a:xfrm flipH="1" flipV="1">
            <a:off x="1344215" y="3629025"/>
            <a:ext cx="8742" cy="32385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stCxn id="48" idx="0"/>
            <a:endCxn id="121" idx="2"/>
          </p:cNvCxnSpPr>
          <p:nvPr/>
        </p:nvCxnSpPr>
        <p:spPr>
          <a:xfrm flipV="1">
            <a:off x="1331594" y="2438400"/>
            <a:ext cx="12621" cy="34252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5754145" y="2012297"/>
            <a:ext cx="625035" cy="1054382"/>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stCxn id="81" idx="3"/>
            <a:endCxn id="102" idx="1"/>
          </p:cNvCxnSpPr>
          <p:nvPr/>
        </p:nvCxnSpPr>
        <p:spPr>
          <a:xfrm>
            <a:off x="6355555" y="5053013"/>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3" name="Gerade Verbindung mit Pfeil 146">
            <a:extLst>
              <a:ext uri="{FF2B5EF4-FFF2-40B4-BE49-F238E27FC236}">
                <a16:creationId xmlns:a16="http://schemas.microsoft.com/office/drawing/2014/main" id="{931477AF-1141-F35E-70BA-9FF1B2A8B638}"/>
              </a:ext>
            </a:extLst>
          </p:cNvPr>
          <p:cNvCxnSpPr>
            <a:endCxn id="24" idx="0"/>
          </p:cNvCxnSpPr>
          <p:nvPr/>
        </p:nvCxnSpPr>
        <p:spPr>
          <a:xfrm flipV="1">
            <a:off x="7969527" y="4619625"/>
            <a:ext cx="2947313" cy="88262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stCxn id="60" idx="1"/>
            <a:endCxn id="72" idx="3"/>
          </p:cNvCxnSpPr>
          <p:nvPr/>
        </p:nvCxnSpPr>
        <p:spPr>
          <a:xfrm flipH="1">
            <a:off x="6355555" y="3481388"/>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stCxn id="93" idx="1"/>
          </p:cNvCxnSpPr>
          <p:nvPr/>
        </p:nvCxnSpPr>
        <p:spPr>
          <a:xfrm flipH="1">
            <a:off x="4365106" y="1891405"/>
            <a:ext cx="3003894" cy="89338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stCxn id="18" idx="1"/>
            <a:endCxn id="60" idx="3"/>
          </p:cNvCxnSpPr>
          <p:nvPr/>
        </p:nvCxnSpPr>
        <p:spPr>
          <a:xfrm flipH="1">
            <a:off x="9355930" y="2005013"/>
            <a:ext cx="931070" cy="14763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1" name="Rechteck: abgerundete Ecken 120">
            <a:extLst>
              <a:ext uri="{FF2B5EF4-FFF2-40B4-BE49-F238E27FC236}">
                <a16:creationId xmlns:a16="http://schemas.microsoft.com/office/drawing/2014/main" id="{AD7B8046-A7E5-977B-9789-31E7E99EC995}"/>
              </a:ext>
            </a:extLst>
          </p:cNvPr>
          <p:cNvSpPr>
            <a:spLocks noGrp="1"/>
          </p:cNvSpPr>
          <p:nvPr/>
        </p:nvSpPr>
        <p:spPr>
          <a:xfrm>
            <a:off x="714375" y="1571625"/>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1"/>
          <a:stretch>
            <a:fillRect/>
          </a:stretch>
        </p:blipFill>
        <p:spPr>
          <a:xfrm>
            <a:off x="1064972" y="1970328"/>
            <a:ext cx="515265" cy="403725"/>
          </a:xfrm>
          <a:prstGeom prst="rect">
            <a:avLst/>
          </a:prstGeom>
        </p:spPr>
      </p:pic>
      <p:sp>
        <p:nvSpPr>
          <p:cNvPr id="123" name="Textfeld 171">
            <a:extLst>
              <a:ext uri="{FF2B5EF4-FFF2-40B4-BE49-F238E27FC236}">
                <a16:creationId xmlns:a16="http://schemas.microsoft.com/office/drawing/2014/main" id="{94B0B414-3457-95E7-777A-E27F72556F9D}"/>
              </a:ext>
            </a:extLst>
          </p:cNvPr>
          <p:cNvSpPr>
            <a:spLocks noGrp="1"/>
          </p:cNvSpPr>
          <p:nvPr/>
        </p:nvSpPr>
        <p:spPr>
          <a:xfrm>
            <a:off x="701754" y="1590304"/>
            <a:ext cx="1259680" cy="276999"/>
          </a:xfrm>
          <a:prstGeom prst="rect">
            <a:avLst/>
          </a:prstGeom>
          <a:noFill/>
        </p:spPr>
        <p:txBody>
          <a:bodyPr wrap="square">
            <a:spAutoFit/>
          </a:bodyPr>
          <a:lstStyle/>
          <a:p>
            <a:pPr algn="ctr">
              <a:buNone/>
            </a:pPr>
            <a:r>
              <a:rPr sz="1200"/>
              <a:t>Chunks</a:t>
            </a:r>
          </a:p>
        </p:txBody>
      </p:sp>
      <p:sp>
        <p:nvSpPr>
          <p:cNvPr id="124" name="Gerader Verbinder 123">
            <a:extLst>
              <a:ext uri="{FF2B5EF4-FFF2-40B4-BE49-F238E27FC236}">
                <a16:creationId xmlns:a16="http://schemas.microsoft.com/office/drawing/2014/main" id="{E1830494-1611-ADE7-C919-BF9ADBCD7AEF}"/>
              </a:ext>
            </a:extLst>
          </p:cNvPr>
          <p:cNvSpPr>
            <a:spLocks noGrp="1"/>
          </p:cNvSpPr>
          <p:nvPr/>
        </p:nvSpPr>
        <p:spPr>
          <a:xfrm flipV="1">
            <a:off x="714375" y="1867303"/>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25" name="Gerade Verbindung mit Pfeil 175">
            <a:extLst>
              <a:ext uri="{FF2B5EF4-FFF2-40B4-BE49-F238E27FC236}">
                <a16:creationId xmlns:a16="http://schemas.microsoft.com/office/drawing/2014/main" id="{C72D8DE9-33EF-8199-896F-3B4B34E4C33F}"/>
              </a:ext>
            </a:extLst>
          </p:cNvPr>
          <p:cNvCxnSpPr>
            <a:stCxn id="121" idx="3"/>
            <a:endCxn id="54" idx="1"/>
          </p:cNvCxnSpPr>
          <p:nvPr/>
        </p:nvCxnSpPr>
        <p:spPr>
          <a:xfrm>
            <a:off x="1974055" y="2005013"/>
            <a:ext cx="3145445" cy="7284"/>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6" name="Gerade Verbindung mit Pfeil 125">
            <a:extLst>
              <a:ext uri="{FF2B5EF4-FFF2-40B4-BE49-F238E27FC236}">
                <a16:creationId xmlns:a16="http://schemas.microsoft.com/office/drawing/2014/main" id="{2F8AE9B7-7DF2-DD44-666C-0F46DF7C984C}"/>
              </a:ext>
            </a:extLst>
          </p:cNvPr>
          <p:cNvCxnSpPr>
            <a:stCxn id="10" idx="0"/>
            <a:endCxn id="37" idx="2"/>
          </p:cNvCxnSpPr>
          <p:nvPr/>
        </p:nvCxnSpPr>
        <p:spPr>
          <a:xfrm flipV="1">
            <a:off x="1344215" y="4819650"/>
            <a:ext cx="8742" cy="323850"/>
          </a:xfrm>
          <a:prstGeom prst="straightConnector1">
            <a:avLst/>
          </a:prstGeom>
          <a:ln w="20955">
            <a:solidFill>
              <a:srgbClr val="304554"/>
            </a:solidFill>
            <a:prstDash val="solid"/>
            <a:tailEnd type="triangle" w="sm" len="sm"/>
          </a:ln>
        </p:spPr>
      </p:cxnSp>
      <p:cxnSp>
        <p:nvCxnSpPr>
          <p:cNvPr id="127" name="Gerade Verbindung mit Pfeil 126">
            <a:extLst>
              <a:ext uri="{FF2B5EF4-FFF2-40B4-BE49-F238E27FC236}">
                <a16:creationId xmlns:a16="http://schemas.microsoft.com/office/drawing/2014/main" id="{3D560821-5CFC-8CEA-9E6D-08367593D66A}"/>
              </a:ext>
            </a:extLst>
          </p:cNvPr>
          <p:cNvCxnSpPr>
            <a:stCxn id="37" idx="0"/>
            <a:endCxn id="45" idx="2"/>
          </p:cNvCxnSpPr>
          <p:nvPr/>
        </p:nvCxnSpPr>
        <p:spPr>
          <a:xfrm flipH="1" flipV="1">
            <a:off x="1344215" y="3629025"/>
            <a:ext cx="8742" cy="323850"/>
          </a:xfrm>
          <a:prstGeom prst="straightConnector1">
            <a:avLst/>
          </a:prstGeom>
          <a:ln w="20955">
            <a:solidFill>
              <a:srgbClr val="304554"/>
            </a:solidFill>
            <a:prstDash val="solid"/>
            <a:tailEnd type="triangle" w="sm" len="sm"/>
          </a:ln>
        </p:spPr>
      </p:cxnSp>
      <p:cxnSp>
        <p:nvCxnSpPr>
          <p:cNvPr id="128" name="Gerade Verbindung mit Pfeil 127">
            <a:extLst>
              <a:ext uri="{FF2B5EF4-FFF2-40B4-BE49-F238E27FC236}">
                <a16:creationId xmlns:a16="http://schemas.microsoft.com/office/drawing/2014/main" id="{A1F75876-635A-EB2E-14AF-3E3B0E315CAF}"/>
              </a:ext>
            </a:extLst>
          </p:cNvPr>
          <p:cNvCxnSpPr>
            <a:stCxn id="45" idx="0"/>
            <a:endCxn id="121" idx="2"/>
          </p:cNvCxnSpPr>
          <p:nvPr/>
        </p:nvCxnSpPr>
        <p:spPr>
          <a:xfrm flipV="1">
            <a:off x="1344215" y="2438400"/>
            <a:ext cx="0" cy="323850"/>
          </a:xfrm>
          <a:prstGeom prst="straightConnector1">
            <a:avLst/>
          </a:prstGeom>
          <a:ln w="20955">
            <a:solidFill>
              <a:srgbClr val="304554"/>
            </a:solidFill>
            <a:prstDash val="solid"/>
            <a:tailEnd type="triangle" w="sm" len="sm"/>
          </a:ln>
        </p:spPr>
      </p:cxnSp>
      <p:cxnSp>
        <p:nvCxnSpPr>
          <p:cNvPr id="129" name="Gerade Verbindung mit Pfeil 128">
            <a:extLst>
              <a:ext uri="{FF2B5EF4-FFF2-40B4-BE49-F238E27FC236}">
                <a16:creationId xmlns:a16="http://schemas.microsoft.com/office/drawing/2014/main" id="{11AAC394-26E2-4C16-5C24-E25FD3E7D705}"/>
              </a:ext>
            </a:extLst>
          </p:cNvPr>
          <p:cNvCxnSpPr>
            <a:cxnSpLocks/>
            <a:stCxn id="121" idx="3"/>
            <a:endCxn id="137" idx="1"/>
          </p:cNvCxnSpPr>
          <p:nvPr/>
        </p:nvCxnSpPr>
        <p:spPr>
          <a:xfrm>
            <a:off x="1974055" y="2005013"/>
            <a:ext cx="900021" cy="0"/>
          </a:xfrm>
          <a:prstGeom prst="straightConnector1">
            <a:avLst/>
          </a:prstGeom>
          <a:ln w="20955">
            <a:solidFill>
              <a:srgbClr val="304554"/>
            </a:solidFill>
            <a:prstDash val="solid"/>
            <a:tailEnd type="triangle" w="sm" len="sm"/>
          </a:ln>
        </p:spPr>
      </p:cxnSp>
      <p:cxnSp>
        <p:nvCxnSpPr>
          <p:cNvPr id="130" name="Gerade Verbindung mit Pfeil 129">
            <a:extLst>
              <a:ext uri="{FF2B5EF4-FFF2-40B4-BE49-F238E27FC236}">
                <a16:creationId xmlns:a16="http://schemas.microsoft.com/office/drawing/2014/main" id="{572FB2CE-8851-3537-32C3-B05BFCE5D204}"/>
              </a:ext>
            </a:extLst>
          </p:cNvPr>
          <p:cNvCxnSpPr>
            <a:stCxn id="18" idx="1"/>
            <a:endCxn id="93" idx="3"/>
          </p:cNvCxnSpPr>
          <p:nvPr/>
        </p:nvCxnSpPr>
        <p:spPr>
          <a:xfrm flipH="1">
            <a:off x="9355930" y="2005013"/>
            <a:ext cx="931070" cy="0"/>
          </a:xfrm>
          <a:prstGeom prst="straightConnector1">
            <a:avLst/>
          </a:prstGeom>
          <a:ln w="20955">
            <a:solidFill>
              <a:srgbClr val="8D8271"/>
            </a:solidFill>
            <a:prstDash val="solid"/>
            <a:tailEnd type="triangle" w="sm" len="sm"/>
          </a:ln>
        </p:spPr>
      </p:cxnSp>
      <p:cxnSp>
        <p:nvCxnSpPr>
          <p:cNvPr id="131" name="Gerade Verbindung mit Pfeil 130">
            <a:extLst>
              <a:ext uri="{FF2B5EF4-FFF2-40B4-BE49-F238E27FC236}">
                <a16:creationId xmlns:a16="http://schemas.microsoft.com/office/drawing/2014/main" id="{8D4278C3-96BC-BBC5-2E76-E6FCA97DDB47}"/>
              </a:ext>
            </a:extLst>
          </p:cNvPr>
          <p:cNvCxnSpPr>
            <a:stCxn id="93" idx="2"/>
            <a:endCxn id="60" idx="0"/>
          </p:cNvCxnSpPr>
          <p:nvPr/>
        </p:nvCxnSpPr>
        <p:spPr>
          <a:xfrm>
            <a:off x="8726090" y="2438400"/>
            <a:ext cx="0" cy="609600"/>
          </a:xfrm>
          <a:prstGeom prst="straightConnector1">
            <a:avLst/>
          </a:prstGeom>
          <a:ln w="20955">
            <a:solidFill>
              <a:srgbClr val="8D8271"/>
            </a:solidFill>
            <a:prstDash val="solid"/>
            <a:tailEnd type="triangle" w="sm" len="sm"/>
          </a:ln>
        </p:spPr>
      </p:cxnSp>
      <p:cxnSp>
        <p:nvCxnSpPr>
          <p:cNvPr id="133" name="Gerade Verbindung mit Pfeil 132">
            <a:extLst>
              <a:ext uri="{FF2B5EF4-FFF2-40B4-BE49-F238E27FC236}">
                <a16:creationId xmlns:a16="http://schemas.microsoft.com/office/drawing/2014/main" id="{2D067BCA-65FF-5D06-9747-239393946F3C}"/>
              </a:ext>
            </a:extLst>
          </p:cNvPr>
          <p:cNvCxnSpPr>
            <a:stCxn id="60" idx="1"/>
            <a:endCxn id="72" idx="3"/>
          </p:cNvCxnSpPr>
          <p:nvPr/>
        </p:nvCxnSpPr>
        <p:spPr>
          <a:xfrm flipH="1">
            <a:off x="6355555" y="3481388"/>
            <a:ext cx="1740695" cy="0"/>
          </a:xfrm>
          <a:prstGeom prst="straightConnector1">
            <a:avLst/>
          </a:prstGeom>
          <a:ln w="20955">
            <a:solidFill>
              <a:srgbClr val="8D8271"/>
            </a:solidFill>
            <a:prstDash val="solid"/>
            <a:tailEnd type="triangle" w="sm" len="sm"/>
          </a:ln>
        </p:spPr>
      </p:cxnSp>
      <p:cxnSp>
        <p:nvCxnSpPr>
          <p:cNvPr id="134" name="Gerade Verbindung mit Pfeil 133">
            <a:extLst>
              <a:ext uri="{FF2B5EF4-FFF2-40B4-BE49-F238E27FC236}">
                <a16:creationId xmlns:a16="http://schemas.microsoft.com/office/drawing/2014/main" id="{71E25062-8F3D-DDAB-DCED-4672C3BE29B3}"/>
              </a:ext>
            </a:extLst>
          </p:cNvPr>
          <p:cNvCxnSpPr>
            <a:stCxn id="72" idx="2"/>
            <a:endCxn id="81" idx="0"/>
          </p:cNvCxnSpPr>
          <p:nvPr/>
        </p:nvCxnSpPr>
        <p:spPr>
          <a:xfrm>
            <a:off x="5725715" y="3914775"/>
            <a:ext cx="0" cy="704850"/>
          </a:xfrm>
          <a:prstGeom prst="straightConnector1">
            <a:avLst/>
          </a:prstGeom>
          <a:ln w="20955">
            <a:solidFill>
              <a:srgbClr val="8D8271"/>
            </a:solidFill>
            <a:prstDash val="solid"/>
            <a:tailEnd type="triangle" w="sm" len="sm"/>
          </a:ln>
        </p:spPr>
      </p:cxnSp>
      <p:cxnSp>
        <p:nvCxnSpPr>
          <p:cNvPr id="135" name="Gerade Verbindung mit Pfeil 134">
            <a:extLst>
              <a:ext uri="{FF2B5EF4-FFF2-40B4-BE49-F238E27FC236}">
                <a16:creationId xmlns:a16="http://schemas.microsoft.com/office/drawing/2014/main" id="{C9AE14A9-3DBE-E4A2-3659-9E3080C717DF}"/>
              </a:ext>
            </a:extLst>
          </p:cNvPr>
          <p:cNvCxnSpPr>
            <a:stCxn id="81" idx="3"/>
            <a:endCxn id="102" idx="1"/>
          </p:cNvCxnSpPr>
          <p:nvPr/>
        </p:nvCxnSpPr>
        <p:spPr>
          <a:xfrm>
            <a:off x="6355555" y="5053013"/>
            <a:ext cx="1740695" cy="0"/>
          </a:xfrm>
          <a:prstGeom prst="straightConnector1">
            <a:avLst/>
          </a:prstGeom>
          <a:ln w="22860">
            <a:solidFill>
              <a:srgbClr val="CF062E"/>
            </a:solidFill>
            <a:prstDash val="solid"/>
            <a:tailEnd type="triangle" w="sm" len="sm"/>
          </a:ln>
        </p:spPr>
      </p:cxnSp>
      <p:cxnSp>
        <p:nvCxnSpPr>
          <p:cNvPr id="136" name="Gerade Verbindung mit Pfeil 135">
            <a:extLst>
              <a:ext uri="{FF2B5EF4-FFF2-40B4-BE49-F238E27FC236}">
                <a16:creationId xmlns:a16="http://schemas.microsoft.com/office/drawing/2014/main" id="{911C4D5D-F807-983E-E278-9B3558601794}"/>
              </a:ext>
            </a:extLst>
          </p:cNvPr>
          <p:cNvCxnSpPr>
            <a:stCxn id="102" idx="3"/>
            <a:endCxn id="24" idx="1"/>
          </p:cNvCxnSpPr>
          <p:nvPr/>
        </p:nvCxnSpPr>
        <p:spPr>
          <a:xfrm>
            <a:off x="9355930" y="5053013"/>
            <a:ext cx="931070" cy="0"/>
          </a:xfrm>
          <a:prstGeom prst="straightConnector1">
            <a:avLst/>
          </a:prstGeom>
          <a:ln w="22860">
            <a:solidFill>
              <a:srgbClr val="CF062E"/>
            </a:solidFill>
            <a:prstDash val="solid"/>
            <a:tailEnd type="triangle" w="sm" len="sm"/>
          </a:ln>
        </p:spPr>
      </p:cxnSp>
      <p:sp>
        <p:nvSpPr>
          <p:cNvPr id="137" name="Rechteck: abgerundete Ecken 136">
            <a:extLst>
              <a:ext uri="{FF2B5EF4-FFF2-40B4-BE49-F238E27FC236}">
                <a16:creationId xmlns:a16="http://schemas.microsoft.com/office/drawing/2014/main" id="{2F0E7FDF-A2C6-F785-F1E7-936F202EF2F8}"/>
              </a:ext>
            </a:extLst>
          </p:cNvPr>
          <p:cNvSpPr>
            <a:spLocks noGrp="1"/>
          </p:cNvSpPr>
          <p:nvPr/>
        </p:nvSpPr>
        <p:spPr>
          <a:xfrm>
            <a:off x="2874076"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0"/>
          <a:stretch>
            <a:fillRect/>
          </a:stretch>
        </p:blipFill>
        <p:spPr>
          <a:xfrm flipH="1">
            <a:off x="3215321" y="1867303"/>
            <a:ext cx="584924" cy="593680"/>
          </a:xfrm>
          <a:prstGeom prst="rect">
            <a:avLst/>
          </a:prstGeom>
        </p:spPr>
      </p:pic>
      <p:sp>
        <p:nvSpPr>
          <p:cNvPr id="139" name="Textfeld 40">
            <a:extLst>
              <a:ext uri="{FF2B5EF4-FFF2-40B4-BE49-F238E27FC236}">
                <a16:creationId xmlns:a16="http://schemas.microsoft.com/office/drawing/2014/main" id="{F5202F32-CF94-B0E2-B061-FC87820AD558}"/>
              </a:ext>
            </a:extLst>
          </p:cNvPr>
          <p:cNvSpPr>
            <a:spLocks noGrp="1"/>
          </p:cNvSpPr>
          <p:nvPr/>
        </p:nvSpPr>
        <p:spPr>
          <a:xfrm>
            <a:off x="2828275" y="1571625"/>
            <a:ext cx="1414131" cy="276999"/>
          </a:xfrm>
          <a:prstGeom prst="rect">
            <a:avLst/>
          </a:prstGeom>
          <a:noFill/>
        </p:spPr>
        <p:txBody>
          <a:bodyPr wrap="square">
            <a:spAutoFit/>
          </a:bodyPr>
          <a:lstStyle/>
          <a:p>
            <a:pPr algn="ctr">
              <a:buNone/>
            </a:pPr>
            <a:r>
              <a:rPr sz="1200" dirty="0"/>
              <a:t>Embedding LLM</a:t>
            </a:r>
          </a:p>
        </p:txBody>
      </p:sp>
      <p:sp>
        <p:nvSpPr>
          <p:cNvPr id="140" name="Gerader Verbinder 139">
            <a:extLst>
              <a:ext uri="{FF2B5EF4-FFF2-40B4-BE49-F238E27FC236}">
                <a16:creationId xmlns:a16="http://schemas.microsoft.com/office/drawing/2014/main" id="{FAE015C5-0604-FCE4-AE8F-E2A5506C996F}"/>
              </a:ext>
            </a:extLst>
          </p:cNvPr>
          <p:cNvSpPr>
            <a:spLocks noGrp="1"/>
          </p:cNvSpPr>
          <p:nvPr/>
        </p:nvSpPr>
        <p:spPr>
          <a:xfrm>
            <a:off x="2874076"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42" name="Gerade Verbindung mit Pfeil 141">
            <a:extLst>
              <a:ext uri="{FF2B5EF4-FFF2-40B4-BE49-F238E27FC236}">
                <a16:creationId xmlns:a16="http://schemas.microsoft.com/office/drawing/2014/main" id="{250A82F1-6D5C-250C-1CB6-877ACFE32D37}"/>
              </a:ext>
            </a:extLst>
          </p:cNvPr>
          <p:cNvCxnSpPr>
            <a:cxnSpLocks/>
            <a:stCxn id="137" idx="3"/>
            <a:endCxn id="54" idx="1"/>
          </p:cNvCxnSpPr>
          <p:nvPr/>
        </p:nvCxnSpPr>
        <p:spPr>
          <a:xfrm>
            <a:off x="4133756" y="2005013"/>
            <a:ext cx="985744" cy="7284"/>
          </a:xfrm>
          <a:prstGeom prst="straightConnector1">
            <a:avLst/>
          </a:prstGeom>
          <a:ln w="20955">
            <a:solidFill>
              <a:srgbClr val="304554"/>
            </a:solidFill>
            <a:prstDash val="solid"/>
            <a:tailEnd type="triangle" w="sm" len="sm"/>
          </a:ln>
        </p:spPr>
      </p:cxnSp>
      <p:cxnSp>
        <p:nvCxnSpPr>
          <p:cNvPr id="143" name="Gerade Verbindung mit Pfeil 142">
            <a:extLst>
              <a:ext uri="{FF2B5EF4-FFF2-40B4-BE49-F238E27FC236}">
                <a16:creationId xmlns:a16="http://schemas.microsoft.com/office/drawing/2014/main" id="{3CECE63A-21C4-476A-975A-5AC5E3A1EB5E}"/>
              </a:ext>
            </a:extLst>
          </p:cNvPr>
          <p:cNvCxnSpPr>
            <a:cxnSpLocks/>
          </p:cNvCxnSpPr>
          <p:nvPr/>
        </p:nvCxnSpPr>
        <p:spPr>
          <a:xfrm>
            <a:off x="5749340" y="2448836"/>
            <a:ext cx="4805" cy="608699"/>
          </a:xfrm>
          <a:prstGeom prst="straightConnector1">
            <a:avLst/>
          </a:prstGeom>
          <a:ln w="20955">
            <a:solidFill>
              <a:srgbClr val="304554"/>
            </a:solidFill>
            <a:prstDash val="solid"/>
            <a:tailEnd type="triangle" w="sm" len="sm"/>
          </a:ln>
        </p:spPr>
      </p:cxnSp>
      <p:sp>
        <p:nvSpPr>
          <p:cNvPr id="145" name="Textfeld 144">
            <a:extLst>
              <a:ext uri="{FF2B5EF4-FFF2-40B4-BE49-F238E27FC236}">
                <a16:creationId xmlns:a16="http://schemas.microsoft.com/office/drawing/2014/main" id="{8C156430-C202-53BD-8023-A0D5C9A9CCB0}"/>
              </a:ext>
            </a:extLst>
          </p:cNvPr>
          <p:cNvSpPr txBox="1"/>
          <p:nvPr/>
        </p:nvSpPr>
        <p:spPr>
          <a:xfrm>
            <a:off x="6838721" y="4799945"/>
            <a:ext cx="922500" cy="276999"/>
          </a:xfrm>
          <a:prstGeom prst="rect">
            <a:avLst/>
          </a:prstGeom>
          <a:noFill/>
        </p:spPr>
        <p:txBody>
          <a:bodyPr wrap="square" rtlCol="0">
            <a:spAutoFit/>
          </a:bodyPr>
          <a:lstStyle/>
          <a:p>
            <a:r>
              <a:rPr lang="de-CH" sz="1200" dirty="0" err="1"/>
              <a:t>Context</a:t>
            </a:r>
            <a:endParaRPr lang="de-CH" sz="1200" dirty="0"/>
          </a:p>
        </p:txBody>
      </p: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2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2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2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4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4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39"/>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54"/>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43"/>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9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9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31"/>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6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3"/>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133"/>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8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84"/>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87"/>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0"/>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134"/>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102"/>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45"/>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135"/>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136"/>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24"/>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P spid="14" grpId="0" animBg="1"/>
      <p:bldP spid="24" grpId="0" animBg="1"/>
      <p:bldP spid="31" grpId="0"/>
      <p:bldP spid="37" grpId="0" animBg="1"/>
      <p:bldP spid="43" grpId="0"/>
      <p:bldP spid="44" grpId="0" animBg="1"/>
      <p:bldP spid="45" grpId="0" animBg="1"/>
      <p:bldP spid="48" grpId="0"/>
      <p:bldP spid="51" grpId="0" animBg="1"/>
      <p:bldP spid="54" grpId="0" animBg="1"/>
      <p:bldP spid="57" grpId="0"/>
      <p:bldP spid="58" grpId="0" animBg="1"/>
      <p:bldP spid="60" grpId="0" animBg="1"/>
      <p:bldP spid="67" grpId="0"/>
      <p:bldP spid="69" grpId="0" animBg="1"/>
      <p:bldP spid="72" grpId="0" animBg="1"/>
      <p:bldP spid="77" grpId="0"/>
      <p:bldP spid="79" grpId="0" animBg="1"/>
      <p:bldP spid="81" grpId="0" animBg="1"/>
      <p:bldP spid="87" grpId="0"/>
      <p:bldP spid="90" grpId="0" animBg="1"/>
      <p:bldP spid="93" grpId="0" animBg="1"/>
      <p:bldP spid="99" grpId="0"/>
      <p:bldP spid="101" grpId="0" animBg="1"/>
      <p:bldP spid="102" grpId="0" animBg="1"/>
      <p:bldP spid="105" grpId="0" animBg="1"/>
      <p:bldP spid="106" grpId="0" animBg="1"/>
      <p:bldP spid="121" grpId="0" animBg="1"/>
      <p:bldP spid="123" grpId="0"/>
      <p:bldP spid="124" grpId="0" animBg="1"/>
      <p:bldP spid="137" grpId="0" animBg="1"/>
      <p:bldP spid="139" grpId="0"/>
      <p:bldP spid="140" grpId="0" animBg="1"/>
      <p:bldP spid="14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76250" y="342900"/>
            <a:ext cx="11239500" cy="742950"/>
          </a:xfrm>
        </p:spPr>
        <p:txBody>
          <a:bodyPr anchor="ctr"/>
          <a:lstStyle/>
          <a:p>
            <a:pPr algn="l">
              <a:buNone/>
              <a:defRPr sz="2850">
                <a:solidFill>
                  <a:srgbClr val="2D3F4B"/>
                </a:solidFill>
                <a:latin typeface="Arial"/>
                <a:ea typeface="Arial"/>
                <a:cs typeface="Arial"/>
              </a:defRPr>
            </a:pPr>
            <a:r>
              <a:rPr sz="2850" dirty="0" err="1">
                <a:solidFill>
                  <a:srgbClr val="2D3F4B"/>
                </a:solidFill>
                <a:latin typeface="Arial"/>
                <a:ea typeface="Arial"/>
                <a:cs typeface="Arial"/>
              </a:rPr>
              <a:t>Vom</a:t>
            </a:r>
            <a:r>
              <a:rPr sz="2850" dirty="0">
                <a:solidFill>
                  <a:srgbClr val="2D3F4B"/>
                </a:solidFill>
                <a:latin typeface="Arial"/>
                <a:ea typeface="Arial"/>
                <a:cs typeface="Arial"/>
              </a:rPr>
              <a:t> </a:t>
            </a:r>
            <a:r>
              <a:rPr sz="2850" dirty="0" err="1">
                <a:solidFill>
                  <a:srgbClr val="2D3F4B"/>
                </a:solidFill>
                <a:latin typeface="Arial"/>
                <a:ea typeface="Arial"/>
                <a:cs typeface="Arial"/>
              </a:rPr>
              <a:t>Modellaufruf</a:t>
            </a:r>
            <a:r>
              <a:rPr sz="2850" dirty="0">
                <a:solidFill>
                  <a:srgbClr val="2D3F4B"/>
                </a:solidFill>
                <a:latin typeface="Arial"/>
                <a:ea typeface="Arial"/>
                <a:cs typeface="Arial"/>
              </a:rPr>
              <a:t> </a:t>
            </a:r>
            <a:r>
              <a:rPr sz="2850" dirty="0" err="1">
                <a:solidFill>
                  <a:srgbClr val="2D3F4B"/>
                </a:solidFill>
                <a:latin typeface="Arial"/>
                <a:ea typeface="Arial"/>
                <a:cs typeface="Arial"/>
              </a:rPr>
              <a:t>zum</a:t>
            </a:r>
            <a:r>
              <a:rPr sz="2850" dirty="0">
                <a:solidFill>
                  <a:srgbClr val="2D3F4B"/>
                </a:solidFill>
                <a:latin typeface="Arial"/>
                <a:ea typeface="Arial"/>
                <a:cs typeface="Arial"/>
              </a:rPr>
              <a:t> </a:t>
            </a:r>
            <a:r>
              <a:rPr sz="2850" dirty="0" err="1">
                <a:solidFill>
                  <a:srgbClr val="2D3F4B"/>
                </a:solidFill>
                <a:latin typeface="Arial"/>
                <a:ea typeface="Arial"/>
                <a:cs typeface="Arial"/>
              </a:rPr>
              <a:t>messbaren</a:t>
            </a:r>
            <a:r>
              <a:rPr sz="2850" dirty="0">
                <a:solidFill>
                  <a:srgbClr val="2D3F4B"/>
                </a:solidFill>
                <a:latin typeface="Arial"/>
                <a:ea typeface="Arial"/>
                <a:cs typeface="Arial"/>
              </a:rPr>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idx="10"/>
          </p:nvPr>
        </p:nvSpPr>
        <p:spPr/>
        <p:txBody>
          <a:bodyPr/>
          <a:lstStyle/>
          <a:p>
            <a:fld id="{1EB7C1D4-D1F3-40CB-8780-B2B6A9133392}" type="datetime1">
              <a:rPr lang="de-DE"/>
              <a:t>07.08.2026</a:t>
            </a:fld>
            <a:endParaRPr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idx="12"/>
          </p:nvPr>
        </p:nvSpPr>
        <p:spPr/>
        <p:txBody>
          <a:bodyPr/>
          <a:lstStyle/>
          <a:p>
            <a:fld id="{CE7E00E2-F08D-429A-AD9B-1ECBEC02F4DB}" type="slidenum">
              <a:rPr/>
              <a:t>8</a:t>
            </a:fld>
            <a:endParaRPr/>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07.08.2026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2850" dirty="0">
                <a:solidFill>
                  <a:srgbClr val="2D3F4B"/>
                </a:solidFill>
                <a:latin typeface="Arial"/>
                <a:ea typeface="Arial"/>
                <a:cs typeface="Arial"/>
              </a:rPr>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Reranking sortiert Kandidaten – es findet keine neuen</a:t>
            </a: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r>
              <a:rPr sz="2550" b="1">
                <a:solidFill>
                  <a:srgbClr val="FFFFFF"/>
                </a:solidFill>
                <a:latin typeface="Arial"/>
                <a:ea typeface="Arial"/>
                <a:cs typeface="Arial"/>
              </a:rPr>
              <a:t>×</a:t>
            </a: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65"/>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07.08.2026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2">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2090</Words>
  <Application>Microsoft Office PowerPoint</Application>
  <PresentationFormat>Breitbild</PresentationFormat>
  <Paragraphs>447</Paragraphs>
  <Slides>21</Slides>
  <Notes>12</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24</cp:revision>
  <dcterms:created xsi:type="dcterms:W3CDTF">2026-08-04T12:09:36Z</dcterms:created>
  <dcterms:modified xsi:type="dcterms:W3CDTF">2026-08-07T11:47:32Z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