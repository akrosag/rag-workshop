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4"/>
  </p:notesMasterIdLst>
  <p:handoutMasterIdLst>
    <p:handoutMasterId r:id="rId25"/>
  </p:handoutMasterIdLst>
  <p:sldIdLst>
    <p:sldId id="290" r:id="rId5"/>
    <p:sldId id="279" r:id="rId6"/>
    <p:sldId id="296" r:id="rId7"/>
    <p:sldId id="301" r:id="rId8"/>
    <p:sldId id="263" r:id="rId9"/>
    <p:sldId id="305" r:id="rId10"/>
    <p:sldId id="266" r:id="rId11"/>
    <p:sldId id="265" r:id="rId12"/>
    <p:sldId id="307" r:id="rId13"/>
    <p:sldId id="308" r:id="rId14"/>
    <p:sldId id="312" r:id="rId15"/>
    <p:sldId id="313" r:id="rId16"/>
    <p:sldId id="314" r:id="rId17"/>
    <p:sldId id="315" r:id="rId18"/>
    <p:sldId id="316" r:id="rId19"/>
    <p:sldId id="274" r:id="rId20"/>
    <p:sldId id="275" r:id="rId21"/>
    <p:sldId id="276" r:id="rId22"/>
    <p:sldId id="295" r:id="rId23"/>
  </p:sldIdLst>
  <p:sldSz cx="12192000" cy="6858000"/>
  <p:notesSz cx="6858000" cy="9144000"/>
  <p:custDataLst>
    <p:tags r:id="rId26"/>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05"/>
            <p14:sldId id="266"/>
            <p14:sldId id="265"/>
            <p14:sldId id="307"/>
            <p14:sldId id="308"/>
            <p14:sldId id="312"/>
            <p14:sldId id="313"/>
            <p14:sldId id="314"/>
            <p14:sldId id="315"/>
            <p14:sldId id="316"/>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94660"/>
  </p:normalViewPr>
  <p:slideViewPr>
    <p:cSldViewPr snapToGrid="0">
      <p:cViewPr varScale="1">
        <p:scale>
          <a:sx n="123" d="100"/>
          <a:sy n="123" d="100"/>
        </p:scale>
        <p:origin x="48" y="93"/>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05.08.2026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05.08.2026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Folie baut auf den drei Anfragearten der vorherigen Folie auf. Ohne Kontext muss das Modell fehlende Details expandieren. RAG liefert relevante Dokumentstellen und macht daraus eine Kompressionsaufgabe. Translation verändert dagegen primär Darstellung oder Sprache.</a:t>
            </a:r>
          </a:p>
          <a:p>
            <a:endParaRPr/>
          </a:p>
          <a:p>
            <a:r>
              <a:t>[Sources]</a:t>
            </a:r>
          </a:p>
          <a:p>
            <a:r>
              <a:t>- Workshop - RAG (Retrieval Augmented Generation), Confluence, Seite 321455241</a:t>
            </a:r>
          </a:p>
          <a:p>
            <a:r>
              <a:t>- Google Material Design Icons: open_in_full, compress, translate; Apache License 2.0</a:t>
            </a:r>
          </a:p>
          <a:p>
            <a:r>
              <a:t>- https://github.com/google/material-design-icons</a:t>
            </a:r>
          </a:p>
          <a:p>
            <a:r>
              <a:t>- https://github.com/google/material-design-icons/blob/master/LICENSE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Das Repository ist bewusst stufenweise aufgebaut. rag-1 zeigt nur den Modellaufruf. rag-2 ergänzt Fixed-Size-Chunking, Chroma und klassisches Vector Retrieval. rag-3 führt strukturorientiertes Legal-Chunking sowie optionales Cross-Encoder-Reranking ein. rag-4 ergänzt hybrides Retrieval und Graph-Nachbarn. evaluate.py vergleicht Retrieval, Antwortqualität und Tokenverbrauch. Die Stufen sind Lernschritte und keine konkurrierenden Produktversionen.</a:t>
            </a:r>
          </a:p>
          <a:p>
            <a:endParaRPr/>
          </a:p>
          <a:p>
            <a:r>
              <a:t>[Sources]</a:t>
            </a:r>
          </a:p>
          <a:p>
            <a:r>
              <a:t>- C:/Users/mehlst/Documents/RAG-Workshop/README.md</a:t>
            </a:r>
          </a:p>
          <a:p>
            <a:r>
              <a:t>- C:/Users/mehlst/Documents/RAG-Workshop/Workshop2026-RAG-Workshop-Script.txt</a:t>
            </a:r>
          </a:p>
          <a:p>
            <a:r>
              <a:t>- C:/Users/mehlst/Documents/RAG-Workshop/rag-1-chat.py</a:t>
            </a:r>
          </a:p>
          <a:p>
            <a:r>
              <a:t>- C:/Users/mehlst/Documents/RAG-Workshop/rag-2a-ingest.py</a:t>
            </a:r>
          </a:p>
          <a:p>
            <a:r>
              <a:t>- C:/Users/mehlst/Documents/RAG-Workshop/rag-3a-ingest.py</a:t>
            </a:r>
          </a:p>
          <a:p>
            <a:r>
              <a:t>- C:/Users/mehlst/Documents/RAG-Workshop/rag-4b-chat.py</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Pipeline hat zwei Betriebsarten: Der Ingest bereitet die Dokumente typischerweise einmalig vor. Bei jeder Anfrage wird die Frage gesucht, der passende Kontext ausgewählt und anschließend die Antwort erzeugt. Wichtig: Frage und Dokumente müssen mit kompatiblen Embeddings verglichen werden. Im Projekt speichert Chroma Dokument, Metadaten und Vektor; Chat und Embeddings laufen über den OpenAI-kompatiblen Marvin-Endpoint.</a:t>
            </a:r>
          </a:p>
          <a:p>
            <a:endParaRPr/>
          </a:p>
          <a:p>
            <a:r>
              <a:t>[Sources]</a:t>
            </a:r>
          </a:p>
          <a:p>
            <a:r>
              <a:t>- https://intranet.nosergroup.com/pages/viewpage.action?pageId=321455241</a:t>
            </a:r>
          </a:p>
          <a:p>
            <a:r>
              <a:t>- C:/Users/mehlst/Documents/RAG-Workshop/rag-2a-ingest.py</a:t>
            </a:r>
          </a:p>
          <a:p>
            <a:r>
              <a:t>- C:/Users/mehlst/Documents/RAG-Workshop/rag-2b-chat.py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Fixed-Size-Chunking schneidet nach einer festen Zeichenzahl. Dadurch können Sätze oder Artikelübergänge an einer beliebigen Stelle getrennt werden. Die Stage-3-Logik startet primär an Artikelüberschriften, trennt übergrosse Artikel zusätzlich an Satzgrenzen und führt kleine zusammengehörige Blöcke bis zum Budget zusammen. Das Beispiel ist didaktisch verkürzt; es visualisiert die mögliche Grenze des Stage-2-Algorithmus.</a:t>
            </a:r>
          </a:p>
          <a:p>
            <a:endParaRPr/>
          </a:p>
          <a:p>
            <a:r>
              <a:t>[Sources]</a:t>
            </a:r>
          </a:p>
          <a:p>
            <a:r>
              <a:t>- C:/Users/mehlst/Documents/RAG-Workshop/rag-2a-ingest.py</a:t>
            </a:r>
          </a:p>
          <a:p>
            <a:r>
              <a:t>- C:/Users/mehlst/Documents/RAG-Workshop/rag-3a-ingest.py</a:t>
            </a:r>
          </a:p>
          <a:p>
            <a:r>
              <a:t>- C:/Users/mehlst/Documents/RAG-Workshop/Verification_semantic_chunking.md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rag-3c holt zunächst Vector-Kandidaten und bewertet anschließend Frage und Chunk gemeinsam mit einem Cross-Encoder. Nur die bestbewerteten Chunks gehen in den Prompt. Reranking verbessert Präzision und Reihenfolge, aber nicht den Kandidaten-Recall.</a:t>
            </a:r>
          </a:p>
          <a:p>
            <a:endParaRPr/>
          </a:p>
          <a:p>
            <a:r>
              <a:t>[Sources]</a:t>
            </a:r>
          </a:p>
          <a:p>
            <a:r>
              <a:t>- C:/Users/mehlst/Documents/RAG-Workshop/rag-3c-chat-rerank.py</a:t>
            </a:r>
          </a:p>
          <a:p>
            <a:r>
              <a:t>- C:/Users/mehlst/Documents/RAG-Workshop/Workshop2026-RAG-Workshop-Script.txt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graph_retrieve kombiniert semantische Treffer mit lexikalischen Artikelkandidaten. Reciprocal Rank Fusion führt die Rankings zusammen. Erst danach werden Graph-Nachbarn und erkannte Artikelverweise ergänzt. Der Graph ersetzt die Suche nicht, sondern erweitert gute Seeds.</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Im aktuellen Lauf erreichen Vector und Graph jeweils 100 Prozent Article Recall@K. Die MRR-Werte sind praktisch gleich. GraphRAG benötigt durchschnittlich 746 statt 857 Prompt-Kontext-Tokens, also 13 Prozent weniger. Diese Werte stammen aus acht Fragen und sind keine allgemeine Benchmark.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GraphRAG deckt im aktuellen Lauf mehr erwartete Fakten ab, liegt aber bei Expected-citation Precision, Citation Grounding und Citation Completeness hinter Vector-RAG. Deshalb müssen Retrieval- und Antwortmetriken gemeinsam interpretiert werden. Term Coverage bleibt nur eine Diagnosemetrik.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Gruppen arbeiten parallel an Chunking, Reranking oder Graph plus Evaluation. Jede Gruppe berichtet maximal zwei Minuten und beantwortet drei Fragen: Was wurde ausgeführt oder verändert? Was wurde besser oder schlechter? Welche Grenze bleibt bestehen?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Matrix ist eine qualitative Orientierung, keine Rangliste. From scratch maximiert Verständnis und Kontrolle. Frameworks reduzieren Implementierungsaufwand. LangGraph adressiert komplexere zustandsbasierte Abläufe. Managed Services reduzieren Eigenbetrieb, erhöhen aber Abhängigkeit und erfordern eine Prüfung von Datenresidenz, Berechtigungen, Kosten und Lock-in.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drei Leitlinien fassen den Workshop zusammen. Kontext ist ein Engineering-Artefakt. Retrieval und Antwortqualität brauchen getrennte Metriken. Komplexität wie Reranking oder GraphRAG sollte nur ergänzt werden, wenn ein konkretes Problem gemessen wurde.</a:t>
            </a:r>
          </a:p>
          <a:p>
            <a:endParaRPr/>
          </a:p>
          <a:p>
            <a:r>
              <a:t>[Sources]</a:t>
            </a:r>
          </a:p>
          <a:p>
            <a:r>
              <a:t>- C:/Users/mehlst/Documents/RAG-Workshop/Workshop2026-RAG-Workshop-Script.txt</a:t>
            </a:r>
          </a:p>
          <a:p>
            <a:r>
              <a:t>- C:/Users/mehlst/Documents/RAG-Workshop/evaluation/report.md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05.08.2026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05.08.2026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05.08.2026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05.08.2026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05.08.2026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18" Type="http://schemas.openxmlformats.org/officeDocument/2006/relationships/image" Target="../media/image25.png"/><Relationship Id="rId3" Type="http://schemas.openxmlformats.org/officeDocument/2006/relationships/image" Target="../media/image10.png"/><Relationship Id="rId21" Type="http://schemas.openxmlformats.org/officeDocument/2006/relationships/image" Target="../media/image28.png"/><Relationship Id="rId7" Type="http://schemas.openxmlformats.org/officeDocument/2006/relationships/image" Target="../media/image14.png"/><Relationship Id="rId12" Type="http://schemas.openxmlformats.org/officeDocument/2006/relationships/image" Target="../media/image19.png"/><Relationship Id="rId17" Type="http://schemas.openxmlformats.org/officeDocument/2006/relationships/image" Target="../media/image24.png"/><Relationship Id="rId2" Type="http://schemas.openxmlformats.org/officeDocument/2006/relationships/notesSlide" Target="../notesSlides/notesSlide5.xml"/><Relationship Id="rId16" Type="http://schemas.openxmlformats.org/officeDocument/2006/relationships/image" Target="../media/image23.png"/><Relationship Id="rId20" Type="http://schemas.openxmlformats.org/officeDocument/2006/relationships/image" Target="../media/image27.png"/><Relationship Id="rId1" Type="http://schemas.openxmlformats.org/officeDocument/2006/relationships/slideLayout" Target="../slideLayouts/slideLayout9.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5" Type="http://schemas.openxmlformats.org/officeDocument/2006/relationships/image" Target="../media/image22.png"/><Relationship Id="rId10" Type="http://schemas.openxmlformats.org/officeDocument/2006/relationships/image" Target="../media/image17.png"/><Relationship Id="rId19" Type="http://schemas.openxmlformats.org/officeDocument/2006/relationships/image" Target="../media/image26.png"/><Relationship Id="rId4" Type="http://schemas.openxmlformats.org/officeDocument/2006/relationships/image" Target="../media/image11.png"/><Relationship Id="rId9" Type="http://schemas.openxmlformats.org/officeDocument/2006/relationships/image" Target="../media/image16.png"/><Relationship Id="rId1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05.08.2026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05.08.2026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05.08.2026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05.08.2026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ihandform: Form 18">
            <a:extLst>
              <a:ext uri="{FF2B5EF4-FFF2-40B4-BE49-F238E27FC236}">
                <a16:creationId xmlns:a16="http://schemas.microsoft.com/office/drawing/2014/main" id="{1C893A98-4388-AF19-0A53-CE7DA15734D9}"/>
              </a:ext>
            </a:extLst>
          </p:cNvPr>
          <p:cNvSpPr/>
          <p:nvPr/>
        </p:nvSpPr>
        <p:spPr>
          <a:xfrm>
            <a:off x="9337998"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80928F5A-A620-D15B-309C-4D7E5896C25F}"/>
              </a:ext>
            </a:extLst>
          </p:cNvPr>
          <p:cNvSpPr/>
          <p:nvPr/>
        </p:nvSpPr>
        <p:spPr>
          <a:xfrm>
            <a:off x="6482361" y="2696887"/>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200D9A3D-276C-4D19-64AE-CC44B34F666E}"/>
              </a:ext>
            </a:extLst>
          </p:cNvPr>
          <p:cNvSpPr/>
          <p:nvPr/>
        </p:nvSpPr>
        <p:spPr>
          <a:xfrm>
            <a:off x="3627580"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3B9A958D-6F8C-2948-301A-E2807E08FBB0}"/>
              </a:ext>
            </a:extLst>
          </p:cNvPr>
          <p:cNvSpPr/>
          <p:nvPr/>
        </p:nvSpPr>
        <p:spPr>
          <a:xfrm>
            <a:off x="668204" y="2720889"/>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D3CAE26B-4865-C6F0-5B97-694858312949}"/>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B4438418-9676-7CB0-887F-B094922C97AC}"/>
              </a:ext>
            </a:extLst>
          </p:cNvPr>
          <p:cNvSpPr>
            <a:spLocks noGrp="1"/>
          </p:cNvSpPr>
          <p:nvPr>
            <p:ph type="dt" idx="10"/>
          </p:nvPr>
        </p:nvSpPr>
        <p:spPr/>
        <p:txBody>
          <a:bodyPr/>
          <a:lstStyle/>
          <a:p>
            <a:fld id="{E2111384-F462-4D90-9803-E7B6DB23FD1B}" type="datetime1">
              <a:rPr lang="de-DE"/>
              <a:t>05.08.2026</a:t>
            </a:fld>
            <a:endParaRPr/>
          </a:p>
        </p:txBody>
      </p:sp>
      <p:sp>
        <p:nvSpPr>
          <p:cNvPr id="4" name="Foliennummernplatzhalter 3">
            <a:extLst>
              <a:ext uri="{FF2B5EF4-FFF2-40B4-BE49-F238E27FC236}">
                <a16:creationId xmlns:a16="http://schemas.microsoft.com/office/drawing/2014/main" id="{A01BAB59-63EB-59FA-5985-3F6EC05966A0}"/>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EF25329D-BC93-CDC7-FF93-C91335CE3538}"/>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a:solidFill>
                  <a:srgbClr val="2D3F4B"/>
                </a:solidFill>
                <a:latin typeface="Arial"/>
                <a:ea typeface="Arial"/>
                <a:cs typeface="Arial"/>
              </a:rPr>
              <a:t>Context Engineering entscheidet, welche Informationen das Modell für die aktuelle Aufgabe tatsächlich sieht.</a:t>
            </a:r>
          </a:p>
        </p:txBody>
      </p:sp>
      <p:sp>
        <p:nvSpPr>
          <p:cNvPr id="9" name="Gerader Verbinder 8">
            <a:extLst>
              <a:ext uri="{FF2B5EF4-FFF2-40B4-BE49-F238E27FC236}">
                <a16:creationId xmlns:a16="http://schemas.microsoft.com/office/drawing/2014/main" id="{D9549AF6-D69C-4F01-92F6-62BF6C2E4D89}"/>
              </a:ext>
            </a:extLst>
          </p:cNvPr>
          <p:cNvSpPr>
            <a:spLocks noGrp="1"/>
          </p:cNvSpPr>
          <p:nvPr/>
        </p:nvSpPr>
        <p:spPr>
          <a:xfrm>
            <a:off x="668266" y="3279047"/>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7CF9C841-C1B0-9E1A-2159-076355393AA7}"/>
              </a:ext>
            </a:extLst>
          </p:cNvPr>
          <p:cNvSpPr>
            <a:spLocks noGrp="1"/>
          </p:cNvSpPr>
          <p:nvPr/>
        </p:nvSpPr>
        <p:spPr>
          <a:xfrm>
            <a:off x="668265" y="2923425"/>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DF95F684-B212-F433-4493-2B6CB6EA4ED0}"/>
              </a:ext>
            </a:extLst>
          </p:cNvPr>
          <p:cNvSpPr>
            <a:spLocks noGrp="1"/>
          </p:cNvSpPr>
          <p:nvPr/>
        </p:nvSpPr>
        <p:spPr>
          <a:xfrm>
            <a:off x="668263" y="3450033"/>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3B56A8C2-0070-4B78-8263-0D063BEB9F2B}"/>
              </a:ext>
            </a:extLst>
          </p:cNvPr>
          <p:cNvSpPr>
            <a:spLocks noGrp="1"/>
          </p:cNvSpPr>
          <p:nvPr/>
        </p:nvSpPr>
        <p:spPr>
          <a:xfrm>
            <a:off x="3634826" y="3248891"/>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80EE699B-3600-A474-540C-811337A86E65}"/>
              </a:ext>
            </a:extLst>
          </p:cNvPr>
          <p:cNvSpPr>
            <a:spLocks noGrp="1"/>
          </p:cNvSpPr>
          <p:nvPr/>
        </p:nvSpPr>
        <p:spPr>
          <a:xfrm>
            <a:off x="3627642" y="2865374"/>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DFEA7FD6-B342-BA72-3E4C-6A669CBD5463}"/>
              </a:ext>
            </a:extLst>
          </p:cNvPr>
          <p:cNvSpPr>
            <a:spLocks noGrp="1"/>
          </p:cNvSpPr>
          <p:nvPr/>
        </p:nvSpPr>
        <p:spPr>
          <a:xfrm>
            <a:off x="3634826" y="3408280"/>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DAA5B841-1404-4F3A-A17C-AA16A49EAAC9}"/>
              </a:ext>
            </a:extLst>
          </p:cNvPr>
          <p:cNvSpPr>
            <a:spLocks noGrp="1"/>
          </p:cNvSpPr>
          <p:nvPr/>
        </p:nvSpPr>
        <p:spPr>
          <a:xfrm>
            <a:off x="6489637" y="3248891"/>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3E91CA84-30F3-7882-F0B4-34A2AA9A47FE}"/>
              </a:ext>
            </a:extLst>
          </p:cNvPr>
          <p:cNvSpPr>
            <a:spLocks noGrp="1"/>
          </p:cNvSpPr>
          <p:nvPr/>
        </p:nvSpPr>
        <p:spPr>
          <a:xfrm>
            <a:off x="6489635" y="288527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1FFBAAC-2612-DE64-FB55-0C73CF85209A}"/>
              </a:ext>
            </a:extLst>
          </p:cNvPr>
          <p:cNvSpPr>
            <a:spLocks noGrp="1"/>
          </p:cNvSpPr>
          <p:nvPr/>
        </p:nvSpPr>
        <p:spPr>
          <a:xfrm>
            <a:off x="6489636" y="3425378"/>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3AF7B58B-63CE-4B5D-8393-7C3E960C87D2}"/>
              </a:ext>
            </a:extLst>
          </p:cNvPr>
          <p:cNvSpPr>
            <a:spLocks noGrp="1"/>
          </p:cNvSpPr>
          <p:nvPr/>
        </p:nvSpPr>
        <p:spPr>
          <a:xfrm>
            <a:off x="9344444" y="3281822"/>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55BD1810-2D8D-19B9-CDE7-6969A0F81BED}"/>
              </a:ext>
            </a:extLst>
          </p:cNvPr>
          <p:cNvSpPr>
            <a:spLocks noGrp="1"/>
          </p:cNvSpPr>
          <p:nvPr/>
        </p:nvSpPr>
        <p:spPr>
          <a:xfrm>
            <a:off x="9344442" y="2923425"/>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CCC7E1F5-DDF5-2B67-B021-454272284078}"/>
              </a:ext>
            </a:extLst>
          </p:cNvPr>
          <p:cNvSpPr>
            <a:spLocks noGrp="1"/>
          </p:cNvSpPr>
          <p:nvPr/>
        </p:nvSpPr>
        <p:spPr>
          <a:xfrm>
            <a:off x="9410700" y="3530741"/>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8C0DA19A-A848-5F86-B15F-117B973089E4}"/>
              </a:ext>
            </a:extLst>
          </p:cNvPr>
          <p:cNvSpPr>
            <a:spLocks noGrp="1"/>
          </p:cNvSpPr>
          <p:nvPr/>
        </p:nvSpPr>
        <p:spPr>
          <a:xfrm>
            <a:off x="4286250" y="490537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363D0D2F-6233-A6AA-8138-E4996E24545F}"/>
              </a:ext>
            </a:extLst>
          </p:cNvPr>
          <p:cNvSpPr>
            <a:spLocks noGrp="1"/>
          </p:cNvSpPr>
          <p:nvPr/>
        </p:nvSpPr>
        <p:spPr>
          <a:xfrm>
            <a:off x="4286250" y="516106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p:cNvCxnSpPr>
            <a:cxnSpLocks/>
            <a:endCxn id="35" idx="1"/>
          </p:cNvCxnSpPr>
          <p:nvPr/>
        </p:nvCxnSpPr>
        <p:spPr>
          <a:xfrm>
            <a:off x="1844618" y="4247075"/>
            <a:ext cx="2441632" cy="1067875"/>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p:cNvCxnSpPr>
            <a:cxnSpLocks/>
          </p:cNvCxnSpPr>
          <p:nvPr/>
        </p:nvCxnSpPr>
        <p:spPr>
          <a:xfrm>
            <a:off x="4815840" y="4215465"/>
            <a:ext cx="776897" cy="667860"/>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p:cNvCxnSpPr>
            <a:cxnSpLocks/>
          </p:cNvCxnSpPr>
          <p:nvPr/>
        </p:nvCxnSpPr>
        <p:spPr>
          <a:xfrm flipH="1">
            <a:off x="6510362" y="4215465"/>
            <a:ext cx="1239178" cy="667860"/>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p:cNvCxnSpPr>
            <a:cxnSpLocks/>
            <a:endCxn id="35" idx="3"/>
          </p:cNvCxnSpPr>
          <p:nvPr/>
        </p:nvCxnSpPr>
        <p:spPr>
          <a:xfrm flipH="1">
            <a:off x="7905750" y="4231270"/>
            <a:ext cx="2716530" cy="1083680"/>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9EC82F57-08FA-4E52-966F-E447140C1A50}"/>
              </a:ext>
            </a:extLst>
          </p:cNvPr>
          <p:cNvSpPr>
            <a:spLocks noGrp="1"/>
          </p:cNvSpPr>
          <p:nvPr/>
        </p:nvSpPr>
        <p:spPr>
          <a:xfrm>
            <a:off x="668274" y="2700708"/>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0634EF25-1DCC-428A-A386-E202ED0EBF10}"/>
              </a:ext>
            </a:extLst>
          </p:cNvPr>
          <p:cNvSpPr>
            <a:spLocks noGrp="1"/>
          </p:cNvSpPr>
          <p:nvPr/>
        </p:nvSpPr>
        <p:spPr>
          <a:xfrm>
            <a:off x="3620396" y="2688723"/>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FA8AE44F-41CA-4D1C-9E2E-0D254B53F9C9}"/>
              </a:ext>
            </a:extLst>
          </p:cNvPr>
          <p:cNvSpPr>
            <a:spLocks noGrp="1"/>
          </p:cNvSpPr>
          <p:nvPr/>
        </p:nvSpPr>
        <p:spPr>
          <a:xfrm>
            <a:off x="6475178" y="2696887"/>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01A6F93A-A880-43C5-A386-38FE5A35AE6A}"/>
              </a:ext>
            </a:extLst>
          </p:cNvPr>
          <p:cNvSpPr>
            <a:spLocks noGrp="1"/>
          </p:cNvSpPr>
          <p:nvPr/>
        </p:nvSpPr>
        <p:spPr>
          <a:xfrm>
            <a:off x="9329166" y="2688724"/>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590DE59E-99BD-42AC-AC8F-134CB047FA08}"/>
              </a:ext>
            </a:extLst>
          </p:cNvPr>
          <p:cNvSpPr>
            <a:spLocks noGrp="1"/>
          </p:cNvSpPr>
          <p:nvPr/>
        </p:nvSpPr>
        <p:spPr>
          <a:xfrm>
            <a:off x="4286250" y="581025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solidFill>
                  <a:schemeClr val="accent3"/>
                </a:solidFill>
                <a:latin typeface="Arial"/>
                <a:ea typeface="Arial"/>
                <a:cs typeface="Arial"/>
              </a:rPr>
              <a:t>Das Modell </a:t>
            </a:r>
            <a:r>
              <a:rPr sz="1200" dirty="0" err="1">
                <a:solidFill>
                  <a:schemeClr val="accent3"/>
                </a:solidFill>
                <a:latin typeface="Arial"/>
                <a:ea typeface="Arial"/>
                <a:cs typeface="Arial"/>
              </a:rPr>
              <a:t>kann</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nur</a:t>
            </a:r>
            <a:r>
              <a:rPr sz="1200" dirty="0">
                <a:solidFill>
                  <a:schemeClr val="accent3"/>
                </a:solidFill>
                <a:latin typeface="Arial"/>
                <a:ea typeface="Arial"/>
                <a:cs typeface="Arial"/>
              </a:rPr>
              <a:t> den </a:t>
            </a:r>
            <a:r>
              <a:rPr sz="1200" dirty="0" err="1">
                <a:solidFill>
                  <a:schemeClr val="accent3"/>
                </a:solidFill>
                <a:latin typeface="Arial"/>
                <a:ea typeface="Arial"/>
                <a:cs typeface="Arial"/>
              </a:rPr>
              <a:t>zusammengestellten</a:t>
            </a:r>
            <a:r>
              <a:rPr sz="1200" dirty="0">
                <a:solidFill>
                  <a:schemeClr val="accent3"/>
                </a:solidFill>
                <a:latin typeface="Arial"/>
                <a:ea typeface="Arial"/>
                <a:cs typeface="Arial"/>
              </a:rPr>
              <a:t> </a:t>
            </a:r>
            <a:r>
              <a:rPr sz="1200" dirty="0" err="1">
                <a:solidFill>
                  <a:schemeClr val="accent3"/>
                </a:solidFill>
                <a:latin typeface="Arial"/>
                <a:ea typeface="Arial"/>
                <a:cs typeface="Arial"/>
              </a:rPr>
              <a:t>Kontext</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nutzen</a:t>
            </a:r>
            <a:r>
              <a:rPr sz="1200" dirty="0">
                <a:solidFill>
                  <a:schemeClr val="accent3"/>
                </a:solidFill>
                <a:latin typeface="Arial"/>
                <a:ea typeface="Arial"/>
                <a:cs typeface="Arial"/>
              </a:rPr>
              <a:t>.</a:t>
            </a:r>
          </a:p>
        </p:txBody>
      </p:sp>
    </p:spTree>
    <p:extLst>
      <p:ext uri="{BB962C8B-B14F-4D97-AF65-F5344CB8AC3E}">
        <p14:creationId xmlns:p14="http://schemas.microsoft.com/office/powerpoint/2010/main" val="32307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a:solidFill>
                  <a:srgbClr val="2D3F4B"/>
                </a:solidFill>
                <a:latin typeface="Arial"/>
                <a:ea typeface="Arial"/>
                <a:cs typeface="Arial"/>
              </a:rPr>
              <a:t>Vom Modellaufruf zum messbaren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05.08.2026</a:t>
            </a:fld>
            <a:endParaRPr/>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7</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Number-Placeholder-3-2">
            <a:extLst>
              <a:ext uri="{FF2B5EF4-FFF2-40B4-BE49-F238E27FC236}">
                <a16:creationId xmlns:a16="http://schemas.microsoft.com/office/drawing/2014/main" id="{D49820AC-934E-441B-8FA6-8602BB7F9F0D}"/>
              </a:ext>
            </a:extLst>
          </p:cNvPr>
          <p:cNvSpPr>
            <a:spLocks noGrp="1"/>
          </p:cNvSpPr>
          <p:nvPr/>
        </p:nvSpPr>
        <p:spPr>
          <a:xfrm>
            <a:off x="11279315" y="6279261"/>
            <a:ext cx="518922" cy="241268"/>
          </a:xfrm>
          <a:prstGeom prst="rect">
            <a:avLst/>
          </a:prstGeom>
        </p:spPr>
        <p:txBody>
          <a:bodyPr lIns="0" tIns="0" rIns="0" bIns="0" anchor="b"/>
          <a:lstStyle/>
          <a:p>
            <a:pPr algn="r">
              <a:buNone/>
              <a:defRPr sz="1000">
                <a:solidFill>
                  <a:srgbClr val="000000"/>
                </a:solidFill>
                <a:latin typeface="Helvetica Neue"/>
                <a:ea typeface="Helvetica Neue"/>
                <a:cs typeface="Helvetica Neue"/>
              </a:defRPr>
            </a:pPr>
            <a:r>
              <a:t>7</a:t>
            </a:r>
          </a:p>
        </p:txBody>
      </p:sp>
      <p:sp>
        <p:nvSpPr>
          <p:cNvPr id="2" name="Title-10-3">
            <a:extLst>
              <a:ext uri="{FF2B5EF4-FFF2-40B4-BE49-F238E27FC236}">
                <a16:creationId xmlns:a16="http://schemas.microsoft.com/office/drawing/2014/main" id="{C1C3CB49-0906-4E8C-9B8A-E2BC670CCED0}"/>
              </a:ext>
            </a:extLst>
          </p:cNvPr>
          <p:cNvSpPr>
            <a:spLocks noGrp="1"/>
          </p:cNvSpPr>
          <p:nvPr/>
        </p:nvSpPr>
        <p:spPr>
          <a:xfrm>
            <a:off x="476250" y="342900"/>
            <a:ext cx="11239500" cy="742950"/>
          </a:xfrm>
          <a:prstGeom prst="rect">
            <a:avLst/>
          </a:prstGeom>
        </p:spPr>
        <p:txBody>
          <a:bodyPr lIns="0" tIns="0" rIns="0" bIns="0" anchor="ctr">
            <a:normAutofit/>
          </a:bodyPr>
          <a:lstStyle/>
          <a:p>
            <a:pPr algn="l">
              <a:buNone/>
              <a:defRPr sz="2850">
                <a:solidFill>
                  <a:srgbClr val="2D3F4B"/>
                </a:solidFill>
                <a:latin typeface="Arial"/>
                <a:ea typeface="Arial"/>
                <a:cs typeface="Arial"/>
              </a:defRPr>
            </a:pPr>
            <a:r>
              <a:rPr sz="2850">
                <a:solidFill>
                  <a:srgbClr val="2D3F4B"/>
                </a:solidFill>
                <a:latin typeface="Arial"/>
                <a:ea typeface="Arial"/>
                <a:cs typeface="Arial"/>
              </a:rPr>
              <a:t>RAG trennt Vorbereitung und Anfrage</a:t>
            </a:r>
          </a:p>
        </p:txBody>
      </p:sp>
      <p:cxnSp>
        <p:nvCxnSpPr>
          <p:cNvPr id="27" name="Google-Shape-2259-p159-4"/>
          <p:cNvCxnSpPr/>
          <p:nvPr/>
        </p:nvCxnSpPr>
        <p:spPr>
          <a:xfrm>
            <a:off x="1476375" y="2638425"/>
            <a:ext cx="8096250" cy="0"/>
          </a:xfrm>
          <a:prstGeom prst="straightConnector1">
            <a:avLst/>
          </a:prstGeom>
          <a:ln w="28575">
            <a:solidFill>
              <a:srgbClr val="2D3F4B"/>
            </a:solidFill>
            <a:prstDash val="solid"/>
          </a:ln>
        </p:spPr>
      </p:cxnSp>
      <p:sp>
        <p:nvSpPr>
          <p:cNvPr id="4" name="Google-Shape-2260-p159-5">
            <a:extLst>
              <a:ext uri="{FF2B5EF4-FFF2-40B4-BE49-F238E27FC236}">
                <a16:creationId xmlns:a16="http://schemas.microsoft.com/office/drawing/2014/main" id="{84C0DA39-A193-4AAE-B25E-1DC1959E1A67}"/>
              </a:ext>
            </a:extLst>
          </p:cNvPr>
          <p:cNvSpPr>
            <a:spLocks noGrp="1"/>
          </p:cNvSpPr>
          <p:nvPr/>
        </p:nvSpPr>
        <p:spPr>
          <a:xfrm>
            <a:off x="1419225" y="2343150"/>
            <a:ext cx="590550" cy="590550"/>
          </a:xfrm>
          <a:prstGeom prst="ellipse">
            <a:avLst/>
          </a:prstGeom>
          <a:solidFill>
            <a:srgbClr val="C60C30"/>
          </a:solidFill>
          <a:ln w="28575">
            <a:solidFill>
              <a:srgbClr val="FFFFFF"/>
            </a:solidFill>
            <a:prstDash val="solid"/>
          </a:ln>
        </p:spPr>
        <p:txBody>
          <a:bodyPr anchor="ctr"/>
          <a:lstStyle/>
          <a:p>
            <a:pPr algn="ctr">
              <a:defRPr sz="1875" b="1">
                <a:solidFill>
                  <a:srgbClr val="FFFFFF"/>
                </a:solidFill>
                <a:latin typeface="Arial"/>
                <a:ea typeface="Arial"/>
                <a:cs typeface="Arial"/>
              </a:defRPr>
            </a:pPr>
            <a:r>
              <a:rPr sz="1875" b="1">
                <a:solidFill>
                  <a:srgbClr val="FFFFFF"/>
                </a:solidFill>
                <a:latin typeface="Arial"/>
                <a:ea typeface="Arial"/>
                <a:cs typeface="Arial"/>
              </a:rPr>
              <a:t>1</a:t>
            </a:r>
          </a:p>
        </p:txBody>
      </p:sp>
      <p:sp>
        <p:nvSpPr>
          <p:cNvPr id="5" name="Google-Shape-2261-p159-6">
            <a:extLst>
              <a:ext uri="{FF2B5EF4-FFF2-40B4-BE49-F238E27FC236}">
                <a16:creationId xmlns:a16="http://schemas.microsoft.com/office/drawing/2014/main" id="{82744E84-5A69-4A5E-839C-F0A61DA3C1FA}"/>
              </a:ext>
            </a:extLst>
          </p:cNvPr>
          <p:cNvSpPr>
            <a:spLocks noGrp="1"/>
          </p:cNvSpPr>
          <p:nvPr/>
        </p:nvSpPr>
        <p:spPr>
          <a:xfrm>
            <a:off x="5324475" y="2343150"/>
            <a:ext cx="590550" cy="590550"/>
          </a:xfrm>
          <a:prstGeom prst="ellipse">
            <a:avLst/>
          </a:prstGeom>
          <a:solidFill>
            <a:srgbClr val="43858A"/>
          </a:solidFill>
          <a:ln w="28575">
            <a:solidFill>
              <a:srgbClr val="FFFFFF"/>
            </a:solidFill>
            <a:prstDash val="solid"/>
          </a:ln>
        </p:spPr>
        <p:txBody>
          <a:bodyPr anchor="ctr"/>
          <a:lstStyle/>
          <a:p>
            <a:pPr algn="ctr">
              <a:defRPr sz="1875" b="1">
                <a:solidFill>
                  <a:srgbClr val="FFFFFF"/>
                </a:solidFill>
                <a:latin typeface="Arial"/>
                <a:ea typeface="Arial"/>
                <a:cs typeface="Arial"/>
              </a:defRPr>
            </a:pPr>
            <a:r>
              <a:rPr sz="1875" b="1">
                <a:solidFill>
                  <a:srgbClr val="FFFFFF"/>
                </a:solidFill>
                <a:latin typeface="Arial"/>
                <a:ea typeface="Arial"/>
                <a:cs typeface="Arial"/>
              </a:rPr>
              <a:t>2</a:t>
            </a:r>
          </a:p>
        </p:txBody>
      </p:sp>
      <p:sp>
        <p:nvSpPr>
          <p:cNvPr id="6" name="Google-Shape-2262-p159-7">
            <a:extLst>
              <a:ext uri="{FF2B5EF4-FFF2-40B4-BE49-F238E27FC236}">
                <a16:creationId xmlns:a16="http://schemas.microsoft.com/office/drawing/2014/main" id="{84CED366-64DF-40F5-B4F2-CDC86305ECA0}"/>
              </a:ext>
            </a:extLst>
          </p:cNvPr>
          <p:cNvSpPr>
            <a:spLocks noGrp="1"/>
          </p:cNvSpPr>
          <p:nvPr/>
        </p:nvSpPr>
        <p:spPr>
          <a:xfrm>
            <a:off x="9229725" y="2343150"/>
            <a:ext cx="590550" cy="590550"/>
          </a:xfrm>
          <a:prstGeom prst="ellipse">
            <a:avLst/>
          </a:prstGeom>
          <a:solidFill>
            <a:srgbClr val="C9960F"/>
          </a:solidFill>
          <a:ln w="28575">
            <a:solidFill>
              <a:srgbClr val="FFFFFF"/>
            </a:solidFill>
            <a:prstDash val="solid"/>
          </a:ln>
        </p:spPr>
        <p:txBody>
          <a:bodyPr anchor="ctr"/>
          <a:lstStyle/>
          <a:p>
            <a:pPr algn="ctr">
              <a:defRPr sz="1875" b="1">
                <a:solidFill>
                  <a:srgbClr val="FFFFFF"/>
                </a:solidFill>
                <a:latin typeface="Arial"/>
                <a:ea typeface="Arial"/>
                <a:cs typeface="Arial"/>
              </a:defRPr>
            </a:pPr>
            <a:r>
              <a:rPr sz="1875" b="1">
                <a:solidFill>
                  <a:srgbClr val="FFFFFF"/>
                </a:solidFill>
                <a:latin typeface="Arial"/>
                <a:ea typeface="Arial"/>
                <a:cs typeface="Arial"/>
              </a:rPr>
              <a:t>3</a:t>
            </a:r>
          </a:p>
        </p:txBody>
      </p:sp>
      <p:sp>
        <p:nvSpPr>
          <p:cNvPr id="7" name="Content-Placeholder-15-8">
            <a:extLst>
              <a:ext uri="{FF2B5EF4-FFF2-40B4-BE49-F238E27FC236}">
                <a16:creationId xmlns:a16="http://schemas.microsoft.com/office/drawing/2014/main" id="{E298FEE2-F6C8-4FBF-A83C-81F3CBA9D665}"/>
              </a:ext>
            </a:extLst>
          </p:cNvPr>
          <p:cNvSpPr>
            <a:spLocks noGrp="1"/>
          </p:cNvSpPr>
          <p:nvPr/>
        </p:nvSpPr>
        <p:spPr>
          <a:xfrm>
            <a:off x="523875" y="2019300"/>
            <a:ext cx="2381250" cy="266700"/>
          </a:xfrm>
          <a:prstGeom prst="rect">
            <a:avLst/>
          </a:prstGeom>
        </p:spPr>
        <p:txBody>
          <a:bodyPr lIns="0" tIns="0" rIns="0" bIns="0" anchor="ctr">
            <a:noAutofit/>
          </a:bodyPr>
          <a:lstStyle/>
          <a:p>
            <a:pPr algn="ctr">
              <a:buNone/>
              <a:defRPr sz="1350" b="1">
                <a:solidFill>
                  <a:srgbClr val="C60C30"/>
                </a:solidFill>
                <a:latin typeface="Arial"/>
                <a:ea typeface="Arial"/>
                <a:cs typeface="Arial"/>
              </a:defRPr>
            </a:pPr>
            <a:r>
              <a:rPr sz="1350" b="1">
                <a:solidFill>
                  <a:srgbClr val="C60C30"/>
                </a:solidFill>
                <a:latin typeface="Arial"/>
                <a:ea typeface="Arial"/>
                <a:cs typeface="Arial"/>
              </a:rPr>
              <a:t>INGEST</a:t>
            </a:r>
          </a:p>
        </p:txBody>
      </p:sp>
      <p:sp>
        <p:nvSpPr>
          <p:cNvPr id="8" name="Content-Placeholder-15-9">
            <a:extLst>
              <a:ext uri="{FF2B5EF4-FFF2-40B4-BE49-F238E27FC236}">
                <a16:creationId xmlns:a16="http://schemas.microsoft.com/office/drawing/2014/main" id="{FFC760AB-87EA-41F1-A780-897945A55E45}"/>
              </a:ext>
            </a:extLst>
          </p:cNvPr>
          <p:cNvSpPr>
            <a:spLocks noGrp="1"/>
          </p:cNvSpPr>
          <p:nvPr/>
        </p:nvSpPr>
        <p:spPr>
          <a:xfrm>
            <a:off x="4429125" y="2019300"/>
            <a:ext cx="2381250" cy="266700"/>
          </a:xfrm>
          <a:prstGeom prst="rect">
            <a:avLst/>
          </a:prstGeom>
        </p:spPr>
        <p:txBody>
          <a:bodyPr lIns="0" tIns="0" rIns="0" bIns="0" anchor="ctr">
            <a:noAutofit/>
          </a:bodyPr>
          <a:lstStyle/>
          <a:p>
            <a:pPr algn="ctr">
              <a:buNone/>
              <a:defRPr sz="1350" b="1">
                <a:solidFill>
                  <a:srgbClr val="43858A"/>
                </a:solidFill>
                <a:latin typeface="Arial"/>
                <a:ea typeface="Arial"/>
                <a:cs typeface="Arial"/>
              </a:defRPr>
            </a:pPr>
            <a:r>
              <a:rPr sz="1350" b="1">
                <a:solidFill>
                  <a:srgbClr val="43858A"/>
                </a:solidFill>
                <a:latin typeface="Arial"/>
                <a:ea typeface="Arial"/>
                <a:cs typeface="Arial"/>
              </a:rPr>
              <a:t>RETRIEVAL</a:t>
            </a:r>
          </a:p>
        </p:txBody>
      </p:sp>
      <p:sp>
        <p:nvSpPr>
          <p:cNvPr id="9" name="Content-Placeholder-15-10">
            <a:extLst>
              <a:ext uri="{FF2B5EF4-FFF2-40B4-BE49-F238E27FC236}">
                <a16:creationId xmlns:a16="http://schemas.microsoft.com/office/drawing/2014/main" id="{97FC5AC8-615F-4CC4-9D40-4D026E390306}"/>
              </a:ext>
            </a:extLst>
          </p:cNvPr>
          <p:cNvSpPr>
            <a:spLocks noGrp="1"/>
          </p:cNvSpPr>
          <p:nvPr/>
        </p:nvSpPr>
        <p:spPr>
          <a:xfrm>
            <a:off x="8334375" y="2019300"/>
            <a:ext cx="2381250" cy="266700"/>
          </a:xfrm>
          <a:prstGeom prst="rect">
            <a:avLst/>
          </a:prstGeom>
        </p:spPr>
        <p:txBody>
          <a:bodyPr lIns="0" tIns="0" rIns="0" bIns="0" anchor="ctr">
            <a:noAutofit/>
          </a:bodyPr>
          <a:lstStyle/>
          <a:p>
            <a:pPr algn="ctr">
              <a:buNone/>
              <a:defRPr sz="1350" b="1">
                <a:solidFill>
                  <a:srgbClr val="C9960F"/>
                </a:solidFill>
                <a:latin typeface="Arial"/>
                <a:ea typeface="Arial"/>
                <a:cs typeface="Arial"/>
              </a:defRPr>
            </a:pPr>
            <a:r>
              <a:rPr sz="1350" b="1">
                <a:solidFill>
                  <a:srgbClr val="C9960F"/>
                </a:solidFill>
                <a:latin typeface="Arial"/>
                <a:ea typeface="Arial"/>
                <a:cs typeface="Arial"/>
              </a:rPr>
              <a:t>GENERATION</a:t>
            </a:r>
          </a:p>
        </p:txBody>
      </p:sp>
      <p:sp>
        <p:nvSpPr>
          <p:cNvPr id="10" name="Text-Placeholder-16-11">
            <a:extLst>
              <a:ext uri="{FF2B5EF4-FFF2-40B4-BE49-F238E27FC236}">
                <a16:creationId xmlns:a16="http://schemas.microsoft.com/office/drawing/2014/main" id="{95F81849-9583-42B1-A5D7-65A101BA2CA1}"/>
              </a:ext>
            </a:extLst>
          </p:cNvPr>
          <p:cNvSpPr>
            <a:spLocks noGrp="1"/>
          </p:cNvSpPr>
          <p:nvPr/>
        </p:nvSpPr>
        <p:spPr>
          <a:xfrm>
            <a:off x="4429125" y="3219450"/>
            <a:ext cx="3333750" cy="2000250"/>
          </a:xfrm>
          <a:prstGeom prst="roundRect">
            <a:avLst>
              <a:gd name="adj" fmla="val 8571"/>
            </a:avLst>
          </a:prstGeom>
          <a:solidFill>
            <a:srgbClr val="EAE8E5"/>
          </a:solidFill>
          <a:ln w="11430">
            <a:solidFill>
              <a:srgbClr val="C3BBB2"/>
            </a:solidFill>
            <a:prstDash val="solid"/>
          </a:ln>
        </p:spPr>
        <p:txBody>
          <a:bodyPr lIns="228600" tIns="685800" rIns="228600" bIns="171450" anchor="t">
            <a:noAutofit/>
          </a:bodyPr>
          <a:lstStyle/>
          <a:p>
            <a:pPr algn="l">
              <a:buNone/>
              <a:defRPr sz="1650">
                <a:solidFill>
                  <a:srgbClr val="2D3F4B"/>
                </a:solidFill>
                <a:latin typeface="Arial"/>
                <a:ea typeface="Arial"/>
                <a:cs typeface="Arial"/>
              </a:defRPr>
            </a:pPr>
            <a:r>
              <a:rPr sz="1650">
                <a:solidFill>
                  <a:srgbClr val="2D3F4B"/>
                </a:solidFill>
                <a:latin typeface="Arial"/>
                <a:ea typeface="Arial"/>
                <a:cs typeface="Arial"/>
              </a:rPr>
              <a:t>Zur Frage werden die relevantesten semantischen oder strukturellen Treffer ausgewählt.</a:t>
            </a:r>
          </a:p>
        </p:txBody>
      </p:sp>
      <p:sp>
        <p:nvSpPr>
          <p:cNvPr id="11" name="Text-Placeholder-16-12">
            <a:extLst>
              <a:ext uri="{FF2B5EF4-FFF2-40B4-BE49-F238E27FC236}">
                <a16:creationId xmlns:a16="http://schemas.microsoft.com/office/drawing/2014/main" id="{673B0B97-D413-4B3F-8F29-BCB8ED771DE4}"/>
              </a:ext>
            </a:extLst>
          </p:cNvPr>
          <p:cNvSpPr>
            <a:spLocks noGrp="1"/>
          </p:cNvSpPr>
          <p:nvPr/>
        </p:nvSpPr>
        <p:spPr>
          <a:xfrm>
            <a:off x="523875" y="3219450"/>
            <a:ext cx="3333750" cy="2000250"/>
          </a:xfrm>
          <a:prstGeom prst="roundRect">
            <a:avLst>
              <a:gd name="adj" fmla="val 8571"/>
            </a:avLst>
          </a:prstGeom>
          <a:solidFill>
            <a:srgbClr val="EAE8E5"/>
          </a:solidFill>
          <a:ln w="11430">
            <a:solidFill>
              <a:srgbClr val="C3BBB2"/>
            </a:solidFill>
            <a:prstDash val="solid"/>
          </a:ln>
        </p:spPr>
        <p:txBody>
          <a:bodyPr lIns="228600" tIns="685800" rIns="228600" bIns="171450" anchor="t">
            <a:noAutofit/>
          </a:bodyPr>
          <a:lstStyle/>
          <a:p>
            <a:pPr algn="l">
              <a:buNone/>
              <a:defRPr sz="1650">
                <a:solidFill>
                  <a:srgbClr val="2D3F4B"/>
                </a:solidFill>
                <a:latin typeface="Arial"/>
                <a:ea typeface="Arial"/>
                <a:cs typeface="Arial"/>
              </a:defRPr>
            </a:pPr>
            <a:r>
              <a:rPr sz="1650">
                <a:solidFill>
                  <a:srgbClr val="2D3F4B"/>
                </a:solidFill>
                <a:latin typeface="Arial"/>
                <a:ea typeface="Arial"/>
                <a:cs typeface="Arial"/>
              </a:rPr>
              <a:t>Dokumente werden in suchbare Chunks zerlegt und als Vektoren indexiert.</a:t>
            </a:r>
          </a:p>
        </p:txBody>
      </p:sp>
      <p:sp>
        <p:nvSpPr>
          <p:cNvPr id="12" name="Text-Placeholder-16-13">
            <a:extLst>
              <a:ext uri="{FF2B5EF4-FFF2-40B4-BE49-F238E27FC236}">
                <a16:creationId xmlns:a16="http://schemas.microsoft.com/office/drawing/2014/main" id="{91816FCB-F942-46E3-8FD1-38F3AD698D93}"/>
              </a:ext>
            </a:extLst>
          </p:cNvPr>
          <p:cNvSpPr>
            <a:spLocks noGrp="1"/>
          </p:cNvSpPr>
          <p:nvPr/>
        </p:nvSpPr>
        <p:spPr>
          <a:xfrm>
            <a:off x="8334375" y="3219450"/>
            <a:ext cx="3333750" cy="2000250"/>
          </a:xfrm>
          <a:prstGeom prst="roundRect">
            <a:avLst>
              <a:gd name="adj" fmla="val 8571"/>
            </a:avLst>
          </a:prstGeom>
          <a:solidFill>
            <a:srgbClr val="EAE8E5"/>
          </a:solidFill>
          <a:ln w="11430">
            <a:solidFill>
              <a:srgbClr val="C3BBB2"/>
            </a:solidFill>
            <a:prstDash val="solid"/>
          </a:ln>
        </p:spPr>
        <p:txBody>
          <a:bodyPr lIns="228600" tIns="685800" rIns="228600" bIns="171450" anchor="t">
            <a:noAutofit/>
          </a:bodyPr>
          <a:lstStyle/>
          <a:p>
            <a:pPr algn="l">
              <a:buNone/>
              <a:defRPr sz="1650">
                <a:solidFill>
                  <a:srgbClr val="2D3F4B"/>
                </a:solidFill>
                <a:latin typeface="Arial"/>
                <a:ea typeface="Arial"/>
                <a:cs typeface="Arial"/>
              </a:defRPr>
            </a:pPr>
            <a:r>
              <a:rPr sz="1650">
                <a:solidFill>
                  <a:srgbClr val="2D3F4B"/>
                </a:solidFill>
                <a:latin typeface="Arial"/>
                <a:ea typeface="Arial"/>
                <a:cs typeface="Arial"/>
              </a:rPr>
              <a:t>Der gefundene Kontext ergänzt den Prompt und begründet die Antwort.</a:t>
            </a:r>
          </a:p>
        </p:txBody>
      </p:sp>
      <p:sp>
        <p:nvSpPr>
          <p:cNvPr id="16" name="INGEST-accent">
            <a:extLst>
              <a:ext uri="{FF2B5EF4-FFF2-40B4-BE49-F238E27FC236}">
                <a16:creationId xmlns:a16="http://schemas.microsoft.com/office/drawing/2014/main" id="{32D14670-E93F-4161-900C-10CED47AA6C0}"/>
              </a:ext>
            </a:extLst>
          </p:cNvPr>
          <p:cNvSpPr>
            <a:spLocks noGrp="1"/>
          </p:cNvSpPr>
          <p:nvPr/>
        </p:nvSpPr>
        <p:spPr>
          <a:xfrm>
            <a:off x="523875" y="3219450"/>
            <a:ext cx="3333750" cy="76200"/>
          </a:xfrm>
          <a:prstGeom prst="rect">
            <a:avLst/>
          </a:prstGeom>
          <a:solidFill>
            <a:srgbClr val="C60C30"/>
          </a:solidFill>
          <a:ln w="0">
            <a:solidFill>
              <a:srgbClr val="C60C30"/>
            </a:solidFill>
            <a:prstDash val="solid"/>
          </a:ln>
        </p:spPr>
        <p:txBody>
          <a:bodyPr/>
          <a:lstStyle/>
          <a:p>
            <a:endParaRPr lang="de-CH"/>
          </a:p>
        </p:txBody>
      </p:sp>
      <p:sp>
        <p:nvSpPr>
          <p:cNvPr id="17" name="INGEST-heading">
            <a:extLst>
              <a:ext uri="{FF2B5EF4-FFF2-40B4-BE49-F238E27FC236}">
                <a16:creationId xmlns:a16="http://schemas.microsoft.com/office/drawing/2014/main" id="{D27FE73B-D889-4732-AC77-A1615A45EF43}"/>
              </a:ext>
            </a:extLst>
          </p:cNvPr>
          <p:cNvSpPr>
            <a:spLocks noGrp="1"/>
          </p:cNvSpPr>
          <p:nvPr/>
        </p:nvSpPr>
        <p:spPr>
          <a:xfrm>
            <a:off x="752475" y="3476625"/>
            <a:ext cx="2876550" cy="400050"/>
          </a:xfrm>
          <a:prstGeom prst="rect">
            <a:avLst/>
          </a:prstGeom>
          <a:noFill/>
          <a:ln w="0">
            <a:noFill/>
            <a:prstDash val="solid"/>
          </a:ln>
        </p:spPr>
        <p:txBody>
          <a:bodyPr anchor="ctr"/>
          <a:lstStyle/>
          <a:p>
            <a:pPr algn="l">
              <a:defRPr sz="1800" b="1">
                <a:solidFill>
                  <a:srgbClr val="2D3F4B"/>
                </a:solidFill>
                <a:latin typeface="Arial"/>
                <a:ea typeface="Arial"/>
                <a:cs typeface="Arial"/>
              </a:defRPr>
            </a:pPr>
            <a:r>
              <a:rPr sz="1800" b="1">
                <a:solidFill>
                  <a:srgbClr val="2D3F4B"/>
                </a:solidFill>
                <a:latin typeface="Arial"/>
                <a:ea typeface="Arial"/>
                <a:cs typeface="Arial"/>
              </a:rPr>
              <a:t>Load → Chunk → Embed</a:t>
            </a:r>
          </a:p>
        </p:txBody>
      </p:sp>
      <p:sp>
        <p:nvSpPr>
          <p:cNvPr id="18" name="RETRIEVAL-accent">
            <a:extLst>
              <a:ext uri="{FF2B5EF4-FFF2-40B4-BE49-F238E27FC236}">
                <a16:creationId xmlns:a16="http://schemas.microsoft.com/office/drawing/2014/main" id="{9B193A4A-FE29-42D7-AF7F-0BC0460560FB}"/>
              </a:ext>
            </a:extLst>
          </p:cNvPr>
          <p:cNvSpPr>
            <a:spLocks noGrp="1"/>
          </p:cNvSpPr>
          <p:nvPr/>
        </p:nvSpPr>
        <p:spPr>
          <a:xfrm>
            <a:off x="4429125" y="3219450"/>
            <a:ext cx="3333750" cy="76200"/>
          </a:xfrm>
          <a:prstGeom prst="rect">
            <a:avLst/>
          </a:prstGeom>
          <a:solidFill>
            <a:srgbClr val="43858A"/>
          </a:solidFill>
          <a:ln w="0">
            <a:solidFill>
              <a:srgbClr val="43858A"/>
            </a:solidFill>
            <a:prstDash val="solid"/>
          </a:ln>
        </p:spPr>
        <p:txBody>
          <a:bodyPr/>
          <a:lstStyle/>
          <a:p>
            <a:endParaRPr lang="de-CH"/>
          </a:p>
        </p:txBody>
      </p:sp>
      <p:sp>
        <p:nvSpPr>
          <p:cNvPr id="19" name="RETRIEVAL-heading">
            <a:extLst>
              <a:ext uri="{FF2B5EF4-FFF2-40B4-BE49-F238E27FC236}">
                <a16:creationId xmlns:a16="http://schemas.microsoft.com/office/drawing/2014/main" id="{0490C1E6-C962-4F5E-9671-72D583BC0FFA}"/>
              </a:ext>
            </a:extLst>
          </p:cNvPr>
          <p:cNvSpPr>
            <a:spLocks noGrp="1"/>
          </p:cNvSpPr>
          <p:nvPr/>
        </p:nvSpPr>
        <p:spPr>
          <a:xfrm>
            <a:off x="4657725" y="3476625"/>
            <a:ext cx="2876550" cy="400050"/>
          </a:xfrm>
          <a:prstGeom prst="rect">
            <a:avLst/>
          </a:prstGeom>
          <a:noFill/>
          <a:ln w="0">
            <a:noFill/>
            <a:prstDash val="solid"/>
          </a:ln>
        </p:spPr>
        <p:txBody>
          <a:bodyPr anchor="ctr"/>
          <a:lstStyle/>
          <a:p>
            <a:pPr algn="l">
              <a:defRPr sz="1800" b="1">
                <a:solidFill>
                  <a:srgbClr val="2D3F4B"/>
                </a:solidFill>
                <a:latin typeface="Arial"/>
                <a:ea typeface="Arial"/>
                <a:cs typeface="Arial"/>
              </a:defRPr>
            </a:pPr>
            <a:r>
              <a:rPr sz="1800" b="1">
                <a:solidFill>
                  <a:srgbClr val="2D3F4B"/>
                </a:solidFill>
                <a:latin typeface="Arial"/>
                <a:ea typeface="Arial"/>
                <a:cs typeface="Arial"/>
              </a:rPr>
              <a:t>Question → Search</a:t>
            </a:r>
          </a:p>
        </p:txBody>
      </p:sp>
      <p:sp>
        <p:nvSpPr>
          <p:cNvPr id="20" name="GENERATION-accent">
            <a:extLst>
              <a:ext uri="{FF2B5EF4-FFF2-40B4-BE49-F238E27FC236}">
                <a16:creationId xmlns:a16="http://schemas.microsoft.com/office/drawing/2014/main" id="{D7ECC4DB-FAB8-46FD-BCC8-7DC96BE0F92B}"/>
              </a:ext>
            </a:extLst>
          </p:cNvPr>
          <p:cNvSpPr>
            <a:spLocks noGrp="1"/>
          </p:cNvSpPr>
          <p:nvPr/>
        </p:nvSpPr>
        <p:spPr>
          <a:xfrm>
            <a:off x="8334375" y="3219450"/>
            <a:ext cx="3333750" cy="76200"/>
          </a:xfrm>
          <a:prstGeom prst="rect">
            <a:avLst/>
          </a:prstGeom>
          <a:solidFill>
            <a:srgbClr val="C9960F"/>
          </a:solidFill>
          <a:ln w="0">
            <a:solidFill>
              <a:srgbClr val="C9960F"/>
            </a:solidFill>
            <a:prstDash val="solid"/>
          </a:ln>
        </p:spPr>
        <p:txBody>
          <a:bodyPr/>
          <a:lstStyle/>
          <a:p>
            <a:endParaRPr lang="de-CH"/>
          </a:p>
        </p:txBody>
      </p:sp>
      <p:sp>
        <p:nvSpPr>
          <p:cNvPr id="21" name="GENERATION-heading">
            <a:extLst>
              <a:ext uri="{FF2B5EF4-FFF2-40B4-BE49-F238E27FC236}">
                <a16:creationId xmlns:a16="http://schemas.microsoft.com/office/drawing/2014/main" id="{AF2552B5-8E0D-4350-8545-E0AC86C66C8A}"/>
              </a:ext>
            </a:extLst>
          </p:cNvPr>
          <p:cNvSpPr>
            <a:spLocks noGrp="1"/>
          </p:cNvSpPr>
          <p:nvPr/>
        </p:nvSpPr>
        <p:spPr>
          <a:xfrm>
            <a:off x="8562975" y="3476625"/>
            <a:ext cx="2876550" cy="400050"/>
          </a:xfrm>
          <a:prstGeom prst="rect">
            <a:avLst/>
          </a:prstGeom>
          <a:noFill/>
          <a:ln w="0">
            <a:noFill/>
            <a:prstDash val="solid"/>
          </a:ln>
        </p:spPr>
        <p:txBody>
          <a:bodyPr anchor="ctr"/>
          <a:lstStyle/>
          <a:p>
            <a:pPr algn="l">
              <a:defRPr sz="1800" b="1">
                <a:solidFill>
                  <a:srgbClr val="2D3F4B"/>
                </a:solidFill>
                <a:latin typeface="Arial"/>
                <a:ea typeface="Arial"/>
                <a:cs typeface="Arial"/>
              </a:defRPr>
            </a:pPr>
            <a:r>
              <a:rPr sz="1800" b="1">
                <a:solidFill>
                  <a:srgbClr val="2D3F4B"/>
                </a:solidFill>
                <a:latin typeface="Arial"/>
                <a:ea typeface="Arial"/>
                <a:cs typeface="Arial"/>
              </a:rPr>
              <a:t>Augment → Answer</a:t>
            </a:r>
          </a:p>
        </p:txBody>
      </p:sp>
      <p:sp>
        <p:nvSpPr>
          <p:cNvPr id="22" name="offline-pill">
            <a:extLst>
              <a:ext uri="{FF2B5EF4-FFF2-40B4-BE49-F238E27FC236}">
                <a16:creationId xmlns:a16="http://schemas.microsoft.com/office/drawing/2014/main" id="{D9E5237E-277F-4597-91F2-143FFC0209C3}"/>
              </a:ext>
            </a:extLst>
          </p:cNvPr>
          <p:cNvSpPr>
            <a:spLocks noGrp="1"/>
          </p:cNvSpPr>
          <p:nvPr/>
        </p:nvSpPr>
        <p:spPr>
          <a:xfrm>
            <a:off x="666750" y="1504950"/>
            <a:ext cx="3048000" cy="323850"/>
          </a:xfrm>
          <a:prstGeom prst="roundRect">
            <a:avLst>
              <a:gd name="adj" fmla="val 44118"/>
            </a:avLst>
          </a:prstGeom>
          <a:solidFill>
            <a:srgbClr val="C60C30"/>
          </a:solidFill>
          <a:ln w="0">
            <a:solidFill>
              <a:srgbClr val="C60C30"/>
            </a:solidFill>
            <a:prstDash val="solid"/>
          </a:ln>
        </p:spPr>
        <p:txBody>
          <a:bodyPr anchor="ct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VORBEREITUNG · EINMALIG</a:t>
            </a:r>
          </a:p>
        </p:txBody>
      </p:sp>
      <p:sp>
        <p:nvSpPr>
          <p:cNvPr id="23" name="query-pill">
            <a:extLst>
              <a:ext uri="{FF2B5EF4-FFF2-40B4-BE49-F238E27FC236}">
                <a16:creationId xmlns:a16="http://schemas.microsoft.com/office/drawing/2014/main" id="{40444EEB-CBDD-4C4E-B2B3-8DA7BF6E9F6B}"/>
              </a:ext>
            </a:extLst>
          </p:cNvPr>
          <p:cNvSpPr>
            <a:spLocks noGrp="1"/>
          </p:cNvSpPr>
          <p:nvPr/>
        </p:nvSpPr>
        <p:spPr>
          <a:xfrm>
            <a:off x="4572000" y="1504950"/>
            <a:ext cx="6953250" cy="323850"/>
          </a:xfrm>
          <a:prstGeom prst="roundRect">
            <a:avLst>
              <a:gd name="adj" fmla="val 44118"/>
            </a:avLst>
          </a:prstGeom>
          <a:solidFill>
            <a:srgbClr val="2D3F4B"/>
          </a:solidFill>
          <a:ln w="0">
            <a:solidFill>
              <a:srgbClr val="2D3F4B"/>
            </a:solidFill>
            <a:prstDash val="solid"/>
          </a:ln>
        </p:spPr>
        <p:txBody>
          <a:bodyPr anchor="ct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ANFRAGE · PRO QUERY</a:t>
            </a:r>
          </a:p>
        </p:txBody>
      </p:sp>
      <p:sp>
        <p:nvSpPr>
          <p:cNvPr id="24" name="pipeline-takeaway">
            <a:extLst>
              <a:ext uri="{FF2B5EF4-FFF2-40B4-BE49-F238E27FC236}">
                <a16:creationId xmlns:a16="http://schemas.microsoft.com/office/drawing/2014/main" id="{6D64C187-7D51-444C-A6A7-081B0B3C7BEC}"/>
              </a:ext>
            </a:extLst>
          </p:cNvPr>
          <p:cNvSpPr>
            <a:spLocks noGrp="1"/>
          </p:cNvSpPr>
          <p:nvPr/>
        </p:nvSpPr>
        <p:spPr>
          <a:xfrm>
            <a:off x="2000250" y="5524500"/>
            <a:ext cx="8191500" cy="400050"/>
          </a:xfrm>
          <a:prstGeom prst="rect">
            <a:avLst/>
          </a:prstGeom>
          <a:noFill/>
          <a:ln w="0">
            <a:noFill/>
            <a:prstDash val="solid"/>
          </a:ln>
        </p:spPr>
        <p:txBody>
          <a:bodyPr anchor="ctr"/>
          <a:lstStyle/>
          <a:p>
            <a:pPr algn="ctr">
              <a:defRPr sz="1425" b="1">
                <a:solidFill>
                  <a:srgbClr val="81725E"/>
                </a:solidFill>
                <a:latin typeface="Arial"/>
                <a:ea typeface="Arial"/>
                <a:cs typeface="Arial"/>
              </a:defRPr>
            </a:pPr>
            <a:r>
              <a:rPr sz="1425" b="1">
                <a:solidFill>
                  <a:srgbClr val="81725E"/>
                </a:solidFill>
                <a:latin typeface="Arial"/>
                <a:ea typeface="Arial"/>
                <a:cs typeface="Arial"/>
              </a:rPr>
              <a:t>Dokumente → Index    |    Frage → relevante Chunks → belegte Antwort</a:t>
            </a:r>
          </a:p>
        </p:txBody>
      </p:sp>
      <p:pic>
        <p:nvPicPr>
          <p:cNvPr id="3" name="Picture 2">
            <a:extLst>
              <a:ext uri="{FF2B5EF4-FFF2-40B4-BE49-F238E27FC236}">
                <a16:creationId xmlns:a16="http://schemas.microsoft.com/office/drawing/2014/main" id="{77CC4794-F31D-CC91-53E4-342EF541CF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6340" y="27573"/>
            <a:ext cx="10708910" cy="62516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77000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10</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26"/>
          <p:cNvPicPr>
            <a:picLocks noChangeAspect="1"/>
          </p:cNvPicPr>
          <p:nvPr/>
        </p:nvPicPr>
        <p:blipFill>
          <a:blip r:embed="rId3"/>
          <a:stretch>
            <a:fillRect/>
          </a:stretch>
        </p:blipFill>
        <p:spPr>
          <a:xfrm>
            <a:off x="2912712" y="1575664"/>
            <a:ext cx="425450" cy="457200"/>
          </a:xfrm>
          <a:prstGeom prst="rect">
            <a:avLst/>
          </a:prstGeom>
        </p:spPr>
      </p:pic>
      <p:pic>
        <p:nvPicPr>
          <p:cNvPr id="68" name="Grafik 28"/>
          <p:cNvPicPr>
            <a:picLocks noChangeAspect="1"/>
          </p:cNvPicPr>
          <p:nvPr/>
        </p:nvPicPr>
        <p:blipFill>
          <a:blip r:embed="rId4"/>
          <a:stretch>
            <a:fillRect/>
          </a:stretch>
        </p:blipFill>
        <p:spPr>
          <a:xfrm>
            <a:off x="8761385" y="1446112"/>
            <a:ext cx="508000" cy="596900"/>
          </a:xfrm>
          <a:prstGeom prst="rect">
            <a:avLst/>
          </a:prstGeom>
        </p:spPr>
      </p:pic>
      <p:pic>
        <p:nvPicPr>
          <p:cNvPr id="69" name="Grafik 30"/>
          <p:cNvPicPr>
            <a:picLocks noChangeAspect="1"/>
          </p:cNvPicPr>
          <p:nvPr/>
        </p:nvPicPr>
        <p:blipFill>
          <a:blip r:embed="rId5"/>
          <a:stretch>
            <a:fillRect/>
          </a:stretch>
        </p:blipFill>
        <p:spPr>
          <a:xfrm>
            <a:off x="6848896" y="1446112"/>
            <a:ext cx="355600" cy="622300"/>
          </a:xfrm>
          <a:prstGeom prst="rect">
            <a:avLst/>
          </a:prstGeom>
        </p:spPr>
      </p:pic>
      <p:pic>
        <p:nvPicPr>
          <p:cNvPr id="70" name="Grafik 32"/>
          <p:cNvPicPr>
            <a:picLocks noChangeAspect="1"/>
          </p:cNvPicPr>
          <p:nvPr/>
        </p:nvPicPr>
        <p:blipFill>
          <a:blip r:embed="rId6"/>
          <a:stretch>
            <a:fillRect/>
          </a:stretch>
        </p:blipFill>
        <p:spPr>
          <a:xfrm>
            <a:off x="4708193" y="1505626"/>
            <a:ext cx="457200" cy="596900"/>
          </a:xfrm>
          <a:prstGeom prst="rect">
            <a:avLst/>
          </a:prstGeom>
        </p:spPr>
      </p:pic>
      <p:pic>
        <p:nvPicPr>
          <p:cNvPr id="71" name="Grafik 34"/>
          <p:cNvPicPr>
            <a:picLocks noChangeAspect="1"/>
          </p:cNvPicPr>
          <p:nvPr/>
        </p:nvPicPr>
        <p:blipFill>
          <a:blip r:embed="rId7"/>
          <a:stretch>
            <a:fillRect/>
          </a:stretch>
        </p:blipFill>
        <p:spPr>
          <a:xfrm>
            <a:off x="4746365" y="4032518"/>
            <a:ext cx="614323" cy="614323"/>
          </a:xfrm>
          <a:prstGeom prst="rect">
            <a:avLst/>
          </a:prstGeom>
        </p:spPr>
      </p:pic>
      <p:pic>
        <p:nvPicPr>
          <p:cNvPr id="72" name="Grafik 36"/>
          <p:cNvPicPr>
            <a:picLocks noChangeAspect="1"/>
          </p:cNvPicPr>
          <p:nvPr/>
        </p:nvPicPr>
        <p:blipFill>
          <a:blip r:embed="rId8"/>
          <a:stretch>
            <a:fillRect/>
          </a:stretch>
        </p:blipFill>
        <p:spPr>
          <a:xfrm>
            <a:off x="8871738" y="4043591"/>
            <a:ext cx="450850" cy="603250"/>
          </a:xfrm>
          <a:prstGeom prst="rect">
            <a:avLst/>
          </a:prstGeom>
        </p:spPr>
      </p:pic>
      <p:pic>
        <p:nvPicPr>
          <p:cNvPr id="73" name="Grafik 38"/>
          <p:cNvPicPr>
            <a:picLocks noChangeAspect="1"/>
          </p:cNvPicPr>
          <p:nvPr/>
        </p:nvPicPr>
        <p:blipFill>
          <a:blip r:embed="rId9"/>
          <a:stretch>
            <a:fillRect/>
          </a:stretch>
        </p:blipFill>
        <p:spPr>
          <a:xfrm>
            <a:off x="6848896" y="4168825"/>
            <a:ext cx="514350" cy="457200"/>
          </a:xfrm>
          <a:prstGeom prst="rect">
            <a:avLst/>
          </a:prstGeom>
        </p:spPr>
      </p:pic>
      <p:pic>
        <p:nvPicPr>
          <p:cNvPr id="74" name="Grafik 40"/>
          <p:cNvPicPr>
            <a:picLocks noChangeAspect="1"/>
          </p:cNvPicPr>
          <p:nvPr/>
        </p:nvPicPr>
        <p:blipFill>
          <a:blip r:embed="rId10"/>
          <a:stretch>
            <a:fillRect/>
          </a:stretch>
        </p:blipFill>
        <p:spPr>
          <a:xfrm>
            <a:off x="986234" y="4036257"/>
            <a:ext cx="552450" cy="603250"/>
          </a:xfrm>
          <a:prstGeom prst="rect">
            <a:avLst/>
          </a:prstGeom>
        </p:spPr>
      </p:pic>
      <p:pic>
        <p:nvPicPr>
          <p:cNvPr id="75" name="Grafik 42"/>
          <p:cNvPicPr>
            <a:picLocks noChangeAspect="1"/>
          </p:cNvPicPr>
          <p:nvPr/>
        </p:nvPicPr>
        <p:blipFill>
          <a:blip r:embed="rId11"/>
          <a:stretch>
            <a:fillRect/>
          </a:stretch>
        </p:blipFill>
        <p:spPr>
          <a:xfrm>
            <a:off x="2867282" y="4177789"/>
            <a:ext cx="495300" cy="438150"/>
          </a:xfrm>
          <a:prstGeom prst="rect">
            <a:avLst/>
          </a:prstGeom>
        </p:spPr>
      </p:pic>
      <p:pic>
        <p:nvPicPr>
          <p:cNvPr id="76" name="Grafik 44"/>
          <p:cNvPicPr>
            <a:picLocks noChangeAspect="1"/>
          </p:cNvPicPr>
          <p:nvPr/>
        </p:nvPicPr>
        <p:blipFill>
          <a:blip r:embed="rId12"/>
          <a:stretch>
            <a:fillRect/>
          </a:stretch>
        </p:blipFill>
        <p:spPr>
          <a:xfrm>
            <a:off x="2767830" y="2811865"/>
            <a:ext cx="603250" cy="565150"/>
          </a:xfrm>
          <a:prstGeom prst="rect">
            <a:avLst/>
          </a:prstGeom>
        </p:spPr>
      </p:pic>
      <p:pic>
        <p:nvPicPr>
          <p:cNvPr id="77" name="Grafik 46"/>
          <p:cNvPicPr>
            <a:picLocks noChangeAspect="1"/>
          </p:cNvPicPr>
          <p:nvPr/>
        </p:nvPicPr>
        <p:blipFill>
          <a:blip r:embed="rId13"/>
          <a:stretch>
            <a:fillRect/>
          </a:stretch>
        </p:blipFill>
        <p:spPr>
          <a:xfrm>
            <a:off x="4676302" y="2891615"/>
            <a:ext cx="609600" cy="444500"/>
          </a:xfrm>
          <a:prstGeom prst="rect">
            <a:avLst/>
          </a:prstGeom>
        </p:spPr>
      </p:pic>
      <p:pic>
        <p:nvPicPr>
          <p:cNvPr id="78" name="Grafik 48"/>
          <p:cNvPicPr>
            <a:picLocks noChangeAspect="1"/>
          </p:cNvPicPr>
          <p:nvPr/>
        </p:nvPicPr>
        <p:blipFill>
          <a:blip r:embed="rId14"/>
          <a:stretch>
            <a:fillRect/>
          </a:stretch>
        </p:blipFill>
        <p:spPr>
          <a:xfrm>
            <a:off x="1104692" y="2718569"/>
            <a:ext cx="342900" cy="609600"/>
          </a:xfrm>
          <a:prstGeom prst="rect">
            <a:avLst/>
          </a:prstGeom>
        </p:spPr>
      </p:pic>
      <p:pic>
        <p:nvPicPr>
          <p:cNvPr id="79" name="Grafik 50"/>
          <p:cNvPicPr>
            <a:picLocks noChangeAspect="1"/>
          </p:cNvPicPr>
          <p:nvPr/>
        </p:nvPicPr>
        <p:blipFill>
          <a:blip r:embed="rId15"/>
          <a:stretch>
            <a:fillRect/>
          </a:stretch>
        </p:blipFill>
        <p:spPr>
          <a:xfrm>
            <a:off x="6858421" y="2881715"/>
            <a:ext cx="482600" cy="495300"/>
          </a:xfrm>
          <a:prstGeom prst="rect">
            <a:avLst/>
          </a:prstGeom>
        </p:spPr>
      </p:pic>
      <p:pic>
        <p:nvPicPr>
          <p:cNvPr id="80" name="Grafik 52"/>
          <p:cNvPicPr>
            <a:picLocks noChangeAspect="1"/>
          </p:cNvPicPr>
          <p:nvPr/>
        </p:nvPicPr>
        <p:blipFill>
          <a:blip r:embed="rId16"/>
          <a:stretch>
            <a:fillRect/>
          </a:stretch>
        </p:blipFill>
        <p:spPr>
          <a:xfrm>
            <a:off x="1043010" y="1600684"/>
            <a:ext cx="577850" cy="425450"/>
          </a:xfrm>
          <a:prstGeom prst="rect">
            <a:avLst/>
          </a:prstGeom>
        </p:spPr>
      </p:pic>
      <p:pic>
        <p:nvPicPr>
          <p:cNvPr id="81" name="Grafik 54"/>
          <p:cNvPicPr>
            <a:picLocks noChangeAspect="1"/>
          </p:cNvPicPr>
          <p:nvPr/>
        </p:nvPicPr>
        <p:blipFill>
          <a:blip r:embed="rId17"/>
          <a:stretch>
            <a:fillRect/>
          </a:stretch>
        </p:blipFill>
        <p:spPr>
          <a:xfrm>
            <a:off x="2825075" y="5443044"/>
            <a:ext cx="591467" cy="528545"/>
          </a:xfrm>
          <a:prstGeom prst="rect">
            <a:avLst/>
          </a:prstGeom>
        </p:spPr>
      </p:pic>
      <p:pic>
        <p:nvPicPr>
          <p:cNvPr id="82" name="Grafik 56"/>
          <p:cNvPicPr>
            <a:picLocks noChangeAspect="1"/>
          </p:cNvPicPr>
          <p:nvPr/>
        </p:nvPicPr>
        <p:blipFill>
          <a:blip r:embed="rId18"/>
          <a:stretch>
            <a:fillRect/>
          </a:stretch>
        </p:blipFill>
        <p:spPr>
          <a:xfrm>
            <a:off x="6883638" y="5351808"/>
            <a:ext cx="390117" cy="597759"/>
          </a:xfrm>
          <a:prstGeom prst="rect">
            <a:avLst/>
          </a:prstGeom>
        </p:spPr>
      </p:pic>
      <p:pic>
        <p:nvPicPr>
          <p:cNvPr id="83" name="Grafik 58"/>
          <p:cNvPicPr>
            <a:picLocks noChangeAspect="1"/>
          </p:cNvPicPr>
          <p:nvPr/>
        </p:nvPicPr>
        <p:blipFill>
          <a:blip r:embed="rId19"/>
          <a:stretch>
            <a:fillRect/>
          </a:stretch>
        </p:blipFill>
        <p:spPr>
          <a:xfrm>
            <a:off x="969185" y="5327696"/>
            <a:ext cx="553714" cy="648097"/>
          </a:xfrm>
          <a:prstGeom prst="rect">
            <a:avLst/>
          </a:prstGeom>
        </p:spPr>
      </p:pic>
      <p:pic>
        <p:nvPicPr>
          <p:cNvPr id="84" name="Grafik 60"/>
          <p:cNvPicPr>
            <a:picLocks noChangeAspect="1"/>
          </p:cNvPicPr>
          <p:nvPr/>
        </p:nvPicPr>
        <p:blipFill>
          <a:blip r:embed="rId20"/>
          <a:stretch>
            <a:fillRect/>
          </a:stretch>
        </p:blipFill>
        <p:spPr>
          <a:xfrm>
            <a:off x="4769220" y="5465067"/>
            <a:ext cx="591468" cy="484500"/>
          </a:xfrm>
          <a:prstGeom prst="rect">
            <a:avLst/>
          </a:prstGeom>
        </p:spPr>
      </p:pic>
      <p:pic>
        <p:nvPicPr>
          <p:cNvPr id="85" name="Grafik 62"/>
          <p:cNvPicPr>
            <a:picLocks noChangeAspect="1"/>
          </p:cNvPicPr>
          <p:nvPr/>
        </p:nvPicPr>
        <p:blipFill>
          <a:blip r:embed="rId21"/>
          <a:stretch>
            <a:fillRect/>
          </a:stretch>
        </p:blipFill>
        <p:spPr>
          <a:xfrm>
            <a:off x="8795296" y="5301167"/>
            <a:ext cx="786524" cy="610343"/>
          </a:xfrm>
          <a:prstGeom prst="rect">
            <a:avLst/>
          </a:prstGeom>
        </p:spPr>
      </p:pic>
      <p:sp>
        <p:nvSpPr>
          <p:cNvPr id="44" name="clean-canvas">
            <a:extLst>
              <a:ext uri="{FF2B5EF4-FFF2-40B4-BE49-F238E27FC236}">
                <a16:creationId xmlns:a16="http://schemas.microsoft.com/office/drawing/2014/main" id="{F8866071-3C88-4097-8E4C-FB38C4D71252}"/>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45" name="slide-title">
            <a:extLst>
              <a:ext uri="{FF2B5EF4-FFF2-40B4-BE49-F238E27FC236}">
                <a16:creationId xmlns:a16="http://schemas.microsoft.com/office/drawing/2014/main" id="{D3CFEC37-B71C-47B1-B53B-EFB4D00208FC}"/>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Chunking entscheidet, was auffindbar bleibt</a:t>
            </a:r>
          </a:p>
        </p:txBody>
      </p:sp>
      <p:sp>
        <p:nvSpPr>
          <p:cNvPr id="46" name="title-rule">
            <a:extLst>
              <a:ext uri="{FF2B5EF4-FFF2-40B4-BE49-F238E27FC236}">
                <a16:creationId xmlns:a16="http://schemas.microsoft.com/office/drawing/2014/main" id="{B2B51FF7-C602-4A76-8C64-1BC02846C8A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7" name="slide-subtitle">
            <a:extLst>
              <a:ext uri="{FF2B5EF4-FFF2-40B4-BE49-F238E27FC236}">
                <a16:creationId xmlns:a16="http://schemas.microsoft.com/office/drawing/2014/main" id="{7E42A93E-6173-42DB-AE94-893959D73EB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Gleiche Dokumente, andere Grenzen – und damit andere Treffer.</a:t>
            </a:r>
          </a:p>
        </p:txBody>
      </p:sp>
      <p:sp>
        <p:nvSpPr>
          <p:cNvPr id="48" name="page-number">
            <a:extLst>
              <a:ext uri="{FF2B5EF4-FFF2-40B4-BE49-F238E27FC236}">
                <a16:creationId xmlns:a16="http://schemas.microsoft.com/office/drawing/2014/main" id="{41BF9434-7A97-41A8-86F2-D380B620AC16}"/>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14</a:t>
            </a:r>
          </a:p>
        </p:txBody>
      </p:sp>
      <p:sp>
        <p:nvSpPr>
          <p:cNvPr id="49" name="date">
            <a:extLst>
              <a:ext uri="{FF2B5EF4-FFF2-40B4-BE49-F238E27FC236}">
                <a16:creationId xmlns:a16="http://schemas.microsoft.com/office/drawing/2014/main" id="{0585C109-1EC1-4803-8756-EB5B7984AD9F}"/>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50" name="fixed-label">
            <a:extLst>
              <a:ext uri="{FF2B5EF4-FFF2-40B4-BE49-F238E27FC236}">
                <a16:creationId xmlns:a16="http://schemas.microsoft.com/office/drawing/2014/main" id="{2D50A49A-8C02-4F52-A42C-AF0A927FB5D2}"/>
              </a:ext>
            </a:extLst>
          </p:cNvPr>
          <p:cNvSpPr>
            <a:spLocks noGrp="1"/>
          </p:cNvSpPr>
          <p:nvPr/>
        </p:nvSpPr>
        <p:spPr>
          <a:xfrm>
            <a:off x="619125" y="1885950"/>
            <a:ext cx="4762500" cy="285750"/>
          </a:xfrm>
          <a:prstGeom prst="rect">
            <a:avLst/>
          </a:prstGeom>
          <a:noFill/>
          <a:ln w="0">
            <a:noFill/>
            <a:prstDash val="solid"/>
          </a:ln>
        </p:spPr>
        <p:txBody>
          <a:bodyPr anchor="t"/>
          <a:lstStyle/>
          <a:p>
            <a:pPr algn="l">
              <a:defRPr sz="1350" b="1">
                <a:solidFill>
                  <a:srgbClr val="C60C30"/>
                </a:solidFill>
                <a:latin typeface="Arial"/>
                <a:ea typeface="Arial"/>
                <a:cs typeface="Arial"/>
              </a:defRPr>
            </a:pPr>
            <a:r>
              <a:rPr sz="1350" b="1">
                <a:solidFill>
                  <a:srgbClr val="C60C30"/>
                </a:solidFill>
                <a:latin typeface="Arial"/>
                <a:ea typeface="Arial"/>
                <a:cs typeface="Arial"/>
              </a:rPr>
              <a:t>FIXED-SIZE · 800 ZEICHEN</a:t>
            </a:r>
          </a:p>
        </p:txBody>
      </p:sp>
      <p:sp>
        <p:nvSpPr>
          <p:cNvPr id="51" name="legal-label">
            <a:extLst>
              <a:ext uri="{FF2B5EF4-FFF2-40B4-BE49-F238E27FC236}">
                <a16:creationId xmlns:a16="http://schemas.microsoft.com/office/drawing/2014/main" id="{66F6F618-2973-4D0A-ABD7-9646DDEA64FE}"/>
              </a:ext>
            </a:extLst>
          </p:cNvPr>
          <p:cNvSpPr>
            <a:spLocks noGrp="1"/>
          </p:cNvSpPr>
          <p:nvPr/>
        </p:nvSpPr>
        <p:spPr>
          <a:xfrm>
            <a:off x="6715125" y="1885950"/>
            <a:ext cx="4857750" cy="285750"/>
          </a:xfrm>
          <a:prstGeom prst="rect">
            <a:avLst/>
          </a:prstGeom>
          <a:noFill/>
          <a:ln w="0">
            <a:noFill/>
            <a:prstDash val="solid"/>
          </a:ln>
        </p:spPr>
        <p:txBody>
          <a:bodyPr anchor="t"/>
          <a:lstStyle/>
          <a:p>
            <a:pPr algn="l">
              <a:defRPr sz="1350" b="1">
                <a:solidFill>
                  <a:srgbClr val="43858A"/>
                </a:solidFill>
                <a:latin typeface="Arial"/>
                <a:ea typeface="Arial"/>
                <a:cs typeface="Arial"/>
              </a:defRPr>
            </a:pPr>
            <a:r>
              <a:rPr sz="1350" b="1">
                <a:solidFill>
                  <a:srgbClr val="43858A"/>
                </a:solidFill>
                <a:latin typeface="Arial"/>
                <a:ea typeface="Arial"/>
                <a:cs typeface="Arial"/>
              </a:rPr>
              <a:t>STRUKTURORIENTIERT · ARTIKEL + SÄTZE</a:t>
            </a:r>
          </a:p>
        </p:txBody>
      </p:sp>
      <p:sp>
        <p:nvSpPr>
          <p:cNvPr id="52" name="fixed-bg">
            <a:extLst>
              <a:ext uri="{FF2B5EF4-FFF2-40B4-BE49-F238E27FC236}">
                <a16:creationId xmlns:a16="http://schemas.microsoft.com/office/drawing/2014/main" id="{55EC3174-294E-423B-8B34-A82BB4458868}"/>
              </a:ext>
            </a:extLst>
          </p:cNvPr>
          <p:cNvSpPr>
            <a:spLocks noGrp="1"/>
          </p:cNvSpPr>
          <p:nvPr/>
        </p:nvSpPr>
        <p:spPr>
          <a:xfrm>
            <a:off x="571500" y="2266950"/>
            <a:ext cx="5191125" cy="2714625"/>
          </a:xfrm>
          <a:prstGeom prst="roundRect">
            <a:avLst>
              <a:gd name="adj" fmla="val 6316"/>
            </a:avLst>
          </a:prstGeom>
          <a:solidFill>
            <a:srgbClr val="F7E5E9"/>
          </a:solidFill>
          <a:ln w="11430">
            <a:solidFill>
              <a:srgbClr val="C3BBB2"/>
            </a:solidFill>
            <a:prstDash val="solid"/>
          </a:ln>
        </p:spPr>
        <p:txBody>
          <a:bodyPr/>
          <a:lstStyle/>
          <a:p>
            <a:endParaRPr lang="de-CH"/>
          </a:p>
        </p:txBody>
      </p:sp>
      <p:sp>
        <p:nvSpPr>
          <p:cNvPr id="53" name="fixed-a">
            <a:extLst>
              <a:ext uri="{FF2B5EF4-FFF2-40B4-BE49-F238E27FC236}">
                <a16:creationId xmlns:a16="http://schemas.microsoft.com/office/drawing/2014/main" id="{65803038-6F56-4A10-8D7B-E3B42E696A24}"/>
              </a:ext>
            </a:extLst>
          </p:cNvPr>
          <p:cNvSpPr>
            <a:spLocks noGrp="1"/>
          </p:cNvSpPr>
          <p:nvPr/>
        </p:nvSpPr>
        <p:spPr>
          <a:xfrm>
            <a:off x="838200" y="2524125"/>
            <a:ext cx="2571750" cy="1428750"/>
          </a:xfrm>
          <a:prstGeom prst="rect">
            <a:avLst/>
          </a:prstGeom>
          <a:noFill/>
          <a:ln w="0">
            <a:noFill/>
            <a:prstDash val="solid"/>
          </a:ln>
        </p:spPr>
        <p:txBody>
          <a:bodyPr anchor="t"/>
          <a:lstStyle/>
          <a:p>
            <a:pPr algn="l">
              <a:defRPr sz="1350" b="0">
                <a:solidFill>
                  <a:srgbClr val="2D3F4B"/>
                </a:solidFill>
                <a:latin typeface="Arial"/>
                <a:ea typeface="Arial"/>
                <a:cs typeface="Arial"/>
              </a:defRPr>
            </a:pPr>
            <a:r>
              <a:rPr sz="1350" b="0">
                <a:solidFill>
                  <a:srgbClr val="2D3F4B"/>
                </a:solidFill>
                <a:latin typeface="Arial"/>
                <a:ea typeface="Arial"/>
                <a:cs typeface="Arial"/>
              </a:rPr>
              <a:t>CHUNK 17</a:t>
            </a:r>
          </a:p>
          <a:p>
            <a:pPr algn="l">
              <a:defRPr sz="1350" b="0">
                <a:solidFill>
                  <a:srgbClr val="2D3F4B"/>
                </a:solidFill>
                <a:latin typeface="Arial"/>
                <a:ea typeface="Arial"/>
                <a:cs typeface="Arial"/>
              </a:defRPr>
            </a:pPr>
            <a:r>
              <a:rPr sz="1350" b="0">
                <a:solidFill>
                  <a:srgbClr val="2D3F4B"/>
                </a:solidFill>
                <a:latin typeface="Arial"/>
                <a:ea typeface="Arial"/>
                <a:cs typeface="Arial"/>
              </a:rPr>
              <a:t>Art. 335b · Probezeit</a:t>
            </a:r>
          </a:p>
          <a:p>
            <a:pPr algn="l">
              <a:defRPr sz="1350" b="0">
                <a:solidFill>
                  <a:srgbClr val="2D3F4B"/>
                </a:solidFill>
                <a:latin typeface="Arial"/>
                <a:ea typeface="Arial"/>
                <a:cs typeface="Arial"/>
              </a:defRPr>
            </a:pPr>
            <a:r>
              <a:rPr sz="1350" b="0">
                <a:solidFill>
                  <a:srgbClr val="2D3F4B"/>
                </a:solidFill>
                <a:latin typeface="Arial"/>
                <a:ea typeface="Arial"/>
                <a:cs typeface="Arial"/>
              </a:rPr>
              <a:t>Die Probezeit beträgt grundsätzlich den ersten Monat. Sie kann auf höchstens drei Monate verlän-</a:t>
            </a:r>
          </a:p>
        </p:txBody>
      </p:sp>
      <p:sp>
        <p:nvSpPr>
          <p:cNvPr id="54" name="hard-cut">
            <a:extLst>
              <a:ext uri="{FF2B5EF4-FFF2-40B4-BE49-F238E27FC236}">
                <a16:creationId xmlns:a16="http://schemas.microsoft.com/office/drawing/2014/main" id="{577697E5-3652-4DAC-B9B4-258426B3F337}"/>
              </a:ext>
            </a:extLst>
          </p:cNvPr>
          <p:cNvSpPr>
            <a:spLocks noGrp="1"/>
          </p:cNvSpPr>
          <p:nvPr/>
        </p:nvSpPr>
        <p:spPr>
          <a:xfrm>
            <a:off x="3524250" y="2381250"/>
            <a:ext cx="0" cy="2095500"/>
          </a:xfrm>
          <a:prstGeom prst="line">
            <a:avLst/>
          </a:prstGeom>
          <a:ln w="38100">
            <a:solidFill>
              <a:srgbClr val="C60C30"/>
            </a:solidFill>
            <a:prstDash val="solid"/>
          </a:ln>
        </p:spPr>
        <p:txBody>
          <a:bodyPr/>
          <a:lstStyle/>
          <a:p>
            <a:endParaRPr lang="de-CH"/>
          </a:p>
        </p:txBody>
      </p:sp>
      <p:sp>
        <p:nvSpPr>
          <p:cNvPr id="55" name="cut-marker">
            <a:extLst>
              <a:ext uri="{FF2B5EF4-FFF2-40B4-BE49-F238E27FC236}">
                <a16:creationId xmlns:a16="http://schemas.microsoft.com/office/drawing/2014/main" id="{C0788AC8-AA5F-479A-9539-85033760F498}"/>
              </a:ext>
            </a:extLst>
          </p:cNvPr>
          <p:cNvSpPr>
            <a:spLocks noGrp="1"/>
          </p:cNvSpPr>
          <p:nvPr/>
        </p:nvSpPr>
        <p:spPr>
          <a:xfrm>
            <a:off x="3076575" y="4095750"/>
            <a:ext cx="904875" cy="400050"/>
          </a:xfrm>
          <a:prstGeom prst="rect">
            <a:avLst/>
          </a:prstGeom>
          <a:noFill/>
          <a:ln w="0">
            <a:noFill/>
            <a:prstDash val="solid"/>
          </a:ln>
        </p:spPr>
        <p:txBody>
          <a:bodyPr anchor="t"/>
          <a:lstStyle/>
          <a:p>
            <a:pPr algn="ctr">
              <a:defRPr sz="975" b="1">
                <a:solidFill>
                  <a:srgbClr val="C60C30"/>
                </a:solidFill>
                <a:latin typeface="Arial"/>
                <a:ea typeface="Arial"/>
                <a:cs typeface="Arial"/>
              </a:defRPr>
            </a:pPr>
            <a:r>
              <a:rPr sz="975" b="1">
                <a:solidFill>
                  <a:srgbClr val="C60C30"/>
                </a:solidFill>
                <a:latin typeface="Arial"/>
                <a:ea typeface="Arial"/>
                <a:cs typeface="Arial"/>
              </a:rPr>
              <a:t>STARRE</a:t>
            </a:r>
          </a:p>
          <a:p>
            <a:pPr algn="ctr">
              <a:defRPr sz="975" b="1">
                <a:solidFill>
                  <a:srgbClr val="C60C30"/>
                </a:solidFill>
                <a:latin typeface="Arial"/>
                <a:ea typeface="Arial"/>
                <a:cs typeface="Arial"/>
              </a:defRPr>
            </a:pPr>
            <a:r>
              <a:rPr sz="975" b="1">
                <a:solidFill>
                  <a:srgbClr val="C60C30"/>
                </a:solidFill>
                <a:latin typeface="Arial"/>
                <a:ea typeface="Arial"/>
                <a:cs typeface="Arial"/>
              </a:rPr>
              <a:t>GRENZE</a:t>
            </a:r>
          </a:p>
        </p:txBody>
      </p:sp>
      <p:sp>
        <p:nvSpPr>
          <p:cNvPr id="56" name="fixed-b">
            <a:extLst>
              <a:ext uri="{FF2B5EF4-FFF2-40B4-BE49-F238E27FC236}">
                <a16:creationId xmlns:a16="http://schemas.microsoft.com/office/drawing/2014/main" id="{DB5A4F8A-F219-4D51-9531-4BF9A2630F96}"/>
              </a:ext>
            </a:extLst>
          </p:cNvPr>
          <p:cNvSpPr>
            <a:spLocks noGrp="1"/>
          </p:cNvSpPr>
          <p:nvPr/>
        </p:nvSpPr>
        <p:spPr>
          <a:xfrm>
            <a:off x="3762375" y="2524125"/>
            <a:ext cx="1619250" cy="1762125"/>
          </a:xfrm>
          <a:prstGeom prst="rect">
            <a:avLst/>
          </a:prstGeom>
          <a:noFill/>
          <a:ln w="0">
            <a:noFill/>
            <a:prstDash val="solid"/>
          </a:ln>
        </p:spPr>
        <p:txBody>
          <a:bodyPr anchor="t"/>
          <a:lstStyle/>
          <a:p>
            <a:pPr algn="l">
              <a:defRPr sz="1350" b="0">
                <a:solidFill>
                  <a:srgbClr val="2D3F4B"/>
                </a:solidFill>
                <a:latin typeface="Arial"/>
                <a:ea typeface="Arial"/>
                <a:cs typeface="Arial"/>
              </a:defRPr>
            </a:pPr>
            <a:r>
              <a:rPr sz="1350" b="0">
                <a:solidFill>
                  <a:srgbClr val="2D3F4B"/>
                </a:solidFill>
                <a:latin typeface="Arial"/>
                <a:ea typeface="Arial"/>
                <a:cs typeface="Arial"/>
              </a:rPr>
              <a:t>CHUNK 18</a:t>
            </a:r>
          </a:p>
          <a:p>
            <a:pPr algn="l">
              <a:defRPr sz="1350" b="0">
                <a:solidFill>
                  <a:srgbClr val="2D3F4B"/>
                </a:solidFill>
                <a:latin typeface="Arial"/>
                <a:ea typeface="Arial"/>
                <a:cs typeface="Arial"/>
              </a:defRPr>
            </a:pPr>
            <a:r>
              <a:rPr sz="1350" b="0">
                <a:solidFill>
                  <a:srgbClr val="2D3F4B"/>
                </a:solidFill>
                <a:latin typeface="Arial"/>
                <a:ea typeface="Arial"/>
                <a:cs typeface="Arial"/>
              </a:rPr>
              <a:t>gert werden. Bei Krankheit …</a:t>
            </a:r>
          </a:p>
          <a:p>
            <a:endParaRPr sz="1350" b="0">
              <a:solidFill>
                <a:srgbClr val="2D3F4B"/>
              </a:solidFill>
              <a:latin typeface="Arial"/>
              <a:ea typeface="Arial"/>
              <a:cs typeface="Arial"/>
            </a:endParaRPr>
          </a:p>
          <a:p>
            <a:pPr algn="l">
              <a:defRPr sz="1350" b="0">
                <a:solidFill>
                  <a:srgbClr val="2D3F4B"/>
                </a:solidFill>
                <a:latin typeface="Arial"/>
                <a:ea typeface="Arial"/>
                <a:cs typeface="Arial"/>
              </a:defRPr>
            </a:pPr>
            <a:r>
              <a:rPr sz="1350" b="0">
                <a:solidFill>
                  <a:srgbClr val="2D3F4B"/>
                </a:solidFill>
                <a:latin typeface="Arial"/>
                <a:ea typeface="Arial"/>
                <a:cs typeface="Arial"/>
              </a:rPr>
              <a:t>Art. 335c</a:t>
            </a:r>
          </a:p>
          <a:p>
            <a:pPr algn="l">
              <a:defRPr sz="1350" b="0">
                <a:solidFill>
                  <a:srgbClr val="2D3F4B"/>
                </a:solidFill>
                <a:latin typeface="Arial"/>
                <a:ea typeface="Arial"/>
                <a:cs typeface="Arial"/>
              </a:defRPr>
            </a:pPr>
            <a:r>
              <a:rPr sz="1350" b="0">
                <a:solidFill>
                  <a:srgbClr val="2D3F4B"/>
                </a:solidFill>
                <a:latin typeface="Arial"/>
                <a:ea typeface="Arial"/>
                <a:cs typeface="Arial"/>
              </a:rPr>
              <a:t>Kündigungsfristen …</a:t>
            </a:r>
          </a:p>
        </p:txBody>
      </p:sp>
      <p:sp>
        <p:nvSpPr>
          <p:cNvPr id="57" name="fixed-problems">
            <a:extLst>
              <a:ext uri="{FF2B5EF4-FFF2-40B4-BE49-F238E27FC236}">
                <a16:creationId xmlns:a16="http://schemas.microsoft.com/office/drawing/2014/main" id="{72674BF2-8F3C-49D5-93F3-1E299E69961F}"/>
              </a:ext>
            </a:extLst>
          </p:cNvPr>
          <p:cNvSpPr>
            <a:spLocks noGrp="1"/>
          </p:cNvSpPr>
          <p:nvPr/>
        </p:nvSpPr>
        <p:spPr>
          <a:xfrm>
            <a:off x="800100" y="4543425"/>
            <a:ext cx="4524375" cy="32385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Folge: Satz getrennt · Artikel vermischt · Bedeutung geschwächt</a:t>
            </a:r>
          </a:p>
        </p:txBody>
      </p:sp>
      <p:sp>
        <p:nvSpPr>
          <p:cNvPr id="58" name="legal-bg">
            <a:extLst>
              <a:ext uri="{FF2B5EF4-FFF2-40B4-BE49-F238E27FC236}">
                <a16:creationId xmlns:a16="http://schemas.microsoft.com/office/drawing/2014/main" id="{9C7F3130-292D-4BBB-8B9A-CF94AEB4F20C}"/>
              </a:ext>
            </a:extLst>
          </p:cNvPr>
          <p:cNvSpPr>
            <a:spLocks noGrp="1"/>
          </p:cNvSpPr>
          <p:nvPr/>
        </p:nvSpPr>
        <p:spPr>
          <a:xfrm>
            <a:off x="6429375" y="2266950"/>
            <a:ext cx="5191125" cy="2714625"/>
          </a:xfrm>
          <a:prstGeom prst="roundRect">
            <a:avLst>
              <a:gd name="adj" fmla="val 6316"/>
            </a:avLst>
          </a:prstGeom>
          <a:solidFill>
            <a:srgbClr val="E3F0F0"/>
          </a:solidFill>
          <a:ln w="11430">
            <a:solidFill>
              <a:srgbClr val="C3BBB2"/>
            </a:solidFill>
            <a:prstDash val="solid"/>
          </a:ln>
        </p:spPr>
        <p:txBody>
          <a:bodyPr/>
          <a:lstStyle/>
          <a:p>
            <a:endParaRPr lang="de-CH"/>
          </a:p>
        </p:txBody>
      </p:sp>
      <p:sp>
        <p:nvSpPr>
          <p:cNvPr id="59" name="article-1">
            <a:extLst>
              <a:ext uri="{FF2B5EF4-FFF2-40B4-BE49-F238E27FC236}">
                <a16:creationId xmlns:a16="http://schemas.microsoft.com/office/drawing/2014/main" id="{5745C3D2-98FA-45D2-A3AB-73104BEF70D1}"/>
              </a:ext>
            </a:extLst>
          </p:cNvPr>
          <p:cNvSpPr>
            <a:spLocks noGrp="1"/>
          </p:cNvSpPr>
          <p:nvPr/>
        </p:nvSpPr>
        <p:spPr>
          <a:xfrm>
            <a:off x="6715125" y="2505075"/>
            <a:ext cx="4619625" cy="781050"/>
          </a:xfrm>
          <a:prstGeom prst="roundRect">
            <a:avLst>
              <a:gd name="adj" fmla="val 14634"/>
            </a:avLst>
          </a:prstGeom>
          <a:solidFill>
            <a:srgbClr val="FFFFFF"/>
          </a:solidFill>
          <a:ln w="11430">
            <a:solidFill>
              <a:srgbClr val="43858A"/>
            </a:solidFill>
            <a:prstDash val="solid"/>
          </a:ln>
        </p:spPr>
        <p:txBody>
          <a:bodyPr/>
          <a:lstStyle/>
          <a:p>
            <a:endParaRPr lang="de-CH"/>
          </a:p>
        </p:txBody>
      </p:sp>
      <p:sp>
        <p:nvSpPr>
          <p:cNvPr id="60" name="article-1-text">
            <a:extLst>
              <a:ext uri="{FF2B5EF4-FFF2-40B4-BE49-F238E27FC236}">
                <a16:creationId xmlns:a16="http://schemas.microsoft.com/office/drawing/2014/main" id="{3037E747-F742-438A-93B9-9476C8FB4A72}"/>
              </a:ext>
            </a:extLst>
          </p:cNvPr>
          <p:cNvSpPr>
            <a:spLocks noGrp="1"/>
          </p:cNvSpPr>
          <p:nvPr/>
        </p:nvSpPr>
        <p:spPr>
          <a:xfrm>
            <a:off x="6905625" y="2647950"/>
            <a:ext cx="4238625" cy="514350"/>
          </a:xfrm>
          <a:prstGeom prst="rect">
            <a:avLst/>
          </a:prstGeom>
          <a:noFill/>
          <a:ln w="0">
            <a:noFill/>
            <a:prstDash val="solid"/>
          </a:ln>
        </p:spPr>
        <p:txBody>
          <a:bodyPr anchor="t"/>
          <a:lstStyle/>
          <a:p>
            <a:pPr algn="l">
              <a:defRPr sz="1350" b="1">
                <a:solidFill>
                  <a:srgbClr val="2D3F4B"/>
                </a:solidFill>
                <a:latin typeface="Arial"/>
                <a:ea typeface="Arial"/>
                <a:cs typeface="Arial"/>
              </a:defRPr>
            </a:pPr>
            <a:r>
              <a:rPr sz="1350" b="1">
                <a:solidFill>
                  <a:srgbClr val="2D3F4B"/>
                </a:solidFill>
                <a:latin typeface="Arial"/>
                <a:ea typeface="Arial"/>
                <a:cs typeface="Arial"/>
              </a:rPr>
              <a:t>Art. 335b · Probezeit</a:t>
            </a:r>
          </a:p>
          <a:p>
            <a:pPr algn="l">
              <a:defRPr sz="1350" b="1">
                <a:solidFill>
                  <a:srgbClr val="2D3F4B"/>
                </a:solidFill>
                <a:latin typeface="Arial"/>
                <a:ea typeface="Arial"/>
                <a:cs typeface="Arial"/>
              </a:defRPr>
            </a:pPr>
            <a:r>
              <a:rPr sz="1350" b="1">
                <a:solidFill>
                  <a:srgbClr val="2D3F4B"/>
                </a:solidFill>
                <a:latin typeface="Arial"/>
                <a:ea typeface="Arial"/>
                <a:cs typeface="Arial"/>
              </a:rPr>
              <a:t>Absätze bleiben gemeinsam, solange das Budget reicht.</a:t>
            </a:r>
          </a:p>
        </p:txBody>
      </p:sp>
      <p:sp>
        <p:nvSpPr>
          <p:cNvPr id="61" name="article-2">
            <a:extLst>
              <a:ext uri="{FF2B5EF4-FFF2-40B4-BE49-F238E27FC236}">
                <a16:creationId xmlns:a16="http://schemas.microsoft.com/office/drawing/2014/main" id="{60F660BA-B874-442C-BB8B-40B7DE05E0BE}"/>
              </a:ext>
            </a:extLst>
          </p:cNvPr>
          <p:cNvSpPr>
            <a:spLocks noGrp="1"/>
          </p:cNvSpPr>
          <p:nvPr/>
        </p:nvSpPr>
        <p:spPr>
          <a:xfrm>
            <a:off x="6715125" y="3429000"/>
            <a:ext cx="4619625" cy="666750"/>
          </a:xfrm>
          <a:prstGeom prst="roundRect">
            <a:avLst>
              <a:gd name="adj" fmla="val 17143"/>
            </a:avLst>
          </a:prstGeom>
          <a:solidFill>
            <a:srgbClr val="FFFFFF"/>
          </a:solidFill>
          <a:ln w="11430">
            <a:solidFill>
              <a:srgbClr val="43858A"/>
            </a:solidFill>
            <a:prstDash val="solid"/>
          </a:ln>
        </p:spPr>
        <p:txBody>
          <a:bodyPr/>
          <a:lstStyle/>
          <a:p>
            <a:endParaRPr lang="de-CH"/>
          </a:p>
        </p:txBody>
      </p:sp>
      <p:sp>
        <p:nvSpPr>
          <p:cNvPr id="62" name="article-2-text">
            <a:extLst>
              <a:ext uri="{FF2B5EF4-FFF2-40B4-BE49-F238E27FC236}">
                <a16:creationId xmlns:a16="http://schemas.microsoft.com/office/drawing/2014/main" id="{454F7FE6-3F23-4E24-812C-88CB09A40B65}"/>
              </a:ext>
            </a:extLst>
          </p:cNvPr>
          <p:cNvSpPr>
            <a:spLocks noGrp="1"/>
          </p:cNvSpPr>
          <p:nvPr/>
        </p:nvSpPr>
        <p:spPr>
          <a:xfrm>
            <a:off x="6905625" y="3581400"/>
            <a:ext cx="4238625" cy="381000"/>
          </a:xfrm>
          <a:prstGeom prst="rect">
            <a:avLst/>
          </a:prstGeom>
          <a:noFill/>
          <a:ln w="0">
            <a:noFill/>
            <a:prstDash val="solid"/>
          </a:ln>
        </p:spPr>
        <p:txBody>
          <a:bodyPr anchor="t"/>
          <a:lstStyle/>
          <a:p>
            <a:pPr algn="l">
              <a:defRPr sz="1350" b="1">
                <a:solidFill>
                  <a:srgbClr val="2D3F4B"/>
                </a:solidFill>
                <a:latin typeface="Arial"/>
                <a:ea typeface="Arial"/>
                <a:cs typeface="Arial"/>
              </a:defRPr>
            </a:pPr>
            <a:r>
              <a:rPr sz="1350" b="1">
                <a:solidFill>
                  <a:srgbClr val="2D3F4B"/>
                </a:solidFill>
                <a:latin typeface="Arial"/>
                <a:ea typeface="Arial"/>
                <a:cs typeface="Arial"/>
              </a:rPr>
              <a:t>Übergrosser Artikel → zusätzliche Trennung an Satzgrenzen</a:t>
            </a:r>
          </a:p>
        </p:txBody>
      </p:sp>
      <p:sp>
        <p:nvSpPr>
          <p:cNvPr id="63" name="article-3">
            <a:extLst>
              <a:ext uri="{FF2B5EF4-FFF2-40B4-BE49-F238E27FC236}">
                <a16:creationId xmlns:a16="http://schemas.microsoft.com/office/drawing/2014/main" id="{21FFC50F-CE34-4054-BA1B-D0AFBE8693BA}"/>
              </a:ext>
            </a:extLst>
          </p:cNvPr>
          <p:cNvSpPr>
            <a:spLocks noGrp="1"/>
          </p:cNvSpPr>
          <p:nvPr/>
        </p:nvSpPr>
        <p:spPr>
          <a:xfrm>
            <a:off x="6715125" y="4238625"/>
            <a:ext cx="4619625" cy="495300"/>
          </a:xfrm>
          <a:prstGeom prst="roundRect">
            <a:avLst>
              <a:gd name="adj" fmla="val 23077"/>
            </a:avLst>
          </a:prstGeom>
          <a:solidFill>
            <a:srgbClr val="FFFFFF"/>
          </a:solidFill>
          <a:ln w="11430">
            <a:solidFill>
              <a:srgbClr val="43858A"/>
            </a:solidFill>
            <a:prstDash val="solid"/>
          </a:ln>
        </p:spPr>
        <p:txBody>
          <a:bodyPr/>
          <a:lstStyle/>
          <a:p>
            <a:endParaRPr lang="de-CH"/>
          </a:p>
        </p:txBody>
      </p:sp>
      <p:sp>
        <p:nvSpPr>
          <p:cNvPr id="64" name="article-3-text">
            <a:extLst>
              <a:ext uri="{FF2B5EF4-FFF2-40B4-BE49-F238E27FC236}">
                <a16:creationId xmlns:a16="http://schemas.microsoft.com/office/drawing/2014/main" id="{074B9189-E862-485D-9F8F-1201434C845A}"/>
              </a:ext>
            </a:extLst>
          </p:cNvPr>
          <p:cNvSpPr>
            <a:spLocks noGrp="1"/>
          </p:cNvSpPr>
          <p:nvPr/>
        </p:nvSpPr>
        <p:spPr>
          <a:xfrm>
            <a:off x="6905625" y="4362450"/>
            <a:ext cx="4238625" cy="285750"/>
          </a:xfrm>
          <a:prstGeom prst="rect">
            <a:avLst/>
          </a:prstGeom>
          <a:noFill/>
          <a:ln w="0">
            <a:noFill/>
            <a:prstDash val="solid"/>
          </a:ln>
        </p:spPr>
        <p:txBody>
          <a:bodyPr anchor="t"/>
          <a:lstStyle/>
          <a:p>
            <a:pPr algn="l">
              <a:defRPr sz="1200" b="0">
                <a:solidFill>
                  <a:srgbClr val="2D3F4B"/>
                </a:solidFill>
                <a:latin typeface="Arial"/>
                <a:ea typeface="Arial"/>
                <a:cs typeface="Arial"/>
              </a:defRPr>
            </a:pPr>
            <a:r>
              <a:rPr sz="1200" b="0">
                <a:solidFill>
                  <a:srgbClr val="2D3F4B"/>
                </a:solidFill>
                <a:latin typeface="Arial"/>
                <a:ea typeface="Arial"/>
                <a:cs typeface="Arial"/>
              </a:rPr>
              <a:t>Kleine zusammengehörige Blöcke → bis zum Budget verbinden</a:t>
            </a:r>
          </a:p>
        </p:txBody>
      </p:sp>
      <p:sp>
        <p:nvSpPr>
          <p:cNvPr id="65" name="chunking-takeaway">
            <a:extLst>
              <a:ext uri="{FF2B5EF4-FFF2-40B4-BE49-F238E27FC236}">
                <a16:creationId xmlns:a16="http://schemas.microsoft.com/office/drawing/2014/main" id="{3AD95251-3893-44CB-BE2F-10DE8758A38D}"/>
              </a:ext>
            </a:extLst>
          </p:cNvPr>
          <p:cNvSpPr>
            <a:spLocks noGrp="1"/>
          </p:cNvSpPr>
          <p:nvPr/>
        </p:nvSpPr>
        <p:spPr>
          <a:xfrm>
            <a:off x="2143125" y="5286375"/>
            <a:ext cx="7905750" cy="552450"/>
          </a:xfrm>
          <a:prstGeom prst="roundRect">
            <a:avLst>
              <a:gd name="adj" fmla="val 24138"/>
            </a:avLst>
          </a:prstGeom>
          <a:solidFill>
            <a:srgbClr val="2D3F4B"/>
          </a:solidFill>
          <a:ln w="0">
            <a:solidFill>
              <a:srgbClr val="2D3F4B"/>
            </a:solidFill>
            <a:prstDash val="solid"/>
          </a:ln>
        </p:spPr>
        <p:txBody>
          <a:bodyPr/>
          <a:lstStyle/>
          <a:p>
            <a:endParaRPr lang="de-CH"/>
          </a:p>
        </p:txBody>
      </p:sp>
      <p:sp>
        <p:nvSpPr>
          <p:cNvPr id="66" name="chunking-takeaway-text">
            <a:extLst>
              <a:ext uri="{FF2B5EF4-FFF2-40B4-BE49-F238E27FC236}">
                <a16:creationId xmlns:a16="http://schemas.microsoft.com/office/drawing/2014/main" id="{6BD54CDE-029E-4BFB-9873-4857F06B01B6}"/>
              </a:ext>
            </a:extLst>
          </p:cNvPr>
          <p:cNvSpPr>
            <a:spLocks noGrp="1"/>
          </p:cNvSpPr>
          <p:nvPr/>
        </p:nvSpPr>
        <p:spPr>
          <a:xfrm>
            <a:off x="2381250" y="5419725"/>
            <a:ext cx="7429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Ziel: Budget einhalten, ohne juristische Bedeutung zu zerreissen.</a:t>
            </a:r>
          </a:p>
        </p:txBody>
      </p:sp>
    </p:spTree>
    <p:extLst>
      <p:ext uri="{BB962C8B-B14F-4D97-AF65-F5344CB8AC3E}">
        <p14:creationId xmlns:p14="http://schemas.microsoft.com/office/powerpoint/2010/main" val="4079980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6" name="clean-canvas">
            <a:extLst>
              <a:ext uri="{FF2B5EF4-FFF2-40B4-BE49-F238E27FC236}">
                <a16:creationId xmlns:a16="http://schemas.microsoft.com/office/drawing/2014/main" id="{F58BDAD1-04C5-415F-BE9C-8972EB1A1B45}"/>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weitere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6F80D306-1533-4A33-9D61-905B9EB0FEA0}"/>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732B2702-A668-49E0-9A21-FA20CB826AE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GraphRAG verbindet mehrere Suchsignale</a:t>
            </a:r>
          </a:p>
        </p:txBody>
      </p:sp>
      <p:sp>
        <p:nvSpPr>
          <p:cNvPr id="3" name="title-rule">
            <a:extLst>
              <a:ext uri="{FF2B5EF4-FFF2-40B4-BE49-F238E27FC236}">
                <a16:creationId xmlns:a16="http://schemas.microsoft.com/office/drawing/2014/main" id="{338FCBE2-D444-4D92-BCEB-4D670291127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C3FF5F5-F19E-4BBC-AFB6-48C07664CF6C}"/>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Semantik findet Ähnliches, Lexik findet Bezeichner, der Graph ergänzt Beziehungen.</a:t>
            </a:r>
          </a:p>
        </p:txBody>
      </p:sp>
      <p:sp>
        <p:nvSpPr>
          <p:cNvPr id="5" name="page-number">
            <a:extLst>
              <a:ext uri="{FF2B5EF4-FFF2-40B4-BE49-F238E27FC236}">
                <a16:creationId xmlns:a16="http://schemas.microsoft.com/office/drawing/2014/main" id="{98F1BFDF-C147-4B70-965B-327C9125274E}"/>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16</a:t>
            </a:r>
          </a:p>
        </p:txBody>
      </p:sp>
      <p:sp>
        <p:nvSpPr>
          <p:cNvPr id="6" name="date">
            <a:extLst>
              <a:ext uri="{FF2B5EF4-FFF2-40B4-BE49-F238E27FC236}">
                <a16:creationId xmlns:a16="http://schemas.microsoft.com/office/drawing/2014/main" id="{09104125-F812-4820-9D06-78FD2E4A57C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aph-query">
            <a:extLst>
              <a:ext uri="{FF2B5EF4-FFF2-40B4-BE49-F238E27FC236}">
                <a16:creationId xmlns:a16="http://schemas.microsoft.com/office/drawing/2014/main" id="{77328115-E5FA-4CF9-B014-05936C8F4743}"/>
              </a:ext>
            </a:extLst>
          </p:cNvPr>
          <p:cNvSpPr>
            <a:spLocks noGrp="1"/>
          </p:cNvSpPr>
          <p:nvPr/>
        </p:nvSpPr>
        <p:spPr>
          <a:xfrm>
            <a:off x="523875" y="2571750"/>
            <a:ext cx="1762125" cy="819150"/>
          </a:xfrm>
          <a:prstGeom prst="roundRect">
            <a:avLst>
              <a:gd name="adj" fmla="val 18605"/>
            </a:avLst>
          </a:prstGeom>
          <a:solidFill>
            <a:srgbClr val="2D3F4B"/>
          </a:solidFill>
          <a:ln w="0">
            <a:solidFill>
              <a:srgbClr val="2D3F4B"/>
            </a:solidFill>
            <a:prstDash val="solid"/>
          </a:ln>
        </p:spPr>
        <p:txBody>
          <a:bodyPr/>
          <a:lstStyle/>
          <a:p>
            <a:endParaRPr lang="de-CH"/>
          </a:p>
        </p:txBody>
      </p:sp>
      <p:sp>
        <p:nvSpPr>
          <p:cNvPr id="8" name="graph-query-text">
            <a:extLst>
              <a:ext uri="{FF2B5EF4-FFF2-40B4-BE49-F238E27FC236}">
                <a16:creationId xmlns:a16="http://schemas.microsoft.com/office/drawing/2014/main" id="{1543EEB9-1690-4D57-BEA1-89570484E8B7}"/>
              </a:ext>
            </a:extLst>
          </p:cNvPr>
          <p:cNvSpPr>
            <a:spLocks noGrp="1"/>
          </p:cNvSpPr>
          <p:nvPr/>
        </p:nvSpPr>
        <p:spPr>
          <a:xfrm>
            <a:off x="714375" y="2733675"/>
            <a:ext cx="138112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FRAGE</a:t>
            </a:r>
          </a:p>
          <a:p>
            <a:pPr algn="ctr">
              <a:defRPr sz="1575" b="1">
                <a:solidFill>
                  <a:srgbClr val="FFFFFF"/>
                </a:solidFill>
                <a:latin typeface="Arial"/>
                <a:ea typeface="Arial"/>
                <a:cs typeface="Arial"/>
              </a:defRPr>
            </a:pPr>
            <a:r>
              <a:rPr sz="1575" b="1">
                <a:solidFill>
                  <a:srgbClr val="FFFFFF"/>
                </a:solidFill>
                <a:latin typeface="Arial"/>
                <a:ea typeface="Arial"/>
                <a:cs typeface="Arial"/>
              </a:rPr>
              <a:t>„Art. 1 OR?“</a:t>
            </a:r>
          </a:p>
        </p:txBody>
      </p:sp>
      <p:sp>
        <p:nvSpPr>
          <p:cNvPr id="9" name="query-semantic">
            <a:extLst>
              <a:ext uri="{FF2B5EF4-FFF2-40B4-BE49-F238E27FC236}">
                <a16:creationId xmlns:a16="http://schemas.microsoft.com/office/drawing/2014/main" id="{79FA1045-0D94-4187-B890-33899D4E649B}"/>
              </a:ext>
            </a:extLst>
          </p:cNvPr>
          <p:cNvSpPr>
            <a:spLocks noGrp="1"/>
          </p:cNvSpPr>
          <p:nvPr/>
        </p:nvSpPr>
        <p:spPr>
          <a:xfrm>
            <a:off x="2286000" y="2286000"/>
            <a:ext cx="1143000" cy="523875"/>
          </a:xfrm>
          <a:prstGeom prst="line">
            <a:avLst/>
          </a:prstGeom>
          <a:ln w="23813">
            <a:solidFill>
              <a:srgbClr val="C60C30"/>
            </a:solidFill>
            <a:prstDash val="solid"/>
          </a:ln>
        </p:spPr>
        <p:txBody>
          <a:bodyPr/>
          <a:lstStyle/>
          <a:p>
            <a:endParaRPr lang="de-CH"/>
          </a:p>
        </p:txBody>
      </p:sp>
      <p:sp>
        <p:nvSpPr>
          <p:cNvPr id="10" name="query-lexical">
            <a:extLst>
              <a:ext uri="{FF2B5EF4-FFF2-40B4-BE49-F238E27FC236}">
                <a16:creationId xmlns:a16="http://schemas.microsoft.com/office/drawing/2014/main" id="{8C28B3AB-31D9-49F9-BDE1-6046159319D6}"/>
              </a:ext>
            </a:extLst>
          </p:cNvPr>
          <p:cNvSpPr>
            <a:spLocks noGrp="1"/>
          </p:cNvSpPr>
          <p:nvPr/>
        </p:nvSpPr>
        <p:spPr>
          <a:xfrm>
            <a:off x="2286000" y="3143250"/>
            <a:ext cx="1143000" cy="523875"/>
          </a:xfrm>
          <a:prstGeom prst="line">
            <a:avLst/>
          </a:prstGeom>
          <a:ln w="23813">
            <a:solidFill>
              <a:srgbClr val="43858A"/>
            </a:solidFill>
            <a:prstDash val="solid"/>
          </a:ln>
        </p:spPr>
        <p:txBody>
          <a:bodyPr/>
          <a:lstStyle/>
          <a:p>
            <a:endParaRPr lang="de-CH"/>
          </a:p>
        </p:txBody>
      </p:sp>
      <p:sp>
        <p:nvSpPr>
          <p:cNvPr id="11" name="semantic-box">
            <a:extLst>
              <a:ext uri="{FF2B5EF4-FFF2-40B4-BE49-F238E27FC236}">
                <a16:creationId xmlns:a16="http://schemas.microsoft.com/office/drawing/2014/main" id="{65D622AF-6D11-41B4-AEE4-D5F3914C7F23}"/>
              </a:ext>
            </a:extLst>
          </p:cNvPr>
          <p:cNvSpPr>
            <a:spLocks noGrp="1"/>
          </p:cNvSpPr>
          <p:nvPr/>
        </p:nvSpPr>
        <p:spPr>
          <a:xfrm>
            <a:off x="3476625" y="1857375"/>
            <a:ext cx="2381250" cy="857250"/>
          </a:xfrm>
          <a:prstGeom prst="roundRect">
            <a:avLst>
              <a:gd name="adj" fmla="val 15556"/>
            </a:avLst>
          </a:prstGeom>
          <a:solidFill>
            <a:srgbClr val="F7E5E9"/>
          </a:solidFill>
          <a:ln w="11430">
            <a:solidFill>
              <a:srgbClr val="C60C30"/>
            </a:solidFill>
            <a:prstDash val="solid"/>
          </a:ln>
        </p:spPr>
        <p:txBody>
          <a:bodyPr/>
          <a:lstStyle/>
          <a:p>
            <a:endParaRPr lang="de-CH"/>
          </a:p>
        </p:txBody>
      </p:sp>
      <p:sp>
        <p:nvSpPr>
          <p:cNvPr id="12" name="semantic-title">
            <a:extLst>
              <a:ext uri="{FF2B5EF4-FFF2-40B4-BE49-F238E27FC236}">
                <a16:creationId xmlns:a16="http://schemas.microsoft.com/office/drawing/2014/main" id="{21BD1B58-EC2E-4579-A5FA-01E0EAA4A666}"/>
              </a:ext>
            </a:extLst>
          </p:cNvPr>
          <p:cNvSpPr>
            <a:spLocks noGrp="1"/>
          </p:cNvSpPr>
          <p:nvPr/>
        </p:nvSpPr>
        <p:spPr>
          <a:xfrm>
            <a:off x="3667125" y="2019300"/>
            <a:ext cx="2000250" cy="238125"/>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SEMANTISCH</a:t>
            </a:r>
          </a:p>
        </p:txBody>
      </p:sp>
      <p:sp>
        <p:nvSpPr>
          <p:cNvPr id="13" name="semantic-copy">
            <a:extLst>
              <a:ext uri="{FF2B5EF4-FFF2-40B4-BE49-F238E27FC236}">
                <a16:creationId xmlns:a16="http://schemas.microsoft.com/office/drawing/2014/main" id="{5E5D98E6-650C-433B-AF7F-049F8E909E9E}"/>
              </a:ext>
            </a:extLst>
          </p:cNvPr>
          <p:cNvSpPr>
            <a:spLocks noGrp="1"/>
          </p:cNvSpPr>
          <p:nvPr/>
        </p:nvSpPr>
        <p:spPr>
          <a:xfrm>
            <a:off x="3667125" y="2324100"/>
            <a:ext cx="2000250" cy="304800"/>
          </a:xfrm>
          <a:prstGeom prst="rect">
            <a:avLst/>
          </a:prstGeom>
          <a:noFill/>
          <a:ln w="0">
            <a:noFill/>
            <a:prstDash val="solid"/>
          </a:ln>
        </p:spPr>
        <p:txBody>
          <a:bodyPr anchor="ctr"/>
          <a:lstStyle/>
          <a:p>
            <a:pPr algn="ctr">
              <a:defRPr sz="1275" b="0">
                <a:solidFill>
                  <a:srgbClr val="2D3F4B"/>
                </a:solidFill>
                <a:latin typeface="Arial"/>
                <a:ea typeface="Arial"/>
                <a:cs typeface="Arial"/>
              </a:defRPr>
            </a:pPr>
            <a:r>
              <a:rPr sz="1275" b="0">
                <a:solidFill>
                  <a:srgbClr val="2D3F4B"/>
                </a:solidFill>
                <a:latin typeface="Arial"/>
                <a:ea typeface="Arial"/>
                <a:cs typeface="Arial"/>
              </a:rPr>
              <a:t>Embedding-Ähnlichkeit</a:t>
            </a:r>
          </a:p>
        </p:txBody>
      </p:sp>
      <p:sp>
        <p:nvSpPr>
          <p:cNvPr id="14" name="lexical-box">
            <a:extLst>
              <a:ext uri="{FF2B5EF4-FFF2-40B4-BE49-F238E27FC236}">
                <a16:creationId xmlns:a16="http://schemas.microsoft.com/office/drawing/2014/main" id="{2195EE9A-FB58-4ED3-A52E-0420E9F83984}"/>
              </a:ext>
            </a:extLst>
          </p:cNvPr>
          <p:cNvSpPr>
            <a:spLocks noGrp="1"/>
          </p:cNvSpPr>
          <p:nvPr/>
        </p:nvSpPr>
        <p:spPr>
          <a:xfrm>
            <a:off x="3476625" y="3381375"/>
            <a:ext cx="2381250" cy="857250"/>
          </a:xfrm>
          <a:prstGeom prst="roundRect">
            <a:avLst>
              <a:gd name="adj" fmla="val 15556"/>
            </a:avLst>
          </a:prstGeom>
          <a:solidFill>
            <a:srgbClr val="E3F0F0"/>
          </a:solidFill>
          <a:ln w="11430">
            <a:solidFill>
              <a:srgbClr val="43858A"/>
            </a:solidFill>
            <a:prstDash val="solid"/>
          </a:ln>
        </p:spPr>
        <p:txBody>
          <a:bodyPr/>
          <a:lstStyle/>
          <a:p>
            <a:endParaRPr lang="de-CH"/>
          </a:p>
        </p:txBody>
      </p:sp>
      <p:sp>
        <p:nvSpPr>
          <p:cNvPr id="15" name="lexical-title">
            <a:extLst>
              <a:ext uri="{FF2B5EF4-FFF2-40B4-BE49-F238E27FC236}">
                <a16:creationId xmlns:a16="http://schemas.microsoft.com/office/drawing/2014/main" id="{357769B1-8D02-4084-94E8-7B23395D921F}"/>
              </a:ext>
            </a:extLst>
          </p:cNvPr>
          <p:cNvSpPr>
            <a:spLocks noGrp="1"/>
          </p:cNvSpPr>
          <p:nvPr/>
        </p:nvSpPr>
        <p:spPr>
          <a:xfrm>
            <a:off x="3667125" y="3543300"/>
            <a:ext cx="2000250" cy="238125"/>
          </a:xfrm>
          <a:prstGeom prst="rect">
            <a:avLst/>
          </a:prstGeom>
          <a:noFill/>
          <a:ln w="0">
            <a:noFill/>
            <a:prstDash val="solid"/>
          </a:ln>
        </p:spPr>
        <p:txBody>
          <a:bodyPr anchor="t"/>
          <a:lstStyle/>
          <a:p>
            <a:pPr algn="ctr">
              <a:defRPr sz="1275" b="1">
                <a:solidFill>
                  <a:srgbClr val="43858A"/>
                </a:solidFill>
                <a:latin typeface="Arial"/>
                <a:ea typeface="Arial"/>
                <a:cs typeface="Arial"/>
              </a:defRPr>
            </a:pPr>
            <a:r>
              <a:rPr sz="1275" b="1">
                <a:solidFill>
                  <a:srgbClr val="43858A"/>
                </a:solidFill>
                <a:latin typeface="Arial"/>
                <a:ea typeface="Arial"/>
                <a:cs typeface="Arial"/>
              </a:rPr>
              <a:t>LEXIKALISCH</a:t>
            </a:r>
          </a:p>
        </p:txBody>
      </p:sp>
      <p:sp>
        <p:nvSpPr>
          <p:cNvPr id="16" name="lexical-copy">
            <a:extLst>
              <a:ext uri="{FF2B5EF4-FFF2-40B4-BE49-F238E27FC236}">
                <a16:creationId xmlns:a16="http://schemas.microsoft.com/office/drawing/2014/main" id="{1B33F516-A521-4DA4-950A-21C3292FE74A}"/>
              </a:ext>
            </a:extLst>
          </p:cNvPr>
          <p:cNvSpPr>
            <a:spLocks noGrp="1"/>
          </p:cNvSpPr>
          <p:nvPr/>
        </p:nvSpPr>
        <p:spPr>
          <a:xfrm>
            <a:off x="3667125" y="3876675"/>
            <a:ext cx="2000250" cy="228600"/>
          </a:xfrm>
          <a:prstGeom prst="rect">
            <a:avLst/>
          </a:prstGeom>
          <a:noFill/>
          <a:ln w="0">
            <a:noFill/>
            <a:prstDash val="solid"/>
          </a:ln>
        </p:spPr>
        <p:txBody>
          <a:bodyPr anchor="t"/>
          <a:lstStyle/>
          <a:p>
            <a:pPr algn="ctr">
              <a:defRPr sz="1425" b="0">
                <a:solidFill>
                  <a:srgbClr val="2D3F4B"/>
                </a:solidFill>
                <a:latin typeface="Arial"/>
                <a:ea typeface="Arial"/>
                <a:cs typeface="Arial"/>
              </a:defRPr>
            </a:pPr>
            <a:r>
              <a:rPr sz="1425" b="0">
                <a:solidFill>
                  <a:srgbClr val="2D3F4B"/>
                </a:solidFill>
                <a:latin typeface="Arial"/>
                <a:ea typeface="Arial"/>
                <a:cs typeface="Arial"/>
              </a:rPr>
              <a:t>Erlass + Artikel + Titel</a:t>
            </a:r>
          </a:p>
        </p:txBody>
      </p:sp>
      <p:sp>
        <p:nvSpPr>
          <p:cNvPr id="17" name="semantic-rrf">
            <a:extLst>
              <a:ext uri="{FF2B5EF4-FFF2-40B4-BE49-F238E27FC236}">
                <a16:creationId xmlns:a16="http://schemas.microsoft.com/office/drawing/2014/main" id="{FEF3FFFD-BC1D-4A57-ACBC-3D1B47D2AAC3}"/>
              </a:ext>
            </a:extLst>
          </p:cNvPr>
          <p:cNvSpPr>
            <a:spLocks noGrp="1"/>
          </p:cNvSpPr>
          <p:nvPr/>
        </p:nvSpPr>
        <p:spPr>
          <a:xfrm>
            <a:off x="5857875" y="2286000"/>
            <a:ext cx="1143000" cy="762000"/>
          </a:xfrm>
          <a:prstGeom prst="line">
            <a:avLst/>
          </a:prstGeom>
          <a:ln w="23813">
            <a:solidFill>
              <a:srgbClr val="C60C30"/>
            </a:solidFill>
            <a:prstDash val="solid"/>
          </a:ln>
        </p:spPr>
        <p:txBody>
          <a:bodyPr/>
          <a:lstStyle/>
          <a:p>
            <a:endParaRPr lang="de-CH"/>
          </a:p>
        </p:txBody>
      </p:sp>
      <p:sp>
        <p:nvSpPr>
          <p:cNvPr id="18" name="lexical-rrf">
            <a:extLst>
              <a:ext uri="{FF2B5EF4-FFF2-40B4-BE49-F238E27FC236}">
                <a16:creationId xmlns:a16="http://schemas.microsoft.com/office/drawing/2014/main" id="{294247A2-897D-4AAB-8C4D-AA9D5404D66C}"/>
              </a:ext>
            </a:extLst>
          </p:cNvPr>
          <p:cNvSpPr>
            <a:spLocks noGrp="1"/>
          </p:cNvSpPr>
          <p:nvPr/>
        </p:nvSpPr>
        <p:spPr>
          <a:xfrm>
            <a:off x="5857875" y="3048000"/>
            <a:ext cx="1143000" cy="762000"/>
          </a:xfrm>
          <a:prstGeom prst="line">
            <a:avLst/>
          </a:prstGeom>
          <a:ln w="23813">
            <a:solidFill>
              <a:srgbClr val="43858A"/>
            </a:solidFill>
            <a:prstDash val="solid"/>
          </a:ln>
        </p:spPr>
        <p:txBody>
          <a:bodyPr/>
          <a:lstStyle/>
          <a:p>
            <a:endParaRPr lang="de-CH"/>
          </a:p>
        </p:txBody>
      </p:sp>
      <p:sp>
        <p:nvSpPr>
          <p:cNvPr id="19" name="rrf">
            <a:extLst>
              <a:ext uri="{FF2B5EF4-FFF2-40B4-BE49-F238E27FC236}">
                <a16:creationId xmlns:a16="http://schemas.microsoft.com/office/drawing/2014/main" id="{0521D844-5A60-40B3-A063-7700203430FF}"/>
              </a:ext>
            </a:extLst>
          </p:cNvPr>
          <p:cNvSpPr>
            <a:spLocks noGrp="1"/>
          </p:cNvSpPr>
          <p:nvPr/>
        </p:nvSpPr>
        <p:spPr>
          <a:xfrm>
            <a:off x="6953250" y="2619375"/>
            <a:ext cx="876300" cy="876300"/>
          </a:xfrm>
          <a:prstGeom prst="ellipse">
            <a:avLst/>
          </a:prstGeom>
          <a:solidFill>
            <a:srgbClr val="7C466F"/>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RRF</a:t>
            </a:r>
          </a:p>
        </p:txBody>
      </p:sp>
      <p:sp>
        <p:nvSpPr>
          <p:cNvPr id="20" name="rrf-label">
            <a:extLst>
              <a:ext uri="{FF2B5EF4-FFF2-40B4-BE49-F238E27FC236}">
                <a16:creationId xmlns:a16="http://schemas.microsoft.com/office/drawing/2014/main" id="{7020E88C-8990-4FCC-B223-11C4BAC8137F}"/>
              </a:ext>
            </a:extLst>
          </p:cNvPr>
          <p:cNvSpPr>
            <a:spLocks noGrp="1"/>
          </p:cNvSpPr>
          <p:nvPr/>
        </p:nvSpPr>
        <p:spPr>
          <a:xfrm>
            <a:off x="6572250" y="3600450"/>
            <a:ext cx="1619250" cy="457200"/>
          </a:xfrm>
          <a:prstGeom prst="rect">
            <a:avLst/>
          </a:prstGeom>
          <a:noFill/>
          <a:ln w="0">
            <a:noFill/>
            <a:prstDash val="solid"/>
          </a:ln>
        </p:spPr>
        <p:txBody>
          <a:bodyPr anchor="t"/>
          <a:lstStyle/>
          <a:p>
            <a:pPr algn="ctr">
              <a:defRPr sz="1125" b="1">
                <a:solidFill>
                  <a:srgbClr val="7C466F"/>
                </a:solidFill>
                <a:latin typeface="Arial"/>
                <a:ea typeface="Arial"/>
                <a:cs typeface="Arial"/>
              </a:defRPr>
            </a:pPr>
            <a:r>
              <a:rPr sz="1125" b="1">
                <a:solidFill>
                  <a:srgbClr val="7C466F"/>
                </a:solidFill>
                <a:latin typeface="Arial"/>
                <a:ea typeface="Arial"/>
                <a:cs typeface="Arial"/>
              </a:rPr>
              <a:t>RANKINGS</a:t>
            </a:r>
          </a:p>
          <a:p>
            <a:pPr algn="ctr">
              <a:defRPr sz="1125" b="1">
                <a:solidFill>
                  <a:srgbClr val="7C466F"/>
                </a:solidFill>
                <a:latin typeface="Arial"/>
                <a:ea typeface="Arial"/>
                <a:cs typeface="Arial"/>
              </a:defRPr>
            </a:pPr>
            <a:r>
              <a:rPr sz="1125" b="1">
                <a:solidFill>
                  <a:srgbClr val="7C466F"/>
                </a:solidFill>
                <a:latin typeface="Arial"/>
                <a:ea typeface="Arial"/>
                <a:cs typeface="Arial"/>
              </a:rPr>
              <a:t>ZUSAMMENFÜHREN</a:t>
            </a:r>
          </a:p>
        </p:txBody>
      </p:sp>
      <p:sp>
        <p:nvSpPr>
          <p:cNvPr id="21" name="rrf-graph">
            <a:extLst>
              <a:ext uri="{FF2B5EF4-FFF2-40B4-BE49-F238E27FC236}">
                <a16:creationId xmlns:a16="http://schemas.microsoft.com/office/drawing/2014/main" id="{88D4FF31-E8A9-4073-A359-AE6C1AE2E0B7}"/>
              </a:ext>
            </a:extLst>
          </p:cNvPr>
          <p:cNvSpPr>
            <a:spLocks noGrp="1"/>
          </p:cNvSpPr>
          <p:nvPr/>
        </p:nvSpPr>
        <p:spPr>
          <a:xfrm>
            <a:off x="7829550" y="3057525"/>
            <a:ext cx="1047750" cy="0"/>
          </a:xfrm>
          <a:prstGeom prst="line">
            <a:avLst/>
          </a:prstGeom>
          <a:ln w="23813">
            <a:solidFill>
              <a:srgbClr val="7C466F"/>
            </a:solidFill>
            <a:prstDash val="solid"/>
          </a:ln>
        </p:spPr>
        <p:txBody>
          <a:bodyPr/>
          <a:lstStyle/>
          <a:p>
            <a:endParaRPr lang="de-CH"/>
          </a:p>
        </p:txBody>
      </p:sp>
      <p:sp>
        <p:nvSpPr>
          <p:cNvPr id="22" name="graph-box">
            <a:extLst>
              <a:ext uri="{FF2B5EF4-FFF2-40B4-BE49-F238E27FC236}">
                <a16:creationId xmlns:a16="http://schemas.microsoft.com/office/drawing/2014/main" id="{8F12ADFC-4D6E-4DF6-902B-5C06D2FA89E1}"/>
              </a:ext>
            </a:extLst>
          </p:cNvPr>
          <p:cNvSpPr>
            <a:spLocks noGrp="1"/>
          </p:cNvSpPr>
          <p:nvPr/>
        </p:nvSpPr>
        <p:spPr>
          <a:xfrm>
            <a:off x="8905875" y="2143125"/>
            <a:ext cx="2571750" cy="1809750"/>
          </a:xfrm>
          <a:prstGeom prst="roundRect">
            <a:avLst>
              <a:gd name="adj" fmla="val 9474"/>
            </a:avLst>
          </a:prstGeom>
          <a:solidFill>
            <a:srgbClr val="EAE8E5"/>
          </a:solidFill>
          <a:ln w="11430">
            <a:solidFill>
              <a:srgbClr val="C3BBB2"/>
            </a:solidFill>
            <a:prstDash val="solid"/>
          </a:ln>
        </p:spPr>
        <p:txBody>
          <a:bodyPr/>
          <a:lstStyle/>
          <a:p>
            <a:endParaRPr lang="de-CH"/>
          </a:p>
        </p:txBody>
      </p:sp>
      <p:sp>
        <p:nvSpPr>
          <p:cNvPr id="23" name="graph-title">
            <a:extLst>
              <a:ext uri="{FF2B5EF4-FFF2-40B4-BE49-F238E27FC236}">
                <a16:creationId xmlns:a16="http://schemas.microsoft.com/office/drawing/2014/main" id="{6518461C-BEB6-4B82-8305-861FE6468501}"/>
              </a:ext>
            </a:extLst>
          </p:cNvPr>
          <p:cNvSpPr>
            <a:spLocks noGrp="1"/>
          </p:cNvSpPr>
          <p:nvPr/>
        </p:nvSpPr>
        <p:spPr>
          <a:xfrm>
            <a:off x="9144000" y="2333625"/>
            <a:ext cx="2095500" cy="266700"/>
          </a:xfrm>
          <a:prstGeom prst="rect">
            <a:avLst/>
          </a:prstGeom>
          <a:noFill/>
          <a:ln w="0">
            <a:noFill/>
            <a:prstDash val="solid"/>
          </a:ln>
        </p:spPr>
        <p:txBody>
          <a:bodyPr anchor="t"/>
          <a:lstStyle/>
          <a:p>
            <a:pPr algn="ctr">
              <a:defRPr sz="1350" b="1">
                <a:solidFill>
                  <a:srgbClr val="C9960F"/>
                </a:solidFill>
                <a:latin typeface="Arial"/>
                <a:ea typeface="Arial"/>
                <a:cs typeface="Arial"/>
              </a:defRPr>
            </a:pPr>
            <a:r>
              <a:rPr sz="1350" b="1">
                <a:solidFill>
                  <a:srgbClr val="C9960F"/>
                </a:solidFill>
                <a:latin typeface="Arial"/>
                <a:ea typeface="Arial"/>
                <a:cs typeface="Arial"/>
              </a:rPr>
              <a:t>GRAPH ERWEITERT</a:t>
            </a:r>
          </a:p>
        </p:txBody>
      </p:sp>
      <p:sp>
        <p:nvSpPr>
          <p:cNvPr id="24" name="node-a">
            <a:extLst>
              <a:ext uri="{FF2B5EF4-FFF2-40B4-BE49-F238E27FC236}">
                <a16:creationId xmlns:a16="http://schemas.microsoft.com/office/drawing/2014/main" id="{C4359535-EC26-4601-BDB1-051F1A62E3EB}"/>
              </a:ext>
            </a:extLst>
          </p:cNvPr>
          <p:cNvSpPr>
            <a:spLocks noGrp="1"/>
          </p:cNvSpPr>
          <p:nvPr/>
        </p:nvSpPr>
        <p:spPr>
          <a:xfrm>
            <a:off x="9239250" y="2781300"/>
            <a:ext cx="590550" cy="590550"/>
          </a:xfrm>
          <a:prstGeom prst="ellipse">
            <a:avLst/>
          </a:prstGeom>
          <a:solidFill>
            <a:srgbClr val="C9960F"/>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25" name="node-b">
            <a:extLst>
              <a:ext uri="{FF2B5EF4-FFF2-40B4-BE49-F238E27FC236}">
                <a16:creationId xmlns:a16="http://schemas.microsoft.com/office/drawing/2014/main" id="{BB44BFEF-23BF-4D51-94C6-12FA6903AF99}"/>
              </a:ext>
            </a:extLst>
          </p:cNvPr>
          <p:cNvSpPr>
            <a:spLocks noGrp="1"/>
          </p:cNvSpPr>
          <p:nvPr/>
        </p:nvSpPr>
        <p:spPr>
          <a:xfrm>
            <a:off x="10287000" y="2619375"/>
            <a:ext cx="590550" cy="590550"/>
          </a:xfrm>
          <a:prstGeom prst="ellipse">
            <a:avLst/>
          </a:prstGeom>
          <a:solidFill>
            <a:srgbClr val="43858A"/>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26" name="node-c">
            <a:extLst>
              <a:ext uri="{FF2B5EF4-FFF2-40B4-BE49-F238E27FC236}">
                <a16:creationId xmlns:a16="http://schemas.microsoft.com/office/drawing/2014/main" id="{6D6483F3-FB5D-4248-B066-CF1821BBAA4B}"/>
              </a:ext>
            </a:extLst>
          </p:cNvPr>
          <p:cNvSpPr>
            <a:spLocks noGrp="1"/>
          </p:cNvSpPr>
          <p:nvPr/>
        </p:nvSpPr>
        <p:spPr>
          <a:xfrm>
            <a:off x="10287000" y="3333750"/>
            <a:ext cx="590550" cy="590550"/>
          </a:xfrm>
          <a:prstGeom prst="ellipse">
            <a:avLst/>
          </a:prstGeom>
          <a:solidFill>
            <a:srgbClr val="81725E"/>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t>
            </a:r>
          </a:p>
        </p:txBody>
      </p:sp>
      <p:sp>
        <p:nvSpPr>
          <p:cNvPr id="27" name="edge-a-b">
            <a:extLst>
              <a:ext uri="{FF2B5EF4-FFF2-40B4-BE49-F238E27FC236}">
                <a16:creationId xmlns:a16="http://schemas.microsoft.com/office/drawing/2014/main" id="{72C0B5C3-FA22-4684-96CE-99F0A7F730F8}"/>
              </a:ext>
            </a:extLst>
          </p:cNvPr>
          <p:cNvSpPr>
            <a:spLocks noGrp="1"/>
          </p:cNvSpPr>
          <p:nvPr/>
        </p:nvSpPr>
        <p:spPr>
          <a:xfrm>
            <a:off x="9810750" y="2924175"/>
            <a:ext cx="523875" cy="95250"/>
          </a:xfrm>
          <a:prstGeom prst="line">
            <a:avLst/>
          </a:prstGeom>
          <a:ln w="17145">
            <a:solidFill>
              <a:srgbClr val="2D3F4B"/>
            </a:solidFill>
            <a:prstDash val="solid"/>
          </a:ln>
        </p:spPr>
        <p:txBody>
          <a:bodyPr/>
          <a:lstStyle/>
          <a:p>
            <a:endParaRPr lang="de-CH"/>
          </a:p>
        </p:txBody>
      </p:sp>
      <p:sp>
        <p:nvSpPr>
          <p:cNvPr id="28" name="edge-a-c">
            <a:extLst>
              <a:ext uri="{FF2B5EF4-FFF2-40B4-BE49-F238E27FC236}">
                <a16:creationId xmlns:a16="http://schemas.microsoft.com/office/drawing/2014/main" id="{B43F0A3C-C065-47E6-930E-DB08ACA3F666}"/>
              </a:ext>
            </a:extLst>
          </p:cNvPr>
          <p:cNvSpPr>
            <a:spLocks noGrp="1"/>
          </p:cNvSpPr>
          <p:nvPr/>
        </p:nvSpPr>
        <p:spPr>
          <a:xfrm>
            <a:off x="9791700" y="3124200"/>
            <a:ext cx="552450" cy="428625"/>
          </a:xfrm>
          <a:prstGeom prst="line">
            <a:avLst/>
          </a:prstGeom>
          <a:ln w="17145">
            <a:solidFill>
              <a:srgbClr val="2D3F4B"/>
            </a:solidFill>
            <a:prstDash val="solid"/>
          </a:ln>
        </p:spPr>
        <p:txBody>
          <a:bodyPr/>
          <a:lstStyle/>
          <a:p>
            <a:endParaRPr lang="de-CH"/>
          </a:p>
        </p:txBody>
      </p:sp>
      <p:sp>
        <p:nvSpPr>
          <p:cNvPr id="29" name="graph-prompt">
            <a:extLst>
              <a:ext uri="{FF2B5EF4-FFF2-40B4-BE49-F238E27FC236}">
                <a16:creationId xmlns:a16="http://schemas.microsoft.com/office/drawing/2014/main" id="{34F8537A-B072-4A8A-BB6F-0868316F7553}"/>
              </a:ext>
            </a:extLst>
          </p:cNvPr>
          <p:cNvSpPr>
            <a:spLocks noGrp="1"/>
          </p:cNvSpPr>
          <p:nvPr/>
        </p:nvSpPr>
        <p:spPr>
          <a:xfrm>
            <a:off x="11477625" y="3057525"/>
            <a:ext cx="428625" cy="0"/>
          </a:xfrm>
          <a:prstGeom prst="line">
            <a:avLst/>
          </a:prstGeom>
          <a:ln w="23813">
            <a:solidFill>
              <a:srgbClr val="C9960F"/>
            </a:solidFill>
            <a:prstDash val="solid"/>
          </a:ln>
        </p:spPr>
        <p:txBody>
          <a:bodyPr/>
          <a:lstStyle/>
          <a:p>
            <a:endParaRPr lang="de-CH"/>
          </a:p>
        </p:txBody>
      </p:sp>
      <p:sp>
        <p:nvSpPr>
          <p:cNvPr id="30" name="prompt-label">
            <a:extLst>
              <a:ext uri="{FF2B5EF4-FFF2-40B4-BE49-F238E27FC236}">
                <a16:creationId xmlns:a16="http://schemas.microsoft.com/office/drawing/2014/main" id="{815E2A76-3238-47B9-B6E8-BE5972163393}"/>
              </a:ext>
            </a:extLst>
          </p:cNvPr>
          <p:cNvSpPr>
            <a:spLocks noGrp="1"/>
          </p:cNvSpPr>
          <p:nvPr/>
        </p:nvSpPr>
        <p:spPr>
          <a:xfrm>
            <a:off x="10668000" y="4333875"/>
            <a:ext cx="1000125"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KONTEXT</a:t>
            </a:r>
          </a:p>
        </p:txBody>
      </p:sp>
      <p:sp>
        <p:nvSpPr>
          <p:cNvPr id="31" name="graph-takeaway">
            <a:extLst>
              <a:ext uri="{FF2B5EF4-FFF2-40B4-BE49-F238E27FC236}">
                <a16:creationId xmlns:a16="http://schemas.microsoft.com/office/drawing/2014/main" id="{733AC1B9-F4BE-443C-9E6F-86686D1C2CDB}"/>
              </a:ext>
            </a:extLst>
          </p:cNvPr>
          <p:cNvSpPr>
            <a:spLocks noGrp="1"/>
          </p:cNvSpPr>
          <p:nvPr/>
        </p:nvSpPr>
        <p:spPr>
          <a:xfrm>
            <a:off x="1666875" y="5000625"/>
            <a:ext cx="8858250" cy="723900"/>
          </a:xfrm>
          <a:prstGeom prst="roundRect">
            <a:avLst>
              <a:gd name="adj" fmla="val 21053"/>
            </a:avLst>
          </a:prstGeom>
          <a:solidFill>
            <a:srgbClr val="2D3F4B"/>
          </a:solidFill>
          <a:ln w="0">
            <a:solidFill>
              <a:srgbClr val="2D3F4B"/>
            </a:solidFill>
            <a:prstDash val="solid"/>
          </a:ln>
        </p:spPr>
        <p:txBody>
          <a:bodyPr/>
          <a:lstStyle/>
          <a:p>
            <a:endParaRPr lang="de-CH"/>
          </a:p>
        </p:txBody>
      </p:sp>
      <p:sp>
        <p:nvSpPr>
          <p:cNvPr id="32" name="graph-takeaway-text">
            <a:extLst>
              <a:ext uri="{FF2B5EF4-FFF2-40B4-BE49-F238E27FC236}">
                <a16:creationId xmlns:a16="http://schemas.microsoft.com/office/drawing/2014/main" id="{B63E6B08-6893-4FA2-A318-BBBCBDD341BD}"/>
              </a:ext>
            </a:extLst>
          </p:cNvPr>
          <p:cNvSpPr>
            <a:spLocks noGrp="1"/>
          </p:cNvSpPr>
          <p:nvPr/>
        </p:nvSpPr>
        <p:spPr>
          <a:xfrm>
            <a:off x="1952625" y="5162550"/>
            <a:ext cx="8286750" cy="4191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Hybrid zuerst, Graph danach:</a:t>
            </a:r>
          </a:p>
          <a:p>
            <a:pPr algn="ctr">
              <a:defRPr sz="1500" b="1">
                <a:solidFill>
                  <a:srgbClr val="FFFFFF"/>
                </a:solidFill>
                <a:latin typeface="Arial"/>
                <a:ea typeface="Arial"/>
                <a:cs typeface="Arial"/>
              </a:defRPr>
            </a:pPr>
            <a:r>
              <a:rPr sz="1500" b="1">
                <a:solidFill>
                  <a:srgbClr val="FFFFFF"/>
                </a:solidFill>
                <a:latin typeface="Arial"/>
                <a:ea typeface="Arial"/>
                <a:cs typeface="Arial"/>
              </a:rPr>
              <a:t>Trefferlisten fusionieren → relevante Nachbarn ergänzen → Kontextbudget einhalten.</a:t>
            </a:r>
          </a:p>
        </p:txBody>
      </p:sp>
    </p:spTree>
    <p:extLst>
      <p:ext uri="{BB962C8B-B14F-4D97-AF65-F5344CB8AC3E}">
        <p14:creationId xmlns:p14="http://schemas.microsoft.com/office/powerpoint/2010/main" val="27776752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B2FBC28B-665B-4948-A297-C71BDA3ECCB7}"/>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540E8F70-9B23-436C-B2AB-251CB6C804B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Retrieval: Beide finden die Artikel – Graph nutzt weniger Kontext</a:t>
            </a:r>
          </a:p>
        </p:txBody>
      </p:sp>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Aktueller Lauf · 8 Fragen · gemeinsames Budget von 6 Chunks.</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100%</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defRPr sz="1125" b="1">
                <a:solidFill>
                  <a:srgbClr val="C60C30"/>
                </a:solidFill>
                <a:latin typeface="Arial"/>
                <a:ea typeface="Arial"/>
                <a:cs typeface="Arial"/>
              </a:defRPr>
            </a:pPr>
            <a:r>
              <a:rPr sz="1125" b="1">
                <a:solidFill>
                  <a:srgbClr val="C60C30"/>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defRPr sz="2550" b="1">
                <a:solidFill>
                  <a:srgbClr val="C60C30"/>
                </a:solidFill>
                <a:latin typeface="Arial"/>
                <a:ea typeface="Arial"/>
                <a:cs typeface="Arial"/>
              </a:defRPr>
            </a:pPr>
            <a:r>
              <a:rPr sz="2550" b="1">
                <a:solidFill>
                  <a:srgbClr val="C60C30"/>
                </a:solidFill>
                <a:latin typeface="Arial"/>
                <a:ea typeface="Arial"/>
                <a:cs typeface="Arial"/>
              </a:rPr>
              <a:t>100%</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lang="de-CH"/>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Alle erwarteten Artikel im Kontext</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0.83</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defRPr sz="2550" b="1">
                <a:solidFill>
                  <a:srgbClr val="43858A"/>
                </a:solidFill>
                <a:latin typeface="Arial"/>
                <a:ea typeface="Arial"/>
                <a:cs typeface="Arial"/>
              </a:defRPr>
            </a:pPr>
            <a:r>
              <a:rPr sz="2550" b="1">
                <a:solidFill>
                  <a:srgbClr val="43858A"/>
                </a:solidFill>
                <a:latin typeface="Arial"/>
                <a:ea typeface="Arial"/>
                <a:cs typeface="Arial"/>
              </a:rPr>
              <a:t>0.82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lang="de-CH"/>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Nahezu gleiche Rangqualität</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857</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defRPr sz="1125" b="1">
                <a:solidFill>
                  <a:srgbClr val="C9960F"/>
                </a:solidFill>
                <a:latin typeface="Arial"/>
                <a:ea typeface="Arial"/>
                <a:cs typeface="Arial"/>
              </a:defRPr>
            </a:pPr>
            <a:r>
              <a:rPr sz="1125" b="1">
                <a:solidFill>
                  <a:srgbClr val="C9960F"/>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defRPr sz="2550" b="1">
                <a:solidFill>
                  <a:srgbClr val="C9960F"/>
                </a:solidFill>
                <a:latin typeface="Arial"/>
                <a:ea typeface="Arial"/>
                <a:cs typeface="Arial"/>
              </a:defRPr>
            </a:pPr>
            <a:r>
              <a:rPr sz="2550" b="1">
                <a:solidFill>
                  <a:srgbClr val="C9960F"/>
                </a:solidFill>
                <a:latin typeface="Arial"/>
                <a:ea typeface="Arial"/>
                <a:cs typeface="Arial"/>
              </a:rPr>
              <a:t>746</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lang="de-CH"/>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Graph: 13 % weniger Kontext</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lang="de-CH"/>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100 % Recall bedeutet: im Kontext vorhanden – nicht automatisch korrekt beantwortet.</a:t>
            </a:r>
          </a:p>
        </p:txBody>
      </p:sp>
    </p:spTree>
    <p:extLst>
      <p:ext uri="{BB962C8B-B14F-4D97-AF65-F5344CB8AC3E}">
        <p14:creationId xmlns:p14="http://schemas.microsoft.com/office/powerpoint/2010/main" val="12996448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clean-canvas">
            <a:extLst>
              <a:ext uri="{FF2B5EF4-FFF2-40B4-BE49-F238E27FC236}">
                <a16:creationId xmlns:a16="http://schemas.microsoft.com/office/drawing/2014/main" id="{5E51C087-B602-40CA-9202-01BA72A8860A}"/>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Antwortqualität: Mehr Fakten sind nicht automatisch besser belegt</a:t>
            </a: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Der aktuelle Lauf zeigt einen echten Trade-off zwischen Abdeckung und Zitierqualität.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VECTOR</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GRAPH</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Fact coverage</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145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5050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93.8%</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precision</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384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54.2%</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2289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39.6%</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grounding</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7623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9528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79.2%</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completeness</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4862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6767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75.0%</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lang="de-CH"/>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Graph: +6.3 Punkte Faktenabdeckung · Vector: stärkere Zitationsmetriken</a:t>
            </a:r>
          </a:p>
        </p:txBody>
      </p:sp>
    </p:spTree>
    <p:extLst>
      <p:ext uri="{BB962C8B-B14F-4D97-AF65-F5344CB8AC3E}">
        <p14:creationId xmlns:p14="http://schemas.microsoft.com/office/powerpoint/2010/main" val="8529517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20C2307B-AB02-453A-93F3-1BE8CB0FC5D9}"/>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619250" y="5095875"/>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mehr Kontrolle</a:t>
            </a: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763000" y="5095875"/>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a:solidFill>
                  <a:srgbClr val="81725E"/>
                </a:solidFill>
                <a:latin typeface="Arial"/>
                <a:ea typeface="Arial"/>
                <a:cs typeface="Arial"/>
              </a:rPr>
              <a:t>schneller produktiv</a:t>
            </a: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666750" y="1905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mehr Betriebsaufwand</a:t>
            </a: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3875" y="466725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weniger Eigenbetrieb</a:t>
            </a: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lean-canvas">
            <a:extLst>
              <a:ext uri="{FF2B5EF4-FFF2-40B4-BE49-F238E27FC236}">
                <a16:creationId xmlns:a16="http://schemas.microsoft.com/office/drawing/2014/main" id="{F7E06DD1-D6AF-4D5A-825C-0F76804EDB92}"/>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sz="1875" b="1">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CH"/>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sz="1875" b="1">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CH"/>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sz="1875" b="1">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05.08.2026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19</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2.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2103</Words>
  <Application>Microsoft Office PowerPoint</Application>
  <PresentationFormat>Breitbild</PresentationFormat>
  <Paragraphs>370</Paragraphs>
  <Slides>19</Slides>
  <Notes>12</Notes>
  <HiddenSlides>0</HiddenSlides>
  <MMClips>0</MMClips>
  <ScaleCrop>false</ScaleCrop>
  <HeadingPairs>
    <vt:vector size="8" baseType="variant">
      <vt:variant>
        <vt:lpstr>Verwendete Schriftarten</vt:lpstr>
      </vt:variant>
      <vt:variant>
        <vt:i4>1</vt:i4>
      </vt:variant>
      <vt:variant>
        <vt:lpstr>Design</vt:lpstr>
      </vt:variant>
      <vt:variant>
        <vt:i4>1</vt:i4>
      </vt:variant>
      <vt:variant>
        <vt:lpstr>Eingebettete OLE-Server</vt:lpstr>
      </vt:variant>
      <vt:variant>
        <vt:i4>1</vt:i4>
      </vt:variant>
      <vt:variant>
        <vt:lpstr>Folientitel</vt:lpstr>
      </vt:variant>
      <vt:variant>
        <vt:i4>19</vt:i4>
      </vt:variant>
    </vt:vector>
  </HeadingPairs>
  <TitlesOfParts>
    <vt:vector size="22" baseType="lpstr">
      <vt:lpstr>Arial</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Vom Modellaufruf zum messbaren RAG</vt:lpstr>
      <vt:lpstr>PowerPoint-Präsentation</vt:lpstr>
      <vt:lpstr>Hands-on</vt:lpstr>
      <vt:lpstr>Advanced RAG</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11</cp:revision>
  <dcterms:created xsi:type="dcterms:W3CDTF">2026-08-04T12:09:36Z</dcterms:created>
  <dcterms:modified xsi:type="dcterms:W3CDTF">2026-08-05T09:30:07Z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