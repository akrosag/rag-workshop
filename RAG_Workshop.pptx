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3"/>
  </p:notesMasterIdLst>
  <p:handoutMasterIdLst>
    <p:handoutMasterId r:id="rId34"/>
  </p:handoutMasterIdLst>
  <p:sldIdLst>
    <p:sldId id="290" r:id="rId5"/>
    <p:sldId id="279" r:id="rId6"/>
    <p:sldId id="329" r:id="rId7"/>
    <p:sldId id="296" r:id="rId8"/>
    <p:sldId id="301" r:id="rId9"/>
    <p:sldId id="263" r:id="rId10"/>
    <p:sldId id="317" r:id="rId11"/>
    <p:sldId id="319" r:id="rId12"/>
    <p:sldId id="266" r:id="rId13"/>
    <p:sldId id="307" r:id="rId14"/>
    <p:sldId id="323" r:id="rId15"/>
    <p:sldId id="322" r:id="rId16"/>
    <p:sldId id="324" r:id="rId17"/>
    <p:sldId id="325" r:id="rId18"/>
    <p:sldId id="308" r:id="rId19"/>
    <p:sldId id="326" r:id="rId20"/>
    <p:sldId id="256" r:id="rId21"/>
    <p:sldId id="313" r:id="rId22"/>
    <p:sldId id="327" r:id="rId23"/>
    <p:sldId id="320" r:id="rId24"/>
    <p:sldId id="321" r:id="rId25"/>
    <p:sldId id="328" r:id="rId26"/>
    <p:sldId id="278" r:id="rId27"/>
    <p:sldId id="330" r:id="rId28"/>
    <p:sldId id="274" r:id="rId29"/>
    <p:sldId id="275" r:id="rId30"/>
    <p:sldId id="276" r:id="rId31"/>
    <p:sldId id="295" r:id="rId32"/>
  </p:sldIdLst>
  <p:sldSz cx="12192000" cy="6858000"/>
  <p:notesSz cx="6858000" cy="9144000"/>
  <p:custDataLst>
    <p:tags r:id="rId35"/>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329"/>
            <p14:sldId id="296"/>
            <p14:sldId id="301"/>
            <p14:sldId id="263"/>
            <p14:sldId id="317"/>
            <p14:sldId id="319"/>
            <p14:sldId id="266"/>
            <p14:sldId id="307"/>
            <p14:sldId id="323"/>
            <p14:sldId id="322"/>
            <p14:sldId id="324"/>
            <p14:sldId id="325"/>
            <p14:sldId id="308"/>
            <p14:sldId id="326"/>
            <p14:sldId id="256"/>
            <p14:sldId id="313"/>
            <p14:sldId id="327"/>
            <p14:sldId id="320"/>
            <p14:sldId id="321"/>
            <p14:sldId id="328"/>
            <p14:sldId id="278"/>
            <p14:sldId id="330"/>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86331" autoAdjust="0"/>
  </p:normalViewPr>
  <p:slideViewPr>
    <p:cSldViewPr snapToGrid="0">
      <p:cViewPr varScale="1">
        <p:scale>
          <a:sx n="64" d="100"/>
          <a:sy n="64" d="100"/>
        </p:scale>
        <p:origin x="765"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gs" Target="tags/tag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20.08.2026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20.08.2026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rPr lang="de-DE" dirty="0"/>
              <a:t>Es ist richtig schön, dass ihr den Weg zu diesem Workshop über RAGs gefunden habt. RAGs sind sog. Knowledge Worker und wir werden heute nicht nur die Theorie erklären, sondern auch die Implementierung eines solchen in der Praxis sehen. &lt;Kernbotschaft&gt;Dabei möchten wir die Mechanik eines belastbaren RAG-Systems aufzeigen. &lt;/Kernbotschaft&gt;</a:t>
            </a:r>
          </a:p>
          <a:p>
            <a:endParaRPr dirty="0"/>
          </a:p>
          <a:p>
            <a:r>
              <a:rPr dirty="0"/>
              <a:t>Als </a:t>
            </a:r>
            <a:r>
              <a:rPr dirty="0" err="1"/>
              <a:t>durchgängiges</a:t>
            </a:r>
            <a:r>
              <a:rPr dirty="0"/>
              <a:t> </a:t>
            </a:r>
            <a:r>
              <a:rPr dirty="0" err="1"/>
              <a:t>Beispiel</a:t>
            </a:r>
            <a:r>
              <a:rPr dirty="0"/>
              <a:t> </a:t>
            </a:r>
            <a:r>
              <a:rPr dirty="0" err="1"/>
              <a:t>verwenden</a:t>
            </a:r>
            <a:r>
              <a:rPr dirty="0"/>
              <a:t> </a:t>
            </a:r>
            <a:r>
              <a:rPr dirty="0" err="1"/>
              <a:t>wir</a:t>
            </a:r>
            <a:r>
              <a:rPr dirty="0"/>
              <a:t> Schweizer </a:t>
            </a:r>
            <a:r>
              <a:rPr dirty="0" err="1"/>
              <a:t>Gesetzestexte</a:t>
            </a:r>
            <a:r>
              <a:rPr dirty="0"/>
              <a:t>. </a:t>
            </a:r>
            <a:r>
              <a:rPr dirty="0" err="1"/>
              <a:t>Dadurch</a:t>
            </a:r>
            <a:r>
              <a:rPr dirty="0"/>
              <a:t> </a:t>
            </a:r>
            <a:r>
              <a:rPr dirty="0" err="1"/>
              <a:t>können</a:t>
            </a:r>
            <a:r>
              <a:rPr dirty="0"/>
              <a:t> </a:t>
            </a:r>
            <a:r>
              <a:rPr dirty="0" err="1"/>
              <a:t>wir</a:t>
            </a:r>
            <a:r>
              <a:rPr dirty="0"/>
              <a:t> </a:t>
            </a:r>
            <a:r>
              <a:rPr dirty="0" err="1"/>
              <a:t>sehr</a:t>
            </a:r>
            <a:r>
              <a:rPr dirty="0"/>
              <a:t> </a:t>
            </a:r>
            <a:r>
              <a:rPr dirty="0" err="1"/>
              <a:t>konkret</a:t>
            </a:r>
            <a:r>
              <a:rPr dirty="0"/>
              <a:t> </a:t>
            </a:r>
            <a:r>
              <a:rPr dirty="0" err="1"/>
              <a:t>prüfen</a:t>
            </a:r>
            <a:r>
              <a:rPr dirty="0"/>
              <a:t>, </a:t>
            </a:r>
            <a:endParaRPr lang="de-DE" dirty="0"/>
          </a:p>
          <a:p>
            <a:pPr lvl="1"/>
            <a:r>
              <a:rPr dirty="0" err="1"/>
              <a:t>ob</a:t>
            </a:r>
            <a:r>
              <a:rPr dirty="0"/>
              <a:t> </a:t>
            </a:r>
            <a:r>
              <a:rPr dirty="0" err="1"/>
              <a:t>ein</a:t>
            </a:r>
            <a:r>
              <a:rPr dirty="0"/>
              <a:t> System den </a:t>
            </a:r>
            <a:r>
              <a:rPr dirty="0" err="1"/>
              <a:t>richtigen</a:t>
            </a:r>
            <a:r>
              <a:rPr dirty="0"/>
              <a:t> </a:t>
            </a:r>
            <a:r>
              <a:rPr dirty="0" err="1"/>
              <a:t>Erlass</a:t>
            </a:r>
            <a:r>
              <a:rPr dirty="0"/>
              <a:t> </a:t>
            </a:r>
            <a:r>
              <a:rPr dirty="0" err="1"/>
              <a:t>findet</a:t>
            </a:r>
            <a:r>
              <a:rPr dirty="0"/>
              <a:t>,</a:t>
            </a:r>
            <a:endParaRPr lang="de-DE" dirty="0"/>
          </a:p>
          <a:p>
            <a:pPr lvl="1"/>
            <a:r>
              <a:rPr dirty="0" err="1"/>
              <a:t>ob</a:t>
            </a:r>
            <a:r>
              <a:rPr dirty="0"/>
              <a:t> es </a:t>
            </a:r>
            <a:r>
              <a:rPr dirty="0" err="1"/>
              <a:t>Quellen</a:t>
            </a:r>
            <a:r>
              <a:rPr dirty="0"/>
              <a:t> </a:t>
            </a:r>
            <a:r>
              <a:rPr dirty="0" err="1"/>
              <a:t>nennt</a:t>
            </a:r>
            <a:r>
              <a:rPr dirty="0"/>
              <a:t> </a:t>
            </a:r>
            <a:endParaRPr lang="de-DE" dirty="0"/>
          </a:p>
          <a:p>
            <a:pPr lvl="1"/>
            <a:r>
              <a:rPr dirty="0"/>
              <a:t>und </a:t>
            </a:r>
            <a:r>
              <a:rPr dirty="0" err="1"/>
              <a:t>wie</a:t>
            </a:r>
            <a:r>
              <a:rPr dirty="0"/>
              <a:t> </a:t>
            </a:r>
            <a:r>
              <a:rPr dirty="0" err="1"/>
              <a:t>viel</a:t>
            </a:r>
            <a:r>
              <a:rPr dirty="0"/>
              <a:t> </a:t>
            </a:r>
            <a:r>
              <a:rPr dirty="0" err="1"/>
              <a:t>Kontext</a:t>
            </a:r>
            <a:r>
              <a:rPr dirty="0"/>
              <a:t> es </a:t>
            </a:r>
            <a:r>
              <a:rPr dirty="0" err="1"/>
              <a:t>dafür</a:t>
            </a:r>
            <a:r>
              <a:rPr dirty="0"/>
              <a:t> </a:t>
            </a:r>
            <a:r>
              <a:rPr dirty="0" err="1"/>
              <a:t>benötigt</a:t>
            </a:r>
            <a:r>
              <a:rPr dirty="0"/>
              <a:t>. </a:t>
            </a:r>
            <a:endParaRPr lang="de-DE" dirty="0"/>
          </a:p>
          <a:p>
            <a:pPr marL="216000" lvl="1" indent="0">
              <a:buNone/>
            </a:pPr>
            <a:r>
              <a:rPr dirty="0"/>
              <a:t>Am Ende </a:t>
            </a:r>
            <a:r>
              <a:rPr dirty="0" err="1"/>
              <a:t>sollt</a:t>
            </a:r>
            <a:r>
              <a:rPr dirty="0"/>
              <a:t> </a:t>
            </a:r>
            <a:r>
              <a:rPr dirty="0" err="1"/>
              <a:t>ihr</a:t>
            </a:r>
            <a:r>
              <a:rPr dirty="0"/>
              <a:t> die </a:t>
            </a:r>
            <a:r>
              <a:rPr dirty="0" err="1"/>
              <a:t>wichtigsten</a:t>
            </a:r>
            <a:r>
              <a:rPr dirty="0"/>
              <a:t> </a:t>
            </a:r>
            <a:r>
              <a:rPr dirty="0" err="1"/>
              <a:t>Qualitätshebel</a:t>
            </a:r>
            <a:r>
              <a:rPr dirty="0"/>
              <a:t> – Chunking, Retrieval, Reranking und Evaluation – </a:t>
            </a:r>
            <a:r>
              <a:rPr dirty="0" err="1"/>
              <a:t>bewusst</a:t>
            </a:r>
            <a:r>
              <a:rPr dirty="0"/>
              <a:t> </a:t>
            </a:r>
            <a:r>
              <a:rPr lang="de-DE" dirty="0"/>
              <a:t>einsetzen</a:t>
            </a:r>
            <a:r>
              <a:rPr dirty="0"/>
              <a:t> </a:t>
            </a:r>
            <a:r>
              <a:rPr dirty="0" err="1"/>
              <a:t>können</a:t>
            </a:r>
            <a:r>
              <a:rPr dirty="0"/>
              <a:t>.</a:t>
            </a:r>
          </a:p>
          <a:p>
            <a:pPr marL="0" indent="0">
              <a:buNone/>
            </a:pPr>
            <a:endParaRPr dirty="0"/>
          </a:p>
          <a:p>
            <a:r>
              <a:rPr dirty="0" err="1"/>
              <a:t>Übergang</a:t>
            </a:r>
            <a:r>
              <a:rPr dirty="0"/>
              <a:t>: </a:t>
            </a:r>
            <a:r>
              <a:rPr dirty="0" err="1"/>
              <a:t>Schauen</a:t>
            </a:r>
            <a:r>
              <a:rPr dirty="0"/>
              <a:t> </a:t>
            </a:r>
            <a:r>
              <a:rPr dirty="0" err="1"/>
              <a:t>wir</a:t>
            </a:r>
            <a:r>
              <a:rPr dirty="0"/>
              <a:t> </a:t>
            </a:r>
            <a:r>
              <a:rPr dirty="0" err="1"/>
              <a:t>zuerst</a:t>
            </a:r>
            <a:r>
              <a:rPr dirty="0"/>
              <a:t> auf den </a:t>
            </a:r>
            <a:r>
              <a:rPr dirty="0" err="1"/>
              <a:t>Ablauf</a:t>
            </a:r>
            <a:r>
              <a:rPr dirty="0"/>
              <a:t> und das Ziel der </a:t>
            </a:r>
            <a:r>
              <a:rPr dirty="0" err="1"/>
              <a:t>kommenden</a:t>
            </a:r>
            <a:r>
              <a:rPr dirty="0"/>
              <a:t>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endParaRPr dirty="0"/>
          </a:p>
          <a:p>
            <a:r>
              <a:rPr dirty="0" err="1"/>
              <a:t>Zuerst</a:t>
            </a:r>
            <a:r>
              <a:rPr dirty="0"/>
              <a:t> </a:t>
            </a:r>
            <a:r>
              <a:rPr dirty="0" err="1"/>
              <a:t>klären</a:t>
            </a:r>
            <a:r>
              <a:rPr dirty="0"/>
              <a:t> </a:t>
            </a:r>
            <a:r>
              <a:rPr dirty="0" err="1"/>
              <a:t>wir</a:t>
            </a:r>
            <a:r>
              <a:rPr dirty="0"/>
              <a:t>, welches Problem</a:t>
            </a:r>
            <a:r>
              <a:rPr lang="de-DE" dirty="0"/>
              <a:t> ein</a:t>
            </a:r>
            <a:r>
              <a:rPr dirty="0"/>
              <a:t> RAG </a:t>
            </a:r>
            <a:r>
              <a:rPr dirty="0" err="1"/>
              <a:t>löst</a:t>
            </a:r>
            <a:r>
              <a:rPr dirty="0"/>
              <a:t>. </a:t>
            </a:r>
            <a:endParaRPr lang="de-DE" dirty="0"/>
          </a:p>
          <a:p>
            <a:r>
              <a:rPr dirty="0" err="1"/>
              <a:t>Danach</a:t>
            </a:r>
            <a:r>
              <a:rPr dirty="0"/>
              <a:t> </a:t>
            </a:r>
            <a:r>
              <a:rPr dirty="0" err="1"/>
              <a:t>bauen</a:t>
            </a:r>
            <a:r>
              <a:rPr dirty="0"/>
              <a:t> </a:t>
            </a:r>
            <a:r>
              <a:rPr dirty="0" err="1"/>
              <a:t>wir</a:t>
            </a:r>
            <a:r>
              <a:rPr dirty="0"/>
              <a:t> </a:t>
            </a:r>
            <a:r>
              <a:rPr dirty="0" err="1"/>
              <a:t>eine</a:t>
            </a:r>
            <a:r>
              <a:rPr dirty="0"/>
              <a:t> </a:t>
            </a:r>
            <a:r>
              <a:rPr dirty="0" err="1"/>
              <a:t>einfache</a:t>
            </a:r>
            <a:r>
              <a:rPr dirty="0"/>
              <a:t> Pipeline, </a:t>
            </a:r>
            <a:r>
              <a:rPr dirty="0" err="1"/>
              <a:t>verbessern</a:t>
            </a:r>
            <a:r>
              <a:rPr dirty="0"/>
              <a:t> das Chunking, </a:t>
            </a:r>
            <a:r>
              <a:rPr dirty="0" err="1"/>
              <a:t>ergänzen</a:t>
            </a:r>
            <a:r>
              <a:rPr dirty="0"/>
              <a:t> Reranking und </a:t>
            </a:r>
            <a:r>
              <a:rPr dirty="0" err="1"/>
              <a:t>schließlich</a:t>
            </a:r>
            <a:r>
              <a:rPr dirty="0"/>
              <a:t> </a:t>
            </a:r>
            <a:r>
              <a:rPr dirty="0" err="1"/>
              <a:t>GraphRAG</a:t>
            </a:r>
            <a:r>
              <a:rPr dirty="0"/>
              <a:t>. </a:t>
            </a:r>
            <a:endParaRPr lang="de-DE" dirty="0"/>
          </a:p>
          <a:p>
            <a:r>
              <a:rPr dirty="0"/>
              <a:t>Die Evaluation </a:t>
            </a:r>
            <a:r>
              <a:rPr dirty="0" err="1"/>
              <a:t>läuft</a:t>
            </a:r>
            <a:r>
              <a:rPr dirty="0"/>
              <a:t> nicht </a:t>
            </a:r>
            <a:r>
              <a:rPr dirty="0" err="1"/>
              <a:t>nur</a:t>
            </a:r>
            <a:r>
              <a:rPr dirty="0"/>
              <a:t> am Ende: Sie </a:t>
            </a:r>
            <a:r>
              <a:rPr dirty="0" err="1"/>
              <a:t>begleitet</a:t>
            </a:r>
            <a:r>
              <a:rPr dirty="0"/>
              <a:t> </a:t>
            </a:r>
            <a:r>
              <a:rPr dirty="0" err="1"/>
              <a:t>jede</a:t>
            </a:r>
            <a:r>
              <a:rPr dirty="0"/>
              <a:t> </a:t>
            </a:r>
            <a:r>
              <a:rPr dirty="0" err="1"/>
              <a:t>Stufe</a:t>
            </a:r>
            <a:r>
              <a:rPr dirty="0"/>
              <a:t>, </a:t>
            </a:r>
            <a:r>
              <a:rPr dirty="0" err="1"/>
              <a:t>damit</a:t>
            </a:r>
            <a:r>
              <a:rPr dirty="0"/>
              <a:t> </a:t>
            </a:r>
            <a:r>
              <a:rPr dirty="0" err="1"/>
              <a:t>wir</a:t>
            </a:r>
            <a:r>
              <a:rPr dirty="0"/>
              <a:t> </a:t>
            </a:r>
            <a:r>
              <a:rPr dirty="0" err="1"/>
              <a:t>sehen</a:t>
            </a:r>
            <a:r>
              <a:rPr dirty="0"/>
              <a:t>, </a:t>
            </a:r>
            <a:r>
              <a:rPr dirty="0" err="1"/>
              <a:t>welche</a:t>
            </a:r>
            <a:r>
              <a:rPr dirty="0"/>
              <a:t> </a:t>
            </a:r>
            <a:r>
              <a:rPr dirty="0" err="1"/>
              <a:t>Änderung</a:t>
            </a:r>
            <a:r>
              <a:rPr dirty="0"/>
              <a:t> </a:t>
            </a:r>
            <a:r>
              <a:rPr dirty="0" err="1"/>
              <a:t>tatsächlich</a:t>
            </a:r>
            <a:r>
              <a:rPr dirty="0"/>
              <a:t> </a:t>
            </a:r>
            <a:r>
              <a:rPr dirty="0" err="1"/>
              <a:t>einen</a:t>
            </a:r>
            <a:r>
              <a:rPr dirty="0"/>
              <a:t> </a:t>
            </a:r>
            <a:r>
              <a:rPr dirty="0" err="1"/>
              <a:t>messbaren</a:t>
            </a:r>
            <a:r>
              <a:rPr dirty="0"/>
              <a:t> </a:t>
            </a:r>
            <a:r>
              <a:rPr dirty="0" err="1"/>
              <a:t>Effekt</a:t>
            </a:r>
            <a:r>
              <a:rPr dirty="0"/>
              <a:t> hat.</a:t>
            </a:r>
          </a:p>
          <a:p>
            <a:endParaRPr dirty="0"/>
          </a:p>
          <a:p>
            <a:r>
              <a:rPr dirty="0" err="1"/>
              <a:t>Publikumsfrage</a:t>
            </a:r>
            <a:r>
              <a:rPr dirty="0"/>
              <a:t>: </a:t>
            </a:r>
            <a:r>
              <a:rPr dirty="0" err="1"/>
              <a:t>Wer</a:t>
            </a:r>
            <a:r>
              <a:rPr dirty="0"/>
              <a:t> hat </a:t>
            </a:r>
            <a:r>
              <a:rPr dirty="0" err="1"/>
              <a:t>bereits</a:t>
            </a:r>
            <a:r>
              <a:rPr dirty="0"/>
              <a:t> </a:t>
            </a:r>
            <a:r>
              <a:rPr dirty="0" err="1"/>
              <a:t>selbst</a:t>
            </a:r>
            <a:r>
              <a:rPr dirty="0"/>
              <a:t> </a:t>
            </a:r>
            <a:r>
              <a:rPr dirty="0" err="1"/>
              <a:t>ein</a:t>
            </a:r>
            <a:r>
              <a:rPr dirty="0"/>
              <a:t> RAG-System </a:t>
            </a:r>
            <a:r>
              <a:rPr dirty="0" err="1"/>
              <a:t>gebaut</a:t>
            </a:r>
            <a:r>
              <a:rPr dirty="0"/>
              <a:t> </a:t>
            </a:r>
            <a:r>
              <a:rPr dirty="0" err="1"/>
              <a:t>oder</a:t>
            </a:r>
            <a:r>
              <a:rPr dirty="0"/>
              <a:t> </a:t>
            </a:r>
            <a:r>
              <a:rPr dirty="0" err="1"/>
              <a:t>eine</a:t>
            </a:r>
            <a:r>
              <a:rPr dirty="0"/>
              <a:t> </a:t>
            </a:r>
            <a:r>
              <a:rPr dirty="0" err="1"/>
              <a:t>Vektordatenbank</a:t>
            </a:r>
            <a:r>
              <a:rPr dirty="0"/>
              <a:t> </a:t>
            </a:r>
            <a:r>
              <a:rPr dirty="0" err="1"/>
              <a:t>verwendet</a:t>
            </a:r>
            <a:r>
              <a:rPr dirty="0"/>
              <a:t>?</a:t>
            </a:r>
            <a:endParaRPr lang="de-DE" dirty="0"/>
          </a:p>
          <a:p>
            <a:endParaRPr lang="de-DE" dirty="0"/>
          </a:p>
          <a:p>
            <a:r>
              <a:rPr lang="de-DE" dirty="0"/>
              <a:t>Übergang: Dann schauen wir noch kurz auf die Dinge, die ihr heute mitnehmen könnt:</a:t>
            </a:r>
          </a:p>
          <a:p>
            <a:endParaRPr lang="de-DE" dirty="0"/>
          </a:p>
          <a:p>
            <a:endParaRPr dirty="0"/>
          </a:p>
          <a:p>
            <a:pPr marL="0" indent="0">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81088" y="617538"/>
            <a:ext cx="4695825" cy="2641600"/>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042C5124-4C40-4574-A599-2A4750070F64}" type="slidenum">
              <a:rPr lang="de-DE" smtClean="0"/>
              <a:pPr/>
              <a:t>3</a:t>
            </a:fld>
            <a:endParaRPr lang="de-DE"/>
          </a:p>
        </p:txBody>
      </p:sp>
    </p:spTree>
    <p:extLst>
      <p:ext uri="{BB962C8B-B14F-4D97-AF65-F5344CB8AC3E}">
        <p14:creationId xmlns:p14="http://schemas.microsoft.com/office/powerpoint/2010/main" val="22980342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rPr dirty="0" err="1"/>
              <a:t>Kernbotschaft</a:t>
            </a:r>
            <a:r>
              <a:rPr dirty="0"/>
              <a:t>: RAG, MCP, Skills und </a:t>
            </a:r>
            <a:r>
              <a:rPr dirty="0" err="1"/>
              <a:t>große</a:t>
            </a:r>
            <a:r>
              <a:rPr dirty="0"/>
              <a:t> </a:t>
            </a:r>
            <a:r>
              <a:rPr dirty="0" err="1"/>
              <a:t>Kontextfenster</a:t>
            </a:r>
            <a:r>
              <a:rPr dirty="0"/>
              <a:t> </a:t>
            </a:r>
            <a:r>
              <a:rPr dirty="0" err="1"/>
              <a:t>lösen</a:t>
            </a:r>
            <a:r>
              <a:rPr dirty="0"/>
              <a:t> </a:t>
            </a:r>
            <a:r>
              <a:rPr dirty="0" err="1"/>
              <a:t>unterschiedliche</a:t>
            </a:r>
            <a:r>
              <a:rPr dirty="0"/>
              <a:t> </a:t>
            </a:r>
            <a:r>
              <a:rPr dirty="0" err="1"/>
              <a:t>Aufgaben</a:t>
            </a:r>
            <a:r>
              <a:rPr dirty="0"/>
              <a:t> </a:t>
            </a:r>
            <a:r>
              <a:rPr dirty="0" err="1"/>
              <a:t>im</a:t>
            </a:r>
            <a:r>
              <a:rPr dirty="0"/>
              <a:t> Context Engineering.</a:t>
            </a:r>
          </a:p>
          <a:p>
            <a:endParaRPr dirty="0"/>
          </a:p>
          <a:p>
            <a:r>
              <a:rPr dirty="0" err="1"/>
              <a:t>Sprechtext</a:t>
            </a:r>
            <a:r>
              <a:rPr dirty="0"/>
              <a:t>: RAG </a:t>
            </a:r>
            <a:r>
              <a:rPr dirty="0" err="1"/>
              <a:t>ruft</a:t>
            </a:r>
            <a:r>
              <a:rPr dirty="0"/>
              <a:t> </a:t>
            </a:r>
            <a:r>
              <a:rPr dirty="0" err="1"/>
              <a:t>relevante</a:t>
            </a:r>
            <a:r>
              <a:rPr dirty="0"/>
              <a:t> </a:t>
            </a:r>
            <a:r>
              <a:rPr dirty="0" err="1"/>
              <a:t>Dokument</a:t>
            </a:r>
            <a:r>
              <a:rPr dirty="0"/>
              <a:t>-Chunks </a:t>
            </a:r>
            <a:r>
              <a:rPr dirty="0" err="1"/>
              <a:t>bei</a:t>
            </a:r>
            <a:r>
              <a:rPr dirty="0"/>
              <a:t> </a:t>
            </a:r>
            <a:r>
              <a:rPr dirty="0" err="1"/>
              <a:t>Bedarf</a:t>
            </a:r>
            <a:r>
              <a:rPr dirty="0"/>
              <a:t> ab. MCP </a:t>
            </a:r>
            <a:r>
              <a:rPr dirty="0" err="1"/>
              <a:t>macht</a:t>
            </a:r>
            <a:r>
              <a:rPr dirty="0"/>
              <a:t> </a:t>
            </a:r>
            <a:r>
              <a:rPr dirty="0" err="1"/>
              <a:t>Datenquellen</a:t>
            </a:r>
            <a:r>
              <a:rPr dirty="0"/>
              <a:t> </a:t>
            </a:r>
            <a:r>
              <a:rPr dirty="0" err="1"/>
              <a:t>oder</a:t>
            </a:r>
            <a:r>
              <a:rPr dirty="0"/>
              <a:t> </a:t>
            </a:r>
            <a:r>
              <a:rPr dirty="0" err="1"/>
              <a:t>Aktionen</a:t>
            </a:r>
            <a:r>
              <a:rPr dirty="0"/>
              <a:t> </a:t>
            </a:r>
            <a:r>
              <a:rPr dirty="0" err="1"/>
              <a:t>über</a:t>
            </a:r>
            <a:r>
              <a:rPr dirty="0"/>
              <a:t> </a:t>
            </a:r>
            <a:r>
              <a:rPr dirty="0" err="1"/>
              <a:t>standardisierte</a:t>
            </a:r>
            <a:r>
              <a:rPr dirty="0"/>
              <a:t> </a:t>
            </a:r>
            <a:r>
              <a:rPr dirty="0" err="1"/>
              <a:t>Connectoren</a:t>
            </a:r>
            <a:r>
              <a:rPr dirty="0"/>
              <a:t> </a:t>
            </a:r>
            <a:r>
              <a:rPr dirty="0" err="1"/>
              <a:t>verfügbar</a:t>
            </a:r>
            <a:r>
              <a:rPr dirty="0"/>
              <a:t>. Skills </a:t>
            </a:r>
            <a:r>
              <a:rPr dirty="0" err="1"/>
              <a:t>bündeln</a:t>
            </a:r>
            <a:r>
              <a:rPr dirty="0"/>
              <a:t> </a:t>
            </a:r>
            <a:r>
              <a:rPr dirty="0" err="1"/>
              <a:t>spezialisierte</a:t>
            </a:r>
            <a:r>
              <a:rPr dirty="0"/>
              <a:t> </a:t>
            </a:r>
            <a:r>
              <a:rPr dirty="0" err="1"/>
              <a:t>Anweisungen</a:t>
            </a:r>
            <a:r>
              <a:rPr dirty="0"/>
              <a:t> und </a:t>
            </a:r>
            <a:r>
              <a:rPr dirty="0" err="1"/>
              <a:t>Arbeitsabläufe</a:t>
            </a:r>
            <a:r>
              <a:rPr dirty="0"/>
              <a:t>, die </a:t>
            </a:r>
            <a:r>
              <a:rPr dirty="0" err="1"/>
              <a:t>nur</a:t>
            </a:r>
            <a:r>
              <a:rPr dirty="0"/>
              <a:t> </a:t>
            </a:r>
            <a:r>
              <a:rPr dirty="0" err="1"/>
              <a:t>bei</a:t>
            </a:r>
            <a:r>
              <a:rPr dirty="0"/>
              <a:t> </a:t>
            </a:r>
            <a:r>
              <a:rPr dirty="0" err="1"/>
              <a:t>Bedarf</a:t>
            </a:r>
            <a:r>
              <a:rPr dirty="0"/>
              <a:t> </a:t>
            </a:r>
            <a:r>
              <a:rPr dirty="0" err="1"/>
              <a:t>geladen</a:t>
            </a:r>
            <a:r>
              <a:rPr dirty="0"/>
              <a:t> </a:t>
            </a:r>
            <a:r>
              <a:rPr dirty="0" err="1"/>
              <a:t>werden</a:t>
            </a:r>
            <a:r>
              <a:rPr dirty="0"/>
              <a:t>. Ein </a:t>
            </a:r>
            <a:r>
              <a:rPr dirty="0" err="1"/>
              <a:t>großes</a:t>
            </a:r>
            <a:r>
              <a:rPr dirty="0"/>
              <a:t> </a:t>
            </a:r>
            <a:r>
              <a:rPr dirty="0" err="1"/>
              <a:t>Kontextfenster</a:t>
            </a:r>
            <a:r>
              <a:rPr dirty="0"/>
              <a:t> </a:t>
            </a:r>
            <a:r>
              <a:rPr dirty="0" err="1"/>
              <a:t>kann</a:t>
            </a:r>
            <a:r>
              <a:rPr dirty="0"/>
              <a:t> </a:t>
            </a:r>
            <a:r>
              <a:rPr dirty="0" err="1"/>
              <a:t>viel</a:t>
            </a:r>
            <a:r>
              <a:rPr dirty="0"/>
              <a:t> Material </a:t>
            </a:r>
            <a:r>
              <a:rPr dirty="0" err="1"/>
              <a:t>direkt</a:t>
            </a:r>
            <a:r>
              <a:rPr dirty="0"/>
              <a:t> </a:t>
            </a:r>
            <a:r>
              <a:rPr dirty="0" err="1"/>
              <a:t>aufnehmen</a:t>
            </a:r>
            <a:r>
              <a:rPr dirty="0"/>
              <a:t>, </a:t>
            </a:r>
            <a:r>
              <a:rPr dirty="0" err="1"/>
              <a:t>ist</a:t>
            </a:r>
            <a:r>
              <a:rPr dirty="0"/>
              <a:t> </a:t>
            </a:r>
            <a:r>
              <a:rPr dirty="0" err="1"/>
              <a:t>aber</a:t>
            </a:r>
            <a:r>
              <a:rPr dirty="0"/>
              <a:t> </a:t>
            </a:r>
            <a:r>
              <a:rPr dirty="0" err="1"/>
              <a:t>häufig</a:t>
            </a:r>
            <a:r>
              <a:rPr dirty="0"/>
              <a:t> die </a:t>
            </a:r>
            <a:r>
              <a:rPr dirty="0" err="1"/>
              <a:t>teuerste</a:t>
            </a:r>
            <a:r>
              <a:rPr dirty="0"/>
              <a:t> und </a:t>
            </a:r>
            <a:r>
              <a:rPr dirty="0" err="1"/>
              <a:t>unpräziseste</a:t>
            </a:r>
            <a:r>
              <a:rPr dirty="0"/>
              <a:t> Brute-Force-</a:t>
            </a:r>
            <a:r>
              <a:rPr dirty="0" err="1"/>
              <a:t>Variante</a:t>
            </a:r>
            <a:r>
              <a:rPr dirty="0"/>
              <a:t>.</a:t>
            </a:r>
          </a:p>
          <a:p>
            <a:endParaRPr dirty="0"/>
          </a:p>
          <a:p>
            <a:r>
              <a:rPr dirty="0" err="1"/>
              <a:t>Wichtig</a:t>
            </a:r>
            <a:r>
              <a:rPr dirty="0"/>
              <a:t>: Ein Skill </a:t>
            </a:r>
            <a:r>
              <a:rPr dirty="0" err="1"/>
              <a:t>ist</a:t>
            </a:r>
            <a:r>
              <a:rPr dirty="0"/>
              <a:t> nicht </a:t>
            </a:r>
            <a:r>
              <a:rPr dirty="0" err="1"/>
              <a:t>einfach</a:t>
            </a:r>
            <a:r>
              <a:rPr dirty="0"/>
              <a:t> </a:t>
            </a:r>
            <a:r>
              <a:rPr dirty="0" err="1"/>
              <a:t>eine</a:t>
            </a:r>
            <a:r>
              <a:rPr dirty="0"/>
              <a:t> </a:t>
            </a:r>
            <a:r>
              <a:rPr dirty="0" err="1"/>
              <a:t>Wissensdatenbank</a:t>
            </a:r>
            <a:r>
              <a:rPr dirty="0"/>
              <a:t>. Er </a:t>
            </a:r>
            <a:r>
              <a:rPr dirty="0" err="1"/>
              <a:t>beschreibt</a:t>
            </a:r>
            <a:r>
              <a:rPr dirty="0"/>
              <a:t> </a:t>
            </a:r>
            <a:r>
              <a:rPr dirty="0" err="1"/>
              <a:t>vor</a:t>
            </a:r>
            <a:r>
              <a:rPr dirty="0"/>
              <a:t> </a:t>
            </a:r>
            <a:r>
              <a:rPr dirty="0" err="1"/>
              <a:t>allem</a:t>
            </a:r>
            <a:r>
              <a:rPr dirty="0"/>
              <a:t>, </a:t>
            </a:r>
            <a:r>
              <a:rPr dirty="0" err="1"/>
              <a:t>wie</a:t>
            </a:r>
            <a:r>
              <a:rPr dirty="0"/>
              <a:t> </a:t>
            </a:r>
            <a:r>
              <a:rPr dirty="0" err="1"/>
              <a:t>eine</a:t>
            </a:r>
            <a:r>
              <a:rPr dirty="0"/>
              <a:t> Aufgabe </a:t>
            </a:r>
            <a:r>
              <a:rPr dirty="0" err="1"/>
              <a:t>ausgeführt</a:t>
            </a:r>
            <a:r>
              <a:rPr dirty="0"/>
              <a:t> </a:t>
            </a:r>
            <a:r>
              <a:rPr dirty="0" err="1"/>
              <a:t>werden</a:t>
            </a:r>
            <a:r>
              <a:rPr dirty="0"/>
              <a:t> </a:t>
            </a:r>
            <a:r>
              <a:rPr dirty="0" err="1"/>
              <a:t>soll</a:t>
            </a:r>
            <a:r>
              <a:rPr dirty="0"/>
              <a:t>; RAG </a:t>
            </a:r>
            <a:r>
              <a:rPr dirty="0" err="1"/>
              <a:t>liefert</a:t>
            </a:r>
            <a:r>
              <a:rPr dirty="0"/>
              <a:t> </a:t>
            </a:r>
            <a:r>
              <a:rPr dirty="0" err="1"/>
              <a:t>dagegen</a:t>
            </a:r>
            <a:r>
              <a:rPr dirty="0"/>
              <a:t> die </a:t>
            </a:r>
            <a:r>
              <a:rPr dirty="0" err="1"/>
              <a:t>konkreten</a:t>
            </a:r>
            <a:r>
              <a:rPr dirty="0"/>
              <a:t> </a:t>
            </a:r>
            <a:r>
              <a:rPr dirty="0" err="1"/>
              <a:t>Dokumentinhalte</a:t>
            </a:r>
            <a:r>
              <a:rPr dirty="0"/>
              <a:t>.</a:t>
            </a:r>
          </a:p>
          <a:p>
            <a:pPr marL="0" indent="0">
              <a:buNone/>
            </a:pPr>
            <a:endParaRPr lang="de-DE" dirty="0"/>
          </a:p>
          <a:p>
            <a:pPr marL="0" indent="0">
              <a:buNone/>
            </a:pPr>
            <a:endParaRPr lang="de-DE" dirty="0"/>
          </a:p>
          <a:p>
            <a:pPr marL="0" indent="0">
              <a:buNone/>
            </a:pPr>
            <a:r>
              <a:rPr lang="de-DE" dirty="0"/>
              <a:t>Daniel wird uns jetzt den Aufbau eines Full RAGs zeigen:</a:t>
            </a:r>
            <a:endParaRPr lang="de-CH" dirty="0"/>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Chunking </a:t>
            </a:r>
            <a:r>
              <a:rPr dirty="0" err="1"/>
              <a:t>bestimmt</a:t>
            </a:r>
            <a:r>
              <a:rPr dirty="0"/>
              <a:t>, </a:t>
            </a:r>
            <a:r>
              <a:rPr dirty="0" err="1"/>
              <a:t>welche</a:t>
            </a:r>
            <a:r>
              <a:rPr dirty="0"/>
              <a:t> </a:t>
            </a:r>
            <a:r>
              <a:rPr dirty="0" err="1"/>
              <a:t>Bedeutungseinheiten</a:t>
            </a:r>
            <a:r>
              <a:rPr dirty="0"/>
              <a:t> </a:t>
            </a:r>
            <a:r>
              <a:rPr dirty="0" err="1"/>
              <a:t>später</a:t>
            </a:r>
            <a:r>
              <a:rPr dirty="0"/>
              <a:t> </a:t>
            </a:r>
            <a:r>
              <a:rPr dirty="0" err="1"/>
              <a:t>überhaupt</a:t>
            </a:r>
            <a:r>
              <a:rPr dirty="0"/>
              <a:t> </a:t>
            </a:r>
            <a:r>
              <a:rPr dirty="0" err="1"/>
              <a:t>als</a:t>
            </a:r>
            <a:r>
              <a:rPr dirty="0"/>
              <a:t> Treffer </a:t>
            </a:r>
            <a:r>
              <a:rPr dirty="0" err="1"/>
              <a:t>zurückkommen</a:t>
            </a:r>
            <a:r>
              <a:rPr dirty="0"/>
              <a:t> </a:t>
            </a:r>
            <a:r>
              <a:rPr dirty="0" err="1"/>
              <a:t>können</a:t>
            </a:r>
            <a:r>
              <a:rPr dirty="0"/>
              <a:t>.</a:t>
            </a:r>
          </a:p>
          <a:p>
            <a:endParaRPr dirty="0"/>
          </a:p>
          <a:p>
            <a:r>
              <a:rPr dirty="0" err="1"/>
              <a:t>Sprechtext</a:t>
            </a:r>
            <a:r>
              <a:rPr dirty="0"/>
              <a:t>: Links </a:t>
            </a:r>
            <a:r>
              <a:rPr dirty="0" err="1"/>
              <a:t>sehen</a:t>
            </a:r>
            <a:r>
              <a:rPr dirty="0"/>
              <a:t> </a:t>
            </a:r>
            <a:r>
              <a:rPr dirty="0" err="1"/>
              <a:t>wir</a:t>
            </a:r>
            <a:r>
              <a:rPr dirty="0"/>
              <a:t> Fixed-Size-Chunking </a:t>
            </a:r>
            <a:r>
              <a:rPr dirty="0" err="1"/>
              <a:t>mit</a:t>
            </a:r>
            <a:r>
              <a:rPr dirty="0"/>
              <a:t> </a:t>
            </a:r>
            <a:r>
              <a:rPr dirty="0" err="1"/>
              <a:t>einem</a:t>
            </a:r>
            <a:r>
              <a:rPr dirty="0"/>
              <a:t> </a:t>
            </a:r>
            <a:r>
              <a:rPr dirty="0" err="1"/>
              <a:t>starren</a:t>
            </a:r>
            <a:r>
              <a:rPr dirty="0"/>
              <a:t> Budget von 800 </a:t>
            </a:r>
            <a:r>
              <a:rPr dirty="0" err="1"/>
              <a:t>Zeichen</a:t>
            </a:r>
            <a:r>
              <a:rPr dirty="0"/>
              <a:t>. Die </a:t>
            </a:r>
            <a:r>
              <a:rPr dirty="0" err="1"/>
              <a:t>Grenze</a:t>
            </a:r>
            <a:r>
              <a:rPr dirty="0"/>
              <a:t> </a:t>
            </a:r>
            <a:r>
              <a:rPr dirty="0" err="1"/>
              <a:t>kann</a:t>
            </a:r>
            <a:r>
              <a:rPr dirty="0"/>
              <a:t> mitten in </a:t>
            </a:r>
            <a:r>
              <a:rPr dirty="0" err="1"/>
              <a:t>einem</a:t>
            </a:r>
            <a:r>
              <a:rPr dirty="0"/>
              <a:t> Satz </a:t>
            </a:r>
            <a:r>
              <a:rPr dirty="0" err="1"/>
              <a:t>oder</a:t>
            </a:r>
            <a:r>
              <a:rPr dirty="0"/>
              <a:t> </a:t>
            </a:r>
            <a:r>
              <a:rPr dirty="0" err="1"/>
              <a:t>direkt</a:t>
            </a:r>
            <a:r>
              <a:rPr dirty="0"/>
              <a:t> </a:t>
            </a:r>
            <a:r>
              <a:rPr dirty="0" err="1"/>
              <a:t>vor</a:t>
            </a:r>
            <a:r>
              <a:rPr dirty="0"/>
              <a:t> dem </a:t>
            </a:r>
            <a:r>
              <a:rPr dirty="0" err="1"/>
              <a:t>nächsten</a:t>
            </a:r>
            <a:r>
              <a:rPr dirty="0"/>
              <a:t> Artikel </a:t>
            </a:r>
            <a:r>
              <a:rPr dirty="0" err="1"/>
              <a:t>liegen</a:t>
            </a:r>
            <a:r>
              <a:rPr dirty="0"/>
              <a:t>. </a:t>
            </a:r>
            <a:r>
              <a:rPr dirty="0" err="1"/>
              <a:t>Dadurch</a:t>
            </a:r>
            <a:r>
              <a:rPr dirty="0"/>
              <a:t> </a:t>
            </a:r>
            <a:r>
              <a:rPr dirty="0" err="1"/>
              <a:t>verliert</a:t>
            </a:r>
            <a:r>
              <a:rPr dirty="0"/>
              <a:t> </a:t>
            </a:r>
            <a:r>
              <a:rPr dirty="0" err="1"/>
              <a:t>ein</a:t>
            </a:r>
            <a:r>
              <a:rPr dirty="0"/>
              <a:t> Treffer </a:t>
            </a:r>
            <a:r>
              <a:rPr dirty="0" err="1"/>
              <a:t>Kontext</a:t>
            </a:r>
            <a:r>
              <a:rPr dirty="0"/>
              <a:t> </a:t>
            </a:r>
            <a:r>
              <a:rPr dirty="0" err="1"/>
              <a:t>oder</a:t>
            </a:r>
            <a:r>
              <a:rPr dirty="0"/>
              <a:t> </a:t>
            </a:r>
            <a:r>
              <a:rPr dirty="0" err="1"/>
              <a:t>vermischt</a:t>
            </a:r>
            <a:r>
              <a:rPr dirty="0"/>
              <a:t> </a:t>
            </a:r>
            <a:r>
              <a:rPr dirty="0" err="1"/>
              <a:t>mehrere</a:t>
            </a:r>
            <a:r>
              <a:rPr dirty="0"/>
              <a:t> Artikel. </a:t>
            </a:r>
            <a:r>
              <a:rPr dirty="0" err="1"/>
              <a:t>Rechts</a:t>
            </a:r>
            <a:r>
              <a:rPr dirty="0"/>
              <a:t> </a:t>
            </a:r>
            <a:r>
              <a:rPr dirty="0" err="1"/>
              <a:t>orientiert</a:t>
            </a:r>
            <a:r>
              <a:rPr dirty="0"/>
              <a:t> </a:t>
            </a:r>
            <a:r>
              <a:rPr dirty="0" err="1"/>
              <a:t>sich</a:t>
            </a:r>
            <a:r>
              <a:rPr dirty="0"/>
              <a:t> </a:t>
            </a:r>
            <a:r>
              <a:rPr dirty="0" err="1"/>
              <a:t>unser</a:t>
            </a:r>
            <a:r>
              <a:rPr dirty="0"/>
              <a:t> </a:t>
            </a:r>
            <a:r>
              <a:rPr dirty="0" err="1"/>
              <a:t>verbessertes</a:t>
            </a:r>
            <a:r>
              <a:rPr dirty="0"/>
              <a:t> </a:t>
            </a:r>
            <a:r>
              <a:rPr dirty="0" err="1"/>
              <a:t>Verfahren</a:t>
            </a:r>
            <a:r>
              <a:rPr dirty="0"/>
              <a:t> </a:t>
            </a:r>
            <a:r>
              <a:rPr dirty="0" err="1"/>
              <a:t>primär</a:t>
            </a:r>
            <a:r>
              <a:rPr dirty="0"/>
              <a:t> an Markdown- und </a:t>
            </a:r>
            <a:r>
              <a:rPr dirty="0" err="1"/>
              <a:t>Artikelüberschriften</a:t>
            </a:r>
            <a:r>
              <a:rPr dirty="0"/>
              <a:t>. </a:t>
            </a:r>
            <a:r>
              <a:rPr dirty="0" err="1"/>
              <a:t>Übergroße</a:t>
            </a:r>
            <a:r>
              <a:rPr dirty="0"/>
              <a:t> Artikel </a:t>
            </a:r>
            <a:r>
              <a:rPr dirty="0" err="1"/>
              <a:t>werden</a:t>
            </a:r>
            <a:r>
              <a:rPr dirty="0"/>
              <a:t> </a:t>
            </a:r>
            <a:r>
              <a:rPr dirty="0" err="1"/>
              <a:t>zusätzlich</a:t>
            </a:r>
            <a:r>
              <a:rPr dirty="0"/>
              <a:t> an </a:t>
            </a:r>
            <a:r>
              <a:rPr dirty="0" err="1"/>
              <a:t>Satzgrenzen</a:t>
            </a:r>
            <a:r>
              <a:rPr dirty="0"/>
              <a:t> </a:t>
            </a:r>
            <a:r>
              <a:rPr dirty="0" err="1"/>
              <a:t>geteilt</a:t>
            </a:r>
            <a:r>
              <a:rPr dirty="0"/>
              <a:t>; </a:t>
            </a:r>
            <a:r>
              <a:rPr dirty="0" err="1"/>
              <a:t>kleine</a:t>
            </a:r>
            <a:r>
              <a:rPr dirty="0"/>
              <a:t> </a:t>
            </a:r>
            <a:r>
              <a:rPr dirty="0" err="1"/>
              <a:t>zusammengehörige</a:t>
            </a:r>
            <a:r>
              <a:rPr dirty="0"/>
              <a:t> </a:t>
            </a:r>
            <a:r>
              <a:rPr dirty="0" err="1"/>
              <a:t>Blöcke</a:t>
            </a:r>
            <a:r>
              <a:rPr dirty="0"/>
              <a:t> </a:t>
            </a:r>
            <a:r>
              <a:rPr dirty="0" err="1"/>
              <a:t>werden</a:t>
            </a:r>
            <a:r>
              <a:rPr dirty="0"/>
              <a:t> bis </a:t>
            </a:r>
            <a:r>
              <a:rPr dirty="0" err="1"/>
              <a:t>zum</a:t>
            </a:r>
            <a:r>
              <a:rPr dirty="0"/>
              <a:t> Budget </a:t>
            </a:r>
            <a:r>
              <a:rPr dirty="0" err="1"/>
              <a:t>verbunden</a:t>
            </a:r>
            <a:r>
              <a:rPr dirty="0"/>
              <a:t>.</a:t>
            </a:r>
          </a:p>
          <a:p>
            <a:endParaRPr dirty="0"/>
          </a:p>
          <a:p>
            <a:r>
              <a:rPr dirty="0" err="1"/>
              <a:t>Präzisierung</a:t>
            </a:r>
            <a:r>
              <a:rPr dirty="0"/>
              <a:t>: Unser Budget </a:t>
            </a:r>
            <a:r>
              <a:rPr dirty="0" err="1"/>
              <a:t>beträgt</a:t>
            </a:r>
            <a:r>
              <a:rPr dirty="0"/>
              <a:t> 800 </a:t>
            </a:r>
            <a:r>
              <a:rPr dirty="0" err="1"/>
              <a:t>Zeichen</a:t>
            </a:r>
            <a:r>
              <a:rPr dirty="0"/>
              <a:t>, nicht 800 Tokens. Das </a:t>
            </a:r>
            <a:r>
              <a:rPr dirty="0" err="1"/>
              <a:t>Verfahren</a:t>
            </a:r>
            <a:r>
              <a:rPr dirty="0"/>
              <a:t> </a:t>
            </a:r>
            <a:r>
              <a:rPr dirty="0" err="1"/>
              <a:t>ist</a:t>
            </a:r>
            <a:r>
              <a:rPr dirty="0"/>
              <a:t> </a:t>
            </a:r>
            <a:r>
              <a:rPr dirty="0" err="1"/>
              <a:t>deshalb</a:t>
            </a:r>
            <a:r>
              <a:rPr dirty="0"/>
              <a:t> </a:t>
            </a:r>
            <a:r>
              <a:rPr dirty="0" err="1"/>
              <a:t>besser</a:t>
            </a:r>
            <a:r>
              <a:rPr dirty="0"/>
              <a:t> </a:t>
            </a:r>
            <a:r>
              <a:rPr dirty="0" err="1"/>
              <a:t>als</a:t>
            </a:r>
            <a:r>
              <a:rPr dirty="0"/>
              <a:t> „</a:t>
            </a:r>
            <a:r>
              <a:rPr dirty="0" err="1"/>
              <a:t>strukturorientiertes</a:t>
            </a:r>
            <a:r>
              <a:rPr dirty="0"/>
              <a:t> Chunking“ </a:t>
            </a:r>
            <a:r>
              <a:rPr dirty="0" err="1"/>
              <a:t>beschrieben</a:t>
            </a:r>
            <a:r>
              <a:rPr dirty="0"/>
              <a:t>; es </a:t>
            </a:r>
            <a:r>
              <a:rPr dirty="0" err="1"/>
              <a:t>ist</a:t>
            </a:r>
            <a:r>
              <a:rPr dirty="0"/>
              <a:t> </a:t>
            </a:r>
            <a:r>
              <a:rPr dirty="0" err="1"/>
              <a:t>kein</a:t>
            </a:r>
            <a:r>
              <a:rPr dirty="0"/>
              <a:t> LLM-</a:t>
            </a:r>
            <a:r>
              <a:rPr dirty="0" err="1"/>
              <a:t>basiertes</a:t>
            </a:r>
            <a:r>
              <a:rPr dirty="0"/>
              <a:t> </a:t>
            </a:r>
            <a:r>
              <a:rPr dirty="0" err="1"/>
              <a:t>semantisches</a:t>
            </a:r>
            <a:r>
              <a:rPr dirty="0"/>
              <a:t> Chunking.</a:t>
            </a:r>
          </a:p>
          <a:p>
            <a:endParaRPr dirty="0"/>
          </a:p>
          <a:p>
            <a:r>
              <a:rPr dirty="0" err="1"/>
              <a:t>Zusätzlich</a:t>
            </a:r>
            <a:r>
              <a:rPr dirty="0"/>
              <a:t> </a:t>
            </a:r>
            <a:r>
              <a:rPr dirty="0" err="1"/>
              <a:t>entfernen</a:t>
            </a:r>
            <a:r>
              <a:rPr dirty="0"/>
              <a:t> </a:t>
            </a:r>
            <a:r>
              <a:rPr dirty="0" err="1"/>
              <a:t>wir</a:t>
            </a:r>
            <a:r>
              <a:rPr dirty="0"/>
              <a:t> </a:t>
            </a:r>
            <a:r>
              <a:rPr dirty="0" err="1"/>
              <a:t>typisches</a:t>
            </a:r>
            <a:r>
              <a:rPr dirty="0"/>
              <a:t> PDF-</a:t>
            </a:r>
            <a:r>
              <a:rPr dirty="0" err="1"/>
              <a:t>Rauschen</a:t>
            </a:r>
            <a:r>
              <a:rPr dirty="0"/>
              <a:t> </a:t>
            </a:r>
            <a:r>
              <a:rPr dirty="0" err="1"/>
              <a:t>wie</a:t>
            </a:r>
            <a:r>
              <a:rPr dirty="0"/>
              <a:t> </a:t>
            </a:r>
            <a:r>
              <a:rPr dirty="0" err="1"/>
              <a:t>Seitenmarker</a:t>
            </a:r>
            <a:r>
              <a:rPr dirty="0"/>
              <a:t>, </a:t>
            </a:r>
            <a:r>
              <a:rPr dirty="0" err="1"/>
              <a:t>Inhaltsverzeichnisse</a:t>
            </a:r>
            <a:r>
              <a:rPr dirty="0"/>
              <a:t> und </a:t>
            </a:r>
            <a:r>
              <a:rPr dirty="0" err="1"/>
              <a:t>isolierte</a:t>
            </a:r>
            <a:r>
              <a:rPr dirty="0"/>
              <a:t> </a:t>
            </a:r>
            <a:r>
              <a:rPr dirty="0" err="1"/>
              <a:t>Fundstellenblöcke</a:t>
            </a:r>
            <a:r>
              <a:rPr dirty="0"/>
              <a:t>. </a:t>
            </a:r>
            <a:r>
              <a:rPr dirty="0" err="1"/>
              <a:t>Quellen</a:t>
            </a:r>
            <a:r>
              <a:rPr dirty="0"/>
              <a:t>, die </a:t>
            </a:r>
            <a:r>
              <a:rPr dirty="0" err="1"/>
              <a:t>zum</a:t>
            </a:r>
            <a:r>
              <a:rPr dirty="0"/>
              <a:t> </a:t>
            </a:r>
            <a:r>
              <a:rPr dirty="0" err="1"/>
              <a:t>Gesetzesinhalt</a:t>
            </a:r>
            <a:r>
              <a:rPr dirty="0"/>
              <a:t> </a:t>
            </a:r>
            <a:r>
              <a:rPr dirty="0" err="1"/>
              <a:t>gehören</a:t>
            </a:r>
            <a:r>
              <a:rPr dirty="0"/>
              <a:t>, </a:t>
            </a:r>
            <a:r>
              <a:rPr dirty="0" err="1"/>
              <a:t>werden</a:t>
            </a:r>
            <a:r>
              <a:rPr dirty="0"/>
              <a:t> nicht </a:t>
            </a:r>
            <a:r>
              <a:rPr dirty="0" err="1"/>
              <a:t>pauschal</a:t>
            </a:r>
            <a:r>
              <a:rPr dirty="0"/>
              <a:t> </a:t>
            </a:r>
            <a:r>
              <a:rPr dirty="0" err="1"/>
              <a:t>gelöscht</a:t>
            </a:r>
            <a:r>
              <a:rPr dirty="0"/>
              <a:t>.</a:t>
            </a:r>
          </a:p>
          <a:p>
            <a:endParaRPr dirty="0"/>
          </a:p>
          <a:p>
            <a:pPr marL="0" indent="0">
              <a:buNone/>
            </a:pPr>
            <a:endParaRPr dirty="0"/>
          </a:p>
          <a:p>
            <a:r>
              <a:rPr dirty="0" err="1"/>
              <a:t>Übergang</a:t>
            </a:r>
            <a:r>
              <a:rPr dirty="0"/>
              <a:t>: Gute Chunks </a:t>
            </a:r>
            <a:r>
              <a:rPr dirty="0" err="1"/>
              <a:t>erzeugen</a:t>
            </a:r>
            <a:r>
              <a:rPr dirty="0"/>
              <a:t> </a:t>
            </a:r>
            <a:r>
              <a:rPr dirty="0" err="1"/>
              <a:t>bessere</a:t>
            </a:r>
            <a:r>
              <a:rPr dirty="0"/>
              <a:t> </a:t>
            </a:r>
            <a:r>
              <a:rPr dirty="0" err="1"/>
              <a:t>Kandidaten</a:t>
            </a:r>
            <a:r>
              <a:rPr dirty="0"/>
              <a:t>. Als </a:t>
            </a:r>
            <a:r>
              <a:rPr dirty="0" err="1"/>
              <a:t>Nächstes</a:t>
            </a:r>
            <a:r>
              <a:rPr dirty="0"/>
              <a:t> </a:t>
            </a:r>
            <a:r>
              <a:rPr dirty="0" err="1"/>
              <a:t>verbessern</a:t>
            </a:r>
            <a:r>
              <a:rPr dirty="0"/>
              <a:t> </a:t>
            </a:r>
            <a:r>
              <a:rPr dirty="0" err="1"/>
              <a:t>wir</a:t>
            </a:r>
            <a:r>
              <a:rPr dirty="0"/>
              <a:t> </a:t>
            </a:r>
            <a:r>
              <a:rPr dirty="0" err="1"/>
              <a:t>deren</a:t>
            </a:r>
            <a:r>
              <a:rPr dirty="0"/>
              <a:t> </a:t>
            </a:r>
            <a:r>
              <a:rPr dirty="0" err="1"/>
              <a:t>Reihenfolge</a:t>
            </a:r>
            <a:r>
              <a:rPr dirty="0"/>
              <a:t>.</a:t>
            </a:r>
          </a:p>
          <a:p>
            <a:endParaRPr dirty="0"/>
          </a:p>
          <a:p>
            <a:r>
              <a:rPr dirty="0"/>
              <a:t>[Sources]</a:t>
            </a:r>
          </a:p>
          <a:p>
            <a:r>
              <a:rPr dirty="0"/>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Reranking </a:t>
            </a:r>
            <a:r>
              <a:rPr dirty="0" err="1"/>
              <a:t>sortiert</a:t>
            </a:r>
            <a:r>
              <a:rPr dirty="0"/>
              <a:t> </a:t>
            </a:r>
            <a:r>
              <a:rPr dirty="0" err="1"/>
              <a:t>gefundene</a:t>
            </a:r>
            <a:r>
              <a:rPr dirty="0"/>
              <a:t> </a:t>
            </a:r>
            <a:r>
              <a:rPr dirty="0" err="1"/>
              <a:t>Kandidaten</a:t>
            </a:r>
            <a:r>
              <a:rPr dirty="0"/>
              <a:t> neu; es </a:t>
            </a:r>
            <a:r>
              <a:rPr dirty="0" err="1"/>
              <a:t>kann</a:t>
            </a:r>
            <a:r>
              <a:rPr dirty="0"/>
              <a:t> </a:t>
            </a:r>
            <a:r>
              <a:rPr dirty="0" err="1"/>
              <a:t>keinen</a:t>
            </a:r>
            <a:r>
              <a:rPr dirty="0"/>
              <a:t> </a:t>
            </a:r>
            <a:r>
              <a:rPr dirty="0" err="1"/>
              <a:t>fehlenden</a:t>
            </a:r>
            <a:r>
              <a:rPr dirty="0"/>
              <a:t> Artikel </a:t>
            </a:r>
            <a:r>
              <a:rPr dirty="0" err="1"/>
              <a:t>herbeizaubern</a:t>
            </a:r>
            <a:r>
              <a:rPr dirty="0"/>
              <a:t>.</a:t>
            </a:r>
          </a:p>
          <a:p>
            <a:endParaRPr dirty="0"/>
          </a:p>
          <a:p>
            <a:r>
              <a:rPr dirty="0" err="1"/>
              <a:t>Sprechtext</a:t>
            </a:r>
            <a:r>
              <a:rPr dirty="0"/>
              <a:t>: Die </a:t>
            </a:r>
            <a:r>
              <a:rPr dirty="0" err="1"/>
              <a:t>Vektorsuche</a:t>
            </a:r>
            <a:r>
              <a:rPr dirty="0"/>
              <a:t> holt </a:t>
            </a:r>
            <a:r>
              <a:rPr dirty="0" err="1"/>
              <a:t>zunächst</a:t>
            </a:r>
            <a:r>
              <a:rPr dirty="0"/>
              <a:t> </a:t>
            </a:r>
            <a:r>
              <a:rPr dirty="0" err="1"/>
              <a:t>eine</a:t>
            </a:r>
            <a:r>
              <a:rPr dirty="0"/>
              <a:t> </a:t>
            </a:r>
            <a:r>
              <a:rPr dirty="0" err="1"/>
              <a:t>größere</a:t>
            </a:r>
            <a:r>
              <a:rPr dirty="0"/>
              <a:t> </a:t>
            </a:r>
            <a:r>
              <a:rPr dirty="0" err="1"/>
              <a:t>Kandidatenmenge</a:t>
            </a:r>
            <a:r>
              <a:rPr dirty="0"/>
              <a:t>. Unser Cross-Encoder BAAI/bge-reranker-v2-m3 </a:t>
            </a:r>
            <a:r>
              <a:rPr dirty="0" err="1"/>
              <a:t>liest</a:t>
            </a:r>
            <a:r>
              <a:rPr dirty="0"/>
              <a:t> Frage und Chunk </a:t>
            </a:r>
            <a:r>
              <a:rPr dirty="0" err="1"/>
              <a:t>gemeinsam</a:t>
            </a:r>
            <a:r>
              <a:rPr dirty="0"/>
              <a:t> und </a:t>
            </a:r>
            <a:r>
              <a:rPr dirty="0" err="1"/>
              <a:t>bewertet</a:t>
            </a:r>
            <a:r>
              <a:rPr dirty="0"/>
              <a:t> </a:t>
            </a:r>
            <a:r>
              <a:rPr dirty="0" err="1"/>
              <a:t>ihre</a:t>
            </a:r>
            <a:r>
              <a:rPr dirty="0"/>
              <a:t> </a:t>
            </a:r>
            <a:r>
              <a:rPr dirty="0" err="1"/>
              <a:t>Relevanz</a:t>
            </a:r>
            <a:r>
              <a:rPr dirty="0"/>
              <a:t> </a:t>
            </a:r>
            <a:r>
              <a:rPr dirty="0" err="1"/>
              <a:t>genauer</a:t>
            </a:r>
            <a:r>
              <a:rPr dirty="0"/>
              <a:t> </a:t>
            </a:r>
            <a:r>
              <a:rPr dirty="0" err="1"/>
              <a:t>als</a:t>
            </a:r>
            <a:r>
              <a:rPr dirty="0"/>
              <a:t> der </a:t>
            </a:r>
            <a:r>
              <a:rPr dirty="0" err="1"/>
              <a:t>reine</a:t>
            </a:r>
            <a:r>
              <a:rPr dirty="0"/>
              <a:t> </a:t>
            </a:r>
            <a:r>
              <a:rPr dirty="0" err="1"/>
              <a:t>Vektorabstand</a:t>
            </a:r>
            <a:r>
              <a:rPr dirty="0"/>
              <a:t>. Für die Evaluation </a:t>
            </a:r>
            <a:r>
              <a:rPr dirty="0" err="1"/>
              <a:t>bleiben</a:t>
            </a:r>
            <a:r>
              <a:rPr dirty="0"/>
              <a:t> </a:t>
            </a:r>
            <a:r>
              <a:rPr dirty="0" err="1"/>
              <a:t>nach</a:t>
            </a:r>
            <a:r>
              <a:rPr dirty="0"/>
              <a:t> dem Reranking </a:t>
            </a:r>
            <a:r>
              <a:rPr dirty="0" err="1"/>
              <a:t>sechs</a:t>
            </a:r>
            <a:r>
              <a:rPr dirty="0"/>
              <a:t> Chunks </a:t>
            </a:r>
            <a:r>
              <a:rPr dirty="0" err="1"/>
              <a:t>im</a:t>
            </a:r>
            <a:r>
              <a:rPr dirty="0"/>
              <a:t> </a:t>
            </a:r>
            <a:r>
              <a:rPr dirty="0" err="1"/>
              <a:t>gemeinsamen</a:t>
            </a:r>
            <a:r>
              <a:rPr dirty="0"/>
              <a:t> </a:t>
            </a:r>
            <a:r>
              <a:rPr dirty="0" err="1"/>
              <a:t>Kontextbudget</a:t>
            </a:r>
            <a:r>
              <a:rPr dirty="0"/>
              <a:t>; der </a:t>
            </a:r>
            <a:r>
              <a:rPr dirty="0" err="1"/>
              <a:t>interaktive</a:t>
            </a:r>
            <a:r>
              <a:rPr dirty="0"/>
              <a:t> Chat </a:t>
            </a:r>
            <a:r>
              <a:rPr dirty="0" err="1"/>
              <a:t>verwendet</a:t>
            </a:r>
            <a:r>
              <a:rPr dirty="0"/>
              <a:t> </a:t>
            </a:r>
            <a:r>
              <a:rPr dirty="0" err="1"/>
              <a:t>standardmäßig</a:t>
            </a:r>
            <a:r>
              <a:rPr dirty="0"/>
              <a:t> vier.</a:t>
            </a:r>
          </a:p>
          <a:p>
            <a:endParaRPr dirty="0"/>
          </a:p>
          <a:p>
            <a:r>
              <a:rPr dirty="0"/>
              <a:t>Der </a:t>
            </a:r>
            <a:r>
              <a:rPr dirty="0" err="1"/>
              <a:t>wichtigste</a:t>
            </a:r>
            <a:r>
              <a:rPr dirty="0"/>
              <a:t> </a:t>
            </a:r>
            <a:r>
              <a:rPr dirty="0" err="1"/>
              <a:t>Unterschied</a:t>
            </a:r>
            <a:r>
              <a:rPr dirty="0"/>
              <a:t>: Ein Bi-Encoder </a:t>
            </a:r>
            <a:r>
              <a:rPr dirty="0" err="1"/>
              <a:t>berechnet</a:t>
            </a:r>
            <a:r>
              <a:rPr dirty="0"/>
              <a:t> </a:t>
            </a:r>
            <a:r>
              <a:rPr dirty="0" err="1"/>
              <a:t>Dokument</a:t>
            </a:r>
            <a:r>
              <a:rPr dirty="0"/>
              <a:t>- und Query-</a:t>
            </a:r>
            <a:r>
              <a:rPr dirty="0" err="1"/>
              <a:t>Vektoren</a:t>
            </a:r>
            <a:r>
              <a:rPr dirty="0"/>
              <a:t> </a:t>
            </a:r>
            <a:r>
              <a:rPr dirty="0" err="1"/>
              <a:t>getrennt</a:t>
            </a:r>
            <a:r>
              <a:rPr dirty="0"/>
              <a:t> und </a:t>
            </a:r>
            <a:r>
              <a:rPr dirty="0" err="1"/>
              <a:t>ist</a:t>
            </a:r>
            <a:r>
              <a:rPr dirty="0"/>
              <a:t> schnell. Ein Cross-Encoder </a:t>
            </a:r>
            <a:r>
              <a:rPr dirty="0" err="1"/>
              <a:t>betrachtet</a:t>
            </a:r>
            <a:r>
              <a:rPr dirty="0"/>
              <a:t> </a:t>
            </a:r>
            <a:r>
              <a:rPr dirty="0" err="1"/>
              <a:t>beide</a:t>
            </a:r>
            <a:r>
              <a:rPr dirty="0"/>
              <a:t> Texte </a:t>
            </a:r>
            <a:r>
              <a:rPr dirty="0" err="1"/>
              <a:t>gemeinsam</a:t>
            </a:r>
            <a:r>
              <a:rPr dirty="0"/>
              <a:t> und </a:t>
            </a:r>
            <a:r>
              <a:rPr dirty="0" err="1"/>
              <a:t>ist</a:t>
            </a:r>
            <a:r>
              <a:rPr dirty="0"/>
              <a:t> </a:t>
            </a:r>
            <a:r>
              <a:rPr dirty="0" err="1"/>
              <a:t>präziser</a:t>
            </a:r>
            <a:r>
              <a:rPr dirty="0"/>
              <a:t>, </a:t>
            </a:r>
            <a:r>
              <a:rPr dirty="0" err="1"/>
              <a:t>aber</a:t>
            </a:r>
            <a:r>
              <a:rPr dirty="0"/>
              <a:t> </a:t>
            </a:r>
            <a:r>
              <a:rPr dirty="0" err="1"/>
              <a:t>langsamer</a:t>
            </a:r>
            <a:r>
              <a:rPr dirty="0"/>
              <a:t>. </a:t>
            </a:r>
            <a:r>
              <a:rPr dirty="0" err="1"/>
              <a:t>Deshalb</a:t>
            </a:r>
            <a:r>
              <a:rPr dirty="0"/>
              <a:t> </a:t>
            </a:r>
            <a:r>
              <a:rPr dirty="0" err="1"/>
              <a:t>wird</a:t>
            </a:r>
            <a:r>
              <a:rPr dirty="0"/>
              <a:t> er erst auf </a:t>
            </a:r>
            <a:r>
              <a:rPr dirty="0" err="1"/>
              <a:t>einer</a:t>
            </a:r>
            <a:r>
              <a:rPr dirty="0"/>
              <a:t> </a:t>
            </a:r>
            <a:r>
              <a:rPr dirty="0" err="1"/>
              <a:t>kleinen</a:t>
            </a:r>
            <a:r>
              <a:rPr dirty="0"/>
              <a:t> </a:t>
            </a:r>
            <a:r>
              <a:rPr dirty="0" err="1"/>
              <a:t>Kandidatenliste</a:t>
            </a:r>
            <a:r>
              <a:rPr dirty="0"/>
              <a:t> </a:t>
            </a:r>
            <a:r>
              <a:rPr dirty="0" err="1"/>
              <a:t>eingesetzt</a:t>
            </a:r>
            <a:r>
              <a:rPr dirty="0"/>
              <a:t>.</a:t>
            </a:r>
          </a:p>
          <a:p>
            <a:endParaRPr dirty="0"/>
          </a:p>
          <a:p>
            <a:r>
              <a:rPr dirty="0" err="1"/>
              <a:t>Publikumsfrage</a:t>
            </a:r>
            <a:r>
              <a:rPr dirty="0"/>
              <a:t>: Was </a:t>
            </a:r>
            <a:r>
              <a:rPr dirty="0" err="1"/>
              <a:t>passiert</a:t>
            </a:r>
            <a:r>
              <a:rPr dirty="0"/>
              <a:t>, </a:t>
            </a:r>
            <a:r>
              <a:rPr dirty="0" err="1"/>
              <a:t>wenn</a:t>
            </a:r>
            <a:r>
              <a:rPr dirty="0"/>
              <a:t> Art</a:t>
            </a:r>
            <a:r>
              <a:rPr lang="de-DE" dirty="0"/>
              <a:t> 335 </a:t>
            </a:r>
            <a:r>
              <a:rPr dirty="0"/>
              <a:t>in den </a:t>
            </a:r>
            <a:r>
              <a:rPr dirty="0" err="1"/>
              <a:t>ersten</a:t>
            </a:r>
            <a:r>
              <a:rPr dirty="0"/>
              <a:t> </a:t>
            </a:r>
            <a:r>
              <a:rPr dirty="0" err="1"/>
              <a:t>Kandidaten</a:t>
            </a:r>
            <a:r>
              <a:rPr dirty="0"/>
              <a:t> </a:t>
            </a:r>
            <a:r>
              <a:rPr dirty="0" err="1"/>
              <a:t>überhaupt</a:t>
            </a:r>
            <a:r>
              <a:rPr dirty="0"/>
              <a:t> nicht </a:t>
            </a:r>
            <a:r>
              <a:rPr dirty="0" err="1"/>
              <a:t>enthalten</a:t>
            </a:r>
            <a:r>
              <a:rPr dirty="0"/>
              <a:t> </a:t>
            </a:r>
            <a:r>
              <a:rPr dirty="0" err="1"/>
              <a:t>ist</a:t>
            </a:r>
            <a:r>
              <a:rPr dirty="0"/>
              <a:t>?</a:t>
            </a:r>
          </a:p>
          <a:p>
            <a:endParaRPr dirty="0"/>
          </a:p>
          <a:p>
            <a:r>
              <a:rPr dirty="0" err="1"/>
              <a:t>Erwartete</a:t>
            </a:r>
            <a:r>
              <a:rPr dirty="0"/>
              <a:t> </a:t>
            </a:r>
            <a:r>
              <a:rPr dirty="0" err="1"/>
              <a:t>Antwort</a:t>
            </a:r>
            <a:r>
              <a:rPr dirty="0"/>
              <a:t>: Der </a:t>
            </a:r>
            <a:r>
              <a:rPr dirty="0" err="1"/>
              <a:t>Reranker</a:t>
            </a:r>
            <a:r>
              <a:rPr dirty="0"/>
              <a:t> </a:t>
            </a:r>
            <a:r>
              <a:rPr dirty="0" err="1"/>
              <a:t>kann</a:t>
            </a:r>
            <a:r>
              <a:rPr dirty="0"/>
              <a:t> </a:t>
            </a:r>
            <a:r>
              <a:rPr dirty="0" err="1"/>
              <a:t>ihn</a:t>
            </a:r>
            <a:r>
              <a:rPr dirty="0"/>
              <a:t> nicht </a:t>
            </a:r>
            <a:r>
              <a:rPr dirty="0" err="1"/>
              <a:t>auswählen</a:t>
            </a:r>
            <a:r>
              <a:rPr dirty="0"/>
              <a:t>; </a:t>
            </a:r>
            <a:r>
              <a:rPr dirty="0" err="1"/>
              <a:t>dafür</a:t>
            </a:r>
            <a:r>
              <a:rPr dirty="0"/>
              <a:t> </a:t>
            </a:r>
            <a:r>
              <a:rPr dirty="0" err="1"/>
              <a:t>brauchen</a:t>
            </a:r>
            <a:r>
              <a:rPr dirty="0"/>
              <a:t> </a:t>
            </a:r>
            <a:r>
              <a:rPr dirty="0" err="1"/>
              <a:t>wir</a:t>
            </a:r>
            <a:r>
              <a:rPr dirty="0"/>
              <a:t> </a:t>
            </a:r>
            <a:r>
              <a:rPr dirty="0" err="1"/>
              <a:t>besseren</a:t>
            </a:r>
            <a:r>
              <a:rPr dirty="0"/>
              <a:t> Recall </a:t>
            </a:r>
            <a:r>
              <a:rPr dirty="0" err="1"/>
              <a:t>im</a:t>
            </a:r>
            <a:r>
              <a:rPr dirty="0"/>
              <a:t> </a:t>
            </a:r>
            <a:r>
              <a:rPr dirty="0" err="1"/>
              <a:t>vorgelagerten</a:t>
            </a:r>
            <a:r>
              <a:rPr dirty="0"/>
              <a:t> Retrieval.</a:t>
            </a:r>
          </a:p>
          <a:p>
            <a:endParaRPr dirty="0"/>
          </a:p>
          <a:p>
            <a:r>
              <a:rPr dirty="0" err="1"/>
              <a:t>Übergang</a:t>
            </a:r>
            <a:r>
              <a:rPr dirty="0"/>
              <a:t>: </a:t>
            </a:r>
            <a:r>
              <a:rPr dirty="0" err="1"/>
              <a:t>Genau</a:t>
            </a:r>
            <a:r>
              <a:rPr dirty="0"/>
              <a:t> </a:t>
            </a:r>
            <a:r>
              <a:rPr dirty="0" err="1"/>
              <a:t>dort</a:t>
            </a:r>
            <a:r>
              <a:rPr dirty="0"/>
              <a:t> </a:t>
            </a:r>
            <a:r>
              <a:rPr dirty="0" err="1"/>
              <a:t>setzt</a:t>
            </a:r>
            <a:r>
              <a:rPr dirty="0"/>
              <a:t> die </a:t>
            </a:r>
            <a:r>
              <a:rPr dirty="0" err="1"/>
              <a:t>hybride</a:t>
            </a:r>
            <a:r>
              <a:rPr dirty="0"/>
              <a:t> und </a:t>
            </a:r>
            <a:r>
              <a:rPr dirty="0" err="1"/>
              <a:t>graphbasierte</a:t>
            </a:r>
            <a:r>
              <a:rPr dirty="0"/>
              <a:t> </a:t>
            </a:r>
            <a:r>
              <a:rPr dirty="0" err="1"/>
              <a:t>Suche</a:t>
            </a:r>
            <a:r>
              <a:rPr dirty="0"/>
              <a:t> an.</a:t>
            </a:r>
          </a:p>
          <a:p>
            <a:endParaRPr dirty="0"/>
          </a:p>
          <a:p>
            <a:r>
              <a:rPr dirty="0"/>
              <a:t>[Sources]</a:t>
            </a:r>
          </a:p>
          <a:p>
            <a:r>
              <a:rPr dirty="0"/>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Der </a:t>
            </a:r>
            <a:r>
              <a:rPr dirty="0" err="1"/>
              <a:t>aktuelle</a:t>
            </a:r>
            <a:r>
              <a:rPr dirty="0"/>
              <a:t> </a:t>
            </a:r>
            <a:r>
              <a:rPr dirty="0" err="1"/>
              <a:t>vollständige</a:t>
            </a:r>
            <a:r>
              <a:rPr dirty="0"/>
              <a:t> Lauf </a:t>
            </a:r>
            <a:r>
              <a:rPr dirty="0" err="1"/>
              <a:t>umfasst</a:t>
            </a:r>
            <a:r>
              <a:rPr dirty="0"/>
              <a:t> </a:t>
            </a:r>
            <a:r>
              <a:rPr dirty="0" err="1"/>
              <a:t>sechs</a:t>
            </a:r>
            <a:r>
              <a:rPr dirty="0"/>
              <a:t> </a:t>
            </a:r>
            <a:r>
              <a:rPr dirty="0" err="1"/>
              <a:t>Fragen</a:t>
            </a:r>
            <a:r>
              <a:rPr dirty="0"/>
              <a:t> und </a:t>
            </a:r>
            <a:r>
              <a:rPr dirty="0" err="1"/>
              <a:t>ein</a:t>
            </a:r>
            <a:r>
              <a:rPr dirty="0"/>
              <a:t> </a:t>
            </a:r>
            <a:r>
              <a:rPr dirty="0" err="1"/>
              <a:t>gemeinsames</a:t>
            </a:r>
            <a:r>
              <a:rPr dirty="0"/>
              <a:t> Budget von </a:t>
            </a:r>
            <a:r>
              <a:rPr dirty="0" err="1"/>
              <a:t>sechs</a:t>
            </a:r>
            <a:r>
              <a:rPr dirty="0"/>
              <a:t> Chunks. </a:t>
            </a:r>
            <a:r>
              <a:rPr dirty="0" err="1"/>
              <a:t>Rerank</a:t>
            </a:r>
            <a:r>
              <a:rPr dirty="0"/>
              <a:t> und Graph </a:t>
            </a:r>
            <a:r>
              <a:rPr dirty="0" err="1"/>
              <a:t>erreichen</a:t>
            </a:r>
            <a:r>
              <a:rPr dirty="0"/>
              <a:t> </a:t>
            </a:r>
            <a:r>
              <a:rPr dirty="0" err="1"/>
              <a:t>beide</a:t>
            </a:r>
            <a:r>
              <a:rPr dirty="0"/>
              <a:t> 70,8 </a:t>
            </a:r>
            <a:r>
              <a:rPr dirty="0" err="1"/>
              <a:t>Prozent</a:t>
            </a:r>
            <a:r>
              <a:rPr dirty="0"/>
              <a:t> Article </a:t>
            </a:r>
            <a:r>
              <a:rPr dirty="0" err="1"/>
              <a:t>Recall@K</a:t>
            </a:r>
            <a:r>
              <a:rPr dirty="0"/>
              <a:t>. Der </a:t>
            </a:r>
            <a:r>
              <a:rPr dirty="0" err="1"/>
              <a:t>Reranker</a:t>
            </a:r>
            <a:r>
              <a:rPr dirty="0"/>
              <a:t> </a:t>
            </a:r>
            <a:r>
              <a:rPr dirty="0" err="1"/>
              <a:t>erzielt</a:t>
            </a:r>
            <a:r>
              <a:rPr dirty="0"/>
              <a:t> </a:t>
            </a:r>
            <a:r>
              <a:rPr dirty="0" err="1"/>
              <a:t>mit</a:t>
            </a:r>
            <a:r>
              <a:rPr dirty="0"/>
              <a:t> 0,59 die </a:t>
            </a:r>
            <a:r>
              <a:rPr dirty="0" err="1"/>
              <a:t>beste</a:t>
            </a:r>
            <a:r>
              <a:rPr dirty="0"/>
              <a:t> MRR; Graph </a:t>
            </a:r>
            <a:r>
              <a:rPr dirty="0" err="1"/>
              <a:t>benötigt</a:t>
            </a:r>
            <a:r>
              <a:rPr dirty="0"/>
              <a:t> </a:t>
            </a:r>
            <a:r>
              <a:rPr dirty="0" err="1"/>
              <a:t>mit</a:t>
            </a:r>
            <a:r>
              <a:rPr dirty="0"/>
              <a:t> </a:t>
            </a:r>
            <a:r>
              <a:rPr dirty="0" err="1"/>
              <a:t>durchschnittlich</a:t>
            </a:r>
            <a:r>
              <a:rPr dirty="0"/>
              <a:t> 822 Prompt-</a:t>
            </a:r>
            <a:r>
              <a:rPr dirty="0" err="1"/>
              <a:t>Kontext</a:t>
            </a:r>
            <a:r>
              <a:rPr dirty="0"/>
              <a:t>-Tokens den </a:t>
            </a:r>
            <a:r>
              <a:rPr dirty="0" err="1"/>
              <a:t>kleinsten</a:t>
            </a:r>
            <a:r>
              <a:rPr dirty="0"/>
              <a:t> </a:t>
            </a:r>
            <a:r>
              <a:rPr dirty="0" err="1"/>
              <a:t>Kontext</a:t>
            </a:r>
            <a:r>
              <a:rPr dirty="0"/>
              <a:t>. Das </a:t>
            </a:r>
            <a:r>
              <a:rPr dirty="0" err="1"/>
              <a:t>sind</a:t>
            </a:r>
            <a:r>
              <a:rPr dirty="0"/>
              <a:t> </a:t>
            </a:r>
            <a:r>
              <a:rPr dirty="0" err="1"/>
              <a:t>Resultate</a:t>
            </a:r>
            <a:r>
              <a:rPr dirty="0"/>
              <a:t> dieses Workshop-</a:t>
            </a:r>
            <a:r>
              <a:rPr dirty="0" err="1"/>
              <a:t>Datensatzes</a:t>
            </a:r>
            <a:r>
              <a:rPr dirty="0"/>
              <a:t>, </a:t>
            </a:r>
            <a:r>
              <a:rPr dirty="0" err="1"/>
              <a:t>keine</a:t>
            </a:r>
            <a:r>
              <a:rPr dirty="0"/>
              <a:t> </a:t>
            </a:r>
            <a:r>
              <a:rPr dirty="0" err="1"/>
              <a:t>allgemeine</a:t>
            </a:r>
            <a:r>
              <a:rPr dirty="0"/>
              <a:t> Benchmark.</a:t>
            </a:r>
          </a:p>
          <a:p>
            <a:endParaRPr dirty="0"/>
          </a:p>
          <a:p>
            <a:r>
              <a:rPr dirty="0"/>
              <a:t>[Sources]</a:t>
            </a:r>
          </a:p>
          <a:p>
            <a:r>
              <a:rPr dirty="0"/>
              <a:t>- C:/Users/mehlst/Documents/RAG-Workshop/evaluation/report-graph.md</a:t>
            </a:r>
          </a:p>
          <a:p>
            <a:r>
              <a:rPr dirty="0"/>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Faktenabdeckung ist hier ein regelbasierter Abgleich mit erwarteten Fakten; sie beweist keine juristische Korrektheit. Zitationsvollständigkeit misst, wie viele erwartete Fundstellen in der Antwort genannt werden. Sie ist nicht gleich Zitationsgenauigkeit oder Grounding. Im aktuellen Lauf erreichen Rerank und Graph beide 54,2 Prozent Faktenabdeckung. Rerank hat mit 75 Prozent die höchste Zitationsvollständigkeit; Graph erreicht 66,7 Prozent und verwendet weniger Kontext. Die Werte stammen aus sechs Workshop-Fragen und können wegen der LLM-Generierung schwanken.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20.08.2026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20.08.2026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20.08.2026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20.08.2026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8.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20.08.2026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5</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20.08.2026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6</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20.08.2026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20.08.2026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9</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14</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15</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16</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43" grpId="0" animBg="1"/>
      <p:bldP spid="45" grpId="0"/>
      <p:bldP spid="46" grpId="0"/>
      <p:bldP spid="47" grpId="0" animBg="1"/>
      <p:bldP spid="48" grpId="0"/>
      <p:bldP spid="6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19</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p:nvPr/>
        </p:nvSpPr>
        <p:spPr>
          <a:xfrm>
            <a:off x="2490937"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p:nvPr/>
        </p:nvSpPr>
        <p:spPr>
          <a:xfrm>
            <a:off x="5128508"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pPr algn="ctr"/>
            <a:r>
              <a:rPr lang="de-CH" sz="1400" b="1" dirty="0">
                <a:solidFill>
                  <a:srgbClr val="304452"/>
                </a:solidFill>
              </a:rPr>
              <a:t>CHROMA INDEX</a:t>
            </a:r>
          </a:p>
          <a:p>
            <a:pPr algn="ctr"/>
            <a:r>
              <a:rPr lang="de-CH" sz="1400" b="1" dirty="0">
                <a:solidFill>
                  <a:srgbClr val="438B92"/>
                </a:solidFill>
              </a:rPr>
              <a:t>≋</a:t>
            </a:r>
            <a:endParaRPr lang="de-CH" sz="1400" b="1" dirty="0">
              <a:solidFill>
                <a:srgbClr val="304452"/>
              </a:solidFill>
            </a:endParaRPr>
          </a:p>
          <a:p>
            <a:pPr algn="ctr"/>
            <a:r>
              <a:rPr lang="de-CH" sz="1400" dirty="0">
                <a:solidFill>
                  <a:srgbClr val="304452"/>
                </a:solidFill>
              </a:rPr>
              <a:t>Chunks + </a:t>
            </a:r>
            <a:r>
              <a:rPr lang="de-CH" sz="1400" dirty="0" err="1">
                <a:solidFill>
                  <a:srgbClr val="304452"/>
                </a:solidFill>
              </a:rPr>
              <a:t>Embeddings</a:t>
            </a:r>
            <a:endParaRPr lang="de-CH" sz="1400" b="1" dirty="0">
              <a:solidFill>
                <a:srgbClr val="304452"/>
              </a:solidFill>
            </a:endParaRPr>
          </a:p>
        </p:txBody>
      </p:sp>
      <p:sp>
        <p:nvSpPr>
          <p:cNvPr id="18" name="graph-builder">
            <a:extLst>
              <a:ext uri="{FF2B5EF4-FFF2-40B4-BE49-F238E27FC236}">
                <a16:creationId xmlns:a16="http://schemas.microsoft.com/office/drawing/2014/main" id="{7403451D-2936-47A8-987E-8CB23B3AD79B}"/>
              </a:ext>
            </a:extLst>
          </p:cNvPr>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pPr algn="ctr"/>
            <a:r>
              <a:rPr lang="de-CH" sz="1400" b="1" dirty="0">
                <a:solidFill>
                  <a:srgbClr val="304452"/>
                </a:solidFill>
              </a:rPr>
              <a:t>GRAPH AUFBAU</a:t>
            </a:r>
          </a:p>
          <a:p>
            <a:pPr algn="ctr">
              <a:defRPr sz="1125" b="0">
                <a:solidFill>
                  <a:srgbClr val="304452"/>
                </a:solidFill>
              </a:defRPr>
            </a:pPr>
            <a:r>
              <a:rPr lang="de-CH" sz="1400" dirty="0">
                <a:solidFill>
                  <a:srgbClr val="304452"/>
                </a:solidFill>
              </a:rPr>
              <a:t>Nachbar-Chunks verbinden</a:t>
            </a:r>
          </a:p>
          <a:p>
            <a:pPr algn="ctr">
              <a:defRPr sz="1125" b="0">
                <a:solidFill>
                  <a:srgbClr val="304452"/>
                </a:solidFill>
              </a:defRPr>
            </a:pPr>
            <a:r>
              <a:rPr lang="de-CH" sz="1400" dirty="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p:nvPr/>
        </p:nvSpPr>
        <p:spPr>
          <a:xfrm>
            <a:off x="5450545" y="1624186"/>
            <a:ext cx="2700000" cy="1440000"/>
          </a:xfrm>
          <a:prstGeom prst="roundRect">
            <a:avLst>
              <a:gd name="adj" fmla="val 9524"/>
            </a:avLst>
          </a:prstGeom>
          <a:solidFill>
            <a:srgbClr val="FBF3DF"/>
          </a:solidFill>
          <a:ln w="12383">
            <a:solidFill>
              <a:srgbClr val="D4B873"/>
            </a:solidFill>
            <a:prstDash val="solid"/>
          </a:ln>
        </p:spPr>
        <p:txBody>
          <a:bodyPr/>
          <a:lstStyle/>
          <a:p>
            <a:r>
              <a:rPr lang="de-CH" sz="1400" b="1" dirty="0">
                <a:solidFill>
                  <a:srgbClr val="304452"/>
                </a:solidFill>
              </a:rPr>
              <a:t>RETRIEVAL-GRAPH</a:t>
            </a: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r>
              <a:rPr lang="de-CH" sz="1400" dirty="0">
                <a:solidFill>
                  <a:srgbClr val="746B5F"/>
                </a:solidFill>
              </a:rPr>
              <a:t>JSON · versioniert</a:t>
            </a:r>
            <a:endParaRPr lang="de-CH" sz="1400" b="1" dirty="0">
              <a:solidFill>
                <a:srgbClr val="304452"/>
              </a:solidFill>
            </a:endParaRPr>
          </a:p>
          <a:p>
            <a:endParaRPr lang="de-DE" sz="1400" dirty="0"/>
          </a:p>
        </p:txBody>
      </p:sp>
      <p:sp>
        <p:nvSpPr>
          <p:cNvPr id="33" name="query">
            <a:extLst>
              <a:ext uri="{FF2B5EF4-FFF2-40B4-BE49-F238E27FC236}">
                <a16:creationId xmlns:a16="http://schemas.microsoft.com/office/drawing/2014/main" id="{89EEF038-DF75-4FD3-8420-37BD6E68EC96}"/>
              </a:ext>
            </a:extLst>
          </p:cNvPr>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lang="de-CH" sz="2700" b="1" dirty="0">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grpSp>
        <p:nvGrpSpPr>
          <p:cNvPr id="2" name="Gruppieren 1">
            <a:extLst>
              <a:ext uri="{FF2B5EF4-FFF2-40B4-BE49-F238E27FC236}">
                <a16:creationId xmlns:a16="http://schemas.microsoft.com/office/drawing/2014/main" id="{72E379B3-099D-9B7B-DCB0-D4063D4FAAD2}"/>
              </a:ext>
            </a:extLst>
          </p:cNvPr>
          <p:cNvGrpSpPr/>
          <p:nvPr/>
        </p:nvGrpSpPr>
        <p:grpSpPr>
          <a:xfrm>
            <a:off x="6628695" y="1708805"/>
            <a:ext cx="1485000" cy="1305000"/>
            <a:chOff x="7380000" y="2520000"/>
            <a:chExt cx="1485000" cy="1305000"/>
          </a:xfrm>
        </p:grpSpPr>
        <p:sp>
          <p:nvSpPr>
            <p:cNvPr id="128" name="edge-a">
              <a:extLst>
                <a:ext uri="{FF2B5EF4-FFF2-40B4-BE49-F238E27FC236}">
                  <a16:creationId xmlns:a16="http://schemas.microsoft.com/office/drawing/2014/main" id="{B41D3A01-C151-E634-F0C1-BCD5F55A484D}"/>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129" name="edge-b">
              <a:extLst>
                <a:ext uri="{FF2B5EF4-FFF2-40B4-BE49-F238E27FC236}">
                  <a16:creationId xmlns:a16="http://schemas.microsoft.com/office/drawing/2014/main" id="{762CB202-B4CA-9A1F-9F2F-27B9832D52C1}"/>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130" name="edge-c">
              <a:extLst>
                <a:ext uri="{FF2B5EF4-FFF2-40B4-BE49-F238E27FC236}">
                  <a16:creationId xmlns:a16="http://schemas.microsoft.com/office/drawing/2014/main" id="{9B302D92-15BE-E306-2286-6E957EDC9401}"/>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131" name="node-main">
              <a:extLst>
                <a:ext uri="{FF2B5EF4-FFF2-40B4-BE49-F238E27FC236}">
                  <a16:creationId xmlns:a16="http://schemas.microsoft.com/office/drawing/2014/main" id="{000D9B39-3D89-B7AD-01A5-BC4F06430B07}"/>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132" name="node-neighbor-1">
              <a:extLst>
                <a:ext uri="{FF2B5EF4-FFF2-40B4-BE49-F238E27FC236}">
                  <a16:creationId xmlns:a16="http://schemas.microsoft.com/office/drawing/2014/main" id="{E644E788-3E58-72C2-36D3-EDE36F5D71AA}"/>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134" name="node-neighbor-2">
              <a:extLst>
                <a:ext uri="{FF2B5EF4-FFF2-40B4-BE49-F238E27FC236}">
                  <a16:creationId xmlns:a16="http://schemas.microsoft.com/office/drawing/2014/main" id="{E7FC3BA0-6B77-6D06-6B12-1D0D63C35738}"/>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Tree>
    <p:extLst>
      <p:ext uri="{BB962C8B-B14F-4D97-AF65-F5344CB8AC3E}">
        <p14:creationId xmlns:p14="http://schemas.microsoft.com/office/powerpoint/2010/main" val="10800522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22</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dirty="0">
                <a:solidFill>
                  <a:srgbClr val="81725E"/>
                </a:solidFill>
                <a:latin typeface="Arial"/>
                <a:ea typeface="Arial"/>
                <a:cs typeface="Arial"/>
              </a:rPr>
              <a:t>Reranking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Rangfolge</a:t>
            </a:r>
            <a:r>
              <a:rPr sz="1650" b="0" dirty="0">
                <a:solidFill>
                  <a:srgbClr val="81725E"/>
                </a:solidFill>
                <a:latin typeface="Arial"/>
                <a:ea typeface="Arial"/>
                <a:cs typeface="Arial"/>
              </a:rPr>
              <a:t>; </a:t>
            </a:r>
            <a:r>
              <a:rPr sz="1650" b="0" dirty="0" err="1">
                <a:solidFill>
                  <a:srgbClr val="81725E"/>
                </a:solidFill>
                <a:latin typeface="Arial"/>
                <a:ea typeface="Arial"/>
                <a:cs typeface="Arial"/>
              </a:rPr>
              <a:t>GraphRAG</a:t>
            </a:r>
            <a:r>
              <a:rPr sz="1650" b="0" dirty="0">
                <a:solidFill>
                  <a:srgbClr val="81725E"/>
                </a:solidFill>
                <a:latin typeface="Arial"/>
                <a:ea typeface="Arial"/>
                <a:cs typeface="Arial"/>
              </a:rPr>
              <a:t> </a:t>
            </a:r>
            <a:r>
              <a:rPr sz="1650" b="0" dirty="0" err="1">
                <a:solidFill>
                  <a:srgbClr val="81725E"/>
                </a:solidFill>
                <a:latin typeface="Arial"/>
                <a:ea typeface="Arial"/>
                <a:cs typeface="Arial"/>
              </a:rPr>
              <a:t>erreicht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denselben</a:t>
            </a:r>
            <a:r>
              <a:rPr sz="1650" b="0" dirty="0">
                <a:solidFill>
                  <a:srgbClr val="81725E"/>
                </a:solidFill>
                <a:latin typeface="Arial"/>
                <a:ea typeface="Arial"/>
                <a:cs typeface="Arial"/>
              </a:rPr>
              <a:t> Recall </a:t>
            </a:r>
            <a:r>
              <a:rPr sz="1650" b="0" dirty="0" err="1">
                <a:solidFill>
                  <a:srgbClr val="81725E"/>
                </a:solidFill>
                <a:latin typeface="Arial"/>
                <a:ea typeface="Arial"/>
                <a:cs typeface="Arial"/>
              </a:rPr>
              <a:t>mit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weniger</a:t>
            </a:r>
            <a:r>
              <a:rPr sz="1650" b="0" dirty="0">
                <a:solidFill>
                  <a:srgbClr val="81725E"/>
                </a:solidFill>
                <a:latin typeface="Arial"/>
                <a:ea typeface="Arial"/>
                <a:cs typeface="Arial"/>
              </a:rPr>
              <a:t> </a:t>
            </a:r>
            <a:r>
              <a:rPr sz="1650" b="0" dirty="0" err="1">
                <a:solidFill>
                  <a:srgbClr val="81725E"/>
                </a:solidFill>
                <a:latin typeface="Arial"/>
                <a:ea typeface="Arial"/>
                <a:cs typeface="Arial"/>
              </a:rPr>
              <a:t>Kontext</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540000" y="2700000"/>
            <a:ext cx="1440000"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540000" y="3087666"/>
            <a:ext cx="1440000"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19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19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198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54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 und Graph gleichauf</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14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140001" y="3087666"/>
            <a:ext cx="1439998"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5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5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0.59</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0.48</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13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74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7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1" y="3087666"/>
            <a:ext cx="1439998"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1 290</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909</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1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1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912</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822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74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9,5 %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1619997" y="5133300"/>
            <a:ext cx="7920000" cy="720000"/>
          </a:xfrm>
          <a:prstGeom prst="roundRect">
            <a:avLst>
              <a:gd name="adj" fmla="val 22857"/>
            </a:avLst>
          </a:prstGeom>
          <a:solidFill>
            <a:srgbClr val="2D3F4B"/>
          </a:solidFill>
          <a:ln w="0">
            <a:solidFill>
              <a:srgbClr val="2D3F4B"/>
            </a:solidFill>
            <a:prstDash val="solid"/>
          </a:ln>
        </p:spPr>
        <p:txBody>
          <a:bodyPr/>
          <a:lstStyle/>
          <a:p>
            <a:pPr algn="ctr">
              <a:buNone/>
            </a:pPr>
            <a:r>
              <a:rPr sz="1600" b="1">
                <a:solidFill>
                  <a:srgbClr val="FFFFFF"/>
                </a:solidFil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sz="3600"/>
              <a:t>Rerank &amp; GraphRAG: bester Recall</a:t>
            </a:r>
          </a:p>
        </p:txBody>
      </p:sp>
    </p:spTree>
    <p:extLst>
      <p:ext uri="{BB962C8B-B14F-4D97-AF65-F5344CB8AC3E}">
        <p14:creationId xmlns:p14="http://schemas.microsoft.com/office/powerpoint/2010/main" val="3658950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a:extLst>
              <a:ext uri="{FF2B5EF4-FFF2-40B4-BE49-F238E27FC236}">
                <a16:creationId xmlns:a16="http://schemas.microsoft.com/office/drawing/2014/main" id="{DF714E49-F92D-4ABE-97BD-45DEC48B8E2F}"/>
              </a:ext>
            </a:extLst>
          </p:cNvPr>
          <p:cNvSpPr>
            <a:spLocks noGrp="1"/>
          </p:cNvSpPr>
          <p:nvPr>
            <p:ph type="title"/>
          </p:nvPr>
        </p:nvSpPr>
        <p:spPr>
          <a:xfrm>
            <a:off x="482461" y="346633"/>
            <a:ext cx="11230114" cy="767605"/>
          </a:xfrm>
        </p:spPr>
        <p:txBody>
          <a:bodyPr/>
          <a:lstStyle/>
          <a:p>
            <a:r>
              <a:rPr sz="2800"/>
              <a:t>Gutes Retrieval ist notwendig – aber Antwortqualität bleibt variabel</a:t>
            </a: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1">
                <a:solidFill>
                  <a:srgbClr val="2D3F4B"/>
                </a:solidFill>
                <a:latin typeface="Arial"/>
                <a:ea typeface="Arial"/>
                <a:cs typeface="Arial"/>
              </a:rPr>
              <a:t>Gefundener Kontext, LLM-Nutzung und Bewertungsregel beeinflussen das Ergebnis.</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3333750"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4447223"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6518250" y="227415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50 %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7585875" y="244463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8535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2220277"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4973190" y="3018423"/>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28 %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5339902" y="315525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33 %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361378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50006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6747934" y="3725408"/>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54 %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8120250" y="39024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75 %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361378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4447223"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6672872" y="4457464"/>
            <a:ext cx="1238250" cy="33528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54 %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7595017" y="4609184"/>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buNone/>
            </a:pPr>
            <a:r>
              <a:rPr sz="1600" b="1">
                <a:solidFill>
                  <a:srgbClr val="FFFFFF"/>
                </a:solidFill>
              </a:rPr>
              <a:t>Reranking: vollständigste Zitate · Graph: gleicher Faktenwert mit weniger Kontext</a:t>
            </a:r>
          </a:p>
        </p:txBody>
      </p:sp>
    </p:spTree>
    <p:extLst>
      <p:ext uri="{BB962C8B-B14F-4D97-AF65-F5344CB8AC3E}">
        <p14:creationId xmlns:p14="http://schemas.microsoft.com/office/powerpoint/2010/main" val="35438856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Lock-in</a:t>
            </a:r>
          </a:p>
        </p:txBody>
      </p:sp>
    </p:spTree>
    <p:extLst>
      <p:ext uri="{BB962C8B-B14F-4D97-AF65-F5344CB8AC3E}">
        <p14:creationId xmlns:p14="http://schemas.microsoft.com/office/powerpoint/2010/main" val="11416475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20.08.2026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28</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3812</Words>
  <Application>Microsoft Office PowerPoint</Application>
  <PresentationFormat>Breitbild</PresentationFormat>
  <Paragraphs>665</Paragraphs>
  <Slides>28</Slides>
  <Notes>21</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28</vt:i4>
      </vt:variant>
    </vt:vector>
  </HeadingPairs>
  <TitlesOfParts>
    <vt:vector size="32" baseType="lpstr">
      <vt:lpstr>Arial</vt:lpstr>
      <vt:lpstr>Courier New</vt:lpstr>
      <vt:lpstr>AKROS</vt:lpstr>
      <vt:lpstr>think-cell Folie</vt:lpstr>
      <vt:lpstr>Retrieval-Augmented Generator (RAG)</vt:lpstr>
      <vt:lpstr>Agenda</vt:lpstr>
      <vt:lpstr>Was Ihr heute mitnehmen könnt</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Hybrider GraphRAG verbindet mehrere Suchsignale</vt:lpstr>
      <vt:lpstr>Rerank &amp; GraphRAG: bester Recall</vt:lpstr>
      <vt:lpstr>Gutes Retrieval ist notwendig – aber Antwortqualität bleibt variabel</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60</cp:revision>
  <dcterms:created xsi:type="dcterms:W3CDTF">2026-08-04T12:09:36Z</dcterms:created>
  <dcterms:modified xsi:type="dcterms:W3CDTF">2026-08-20T18:38:41Z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