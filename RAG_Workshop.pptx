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embeddings/oleObject1.bin" ContentType="application/vnd.openxmlformats-officedocument.oleObject"/>
  <Override PartName="/ppt/handoutMasters/handoutMaster1.xml" ContentType="application/vnd.openxmlformats-officedocument.presentationml.handoutMaster+xml"/>
  <Override PartName="/ppt/media/image11.svg" ContentType="image/svg+xml"/>
  <Override PartName="/ppt/media/image13.svg" ContentType="image/svg+xml"/>
  <Override PartName="/ppt/media/image15.svg" ContentType="image/svg+xml"/>
  <Override PartName="/ppt/media/image17.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7.svg" ContentType="image/svg+xml"/>
  <Override PartName="/ppt/media/image29.svg" ContentType="image/svg+xml"/>
  <Override PartName="/ppt/media/image31.svg" ContentType="image/svg+xml"/>
  <Override PartName="/ppt/media/image33.svg" ContentType="image/svg+xml"/>
  <Override PartName="/ppt/media/image35.svg" ContentType="image/svg+xml"/>
  <Override PartName="/ppt/media/image37.svg" ContentType="image/svg+xml"/>
  <Override PartName="/ppt/media/image39.svg" ContentType="image/svg+xml"/>
  <Override PartName="/ppt/media/image41.svg" ContentType="image/svg+xml"/>
  <Override PartName="/ppt/media/image7.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1"/>
  </p:notesMasterIdLst>
  <p:handoutMasterIdLst>
    <p:handoutMasterId r:id="rId32"/>
  </p:handoutMasterIdLst>
  <p:sldIdLst>
    <p:sldId id="290" r:id="rId5"/>
    <p:sldId id="279" r:id="rId6"/>
    <p:sldId id="296" r:id="rId7"/>
    <p:sldId id="301" r:id="rId8"/>
    <p:sldId id="263" r:id="rId9"/>
    <p:sldId id="317" r:id="rId10"/>
    <p:sldId id="319" r:id="rId11"/>
    <p:sldId id="266" r:id="rId12"/>
    <p:sldId id="307" r:id="rId13"/>
    <p:sldId id="322" r:id="rId14"/>
    <p:sldId id="323" r:id="rId15"/>
    <p:sldId id="324" r:id="rId16"/>
    <p:sldId id="325" r:id="rId17"/>
    <p:sldId id="308" r:id="rId18"/>
    <p:sldId id="326" r:id="rId19"/>
    <p:sldId id="256" r:id="rId20"/>
    <p:sldId id="313" r:id="rId21"/>
    <p:sldId id="327" r:id="rId22"/>
    <p:sldId id="320" r:id="rId23"/>
    <p:sldId id="321" r:id="rId24"/>
    <p:sldId id="271" r:id="rId25"/>
    <p:sldId id="272" r:id="rId26"/>
    <p:sldId id="274" r:id="rId27"/>
    <p:sldId id="275" r:id="rId28"/>
    <p:sldId id="276" r:id="rId29"/>
    <p:sldId id="295" r:id="rId30"/>
  </p:sldIdLst>
  <p:sldSz cx="12192000" cy="685800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296"/>
            <p14:sldId id="301"/>
            <p14:sldId id="263"/>
            <p14:sldId id="317"/>
            <p14:sldId id="319"/>
            <p14:sldId id="266"/>
            <p14:sldId id="307"/>
            <p14:sldId id="322"/>
            <p14:sldId id="323"/>
            <p14:sldId id="324"/>
            <p14:sldId id="325"/>
            <p14:sldId id="308"/>
            <p14:sldId id="326"/>
            <p14:sldId id="256"/>
            <p14:sldId id="313"/>
            <p14:sldId id="327"/>
            <p14:sldId id="320"/>
            <p14:sldId id="321"/>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75" d="100"/>
          <a:sy n="75" d="100"/>
        </p:scale>
        <p:origin x="327" y="2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0" Type="http://schemas.openxmlformats.org/officeDocument/2006/relationships/slide" Target="slides/slide16.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10.08.2026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10.08.2026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jp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10.08.2026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10.08.2026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10.08.2026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10.08.2026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 Id="rId12" Type="http://schemas.openxmlformats.org/officeDocument/2006/relationships/tags" Target="../tags/tag2.xml"/><Relationship Id="rId13" Type="http://schemas.openxmlformats.org/officeDocument/2006/relationships/oleObject" Target="../embeddings/oleObject1.bin"/><Relationship Id="rId14" Type="http://schemas.openxmlformats.org/officeDocument/2006/relationships/image" Target="../media/image1.emf"/><Relationship Id="rId1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10.08.2026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svg"/><Relationship Id="rId5" Type="http://schemas.openxmlformats.org/officeDocument/2006/relationships/image" Target="../media/image8.png"/><Relationship Id="rId6" Type="http://schemas.openxmlformats.org/officeDocument/2006/relationships/image" Target="../media/image9.svg"/><Relationship Id="rId7" Type="http://schemas.openxmlformats.org/officeDocument/2006/relationships/image" Target="../media/image10.png"/><Relationship Id="rId8" Type="http://schemas.openxmlformats.org/officeDocument/2006/relationships/image" Target="../media/image11.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12.png"/><Relationship Id="rId4" Type="http://schemas.openxmlformats.org/officeDocument/2006/relationships/image" Target="../media/image13.svg"/><Relationship Id="rId5" Type="http://schemas.openxmlformats.org/officeDocument/2006/relationships/image" Target="../media/image14.png"/><Relationship Id="rId6" Type="http://schemas.openxmlformats.org/officeDocument/2006/relationships/image" Target="../media/image15.svg"/><Relationship Id="rId7" Type="http://schemas.openxmlformats.org/officeDocument/2006/relationships/image" Target="../media/image16.png"/><Relationship Id="rId8" Type="http://schemas.openxmlformats.org/officeDocument/2006/relationships/image" Target="../media/image17.svg"/><Relationship Id="rId9" Type="http://schemas.openxmlformats.org/officeDocument/2006/relationships/image" Target="../media/image18.png"/><Relationship Id="rId10" Type="http://schemas.openxmlformats.org/officeDocument/2006/relationships/image" Target="../media/image19.svg"/><Relationship Id="rId11" Type="http://schemas.openxmlformats.org/officeDocument/2006/relationships/image" Target="../media/image20.png"/><Relationship Id="rId12" Type="http://schemas.openxmlformats.org/officeDocument/2006/relationships/image" Target="../media/image21.svg"/><Relationship Id="rId13" Type="http://schemas.openxmlformats.org/officeDocument/2006/relationships/image" Target="../media/image22.png"/><Relationship Id="rId14" Type="http://schemas.openxmlformats.org/officeDocument/2006/relationships/image" Target="../media/image23.svg"/><Relationship Id="rId15" Type="http://schemas.openxmlformats.org/officeDocument/2006/relationships/image" Target="../media/image24.png"/><Relationship Id="rId16" Type="http://schemas.openxmlformats.org/officeDocument/2006/relationships/image" Target="../media/image25.svg"/><Relationship Id="rId17" Type="http://schemas.openxmlformats.org/officeDocument/2006/relationships/image" Target="../media/image26.png"/><Relationship Id="rId18" Type="http://schemas.openxmlformats.org/officeDocument/2006/relationships/image" Target="../media/image27.svg"/><Relationship Id="rId19" Type="http://schemas.openxmlformats.org/officeDocument/2006/relationships/image" Target="../media/image28.png"/><Relationship Id="rId20" Type="http://schemas.openxmlformats.org/officeDocument/2006/relationships/image" Target="../media/image29.svg"/><Relationship Id="rId21" Type="http://schemas.openxmlformats.org/officeDocument/2006/relationships/image" Target="../media/image30.png"/><Relationship Id="rId22" Type="http://schemas.openxmlformats.org/officeDocument/2006/relationships/image" Target="../media/image31.svg"/><Relationship Id="rId23" Type="http://schemas.openxmlformats.org/officeDocument/2006/relationships/image" Target="../media/image32.png"/><Relationship Id="rId24" Type="http://schemas.openxmlformats.org/officeDocument/2006/relationships/image" Target="../media/image33.svg"/><Relationship Id="rId25" Type="http://schemas.openxmlformats.org/officeDocument/2006/relationships/image" Target="../media/image34.png"/><Relationship Id="rId26" Type="http://schemas.openxmlformats.org/officeDocument/2006/relationships/image" Target="../media/image35.svg"/><Relationship Id="rId27" Type="http://schemas.openxmlformats.org/officeDocument/2006/relationships/image" Target="../media/image36.png"/><Relationship Id="rId28" Type="http://schemas.openxmlformats.org/officeDocument/2006/relationships/image" Target="../media/image37.svg"/><Relationship Id="rId29" Type="http://schemas.openxmlformats.org/officeDocument/2006/relationships/image" Target="../media/image38.png"/><Relationship Id="rId30" Type="http://schemas.openxmlformats.org/officeDocument/2006/relationships/image" Target="../media/image39.sv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AkrosAG/RAG-Workshop.git"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image" Target="../media/image15.svg"/><Relationship Id="rId4" Type="http://schemas.openxmlformats.org/officeDocument/2006/relationships/image" Target="../media/image16.png"/><Relationship Id="rId5" Type="http://schemas.openxmlformats.org/officeDocument/2006/relationships/image" Target="../media/image17.svg"/><Relationship Id="rId6" Type="http://schemas.openxmlformats.org/officeDocument/2006/relationships/image" Target="../media/image30.png"/><Relationship Id="rId7" Type="http://schemas.openxmlformats.org/officeDocument/2006/relationships/image" Target="../media/image31.svg"/><Relationship Id="rId8" Type="http://schemas.openxmlformats.org/officeDocument/2006/relationships/image" Target="../media/image12.png"/><Relationship Id="rId9" Type="http://schemas.openxmlformats.org/officeDocument/2006/relationships/image" Target="../media/image13.svg"/><Relationship Id="rId10" Type="http://schemas.openxmlformats.org/officeDocument/2006/relationships/image" Target="../media/image18.png"/><Relationship Id="rId11" Type="http://schemas.openxmlformats.org/officeDocument/2006/relationships/image" Target="../media/image19.svg"/><Relationship Id="rId12" Type="http://schemas.openxmlformats.org/officeDocument/2006/relationships/image" Target="../media/image20.png"/><Relationship Id="rId13" Type="http://schemas.openxmlformats.org/officeDocument/2006/relationships/image" Target="../media/image21.svg"/><Relationship Id="rId14" Type="http://schemas.openxmlformats.org/officeDocument/2006/relationships/image" Target="../media/image22.png"/><Relationship Id="rId15" Type="http://schemas.openxmlformats.org/officeDocument/2006/relationships/image" Target="../media/image23.svg"/><Relationship Id="rId16" Type="http://schemas.openxmlformats.org/officeDocument/2006/relationships/image" Target="../media/image24.png"/><Relationship Id="rId17" Type="http://schemas.openxmlformats.org/officeDocument/2006/relationships/image" Target="../media/image25.svg"/><Relationship Id="rId18" Type="http://schemas.openxmlformats.org/officeDocument/2006/relationships/image" Target="../media/image26.png"/><Relationship Id="rId19" Type="http://schemas.openxmlformats.org/officeDocument/2006/relationships/image" Target="../media/image27.svg"/><Relationship Id="rId20" Type="http://schemas.openxmlformats.org/officeDocument/2006/relationships/image" Target="../media/image28.png"/><Relationship Id="rId21" Type="http://schemas.openxmlformats.org/officeDocument/2006/relationships/image" Target="../media/image29.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4.png"/><Relationship Id="rId25" Type="http://schemas.openxmlformats.org/officeDocument/2006/relationships/image" Target="../media/image35.svg"/><Relationship Id="rId26" Type="http://schemas.openxmlformats.org/officeDocument/2006/relationships/image" Target="../media/image36.png"/><Relationship Id="rId27" Type="http://schemas.openxmlformats.org/officeDocument/2006/relationships/image" Target="../media/image37.svg"/><Relationship Id="rId28" Type="http://schemas.openxmlformats.org/officeDocument/2006/relationships/image" Target="../media/image38.png"/><Relationship Id="rId29" Type="http://schemas.openxmlformats.org/officeDocument/2006/relationships/image" Target="../media/image39.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png"/><Relationship Id="rId9" Type="http://schemas.openxmlformats.org/officeDocument/2006/relationships/image" Target="../media/image19.svg"/><Relationship Id="rId10" Type="http://schemas.openxmlformats.org/officeDocument/2006/relationships/image" Target="../media/image20.png"/><Relationship Id="rId11" Type="http://schemas.openxmlformats.org/officeDocument/2006/relationships/image" Target="../media/image21.sv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30.png"/><Relationship Id="rId17" Type="http://schemas.openxmlformats.org/officeDocument/2006/relationships/image" Target="../media/image31.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2.png"/><Relationship Id="rId21" Type="http://schemas.openxmlformats.org/officeDocument/2006/relationships/image" Target="../media/image33.svg"/><Relationship Id="rId22" Type="http://schemas.openxmlformats.org/officeDocument/2006/relationships/image" Target="../media/image26.png"/><Relationship Id="rId23" Type="http://schemas.openxmlformats.org/officeDocument/2006/relationships/image" Target="../media/image27.svg"/><Relationship Id="rId24" Type="http://schemas.openxmlformats.org/officeDocument/2006/relationships/image" Target="../media/image34.png"/><Relationship Id="rId25" Type="http://schemas.openxmlformats.org/officeDocument/2006/relationships/image" Target="../media/image35.svg"/><Relationship Id="rId26" Type="http://schemas.openxmlformats.org/officeDocument/2006/relationships/image" Target="../media/image36.png"/><Relationship Id="rId27" Type="http://schemas.openxmlformats.org/officeDocument/2006/relationships/image" Target="../media/image37.svg"/><Relationship Id="rId28" Type="http://schemas.openxmlformats.org/officeDocument/2006/relationships/image" Target="../media/image38.png"/><Relationship Id="rId29" Type="http://schemas.openxmlformats.org/officeDocument/2006/relationships/image" Target="../media/image39.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png"/><Relationship Id="rId9" Type="http://schemas.openxmlformats.org/officeDocument/2006/relationships/image" Target="../media/image19.svg"/><Relationship Id="rId10" Type="http://schemas.openxmlformats.org/officeDocument/2006/relationships/image" Target="../media/image20.png"/><Relationship Id="rId11" Type="http://schemas.openxmlformats.org/officeDocument/2006/relationships/image" Target="../media/image21.sv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1.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8.png"/><Relationship Id="rId25" Type="http://schemas.openxmlformats.org/officeDocument/2006/relationships/image" Target="../media/image39.svg"/><Relationship Id="rId26" Type="http://schemas.openxmlformats.org/officeDocument/2006/relationships/image" Target="../media/image34.png"/><Relationship Id="rId27" Type="http://schemas.openxmlformats.org/officeDocument/2006/relationships/image" Target="../media/image35.svg"/><Relationship Id="rId28" Type="http://schemas.openxmlformats.org/officeDocument/2006/relationships/image" Target="../media/image36.png"/><Relationship Id="rId29" Type="http://schemas.openxmlformats.org/officeDocument/2006/relationships/image" Target="../media/image37.sv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png"/><Relationship Id="rId9" Type="http://schemas.openxmlformats.org/officeDocument/2006/relationships/image" Target="../media/image19.svg"/><Relationship Id="rId10" Type="http://schemas.openxmlformats.org/officeDocument/2006/relationships/image" Target="../media/image20.png"/><Relationship Id="rId11" Type="http://schemas.openxmlformats.org/officeDocument/2006/relationships/image" Target="../media/image21.sv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1.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8.png"/><Relationship Id="rId25" Type="http://schemas.openxmlformats.org/officeDocument/2006/relationships/image" Target="../media/image39.svg"/><Relationship Id="rId26" Type="http://schemas.openxmlformats.org/officeDocument/2006/relationships/image" Target="../media/image34.png"/><Relationship Id="rId27" Type="http://schemas.openxmlformats.org/officeDocument/2006/relationships/image" Target="../media/image35.svg"/><Relationship Id="rId28" Type="http://schemas.openxmlformats.org/officeDocument/2006/relationships/image" Target="../media/image36.png"/><Relationship Id="rId29" Type="http://schemas.openxmlformats.org/officeDocument/2006/relationships/image" Target="../media/image37.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40.png"/><Relationship Id="rId4" Type="http://schemas.openxmlformats.org/officeDocument/2006/relationships/image" Target="../media/image4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image" Target="../media/image13.svg"/><Relationship Id="rId4" Type="http://schemas.openxmlformats.org/officeDocument/2006/relationships/image" Target="../media/image14.png"/><Relationship Id="rId5" Type="http://schemas.openxmlformats.org/officeDocument/2006/relationships/image" Target="../media/image15.svg"/><Relationship Id="rId6" Type="http://schemas.openxmlformats.org/officeDocument/2006/relationships/image" Target="../media/image16.png"/><Relationship Id="rId7" Type="http://schemas.openxmlformats.org/officeDocument/2006/relationships/image" Target="../media/image17.svg"/><Relationship Id="rId8" Type="http://schemas.openxmlformats.org/officeDocument/2006/relationships/image" Target="../media/image18.png"/><Relationship Id="rId9" Type="http://schemas.openxmlformats.org/officeDocument/2006/relationships/image" Target="../media/image19.svg"/><Relationship Id="rId10" Type="http://schemas.openxmlformats.org/officeDocument/2006/relationships/image" Target="../media/image20.png"/><Relationship Id="rId11" Type="http://schemas.openxmlformats.org/officeDocument/2006/relationships/image" Target="../media/image21.svg"/><Relationship Id="rId12" Type="http://schemas.openxmlformats.org/officeDocument/2006/relationships/image" Target="../media/image22.png"/><Relationship Id="rId13" Type="http://schemas.openxmlformats.org/officeDocument/2006/relationships/image" Target="../media/image23.svg"/><Relationship Id="rId14" Type="http://schemas.openxmlformats.org/officeDocument/2006/relationships/image" Target="../media/image24.png"/><Relationship Id="rId15" Type="http://schemas.openxmlformats.org/officeDocument/2006/relationships/image" Target="../media/image25.svg"/><Relationship Id="rId16" Type="http://schemas.openxmlformats.org/officeDocument/2006/relationships/image" Target="../media/image26.png"/><Relationship Id="rId17" Type="http://schemas.openxmlformats.org/officeDocument/2006/relationships/image" Target="../media/image27.svg"/><Relationship Id="rId18" Type="http://schemas.openxmlformats.org/officeDocument/2006/relationships/image" Target="../media/image28.png"/><Relationship Id="rId19" Type="http://schemas.openxmlformats.org/officeDocument/2006/relationships/image" Target="../media/image29.svg"/><Relationship Id="rId20" Type="http://schemas.openxmlformats.org/officeDocument/2006/relationships/image" Target="../media/image30.png"/><Relationship Id="rId21" Type="http://schemas.openxmlformats.org/officeDocument/2006/relationships/image" Target="../media/image31.svg"/><Relationship Id="rId22" Type="http://schemas.openxmlformats.org/officeDocument/2006/relationships/image" Target="../media/image32.png"/><Relationship Id="rId23" Type="http://schemas.openxmlformats.org/officeDocument/2006/relationships/image" Target="../media/image33.svg"/><Relationship Id="rId24" Type="http://schemas.openxmlformats.org/officeDocument/2006/relationships/image" Target="../media/image34.png"/><Relationship Id="rId25" Type="http://schemas.openxmlformats.org/officeDocument/2006/relationships/image" Target="../media/image35.svg"/><Relationship Id="rId26" Type="http://schemas.openxmlformats.org/officeDocument/2006/relationships/image" Target="../media/image36.png"/><Relationship Id="rId27" Type="http://schemas.openxmlformats.org/officeDocument/2006/relationships/image" Target="../media/image37.svg"/><Relationship Id="rId28" Type="http://schemas.openxmlformats.org/officeDocument/2006/relationships/image" Target="../media/image38.png"/><Relationship Id="rId29" Type="http://schemas.openxmlformats.org/officeDocument/2006/relationships/image" Target="../media/image39.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42.jpg"/><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10.08.2026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10.08.2026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10.08.2026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4</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a:spLocks noGrp="1"/>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a:spLocks noGrp="1"/>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a:spLocks noGrp="1"/>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10.08.2026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5</a:t>
            </a:fld>
            <a:endParaRPr/>
          </a:p>
        </p:txBody>
      </p:sp>
      <p:sp>
        <p:nvSpPr>
          <p:cNvPr id="7" name="Expandieren-accent">
            <a:extLst>
              <a:ext uri="{FF2B5EF4-FFF2-40B4-BE49-F238E27FC236}">
                <a16:creationId xmlns:a16="http://schemas.microsoft.com/office/drawing/2014/main" id="{F3B72224-B9DE-495C-9796-06F07B8ACE36}"/>
              </a:ext>
            </a:extLst>
          </p:cNvPr>
          <p:cNvSpPr>
            <a:spLocks noGrp="1"/>
          </p:cNvSpPr>
          <p:nvPr/>
        </p:nvSpPr>
        <p:spPr>
          <a:xfrm>
            <a:off x="720000" y="1620000"/>
            <a:ext cx="4572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a:spLocks noGrp="1"/>
          </p:cNvSpPr>
          <p:nvPr/>
        </p:nvSpPr>
        <p:spPr>
          <a:xfrm>
            <a:off x="7020000" y="1620000"/>
            <a:ext cx="4572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a:spLocks noGrp="1"/>
          </p:cNvSpPr>
          <p:nvPr/>
        </p:nvSpPr>
        <p:spPr>
          <a:xfrm>
            <a:off x="540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a:spLocks noGrp="1"/>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a:spLocks noGrp="1"/>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a:spLocks noGrp="1"/>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a:spLocks noGrp="1"/>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a:spLocks noGrp="1"/>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a:spLocks noGrp="1"/>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a:solidFill>
                  <a:srgbClr val="2D3F4B"/>
                </a:solidFill>
                <a:latin typeface="Arial"/>
                <a:ea typeface="Arial"/>
                <a:cs typeface="Arial"/>
              </a:rPr>
              <a:t>Expandieren</a:t>
            </a:r>
          </a:p>
        </p:txBody>
      </p:sp>
      <p:sp>
        <p:nvSpPr>
          <p:cNvPr id="38" name="Rechteck 37">
            <a:extLst>
              <a:ext uri="{FF2B5EF4-FFF2-40B4-BE49-F238E27FC236}">
                <a16:creationId xmlns:a16="http://schemas.microsoft.com/office/drawing/2014/main" id="{ACFCC35B-9CB1-45B1-9CAA-5FC9371705C0}"/>
              </a:ext>
            </a:extLst>
          </p:cNvPr>
          <p:cNvSpPr>
            <a:spLocks noGrp="1"/>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0000" y="5040000"/>
            <a:ext cx="612000" cy="612000"/>
          </a:xfrm>
          <a:prstGeom prst="rect">
            <a:avLst/>
          </a:prstGeom>
        </p:spPr>
      </p:pic>
      <p:sp>
        <p:nvSpPr>
          <p:cNvPr id="42" name="Rechteck 41">
            <a:extLst>
              <a:ext uri="{FF2B5EF4-FFF2-40B4-BE49-F238E27FC236}">
                <a16:creationId xmlns:a16="http://schemas.microsoft.com/office/drawing/2014/main" id="{D3F77ACE-A9C1-407A-8F7A-E075BA0C63A1}"/>
              </a:ext>
            </a:extLst>
          </p:cNvPr>
          <p:cNvSpPr>
            <a:spLocks noGrp="1"/>
          </p:cNvSpPr>
          <p:nvPr/>
        </p:nvSpPr>
        <p:spPr>
          <a:xfrm>
            <a:off x="1800000" y="5040000"/>
            <a:ext cx="2381250" cy="361950"/>
          </a:xfrm>
          <a:prstGeom prst="rect">
            <a:avLst/>
          </a:prstGeom>
          <a:noFill/>
          <a:ln w="0">
            <a:noFill/>
            <a:prstDash val="solid"/>
          </a:ln>
        </p:spPr>
        <p:txBody>
          <a:bodyPr anchor="t"/>
          <a:lstStyle/>
          <a:p>
            <a:pPr>
              <a:defRPr sz="2025" b="1">
                <a:solidFill>
                  <a:srgbClr val="2D3F4B"/>
                </a:solidFill>
                <a:latin typeface="Arial"/>
                <a:ea typeface="Arial"/>
                <a:cs typeface="Arial"/>
              </a:defRPr>
            </a:pPr>
            <a:r>
              <a:rPr sz="2025" b="1" dirty="0" err="1">
                <a:solidFill>
                  <a:srgbClr val="2D3F4B"/>
                </a:solidFill>
                <a:latin typeface="Arial"/>
                <a:ea typeface="Arial"/>
                <a:cs typeface="Arial"/>
              </a:rPr>
              <a:t>Translatieren</a:t>
            </a:r>
            <a:endParaRPr sz="2025"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a:spLocks noGrp="1"/>
          </p:cNvSpPr>
          <p:nvPr/>
        </p:nvSpPr>
        <p:spPr>
          <a:xfrm>
            <a:off x="1800000" y="5400000"/>
            <a:ext cx="8953500"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500">
                <a:solidFill>
                  <a:srgbClr val="2D3F4B"/>
                </a:solidFill>
                <a:latin typeface="Arial"/>
                <a:ea typeface="Arial"/>
                <a:cs typeface="Arial"/>
              </a:rPr>
              <a:t>Gleicher Inhalt → andere Sprache, Form oder Struktur. RAG ist dafür nicht zwingend nötig.</a:t>
            </a:r>
          </a:p>
        </p:txBody>
      </p:sp>
    </p:spTree>
    <p:extLst>
      <p:ext uri="{BB962C8B-B14F-4D97-AF65-F5344CB8AC3E}">
        <p14:creationId xmlns:p14="http://schemas.microsoft.com/office/powerpoint/2010/main" val="13265509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32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10.08.2026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6</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a:spLocks noGrp="1"/>
          </p:cNvSpPr>
          <p:nvPr/>
        </p:nvSpPr>
        <p:spPr>
          <a:xfrm>
            <a:off x="720000" y="4860000"/>
            <a:ext cx="2441571"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a:spLocks noGrp="1"/>
          </p:cNvSpPr>
          <p:nvPr/>
        </p:nvSpPr>
        <p:spPr>
          <a:xfrm>
            <a:off x="72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a:spLocks noGrp="1"/>
          </p:cNvSpPr>
          <p:nvPr/>
        </p:nvSpPr>
        <p:spPr>
          <a:xfrm>
            <a:off x="72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a:spLocks noGrp="1"/>
          </p:cNvSpPr>
          <p:nvPr/>
        </p:nvSpPr>
        <p:spPr>
          <a:xfrm>
            <a:off x="3600000" y="4320000"/>
            <a:ext cx="2441571"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a:spLocks noGrp="1"/>
          </p:cNvSpPr>
          <p:nvPr/>
        </p:nvSpPr>
        <p:spPr>
          <a:xfrm>
            <a:off x="360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a:spLocks noGrp="1"/>
          </p:cNvSpPr>
          <p:nvPr/>
        </p:nvSpPr>
        <p:spPr>
          <a:xfrm>
            <a:off x="6480000" y="4680000"/>
            <a:ext cx="2441568"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a:spLocks noGrp="1"/>
          </p:cNvSpPr>
          <p:nvPr/>
        </p:nvSpPr>
        <p:spPr>
          <a:xfrm>
            <a:off x="6480000" y="4320000"/>
            <a:ext cx="2441570"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a:spLocks noGrp="1"/>
          </p:cNvSpPr>
          <p:nvPr/>
        </p:nvSpPr>
        <p:spPr>
          <a:xfrm>
            <a:off x="6480000" y="5040000"/>
            <a:ext cx="2520000" cy="540000"/>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a:solidFill>
                  <a:srgbClr val="2D3F4B"/>
                </a:solidFill>
                <a:latin typeface="Arial"/>
                <a:ea typeface="Arial"/>
                <a:cs typeface="Arial"/>
              </a:rPr>
              <a:t>Anweisungen</a:t>
            </a:r>
          </a:p>
          <a:p>
            <a:pPr algn="ctr">
              <a:buNone/>
              <a:defRPr sz="1650">
                <a:solidFill>
                  <a:srgbClr val="2D3F4B"/>
                </a:solidFill>
                <a:latin typeface="Arial"/>
                <a:ea typeface="Arial"/>
                <a:cs typeface="Arial"/>
              </a:defRPr>
            </a:pPr>
            <a:r>
              <a:rPr sz="165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a:spLocks noGrp="1"/>
          </p:cNvSpPr>
          <p:nvPr/>
        </p:nvSpPr>
        <p:spPr>
          <a:xfrm>
            <a:off x="9360000" y="4860000"/>
            <a:ext cx="2441567"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a:spLocks noGrp="1"/>
          </p:cNvSpPr>
          <p:nvPr/>
        </p:nvSpPr>
        <p:spPr>
          <a:xfrm>
            <a:off x="9360000" y="4320000"/>
            <a:ext cx="2621587" cy="276999"/>
          </a:xfrm>
          <a:prstGeom prst="rect">
            <a:avLst/>
          </a:prstGeom>
          <a:noFill/>
        </p:spPr>
        <p:txBody>
          <a:bodyPr wrap="square" lIns="0" tIns="0" rIns="0" bIns="0" anchor="ctr">
            <a:spAutoFit/>
          </a:bodyP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Kontextfenster</a:t>
            </a:r>
          </a:p>
        </p:txBody>
      </p:sp>
      <p:sp>
        <p:nvSpPr>
          <p:cNvPr id="31" name="Textfeld 30">
            <a:extLst>
              <a:ext uri="{FF2B5EF4-FFF2-40B4-BE49-F238E27FC236}">
                <a16:creationId xmlns:a16="http://schemas.microsoft.com/office/drawing/2014/main" id="{ACB039CC-F485-C051-649D-630116902526}"/>
              </a:ext>
            </a:extLst>
          </p:cNvPr>
          <p:cNvSpPr>
            <a:spLocks noGrp="1"/>
          </p:cNvSpPr>
          <p:nvPr/>
        </p:nvSpPr>
        <p:spPr>
          <a:xfrm>
            <a:off x="9360000" y="5040000"/>
            <a:ext cx="2448869" cy="507831"/>
          </a:xfrm>
          <a:prstGeom prst="rect">
            <a:avLst/>
          </a:prstGeom>
          <a:noFill/>
        </p:spPr>
        <p:txBody>
          <a:bodyPr wrap="square" lIns="0" tIns="0" rIns="0" bIns="0" anchor="ctr">
            <a:sp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a:spLocks noGrp="1"/>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5" name="Textfeld 34">
            <a:extLst>
              <a:ext uri="{FF2B5EF4-FFF2-40B4-BE49-F238E27FC236}">
                <a16:creationId xmlns:a16="http://schemas.microsoft.com/office/drawing/2014/main" id="{03DEABC7-48CE-D772-9373-D703503E4FBF}"/>
              </a:ext>
            </a:extLst>
          </p:cNvPr>
          <p:cNvSpPr>
            <a:spLocks noGrp="1"/>
          </p:cNvSpPr>
          <p:nvPr/>
        </p:nvSpPr>
        <p:spPr>
          <a:xfrm>
            <a:off x="4320000" y="2700000"/>
            <a:ext cx="3619500" cy="307777"/>
          </a:xfrm>
          <a:prstGeom prst="rect">
            <a:avLst/>
          </a:prstGeom>
          <a:noFill/>
        </p:spPr>
        <p:txBody>
          <a:bodyPr wrap="square" lIns="0" tIns="0" rIns="0" bIns="0" anchor="ctr">
            <a:spAutoFit/>
          </a:bodyPr>
          <a:lstStyle/>
          <a:p>
            <a:pPr algn="ctr">
              <a:buNone/>
              <a:defRPr sz="2025" b="1">
                <a:solidFill>
                  <a:srgbClr val="FFFFFF"/>
                </a:solidFill>
                <a:latin typeface="Arial"/>
                <a:ea typeface="Arial"/>
                <a:cs typeface="Arial"/>
              </a:defRPr>
            </a:pPr>
            <a:r>
              <a:rPr sz="2000" b="1" dirty="0">
                <a:solidFill>
                  <a:srgbClr val="2D3F4B"/>
                </a:solidFill>
                <a:latin typeface="Arial"/>
                <a:ea typeface="Arial"/>
                <a:cs typeface="Arial"/>
              </a:rPr>
              <a:t>LLM-KONTEXT</a:t>
            </a:r>
            <a:endParaRPr sz="2025" b="1" dirty="0">
              <a:solidFill>
                <a:srgbClr val="2D3F4B"/>
              </a:solidFill>
              <a:latin typeface="Aria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5" idx="1"/>
          </p:cNvCxnSpPr>
          <p:nvPr/>
        </p:nvCxnSpPr>
        <p:spPr>
          <a:xfrm flipV="1">
            <a:off x="1940771" y="2853888"/>
            <a:ext cx="2379228" cy="1286111"/>
          </a:xfrm>
          <a:prstGeom prst="straightConnector1">
            <a:avLst/>
          </a:prstGeom>
          <a:ln w="23813">
            <a:solidFill>
              <a:srgbClr val="C60C30"/>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p:cNvCxnSpPr>
          <p:nvPr/>
        </p:nvCxnSpPr>
        <p:spPr>
          <a:xfrm flipV="1">
            <a:off x="4815840" y="3343644"/>
            <a:ext cx="529932" cy="871821"/>
          </a:xfrm>
          <a:prstGeom prst="straightConnector1">
            <a:avLst/>
          </a:prstGeom>
          <a:ln w="23813">
            <a:solidFill>
              <a:srgbClr val="9BC7EE"/>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p:cNvCxnSpPr>
          <p:nvPr/>
        </p:nvCxnSpPr>
        <p:spPr>
          <a:xfrm flipH="1" flipV="1">
            <a:off x="6903412" y="3341710"/>
            <a:ext cx="846128" cy="873755"/>
          </a:xfrm>
          <a:prstGeom prst="straightConnector1">
            <a:avLst/>
          </a:prstGeom>
          <a:ln w="23813">
            <a:solidFill>
              <a:srgbClr val="43858A"/>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5" idx="3"/>
          </p:cNvCxnSpPr>
          <p:nvPr/>
        </p:nvCxnSpPr>
        <p:spPr>
          <a:xfrm flipH="1" flipV="1">
            <a:off x="7939500" y="2853888"/>
            <a:ext cx="2641271" cy="1286111"/>
          </a:xfrm>
          <a:prstGeom prst="straightConnector1">
            <a:avLst/>
          </a:prstGeom>
          <a:ln w="23813">
            <a:solidFill>
              <a:srgbClr val="C9960F"/>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a:spLocks noGrp="1"/>
          </p:cNvSpPr>
          <p:nvPr/>
        </p:nvSpPr>
        <p:spPr>
          <a:xfrm>
            <a:off x="720000" y="4140000"/>
            <a:ext cx="2441543"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a:spLocks noGrp="1"/>
          </p:cNvSpPr>
          <p:nvPr/>
        </p:nvSpPr>
        <p:spPr>
          <a:xfrm>
            <a:off x="3600000" y="4140000"/>
            <a:ext cx="2441543"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a:spLocks noGrp="1"/>
          </p:cNvSpPr>
          <p:nvPr/>
        </p:nvSpPr>
        <p:spPr>
          <a:xfrm>
            <a:off x="6480000" y="4140000"/>
            <a:ext cx="2441543"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a:spLocks noGrp="1"/>
          </p:cNvSpPr>
          <p:nvPr/>
        </p:nvSpPr>
        <p:spPr>
          <a:xfrm>
            <a:off x="9360000" y="4140000"/>
            <a:ext cx="2441543"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a:spLocks noGrp="1"/>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a:spLocks noGrp="1"/>
          </p:cNvSpPr>
          <p:nvPr/>
        </p:nvSpPr>
        <p:spPr>
          <a:xfrm>
            <a:off x="3600000" y="4860000"/>
            <a:ext cx="2441568"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Vector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7</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7">
              <a:extLst>
                <a:ext uri="{96DAC541-7B7A-43D3-8B79-37D633B846F1}">
                  <asvg:svgBlip xmlns:asvg="http://schemas.microsoft.com/office/drawing/2016/SVG/main" r:embed="rId28"/>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9">
              <a:extLst>
                <a:ext uri="{96DAC541-7B7A-43D3-8B79-37D633B846F1}">
                  <asvg:svgBlip xmlns:asvg="http://schemas.microsoft.com/office/drawing/2016/SVG/main" r:embed="rId30"/>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10.08.2026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8</a:t>
            </a:fld>
            <a:endParaRPr lang="de-CH"/>
          </a:p>
        </p:txBody>
      </p:sp>
      <p:sp>
        <p:nvSpPr>
          <p:cNvPr id="32" name="Inhaltsplatzhalter 31">
            <a:extLst>
              <a:ext uri="{FF2B5EF4-FFF2-40B4-BE49-F238E27FC236}">
                <a16:creationId xmlns:a16="http://schemas.microsoft.com/office/drawing/2014/main" id="{639B734F-7133-C9E6-4712-911C81C98AFD}"/>
              </a:ext>
            </a:extLst>
          </p:cNvPr>
          <p:cNvSpPr>
            <a:spLocks noGrp="1"/>
          </p:cNvSpPr>
          <p:nvPr>
            <p:ph sz="quarter" idx="13"/>
          </p:nvPr>
        </p:nvSpPr>
        <p:spPr/>
        <p:txBody>
          <a:bodyPr/>
          <a:lstStyle/>
          <a:p>
            <a:endParaRPr lang="de-CH"/>
          </a:p>
        </p:txBody>
      </p:sp>
      <p:sp>
        <p:nvSpPr>
          <p:cNvPr id="6" name="Content-Placeholder-9-4">
            <a:extLst>
              <a:ext uri="{FF2B5EF4-FFF2-40B4-BE49-F238E27FC236}">
                <a16:creationId xmlns:a16="http://schemas.microsoft.com/office/drawing/2014/main" id="{D7A05BEB-E6BD-CEF0-3EED-9042410322FA}"/>
              </a:ext>
            </a:extLst>
          </p:cNvPr>
          <p:cNvSpPr>
            <a:spLocks noGrp="1"/>
          </p:cNvSpPr>
          <p:nvPr/>
        </p:nvSpPr>
        <p:spPr>
          <a:xfrm>
            <a:off x="36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1 · Chat</a:t>
            </a:r>
          </a:p>
          <a:p>
            <a:pPr algn="l">
              <a:buNone/>
              <a:defRPr sz="2400">
                <a:solidFill>
                  <a:srgbClr val="000000"/>
                </a:solidFill>
                <a:latin typeface="Arial"/>
                <a:ea typeface="Arial"/>
                <a:cs typeface="Arial"/>
              </a:defRPr>
            </a:pPr>
            <a:r>
              <a:t>OpenAI-kompatibler Client und ein Prompt.</a:t>
            </a:r>
          </a:p>
        </p:txBody>
      </p:sp>
      <p:sp>
        <p:nvSpPr>
          <p:cNvPr id="7" name="Content-Placeholder-10-5">
            <a:extLst>
              <a:ext uri="{FF2B5EF4-FFF2-40B4-BE49-F238E27FC236}">
                <a16:creationId xmlns:a16="http://schemas.microsoft.com/office/drawing/2014/main" id="{8F32E3DE-567E-E4A3-7DDA-216F4DC2B920}"/>
              </a:ext>
            </a:extLst>
          </p:cNvPr>
          <p:cNvSpPr>
            <a:spLocks noGrp="1"/>
          </p:cNvSpPr>
          <p:nvPr/>
        </p:nvSpPr>
        <p:spPr>
          <a:xfrm>
            <a:off x="6300000" y="1980000"/>
            <a:ext cx="5580000" cy="1620000"/>
          </a:xfrm>
          <a:prstGeom prst="rect">
            <a:avLst/>
          </a:prstGeom>
        </p:spPr>
        <p:txBody>
          <a:bodyPr lIns="91440" tIns="45720" rIns="91440" bIns="45720"/>
          <a:lstStyle/>
          <a:p>
            <a:pPr algn="l">
              <a:buNone/>
              <a:defRPr sz="2400">
                <a:solidFill>
                  <a:srgbClr val="000000"/>
                </a:solidFill>
                <a:latin typeface="Arial"/>
                <a:ea typeface="Arial"/>
                <a:cs typeface="Arial"/>
              </a:defRPr>
            </a:pPr>
            <a:r>
              <a:t>2 · Vector RAG</a:t>
            </a:r>
          </a:p>
          <a:p>
            <a:pPr algn="l">
              <a:buNone/>
              <a:defRPr sz="2400">
                <a:solidFill>
                  <a:srgbClr val="000000"/>
                </a:solidFill>
                <a:latin typeface="Arial"/>
                <a:ea typeface="Arial"/>
                <a:cs typeface="Arial"/>
              </a:defRPr>
            </a:pPr>
            <a:r>
              <a:t>Fixed Chunks → Chroma → Top-K-Kontext.</a:t>
            </a:r>
          </a:p>
        </p:txBody>
      </p:sp>
      <p:sp>
        <p:nvSpPr>
          <p:cNvPr id="8" name="Content-Placeholder-9-6">
            <a:extLst>
              <a:ext uri="{FF2B5EF4-FFF2-40B4-BE49-F238E27FC236}">
                <a16:creationId xmlns:a16="http://schemas.microsoft.com/office/drawing/2014/main" id="{E4392232-0F5A-352B-54F4-1CEA54117E26}"/>
              </a:ext>
            </a:extLst>
          </p:cNvPr>
          <p:cNvSpPr>
            <a:spLocks noGrp="1"/>
          </p:cNvSpPr>
          <p:nvPr/>
        </p:nvSpPr>
        <p:spPr>
          <a:xfrm>
            <a:off x="36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3 · Qualität</a:t>
            </a:r>
          </a:p>
          <a:p>
            <a:pPr algn="l">
              <a:buNone/>
              <a:defRPr sz="2400">
                <a:solidFill>
                  <a:srgbClr val="000000"/>
                </a:solidFill>
                <a:latin typeface="Arial"/>
                <a:ea typeface="Arial"/>
                <a:cs typeface="Arial"/>
              </a:defRPr>
            </a:pPr>
            <a:r>
              <a:t>Legal-Chunking und Cross-Encoder-Reranking.</a:t>
            </a:r>
          </a:p>
        </p:txBody>
      </p:sp>
      <p:sp>
        <p:nvSpPr>
          <p:cNvPr id="9" name="Content-Placeholder-10-7">
            <a:extLst>
              <a:ext uri="{FF2B5EF4-FFF2-40B4-BE49-F238E27FC236}">
                <a16:creationId xmlns:a16="http://schemas.microsoft.com/office/drawing/2014/main" id="{E217FA6F-8E5B-A909-5C94-DEAB3EB06FEB}"/>
              </a:ext>
            </a:extLst>
          </p:cNvPr>
          <p:cNvSpPr>
            <a:spLocks noGrp="1"/>
          </p:cNvSpPr>
          <p:nvPr/>
        </p:nvSpPr>
        <p:spPr>
          <a:xfrm>
            <a:off x="6300000" y="3960000"/>
            <a:ext cx="5580000" cy="1620000"/>
          </a:xfrm>
          <a:prstGeom prst="rect">
            <a:avLst/>
          </a:prstGeom>
        </p:spPr>
        <p:txBody>
          <a:bodyPr lIns="0" tIns="0" rIns="0" bIns="0">
            <a:normAutofit/>
          </a:bodyPr>
          <a:lstStyle/>
          <a:p>
            <a:pPr algn="l">
              <a:buNone/>
              <a:defRPr sz="2400">
                <a:solidFill>
                  <a:srgbClr val="000000"/>
                </a:solidFill>
                <a:latin typeface="Arial"/>
                <a:ea typeface="Arial"/>
                <a:cs typeface="Arial"/>
              </a:defRPr>
            </a:pPr>
            <a:r>
              <a:t>4 · Graph + Eval</a:t>
            </a:r>
          </a:p>
          <a:p>
            <a:pPr algn="l">
              <a:buNone/>
              <a:defRPr sz="2400">
                <a:solidFill>
                  <a:srgbClr val="000000"/>
                </a:solidFill>
                <a:latin typeface="Arial"/>
                <a:ea typeface="Arial"/>
                <a:cs typeface="Arial"/>
              </a:defRPr>
            </a:pPr>
            <a:r>
              <a:t>Hybride Artikelsuche, Graph-Nachbarn, messbare Qualität.</a:t>
            </a:r>
          </a:p>
        </p:txBody>
      </p:sp>
      <p:sp>
        <p:nvSpPr>
          <p:cNvPr id="10" name="content-placeholder-cover">
            <a:extLst>
              <a:ext uri="{FF2B5EF4-FFF2-40B4-BE49-F238E27FC236}">
                <a16:creationId xmlns:a16="http://schemas.microsoft.com/office/drawing/2014/main" id="{8E9561C2-A9EE-48C0-BBC7-50D3CAF64ED4}"/>
              </a:ext>
            </a:extLst>
          </p:cNvPr>
          <p:cNvSpPr>
            <a:spLocks noGrp="1"/>
          </p:cNvSpPr>
          <p:nvPr/>
        </p:nvSpPr>
        <p:spPr>
          <a:xfrm>
            <a:off x="360000" y="1260000"/>
            <a:ext cx="11520000" cy="4680000"/>
          </a:xfrm>
          <a:prstGeom prst="rect">
            <a:avLst/>
          </a:prstGeom>
          <a:solidFill>
            <a:srgbClr val="FFFFFF"/>
          </a:solidFill>
          <a:ln w="0">
            <a:solidFill>
              <a:srgbClr val="FFFFFF"/>
            </a:solidFill>
            <a:prstDash val="solid"/>
          </a:ln>
        </p:spPr>
        <p:txBody>
          <a:bodyPr/>
          <a:lstStyle/>
          <a:p>
            <a:endParaRPr lang="de-CH"/>
          </a:p>
        </p:txBody>
      </p:sp>
      <p:sp>
        <p:nvSpPr>
          <p:cNvPr id="11" name="repo-progression-subtitle">
            <a:extLst>
              <a:ext uri="{FF2B5EF4-FFF2-40B4-BE49-F238E27FC236}">
                <a16:creationId xmlns:a16="http://schemas.microsoft.com/office/drawing/2014/main" id="{93070F9C-1D73-491A-AA83-B0CD1488E27D}"/>
              </a:ext>
            </a:extLst>
          </p:cNvPr>
          <p:cNvSpPr>
            <a:spLocks noGrp="1"/>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a:spLocks noGrp="1"/>
          </p:cNvSpPr>
          <p:nvPr/>
        </p:nvSpPr>
        <p:spPr>
          <a:xfrm>
            <a:off x="1260000" y="2520000"/>
            <a:ext cx="8286750"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a:spLocks noGrp="1"/>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a:spLocks noGrp="1"/>
          </p:cNvSpPr>
          <p:nvPr/>
        </p:nvSpPr>
        <p:spPr>
          <a:xfrm>
            <a:off x="720000" y="3060000"/>
            <a:ext cx="2238375"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a:spLocks noGrp="1"/>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a:solidFill>
                  <a:srgbClr val="2D3F4B"/>
                </a:solidFill>
                <a:latin typeface="Arial"/>
                <a:ea typeface="Arial"/>
                <a:cs typeface="Arial"/>
              </a:rPr>
              <a:t>LLM-Aufruf</a:t>
            </a:r>
          </a:p>
        </p:txBody>
      </p:sp>
      <p:sp>
        <p:nvSpPr>
          <p:cNvPr id="16" name="stage-1-copy">
            <a:extLst>
              <a:ext uri="{FF2B5EF4-FFF2-40B4-BE49-F238E27FC236}">
                <a16:creationId xmlns:a16="http://schemas.microsoft.com/office/drawing/2014/main" id="{C5B9BC2D-8807-4358-9EC7-F52D82CC6BF4}"/>
              </a:ext>
            </a:extLst>
          </p:cNvPr>
          <p:cNvSpPr>
            <a:spLocks noGrp="1"/>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Prompt senden</a:t>
            </a:r>
          </a:p>
          <a:p>
            <a:pPr algn="ctr">
              <a:buNone/>
              <a:defRPr sz="1500">
                <a:solidFill>
                  <a:srgbClr val="2D3F4B"/>
                </a:solidFill>
                <a:latin typeface="Arial"/>
                <a:ea typeface="Arial"/>
                <a:cs typeface="Arial"/>
              </a:defRPr>
            </a:pPr>
            <a:r>
              <a:rPr sz="1500">
                <a:solidFill>
                  <a:srgbClr val="2D3F4B"/>
                </a:solidFill>
                <a:latin typeface="Arial"/>
                <a:ea typeface="Arial"/>
                <a:cs typeface="Arial"/>
              </a:rPr>
              <a:t>Antwort erhalten</a:t>
            </a:r>
          </a:p>
        </p:txBody>
      </p:sp>
      <p:sp>
        <p:nvSpPr>
          <p:cNvPr id="17" name="stage-2-circle">
            <a:extLst>
              <a:ext uri="{FF2B5EF4-FFF2-40B4-BE49-F238E27FC236}">
                <a16:creationId xmlns:a16="http://schemas.microsoft.com/office/drawing/2014/main" id="{788267D1-787C-48BB-921D-457EA3D4064D}"/>
              </a:ext>
            </a:extLst>
          </p:cNvPr>
          <p:cNvSpPr>
            <a:spLocks noGrp="1"/>
          </p:cNvSpPr>
          <p:nvPr/>
        </p:nvSpPr>
        <p:spPr>
          <a:xfrm>
            <a:off x="432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a:spLocks noGrp="1"/>
          </p:cNvSpPr>
          <p:nvPr/>
        </p:nvSpPr>
        <p:spPr>
          <a:xfrm>
            <a:off x="3420000" y="3060000"/>
            <a:ext cx="2238375"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a:spLocks noGrp="1"/>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a:spLocks noGrp="1"/>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a:spLocks noGrp="1"/>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a:spLocks noGrp="1"/>
          </p:cNvSpPr>
          <p:nvPr/>
        </p:nvSpPr>
        <p:spPr>
          <a:xfrm>
            <a:off x="6300000" y="3060000"/>
            <a:ext cx="2238375"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a:spLocks noGrp="1"/>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a:spLocks noGrp="1"/>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a:solidFill>
                  <a:srgbClr val="2D3F4B"/>
                </a:solidFill>
                <a:latin typeface="Arial"/>
                <a:ea typeface="Arial"/>
                <a:cs typeface="Arial"/>
              </a:rPr>
              <a:t>Suche + Reranking</a:t>
            </a:r>
          </a:p>
        </p:txBody>
      </p:sp>
      <p:sp>
        <p:nvSpPr>
          <p:cNvPr id="25" name="stage-4-circle">
            <a:extLst>
              <a:ext uri="{FF2B5EF4-FFF2-40B4-BE49-F238E27FC236}">
                <a16:creationId xmlns:a16="http://schemas.microsoft.com/office/drawing/2014/main" id="{1D3AC8DC-9B1D-4449-B0CF-7DCD74368364}"/>
              </a:ext>
            </a:extLst>
          </p:cNvPr>
          <p:cNvSpPr>
            <a:spLocks noGrp="1"/>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a:spLocks noGrp="1"/>
          </p:cNvSpPr>
          <p:nvPr/>
        </p:nvSpPr>
        <p:spPr>
          <a:xfrm>
            <a:off x="9000000" y="3060000"/>
            <a:ext cx="2238375" cy="36195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a:spLocks noGrp="1"/>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a:spLocks noGrp="1"/>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a:spLocks noGrp="1"/>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9</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10</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50000"/>
            </a:srgbClr>
          </a:solidFill>
          <a:ln>
            <a:noFill/>
          </a:ln>
        </p:spPr>
        <p:txBody>
          <a:bodyPr/>
          <a:lstStyle/>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12</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50000"/>
            </a:srgbClr>
          </a:solidFill>
          <a:ln>
            <a:noFill/>
          </a:ln>
        </p:spPr>
        <p:txBody>
          <a:bodyPr/>
          <a:lstStyle/>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50000"/>
            </a:srgbClr>
          </a:solidFill>
          <a:ln>
            <a:noFill/>
          </a:ln>
        </p:spPr>
        <p:txBody>
          <a:bodyPr/>
          <a:lstStyle/>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10.08.2026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14</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15</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50000"/>
            </a:srgbClr>
          </a:solidFill>
          <a:ln>
            <a:noFill/>
          </a:ln>
        </p:spPr>
        <p:txBody>
          <a:bodyPr/>
          <a:lstStyle/>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a:spLocks noGrp="1"/>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4" name="left-label">
            <a:extLst>
              <a:ext uri="{FF2B5EF4-FFF2-40B4-BE49-F238E27FC236}">
                <a16:creationId xmlns:a16="http://schemas.microsoft.com/office/drawing/2014/main" id="{96E00807-7B9E-444E-8FBC-3FE42823E616}"/>
              </a:ext>
            </a:extLst>
          </p:cNvPr>
          <p:cNvSpPr>
            <a:spLocks noGrp="1"/>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a:spLocks noGrp="1"/>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6" name="right-label">
            <a:extLst>
              <a:ext uri="{FF2B5EF4-FFF2-40B4-BE49-F238E27FC236}">
                <a16:creationId xmlns:a16="http://schemas.microsoft.com/office/drawing/2014/main" id="{BDBC1CCC-6D90-4093-98EC-043DDC5B637F}"/>
              </a:ext>
            </a:extLst>
          </p:cNvPr>
          <p:cNvSpPr>
            <a:spLocks noGrp="1"/>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a:spLocks noGrp="1"/>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a:spLocks noGrp="1"/>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9" name="right-panel">
            <a:extLst>
              <a:ext uri="{FF2B5EF4-FFF2-40B4-BE49-F238E27FC236}">
                <a16:creationId xmlns:a16="http://schemas.microsoft.com/office/drawing/2014/main" id="{D3A58C4A-9B3B-4FF2-900F-FC58DEF37FFA}"/>
              </a:ext>
            </a:extLst>
          </p:cNvPr>
          <p:cNvSpPr>
            <a:spLocks noGrp="1"/>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a:spLocks noGrp="1"/>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a:spLocks noGrp="1"/>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Art. 335b · Probezeit</a:t>
            </a:r>
          </a:p>
          <a:p>
            <a:pPr algn="l">
              <a:defRPr sz="1350" b="0">
                <a:solidFill>
                  <a:srgbClr val="304452"/>
                </a:solidFill>
              </a:defRPr>
            </a:pPr>
            <a:r>
              <a:rPr sz="1350" b="0">
                <a:solidFill>
                  <a:srgbClr val="304452"/>
                </a:solidFill>
              </a:rPr>
              <a:t>Die Probezeit beträgt grundsätzlich den ersten Monat. Sie kann auf höchstens drei Monate verlän-</a:t>
            </a:r>
          </a:p>
        </p:txBody>
      </p:sp>
      <p:sp>
        <p:nvSpPr>
          <p:cNvPr id="12" name="chunk18">
            <a:extLst>
              <a:ext uri="{FF2B5EF4-FFF2-40B4-BE49-F238E27FC236}">
                <a16:creationId xmlns:a16="http://schemas.microsoft.com/office/drawing/2014/main" id="{F7A34B1E-6B6D-4093-A46C-5EE5D8C2BE3A}"/>
              </a:ext>
            </a:extLst>
          </p:cNvPr>
          <p:cNvSpPr>
            <a:spLocks noGrp="1"/>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a:spLocks noGrp="1"/>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a:solidFill>
                  <a:srgbClr val="304452"/>
                </a:solidFill>
              </a:rPr>
              <a:t>gert werden. Bei Krankheit …</a:t>
            </a:r>
          </a:p>
          <a:p>
            <a:endParaRPr sz="1350" b="0">
              <a:solidFill>
                <a:srgbClr val="304452"/>
              </a:solidFill>
            </a:endParaRPr>
          </a:p>
          <a:p>
            <a:pPr algn="l">
              <a:defRPr sz="1350" b="0">
                <a:solidFill>
                  <a:srgbClr val="304452"/>
                </a:solidFill>
              </a:defRPr>
            </a:pPr>
            <a:r>
              <a:rPr sz="1350" b="0">
                <a:solidFill>
                  <a:srgbClr val="304452"/>
                </a:solidFill>
              </a:rPr>
              <a:t>Art. 335c</a:t>
            </a:r>
          </a:p>
          <a:p>
            <a:pPr algn="l">
              <a:defRPr sz="1350" b="0">
                <a:solidFill>
                  <a:srgbClr val="304452"/>
                </a:solidFill>
              </a:defRPr>
            </a:pPr>
            <a:r>
              <a:rPr sz="1350" b="0">
                <a:solidFill>
                  <a:srgbClr val="304452"/>
                </a:solidFill>
              </a:rPr>
              <a:t>Kündigungsfristen …</a:t>
            </a:r>
          </a:p>
        </p:txBody>
      </p:sp>
      <p:sp>
        <p:nvSpPr>
          <p:cNvPr id="14" name="hard-boundary">
            <a:extLst>
              <a:ext uri="{FF2B5EF4-FFF2-40B4-BE49-F238E27FC236}">
                <a16:creationId xmlns:a16="http://schemas.microsoft.com/office/drawing/2014/main" id="{3A8DD313-725B-4E1C-9433-3901D5DAF639}"/>
              </a:ext>
            </a:extLst>
          </p:cNvPr>
          <p:cNvSpPr>
            <a:spLocks noGrp="1"/>
          </p:cNvSpPr>
          <p:nvPr/>
        </p:nvSpPr>
        <p:spPr>
          <a:xfrm>
            <a:off x="306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a:spLocks noGrp="1"/>
          </p:cNvSpPr>
          <p:nvPr/>
        </p:nvSpPr>
        <p:spPr>
          <a:xfrm>
            <a:off x="2700000" y="4320000"/>
            <a:ext cx="857250" cy="400050"/>
          </a:xfrm>
          <a:prstGeom prst="rect">
            <a:avLst/>
          </a:prstGeom>
          <a:noFill/>
          <a:ln w="0">
            <a:noFill/>
            <a:prstDash val="solid"/>
          </a:ln>
        </p:spPr>
        <p:txBody>
          <a:bodyPr anchor="ctr"/>
          <a:lstStyle/>
          <a:p>
            <a:pPr algn="ctr">
              <a:defRPr sz="825" b="1">
                <a:solidFill>
                  <a:srgbClr val="D20A32"/>
                </a:solidFill>
              </a:defRPr>
            </a:pPr>
            <a:r>
              <a:rPr sz="825" b="1">
                <a:solidFill>
                  <a:srgbClr val="D20A32"/>
                </a:solidFill>
              </a:rPr>
              <a:t>STARRE</a:t>
            </a:r>
          </a:p>
          <a:p>
            <a:pPr algn="ctr">
              <a:defRPr sz="825" b="1">
                <a:solidFill>
                  <a:srgbClr val="D20A32"/>
                </a:solidFill>
              </a:defRPr>
            </a:pPr>
            <a:r>
              <a:rPr sz="825" b="1">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a:spLocks noGrp="1"/>
          </p:cNvSpPr>
          <p:nvPr/>
        </p:nvSpPr>
        <p:spPr>
          <a:xfrm>
            <a:off x="90000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sp>
        <p:nvSpPr>
          <p:cNvPr id="17" name="article-block">
            <a:extLst>
              <a:ext uri="{FF2B5EF4-FFF2-40B4-BE49-F238E27FC236}">
                <a16:creationId xmlns:a16="http://schemas.microsoft.com/office/drawing/2014/main" id="{8FC7FE77-AF45-4BCF-8735-F19FD4F129D3}"/>
              </a:ext>
            </a:extLst>
          </p:cNvPr>
          <p:cNvSpPr>
            <a:spLocks noGrp="1"/>
          </p:cNvSpPr>
          <p:nvPr/>
        </p:nvSpPr>
        <p:spPr>
          <a:xfrm>
            <a:off x="6660000" y="2520000"/>
            <a:ext cx="4680000" cy="1080000"/>
          </a:xfrm>
          <a:prstGeom prst="roundRect">
            <a:avLst>
              <a:gd name="adj" fmla="val 7273"/>
            </a:avLst>
          </a:prstGeom>
          <a:solidFill>
            <a:srgbClr val="FFFFFF"/>
          </a:solidFill>
          <a:ln w="14288">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a:spLocks noGrp="1"/>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a:spLocks noGrp="1"/>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endParaRPr sz="1350" b="1" dirty="0">
              <a:solidFill>
                <a:srgbClr val="304452"/>
              </a:solidFill>
            </a:endParaRPr>
          </a:p>
          <a:p>
            <a:pPr algn="l">
              <a:defRPr sz="1350" b="1">
                <a:solidFill>
                  <a:srgbClr val="304452"/>
                </a:solidFill>
              </a:defRPr>
            </a:pP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0" name="semantic-flow">
            <a:extLst>
              <a:ext uri="{FF2B5EF4-FFF2-40B4-BE49-F238E27FC236}">
                <a16:creationId xmlns:a16="http://schemas.microsoft.com/office/drawing/2014/main" id="{9CAFB230-D60C-4956-AB70-24D876A7D99A}"/>
              </a:ext>
            </a:extLst>
          </p:cNvPr>
          <p:cNvSpPr>
            <a:spLocks noGrp="1"/>
          </p:cNvSpPr>
          <p:nvPr/>
        </p:nvSpPr>
        <p:spPr>
          <a:xfrm>
            <a:off x="9000000" y="3600000"/>
            <a:ext cx="0" cy="228600"/>
          </a:xfrm>
          <a:prstGeom prst="line">
            <a:avLst/>
          </a:prstGeom>
          <a:noFill/>
          <a:ln w="19050">
            <a:solidFill>
              <a:srgbClr val="307F87"/>
            </a:solidFill>
            <a:prstDash val="solid"/>
          </a:ln>
        </p:spPr>
        <p:txBody>
          <a:bodyPr/>
          <a:lstStyle/>
          <a:p>
            <a:endParaRPr lang="de-CH"/>
          </a:p>
        </p:txBody>
      </p:sp>
      <p:sp>
        <p:nvSpPr>
          <p:cNvPr id="21" name="oversize-note">
            <a:extLst>
              <a:ext uri="{FF2B5EF4-FFF2-40B4-BE49-F238E27FC236}">
                <a16:creationId xmlns:a16="http://schemas.microsoft.com/office/drawing/2014/main" id="{6557A38C-4E89-4CDC-8237-FCB0C661E68A}"/>
              </a:ext>
            </a:extLst>
          </p:cNvPr>
          <p:cNvSpPr>
            <a:spLocks noGrp="1"/>
          </p:cNvSpPr>
          <p:nvPr/>
        </p:nvSpPr>
        <p:spPr>
          <a:xfrm>
            <a:off x="6840000" y="3960000"/>
            <a:ext cx="4095750" cy="266700"/>
          </a:xfrm>
          <a:prstGeom prst="rect">
            <a:avLst/>
          </a:prstGeom>
          <a:noFill/>
          <a:ln w="0">
            <a:noFill/>
            <a:prstDash val="solid"/>
          </a:ln>
        </p:spPr>
        <p:txBody>
          <a:bodyPr anchor="ctr"/>
          <a:lstStyle/>
          <a:p>
            <a:pPr algn="l">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sp>
        <p:nvSpPr>
          <p:cNvPr id="22" name="semantic-flow-2">
            <a:extLst>
              <a:ext uri="{FF2B5EF4-FFF2-40B4-BE49-F238E27FC236}">
                <a16:creationId xmlns:a16="http://schemas.microsoft.com/office/drawing/2014/main" id="{FA1EEF6A-01EC-4691-AC51-EF0E965116DD}"/>
              </a:ext>
            </a:extLst>
          </p:cNvPr>
          <p:cNvSpPr>
            <a:spLocks noGrp="1"/>
          </p:cNvSpPr>
          <p:nvPr/>
        </p:nvSpPr>
        <p:spPr>
          <a:xfrm>
            <a:off x="9000000" y="4140000"/>
            <a:ext cx="0" cy="171450"/>
          </a:xfrm>
          <a:prstGeom prst="line">
            <a:avLst/>
          </a:prstGeom>
          <a:noFill/>
          <a:ln w="19050">
            <a:solidFill>
              <a:srgbClr val="307F87"/>
            </a:solidFill>
            <a:prstDash val="solid"/>
          </a:ln>
        </p:spPr>
        <p:txBody>
          <a:bodyPr/>
          <a:lstStyle/>
          <a:p>
            <a:endParaRPr lang="de-CH"/>
          </a:p>
        </p:txBody>
      </p:sp>
      <p:sp>
        <p:nvSpPr>
          <p:cNvPr id="23" name="result-chip">
            <a:extLst>
              <a:ext uri="{FF2B5EF4-FFF2-40B4-BE49-F238E27FC236}">
                <a16:creationId xmlns:a16="http://schemas.microsoft.com/office/drawing/2014/main" id="{7BBF8A2F-B0CE-4AF3-A58D-9B9260B96072}"/>
              </a:ext>
            </a:extLst>
          </p:cNvPr>
          <p:cNvSpPr>
            <a:spLocks noGrp="1"/>
          </p:cNvSpPr>
          <p:nvPr/>
        </p:nvSpPr>
        <p:spPr>
          <a:xfrm>
            <a:off x="7380000" y="4320000"/>
            <a:ext cx="3238500" cy="457200"/>
          </a:xfrm>
          <a:prstGeom prst="roundRect">
            <a:avLst>
              <a:gd name="adj" fmla="val 16667"/>
            </a:avLst>
          </a:prstGeom>
          <a:solidFill>
            <a:srgbClr val="EAF4F4"/>
          </a:solidFill>
          <a:ln w="9525">
            <a:solidFill>
              <a:srgbClr val="307F87"/>
            </a:solidFill>
            <a:prstDash val="solid"/>
          </a:ln>
        </p:spPr>
        <p:txBody>
          <a:bodyPr/>
          <a:lstStyle/>
          <a:p>
            <a:endParaRPr lang="de-CH"/>
          </a:p>
        </p:txBody>
      </p:sp>
      <p:sp>
        <p:nvSpPr>
          <p:cNvPr id="24" name="right-result">
            <a:extLst>
              <a:ext uri="{FF2B5EF4-FFF2-40B4-BE49-F238E27FC236}">
                <a16:creationId xmlns:a16="http://schemas.microsoft.com/office/drawing/2014/main" id="{7348DD27-7E23-4633-BEAA-34EFEEEF7F60}"/>
              </a:ext>
            </a:extLst>
          </p:cNvPr>
          <p:cNvSpPr>
            <a:spLocks noGrp="1"/>
          </p:cNvSpPr>
          <p:nvPr/>
        </p:nvSpPr>
        <p:spPr>
          <a:xfrm>
            <a:off x="7560000" y="4500000"/>
            <a:ext cx="2895600" cy="247650"/>
          </a:xfrm>
          <a:prstGeom prst="rect">
            <a:avLst/>
          </a:prstGeom>
          <a:noFill/>
          <a:ln w="0">
            <a:noFill/>
            <a:prstDash val="solid"/>
          </a:ln>
        </p:spPr>
        <p:txBody>
          <a:bodyPr anchor="ctr"/>
          <a:lstStyle/>
          <a:p>
            <a:pPr algn="ctr">
              <a:defRPr sz="1050" b="1">
                <a:solidFill>
                  <a:srgbClr val="307F87"/>
                </a:solidFill>
              </a:defRPr>
            </a:pPr>
            <a:r>
              <a:rPr sz="1050" b="1">
                <a:solidFill>
                  <a:srgbClr val="307F87"/>
                </a:solidFill>
              </a:rPr>
              <a:t>BEDEUTUNG BLEIBT ZUSAMMEN</a:t>
            </a:r>
          </a:p>
        </p:txBody>
      </p:sp>
      <p:sp>
        <p:nvSpPr>
          <p:cNvPr id="25" name="takeaway">
            <a:extLst>
              <a:ext uri="{FF2B5EF4-FFF2-40B4-BE49-F238E27FC236}">
                <a16:creationId xmlns:a16="http://schemas.microsoft.com/office/drawing/2014/main" id="{18B3756D-9BFF-41E2-AA7E-61B134B1E097}"/>
              </a:ext>
            </a:extLst>
          </p:cNvPr>
          <p:cNvSpPr>
            <a:spLocks noGrp="1"/>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lstStyle/>
          <a:p>
            <a:endParaRPr lang="de-CH"/>
          </a:p>
        </p:txBody>
      </p:sp>
      <p:sp>
        <p:nvSpPr>
          <p:cNvPr id="26" name="takeaway-text">
            <a:extLst>
              <a:ext uri="{FF2B5EF4-FFF2-40B4-BE49-F238E27FC236}">
                <a16:creationId xmlns:a16="http://schemas.microsoft.com/office/drawing/2014/main" id="{36E28B72-CCDB-43BA-845A-F1523BB4480E}"/>
              </a:ext>
            </a:extLst>
          </p:cNvPr>
          <p:cNvSpPr>
            <a:spLocks noGrp="1"/>
          </p:cNvSpPr>
          <p:nvPr/>
        </p:nvSpPr>
        <p:spPr>
          <a:xfrm>
            <a:off x="2340000" y="5580000"/>
            <a:ext cx="7429500" cy="361950"/>
          </a:xfrm>
          <a:prstGeom prst="rect">
            <a:avLst/>
          </a:prstGeom>
          <a:noFill/>
          <a:ln w="0">
            <a:noFill/>
            <a:prstDash val="solid"/>
          </a:ln>
        </p:spPr>
        <p:txBody>
          <a:bodyPr anchor="ctr"/>
          <a:lstStyle/>
          <a:p>
            <a:pPr algn="ctr">
              <a:defRPr sz="1650" b="1">
                <a:solidFill>
                  <a:srgbClr val="FFFFFF"/>
                </a:solidFill>
              </a:defRPr>
            </a:pPr>
            <a:r>
              <a:rPr sz="1650" b="1">
                <a:solidFill>
                  <a:srgbClr val="FFFFFF"/>
                </a:solidFill>
              </a:rPr>
              <a:t>Ziel: Token-Budget einhalten, ohne Bedeutung zu zerreißen.</a:t>
            </a:r>
          </a:p>
        </p:txBody>
      </p:sp>
      <p:sp>
        <p:nvSpPr>
          <p:cNvPr id="27" name="page">
            <a:extLst>
              <a:ext uri="{FF2B5EF4-FFF2-40B4-BE49-F238E27FC236}">
                <a16:creationId xmlns:a16="http://schemas.microsoft.com/office/drawing/2014/main" id="{A2F7BA51-B5C1-4387-8006-3CDB0BB160DA}"/>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900000" y="396000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20000" y="3060000"/>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9" grpId="0" animBg="1"/>
      <p:bldP spid="17" grpId="0" animBg="1"/>
      <p:bldP spid="18" grpId="0"/>
      <p:bldP spid="19" grpId="0"/>
      <p:bldP spid="20" grpId="0" animBg="1"/>
      <p:bldP spid="21" grpId="0"/>
      <p:bldP spid="22" grpId="0" animBg="1"/>
      <p:bldP spid="23" grpId="0" animBg="1"/>
      <p:bldP spid="24" grpId="0"/>
      <p:bldP spid="25" grpId="0" animBg="1"/>
      <p:bldP spid="26"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Retrieval maximiert Recall; der Cross-Encoder verbessert danach die Reihenfolge.</a:t>
            </a:r>
          </a:p>
        </p:txBody>
      </p:sp>
      <p:sp>
        <p:nvSpPr>
          <p:cNvPr id="20" name="page-number">
            <a:extLst>
              <a:ext uri="{FF2B5EF4-FFF2-40B4-BE49-F238E27FC236}">
                <a16:creationId xmlns:a16="http://schemas.microsoft.com/office/drawing/2014/main" id="{19B956D9-D2CE-4318-AEFE-02BD0C4DF8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a:spLocks noGrp="1"/>
          </p:cNvSpPr>
          <p:nvPr/>
        </p:nvSpPr>
        <p:spPr>
          <a:xfrm>
            <a:off x="720000" y="1980000"/>
            <a:ext cx="142875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a:spLocks noGrp="1"/>
          </p:cNvSpPr>
          <p:nvPr/>
        </p:nvSpPr>
        <p:spPr>
          <a:xfrm>
            <a:off x="720000" y="2340000"/>
            <a:ext cx="2160000" cy="720000"/>
          </a:xfrm>
          <a:prstGeom prst="roundRect">
            <a:avLst>
              <a:gd name="adj" fmla="val 19512"/>
            </a:avLst>
          </a:prstGeom>
          <a:solidFill>
            <a:srgbClr val="2D3F4B"/>
          </a:solidFill>
          <a:ln w="0">
            <a:solidFill>
              <a:srgbClr val="2D3F4B"/>
            </a:solidFill>
            <a:prstDash val="solid"/>
          </a:ln>
        </p:spPr>
        <p:txBody>
          <a:bodyPr/>
          <a:lstStyle/>
          <a:p>
            <a:endParaRPr lang="de-CH"/>
          </a:p>
        </p:txBody>
      </p:sp>
      <p:sp>
        <p:nvSpPr>
          <p:cNvPr id="24" name="query-text">
            <a:extLst>
              <a:ext uri="{FF2B5EF4-FFF2-40B4-BE49-F238E27FC236}">
                <a16:creationId xmlns:a16="http://schemas.microsoft.com/office/drawing/2014/main" id="{9908C4F4-A34D-4F5F-8602-19FC9D835456}"/>
              </a:ext>
            </a:extLst>
          </p:cNvPr>
          <p:cNvSpPr>
            <a:spLocks noGrp="1"/>
          </p:cNvSpPr>
          <p:nvPr/>
        </p:nvSpPr>
        <p:spPr>
          <a:xfrm>
            <a:off x="900000" y="2520000"/>
            <a:ext cx="1857375" cy="495300"/>
          </a:xfrm>
          <a:prstGeom prst="rect">
            <a:avLst/>
          </a:prstGeom>
          <a:noFill/>
          <a:ln w="0">
            <a:noFill/>
            <a:prstDash val="solid"/>
          </a:ln>
        </p:spPr>
        <p:txBody>
          <a:bodyPr anchor="t"/>
          <a:lstStyle/>
          <a:p>
            <a:pPr algn="ctr">
              <a:defRPr sz="1575" b="1">
                <a:solidFill>
                  <a:srgbClr val="FFFFFF"/>
                </a:solidFill>
                <a:latin typeface="Arial"/>
                <a:ea typeface="Arial"/>
                <a:cs typeface="Arial"/>
              </a:defRPr>
            </a:pPr>
            <a:r>
              <a:rPr sz="1575" b="1">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sz="1575" b="1">
                <a:solidFill>
                  <a:srgbClr val="FFFFFF"/>
                </a:solidFill>
                <a:latin typeface="Arial"/>
                <a:ea typeface="Arial"/>
                <a:cs typeface="Arial"/>
              </a:rPr>
              <a:t>die Probezeit?</a:t>
            </a:r>
          </a:p>
        </p:txBody>
      </p:sp>
      <p:sp>
        <p:nvSpPr>
          <p:cNvPr id="25" name="q-to-vector">
            <a:extLst>
              <a:ext uri="{FF2B5EF4-FFF2-40B4-BE49-F238E27FC236}">
                <a16:creationId xmlns:a16="http://schemas.microsoft.com/office/drawing/2014/main" id="{A8585295-75E2-46EA-AC32-126696555F4B}"/>
              </a:ext>
            </a:extLst>
          </p:cNvPr>
          <p:cNvSpPr>
            <a:spLocks noGrp="1"/>
          </p:cNvSpPr>
          <p:nvPr/>
        </p:nvSpPr>
        <p:spPr>
          <a:xfrm>
            <a:off x="2880000" y="2700000"/>
            <a:ext cx="904875"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a:spLocks noGrp="1"/>
          </p:cNvSpPr>
          <p:nvPr/>
        </p:nvSpPr>
        <p:spPr>
          <a:xfrm>
            <a:off x="3960000" y="1980000"/>
            <a:ext cx="2286000"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sp>
        <p:nvSpPr>
          <p:cNvPr id="27" name="vector-row-0">
            <a:extLst>
              <a:ext uri="{FF2B5EF4-FFF2-40B4-BE49-F238E27FC236}">
                <a16:creationId xmlns:a16="http://schemas.microsoft.com/office/drawing/2014/main" id="{75716B28-0E31-46C2-A3C5-56EECC949C2B}"/>
              </a:ext>
            </a:extLst>
          </p:cNvPr>
          <p:cNvSpPr>
            <a:spLocks noGrp="1"/>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a:spLocks noGrp="1"/>
          </p:cNvSpPr>
          <p:nvPr/>
        </p:nvSpPr>
        <p:spPr>
          <a:xfrm>
            <a:off x="3960000" y="234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a:spLocks noGrp="1"/>
          </p:cNvSpPr>
          <p:nvPr/>
        </p:nvSpPr>
        <p:spPr>
          <a:xfrm>
            <a:off x="4320000" y="234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30" name="vector-score-0">
            <a:extLst>
              <a:ext uri="{FF2B5EF4-FFF2-40B4-BE49-F238E27FC236}">
                <a16:creationId xmlns:a16="http://schemas.microsoft.com/office/drawing/2014/main" id="{F3A744E8-F2AE-463C-86F7-923304CFAC8C}"/>
              </a:ext>
            </a:extLst>
          </p:cNvPr>
          <p:cNvSpPr>
            <a:spLocks noGrp="1"/>
          </p:cNvSpPr>
          <p:nvPr/>
        </p:nvSpPr>
        <p:spPr>
          <a:xfrm>
            <a:off x="576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sp>
        <p:nvSpPr>
          <p:cNvPr id="31" name="vector-row-1">
            <a:extLst>
              <a:ext uri="{FF2B5EF4-FFF2-40B4-BE49-F238E27FC236}">
                <a16:creationId xmlns:a16="http://schemas.microsoft.com/office/drawing/2014/main" id="{F450F738-BD5A-48AD-9A41-9FF11D6A9169}"/>
              </a:ext>
            </a:extLst>
          </p:cNvPr>
          <p:cNvSpPr>
            <a:spLocks noGrp="1"/>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a:spLocks noGrp="1"/>
          </p:cNvSpPr>
          <p:nvPr/>
        </p:nvSpPr>
        <p:spPr>
          <a:xfrm>
            <a:off x="3960000" y="288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a:spLocks noGrp="1"/>
          </p:cNvSpPr>
          <p:nvPr/>
        </p:nvSpPr>
        <p:spPr>
          <a:xfrm>
            <a:off x="4320000" y="288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a:spLocks noGrp="1"/>
          </p:cNvSpPr>
          <p:nvPr/>
        </p:nvSpPr>
        <p:spPr>
          <a:xfrm>
            <a:off x="576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sp>
        <p:nvSpPr>
          <p:cNvPr id="35" name="vector-row-2">
            <a:extLst>
              <a:ext uri="{FF2B5EF4-FFF2-40B4-BE49-F238E27FC236}">
                <a16:creationId xmlns:a16="http://schemas.microsoft.com/office/drawing/2014/main" id="{A0FCE584-190B-47B3-8C38-C35AD8DA58CA}"/>
              </a:ext>
            </a:extLst>
          </p:cNvPr>
          <p:cNvSpPr>
            <a:spLocks noGrp="1"/>
          </p:cNvSpPr>
          <p:nvPr/>
        </p:nvSpPr>
        <p:spPr>
          <a:xfrm>
            <a:off x="3780000" y="32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a:spLocks noGrp="1"/>
          </p:cNvSpPr>
          <p:nvPr/>
        </p:nvSpPr>
        <p:spPr>
          <a:xfrm>
            <a:off x="3960000" y="342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a:spLocks noGrp="1"/>
          </p:cNvSpPr>
          <p:nvPr/>
        </p:nvSpPr>
        <p:spPr>
          <a:xfrm>
            <a:off x="4320000" y="342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a:spLocks noGrp="1"/>
          </p:cNvSpPr>
          <p:nvPr/>
        </p:nvSpPr>
        <p:spPr>
          <a:xfrm>
            <a:off x="576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0.79</a:t>
            </a:r>
          </a:p>
        </p:txBody>
      </p:sp>
      <p:sp>
        <p:nvSpPr>
          <p:cNvPr id="39" name="vector-row-3">
            <a:extLst>
              <a:ext uri="{FF2B5EF4-FFF2-40B4-BE49-F238E27FC236}">
                <a16:creationId xmlns:a16="http://schemas.microsoft.com/office/drawing/2014/main" id="{A778CD48-FBE7-45F1-B1D9-E5C11B2F386B}"/>
              </a:ext>
            </a:extLst>
          </p:cNvPr>
          <p:cNvSpPr>
            <a:spLocks noGrp="1"/>
          </p:cNvSpPr>
          <p:nvPr/>
        </p:nvSpPr>
        <p:spPr>
          <a:xfrm>
            <a:off x="3780000" y="378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a:spLocks noGrp="1"/>
          </p:cNvSpPr>
          <p:nvPr/>
        </p:nvSpPr>
        <p:spPr>
          <a:xfrm>
            <a:off x="3960000" y="396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a:spLocks noGrp="1"/>
          </p:cNvSpPr>
          <p:nvPr/>
        </p:nvSpPr>
        <p:spPr>
          <a:xfrm>
            <a:off x="4320000" y="396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a:spLocks noGrp="1"/>
          </p:cNvSpPr>
          <p:nvPr/>
        </p:nvSpPr>
        <p:spPr>
          <a:xfrm>
            <a:off x="5760000" y="3960000"/>
            <a:ext cx="552450" cy="247650"/>
          </a:xfrm>
          <a:prstGeom prst="rect">
            <a:avLst/>
          </a:prstGeom>
          <a:noFill/>
          <a:ln w="0">
            <a:noFill/>
            <a:prstDash val="solid"/>
          </a:ln>
        </p:spPr>
        <p:txBody>
          <a:bodyPr anchor="t"/>
          <a:lstStyle/>
          <a:p>
            <a:endParaRPr/>
          </a:p>
        </p:txBody>
      </p:sp>
      <p:sp>
        <p:nvSpPr>
          <p:cNvPr id="43" name="vector-to-rerank">
            <a:extLst>
              <a:ext uri="{FF2B5EF4-FFF2-40B4-BE49-F238E27FC236}">
                <a16:creationId xmlns:a16="http://schemas.microsoft.com/office/drawing/2014/main" id="{8361C6C7-88AF-4C6F-9197-06086CD53D46}"/>
              </a:ext>
            </a:extLst>
          </p:cNvPr>
          <p:cNvSpPr>
            <a:spLocks noGrp="1"/>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a:spLocks noGrp="1"/>
          </p:cNvSpPr>
          <p:nvPr/>
        </p:nvSpPr>
        <p:spPr>
          <a:xfrm>
            <a:off x="6840000" y="3600000"/>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a:spLocks noGrp="1"/>
          </p:cNvSpPr>
          <p:nvPr/>
        </p:nvSpPr>
        <p:spPr>
          <a:xfrm>
            <a:off x="6840000" y="3780000"/>
            <a:ext cx="1571625"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a:solidFill>
                  <a:srgbClr val="2D3F4B"/>
                </a:solidFill>
                <a:latin typeface="Arial"/>
                <a:ea typeface="Arial"/>
                <a:cs typeface="Arial"/>
              </a:rPr>
              <a:t>liest Frage + Chunk</a:t>
            </a:r>
          </a:p>
          <a:p>
            <a:pPr algn="ctr">
              <a:defRPr sz="1275" b="0">
                <a:solidFill>
                  <a:srgbClr val="2D3F4B"/>
                </a:solidFill>
                <a:latin typeface="Arial"/>
                <a:ea typeface="Arial"/>
                <a:cs typeface="Arial"/>
              </a:defRPr>
            </a:pPr>
            <a:r>
              <a:rPr sz="1275" b="0">
                <a:solidFill>
                  <a:srgbClr val="2D3F4B"/>
                </a:solidFill>
                <a:latin typeface="Arial"/>
                <a:ea typeface="Arial"/>
                <a:cs typeface="Arial"/>
              </a:rPr>
              <a:t>gemeinsam</a:t>
            </a:r>
          </a:p>
        </p:txBody>
      </p:sp>
      <p:sp>
        <p:nvSpPr>
          <p:cNvPr id="47" name="rerank-to-top">
            <a:extLst>
              <a:ext uri="{FF2B5EF4-FFF2-40B4-BE49-F238E27FC236}">
                <a16:creationId xmlns:a16="http://schemas.microsoft.com/office/drawing/2014/main" id="{67DC0688-D565-480D-8784-C0ED88D57A86}"/>
              </a:ext>
            </a:extLst>
          </p:cNvPr>
          <p:cNvSpPr>
            <a:spLocks noGrp="1"/>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a:spLocks noGrp="1"/>
          </p:cNvSpPr>
          <p:nvPr/>
        </p:nvSpPr>
        <p:spPr>
          <a:xfrm>
            <a:off x="8820000" y="1980000"/>
            <a:ext cx="2381250"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a:solidFill>
                  <a:srgbClr val="C9960F"/>
                </a:solidFill>
                <a:latin typeface="Arial"/>
                <a:ea typeface="Arial"/>
                <a:cs typeface="Arial"/>
              </a:rPr>
              <a:t>TOP-4 IN DEN PROMPT</a:t>
            </a:r>
          </a:p>
        </p:txBody>
      </p:sp>
      <p:sp>
        <p:nvSpPr>
          <p:cNvPr id="49" name="rerank-row-0">
            <a:extLst>
              <a:ext uri="{FF2B5EF4-FFF2-40B4-BE49-F238E27FC236}">
                <a16:creationId xmlns:a16="http://schemas.microsoft.com/office/drawing/2014/main" id="{DF31896F-4FA2-4656-9746-FB94EE4BD9AF}"/>
              </a:ext>
            </a:extLst>
          </p:cNvPr>
          <p:cNvSpPr>
            <a:spLocks noGrp="1"/>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a:spLocks noGrp="1"/>
          </p:cNvSpPr>
          <p:nvPr/>
        </p:nvSpPr>
        <p:spPr>
          <a:xfrm>
            <a:off x="8820000" y="234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a:spLocks noGrp="1"/>
          </p:cNvSpPr>
          <p:nvPr/>
        </p:nvSpPr>
        <p:spPr>
          <a:xfrm>
            <a:off x="9180000" y="234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a:spLocks noGrp="1"/>
          </p:cNvSpPr>
          <p:nvPr/>
        </p:nvSpPr>
        <p:spPr>
          <a:xfrm>
            <a:off x="10800000" y="234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sp>
        <p:nvSpPr>
          <p:cNvPr id="53" name="rerank-row-1">
            <a:extLst>
              <a:ext uri="{FF2B5EF4-FFF2-40B4-BE49-F238E27FC236}">
                <a16:creationId xmlns:a16="http://schemas.microsoft.com/office/drawing/2014/main" id="{43762E83-CA22-40AA-A126-60AE96C1F805}"/>
              </a:ext>
            </a:extLst>
          </p:cNvPr>
          <p:cNvSpPr>
            <a:spLocks noGrp="1"/>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a:spLocks noGrp="1"/>
          </p:cNvSpPr>
          <p:nvPr/>
        </p:nvSpPr>
        <p:spPr>
          <a:xfrm>
            <a:off x="8820000" y="288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a:spLocks noGrp="1"/>
          </p:cNvSpPr>
          <p:nvPr/>
        </p:nvSpPr>
        <p:spPr>
          <a:xfrm>
            <a:off x="9180000" y="288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56" name="rerank-score-1">
            <a:extLst>
              <a:ext uri="{FF2B5EF4-FFF2-40B4-BE49-F238E27FC236}">
                <a16:creationId xmlns:a16="http://schemas.microsoft.com/office/drawing/2014/main" id="{1E43AC17-5C2E-4C76-B5E9-D9550B9C083A}"/>
              </a:ext>
            </a:extLst>
          </p:cNvPr>
          <p:cNvSpPr>
            <a:spLocks noGrp="1"/>
          </p:cNvSpPr>
          <p:nvPr/>
        </p:nvSpPr>
        <p:spPr>
          <a:xfrm>
            <a:off x="10800000" y="288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sp>
        <p:nvSpPr>
          <p:cNvPr id="57" name="rerank-row-2">
            <a:extLst>
              <a:ext uri="{FF2B5EF4-FFF2-40B4-BE49-F238E27FC236}">
                <a16:creationId xmlns:a16="http://schemas.microsoft.com/office/drawing/2014/main" id="{C609C74F-E2A9-4EBA-9133-D289232429B9}"/>
              </a:ext>
            </a:extLst>
          </p:cNvPr>
          <p:cNvSpPr>
            <a:spLocks noGrp="1"/>
          </p:cNvSpPr>
          <p:nvPr/>
        </p:nvSpPr>
        <p:spPr>
          <a:xfrm>
            <a:off x="8820000" y="324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a:spLocks noGrp="1"/>
          </p:cNvSpPr>
          <p:nvPr/>
        </p:nvSpPr>
        <p:spPr>
          <a:xfrm>
            <a:off x="8820000" y="342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a:spLocks noGrp="1"/>
          </p:cNvSpPr>
          <p:nvPr/>
        </p:nvSpPr>
        <p:spPr>
          <a:xfrm>
            <a:off x="9180000" y="342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a:spLocks noGrp="1"/>
          </p:cNvSpPr>
          <p:nvPr/>
        </p:nvSpPr>
        <p:spPr>
          <a:xfrm>
            <a:off x="10800000" y="342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sp>
        <p:nvSpPr>
          <p:cNvPr id="61" name="rerank-row-3">
            <a:extLst>
              <a:ext uri="{FF2B5EF4-FFF2-40B4-BE49-F238E27FC236}">
                <a16:creationId xmlns:a16="http://schemas.microsoft.com/office/drawing/2014/main" id="{DB51D4B7-0DE8-4353-94F1-A0704F80CAF9}"/>
              </a:ext>
            </a:extLst>
          </p:cNvPr>
          <p:cNvSpPr>
            <a:spLocks noGrp="1"/>
          </p:cNvSpPr>
          <p:nvPr/>
        </p:nvSpPr>
        <p:spPr>
          <a:xfrm>
            <a:off x="8820000" y="37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a:spLocks noGrp="1"/>
          </p:cNvSpPr>
          <p:nvPr/>
        </p:nvSpPr>
        <p:spPr>
          <a:xfrm>
            <a:off x="8820000" y="396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a:spLocks noGrp="1"/>
          </p:cNvSpPr>
          <p:nvPr/>
        </p:nvSpPr>
        <p:spPr>
          <a:xfrm>
            <a:off x="9180000" y="396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a:spLocks noGrp="1"/>
          </p:cNvSpPr>
          <p:nvPr/>
        </p:nvSpPr>
        <p:spPr>
          <a:xfrm>
            <a:off x="10800000" y="3960000"/>
            <a:ext cx="552450" cy="247650"/>
          </a:xfrm>
          <a:prstGeom prst="rect">
            <a:avLst/>
          </a:prstGeom>
          <a:noFill/>
          <a:ln w="0">
            <a:noFill/>
            <a:prstDash val="solid"/>
          </a:ln>
        </p:spPr>
        <p:txBody>
          <a:bodyPr anchor="t"/>
          <a:lstStyle/>
          <a:p>
            <a:endParaRPr/>
          </a:p>
        </p:txBody>
      </p:sp>
      <p:sp>
        <p:nvSpPr>
          <p:cNvPr id="65" name="rerank-limit">
            <a:extLst>
              <a:ext uri="{FF2B5EF4-FFF2-40B4-BE49-F238E27FC236}">
                <a16:creationId xmlns:a16="http://schemas.microsoft.com/office/drawing/2014/main" id="{ED2A38C4-D755-44FC-9EA4-1E947591FFC9}"/>
              </a:ext>
            </a:extLst>
          </p:cNvPr>
          <p:cNvSpPr>
            <a:spLocks noGrp="1"/>
          </p:cNvSpPr>
          <p:nvPr/>
        </p:nvSpPr>
        <p:spPr>
          <a:xfrm>
            <a:off x="2160000" y="5040000"/>
            <a:ext cx="7740000" cy="720000"/>
          </a:xfrm>
          <a:prstGeom prst="roundRect">
            <a:avLst>
              <a:gd name="adj" fmla="val 20000"/>
            </a:avLst>
          </a:prstGeom>
          <a:solidFill>
            <a:srgbClr val="2D3F4B"/>
          </a:solidFill>
          <a:ln w="0">
            <a:solidFill>
              <a:srgbClr val="2D3F4B"/>
            </a:solidFill>
            <a:prstDash val="solid"/>
          </a:ln>
        </p:spPr>
        <p:txBody>
          <a:bodyPr/>
          <a:lstStyle/>
          <a:p>
            <a:endParaRPr lang="de-CH"/>
          </a:p>
        </p:txBody>
      </p:sp>
      <p:sp>
        <p:nvSpPr>
          <p:cNvPr id="66" name="rerank-limit-text">
            <a:extLst>
              <a:ext uri="{FF2B5EF4-FFF2-40B4-BE49-F238E27FC236}">
                <a16:creationId xmlns:a16="http://schemas.microsoft.com/office/drawing/2014/main" id="{AB2897E9-B16F-4F9C-93AB-4458C5596551}"/>
              </a:ext>
            </a:extLst>
          </p:cNvPr>
          <p:cNvSpPr>
            <a:spLocks noGrp="1"/>
          </p:cNvSpPr>
          <p:nvPr/>
        </p:nvSpPr>
        <p:spPr>
          <a:xfrm>
            <a:off x="2520000" y="5040000"/>
            <a:ext cx="7200000" cy="540000"/>
          </a:xfrm>
          <a:prstGeom prst="rect">
            <a:avLst/>
          </a:prstGeom>
          <a:noFill/>
          <a:ln w="0">
            <a:noFill/>
            <a:prstDash val="solid"/>
          </a:ln>
        </p:spPr>
        <p:txBody>
          <a:bodyPr anchor="ct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sz="1350" b="1">
                <a:solidFill>
                  <a:srgbClr val="FFFFFF"/>
                </a:solidFill>
                <a:latin typeface="Arial"/>
                <a:ea typeface="Arial"/>
                <a:cs typeface="Arial"/>
              </a:rPr>
              <a:t>Fehlt der richtige Chunk in den Top-10, kann Reranking ihn nicht zurückholen.</a:t>
            </a: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200000" y="2700000"/>
            <a:ext cx="720000" cy="720000"/>
          </a:xfrm>
          <a:prstGeom prst="rect">
            <a:avLst/>
          </a:prstGeom>
        </p:spPr>
      </p:pic>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childTnLst>
                                </p:cTn>
                              </p:par>
                              <p:par>
                                <p:cTn id="35" presetID="1" presetClass="entr" presetSubtype="0" fill="hold" grpId="0" nodeType="withEffect" nodePh="1">
                                  <p:stCondLst>
                                    <p:cond delay="0"/>
                                  </p:stCondLst>
                                  <p:endCondLst>
                                    <p:cond evt="begin" delay="0">
                                      <p:tn val="35"/>
                                    </p:cond>
                                  </p:endCondLst>
                                  <p:childTnLst>
                                    <p:set>
                                      <p:cBhvr>
                                        <p:cTn id="36" dur="1" fill="hold">
                                          <p:stCondLst>
                                            <p:cond delay="0"/>
                                          </p:stCondLst>
                                        </p:cTn>
                                        <p:tgtEl>
                                          <p:spTgt spid="4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6"/>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48"/>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4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0"/>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5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3"/>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4"/>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55"/>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56"/>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57"/>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5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59"/>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60"/>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61"/>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62"/>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63"/>
                                        </p:tgtEl>
                                        <p:attrNameLst>
                                          <p:attrName>style.visibility</p:attrName>
                                        </p:attrNameLst>
                                      </p:cBhvr>
                                      <p:to>
                                        <p:strVal val="visible"/>
                                      </p:to>
                                    </p:set>
                                  </p:childTnLst>
                                </p:cTn>
                              </p:par>
                              <p:par>
                                <p:cTn id="75" presetID="1" presetClass="entr" presetSubtype="0" fill="hold" grpId="0" nodeType="withEffect" nodePh="1">
                                  <p:stCondLst>
                                    <p:cond delay="0"/>
                                  </p:stCondLst>
                                  <p:endCondLst>
                                    <p:cond evt="begin" delay="0">
                                      <p:tn val="75"/>
                                    </p:cond>
                                  </p:endCondLst>
                                  <p:childTnLst>
                                    <p:set>
                                      <p:cBhvr>
                                        <p:cTn id="76" dur="1" fill="hold">
                                          <p:stCondLst>
                                            <p:cond delay="0"/>
                                          </p:stCondLst>
                                        </p:cTn>
                                        <p:tgtEl>
                                          <p:spTgt spid="64"/>
                                        </p:tgtEl>
                                        <p:attrNameLst>
                                          <p:attrName>style.visibility</p:attrName>
                                        </p:attrNameLst>
                                      </p:cBhvr>
                                      <p:to>
                                        <p:strVal val="visible"/>
                                      </p:to>
                                    </p:set>
                                  </p:childTnLst>
                                </p:cTn>
                              </p:par>
                            </p:childTnLst>
                          </p:cTn>
                        </p:par>
                      </p:childTnLst>
                    </p:cTn>
                  </p:par>
                  <p:par>
                    <p:cTn id="77" fill="hold">
                      <p:stCondLst>
                        <p:cond delay="indefinite"/>
                      </p:stCondLst>
                      <p:childTnLst>
                        <p:par>
                          <p:cTn id="78" fill="hold">
                            <p:stCondLst>
                              <p:cond delay="0"/>
                            </p:stCondLst>
                            <p:childTnLst>
                              <p:par>
                                <p:cTn id="79" presetID="1"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45"/>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46"/>
                                        </p:tgtEl>
                                        <p:attrNameLst>
                                          <p:attrName>style.visibility</p:attrName>
                                        </p:attrNameLst>
                                      </p:cBhvr>
                                      <p:to>
                                        <p:strVal val="visible"/>
                                      </p:to>
                                    </p:set>
                                  </p:childTnLst>
                                </p:cTn>
                              </p:par>
                              <p:par>
                                <p:cTn id="87" presetID="1" presetClass="entr" presetSubtype="0" fill="hold" nodeType="withEffect">
                                  <p:stCondLst>
                                    <p:cond delay="0"/>
                                  </p:stCondLst>
                                  <p:childTnLst>
                                    <p:set>
                                      <p:cBhvr>
                                        <p:cTn id="88" dur="1" fill="hold">
                                          <p:stCondLst>
                                            <p:cond delay="0"/>
                                          </p:stCondLst>
                                        </p:cTn>
                                        <p:tgtEl>
                                          <p:spTgt spid="2"/>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1" presetClass="entr" presetSubtype="0" fill="hold" grpId="0" nodeType="clickEffect">
                                  <p:stCondLst>
                                    <p:cond delay="0"/>
                                  </p:stCondLst>
                                  <p:childTnLst>
                                    <p:set>
                                      <p:cBhvr>
                                        <p:cTn id="92" dur="1" fill="hold">
                                          <p:stCondLst>
                                            <p:cond delay="0"/>
                                          </p:stCondLst>
                                        </p:cTn>
                                        <p:tgtEl>
                                          <p:spTgt spid="65"/>
                                        </p:tgtEl>
                                        <p:attrNameLst>
                                          <p:attrName>style.visibility</p:attrName>
                                        </p:attrNameLst>
                                      </p:cBhvr>
                                      <p:to>
                                        <p:strVal val="visible"/>
                                      </p:to>
                                    </p:set>
                                  </p:childTnLst>
                                </p:cTn>
                              </p:par>
                              <p:par>
                                <p:cTn id="93" presetID="1" presetClass="entr" presetSubtype="0" fill="hold" grpId="0" nodeType="withEffect">
                                  <p:stCondLst>
                                    <p:cond delay="0"/>
                                  </p:stCondLst>
                                  <p:childTnLst>
                                    <p:set>
                                      <p:cBhvr>
                                        <p:cTn id="94" dur="1" fill="hold">
                                          <p:stCondLst>
                                            <p:cond delay="0"/>
                                          </p:stCondLst>
                                        </p:cTn>
                                        <p:tgtEl>
                                          <p:spTgt spid="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p:bldP spid="27" grpId="0" animBg="1"/>
      <p:bldP spid="28" grpId="0"/>
      <p:bldP spid="29" grpId="0"/>
      <p:bldP spid="30" grpId="0"/>
      <p:bldP spid="31" grpId="0" animBg="1"/>
      <p:bldP spid="32" grpId="0"/>
      <p:bldP spid="33" grpId="0"/>
      <p:bldP spid="34" grpId="0"/>
      <p:bldP spid="35" grpId="0" animBg="1"/>
      <p:bldP spid="36" grpId="0"/>
      <p:bldP spid="37" grpId="0"/>
      <p:bldP spid="38" grpId="0"/>
      <p:bldP spid="39" grpId="0" animBg="1"/>
      <p:bldP spid="40" grpId="0"/>
      <p:bldP spid="41" grpId="0"/>
      <p:bldP spid="42" grpId="0"/>
      <p:bldP spid="43" grpId="0" animBg="1"/>
      <p:bldP spid="45" grpId="0"/>
      <p:bldP spid="46" grpId="0"/>
      <p:bldP spid="47" grpId="0" animBg="1"/>
      <p:bldP spid="48" grpId="0"/>
      <p:bldP spid="49" grpId="0" animBg="1"/>
      <p:bldP spid="50" grpId="0"/>
      <p:bldP spid="51" grpId="0"/>
      <p:bldP spid="52" grpId="0"/>
      <p:bldP spid="53" grpId="0" animBg="1"/>
      <p:bldP spid="54" grpId="0"/>
      <p:bldP spid="55" grpId="0"/>
      <p:bldP spid="56" grpId="0"/>
      <p:bldP spid="57" grpId="0" animBg="1"/>
      <p:bldP spid="58" grpId="0"/>
      <p:bldP spid="59" grpId="0"/>
      <p:bldP spid="60" grpId="0"/>
      <p:bldP spid="61" grpId="0" animBg="1"/>
      <p:bldP spid="62" grpId="0"/>
      <p:bldP spid="63" grpId="0"/>
      <p:bldP spid="64" grpId="0"/>
      <p:bldP spid="65" grpId="0" animBg="1"/>
      <p:bldP spid="66"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r:embed="rId14">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r:embed="rId12">
              <a:extLst>
                <a:ext uri="{96DAC541-7B7A-43D3-8B79-37D633B846F1}">
                  <asvg:svgBlip xmlns:asvg="http://schemas.microsoft.com/office/drawing/2016/SVG/main" r:embed="rId1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50000"/>
            </a:srgbClr>
          </a:solidFill>
          <a:ln>
            <a:noFill/>
          </a:ln>
        </p:spPr>
        <p:txBody>
          <a:bodyPr/>
          <a:lstStyle/>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r:embed="rId24">
              <a:extLst>
                <a:ext uri="{96DAC541-7B7A-43D3-8B79-37D633B846F1}">
                  <asvg:svgBlip xmlns:asvg="http://schemas.microsoft.com/office/drawing/2016/SVG/main" r:embed="rId2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r:embed="rId26">
              <a:extLst>
                <a:ext uri="{96DAC541-7B7A-43D3-8B79-37D633B846F1}">
                  <asvg:svgBlip xmlns:asvg="http://schemas.microsoft.com/office/drawing/2016/SVG/main" r:embed="rId27"/>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r:embed="rId28">
              <a:extLst>
                <a:ext uri="{96DAC541-7B7A-43D3-8B79-37D633B846F1}">
                  <asvg:svgBlip xmlns:asvg="http://schemas.microsoft.com/office/drawing/2016/SVG/main" r:embed="rId29"/>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p:txBody>
      </p:sp>
    </p:spTree>
    <p:extLst>
      <p:ext uri="{BB962C8B-B14F-4D97-AF65-F5344CB8AC3E}">
        <p14:creationId xmlns:p14="http://schemas.microsoft.com/office/powerpoint/2010/main" val="20741294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a:spLocks noGrp="1"/>
          </p:cNvSpPr>
          <p:nvPr/>
        </p:nvSpPr>
        <p:spPr>
          <a:xfrm>
            <a:off x="540000" y="1260000"/>
            <a:ext cx="10477500" cy="304800"/>
          </a:xfrm>
          <a:prstGeom prst="rect">
            <a:avLst/>
          </a:prstGeom>
          <a:noFill/>
          <a:ln w="0">
            <a:noFill/>
            <a:prstDash val="solid"/>
          </a:ln>
        </p:spPr>
        <p:txBody>
          <a:bodyPr anchor="ctr"/>
          <a:lstStyle/>
          <a:p>
            <a:pPr algn="l">
              <a:defRPr sz="1425" b="0">
                <a:solidFill>
                  <a:srgbClr val="746B5F"/>
                </a:solidFill>
              </a:defRPr>
            </a:pPr>
            <a:r>
              <a:rPr sz="1425" b="0">
                <a:solidFill>
                  <a:srgbClr val="746B5F"/>
                </a:solidFill>
              </a:rPr>
              <a:t>Hybrid Retrieval findet relevante Passagen. Der Graph erweitert sie gezielt um Kontext.</a:t>
            </a:r>
          </a:p>
        </p:txBody>
      </p:sp>
      <p:sp>
        <p:nvSpPr>
          <p:cNvPr id="4" name="flow-1">
            <a:extLst>
              <a:ext uri="{FF2B5EF4-FFF2-40B4-BE49-F238E27FC236}">
                <a16:creationId xmlns:a16="http://schemas.microsoft.com/office/drawing/2014/main" id="{B220FF84-877B-4A53-AEEE-B36C2DCD5C24}"/>
              </a:ext>
            </a:extLst>
          </p:cNvPr>
          <p:cNvSpPr>
            <a:spLocks noGrp="1"/>
          </p:cNvSpPr>
          <p:nvPr/>
        </p:nvSpPr>
        <p:spPr>
          <a:xfrm>
            <a:off x="19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a:spLocks noGrp="1"/>
          </p:cNvSpPr>
          <p:nvPr/>
        </p:nvSpPr>
        <p:spPr>
          <a:xfrm>
            <a:off x="48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a:spLocks noGrp="1"/>
          </p:cNvSpPr>
          <p:nvPr/>
        </p:nvSpPr>
        <p:spPr>
          <a:xfrm>
            <a:off x="666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a:spLocks noGrp="1"/>
          </p:cNvSpPr>
          <p:nvPr/>
        </p:nvSpPr>
        <p:spPr>
          <a:xfrm>
            <a:off x="9180000" y="324000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a:spLocks noGrp="1"/>
          </p:cNvSpPr>
          <p:nvPr/>
        </p:nvSpPr>
        <p:spPr>
          <a:xfrm>
            <a:off x="54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a:spLocks noGrp="1"/>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endParaRPr lang="de-CH"/>
          </a:p>
        </p:txBody>
      </p:sp>
      <p:sp>
        <p:nvSpPr>
          <p:cNvPr id="10" name="question-mark">
            <a:extLst>
              <a:ext uri="{FF2B5EF4-FFF2-40B4-BE49-F238E27FC236}">
                <a16:creationId xmlns:a16="http://schemas.microsoft.com/office/drawing/2014/main" id="{348340D1-5786-46B2-BCA1-E990BF803158}"/>
              </a:ext>
            </a:extLst>
          </p:cNvPr>
          <p:cNvSpPr>
            <a:spLocks noGrp="1"/>
          </p:cNvSpPr>
          <p:nvPr/>
        </p:nvSpPr>
        <p:spPr>
          <a:xfrm>
            <a:off x="1080000" y="2520000"/>
            <a:ext cx="571500" cy="533400"/>
          </a:xfrm>
          <a:prstGeom prst="rect">
            <a:avLst/>
          </a:prstGeom>
          <a:noFill/>
          <a:ln w="0">
            <a:noFill/>
            <a:prstDash val="solid"/>
          </a:ln>
        </p:spPr>
        <p:txBody>
          <a:bodyPr anchor="ctr"/>
          <a:lstStyle/>
          <a:p>
            <a:pPr algn="ctr">
              <a:defRPr sz="3150" b="1">
                <a:solidFill>
                  <a:srgbClr val="FFFFFF"/>
                </a:solidFill>
              </a:defRPr>
            </a:pPr>
            <a:r>
              <a:rPr sz="3150" b="1">
                <a:solidFill>
                  <a:srgbClr val="FFFFFF"/>
                </a:solidFill>
              </a:rPr>
              <a:t>?</a:t>
            </a:r>
          </a:p>
        </p:txBody>
      </p:sp>
      <p:sp>
        <p:nvSpPr>
          <p:cNvPr id="11" name="question-copy">
            <a:extLst>
              <a:ext uri="{FF2B5EF4-FFF2-40B4-BE49-F238E27FC236}">
                <a16:creationId xmlns:a16="http://schemas.microsoft.com/office/drawing/2014/main" id="{E169E1EE-4CB6-4AAE-80D5-D25443621D6F}"/>
              </a:ext>
            </a:extLst>
          </p:cNvPr>
          <p:cNvSpPr>
            <a:spLocks noGrp="1"/>
          </p:cNvSpPr>
          <p:nvPr/>
        </p:nvSpPr>
        <p:spPr>
          <a:xfrm>
            <a:off x="720000" y="3240000"/>
            <a:ext cx="1260000" cy="720000"/>
          </a:xfrm>
          <a:prstGeom prst="rect">
            <a:avLst/>
          </a:prstGeom>
          <a:noFill/>
          <a:ln w="0">
            <a:noFill/>
            <a:prstDash val="solid"/>
          </a:ln>
        </p:spPr>
        <p:txBody>
          <a:bodyPr anchor="ctr"/>
          <a:lstStyle/>
          <a:p>
            <a:pPr algn="ctr">
              <a:defRPr sz="1500" b="1">
                <a:solidFill>
                  <a:srgbClr val="FFFFFF"/>
                </a:solidFill>
              </a:defRPr>
            </a:pPr>
            <a:r>
              <a:rPr sz="1500" b="1">
                <a:solidFill>
                  <a:srgbClr val="FFFFFF"/>
                </a:solidFill>
              </a:rPr>
              <a:t>Was gilt nach</a:t>
            </a:r>
          </a:p>
          <a:p>
            <a:pPr algn="ctr">
              <a:defRPr sz="1500" b="1">
                <a:solidFill>
                  <a:srgbClr val="FFFFFF"/>
                </a:solidFill>
              </a:defRPr>
            </a:pPr>
            <a:r>
              <a:rPr sz="1500" b="1">
                <a:solidFill>
                  <a:srgbClr val="FFFFFF"/>
                </a:solidFill>
              </a:rPr>
              <a:t>Art. 1 OR?</a:t>
            </a:r>
          </a:p>
        </p:txBody>
      </p:sp>
      <p:sp>
        <p:nvSpPr>
          <p:cNvPr id="12" name="stage2-label">
            <a:extLst>
              <a:ext uri="{FF2B5EF4-FFF2-40B4-BE49-F238E27FC236}">
                <a16:creationId xmlns:a16="http://schemas.microsoft.com/office/drawing/2014/main" id="{76B3E30B-6E9C-49C4-A4D9-623170EB133B}"/>
              </a:ext>
            </a:extLst>
          </p:cNvPr>
          <p:cNvSpPr>
            <a:spLocks noGrp="1"/>
          </p:cNvSpPr>
          <p:nvPr/>
        </p:nvSpPr>
        <p:spPr>
          <a:xfrm>
            <a:off x="2520000" y="1980000"/>
            <a:ext cx="2381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2  HYBRID SUCHEN</a:t>
            </a:r>
          </a:p>
        </p:txBody>
      </p:sp>
      <p:sp>
        <p:nvSpPr>
          <p:cNvPr id="13" name="retrieval-shell">
            <a:extLst>
              <a:ext uri="{FF2B5EF4-FFF2-40B4-BE49-F238E27FC236}">
                <a16:creationId xmlns:a16="http://schemas.microsoft.com/office/drawing/2014/main" id="{9857F60E-DF60-4A5E-A0C5-581D2A407A1B}"/>
              </a:ext>
            </a:extLst>
          </p:cNvPr>
          <p:cNvSpPr>
            <a:spLocks noGrp="1"/>
          </p:cNvSpPr>
          <p:nvPr/>
        </p:nvSpPr>
        <p:spPr>
          <a:xfrm>
            <a:off x="2340000" y="2340000"/>
            <a:ext cx="2700000" cy="216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a:spLocks noGrp="1"/>
          </p:cNvSpPr>
          <p:nvPr/>
        </p:nvSpPr>
        <p:spPr>
          <a:xfrm>
            <a:off x="2520000" y="2520000"/>
            <a:ext cx="2160000" cy="720000"/>
          </a:xfrm>
          <a:prstGeom prst="roundRect">
            <a:avLst>
              <a:gd name="adj" fmla="val 10667"/>
            </a:avLst>
          </a:prstGeom>
          <a:solidFill>
            <a:srgbClr val="FAEDF0"/>
          </a:solidFill>
          <a:ln w="11430">
            <a:solidFill>
              <a:srgbClr val="D20A32"/>
            </a:solidFill>
            <a:prstDash val="solid"/>
          </a:ln>
        </p:spPr>
        <p:txBody>
          <a:bodyPr/>
          <a:lstStyle/>
          <a:p>
            <a:endParaRPr lang="de-CH"/>
          </a:p>
        </p:txBody>
      </p:sp>
      <p:sp>
        <p:nvSpPr>
          <p:cNvPr id="15" name="semantic-title">
            <a:extLst>
              <a:ext uri="{FF2B5EF4-FFF2-40B4-BE49-F238E27FC236}">
                <a16:creationId xmlns:a16="http://schemas.microsoft.com/office/drawing/2014/main" id="{4E361F9E-9187-4347-A714-B3A84599E622}"/>
              </a:ext>
            </a:extLst>
          </p:cNvPr>
          <p:cNvSpPr>
            <a:spLocks noGrp="1"/>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r>
              <a:rPr sz="975" b="1">
                <a:solidFill>
                  <a:srgbClr val="D20A32"/>
                </a:solidFill>
              </a:rPr>
              <a:t>SEMANTISCH</a:t>
            </a:r>
          </a:p>
        </p:txBody>
      </p:sp>
      <p:sp>
        <p:nvSpPr>
          <p:cNvPr id="16" name="semantic-copy">
            <a:extLst>
              <a:ext uri="{FF2B5EF4-FFF2-40B4-BE49-F238E27FC236}">
                <a16:creationId xmlns:a16="http://schemas.microsoft.com/office/drawing/2014/main" id="{0BE3B2CE-06DF-47C4-B20E-B5FB15A07661}"/>
              </a:ext>
            </a:extLst>
          </p:cNvPr>
          <p:cNvSpPr>
            <a:spLocks noGrp="1"/>
          </p:cNvSpPr>
          <p:nvPr/>
        </p:nvSpPr>
        <p:spPr>
          <a:xfrm>
            <a:off x="2700000" y="28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ähnliche Bedeutung</a:t>
            </a:r>
          </a:p>
        </p:txBody>
      </p:sp>
      <p:sp>
        <p:nvSpPr>
          <p:cNvPr id="17" name="lexical">
            <a:extLst>
              <a:ext uri="{FF2B5EF4-FFF2-40B4-BE49-F238E27FC236}">
                <a16:creationId xmlns:a16="http://schemas.microsoft.com/office/drawing/2014/main" id="{6A731CA1-4326-4828-A048-3CBC572829D8}"/>
              </a:ext>
            </a:extLst>
          </p:cNvPr>
          <p:cNvSpPr>
            <a:spLocks noGrp="1"/>
          </p:cNvSpPr>
          <p:nvPr/>
        </p:nvSpPr>
        <p:spPr>
          <a:xfrm>
            <a:off x="2520000" y="3420000"/>
            <a:ext cx="2160000" cy="720000"/>
          </a:xfrm>
          <a:prstGeom prst="roundRect">
            <a:avLst>
              <a:gd name="adj" fmla="val 10667"/>
            </a:avLst>
          </a:prstGeom>
          <a:solidFill>
            <a:srgbClr val="EAF4F4"/>
          </a:solidFill>
          <a:ln w="11430">
            <a:solidFill>
              <a:srgbClr val="307F87"/>
            </a:solidFill>
            <a:prstDash val="solid"/>
          </a:ln>
        </p:spPr>
        <p:txBody>
          <a:bodyPr/>
          <a:lstStyle/>
          <a:p>
            <a:endParaRPr lang="de-CH"/>
          </a:p>
        </p:txBody>
      </p:sp>
      <p:sp>
        <p:nvSpPr>
          <p:cNvPr id="18" name="lexical-title">
            <a:extLst>
              <a:ext uri="{FF2B5EF4-FFF2-40B4-BE49-F238E27FC236}">
                <a16:creationId xmlns:a16="http://schemas.microsoft.com/office/drawing/2014/main" id="{13AABFC2-2DAE-4BEB-AB12-DC43990A5D46}"/>
              </a:ext>
            </a:extLst>
          </p:cNvPr>
          <p:cNvSpPr>
            <a:spLocks noGrp="1"/>
          </p:cNvSpPr>
          <p:nvPr/>
        </p:nvSpPr>
        <p:spPr>
          <a:xfrm>
            <a:off x="2700000" y="3600000"/>
            <a:ext cx="1866900" cy="209550"/>
          </a:xfrm>
          <a:prstGeom prst="rect">
            <a:avLst/>
          </a:prstGeom>
          <a:noFill/>
          <a:ln w="0">
            <a:noFill/>
            <a:prstDash val="solid"/>
          </a:ln>
        </p:spPr>
        <p:txBody>
          <a:bodyPr anchor="ctr"/>
          <a:lstStyle/>
          <a:p>
            <a:pPr algn="ctr">
              <a:defRPr sz="975" b="1">
                <a:solidFill>
                  <a:srgbClr val="307F87"/>
                </a:solidFill>
              </a:defRPr>
            </a:pPr>
            <a:r>
              <a:rPr sz="975" b="1">
                <a:solidFill>
                  <a:srgbClr val="307F87"/>
                </a:solidFill>
              </a:rPr>
              <a:t>LEXIKALISCH</a:t>
            </a:r>
          </a:p>
        </p:txBody>
      </p:sp>
      <p:sp>
        <p:nvSpPr>
          <p:cNvPr id="19" name="lexical-copy">
            <a:extLst>
              <a:ext uri="{FF2B5EF4-FFF2-40B4-BE49-F238E27FC236}">
                <a16:creationId xmlns:a16="http://schemas.microsoft.com/office/drawing/2014/main" id="{9FFDED9B-C5A8-4D35-AED5-08B8808E6621}"/>
              </a:ext>
            </a:extLst>
          </p:cNvPr>
          <p:cNvSpPr>
            <a:spLocks noGrp="1"/>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Begriffe, Titel, Artikel</a:t>
            </a:r>
          </a:p>
        </p:txBody>
      </p:sp>
      <p:sp>
        <p:nvSpPr>
          <p:cNvPr id="20" name="stage3-label">
            <a:extLst>
              <a:ext uri="{FF2B5EF4-FFF2-40B4-BE49-F238E27FC236}">
                <a16:creationId xmlns:a16="http://schemas.microsoft.com/office/drawing/2014/main" id="{235356C2-D245-426F-8CBE-5E61C6210532}"/>
              </a:ext>
            </a:extLst>
          </p:cNvPr>
          <p:cNvSpPr>
            <a:spLocks noGrp="1"/>
          </p:cNvSpPr>
          <p:nvPr/>
        </p:nvSpPr>
        <p:spPr>
          <a:xfrm>
            <a:off x="5220000" y="1980000"/>
            <a:ext cx="15240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a:spLocks noGrp="1"/>
          </p:cNvSpPr>
          <p:nvPr/>
        </p:nvSpPr>
        <p:spPr>
          <a:xfrm>
            <a:off x="5220000" y="2700000"/>
            <a:ext cx="1260000" cy="1260000"/>
          </a:xfrm>
          <a:prstGeom prst="ellipse">
            <a:avLst/>
          </a:prstGeom>
          <a:solidFill>
            <a:srgbClr val="834A78"/>
          </a:solidFill>
          <a:ln w="0">
            <a:solidFill>
              <a:srgbClr val="834A78"/>
            </a:solidFill>
            <a:prstDash val="solid"/>
          </a:ln>
        </p:spPr>
        <p:txBody>
          <a:bodyPr/>
          <a:lstStyle/>
          <a:p>
            <a:endParaRPr lang="de-CH"/>
          </a:p>
        </p:txBody>
      </p:sp>
      <p:sp>
        <p:nvSpPr>
          <p:cNvPr id="22" name="rrf">
            <a:extLst>
              <a:ext uri="{FF2B5EF4-FFF2-40B4-BE49-F238E27FC236}">
                <a16:creationId xmlns:a16="http://schemas.microsoft.com/office/drawing/2014/main" id="{AB1BF576-4F9B-4627-91D6-22C9CC9302AD}"/>
              </a:ext>
            </a:extLst>
          </p:cNvPr>
          <p:cNvSpPr>
            <a:spLocks noGrp="1"/>
          </p:cNvSpPr>
          <p:nvPr/>
        </p:nvSpPr>
        <p:spPr>
          <a:xfrm>
            <a:off x="5580000" y="3060000"/>
            <a:ext cx="762000" cy="342900"/>
          </a:xfrm>
          <a:prstGeom prst="rect">
            <a:avLst/>
          </a:prstGeom>
          <a:noFill/>
          <a:ln w="0">
            <a:noFill/>
            <a:prstDash val="solid"/>
          </a:ln>
        </p:spPr>
        <p:txBody>
          <a:bodyPr anchor="ctr"/>
          <a:lstStyle/>
          <a:p>
            <a:pPr algn="ctr">
              <a:defRPr sz="1950" b="1">
                <a:solidFill>
                  <a:srgbClr val="FFFFFF"/>
                </a:solidFill>
              </a:defRPr>
            </a:pPr>
            <a:r>
              <a:rPr sz="1950" b="1" dirty="0">
                <a:solidFill>
                  <a:srgbClr val="FFFFFF"/>
                </a:solidFill>
              </a:rPr>
              <a:t>RRF</a:t>
            </a:r>
          </a:p>
        </p:txBody>
      </p:sp>
      <p:sp>
        <p:nvSpPr>
          <p:cNvPr id="23" name="rrf-copy">
            <a:extLst>
              <a:ext uri="{FF2B5EF4-FFF2-40B4-BE49-F238E27FC236}">
                <a16:creationId xmlns:a16="http://schemas.microsoft.com/office/drawing/2014/main" id="{7628CD87-A2E9-4DE0-A32F-092CF186B32D}"/>
              </a:ext>
            </a:extLst>
          </p:cNvPr>
          <p:cNvSpPr>
            <a:spLocks noGrp="1"/>
          </p:cNvSpPr>
          <p:nvPr/>
        </p:nvSpPr>
        <p:spPr>
          <a:xfrm>
            <a:off x="5220000" y="3960000"/>
            <a:ext cx="1276350" cy="457200"/>
          </a:xfrm>
          <a:prstGeom prst="rect">
            <a:avLst/>
          </a:prstGeom>
          <a:noFill/>
          <a:ln w="0">
            <a:noFill/>
            <a:prstDash val="solid"/>
          </a:ln>
        </p:spPr>
        <p:txBody>
          <a:bodyPr anchor="ctr"/>
          <a:lstStyle/>
          <a:p>
            <a:pPr algn="ctr">
              <a:defRPr sz="1125" b="1">
                <a:solidFill>
                  <a:srgbClr val="834A78"/>
                </a:solidFill>
              </a:defRPr>
            </a:pPr>
            <a:r>
              <a:rPr sz="1125" b="1" dirty="0" err="1">
                <a:solidFill>
                  <a:srgbClr val="834A78"/>
                </a:solidFill>
              </a:rPr>
              <a:t>ein</a:t>
            </a:r>
            <a:r>
              <a:rPr sz="1125" b="1" dirty="0">
                <a:solidFill>
                  <a:srgbClr val="834A78"/>
                </a:solidFill>
              </a:rPr>
              <a:t> </a:t>
            </a:r>
            <a:r>
              <a:rPr sz="1125" b="1" dirty="0" err="1">
                <a:solidFill>
                  <a:srgbClr val="834A78"/>
                </a:solidFill>
              </a:rPr>
              <a:t>gemeinsames</a:t>
            </a:r>
            <a:endParaRPr sz="1125" b="1" dirty="0">
              <a:solidFill>
                <a:srgbClr val="834A78"/>
              </a:solidFill>
            </a:endParaRPr>
          </a:p>
          <a:p>
            <a:pPr algn="ctr">
              <a:defRPr sz="1125" b="1">
                <a:solidFill>
                  <a:srgbClr val="834A78"/>
                </a:solidFill>
              </a:defRPr>
            </a:pPr>
            <a:r>
              <a:rPr sz="1125" b="1"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a:spLocks noGrp="1"/>
          </p:cNvSpPr>
          <p:nvPr/>
        </p:nvSpPr>
        <p:spPr>
          <a:xfrm>
            <a:off x="7020000" y="1980000"/>
            <a:ext cx="21907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a:spLocks noGrp="1"/>
          </p:cNvSpPr>
          <p:nvPr/>
        </p:nvSpPr>
        <p:spPr>
          <a:xfrm>
            <a:off x="7020000" y="2340000"/>
            <a:ext cx="2340000" cy="2160000"/>
          </a:xfrm>
          <a:prstGeom prst="roundRect">
            <a:avLst>
              <a:gd name="adj" fmla="val 5217"/>
            </a:avLst>
          </a:prstGeom>
          <a:solidFill>
            <a:srgbClr val="FBF3DF"/>
          </a:solidFill>
          <a:ln w="9525">
            <a:solidFill>
              <a:srgbClr val="E5D4AA"/>
            </a:solidFill>
            <a:prstDash val="solid"/>
          </a:ln>
        </p:spPr>
        <p:txBody>
          <a:bodyPr/>
          <a:lstStyle/>
          <a:p>
            <a:endParaRPr lang="de-CH"/>
          </a:p>
        </p:txBody>
      </p:sp>
      <p:sp>
        <p:nvSpPr>
          <p:cNvPr id="26" name="edge-a">
            <a:extLst>
              <a:ext uri="{FF2B5EF4-FFF2-40B4-BE49-F238E27FC236}">
                <a16:creationId xmlns:a16="http://schemas.microsoft.com/office/drawing/2014/main" id="{7B9FB8E1-886E-4AE5-939D-AB152D87E07E}"/>
              </a:ext>
            </a:extLst>
          </p:cNvPr>
          <p:cNvSpPr>
            <a:spLocks noGrp="1"/>
          </p:cNvSpPr>
          <p:nvPr/>
        </p:nvSpPr>
        <p:spPr>
          <a:xfrm>
            <a:off x="7560000" y="3060000"/>
            <a:ext cx="723900" cy="0"/>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a:spLocks noGrp="1"/>
          </p:cNvSpPr>
          <p:nvPr/>
        </p:nvSpPr>
        <p:spPr>
          <a:xfrm>
            <a:off x="7560000" y="3060000"/>
            <a:ext cx="819150" cy="409575"/>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a:spLocks noGrp="1"/>
          </p:cNvSpPr>
          <p:nvPr/>
        </p:nvSpPr>
        <p:spPr>
          <a:xfrm>
            <a:off x="8280000" y="2700000"/>
            <a:ext cx="95250" cy="771525"/>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a:spLocks noGrp="1"/>
          </p:cNvSpPr>
          <p:nvPr/>
        </p:nvSpPr>
        <p:spPr>
          <a:xfrm>
            <a:off x="7380000" y="2880000"/>
            <a:ext cx="540000" cy="540000"/>
          </a:xfrm>
          <a:prstGeom prst="ellipse">
            <a:avLst/>
          </a:prstGeom>
          <a:solidFill>
            <a:srgbClr val="D49400"/>
          </a:solidFill>
          <a:ln w="19050">
            <a:solidFill>
              <a:srgbClr val="FFFFFF"/>
            </a:solidFill>
            <a:prstDash val="solid"/>
          </a:ln>
        </p:spPr>
        <p:txBody>
          <a:bodyPr/>
          <a:lstStyle/>
          <a:p>
            <a:endParaRPr lang="de-CH"/>
          </a:p>
        </p:txBody>
      </p:sp>
      <p:sp>
        <p:nvSpPr>
          <p:cNvPr id="30" name="node-neighbor-1">
            <a:extLst>
              <a:ext uri="{FF2B5EF4-FFF2-40B4-BE49-F238E27FC236}">
                <a16:creationId xmlns:a16="http://schemas.microsoft.com/office/drawing/2014/main" id="{75FEA930-0C69-4D20-BBBF-D441480D64A8}"/>
              </a:ext>
            </a:extLst>
          </p:cNvPr>
          <p:cNvSpPr>
            <a:spLocks noGrp="1"/>
          </p:cNvSpPr>
          <p:nvPr/>
        </p:nvSpPr>
        <p:spPr>
          <a:xfrm>
            <a:off x="8100000" y="2520000"/>
            <a:ext cx="540000" cy="540000"/>
          </a:xfrm>
          <a:prstGeom prst="ellipse">
            <a:avLst/>
          </a:prstGeom>
          <a:solidFill>
            <a:srgbClr val="307F87"/>
          </a:solidFill>
          <a:ln w="19050">
            <a:solidFill>
              <a:srgbClr val="FFFFFF"/>
            </a:solidFill>
            <a:prstDash val="solid"/>
          </a:ln>
        </p:spPr>
        <p:txBody>
          <a:bodyPr/>
          <a:lstStyle/>
          <a:p>
            <a:endParaRPr lang="de-CH"/>
          </a:p>
        </p:txBody>
      </p:sp>
      <p:sp>
        <p:nvSpPr>
          <p:cNvPr id="31" name="node-neighbor-2">
            <a:extLst>
              <a:ext uri="{FF2B5EF4-FFF2-40B4-BE49-F238E27FC236}">
                <a16:creationId xmlns:a16="http://schemas.microsoft.com/office/drawing/2014/main" id="{79228D47-291B-4A14-8451-268CE67330B9}"/>
              </a:ext>
            </a:extLst>
          </p:cNvPr>
          <p:cNvSpPr>
            <a:spLocks noGrp="1"/>
          </p:cNvSpPr>
          <p:nvPr/>
        </p:nvSpPr>
        <p:spPr>
          <a:xfrm>
            <a:off x="8280000" y="3240000"/>
            <a:ext cx="540000" cy="540000"/>
          </a:xfrm>
          <a:prstGeom prst="ellipse">
            <a:avLst/>
          </a:prstGeom>
          <a:solidFill>
            <a:srgbClr val="8A7D66"/>
          </a:solidFill>
          <a:ln w="19050">
            <a:solidFill>
              <a:srgbClr val="FFFFFF"/>
            </a:solidFill>
            <a:prstDash val="solid"/>
          </a:ln>
        </p:spPr>
        <p:txBody>
          <a:bodyPr/>
          <a:lstStyle/>
          <a:p>
            <a:endParaRPr lang="de-CH"/>
          </a:p>
        </p:txBody>
      </p:sp>
      <p:sp>
        <p:nvSpPr>
          <p:cNvPr id="32" name="node-main-label">
            <a:extLst>
              <a:ext uri="{FF2B5EF4-FFF2-40B4-BE49-F238E27FC236}">
                <a16:creationId xmlns:a16="http://schemas.microsoft.com/office/drawing/2014/main" id="{7DC7B519-47AB-46C9-8569-5B18627185C8}"/>
              </a:ext>
            </a:extLst>
          </p:cNvPr>
          <p:cNvSpPr>
            <a:spLocks noGrp="1"/>
          </p:cNvSpPr>
          <p:nvPr/>
        </p:nvSpPr>
        <p:spPr>
          <a:xfrm>
            <a:off x="7380000" y="3060000"/>
            <a:ext cx="476250" cy="1905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Art. 1</a:t>
            </a:r>
          </a:p>
        </p:txBody>
      </p:sp>
      <p:sp>
        <p:nvSpPr>
          <p:cNvPr id="33" name="node-n1-label">
            <a:extLst>
              <a:ext uri="{FF2B5EF4-FFF2-40B4-BE49-F238E27FC236}">
                <a16:creationId xmlns:a16="http://schemas.microsoft.com/office/drawing/2014/main" id="{F903413A-E460-4D34-B643-823E1C767178}"/>
              </a:ext>
            </a:extLst>
          </p:cNvPr>
          <p:cNvSpPr>
            <a:spLocks noGrp="1"/>
          </p:cNvSpPr>
          <p:nvPr/>
        </p:nvSpPr>
        <p:spPr>
          <a:xfrm>
            <a:off x="8100000" y="270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Begriff</a:t>
            </a:r>
          </a:p>
        </p:txBody>
      </p:sp>
      <p:sp>
        <p:nvSpPr>
          <p:cNvPr id="34" name="node-n2-label">
            <a:extLst>
              <a:ext uri="{FF2B5EF4-FFF2-40B4-BE49-F238E27FC236}">
                <a16:creationId xmlns:a16="http://schemas.microsoft.com/office/drawing/2014/main" id="{29989550-207A-4BD6-8F84-7740CB818630}"/>
              </a:ext>
            </a:extLst>
          </p:cNvPr>
          <p:cNvSpPr>
            <a:spLocks noGrp="1"/>
          </p:cNvSpPr>
          <p:nvPr/>
        </p:nvSpPr>
        <p:spPr>
          <a:xfrm>
            <a:off x="8280000" y="3420000"/>
            <a:ext cx="552450" cy="190500"/>
          </a:xfrm>
          <a:prstGeom prst="rect">
            <a:avLst/>
          </a:prstGeom>
          <a:noFill/>
          <a:ln w="0">
            <a:noFill/>
            <a:prstDash val="solid"/>
          </a:ln>
        </p:spPr>
        <p:txBody>
          <a:bodyPr anchor="ctr"/>
          <a:lstStyle/>
          <a:p>
            <a:pPr algn="ctr">
              <a:defRPr sz="750" b="1">
                <a:solidFill>
                  <a:srgbClr val="FFFFFF"/>
                </a:solidFill>
              </a:defRPr>
            </a:pPr>
            <a:r>
              <a:rPr sz="750" b="1">
                <a:solidFill>
                  <a:srgbClr val="FFFFFF"/>
                </a:solidFill>
              </a:rPr>
              <a:t>Verweis</a:t>
            </a:r>
          </a:p>
        </p:txBody>
      </p:sp>
      <p:sp>
        <p:nvSpPr>
          <p:cNvPr id="35" name="graph-copy">
            <a:extLst>
              <a:ext uri="{FF2B5EF4-FFF2-40B4-BE49-F238E27FC236}">
                <a16:creationId xmlns:a16="http://schemas.microsoft.com/office/drawing/2014/main" id="{2F6AB87D-0801-4287-AA63-75DC59C00ABE}"/>
              </a:ext>
            </a:extLst>
          </p:cNvPr>
          <p:cNvSpPr>
            <a:spLocks noGrp="1"/>
          </p:cNvSpPr>
          <p:nvPr/>
        </p:nvSpPr>
        <p:spPr>
          <a:xfrm>
            <a:off x="7200000" y="3960000"/>
            <a:ext cx="1866900" cy="400050"/>
          </a:xfrm>
          <a:prstGeom prst="rect">
            <a:avLst/>
          </a:prstGeom>
          <a:noFill/>
          <a:ln w="0">
            <a:noFill/>
            <a:prstDash val="solid"/>
          </a:ln>
        </p:spPr>
        <p:txBody>
          <a:bodyPr anchor="ctr"/>
          <a:lstStyle/>
          <a:p>
            <a:pPr algn="ctr">
              <a:defRPr sz="1125" b="1">
                <a:solidFill>
                  <a:srgbClr val="304452"/>
                </a:solidFill>
              </a:defRPr>
            </a:pPr>
            <a:r>
              <a:rPr sz="1125" b="1">
                <a:solidFill>
                  <a:srgbClr val="304452"/>
                </a:solidFill>
              </a:rPr>
              <a:t>relevante Nachbarn</a:t>
            </a:r>
          </a:p>
          <a:p>
            <a:pPr algn="ctr">
              <a:defRPr sz="1125" b="1">
                <a:solidFill>
                  <a:srgbClr val="304452"/>
                </a:solidFill>
              </a:defRPr>
            </a:pPr>
            <a:r>
              <a:rPr sz="1125" b="1">
                <a:solidFill>
                  <a:srgbClr val="304452"/>
                </a:solidFill>
              </a:rPr>
              <a:t>gezielt ergänzen</a:t>
            </a:r>
          </a:p>
        </p:txBody>
      </p:sp>
      <p:sp>
        <p:nvSpPr>
          <p:cNvPr id="36" name="stage5-label">
            <a:extLst>
              <a:ext uri="{FF2B5EF4-FFF2-40B4-BE49-F238E27FC236}">
                <a16:creationId xmlns:a16="http://schemas.microsoft.com/office/drawing/2014/main" id="{D2446592-1FE5-4105-BA2B-CE0893685701}"/>
              </a:ext>
            </a:extLst>
          </p:cNvPr>
          <p:cNvSpPr>
            <a:spLocks noGrp="1"/>
          </p:cNvSpPr>
          <p:nvPr/>
        </p:nvSpPr>
        <p:spPr>
          <a:xfrm>
            <a:off x="9720000" y="1980000"/>
            <a:ext cx="161925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a:spLocks noGrp="1"/>
          </p:cNvSpPr>
          <p:nvPr/>
        </p:nvSpPr>
        <p:spPr>
          <a:xfrm>
            <a:off x="9540000" y="2340000"/>
            <a:ext cx="2160000" cy="2160000"/>
          </a:xfrm>
          <a:prstGeom prst="roundRect">
            <a:avLst>
              <a:gd name="adj" fmla="val 5505"/>
            </a:avLst>
          </a:prstGeom>
          <a:solidFill>
            <a:srgbClr val="304452"/>
          </a:solidFill>
          <a:ln w="0">
            <a:solidFill>
              <a:srgbClr val="304452"/>
            </a:solidFill>
            <a:prstDash val="solid"/>
          </a:ln>
        </p:spPr>
        <p:txBody>
          <a:bodyPr/>
          <a:lstStyle/>
          <a:p>
            <a:endParaRPr lang="de-CH"/>
          </a:p>
        </p:txBody>
      </p:sp>
      <p:sp>
        <p:nvSpPr>
          <p:cNvPr id="38" name="context-title">
            <a:extLst>
              <a:ext uri="{FF2B5EF4-FFF2-40B4-BE49-F238E27FC236}">
                <a16:creationId xmlns:a16="http://schemas.microsoft.com/office/drawing/2014/main" id="{18310556-A6F3-4EF0-9434-83C9E0CDC80A}"/>
              </a:ext>
            </a:extLst>
          </p:cNvPr>
          <p:cNvSpPr>
            <a:spLocks noGrp="1"/>
          </p:cNvSpPr>
          <p:nvPr/>
        </p:nvSpPr>
        <p:spPr>
          <a:xfrm>
            <a:off x="9900000" y="2520000"/>
            <a:ext cx="1619250" cy="5143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KURATIERTER</a:t>
            </a:r>
          </a:p>
          <a:p>
            <a:pPr algn="ctr">
              <a:defRPr sz="1350" b="1">
                <a:solidFill>
                  <a:srgbClr val="FFFFFF"/>
                </a:solidFill>
              </a:defRPr>
            </a:pPr>
            <a:r>
              <a:rPr sz="1350" b="1">
                <a:solidFill>
                  <a:srgbClr val="FFFFFF"/>
                </a:solidFill>
              </a:rPr>
              <a:t>KONTEXT</a:t>
            </a:r>
          </a:p>
        </p:txBody>
      </p:sp>
      <p:sp>
        <p:nvSpPr>
          <p:cNvPr id="39" name="context-rule">
            <a:extLst>
              <a:ext uri="{FF2B5EF4-FFF2-40B4-BE49-F238E27FC236}">
                <a16:creationId xmlns:a16="http://schemas.microsoft.com/office/drawing/2014/main" id="{0502F995-463E-4825-8FE2-0C53FB9F416D}"/>
              </a:ext>
            </a:extLst>
          </p:cNvPr>
          <p:cNvSpPr>
            <a:spLocks noGrp="1"/>
          </p:cNvSpPr>
          <p:nvPr/>
        </p:nvSpPr>
        <p:spPr>
          <a:xfrm>
            <a:off x="9900000" y="3060000"/>
            <a:ext cx="1524000" cy="0"/>
          </a:xfrm>
          <a:prstGeom prst="line">
            <a:avLst/>
          </a:prstGeom>
          <a:noFill/>
          <a:ln w="9525">
            <a:solidFill>
              <a:srgbClr val="80909A"/>
            </a:solidFill>
            <a:prstDash val="solid"/>
          </a:ln>
        </p:spPr>
        <p:txBody>
          <a:bodyPr/>
          <a:lstStyle/>
          <a:p>
            <a:endParaRPr lang="de-CH"/>
          </a:p>
        </p:txBody>
      </p:sp>
      <p:sp>
        <p:nvSpPr>
          <p:cNvPr id="40" name="context-items">
            <a:extLst>
              <a:ext uri="{FF2B5EF4-FFF2-40B4-BE49-F238E27FC236}">
                <a16:creationId xmlns:a16="http://schemas.microsoft.com/office/drawing/2014/main" id="{3E12AC63-7D0A-4A89-A39A-57AFDE02000B}"/>
              </a:ext>
            </a:extLst>
          </p:cNvPr>
          <p:cNvSpPr>
            <a:spLocks noGrp="1"/>
          </p:cNvSpPr>
          <p:nvPr/>
        </p:nvSpPr>
        <p:spPr>
          <a:xfrm>
            <a:off x="9900000" y="3240000"/>
            <a:ext cx="1620000" cy="900000"/>
          </a:xfrm>
          <a:prstGeom prst="rect">
            <a:avLst/>
          </a:prstGeom>
          <a:noFill/>
          <a:ln w="0">
            <a:noFill/>
            <a:prstDash val="solid"/>
          </a:ln>
        </p:spPr>
        <p:txBody>
          <a:bodyPr anchor="ctr"/>
          <a:lstStyle/>
          <a:p>
            <a:pPr algn="l">
              <a:defRPr sz="1125" b="0">
                <a:solidFill>
                  <a:srgbClr val="FFFFFF"/>
                </a:solidFill>
              </a:defRPr>
            </a:pPr>
            <a:r>
              <a:rPr sz="1125" b="0">
                <a:solidFill>
                  <a:srgbClr val="FFFFFF"/>
                </a:solidFill>
              </a:rPr>
              <a:t>• beste Treffer</a:t>
            </a:r>
          </a:p>
          <a:p>
            <a:pPr algn="l">
              <a:defRPr sz="1125" b="0">
                <a:solidFill>
                  <a:srgbClr val="FFFFFF"/>
                </a:solidFill>
              </a:defRPr>
            </a:pPr>
            <a:r>
              <a:rPr sz="1125" b="0">
                <a:solidFill>
                  <a:srgbClr val="FFFFFF"/>
                </a:solidFill>
              </a:rPr>
              <a:t>• passende Nachbarn</a:t>
            </a:r>
          </a:p>
          <a:p>
            <a:pPr algn="l">
              <a:defRPr sz="1125" b="0">
                <a:solidFill>
                  <a:srgbClr val="FFFFFF"/>
                </a:solidFill>
              </a:defRPr>
            </a:pPr>
            <a:r>
              <a:rPr sz="1125" b="0">
                <a:solidFill>
                  <a:srgbClr val="FFFFFF"/>
                </a:solidFill>
              </a:rPr>
              <a:t>• innerhalb des Limits</a:t>
            </a:r>
          </a:p>
        </p:txBody>
      </p:sp>
      <p:sp>
        <p:nvSpPr>
          <p:cNvPr id="41" name="takeaway">
            <a:extLst>
              <a:ext uri="{FF2B5EF4-FFF2-40B4-BE49-F238E27FC236}">
                <a16:creationId xmlns:a16="http://schemas.microsoft.com/office/drawing/2014/main" id="{8D67E1C2-6641-4B1A-BC5F-F5469ACC23E4}"/>
              </a:ext>
            </a:extLst>
          </p:cNvPr>
          <p:cNvSpPr>
            <a:spLocks noGrp="1"/>
          </p:cNvSpPr>
          <p:nvPr/>
        </p:nvSpPr>
        <p:spPr>
          <a:xfrm>
            <a:off x="1980000" y="5040000"/>
            <a:ext cx="8280000" cy="720000"/>
          </a:xfrm>
          <a:prstGeom prst="roundRect">
            <a:avLst>
              <a:gd name="adj" fmla="val 16667"/>
            </a:avLst>
          </a:prstGeom>
          <a:solidFill>
            <a:srgbClr val="304452"/>
          </a:solidFill>
          <a:ln w="0">
            <a:solidFill>
              <a:srgbClr val="304452"/>
            </a:solidFill>
            <a:prstDash val="solid"/>
          </a:ln>
        </p:spPr>
        <p:txBody>
          <a:bodyPr/>
          <a:lstStyle/>
          <a:p>
            <a:endParaRPr lang="de-CH"/>
          </a:p>
        </p:txBody>
      </p:sp>
      <p:sp>
        <p:nvSpPr>
          <p:cNvPr id="42" name="takeaway-title">
            <a:extLst>
              <a:ext uri="{FF2B5EF4-FFF2-40B4-BE49-F238E27FC236}">
                <a16:creationId xmlns:a16="http://schemas.microsoft.com/office/drawing/2014/main" id="{5BBAAA32-C1B5-4CDA-B33D-FF0DAEDEE8DE}"/>
              </a:ext>
            </a:extLst>
          </p:cNvPr>
          <p:cNvSpPr>
            <a:spLocks noGrp="1"/>
          </p:cNvSpPr>
          <p:nvPr/>
        </p:nvSpPr>
        <p:spPr>
          <a:xfrm>
            <a:off x="2160000" y="5040000"/>
            <a:ext cx="2190750" cy="247650"/>
          </a:xfrm>
          <a:prstGeom prst="rect">
            <a:avLst/>
          </a:prstGeom>
          <a:noFill/>
          <a:ln w="0">
            <a:noFill/>
            <a:prstDash val="solid"/>
          </a:ln>
        </p:spPr>
        <p:txBody>
          <a:bodyPr anchor="ctr"/>
          <a:lstStyle/>
          <a:p>
            <a:pPr algn="l">
              <a:defRPr sz="1275" b="1">
                <a:solidFill>
                  <a:srgbClr val="FFFFFF"/>
                </a:solidFill>
              </a:defRPr>
            </a:pPr>
            <a:r>
              <a:rPr sz="1275" b="1">
                <a:solidFill>
                  <a:srgbClr val="FFFFFF"/>
                </a:solidFill>
              </a:rPr>
              <a:t>Reihenfolge zählt:</a:t>
            </a:r>
          </a:p>
        </p:txBody>
      </p:sp>
      <p:sp>
        <p:nvSpPr>
          <p:cNvPr id="43" name="takeaway-copy">
            <a:extLst>
              <a:ext uri="{FF2B5EF4-FFF2-40B4-BE49-F238E27FC236}">
                <a16:creationId xmlns:a16="http://schemas.microsoft.com/office/drawing/2014/main" id="{4AEAB268-5AEF-4125-A134-19A80386259B}"/>
              </a:ext>
            </a:extLst>
          </p:cNvPr>
          <p:cNvSpPr>
            <a:spLocks noGrp="1"/>
          </p:cNvSpPr>
          <p:nvPr/>
        </p:nvSpPr>
        <p:spPr>
          <a:xfrm>
            <a:off x="2160000" y="5400000"/>
            <a:ext cx="7772400" cy="228600"/>
          </a:xfrm>
          <a:prstGeom prst="rect">
            <a:avLst/>
          </a:prstGeom>
          <a:noFill/>
          <a:ln w="0">
            <a:noFill/>
            <a:prstDash val="solid"/>
          </a:ln>
        </p:spPr>
        <p:txBody>
          <a:bodyPr anchor="ctr"/>
          <a:lstStyle/>
          <a:p>
            <a:pPr algn="l">
              <a:defRPr sz="1425" b="1">
                <a:solidFill>
                  <a:srgbClr val="FFFFFF"/>
                </a:solidFill>
              </a:defRPr>
            </a:pPr>
            <a:r>
              <a:rPr sz="1425" b="1" dirty="0">
                <a:solidFill>
                  <a:srgbClr val="FFFFFF"/>
                </a:solidFill>
              </a:rPr>
              <a:t>erst Treffer </a:t>
            </a:r>
            <a:r>
              <a:rPr sz="1425" b="1" dirty="0" err="1">
                <a:solidFill>
                  <a:srgbClr val="FFFFFF"/>
                </a:solidFill>
              </a:rPr>
              <a:t>fusionieren</a:t>
            </a:r>
            <a:r>
              <a:rPr sz="1425" b="1" dirty="0">
                <a:solidFill>
                  <a:srgbClr val="FFFFFF"/>
                </a:solidFill>
              </a:rPr>
              <a:t>, </a:t>
            </a:r>
            <a:r>
              <a:rPr sz="1425" b="1" dirty="0" err="1">
                <a:solidFill>
                  <a:srgbClr val="FFFFFF"/>
                </a:solidFill>
              </a:rPr>
              <a:t>dann</a:t>
            </a:r>
            <a:r>
              <a:rPr sz="1425" b="1" dirty="0">
                <a:solidFill>
                  <a:srgbClr val="FFFFFF"/>
                </a:solidFill>
              </a:rPr>
              <a:t> </a:t>
            </a:r>
            <a:r>
              <a:rPr sz="1425" b="1" dirty="0" err="1">
                <a:solidFill>
                  <a:srgbClr val="FFFFFF"/>
                </a:solidFill>
              </a:rPr>
              <a:t>Beziehungen</a:t>
            </a:r>
            <a:r>
              <a:rPr sz="1425" b="1" dirty="0">
                <a:solidFill>
                  <a:srgbClr val="FFFFFF"/>
                </a:solidFill>
              </a:rPr>
              <a:t> </a:t>
            </a:r>
            <a:r>
              <a:rPr sz="1425" b="1" dirty="0" err="1">
                <a:solidFill>
                  <a:srgbClr val="FFFFFF"/>
                </a:solidFill>
              </a:rPr>
              <a:t>ergänzen</a:t>
            </a:r>
            <a:r>
              <a:rPr sz="1425" b="1" dirty="0">
                <a:solidFill>
                  <a:srgbClr val="FFFFFF"/>
                </a:solidFill>
              </a:rPr>
              <a:t>.</a:t>
            </a:r>
          </a:p>
        </p:txBody>
      </p:sp>
      <p:sp>
        <p:nvSpPr>
          <p:cNvPr id="44" name="page">
            <a:extLst>
              <a:ext uri="{FF2B5EF4-FFF2-40B4-BE49-F238E27FC236}">
                <a16:creationId xmlns:a16="http://schemas.microsoft.com/office/drawing/2014/main" id="{FA5986F7-ED63-474F-8ABE-805440A84E62}"/>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0"/>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4"/>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5"/>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29"/>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0"/>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2"/>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3"/>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34"/>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5"/>
                                        </p:tgtEl>
                                        <p:attrNameLst>
                                          <p:attrName>style.visibility</p:attrName>
                                        </p:attrNameLst>
                                      </p:cBhvr>
                                      <p:to>
                                        <p:strVal val="visible"/>
                                      </p:to>
                                    </p:set>
                                  </p:childTnLst>
                                </p:cTn>
                              </p:par>
                              <p:par>
                                <p:cTn id="61" presetID="1" presetClass="entr" presetSubtype="0" fill="hold" grpId="0" nodeType="withEffect">
                                  <p:stCondLst>
                                    <p:cond delay="0"/>
                                  </p:stCondLst>
                                  <p:childTnLst>
                                    <p:set>
                                      <p:cBhvr>
                                        <p:cTn id="62" dur="1" fill="hold">
                                          <p:stCondLst>
                                            <p:cond delay="0"/>
                                          </p:stCondLst>
                                        </p:cTn>
                                        <p:tgtEl>
                                          <p:spTgt spid="7"/>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ntr" presetSubtype="0" fill="hold" grpId="0" nodeType="clickEffect">
                                  <p:stCondLst>
                                    <p:cond delay="0"/>
                                  </p:stCondLst>
                                  <p:childTnLst>
                                    <p:set>
                                      <p:cBhvr>
                                        <p:cTn id="66" dur="1" fill="hold">
                                          <p:stCondLst>
                                            <p:cond delay="0"/>
                                          </p:stCondLst>
                                        </p:cTn>
                                        <p:tgtEl>
                                          <p:spTgt spid="3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37"/>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9"/>
                                        </p:tgtEl>
                                        <p:attrNameLst>
                                          <p:attrName>style.visibility</p:attrName>
                                        </p:attrNameLst>
                                      </p:cBhvr>
                                      <p:to>
                                        <p:strVal val="visible"/>
                                      </p:to>
                                    </p:set>
                                  </p:childTnLst>
                                </p:cTn>
                              </p:par>
                              <p:par>
                                <p:cTn id="73" presetID="1" presetClass="entr" presetSubtype="0" fill="hold" grpId="0" nodeType="withEffect">
                                  <p:stCondLst>
                                    <p:cond delay="0"/>
                                  </p:stCondLst>
                                  <p:childTnLst>
                                    <p:set>
                                      <p:cBhvr>
                                        <p:cTn id="74" dur="1" fill="hold">
                                          <p:stCondLst>
                                            <p:cond delay="0"/>
                                          </p:stCondLst>
                                        </p:cTn>
                                        <p:tgtEl>
                                          <p:spTgt spid="4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41"/>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2"/>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3" grpId="0" animBg="1"/>
      <p:bldP spid="14" grpId="0" animBg="1"/>
      <p:bldP spid="15" grpId="0"/>
      <p:bldP spid="16" grpId="0"/>
      <p:bldP spid="17" grpId="0" animBg="1"/>
      <p:bldP spid="18" grpId="0"/>
      <p:bldP spid="19" grpId="0"/>
      <p:bldP spid="20" grpId="0"/>
      <p:bldP spid="21" grpId="0" animBg="1"/>
      <p:bldP spid="22" grpId="0"/>
      <p:bldP spid="23" grpId="0"/>
      <p:bldP spid="24" grpId="0"/>
      <p:bldP spid="25" grpId="0" animBg="1"/>
      <p:bldP spid="26" grpId="0" animBg="1"/>
      <p:bldP spid="27" grpId="0" animBg="1"/>
      <p:bldP spid="28" grpId="0" animBg="1"/>
      <p:bldP spid="29" grpId="0" animBg="1"/>
      <p:bldP spid="30" grpId="0" animBg="1"/>
      <p:bldP spid="31" grpId="0" animBg="1"/>
      <p:bldP spid="32" grpId="0"/>
      <p:bldP spid="33" grpId="0"/>
      <p:bldP spid="34" grpId="0"/>
      <p:bldP spid="35" grpId="0"/>
      <p:bldP spid="36" grpId="0"/>
      <p:bldP spid="37" grpId="0" animBg="1"/>
      <p:bldP spid="38" grpId="0"/>
      <p:bldP spid="39" grpId="0" animBg="1"/>
      <p:bldP spid="40" grpId="0"/>
      <p:bldP spid="41" grpId="0" animBg="1"/>
      <p:bldP spid="42" grpId="0"/>
      <p:bldP spid="43"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ffline-label">
            <a:extLst>
              <a:ext uri="{FF2B5EF4-FFF2-40B4-BE49-F238E27FC236}">
                <a16:creationId xmlns:a16="http://schemas.microsoft.com/office/drawing/2014/main" id="{6DA752F8-763C-4CCC-BFED-D72863B0E678}"/>
              </a:ext>
            </a:extLst>
          </p:cNvPr>
          <p:cNvSpPr>
            <a:spLocks noGrp="1"/>
          </p:cNvSpPr>
          <p:nvPr/>
        </p:nvSpPr>
        <p:spPr>
          <a:xfrm>
            <a:off x="540000" y="126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INDEXIERUNG · EINMALIG</a:t>
            </a:r>
          </a:p>
        </p:txBody>
      </p:sp>
      <p:sp>
        <p:nvSpPr>
          <p:cNvPr id="4" name="online-label">
            <a:extLst>
              <a:ext uri="{FF2B5EF4-FFF2-40B4-BE49-F238E27FC236}">
                <a16:creationId xmlns:a16="http://schemas.microsoft.com/office/drawing/2014/main" id="{D5A91E62-8CE5-4D2A-96C2-B0FEE8C0C4FC}"/>
              </a:ext>
            </a:extLst>
          </p:cNvPr>
          <p:cNvSpPr>
            <a:spLocks noGrp="1"/>
          </p:cNvSpPr>
          <p:nvPr/>
        </p:nvSpPr>
        <p:spPr>
          <a:xfrm>
            <a:off x="540000" y="3240000"/>
            <a:ext cx="2857500" cy="228600"/>
          </a:xfrm>
          <a:prstGeom prst="rect">
            <a:avLst/>
          </a:prstGeom>
          <a:noFill/>
          <a:ln w="0">
            <a:noFill/>
            <a:prstDash val="solid"/>
          </a:ln>
        </p:spPr>
        <p:txBody>
          <a:bodyPr anchor="ctr"/>
          <a:lstStyle/>
          <a:p>
            <a:pPr algn="l">
              <a:defRPr sz="975" b="1">
                <a:solidFill>
                  <a:srgbClr val="746B5F"/>
                </a:solidFill>
              </a:defRPr>
            </a:pPr>
            <a:r>
              <a:rPr sz="975" b="1">
                <a:solidFill>
                  <a:srgbClr val="746B5F"/>
                </a:solidFill>
              </a:rPr>
              <a:t>RETRIEVAL · PRO FRAGE</a:t>
            </a:r>
          </a:p>
        </p:txBody>
      </p:sp>
      <p:sp>
        <p:nvSpPr>
          <p:cNvPr id="5" name="offline-a">
            <a:extLst>
              <a:ext uri="{FF2B5EF4-FFF2-40B4-BE49-F238E27FC236}">
                <a16:creationId xmlns:a16="http://schemas.microsoft.com/office/drawing/2014/main" id="{19DF6C67-85CE-4348-A1E7-197C10019817}"/>
              </a:ext>
            </a:extLst>
          </p:cNvPr>
          <p:cNvSpPr>
            <a:spLocks noGrp="1"/>
          </p:cNvSpPr>
          <p:nvPr/>
        </p:nvSpPr>
        <p:spPr>
          <a:xfrm>
            <a:off x="252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6" name="offline-b">
            <a:extLst>
              <a:ext uri="{FF2B5EF4-FFF2-40B4-BE49-F238E27FC236}">
                <a16:creationId xmlns:a16="http://schemas.microsoft.com/office/drawing/2014/main" id="{C113773C-627C-49B7-B5E0-0A8B0BF0B485}"/>
              </a:ext>
            </a:extLst>
          </p:cNvPr>
          <p:cNvSpPr>
            <a:spLocks noGrp="1"/>
          </p:cNvSpPr>
          <p:nvPr/>
        </p:nvSpPr>
        <p:spPr>
          <a:xfrm>
            <a:off x="5040000" y="2160000"/>
            <a:ext cx="238125" cy="361950"/>
          </a:xfrm>
          <a:prstGeom prst="chevron">
            <a:avLst/>
          </a:prstGeom>
          <a:solidFill>
            <a:srgbClr val="8B969C"/>
          </a:solidFill>
          <a:ln w="0">
            <a:solidFill>
              <a:srgbClr val="8B969C"/>
            </a:solidFill>
            <a:prstDash val="solid"/>
          </a:ln>
        </p:spPr>
        <p:txBody>
          <a:bodyPr/>
          <a:lstStyle/>
          <a:p>
            <a:endParaRPr lang="de-DE"/>
          </a:p>
        </p:txBody>
      </p:sp>
      <p:sp>
        <p:nvSpPr>
          <p:cNvPr id="7" name="chroma-to-retrieval">
            <a:extLst>
              <a:ext uri="{FF2B5EF4-FFF2-40B4-BE49-F238E27FC236}">
                <a16:creationId xmlns:a16="http://schemas.microsoft.com/office/drawing/2014/main" id="{E1D61F91-AD88-4EAA-A2B4-A117D6CBC4F1}"/>
              </a:ext>
            </a:extLst>
          </p:cNvPr>
          <p:cNvSpPr>
            <a:spLocks noGrp="1"/>
          </p:cNvSpPr>
          <p:nvPr/>
        </p:nvSpPr>
        <p:spPr>
          <a:xfrm>
            <a:off x="1620000" y="2880000"/>
            <a:ext cx="0" cy="866775"/>
          </a:xfrm>
          <a:prstGeom prst="line">
            <a:avLst/>
          </a:prstGeom>
          <a:noFill/>
          <a:ln w="19050">
            <a:solidFill>
              <a:srgbClr val="8B969C"/>
            </a:solidFill>
            <a:prstDash val="solid"/>
          </a:ln>
        </p:spPr>
        <p:txBody>
          <a:bodyPr/>
          <a:lstStyle/>
          <a:p>
            <a:endParaRPr lang="de-DE"/>
          </a:p>
        </p:txBody>
      </p:sp>
      <p:sp>
        <p:nvSpPr>
          <p:cNvPr id="8" name="graph-to-expansion">
            <a:extLst>
              <a:ext uri="{FF2B5EF4-FFF2-40B4-BE49-F238E27FC236}">
                <a16:creationId xmlns:a16="http://schemas.microsoft.com/office/drawing/2014/main" id="{28866ECA-EB72-4E26-9C56-C857B0A464F0}"/>
              </a:ext>
            </a:extLst>
          </p:cNvPr>
          <p:cNvSpPr>
            <a:spLocks noGrp="1"/>
          </p:cNvSpPr>
          <p:nvPr/>
        </p:nvSpPr>
        <p:spPr>
          <a:xfrm>
            <a:off x="6840000" y="2880000"/>
            <a:ext cx="0" cy="866775"/>
          </a:xfrm>
          <a:prstGeom prst="line">
            <a:avLst/>
          </a:prstGeom>
          <a:noFill/>
          <a:ln w="19050">
            <a:solidFill>
              <a:srgbClr val="D49400"/>
            </a:solidFill>
            <a:prstDash val="solid"/>
          </a:ln>
        </p:spPr>
        <p:txBody>
          <a:bodyPr/>
          <a:lstStyle/>
          <a:p>
            <a:endParaRPr lang="de-DE"/>
          </a:p>
        </p:txBody>
      </p:sp>
      <p:sp>
        <p:nvSpPr>
          <p:cNvPr id="9" name="online-a">
            <a:extLst>
              <a:ext uri="{FF2B5EF4-FFF2-40B4-BE49-F238E27FC236}">
                <a16:creationId xmlns:a16="http://schemas.microsoft.com/office/drawing/2014/main" id="{6AC78953-BCD6-45B2-B15C-B7D2100A1DF5}"/>
              </a:ext>
            </a:extLst>
          </p:cNvPr>
          <p:cNvSpPr>
            <a:spLocks noGrp="1"/>
          </p:cNvSpPr>
          <p:nvPr/>
        </p:nvSpPr>
        <p:spPr>
          <a:xfrm>
            <a:off x="198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0" name="online-b">
            <a:extLst>
              <a:ext uri="{FF2B5EF4-FFF2-40B4-BE49-F238E27FC236}">
                <a16:creationId xmlns:a16="http://schemas.microsoft.com/office/drawing/2014/main" id="{47D8CED9-5A05-4C68-AB24-5E3C2FE229AE}"/>
              </a:ext>
            </a:extLst>
          </p:cNvPr>
          <p:cNvSpPr>
            <a:spLocks noGrp="1"/>
          </p:cNvSpPr>
          <p:nvPr/>
        </p:nvSpPr>
        <p:spPr>
          <a:xfrm>
            <a:off x="52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1" name="online-c">
            <a:extLst>
              <a:ext uri="{FF2B5EF4-FFF2-40B4-BE49-F238E27FC236}">
                <a16:creationId xmlns:a16="http://schemas.microsoft.com/office/drawing/2014/main" id="{63FA47F8-9E04-4280-A03C-45E24A49FDC2}"/>
              </a:ext>
            </a:extLst>
          </p:cNvPr>
          <p:cNvSpPr>
            <a:spLocks noGrp="1"/>
          </p:cNvSpPr>
          <p:nvPr/>
        </p:nvSpPr>
        <p:spPr>
          <a:xfrm>
            <a:off x="720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2" name="online-d">
            <a:extLst>
              <a:ext uri="{FF2B5EF4-FFF2-40B4-BE49-F238E27FC236}">
                <a16:creationId xmlns:a16="http://schemas.microsoft.com/office/drawing/2014/main" id="{9A26D8C7-A5E5-4458-82FE-B39AF22287CE}"/>
              </a:ext>
            </a:extLst>
          </p:cNvPr>
          <p:cNvSpPr>
            <a:spLocks noGrp="1"/>
          </p:cNvSpPr>
          <p:nvPr/>
        </p:nvSpPr>
        <p:spPr>
          <a:xfrm>
            <a:off x="8820000" y="4320000"/>
            <a:ext cx="228600" cy="342900"/>
          </a:xfrm>
          <a:prstGeom prst="chevron">
            <a:avLst/>
          </a:prstGeom>
          <a:solidFill>
            <a:srgbClr val="8B969C"/>
          </a:solidFill>
          <a:ln w="0">
            <a:solidFill>
              <a:srgbClr val="8B969C"/>
            </a:solidFill>
            <a:prstDash val="solid"/>
          </a:ln>
        </p:spPr>
        <p:txBody>
          <a:bodyPr/>
          <a:lstStyle/>
          <a:p>
            <a:endParaRPr lang="de-DE"/>
          </a:p>
        </p:txBody>
      </p:sp>
      <p:sp>
        <p:nvSpPr>
          <p:cNvPr id="13" name="online-e">
            <a:extLst>
              <a:ext uri="{FF2B5EF4-FFF2-40B4-BE49-F238E27FC236}">
                <a16:creationId xmlns:a16="http://schemas.microsoft.com/office/drawing/2014/main" id="{59DE0A52-324E-47EB-A796-823028200231}"/>
              </a:ext>
            </a:extLst>
          </p:cNvPr>
          <p:cNvSpPr>
            <a:spLocks noGrp="1"/>
          </p:cNvSpPr>
          <p:nvPr/>
        </p:nvSpPr>
        <p:spPr>
          <a:xfrm>
            <a:off x="10260000" y="4320000"/>
            <a:ext cx="228600" cy="342900"/>
          </a:xfrm>
          <a:prstGeom prst="chevron">
            <a:avLst/>
          </a:prstGeom>
          <a:solidFill>
            <a:srgbClr val="D20A32"/>
          </a:solidFill>
          <a:ln w="0">
            <a:solidFill>
              <a:srgbClr val="D20A32"/>
            </a:solidFill>
            <a:prstDash val="solid"/>
          </a:ln>
        </p:spPr>
        <p:txBody>
          <a:bodyPr/>
          <a:lstStyle/>
          <a:p>
            <a:endParaRPr lang="de-DE"/>
          </a:p>
        </p:txBody>
      </p:sp>
      <p:sp>
        <p:nvSpPr>
          <p:cNvPr id="14" name="chroma">
            <a:extLst>
              <a:ext uri="{FF2B5EF4-FFF2-40B4-BE49-F238E27FC236}">
                <a16:creationId xmlns:a16="http://schemas.microsoft.com/office/drawing/2014/main" id="{CC1CC97F-41C4-4B5E-9FCE-22FF6E967F9B}"/>
              </a:ext>
            </a:extLst>
          </p:cNvPr>
          <p:cNvSpPr>
            <a:spLocks noGrp="1"/>
          </p:cNvSpPr>
          <p:nvPr/>
        </p:nvSpPr>
        <p:spPr>
          <a:xfrm>
            <a:off x="540000" y="1620000"/>
            <a:ext cx="1800000" cy="1260000"/>
          </a:xfrm>
          <a:prstGeom prst="roundRect">
            <a:avLst>
              <a:gd name="adj" fmla="val 9524"/>
            </a:avLst>
          </a:prstGeom>
          <a:solidFill>
            <a:srgbClr val="EAF4FB"/>
          </a:solidFill>
          <a:ln w="12383">
            <a:solidFill>
              <a:srgbClr val="7D9AB0"/>
            </a:solidFill>
            <a:prstDash val="solid"/>
          </a:ln>
        </p:spPr>
        <p:txBody>
          <a:bodyPr/>
          <a:lstStyle/>
          <a:p>
            <a:endParaRPr lang="de-DE"/>
          </a:p>
        </p:txBody>
      </p:sp>
      <p:sp>
        <p:nvSpPr>
          <p:cNvPr id="15" name="chroma-title">
            <a:extLst>
              <a:ext uri="{FF2B5EF4-FFF2-40B4-BE49-F238E27FC236}">
                <a16:creationId xmlns:a16="http://schemas.microsoft.com/office/drawing/2014/main" id="{2CE18B33-E8C2-40A3-83ED-EA0833511B70}"/>
              </a:ext>
            </a:extLst>
          </p:cNvPr>
          <p:cNvSpPr>
            <a:spLocks noGrp="1"/>
          </p:cNvSpPr>
          <p:nvPr/>
        </p:nvSpPr>
        <p:spPr>
          <a:xfrm>
            <a:off x="720000" y="1800000"/>
            <a:ext cx="14478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CHROMA INDEX</a:t>
            </a:r>
          </a:p>
        </p:txBody>
      </p:sp>
      <p:sp>
        <p:nvSpPr>
          <p:cNvPr id="16" name="chroma-icon">
            <a:extLst>
              <a:ext uri="{FF2B5EF4-FFF2-40B4-BE49-F238E27FC236}">
                <a16:creationId xmlns:a16="http://schemas.microsoft.com/office/drawing/2014/main" id="{71290B5F-8DE4-4308-A16A-A5690A055D47}"/>
              </a:ext>
            </a:extLst>
          </p:cNvPr>
          <p:cNvSpPr>
            <a:spLocks noGrp="1"/>
          </p:cNvSpPr>
          <p:nvPr/>
        </p:nvSpPr>
        <p:spPr>
          <a:xfrm>
            <a:off x="1260000" y="2160000"/>
            <a:ext cx="590550" cy="304800"/>
          </a:xfrm>
          <a:prstGeom prst="rect">
            <a:avLst/>
          </a:prstGeom>
          <a:noFill/>
          <a:ln w="0">
            <a:noFill/>
            <a:prstDash val="solid"/>
          </a:ln>
        </p:spPr>
        <p:txBody>
          <a:bodyPr anchor="ctr"/>
          <a:lstStyle/>
          <a:p>
            <a:pPr algn="ctr">
              <a:defRPr sz="2250" b="1">
                <a:solidFill>
                  <a:srgbClr val="438B92"/>
                </a:solidFill>
              </a:defRPr>
            </a:pPr>
            <a:r>
              <a:rPr sz="2250" b="1">
                <a:solidFill>
                  <a:srgbClr val="438B92"/>
                </a:solidFill>
              </a:rPr>
              <a:t>≋</a:t>
            </a:r>
          </a:p>
        </p:txBody>
      </p:sp>
      <p:sp>
        <p:nvSpPr>
          <p:cNvPr id="17" name="chroma-copy">
            <a:extLst>
              <a:ext uri="{FF2B5EF4-FFF2-40B4-BE49-F238E27FC236}">
                <a16:creationId xmlns:a16="http://schemas.microsoft.com/office/drawing/2014/main" id="{6746A859-008E-46DB-9915-363EEE2EDE11}"/>
              </a:ext>
            </a:extLst>
          </p:cNvPr>
          <p:cNvSpPr>
            <a:spLocks noGrp="1"/>
          </p:cNvSpPr>
          <p:nvPr/>
        </p:nvSpPr>
        <p:spPr>
          <a:xfrm>
            <a:off x="720000" y="2520000"/>
            <a:ext cx="1447800" cy="228600"/>
          </a:xfrm>
          <a:prstGeom prst="rect">
            <a:avLst/>
          </a:prstGeom>
          <a:noFill/>
          <a:ln w="0">
            <a:noFill/>
            <a:prstDash val="solid"/>
          </a:ln>
        </p:spPr>
        <p:txBody>
          <a:bodyPr anchor="ctr"/>
          <a:lstStyle/>
          <a:p>
            <a:pPr algn="ctr">
              <a:defRPr sz="1050" b="0">
                <a:solidFill>
                  <a:srgbClr val="304452"/>
                </a:solidFill>
              </a:defRPr>
            </a:pPr>
            <a:r>
              <a:rPr sz="1050" b="0">
                <a:solidFill>
                  <a:srgbClr val="304452"/>
                </a:solidFill>
              </a:rPr>
              <a:t>Chunks + Embeddings</a:t>
            </a:r>
          </a:p>
        </p:txBody>
      </p:sp>
      <p:sp>
        <p:nvSpPr>
          <p:cNvPr id="18" name="graph-builder">
            <a:extLst>
              <a:ext uri="{FF2B5EF4-FFF2-40B4-BE49-F238E27FC236}">
                <a16:creationId xmlns:a16="http://schemas.microsoft.com/office/drawing/2014/main" id="{7403451D-2936-47A8-987E-8CB23B3AD79B}"/>
              </a:ext>
            </a:extLst>
          </p:cNvPr>
          <p:cNvSpPr>
            <a:spLocks noGrp="1"/>
          </p:cNvSpPr>
          <p:nvPr/>
        </p:nvSpPr>
        <p:spPr>
          <a:xfrm>
            <a:off x="2880000" y="1620000"/>
            <a:ext cx="2160000" cy="1260000"/>
          </a:xfrm>
          <a:prstGeom prst="roundRect">
            <a:avLst>
              <a:gd name="adj" fmla="val 9524"/>
            </a:avLst>
          </a:prstGeom>
          <a:solidFill>
            <a:srgbClr val="FFF7DE"/>
          </a:solidFill>
          <a:ln w="12383">
            <a:solidFill>
              <a:srgbClr val="D4B873"/>
            </a:solidFill>
            <a:prstDash val="solid"/>
          </a:ln>
        </p:spPr>
        <p:txBody>
          <a:bodyPr/>
          <a:lstStyle/>
          <a:p>
            <a:endParaRPr lang="de-DE"/>
          </a:p>
        </p:txBody>
      </p:sp>
      <p:sp>
        <p:nvSpPr>
          <p:cNvPr id="19" name="builder-title">
            <a:extLst>
              <a:ext uri="{FF2B5EF4-FFF2-40B4-BE49-F238E27FC236}">
                <a16:creationId xmlns:a16="http://schemas.microsoft.com/office/drawing/2014/main" id="{8785B8A9-1FA2-4439-BDC1-083103765453}"/>
              </a:ext>
            </a:extLst>
          </p:cNvPr>
          <p:cNvSpPr>
            <a:spLocks noGrp="1"/>
          </p:cNvSpPr>
          <p:nvPr/>
        </p:nvSpPr>
        <p:spPr>
          <a:xfrm>
            <a:off x="3060000" y="1800000"/>
            <a:ext cx="180975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GRAPH AUFBAU</a:t>
            </a:r>
          </a:p>
        </p:txBody>
      </p:sp>
      <p:sp>
        <p:nvSpPr>
          <p:cNvPr id="20" name="builder-copy">
            <a:extLst>
              <a:ext uri="{FF2B5EF4-FFF2-40B4-BE49-F238E27FC236}">
                <a16:creationId xmlns:a16="http://schemas.microsoft.com/office/drawing/2014/main" id="{234B7E2E-6351-47A8-B0E6-B46EA55CAB11}"/>
              </a:ext>
            </a:extLst>
          </p:cNvPr>
          <p:cNvSpPr>
            <a:spLocks noGrp="1"/>
          </p:cNvSpPr>
          <p:nvPr/>
        </p:nvSpPr>
        <p:spPr>
          <a:xfrm>
            <a:off x="3060000" y="2160000"/>
            <a:ext cx="1771650" cy="514350"/>
          </a:xfrm>
          <a:prstGeom prst="rect">
            <a:avLst/>
          </a:prstGeom>
          <a:noFill/>
          <a:ln w="0">
            <a:noFill/>
            <a:prstDash val="solid"/>
          </a:ln>
        </p:spPr>
        <p:txBody>
          <a:bodyPr anchor="ctr"/>
          <a:lstStyle/>
          <a:p>
            <a:pPr algn="ctr">
              <a:defRPr sz="1125" b="0">
                <a:solidFill>
                  <a:srgbClr val="304452"/>
                </a:solidFill>
              </a:defRPr>
            </a:pPr>
            <a:r>
              <a:rPr sz="1125" b="0">
                <a:solidFill>
                  <a:srgbClr val="304452"/>
                </a:solidFill>
              </a:rPr>
              <a:t>Nachbar-Chunks verbinden</a:t>
            </a:r>
          </a:p>
          <a:p>
            <a:pPr algn="ctr">
              <a:defRPr sz="1125" b="0">
                <a:solidFill>
                  <a:srgbClr val="304452"/>
                </a:solidFill>
              </a:defRPr>
            </a:pPr>
            <a:r>
              <a:rPr sz="1125" b="0">
                <a:solidFill>
                  <a:srgbClr val="304452"/>
                </a:solidFill>
              </a:rPr>
              <a:t>Artikelverweise erkennen</a:t>
            </a:r>
          </a:p>
        </p:txBody>
      </p:sp>
      <p:sp>
        <p:nvSpPr>
          <p:cNvPr id="21" name="retrieval-graph">
            <a:extLst>
              <a:ext uri="{FF2B5EF4-FFF2-40B4-BE49-F238E27FC236}">
                <a16:creationId xmlns:a16="http://schemas.microsoft.com/office/drawing/2014/main" id="{4E4A29B1-FE7F-472A-B981-94E221ED998E}"/>
              </a:ext>
            </a:extLst>
          </p:cNvPr>
          <p:cNvSpPr>
            <a:spLocks noGrp="1"/>
          </p:cNvSpPr>
          <p:nvPr/>
        </p:nvSpPr>
        <p:spPr>
          <a:xfrm>
            <a:off x="5400000" y="1440000"/>
            <a:ext cx="2700000" cy="1440000"/>
          </a:xfrm>
          <a:prstGeom prst="roundRect">
            <a:avLst>
              <a:gd name="adj" fmla="val 9524"/>
            </a:avLst>
          </a:prstGeom>
          <a:solidFill>
            <a:srgbClr val="FBF3DF"/>
          </a:solidFill>
          <a:ln w="12383">
            <a:solidFill>
              <a:srgbClr val="D4B873"/>
            </a:solidFill>
            <a:prstDash val="solid"/>
          </a:ln>
        </p:spPr>
        <p:txBody>
          <a:bodyPr/>
          <a:lstStyle/>
          <a:p>
            <a:endParaRPr lang="de-DE"/>
          </a:p>
        </p:txBody>
      </p:sp>
      <p:sp>
        <p:nvSpPr>
          <p:cNvPr id="22" name="graph-title">
            <a:extLst>
              <a:ext uri="{FF2B5EF4-FFF2-40B4-BE49-F238E27FC236}">
                <a16:creationId xmlns:a16="http://schemas.microsoft.com/office/drawing/2014/main" id="{DEACF8D4-F30F-41B9-B70D-E69F6D0D0C2C}"/>
              </a:ext>
            </a:extLst>
          </p:cNvPr>
          <p:cNvSpPr>
            <a:spLocks noGrp="1"/>
          </p:cNvSpPr>
          <p:nvPr/>
        </p:nvSpPr>
        <p:spPr>
          <a:xfrm>
            <a:off x="5580000" y="1620000"/>
            <a:ext cx="2247900" cy="228600"/>
          </a:xfrm>
          <a:prstGeom prst="rect">
            <a:avLst/>
          </a:prstGeom>
          <a:noFill/>
          <a:ln w="0">
            <a:noFill/>
            <a:prstDash val="solid"/>
          </a:ln>
        </p:spPr>
        <p:txBody>
          <a:bodyPr anchor="ctr"/>
          <a:lstStyle/>
          <a:p>
            <a:pPr algn="ctr">
              <a:defRPr sz="1050" b="1">
                <a:solidFill>
                  <a:srgbClr val="304452"/>
                </a:solidFill>
              </a:defRPr>
            </a:pPr>
            <a:r>
              <a:rPr sz="1050" b="1" dirty="0">
                <a:solidFill>
                  <a:srgbClr val="304452"/>
                </a:solidFill>
              </a:rPr>
              <a:t>RETRIEVAL-GRAPH</a:t>
            </a:r>
          </a:p>
        </p:txBody>
      </p:sp>
      <p:sp>
        <p:nvSpPr>
          <p:cNvPr id="23" name="edge-1">
            <a:extLst>
              <a:ext uri="{FF2B5EF4-FFF2-40B4-BE49-F238E27FC236}">
                <a16:creationId xmlns:a16="http://schemas.microsoft.com/office/drawing/2014/main" id="{DF5F2E1A-EC13-404C-A28C-81CF55DCF8A5}"/>
              </a:ext>
            </a:extLst>
          </p:cNvPr>
          <p:cNvSpPr>
            <a:spLocks noGrp="1"/>
          </p:cNvSpPr>
          <p:nvPr/>
        </p:nvSpPr>
        <p:spPr>
          <a:xfrm>
            <a:off x="6300000" y="2160000"/>
            <a:ext cx="523875" cy="0"/>
          </a:xfrm>
          <a:prstGeom prst="line">
            <a:avLst/>
          </a:prstGeom>
          <a:noFill/>
          <a:ln w="17145">
            <a:solidFill>
              <a:srgbClr val="304452"/>
            </a:solidFill>
            <a:prstDash val="solid"/>
          </a:ln>
        </p:spPr>
        <p:txBody>
          <a:bodyPr/>
          <a:lstStyle/>
          <a:p>
            <a:endParaRPr lang="de-DE"/>
          </a:p>
        </p:txBody>
      </p:sp>
      <p:sp>
        <p:nvSpPr>
          <p:cNvPr id="24" name="edge-2">
            <a:extLst>
              <a:ext uri="{FF2B5EF4-FFF2-40B4-BE49-F238E27FC236}">
                <a16:creationId xmlns:a16="http://schemas.microsoft.com/office/drawing/2014/main" id="{8BFB1F9E-4FEA-4883-8098-2AEE3AA044FB}"/>
              </a:ext>
            </a:extLst>
          </p:cNvPr>
          <p:cNvSpPr>
            <a:spLocks noGrp="1"/>
          </p:cNvSpPr>
          <p:nvPr/>
        </p:nvSpPr>
        <p:spPr>
          <a:xfrm>
            <a:off x="6300000" y="2160000"/>
            <a:ext cx="552450" cy="266700"/>
          </a:xfrm>
          <a:prstGeom prst="line">
            <a:avLst/>
          </a:prstGeom>
          <a:noFill/>
          <a:ln w="17145">
            <a:solidFill>
              <a:srgbClr val="304452"/>
            </a:solidFill>
            <a:prstDash val="solid"/>
          </a:ln>
        </p:spPr>
        <p:txBody>
          <a:bodyPr/>
          <a:lstStyle/>
          <a:p>
            <a:endParaRPr lang="de-DE"/>
          </a:p>
        </p:txBody>
      </p:sp>
      <p:sp>
        <p:nvSpPr>
          <p:cNvPr id="25" name="edge-3">
            <a:extLst>
              <a:ext uri="{FF2B5EF4-FFF2-40B4-BE49-F238E27FC236}">
                <a16:creationId xmlns:a16="http://schemas.microsoft.com/office/drawing/2014/main" id="{0801B21F-A87C-489C-A1EA-A4303EBFD824}"/>
              </a:ext>
            </a:extLst>
          </p:cNvPr>
          <p:cNvSpPr>
            <a:spLocks noGrp="1"/>
          </p:cNvSpPr>
          <p:nvPr/>
        </p:nvSpPr>
        <p:spPr>
          <a:xfrm>
            <a:off x="6840000" y="1980000"/>
            <a:ext cx="28575" cy="438150"/>
          </a:xfrm>
          <a:prstGeom prst="line">
            <a:avLst/>
          </a:prstGeom>
          <a:noFill/>
          <a:ln w="17145">
            <a:solidFill>
              <a:srgbClr val="304452"/>
            </a:solidFill>
            <a:prstDash val="solid"/>
          </a:ln>
        </p:spPr>
        <p:txBody>
          <a:bodyPr/>
          <a:lstStyle/>
          <a:p>
            <a:endParaRPr lang="de-DE"/>
          </a:p>
        </p:txBody>
      </p:sp>
      <p:sp>
        <p:nvSpPr>
          <p:cNvPr id="26" name="graph-node-a">
            <a:extLst>
              <a:ext uri="{FF2B5EF4-FFF2-40B4-BE49-F238E27FC236}">
                <a16:creationId xmlns:a16="http://schemas.microsoft.com/office/drawing/2014/main" id="{60032362-9DD8-408B-BE77-420624EA905F}"/>
              </a:ext>
            </a:extLst>
          </p:cNvPr>
          <p:cNvSpPr>
            <a:spLocks noGrp="1"/>
          </p:cNvSpPr>
          <p:nvPr/>
        </p:nvSpPr>
        <p:spPr>
          <a:xfrm>
            <a:off x="6120000" y="1980000"/>
            <a:ext cx="457200" cy="457200"/>
          </a:xfrm>
          <a:prstGeom prst="ellipse">
            <a:avLst/>
          </a:prstGeom>
          <a:solidFill>
            <a:srgbClr val="D49400"/>
          </a:solidFill>
          <a:ln w="19050">
            <a:solidFill>
              <a:srgbClr val="FFFFFF"/>
            </a:solidFill>
            <a:prstDash val="solid"/>
          </a:ln>
        </p:spPr>
        <p:txBody>
          <a:bodyPr/>
          <a:lstStyle/>
          <a:p>
            <a:endParaRPr lang="de-DE"/>
          </a:p>
        </p:txBody>
      </p:sp>
      <p:sp>
        <p:nvSpPr>
          <p:cNvPr id="27" name="graph-node-b">
            <a:extLst>
              <a:ext uri="{FF2B5EF4-FFF2-40B4-BE49-F238E27FC236}">
                <a16:creationId xmlns:a16="http://schemas.microsoft.com/office/drawing/2014/main" id="{DF7BC5A2-1AA7-47A4-B514-2F3BF3141A3A}"/>
              </a:ext>
            </a:extLst>
          </p:cNvPr>
          <p:cNvSpPr>
            <a:spLocks noGrp="1"/>
          </p:cNvSpPr>
          <p:nvPr/>
        </p:nvSpPr>
        <p:spPr>
          <a:xfrm>
            <a:off x="6660000" y="1800000"/>
            <a:ext cx="457200" cy="457200"/>
          </a:xfrm>
          <a:prstGeom prst="ellipse">
            <a:avLst/>
          </a:prstGeom>
          <a:solidFill>
            <a:srgbClr val="438B92"/>
          </a:solidFill>
          <a:ln w="19050">
            <a:solidFill>
              <a:srgbClr val="FFFFFF"/>
            </a:solidFill>
            <a:prstDash val="solid"/>
          </a:ln>
        </p:spPr>
        <p:txBody>
          <a:bodyPr/>
          <a:lstStyle/>
          <a:p>
            <a:endParaRPr lang="de-DE"/>
          </a:p>
        </p:txBody>
      </p:sp>
      <p:sp>
        <p:nvSpPr>
          <p:cNvPr id="28" name="graph-node-c">
            <a:extLst>
              <a:ext uri="{FF2B5EF4-FFF2-40B4-BE49-F238E27FC236}">
                <a16:creationId xmlns:a16="http://schemas.microsoft.com/office/drawing/2014/main" id="{0FC2CB06-C7E2-415D-8FE1-AEC78C16116D}"/>
              </a:ext>
            </a:extLst>
          </p:cNvPr>
          <p:cNvSpPr>
            <a:spLocks noGrp="1"/>
          </p:cNvSpPr>
          <p:nvPr/>
        </p:nvSpPr>
        <p:spPr>
          <a:xfrm>
            <a:off x="6660000" y="2340000"/>
            <a:ext cx="457200" cy="457200"/>
          </a:xfrm>
          <a:prstGeom prst="ellipse">
            <a:avLst/>
          </a:prstGeom>
          <a:solidFill>
            <a:srgbClr val="834A78"/>
          </a:solidFill>
          <a:ln w="19050">
            <a:solidFill>
              <a:srgbClr val="FFFFFF"/>
            </a:solidFill>
            <a:prstDash val="solid"/>
          </a:ln>
        </p:spPr>
        <p:txBody>
          <a:bodyPr/>
          <a:lstStyle/>
          <a:p>
            <a:endParaRPr lang="de-DE"/>
          </a:p>
        </p:txBody>
      </p:sp>
      <p:sp>
        <p:nvSpPr>
          <p:cNvPr id="29" name="graph-node-a-text">
            <a:extLst>
              <a:ext uri="{FF2B5EF4-FFF2-40B4-BE49-F238E27FC236}">
                <a16:creationId xmlns:a16="http://schemas.microsoft.com/office/drawing/2014/main" id="{FB5569D5-DD95-41EF-9E59-747DC6DD7B15}"/>
              </a:ext>
            </a:extLst>
          </p:cNvPr>
          <p:cNvSpPr>
            <a:spLocks noGrp="1"/>
          </p:cNvSpPr>
          <p:nvPr/>
        </p:nvSpPr>
        <p:spPr>
          <a:xfrm>
            <a:off x="6120000" y="216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C</a:t>
            </a:r>
          </a:p>
        </p:txBody>
      </p:sp>
      <p:sp>
        <p:nvSpPr>
          <p:cNvPr id="30" name="graph-node-b-text">
            <a:extLst>
              <a:ext uri="{FF2B5EF4-FFF2-40B4-BE49-F238E27FC236}">
                <a16:creationId xmlns:a16="http://schemas.microsoft.com/office/drawing/2014/main" id="{597FBF2D-F27D-42D0-9022-D8894C200963}"/>
              </a:ext>
            </a:extLst>
          </p:cNvPr>
          <p:cNvSpPr>
            <a:spLocks noGrp="1"/>
          </p:cNvSpPr>
          <p:nvPr/>
        </p:nvSpPr>
        <p:spPr>
          <a:xfrm>
            <a:off x="6660000" y="1980000"/>
            <a:ext cx="400050" cy="1524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N</a:t>
            </a:r>
          </a:p>
        </p:txBody>
      </p:sp>
      <p:sp>
        <p:nvSpPr>
          <p:cNvPr id="31" name="graph-node-c-text">
            <a:extLst>
              <a:ext uri="{FF2B5EF4-FFF2-40B4-BE49-F238E27FC236}">
                <a16:creationId xmlns:a16="http://schemas.microsoft.com/office/drawing/2014/main" id="{3D955317-A0A7-4111-944F-7AE6C3F6061E}"/>
              </a:ext>
            </a:extLst>
          </p:cNvPr>
          <p:cNvSpPr>
            <a:spLocks noGrp="1"/>
          </p:cNvSpPr>
          <p:nvPr/>
        </p:nvSpPr>
        <p:spPr>
          <a:xfrm>
            <a:off x="6660000" y="2520000"/>
            <a:ext cx="400050" cy="152400"/>
          </a:xfrm>
          <a:prstGeom prst="rect">
            <a:avLst/>
          </a:prstGeom>
          <a:noFill/>
          <a:ln w="0">
            <a:noFill/>
            <a:prstDash val="solid"/>
          </a:ln>
        </p:spPr>
        <p:txBody>
          <a:bodyPr anchor="ctr"/>
          <a:lstStyle/>
          <a:p>
            <a:pPr algn="ctr">
              <a:defRPr sz="675" b="1">
                <a:solidFill>
                  <a:srgbClr val="FFFFFF"/>
                </a:solidFill>
              </a:defRPr>
            </a:pPr>
            <a:r>
              <a:rPr sz="675" b="1">
                <a:solidFill>
                  <a:srgbClr val="FFFFFF"/>
                </a:solidFill>
              </a:rPr>
              <a:t>Art.</a:t>
            </a:r>
          </a:p>
        </p:txBody>
      </p:sp>
      <p:sp>
        <p:nvSpPr>
          <p:cNvPr id="32" name="graph-meta">
            <a:extLst>
              <a:ext uri="{FF2B5EF4-FFF2-40B4-BE49-F238E27FC236}">
                <a16:creationId xmlns:a16="http://schemas.microsoft.com/office/drawing/2014/main" id="{FA44BF42-776B-4511-A762-5F6AF180EF02}"/>
              </a:ext>
            </a:extLst>
          </p:cNvPr>
          <p:cNvSpPr>
            <a:spLocks noGrp="1"/>
          </p:cNvSpPr>
          <p:nvPr/>
        </p:nvSpPr>
        <p:spPr>
          <a:xfrm>
            <a:off x="7200000" y="2520000"/>
            <a:ext cx="742950" cy="190500"/>
          </a:xfrm>
          <a:prstGeom prst="rect">
            <a:avLst/>
          </a:prstGeom>
          <a:noFill/>
          <a:ln w="0">
            <a:noFill/>
            <a:prstDash val="solid"/>
          </a:ln>
        </p:spPr>
        <p:txBody>
          <a:bodyPr anchor="ctr"/>
          <a:lstStyle/>
          <a:p>
            <a:pPr algn="ctr">
              <a:defRPr sz="825" b="0">
                <a:solidFill>
                  <a:srgbClr val="746B5F"/>
                </a:solidFill>
              </a:defRPr>
            </a:pPr>
            <a:r>
              <a:rPr sz="825" b="0">
                <a:solidFill>
                  <a:srgbClr val="746B5F"/>
                </a:solidFill>
              </a:rPr>
              <a:t>JSON · versioniert</a:t>
            </a:r>
          </a:p>
        </p:txBody>
      </p:sp>
      <p:sp>
        <p:nvSpPr>
          <p:cNvPr id="33" name="query">
            <a:extLst>
              <a:ext uri="{FF2B5EF4-FFF2-40B4-BE49-F238E27FC236}">
                <a16:creationId xmlns:a16="http://schemas.microsoft.com/office/drawing/2014/main" id="{89EEF038-DF75-4FD3-8420-37BD6E68EC96}"/>
              </a:ext>
            </a:extLst>
          </p:cNvPr>
          <p:cNvSpPr>
            <a:spLocks noGrp="1"/>
          </p:cNvSpPr>
          <p:nvPr/>
        </p:nvSpPr>
        <p:spPr>
          <a:xfrm>
            <a:off x="540000" y="3780000"/>
            <a:ext cx="1260000" cy="1260000"/>
          </a:xfrm>
          <a:prstGeom prst="roundRect">
            <a:avLst>
              <a:gd name="adj" fmla="val 9524"/>
            </a:avLst>
          </a:prstGeom>
          <a:solidFill>
            <a:srgbClr val="D20A32"/>
          </a:solidFill>
          <a:ln w="12383">
            <a:solidFill>
              <a:srgbClr val="304452"/>
            </a:solidFill>
            <a:prstDash val="solid"/>
          </a:ln>
        </p:spPr>
        <p:txBody>
          <a:bodyPr/>
          <a:lstStyle/>
          <a:p>
            <a:endParaRPr lang="de-DE"/>
          </a:p>
        </p:txBody>
      </p:sp>
      <p:sp>
        <p:nvSpPr>
          <p:cNvPr id="34" name="query-title">
            <a:extLst>
              <a:ext uri="{FF2B5EF4-FFF2-40B4-BE49-F238E27FC236}">
                <a16:creationId xmlns:a16="http://schemas.microsoft.com/office/drawing/2014/main" id="{47169CE0-1BB1-46D0-8121-598FEBF4CEB4}"/>
              </a:ext>
            </a:extLst>
          </p:cNvPr>
          <p:cNvSpPr>
            <a:spLocks noGrp="1"/>
          </p:cNvSpPr>
          <p:nvPr/>
        </p:nvSpPr>
        <p:spPr>
          <a:xfrm>
            <a:off x="720000" y="3960000"/>
            <a:ext cx="971550" cy="228600"/>
          </a:xfrm>
          <a:prstGeom prst="rect">
            <a:avLst/>
          </a:prstGeom>
          <a:noFill/>
          <a:ln w="0">
            <a:noFill/>
            <a:prstDash val="solid"/>
          </a:ln>
        </p:spPr>
        <p:txBody>
          <a:bodyPr anchor="ctr"/>
          <a:lstStyle/>
          <a:p>
            <a:pPr algn="ctr">
              <a:defRPr sz="1050" b="1">
                <a:solidFill>
                  <a:srgbClr val="FFFFFF"/>
                </a:solidFill>
              </a:defRPr>
            </a:pPr>
            <a:r>
              <a:rPr sz="1050" b="1">
                <a:solidFill>
                  <a:srgbClr val="FFFFFF"/>
                </a:solidFill>
              </a:rPr>
              <a:t>FRAGE</a:t>
            </a:r>
          </a:p>
        </p:txBody>
      </p:sp>
      <p:sp>
        <p:nvSpPr>
          <p:cNvPr id="35" name="query-mark">
            <a:extLst>
              <a:ext uri="{FF2B5EF4-FFF2-40B4-BE49-F238E27FC236}">
                <a16:creationId xmlns:a16="http://schemas.microsoft.com/office/drawing/2014/main" id="{C9416B88-7F91-4F71-9AF8-F0B7E00C56B3}"/>
              </a:ext>
            </a:extLst>
          </p:cNvPr>
          <p:cNvSpPr>
            <a:spLocks noGrp="1"/>
          </p:cNvSpPr>
          <p:nvPr/>
        </p:nvSpPr>
        <p:spPr>
          <a:xfrm>
            <a:off x="900000" y="4140000"/>
            <a:ext cx="533400" cy="457200"/>
          </a:xfrm>
          <a:prstGeom prst="rect">
            <a:avLst/>
          </a:prstGeom>
          <a:noFill/>
          <a:ln w="0">
            <a:noFill/>
            <a:prstDash val="solid"/>
          </a:ln>
        </p:spPr>
        <p:txBody>
          <a:bodyPr anchor="ctr"/>
          <a:lstStyle/>
          <a:p>
            <a:pPr algn="ctr">
              <a:defRPr sz="2700" b="1">
                <a:solidFill>
                  <a:srgbClr val="FFFFFF"/>
                </a:solidFill>
              </a:defRPr>
            </a:pPr>
            <a:r>
              <a:rPr sz="2700" b="1">
                <a:solidFill>
                  <a:srgbClr val="FFFFFF"/>
                </a:solidFill>
              </a:rPr>
              <a:t>?</a:t>
            </a:r>
          </a:p>
        </p:txBody>
      </p:sp>
      <p:sp>
        <p:nvSpPr>
          <p:cNvPr id="36" name="query-copy">
            <a:extLst>
              <a:ext uri="{FF2B5EF4-FFF2-40B4-BE49-F238E27FC236}">
                <a16:creationId xmlns:a16="http://schemas.microsoft.com/office/drawing/2014/main" id="{8D0B80C6-FB2D-4B7B-B782-1AE0DC19C7D4}"/>
              </a:ext>
            </a:extLst>
          </p:cNvPr>
          <p:cNvSpPr>
            <a:spLocks noGrp="1"/>
          </p:cNvSpPr>
          <p:nvPr/>
        </p:nvSpPr>
        <p:spPr>
          <a:xfrm>
            <a:off x="720000" y="4680000"/>
            <a:ext cx="971550" cy="228600"/>
          </a:xfrm>
          <a:prstGeom prst="rect">
            <a:avLst/>
          </a:prstGeom>
          <a:noFill/>
          <a:ln w="0">
            <a:noFill/>
            <a:prstDash val="solid"/>
          </a:ln>
        </p:spPr>
        <p:txBody>
          <a:bodyPr anchor="ctr"/>
          <a:lstStyle/>
          <a:p>
            <a:pPr algn="ctr">
              <a:defRPr sz="900" b="0">
                <a:solidFill>
                  <a:srgbClr val="FFFFFF"/>
                </a:solidFill>
              </a:defRPr>
            </a:pPr>
            <a:r>
              <a:rPr sz="900" b="0">
                <a:solidFill>
                  <a:srgbClr val="FFFFFF"/>
                </a:solidFill>
              </a:rPr>
              <a:t>z. B. Probezeit</a:t>
            </a:r>
          </a:p>
        </p:txBody>
      </p:sp>
      <p:sp>
        <p:nvSpPr>
          <p:cNvPr id="37" name="hybrid-search">
            <a:extLst>
              <a:ext uri="{FF2B5EF4-FFF2-40B4-BE49-F238E27FC236}">
                <a16:creationId xmlns:a16="http://schemas.microsoft.com/office/drawing/2014/main" id="{D2DAD954-C170-4F91-BE86-F2F97EA63E96}"/>
              </a:ext>
            </a:extLst>
          </p:cNvPr>
          <p:cNvSpPr>
            <a:spLocks noGrp="1"/>
          </p:cNvSpPr>
          <p:nvPr/>
        </p:nvSpPr>
        <p:spPr>
          <a:xfrm>
            <a:off x="2340000" y="3600000"/>
            <a:ext cx="2880000" cy="1620000"/>
          </a:xfrm>
          <a:prstGeom prst="roundRect">
            <a:avLst>
              <a:gd name="adj" fmla="val 7407"/>
            </a:avLst>
          </a:prstGeom>
          <a:solidFill>
            <a:srgbClr val="F7F8F8"/>
          </a:solidFill>
          <a:ln w="12383">
            <a:solidFill>
              <a:srgbClr val="C8CED1"/>
            </a:solidFill>
            <a:prstDash val="solid"/>
          </a:ln>
        </p:spPr>
        <p:txBody>
          <a:bodyPr/>
          <a:lstStyle/>
          <a:p>
            <a:endParaRPr lang="de-DE"/>
          </a:p>
        </p:txBody>
      </p:sp>
      <p:sp>
        <p:nvSpPr>
          <p:cNvPr id="38" name="hybrid-title">
            <a:extLst>
              <a:ext uri="{FF2B5EF4-FFF2-40B4-BE49-F238E27FC236}">
                <a16:creationId xmlns:a16="http://schemas.microsoft.com/office/drawing/2014/main" id="{729C4379-61DB-42A3-87AE-F272F6F48E0C}"/>
              </a:ext>
            </a:extLst>
          </p:cNvPr>
          <p:cNvSpPr>
            <a:spLocks noGrp="1"/>
          </p:cNvSpPr>
          <p:nvPr/>
        </p:nvSpPr>
        <p:spPr>
          <a:xfrm>
            <a:off x="2520000" y="3780000"/>
            <a:ext cx="2476500" cy="20955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HYBRIDE SEED-SUCHE</a:t>
            </a:r>
          </a:p>
        </p:txBody>
      </p:sp>
      <p:sp>
        <p:nvSpPr>
          <p:cNvPr id="39" name="semantic-seed">
            <a:extLst>
              <a:ext uri="{FF2B5EF4-FFF2-40B4-BE49-F238E27FC236}">
                <a16:creationId xmlns:a16="http://schemas.microsoft.com/office/drawing/2014/main" id="{BECB72AA-E625-4C39-AE21-5C05950B0497}"/>
              </a:ext>
            </a:extLst>
          </p:cNvPr>
          <p:cNvSpPr>
            <a:spLocks noGrp="1"/>
          </p:cNvSpPr>
          <p:nvPr/>
        </p:nvSpPr>
        <p:spPr>
          <a:xfrm>
            <a:off x="2520000" y="4140000"/>
            <a:ext cx="1260000" cy="900000"/>
          </a:xfrm>
          <a:prstGeom prst="roundRect">
            <a:avLst>
              <a:gd name="adj" fmla="val 8696"/>
            </a:avLst>
          </a:prstGeom>
          <a:solidFill>
            <a:srgbClr val="EAF4FB"/>
          </a:solidFill>
          <a:ln w="9525">
            <a:solidFill>
              <a:srgbClr val="438B92"/>
            </a:solidFill>
            <a:prstDash val="solid"/>
          </a:ln>
        </p:spPr>
        <p:txBody>
          <a:bodyPr/>
          <a:lstStyle/>
          <a:p>
            <a:endParaRPr lang="de-DE"/>
          </a:p>
        </p:txBody>
      </p:sp>
      <p:sp>
        <p:nvSpPr>
          <p:cNvPr id="40" name="semantic-title">
            <a:extLst>
              <a:ext uri="{FF2B5EF4-FFF2-40B4-BE49-F238E27FC236}">
                <a16:creationId xmlns:a16="http://schemas.microsoft.com/office/drawing/2014/main" id="{02473319-2FCE-4AF7-84DA-BE90BD32E145}"/>
              </a:ext>
            </a:extLst>
          </p:cNvPr>
          <p:cNvSpPr>
            <a:spLocks noGrp="1"/>
          </p:cNvSpPr>
          <p:nvPr/>
        </p:nvSpPr>
        <p:spPr>
          <a:xfrm>
            <a:off x="2520000" y="4140000"/>
            <a:ext cx="1047750" cy="190500"/>
          </a:xfrm>
          <a:prstGeom prst="rect">
            <a:avLst/>
          </a:prstGeom>
          <a:noFill/>
          <a:ln w="0">
            <a:noFill/>
            <a:prstDash val="solid"/>
          </a:ln>
        </p:spPr>
        <p:txBody>
          <a:bodyPr anchor="ctr"/>
          <a:lstStyle/>
          <a:p>
            <a:pPr algn="ctr">
              <a:defRPr sz="825" b="1">
                <a:solidFill>
                  <a:srgbClr val="438B92"/>
                </a:solidFill>
              </a:defRPr>
            </a:pPr>
            <a:r>
              <a:rPr sz="825" b="1">
                <a:solidFill>
                  <a:srgbClr val="438B92"/>
                </a:solidFill>
              </a:rPr>
              <a:t>SEMANTISCH</a:t>
            </a:r>
          </a:p>
        </p:txBody>
      </p:sp>
      <p:sp>
        <p:nvSpPr>
          <p:cNvPr id="41" name="semantic-copy">
            <a:extLst>
              <a:ext uri="{FF2B5EF4-FFF2-40B4-BE49-F238E27FC236}">
                <a16:creationId xmlns:a16="http://schemas.microsoft.com/office/drawing/2014/main" id="{333641BF-992B-420E-BBA8-F15F90B8253E}"/>
              </a:ext>
            </a:extLst>
          </p:cNvPr>
          <p:cNvSpPr>
            <a:spLocks noGrp="1"/>
          </p:cNvSpPr>
          <p:nvPr/>
        </p:nvSpPr>
        <p:spPr>
          <a:xfrm>
            <a:off x="2520000" y="4320000"/>
            <a:ext cx="10477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Vektor-Treffer</a:t>
            </a:r>
          </a:p>
          <a:p>
            <a:pPr algn="ctr">
              <a:defRPr sz="975" b="0">
                <a:solidFill>
                  <a:srgbClr val="304452"/>
                </a:solidFill>
              </a:defRPr>
            </a:pPr>
            <a:r>
              <a:rPr sz="975" b="0">
                <a:solidFill>
                  <a:srgbClr val="304452"/>
                </a:solidFill>
              </a:rPr>
              <a:t>Top 3</a:t>
            </a:r>
          </a:p>
        </p:txBody>
      </p:sp>
      <p:sp>
        <p:nvSpPr>
          <p:cNvPr id="42" name="lexical-seed">
            <a:extLst>
              <a:ext uri="{FF2B5EF4-FFF2-40B4-BE49-F238E27FC236}">
                <a16:creationId xmlns:a16="http://schemas.microsoft.com/office/drawing/2014/main" id="{162B6F7F-A70F-493D-B90B-969B6B585F17}"/>
              </a:ext>
            </a:extLst>
          </p:cNvPr>
          <p:cNvSpPr>
            <a:spLocks noGrp="1"/>
          </p:cNvSpPr>
          <p:nvPr/>
        </p:nvSpPr>
        <p:spPr>
          <a:xfrm>
            <a:off x="3780000" y="4140000"/>
            <a:ext cx="1260000" cy="900000"/>
          </a:xfrm>
          <a:prstGeom prst="roundRect">
            <a:avLst>
              <a:gd name="adj" fmla="val 8696"/>
            </a:avLst>
          </a:prstGeom>
          <a:solidFill>
            <a:srgbClr val="FFF7DE"/>
          </a:solidFill>
          <a:ln w="9525">
            <a:solidFill>
              <a:srgbClr val="D49400"/>
            </a:solidFill>
            <a:prstDash val="solid"/>
          </a:ln>
        </p:spPr>
        <p:txBody>
          <a:bodyPr/>
          <a:lstStyle/>
          <a:p>
            <a:endParaRPr lang="de-DE"/>
          </a:p>
        </p:txBody>
      </p:sp>
      <p:sp>
        <p:nvSpPr>
          <p:cNvPr id="43" name="lexical-title">
            <a:extLst>
              <a:ext uri="{FF2B5EF4-FFF2-40B4-BE49-F238E27FC236}">
                <a16:creationId xmlns:a16="http://schemas.microsoft.com/office/drawing/2014/main" id="{06A9A115-F718-4445-B299-4207BA68CFDE}"/>
              </a:ext>
            </a:extLst>
          </p:cNvPr>
          <p:cNvSpPr>
            <a:spLocks noGrp="1"/>
          </p:cNvSpPr>
          <p:nvPr/>
        </p:nvSpPr>
        <p:spPr>
          <a:xfrm>
            <a:off x="3780000" y="4140000"/>
            <a:ext cx="1085850" cy="190500"/>
          </a:xfrm>
          <a:prstGeom prst="rect">
            <a:avLst/>
          </a:prstGeom>
          <a:noFill/>
          <a:ln w="0">
            <a:noFill/>
            <a:prstDash val="solid"/>
          </a:ln>
        </p:spPr>
        <p:txBody>
          <a:bodyPr anchor="ctr"/>
          <a:lstStyle/>
          <a:p>
            <a:pPr algn="ctr">
              <a:defRPr sz="825" b="1">
                <a:solidFill>
                  <a:srgbClr val="D49400"/>
                </a:solidFill>
              </a:defRPr>
            </a:pPr>
            <a:r>
              <a:rPr sz="825" b="1">
                <a:solidFill>
                  <a:srgbClr val="D49400"/>
                </a:solidFill>
              </a:rPr>
              <a:t>LEXIK + ZITAT</a:t>
            </a:r>
          </a:p>
        </p:txBody>
      </p:sp>
      <p:sp>
        <p:nvSpPr>
          <p:cNvPr id="44" name="lexical-copy">
            <a:extLst>
              <a:ext uri="{FF2B5EF4-FFF2-40B4-BE49-F238E27FC236}">
                <a16:creationId xmlns:a16="http://schemas.microsoft.com/office/drawing/2014/main" id="{09AB0CDC-5DAD-41A6-8C61-9BDE993A59B5}"/>
              </a:ext>
            </a:extLst>
          </p:cNvPr>
          <p:cNvSpPr>
            <a:spLocks noGrp="1"/>
          </p:cNvSpPr>
          <p:nvPr/>
        </p:nvSpPr>
        <p:spPr>
          <a:xfrm>
            <a:off x="3780000" y="4320000"/>
            <a:ext cx="1085850" cy="3619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Artikel-Matches</a:t>
            </a:r>
          </a:p>
          <a:p>
            <a:pPr algn="ctr">
              <a:defRPr sz="975" b="0">
                <a:solidFill>
                  <a:srgbClr val="304452"/>
                </a:solidFill>
              </a:defRPr>
            </a:pPr>
            <a:r>
              <a:rPr sz="975" b="0">
                <a:solidFill>
                  <a:srgbClr val="304452"/>
                </a:solidFill>
              </a:rPr>
              <a:t>Top 2</a:t>
            </a:r>
          </a:p>
        </p:txBody>
      </p:sp>
      <p:sp>
        <p:nvSpPr>
          <p:cNvPr id="45" name="graph-expand">
            <a:extLst>
              <a:ext uri="{FF2B5EF4-FFF2-40B4-BE49-F238E27FC236}">
                <a16:creationId xmlns:a16="http://schemas.microsoft.com/office/drawing/2014/main" id="{D7039158-B742-4138-B5D4-85222B365420}"/>
              </a:ext>
            </a:extLst>
          </p:cNvPr>
          <p:cNvSpPr>
            <a:spLocks noGrp="1"/>
          </p:cNvSpPr>
          <p:nvPr/>
        </p:nvSpPr>
        <p:spPr>
          <a:xfrm>
            <a:off x="5580000" y="3780000"/>
            <a:ext cx="1440000" cy="1260000"/>
          </a:xfrm>
          <a:prstGeom prst="roundRect">
            <a:avLst>
              <a:gd name="adj" fmla="val 8696"/>
            </a:avLst>
          </a:prstGeom>
          <a:solidFill>
            <a:srgbClr val="FBF3DF"/>
          </a:solidFill>
          <a:ln w="12383">
            <a:solidFill>
              <a:srgbClr val="D49400"/>
            </a:solidFill>
            <a:prstDash val="solid"/>
          </a:ln>
        </p:spPr>
        <p:txBody>
          <a:bodyPr/>
          <a:lstStyle/>
          <a:p>
            <a:endParaRPr lang="de-DE"/>
          </a:p>
        </p:txBody>
      </p:sp>
      <p:sp>
        <p:nvSpPr>
          <p:cNvPr id="46" name="expand-title">
            <a:extLst>
              <a:ext uri="{FF2B5EF4-FFF2-40B4-BE49-F238E27FC236}">
                <a16:creationId xmlns:a16="http://schemas.microsoft.com/office/drawing/2014/main" id="{2AB58551-35C9-40DC-9B28-B6FCF1B7E6CA}"/>
              </a:ext>
            </a:extLst>
          </p:cNvPr>
          <p:cNvSpPr>
            <a:spLocks noGrp="1"/>
          </p:cNvSpPr>
          <p:nvPr/>
        </p:nvSpPr>
        <p:spPr>
          <a:xfrm>
            <a:off x="5760000" y="3960000"/>
            <a:ext cx="1104900" cy="419100"/>
          </a:xfrm>
          <a:prstGeom prst="rect">
            <a:avLst/>
          </a:prstGeom>
          <a:noFill/>
          <a:ln w="0">
            <a:noFill/>
            <a:prstDash val="solid"/>
          </a:ln>
        </p:spPr>
        <p:txBody>
          <a:bodyPr anchor="ctr"/>
          <a:lstStyle/>
          <a:p>
            <a:pPr algn="ctr">
              <a:defRPr sz="1050" b="1">
                <a:solidFill>
                  <a:srgbClr val="D49400"/>
                </a:solidFill>
              </a:defRPr>
            </a:pPr>
            <a:r>
              <a:rPr sz="1050" b="1">
                <a:solidFill>
                  <a:srgbClr val="D49400"/>
                </a:solidFill>
              </a:rPr>
              <a:t>GRAPH</a:t>
            </a:r>
          </a:p>
          <a:p>
            <a:pPr algn="ctr">
              <a:defRPr sz="1050" b="1">
                <a:solidFill>
                  <a:srgbClr val="D49400"/>
                </a:solidFill>
              </a:defRPr>
            </a:pPr>
            <a:r>
              <a:rPr sz="1050" b="1">
                <a:solidFill>
                  <a:srgbClr val="D49400"/>
                </a:solidFill>
              </a:rPr>
              <a:t>ERWEITERN</a:t>
            </a:r>
          </a:p>
        </p:txBody>
      </p:sp>
      <p:sp>
        <p:nvSpPr>
          <p:cNvPr id="47" name="expand-copy">
            <a:extLst>
              <a:ext uri="{FF2B5EF4-FFF2-40B4-BE49-F238E27FC236}">
                <a16:creationId xmlns:a16="http://schemas.microsoft.com/office/drawing/2014/main" id="{89A1AF99-CEBE-4E8A-8D51-040FFB50F5BD}"/>
              </a:ext>
            </a:extLst>
          </p:cNvPr>
          <p:cNvSpPr>
            <a:spLocks noGrp="1"/>
          </p:cNvSpPr>
          <p:nvPr/>
        </p:nvSpPr>
        <p:spPr>
          <a:xfrm>
            <a:off x="5760000" y="4500000"/>
            <a:ext cx="1104900" cy="400050"/>
          </a:xfrm>
          <a:prstGeom prst="rect">
            <a:avLst/>
          </a:prstGeom>
          <a:noFill/>
          <a:ln w="0">
            <a:noFill/>
            <a:prstDash val="solid"/>
          </a:ln>
        </p:spPr>
        <p:txBody>
          <a:bodyPr anchor="ctr"/>
          <a:lstStyle/>
          <a:p>
            <a:pPr algn="ctr">
              <a:defRPr sz="975" b="0">
                <a:solidFill>
                  <a:srgbClr val="304452"/>
                </a:solidFill>
              </a:defRPr>
            </a:pPr>
            <a:r>
              <a:rPr sz="975" b="0">
                <a:solidFill>
                  <a:srgbClr val="304452"/>
                </a:solidFill>
              </a:rPr>
              <a:t>Nachbarn +</a:t>
            </a:r>
          </a:p>
          <a:p>
            <a:pPr algn="ctr">
              <a:defRPr sz="975" b="0">
                <a:solidFill>
                  <a:srgbClr val="304452"/>
                </a:solidFill>
              </a:defRPr>
            </a:pPr>
            <a:r>
              <a:rPr sz="975" b="0">
                <a:solidFill>
                  <a:srgbClr val="304452"/>
                </a:solidFill>
              </a:rPr>
              <a:t>Referenzziele</a:t>
            </a:r>
          </a:p>
        </p:txBody>
      </p:sp>
      <p:sp>
        <p:nvSpPr>
          <p:cNvPr id="48" name="context">
            <a:extLst>
              <a:ext uri="{FF2B5EF4-FFF2-40B4-BE49-F238E27FC236}">
                <a16:creationId xmlns:a16="http://schemas.microsoft.com/office/drawing/2014/main" id="{1213F267-0D7A-4A49-9897-7B2839492127}"/>
              </a:ext>
            </a:extLst>
          </p:cNvPr>
          <p:cNvSpPr>
            <a:spLocks noGrp="1"/>
          </p:cNvSpPr>
          <p:nvPr/>
        </p:nvSpPr>
        <p:spPr>
          <a:xfrm>
            <a:off x="7560000" y="3780000"/>
            <a:ext cx="1080000" cy="1260000"/>
          </a:xfrm>
          <a:prstGeom prst="roundRect">
            <a:avLst>
              <a:gd name="adj" fmla="val 10000"/>
            </a:avLst>
          </a:prstGeom>
          <a:solidFill>
            <a:srgbClr val="E9E7E4"/>
          </a:solidFill>
          <a:ln w="12383">
            <a:solidFill>
              <a:srgbClr val="BEB5A9"/>
            </a:solidFill>
            <a:prstDash val="solid"/>
          </a:ln>
        </p:spPr>
        <p:txBody>
          <a:bodyPr/>
          <a:lstStyle/>
          <a:p>
            <a:endParaRPr lang="de-DE"/>
          </a:p>
        </p:txBody>
      </p:sp>
      <p:sp>
        <p:nvSpPr>
          <p:cNvPr id="49" name="context-title">
            <a:extLst>
              <a:ext uri="{FF2B5EF4-FFF2-40B4-BE49-F238E27FC236}">
                <a16:creationId xmlns:a16="http://schemas.microsoft.com/office/drawing/2014/main" id="{0F33D502-91E8-43E0-945D-0D8BBE6D3D8F}"/>
              </a:ext>
            </a:extLst>
          </p:cNvPr>
          <p:cNvSpPr>
            <a:spLocks noGrp="1"/>
          </p:cNvSpPr>
          <p:nvPr/>
        </p:nvSpPr>
        <p:spPr>
          <a:xfrm>
            <a:off x="7560000" y="3960000"/>
            <a:ext cx="9144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KONTEXT</a:t>
            </a:r>
          </a:p>
        </p:txBody>
      </p:sp>
      <p:sp>
        <p:nvSpPr>
          <p:cNvPr id="50" name="context-number">
            <a:extLst>
              <a:ext uri="{FF2B5EF4-FFF2-40B4-BE49-F238E27FC236}">
                <a16:creationId xmlns:a16="http://schemas.microsoft.com/office/drawing/2014/main" id="{18246756-0EF2-4B68-B932-DCC89058C66A}"/>
              </a:ext>
            </a:extLst>
          </p:cNvPr>
          <p:cNvSpPr>
            <a:spLocks noGrp="1"/>
          </p:cNvSpPr>
          <p:nvPr/>
        </p:nvSpPr>
        <p:spPr>
          <a:xfrm>
            <a:off x="7740000" y="4140000"/>
            <a:ext cx="704850" cy="381000"/>
          </a:xfrm>
          <a:prstGeom prst="rect">
            <a:avLst/>
          </a:prstGeom>
          <a:noFill/>
          <a:ln w="0">
            <a:noFill/>
            <a:prstDash val="solid"/>
          </a:ln>
        </p:spPr>
        <p:txBody>
          <a:bodyPr anchor="ctr"/>
          <a:lstStyle/>
          <a:p>
            <a:pPr algn="ctr">
              <a:defRPr sz="1950" b="1">
                <a:solidFill>
                  <a:srgbClr val="834A78"/>
                </a:solidFill>
              </a:defRPr>
            </a:pPr>
            <a:r>
              <a:rPr sz="1950" b="1">
                <a:solidFill>
                  <a:srgbClr val="834A78"/>
                </a:solidFill>
              </a:rPr>
              <a:t>≤ 6</a:t>
            </a:r>
          </a:p>
        </p:txBody>
      </p:sp>
      <p:sp>
        <p:nvSpPr>
          <p:cNvPr id="51" name="context-copy">
            <a:extLst>
              <a:ext uri="{FF2B5EF4-FFF2-40B4-BE49-F238E27FC236}">
                <a16:creationId xmlns:a16="http://schemas.microsoft.com/office/drawing/2014/main" id="{7C88B95F-906B-4211-AD70-BC9CBAF461CD}"/>
              </a:ext>
            </a:extLst>
          </p:cNvPr>
          <p:cNvSpPr>
            <a:spLocks noGrp="1"/>
          </p:cNvSpPr>
          <p:nvPr/>
        </p:nvSpPr>
        <p:spPr>
          <a:xfrm>
            <a:off x="7560000" y="4680000"/>
            <a:ext cx="914400" cy="3238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Chunks mit</a:t>
            </a:r>
          </a:p>
          <a:p>
            <a:pPr algn="ctr">
              <a:defRPr sz="825" b="0">
                <a:solidFill>
                  <a:srgbClr val="304452"/>
                </a:solidFill>
              </a:defRPr>
            </a:pPr>
            <a:r>
              <a:rPr sz="825" b="0">
                <a:solidFill>
                  <a:srgbClr val="304452"/>
                </a:solidFill>
              </a:rPr>
              <a:t>Quellenhinweis</a:t>
            </a:r>
          </a:p>
        </p:txBody>
      </p:sp>
      <p:sp>
        <p:nvSpPr>
          <p:cNvPr id="52" name="llm">
            <a:extLst>
              <a:ext uri="{FF2B5EF4-FFF2-40B4-BE49-F238E27FC236}">
                <a16:creationId xmlns:a16="http://schemas.microsoft.com/office/drawing/2014/main" id="{4E0BB49F-8171-4811-9F5F-660E8742F27F}"/>
              </a:ext>
            </a:extLst>
          </p:cNvPr>
          <p:cNvSpPr>
            <a:spLocks noGrp="1"/>
          </p:cNvSpPr>
          <p:nvPr/>
        </p:nvSpPr>
        <p:spPr>
          <a:xfrm>
            <a:off x="9000000" y="3780000"/>
            <a:ext cx="1080000" cy="1260000"/>
          </a:xfrm>
          <a:prstGeom prst="roundRect">
            <a:avLst>
              <a:gd name="adj" fmla="val 11111"/>
            </a:avLst>
          </a:prstGeom>
          <a:solidFill>
            <a:srgbClr val="F6D98C"/>
          </a:solidFill>
          <a:ln w="12383">
            <a:solidFill>
              <a:srgbClr val="D4B873"/>
            </a:solidFill>
            <a:prstDash val="solid"/>
          </a:ln>
        </p:spPr>
        <p:txBody>
          <a:bodyPr/>
          <a:lstStyle/>
          <a:p>
            <a:endParaRPr lang="de-DE"/>
          </a:p>
        </p:txBody>
      </p:sp>
      <p:sp>
        <p:nvSpPr>
          <p:cNvPr id="53" name="llm-title">
            <a:extLst>
              <a:ext uri="{FF2B5EF4-FFF2-40B4-BE49-F238E27FC236}">
                <a16:creationId xmlns:a16="http://schemas.microsoft.com/office/drawing/2014/main" id="{D412F89F-744C-49DD-8B40-FBC053133BE3}"/>
              </a:ext>
            </a:extLst>
          </p:cNvPr>
          <p:cNvSpPr>
            <a:spLocks noGrp="1"/>
          </p:cNvSpPr>
          <p:nvPr/>
        </p:nvSpPr>
        <p:spPr>
          <a:xfrm>
            <a:off x="9180000" y="3960000"/>
            <a:ext cx="762000" cy="228600"/>
          </a:xfrm>
          <a:prstGeom prst="rect">
            <a:avLst/>
          </a:prstGeom>
          <a:noFill/>
          <a:ln w="0">
            <a:noFill/>
            <a:prstDash val="solid"/>
          </a:ln>
        </p:spPr>
        <p:txBody>
          <a:bodyPr anchor="ctr"/>
          <a:lstStyle/>
          <a:p>
            <a:pPr algn="ctr">
              <a:defRPr sz="1050" b="1">
                <a:solidFill>
                  <a:srgbClr val="304452"/>
                </a:solidFill>
              </a:defRPr>
            </a:pPr>
            <a:r>
              <a:rPr sz="1050" b="1">
                <a:solidFill>
                  <a:srgbClr val="304452"/>
                </a:solidFill>
              </a:rPr>
              <a:t>LLM</a:t>
            </a:r>
          </a:p>
        </p:txBody>
      </p:sp>
      <p:sp>
        <p:nvSpPr>
          <p:cNvPr id="54" name="llm-name">
            <a:extLst>
              <a:ext uri="{FF2B5EF4-FFF2-40B4-BE49-F238E27FC236}">
                <a16:creationId xmlns:a16="http://schemas.microsoft.com/office/drawing/2014/main" id="{57B300AD-850A-4974-B1E3-A3DCC5AE3108}"/>
              </a:ext>
            </a:extLst>
          </p:cNvPr>
          <p:cNvSpPr>
            <a:spLocks noGrp="1"/>
          </p:cNvSpPr>
          <p:nvPr/>
        </p:nvSpPr>
        <p:spPr>
          <a:xfrm>
            <a:off x="9180000" y="4320000"/>
            <a:ext cx="762000" cy="247650"/>
          </a:xfrm>
          <a:prstGeom prst="rect">
            <a:avLst/>
          </a:prstGeom>
          <a:noFill/>
          <a:ln w="0">
            <a:noFill/>
            <a:prstDash val="solid"/>
          </a:ln>
        </p:spPr>
        <p:txBody>
          <a:bodyPr anchor="ctr"/>
          <a:lstStyle/>
          <a:p>
            <a:pPr algn="ctr">
              <a:defRPr sz="975" b="1">
                <a:solidFill>
                  <a:srgbClr val="304452"/>
                </a:solidFill>
              </a:defRPr>
            </a:pPr>
            <a:r>
              <a:rPr sz="975" b="1">
                <a:solidFill>
                  <a:srgbClr val="304452"/>
                </a:solidFill>
              </a:rPr>
              <a:t>llama3.2</a:t>
            </a:r>
          </a:p>
        </p:txBody>
      </p:sp>
      <p:sp>
        <p:nvSpPr>
          <p:cNvPr id="55" name="llm-copy">
            <a:extLst>
              <a:ext uri="{FF2B5EF4-FFF2-40B4-BE49-F238E27FC236}">
                <a16:creationId xmlns:a16="http://schemas.microsoft.com/office/drawing/2014/main" id="{72201C2E-32CA-45F1-9BC2-E0537A451FC2}"/>
              </a:ext>
            </a:extLst>
          </p:cNvPr>
          <p:cNvSpPr>
            <a:spLocks noGrp="1"/>
          </p:cNvSpPr>
          <p:nvPr/>
        </p:nvSpPr>
        <p:spPr>
          <a:xfrm>
            <a:off x="9180000" y="4680000"/>
            <a:ext cx="762000" cy="285750"/>
          </a:xfrm>
          <a:prstGeom prst="rect">
            <a:avLst/>
          </a:prstGeom>
          <a:noFill/>
          <a:ln w="0">
            <a:noFill/>
            <a:prstDash val="solid"/>
          </a:ln>
        </p:spPr>
        <p:txBody>
          <a:bodyPr anchor="ctr"/>
          <a:lstStyle/>
          <a:p>
            <a:pPr algn="ctr">
              <a:defRPr sz="825" b="0">
                <a:solidFill>
                  <a:srgbClr val="304452"/>
                </a:solidFill>
              </a:defRPr>
            </a:pPr>
            <a:r>
              <a:rPr sz="825" b="0">
                <a:solidFill>
                  <a:srgbClr val="304452"/>
                </a:solidFill>
              </a:rPr>
              <a:t>nur aus dem</a:t>
            </a:r>
          </a:p>
          <a:p>
            <a:pPr algn="ctr">
              <a:defRPr sz="825" b="0">
                <a:solidFill>
                  <a:srgbClr val="304452"/>
                </a:solidFill>
              </a:defRPr>
            </a:pPr>
            <a:r>
              <a:rPr sz="825" b="0">
                <a:solidFill>
                  <a:srgbClr val="304452"/>
                </a:solidFill>
              </a:rPr>
              <a:t>Kontext</a:t>
            </a:r>
          </a:p>
        </p:txBody>
      </p:sp>
      <p:sp>
        <p:nvSpPr>
          <p:cNvPr id="56" name="response">
            <a:extLst>
              <a:ext uri="{FF2B5EF4-FFF2-40B4-BE49-F238E27FC236}">
                <a16:creationId xmlns:a16="http://schemas.microsoft.com/office/drawing/2014/main" id="{6EE3B20E-0032-42EF-80FE-40F6861BAD1D}"/>
              </a:ext>
            </a:extLst>
          </p:cNvPr>
          <p:cNvSpPr>
            <a:spLocks noGrp="1"/>
          </p:cNvSpPr>
          <p:nvPr/>
        </p:nvSpPr>
        <p:spPr>
          <a:xfrm>
            <a:off x="10620000" y="3780000"/>
            <a:ext cx="1080000" cy="1260000"/>
          </a:xfrm>
          <a:prstGeom prst="roundRect">
            <a:avLst>
              <a:gd name="adj" fmla="val 10714"/>
            </a:avLst>
          </a:prstGeom>
          <a:solidFill>
            <a:srgbClr val="438B92"/>
          </a:solidFill>
          <a:ln w="12383">
            <a:solidFill>
              <a:srgbClr val="304452"/>
            </a:solidFill>
            <a:prstDash val="solid"/>
          </a:ln>
        </p:spPr>
        <p:txBody>
          <a:bodyPr/>
          <a:lstStyle/>
          <a:p>
            <a:endParaRPr lang="de-DE"/>
          </a:p>
        </p:txBody>
      </p:sp>
      <p:sp>
        <p:nvSpPr>
          <p:cNvPr id="57" name="response-title">
            <a:extLst>
              <a:ext uri="{FF2B5EF4-FFF2-40B4-BE49-F238E27FC236}">
                <a16:creationId xmlns:a16="http://schemas.microsoft.com/office/drawing/2014/main" id="{8824F4C0-CE61-497B-A8ED-D16C0712DF8E}"/>
              </a:ext>
            </a:extLst>
          </p:cNvPr>
          <p:cNvSpPr>
            <a:spLocks noGrp="1"/>
          </p:cNvSpPr>
          <p:nvPr/>
        </p:nvSpPr>
        <p:spPr>
          <a:xfrm>
            <a:off x="10620000" y="3960000"/>
            <a:ext cx="990600" cy="228600"/>
          </a:xfrm>
          <a:prstGeom prst="rect">
            <a:avLst/>
          </a:prstGeom>
          <a:noFill/>
          <a:ln w="0">
            <a:noFill/>
            <a:prstDash val="solid"/>
          </a:ln>
        </p:spPr>
        <p:txBody>
          <a:bodyPr anchor="ctr"/>
          <a:lstStyle/>
          <a:p>
            <a:pPr algn="ctr">
              <a:defRPr sz="825" b="1">
                <a:solidFill>
                  <a:srgbClr val="FFFFFF"/>
                </a:solidFill>
              </a:defRPr>
            </a:pPr>
            <a:r>
              <a:rPr sz="825" b="1">
                <a:solidFill>
                  <a:srgbClr val="FFFFFF"/>
                </a:solidFill>
              </a:rPr>
              <a:t>ANTWORT</a:t>
            </a:r>
          </a:p>
        </p:txBody>
      </p:sp>
      <p:sp>
        <p:nvSpPr>
          <p:cNvPr id="58" name="response-arrow">
            <a:extLst>
              <a:ext uri="{FF2B5EF4-FFF2-40B4-BE49-F238E27FC236}">
                <a16:creationId xmlns:a16="http://schemas.microsoft.com/office/drawing/2014/main" id="{45CEBEFB-B5D2-451E-9F66-666A9AE04508}"/>
              </a:ext>
            </a:extLst>
          </p:cNvPr>
          <p:cNvSpPr>
            <a:spLocks noGrp="1"/>
          </p:cNvSpPr>
          <p:nvPr/>
        </p:nvSpPr>
        <p:spPr>
          <a:xfrm>
            <a:off x="10800000" y="4140000"/>
            <a:ext cx="628650" cy="400050"/>
          </a:xfrm>
          <a:prstGeom prst="rect">
            <a:avLst/>
          </a:prstGeom>
          <a:noFill/>
          <a:ln w="0">
            <a:noFill/>
            <a:prstDash val="solid"/>
          </a:ln>
        </p:spPr>
        <p:txBody>
          <a:bodyPr anchor="ctr"/>
          <a:lstStyle/>
          <a:p>
            <a:pPr algn="ctr">
              <a:defRPr sz="2550" b="1">
                <a:solidFill>
                  <a:srgbClr val="FFFFFF"/>
                </a:solidFill>
              </a:defRPr>
            </a:pPr>
            <a:r>
              <a:rPr sz="2550" b="1">
                <a:solidFill>
                  <a:srgbClr val="FFFFFF"/>
                </a:solidFill>
              </a:rPr>
              <a:t>↪</a:t>
            </a:r>
          </a:p>
        </p:txBody>
      </p:sp>
      <p:sp>
        <p:nvSpPr>
          <p:cNvPr id="59" name="response-copy">
            <a:extLst>
              <a:ext uri="{FF2B5EF4-FFF2-40B4-BE49-F238E27FC236}">
                <a16:creationId xmlns:a16="http://schemas.microsoft.com/office/drawing/2014/main" id="{B68AAC64-DAB5-4507-9F71-A43BD9D8DE1A}"/>
              </a:ext>
            </a:extLst>
          </p:cNvPr>
          <p:cNvSpPr>
            <a:spLocks noGrp="1"/>
          </p:cNvSpPr>
          <p:nvPr/>
        </p:nvSpPr>
        <p:spPr>
          <a:xfrm>
            <a:off x="10620000" y="4680000"/>
            <a:ext cx="838200" cy="285750"/>
          </a:xfrm>
          <a:prstGeom prst="rect">
            <a:avLst/>
          </a:prstGeom>
          <a:noFill/>
          <a:ln w="0">
            <a:noFill/>
            <a:prstDash val="solid"/>
          </a:ln>
        </p:spPr>
        <p:txBody>
          <a:bodyPr anchor="ctr"/>
          <a:lstStyle/>
          <a:p>
            <a:pPr algn="ctr">
              <a:defRPr sz="825" b="0">
                <a:solidFill>
                  <a:srgbClr val="FFFFFF"/>
                </a:solidFill>
              </a:defRPr>
            </a:pPr>
            <a:r>
              <a:rPr sz="825" b="0">
                <a:solidFill>
                  <a:srgbClr val="FFFFFF"/>
                </a:solidFill>
              </a:rPr>
              <a:t>mit Gesetz</a:t>
            </a:r>
          </a:p>
          <a:p>
            <a:pPr algn="ctr">
              <a:defRPr sz="825" b="0">
                <a:solidFill>
                  <a:srgbClr val="FFFFFF"/>
                </a:solidFill>
              </a:defRPr>
            </a:pPr>
            <a:r>
              <a:rPr sz="825" b="0">
                <a:solidFill>
                  <a:srgbClr val="FFFFFF"/>
                </a:solidFill>
              </a:rPr>
              <a:t>und Artikel</a:t>
            </a:r>
          </a:p>
        </p:txBody>
      </p:sp>
      <p:sp>
        <p:nvSpPr>
          <p:cNvPr id="60" name="takeaway">
            <a:extLst>
              <a:ext uri="{FF2B5EF4-FFF2-40B4-BE49-F238E27FC236}">
                <a16:creationId xmlns:a16="http://schemas.microsoft.com/office/drawing/2014/main" id="{C597EED5-1433-43EC-B778-780B05115E00}"/>
              </a:ext>
            </a:extLst>
          </p:cNvPr>
          <p:cNvSpPr>
            <a:spLocks noGrp="1"/>
          </p:cNvSpPr>
          <p:nvPr/>
        </p:nvSpPr>
        <p:spPr>
          <a:xfrm>
            <a:off x="2160000" y="5400000"/>
            <a:ext cx="7920000" cy="540000"/>
          </a:xfrm>
          <a:prstGeom prst="roundRect">
            <a:avLst>
              <a:gd name="adj" fmla="val 20690"/>
            </a:avLst>
          </a:prstGeom>
          <a:solidFill>
            <a:srgbClr val="304452"/>
          </a:solidFill>
          <a:ln w="0">
            <a:solidFill>
              <a:srgbClr val="304452"/>
            </a:solidFill>
            <a:prstDash val="solid"/>
          </a:ln>
        </p:spPr>
        <p:txBody>
          <a:bodyPr/>
          <a:lstStyle/>
          <a:p>
            <a:endParaRPr lang="de-DE"/>
          </a:p>
        </p:txBody>
      </p:sp>
      <p:sp>
        <p:nvSpPr>
          <p:cNvPr id="61" name="takeaway-text">
            <a:extLst>
              <a:ext uri="{FF2B5EF4-FFF2-40B4-BE49-F238E27FC236}">
                <a16:creationId xmlns:a16="http://schemas.microsoft.com/office/drawing/2014/main" id="{EAAFE297-DA29-42FE-9CBE-B29468E3B1E2}"/>
              </a:ext>
            </a:extLst>
          </p:cNvPr>
          <p:cNvSpPr>
            <a:spLocks noGrp="1"/>
          </p:cNvSpPr>
          <p:nvPr/>
        </p:nvSpPr>
        <p:spPr>
          <a:xfrm>
            <a:off x="2340000" y="5580000"/>
            <a:ext cx="7429500" cy="323850"/>
          </a:xfrm>
          <a:prstGeom prst="rect">
            <a:avLst/>
          </a:prstGeom>
          <a:noFill/>
          <a:ln w="0">
            <a:noFill/>
            <a:prstDash val="solid"/>
          </a:ln>
        </p:spPr>
        <p:txBody>
          <a:bodyPr anchor="ctr"/>
          <a:lstStyle/>
          <a:p>
            <a:pPr algn="ctr">
              <a:defRPr sz="1350" b="1">
                <a:solidFill>
                  <a:srgbClr val="FFFFFF"/>
                </a:solidFill>
              </a:defRPr>
            </a:pPr>
            <a:r>
              <a:rPr sz="1350" b="1">
                <a:solidFill>
                  <a:srgbClr val="FFFFFF"/>
                </a:solidFill>
              </a:rPr>
              <a:t>Semantik + Lexik + explizite Zitate → Graph-Nachbarn → begrenzter Kontext</a:t>
            </a:r>
          </a:p>
        </p:txBody>
      </p:sp>
      <p:sp>
        <p:nvSpPr>
          <p:cNvPr id="62" name="page">
            <a:extLst>
              <a:ext uri="{FF2B5EF4-FFF2-40B4-BE49-F238E27FC236}">
                <a16:creationId xmlns:a16="http://schemas.microsoft.com/office/drawing/2014/main" id="{D6346274-97AE-48AA-98B8-3ABC947AF2F7}"/>
              </a:ext>
            </a:extLst>
          </p:cNvPr>
          <p:cNvSpPr>
            <a:spLocks noGrp="1"/>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17</a:t>
            </a:r>
          </a:p>
        </p:txBody>
      </p:sp>
      <p:sp>
        <p:nvSpPr>
          <p:cNvPr id="63" name="date">
            <a:extLst>
              <a:ext uri="{FF2B5EF4-FFF2-40B4-BE49-F238E27FC236}">
                <a16:creationId xmlns:a16="http://schemas.microsoft.com/office/drawing/2014/main" id="{C2419470-3B66-4279-B1FB-D565F64C4069}"/>
              </a:ext>
            </a:extLst>
          </p:cNvPr>
          <p:cNvSpPr>
            <a:spLocks noGrp="1"/>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133" name="Titel 1"/>
          <p:cNvSpPr>
            <a:spLocks noGrp="1"/>
          </p:cNvSpPr>
          <p:nvPr>
            <p:ph type="title"/>
          </p:nvPr>
        </p:nvSpPr>
        <p:spPr>
          <a:xfrm>
            <a:off x="482461" y="346633"/>
            <a:ext cx="11230114" cy="767605"/>
          </a:xfrm>
        </p:spPr>
        <p:txBody>
          <a:bodyPr/>
          <a:lstStyle/>
          <a:p>
            <a:r>
              <a:rPr lang="de-CH" sz="3600" dirty="0"/>
              <a:t>Hybrider GraphRAG verbindet mehrere Suchsignale</a:t>
            </a:r>
          </a:p>
        </p:txBody>
      </p:sp>
    </p:spTree>
    <p:extLst>
      <p:ext uri="{BB962C8B-B14F-4D97-AF65-F5344CB8AC3E}">
        <p14:creationId xmlns:p14="http://schemas.microsoft.com/office/powerpoint/2010/main" val="10800522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ARTICLE RECALL@K-label">
            <a:extLst>
              <a:ext uri="{FF2B5EF4-FFF2-40B4-BE49-F238E27FC236}">
                <a16:creationId xmlns:a16="http://schemas.microsoft.com/office/drawing/2014/main" id="{EF3CBA10-81F9-496B-9B1B-D5798E9DEA26}"/>
              </a:ext>
            </a:extLst>
          </p:cNvPr>
          <p:cNvSpPr>
            <a:spLocks noGrp="1"/>
          </p:cNvSpPr>
          <p:nvPr/>
        </p:nvSpPr>
        <p:spPr>
          <a:xfrm>
            <a:off x="540000" y="1980000"/>
            <a:ext cx="3143250"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a:spLocks noGrp="1"/>
          </p:cNvSpPr>
          <p:nvPr/>
        </p:nvSpPr>
        <p:spPr>
          <a:xfrm>
            <a:off x="5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9" name="ARTICLE RECALL@K-vector-label">
            <a:extLst>
              <a:ext uri="{FF2B5EF4-FFF2-40B4-BE49-F238E27FC236}">
                <a16:creationId xmlns:a16="http://schemas.microsoft.com/office/drawing/2014/main" id="{6807D616-2734-411A-9F80-248B050D6544}"/>
              </a:ext>
            </a:extLst>
          </p:cNvPr>
          <p:cNvSpPr>
            <a:spLocks noGrp="1"/>
          </p:cNvSpPr>
          <p:nvPr/>
        </p:nvSpPr>
        <p:spPr>
          <a:xfrm>
            <a:off x="90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a:spLocks noGrp="1"/>
          </p:cNvSpPr>
          <p:nvPr/>
        </p:nvSpPr>
        <p:spPr>
          <a:xfrm>
            <a:off x="90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sp>
        <p:nvSpPr>
          <p:cNvPr id="11" name="ARTICLE RECALL@K-graph-label">
            <a:extLst>
              <a:ext uri="{FF2B5EF4-FFF2-40B4-BE49-F238E27FC236}">
                <a16:creationId xmlns:a16="http://schemas.microsoft.com/office/drawing/2014/main" id="{547E2263-E275-431C-90EE-995868326356}"/>
              </a:ext>
            </a:extLst>
          </p:cNvPr>
          <p:cNvSpPr>
            <a:spLocks noGrp="1"/>
          </p:cNvSpPr>
          <p:nvPr/>
        </p:nvSpPr>
        <p:spPr>
          <a:xfrm>
            <a:off x="23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a:spLocks noGrp="1"/>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88 %</a:t>
            </a:r>
          </a:p>
        </p:txBody>
      </p:sp>
      <p:sp>
        <p:nvSpPr>
          <p:cNvPr id="13" name="ARTICLE RECALL@K-divider">
            <a:extLst>
              <a:ext uri="{FF2B5EF4-FFF2-40B4-BE49-F238E27FC236}">
                <a16:creationId xmlns:a16="http://schemas.microsoft.com/office/drawing/2014/main" id="{60C88283-300A-41E7-BA4D-36B297E1C6AD}"/>
              </a:ext>
            </a:extLst>
          </p:cNvPr>
          <p:cNvSpPr>
            <a:spLocks noGrp="1"/>
          </p:cNvSpPr>
          <p:nvPr/>
        </p:nvSpPr>
        <p:spPr>
          <a:xfrm>
            <a:off x="216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a:spLocks noGrp="1"/>
          </p:cNvSpPr>
          <p:nvPr/>
        </p:nvSpPr>
        <p:spPr>
          <a:xfrm>
            <a:off x="90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liefert den höchsten Recall</a:t>
            </a:r>
          </a:p>
        </p:txBody>
      </p:sp>
      <p:sp>
        <p:nvSpPr>
          <p:cNvPr id="15" name="ARTICLE MRR-label">
            <a:extLst>
              <a:ext uri="{FF2B5EF4-FFF2-40B4-BE49-F238E27FC236}">
                <a16:creationId xmlns:a16="http://schemas.microsoft.com/office/drawing/2014/main" id="{428A152A-7185-4B7C-9D9F-F04877D61454}"/>
              </a:ext>
            </a:extLst>
          </p:cNvPr>
          <p:cNvSpPr>
            <a:spLocks noGrp="1"/>
          </p:cNvSpPr>
          <p:nvPr/>
        </p:nvSpPr>
        <p:spPr>
          <a:xfrm>
            <a:off x="4140000" y="1980000"/>
            <a:ext cx="3143250"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a:spLocks noGrp="1"/>
          </p:cNvSpPr>
          <p:nvPr/>
        </p:nvSpPr>
        <p:spPr>
          <a:xfrm>
            <a:off x="414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17" name="ARTICLE MRR-vector-label">
            <a:extLst>
              <a:ext uri="{FF2B5EF4-FFF2-40B4-BE49-F238E27FC236}">
                <a16:creationId xmlns:a16="http://schemas.microsoft.com/office/drawing/2014/main" id="{231458E9-0363-4E1A-909E-88E4A78AF7E5}"/>
              </a:ext>
            </a:extLst>
          </p:cNvPr>
          <p:cNvSpPr>
            <a:spLocks noGrp="1"/>
          </p:cNvSpPr>
          <p:nvPr/>
        </p:nvSpPr>
        <p:spPr>
          <a:xfrm>
            <a:off x="432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a:spLocks noGrp="1"/>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a:solidFill>
                  <a:srgbClr val="304554"/>
                </a:solidFill>
                <a:latin typeface="Arial"/>
                <a:ea typeface="Arial"/>
                <a:cs typeface="Arial"/>
              </a:rPr>
              <a:t>0.25</a:t>
            </a:r>
          </a:p>
        </p:txBody>
      </p:sp>
      <p:sp>
        <p:nvSpPr>
          <p:cNvPr id="19" name="ARTICLE MRR-graph-label">
            <a:extLst>
              <a:ext uri="{FF2B5EF4-FFF2-40B4-BE49-F238E27FC236}">
                <a16:creationId xmlns:a16="http://schemas.microsoft.com/office/drawing/2014/main" id="{34D2D5AD-316C-4BC7-AB0E-006E3CD5A7A1}"/>
              </a:ext>
            </a:extLst>
          </p:cNvPr>
          <p:cNvSpPr>
            <a:spLocks noGrp="1"/>
          </p:cNvSpPr>
          <p:nvPr/>
        </p:nvSpPr>
        <p:spPr>
          <a:xfrm>
            <a:off x="57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a:spLocks noGrp="1"/>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0.52</a:t>
            </a:r>
          </a:p>
        </p:txBody>
      </p:sp>
      <p:sp>
        <p:nvSpPr>
          <p:cNvPr id="21" name="ARTICLE MRR-divider">
            <a:extLst>
              <a:ext uri="{FF2B5EF4-FFF2-40B4-BE49-F238E27FC236}">
                <a16:creationId xmlns:a16="http://schemas.microsoft.com/office/drawing/2014/main" id="{AF3DB5C0-E728-477B-889B-6F68B673147F}"/>
              </a:ext>
            </a:extLst>
          </p:cNvPr>
          <p:cNvSpPr>
            <a:spLocks noGrp="1"/>
          </p:cNvSpPr>
          <p:nvPr/>
        </p:nvSpPr>
        <p:spPr>
          <a:xfrm>
            <a:off x="558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a:spLocks noGrp="1"/>
          </p:cNvSpPr>
          <p:nvPr/>
        </p:nvSpPr>
        <p:spPr>
          <a:xfrm>
            <a:off x="43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Reranker ordnet Treffer am besten</a:t>
            </a:r>
          </a:p>
        </p:txBody>
      </p:sp>
      <p:sp>
        <p:nvSpPr>
          <p:cNvPr id="23" name="Ø KONTEXT-TOKENS-label">
            <a:extLst>
              <a:ext uri="{FF2B5EF4-FFF2-40B4-BE49-F238E27FC236}">
                <a16:creationId xmlns:a16="http://schemas.microsoft.com/office/drawing/2014/main" id="{55D09288-0EF6-4C48-BD66-8A8F092889F5}"/>
              </a:ext>
            </a:extLst>
          </p:cNvPr>
          <p:cNvSpPr>
            <a:spLocks noGrp="1"/>
          </p:cNvSpPr>
          <p:nvPr/>
        </p:nvSpPr>
        <p:spPr>
          <a:xfrm>
            <a:off x="7560000" y="1980000"/>
            <a:ext cx="3143250"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a:spLocks noGrp="1"/>
          </p:cNvSpPr>
          <p:nvPr/>
        </p:nvSpPr>
        <p:spPr>
          <a:xfrm>
            <a:off x="7560000" y="2340000"/>
            <a:ext cx="3060000" cy="2160000"/>
          </a:xfrm>
          <a:prstGeom prst="roundRect">
            <a:avLst>
              <a:gd name="adj" fmla="val 7660"/>
            </a:avLst>
          </a:prstGeom>
          <a:solidFill>
            <a:srgbClr val="EAE8E5"/>
          </a:solidFill>
          <a:ln w="11430">
            <a:solidFill>
              <a:srgbClr val="C3BBB2"/>
            </a:solidFill>
            <a:prstDash val="solid"/>
          </a:ln>
        </p:spPr>
        <p:txBody>
          <a:bodyPr/>
          <a:lstStyle/>
          <a:p>
            <a:endParaRPr/>
          </a:p>
        </p:txBody>
      </p:sp>
      <p:sp>
        <p:nvSpPr>
          <p:cNvPr id="25" name="Ø KONTEXT-TOKENS-vector-label">
            <a:extLst>
              <a:ext uri="{FF2B5EF4-FFF2-40B4-BE49-F238E27FC236}">
                <a16:creationId xmlns:a16="http://schemas.microsoft.com/office/drawing/2014/main" id="{D47DBC2B-B2FA-49FF-B10A-1CA89217518E}"/>
              </a:ext>
            </a:extLst>
          </p:cNvPr>
          <p:cNvSpPr>
            <a:spLocks noGrp="1"/>
          </p:cNvSpPr>
          <p:nvPr/>
        </p:nvSpPr>
        <p:spPr>
          <a:xfrm>
            <a:off x="774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a:spLocks noGrp="1"/>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sp>
        <p:nvSpPr>
          <p:cNvPr id="27" name="Ø KONTEXT-TOKENS-graph-label">
            <a:extLst>
              <a:ext uri="{FF2B5EF4-FFF2-40B4-BE49-F238E27FC236}">
                <a16:creationId xmlns:a16="http://schemas.microsoft.com/office/drawing/2014/main" id="{5ADB093D-5CA8-470A-B582-671D3E476C43}"/>
              </a:ext>
            </a:extLst>
          </p:cNvPr>
          <p:cNvSpPr>
            <a:spLocks noGrp="1"/>
          </p:cNvSpPr>
          <p:nvPr/>
        </p:nvSpPr>
        <p:spPr>
          <a:xfrm>
            <a:off x="9360000" y="2700000"/>
            <a:ext cx="1190625" cy="22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a:spLocks noGrp="1"/>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a:solidFill>
                  <a:srgbClr val="4B9298"/>
                </a:solidFill>
                <a:latin typeface="Arial"/>
                <a:ea typeface="Arial"/>
                <a:cs typeface="Arial"/>
              </a:rPr>
              <a:t>802</a:t>
            </a:r>
          </a:p>
        </p:txBody>
      </p:sp>
      <p:sp>
        <p:nvSpPr>
          <p:cNvPr id="29" name="Ø KONTEXT-TOKENS-divider">
            <a:extLst>
              <a:ext uri="{FF2B5EF4-FFF2-40B4-BE49-F238E27FC236}">
                <a16:creationId xmlns:a16="http://schemas.microsoft.com/office/drawing/2014/main" id="{145BFBDE-E6FD-49B8-BBC5-524B55F1BA5C}"/>
              </a:ext>
            </a:extLst>
          </p:cNvPr>
          <p:cNvSpPr>
            <a:spLocks noGrp="1"/>
          </p:cNvSpPr>
          <p:nvPr/>
        </p:nvSpPr>
        <p:spPr>
          <a:xfrm>
            <a:off x="918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a:spLocks noGrp="1"/>
          </p:cNvSpPr>
          <p:nvPr/>
        </p:nvSpPr>
        <p:spPr>
          <a:xfrm>
            <a:off x="7920000" y="3780000"/>
            <a:ext cx="257175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a:solidFill>
                  <a:srgbClr val="304554"/>
                </a:solidFill>
                <a:latin typeface="Arial"/>
                <a:ea typeface="Arial"/>
                <a:cs typeface="Arial"/>
              </a:rPr>
              <a:t>Graph: 10 % weniger als Semantic</a:t>
            </a:r>
          </a:p>
        </p:txBody>
      </p:sp>
      <p:sp>
        <p:nvSpPr>
          <p:cNvPr id="31" name="retrieval-warning">
            <a:extLst>
              <a:ext uri="{FF2B5EF4-FFF2-40B4-BE49-F238E27FC236}">
                <a16:creationId xmlns:a16="http://schemas.microsoft.com/office/drawing/2014/main" id="{2F201B38-0977-4C2C-9102-295F9B84C078}"/>
              </a:ext>
            </a:extLst>
          </p:cNvPr>
          <p:cNvSpPr>
            <a:spLocks noGrp="1"/>
          </p:cNvSpPr>
          <p:nvPr/>
        </p:nvSpPr>
        <p:spPr>
          <a:xfrm>
            <a:off x="2160000" y="5040000"/>
            <a:ext cx="7920000" cy="720000"/>
          </a:xfrm>
          <a:prstGeom prst="roundRect">
            <a:avLst>
              <a:gd name="adj" fmla="val 22857"/>
            </a:avLst>
          </a:prstGeom>
          <a:solidFill>
            <a:srgbClr val="2D3F4B"/>
          </a:solidFill>
          <a:ln w="0">
            <a:solidFill>
              <a:srgbClr val="2D3F4B"/>
            </a:solidFill>
            <a:prstDash val="solid"/>
          </a:ln>
        </p:spPr>
        <p:txBody>
          <a:bodyPr/>
          <a:lstStyle/>
          <a:p>
            <a:endParaRPr/>
          </a:p>
        </p:txBody>
      </p:sp>
      <p:sp>
        <p:nvSpPr>
          <p:cNvPr id="32" name="retrieval-warning-text">
            <a:extLst>
              <a:ext uri="{FF2B5EF4-FFF2-40B4-BE49-F238E27FC236}">
                <a16:creationId xmlns:a16="http://schemas.microsoft.com/office/drawing/2014/main" id="{5B2B257E-F684-4CF7-A132-B09ED4E57461}"/>
              </a:ext>
            </a:extLst>
          </p:cNvPr>
          <p:cNvSpPr>
            <a:spLocks noGrp="1"/>
          </p:cNvSpPr>
          <p:nvPr/>
        </p:nvSpPr>
        <p:spPr>
          <a:xfrm>
            <a:off x="2340000" y="5220000"/>
            <a:ext cx="752475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Retrieval ≠ Antwortqualität: Der richtige Artikel muss im Kontext sein – und korrekt genutzt werden.</a:t>
            </a:r>
          </a:p>
        </p:txBody>
      </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a:spLocks noGrp="1"/>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a:spLocks noGrp="1"/>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a:spLocks noGrp="1"/>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a:spLocks noGrp="1"/>
          </p:cNvSpPr>
          <p:nvPr/>
        </p:nvSpPr>
        <p:spPr>
          <a:xfrm>
            <a:off x="5940000" y="1980000"/>
            <a:ext cx="1238250" cy="22860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900" b="1">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a:spLocks noGrp="1"/>
          </p:cNvSpPr>
          <p:nvPr/>
        </p:nvSpPr>
        <p:spPr>
          <a:xfrm>
            <a:off x="9360000" y="1980000"/>
            <a:ext cx="1238250" cy="22860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9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a:spLocks noGrp="1"/>
          </p:cNvSpPr>
          <p:nvPr/>
        </p:nvSpPr>
        <p:spPr>
          <a:xfrm>
            <a:off x="720000" y="234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a:spLocks noGrp="1"/>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a:spLocks noGrp="1"/>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a:spLocks noGrp="1"/>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a:spLocks noGrp="1"/>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a:spLocks noGrp="1"/>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a:spLocks noGrp="1"/>
          </p:cNvSpPr>
          <p:nvPr/>
        </p:nvSpPr>
        <p:spPr>
          <a:xfrm>
            <a:off x="720000" y="306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a:spLocks noGrp="1"/>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a:spLocks noGrp="1"/>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a:spLocks noGrp="1"/>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a:spLocks noGrp="1"/>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a:spLocks noGrp="1"/>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a:spLocks noGrp="1"/>
          </p:cNvSpPr>
          <p:nvPr/>
        </p:nvSpPr>
        <p:spPr>
          <a:xfrm>
            <a:off x="720000" y="378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a:spLocks noGrp="1"/>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a:spLocks noGrp="1"/>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a:spLocks noGrp="1"/>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a:spLocks noGrp="1"/>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a:spLocks noGrp="1"/>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a:spLocks noGrp="1"/>
          </p:cNvSpPr>
          <p:nvPr/>
        </p:nvSpPr>
        <p:spPr>
          <a:xfrm>
            <a:off x="720000" y="4500000"/>
            <a:ext cx="2381250" cy="266700"/>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2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a:spLocks noGrp="1"/>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a:spLocks noGrp="1"/>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a:spLocks noGrp="1"/>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a:spLocks noGrp="1"/>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a:spLocks noGrp="1"/>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a:spLocks noGrp="1"/>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lstStyle/>
          <a:p>
            <a:endParaRPr/>
          </a:p>
        </p:txBody>
      </p:sp>
      <p:sp>
        <p:nvSpPr>
          <p:cNvPr id="34" name="answer-takeaway-text">
            <a:extLst>
              <a:ext uri="{FF2B5EF4-FFF2-40B4-BE49-F238E27FC236}">
                <a16:creationId xmlns:a16="http://schemas.microsoft.com/office/drawing/2014/main" id="{C9D6EE62-779C-461F-BAA7-8968A6BCD9FB}"/>
              </a:ext>
            </a:extLst>
          </p:cNvPr>
          <p:cNvSpPr>
            <a:spLocks noGrp="1"/>
          </p:cNvSpPr>
          <p:nvPr/>
        </p:nvSpPr>
        <p:spPr>
          <a:xfrm>
            <a:off x="1440000" y="5400000"/>
            <a:ext cx="9334500" cy="304800"/>
          </a:xfrm>
          <a:prstGeom prst="rect">
            <a:avLst/>
          </a:prstGeom>
          <a:noFill/>
          <a:ln w="0">
            <a:no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P spid="34"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a:spLocks noGrp="1"/>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a:spLocks noGrp="1"/>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a:spLocks noGrp="1"/>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a:spLocks noGrp="1"/>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1" name="group-A-cmd-text">
            <a:extLst>
              <a:ext uri="{FF2B5EF4-FFF2-40B4-BE49-F238E27FC236}">
                <a16:creationId xmlns:a16="http://schemas.microsoft.com/office/drawing/2014/main" id="{A74ECB2F-9423-4AF5-BFEB-3B514146449B}"/>
              </a:ext>
            </a:extLst>
          </p:cNvPr>
          <p:cNvSpPr>
            <a:spLocks noGrp="1"/>
          </p:cNvSpPr>
          <p:nvPr/>
        </p:nvSpPr>
        <p:spPr>
          <a:xfrm>
            <a:off x="9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a:spLocks noGrp="1"/>
          </p:cNvSpPr>
          <p:nvPr/>
        </p:nvSpPr>
        <p:spPr>
          <a:xfrm>
            <a:off x="9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3 Chunks prüfen</a:t>
            </a:r>
          </a:p>
          <a:p>
            <a:pPr algn="l">
              <a:defRPr sz="1425" b="0">
                <a:solidFill>
                  <a:srgbClr val="2D3F4B"/>
                </a:solidFill>
                <a:latin typeface="Arial"/>
                <a:ea typeface="Arial"/>
                <a:cs typeface="Arial"/>
              </a:defRPr>
            </a:pPr>
            <a:r>
              <a:rPr sz="1425" b="0">
                <a:solidFill>
                  <a:srgbClr val="2D3F4B"/>
                </a:solidFill>
                <a:latin typeface="Arial"/>
                <a:ea typeface="Arial"/>
                <a:cs typeface="Arial"/>
              </a:rPr>
              <a:t>Satz-/Artikelgrenzen markieren</a:t>
            </a:r>
          </a:p>
          <a:p>
            <a:pPr algn="l">
              <a:defRPr sz="1425" b="0">
                <a:solidFill>
                  <a:srgbClr val="2D3F4B"/>
                </a:solidFill>
                <a:latin typeface="Arial"/>
                <a:ea typeface="Arial"/>
                <a:cs typeface="Arial"/>
              </a:defRPr>
            </a:pPr>
            <a:r>
              <a:rPr sz="1425" b="0">
                <a:solidFill>
                  <a:srgbClr val="2D3F4B"/>
                </a:solidFill>
                <a:latin typeface="Arial"/>
                <a:ea typeface="Arial"/>
                <a:cs typeface="Arial"/>
              </a:rPr>
              <a:t>Rauschen benennen</a:t>
            </a:r>
          </a:p>
        </p:txBody>
      </p:sp>
      <p:sp>
        <p:nvSpPr>
          <p:cNvPr id="13" name="group-B">
            <a:extLst>
              <a:ext uri="{FF2B5EF4-FFF2-40B4-BE49-F238E27FC236}">
                <a16:creationId xmlns:a16="http://schemas.microsoft.com/office/drawing/2014/main" id="{300F9B10-87A9-44F1-A7FD-E55CB172AA3A}"/>
              </a:ext>
            </a:extLst>
          </p:cNvPr>
          <p:cNvSpPr>
            <a:spLocks noGrp="1"/>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a:spLocks noGrp="1"/>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a:spLocks noGrp="1"/>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a:spLocks noGrp="1"/>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17" name="group-B-cmd-text">
            <a:extLst>
              <a:ext uri="{FF2B5EF4-FFF2-40B4-BE49-F238E27FC236}">
                <a16:creationId xmlns:a16="http://schemas.microsoft.com/office/drawing/2014/main" id="{48EFDDD9-A70D-4642-838F-814277314702}"/>
              </a:ext>
            </a:extLst>
          </p:cNvPr>
          <p:cNvSpPr>
            <a:spLocks noGrp="1"/>
          </p:cNvSpPr>
          <p:nvPr/>
        </p:nvSpPr>
        <p:spPr>
          <a:xfrm>
            <a:off x="450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a:spLocks noGrp="1"/>
          </p:cNvSpPr>
          <p:nvPr/>
        </p:nvSpPr>
        <p:spPr>
          <a:xfrm>
            <a:off x="450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gleiche Frage verwenden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Rerank-Rang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Recall-Grenze benennen</a:t>
            </a:r>
          </a:p>
        </p:txBody>
      </p:sp>
      <p:sp>
        <p:nvSpPr>
          <p:cNvPr id="19" name="group-C">
            <a:extLst>
              <a:ext uri="{FF2B5EF4-FFF2-40B4-BE49-F238E27FC236}">
                <a16:creationId xmlns:a16="http://schemas.microsoft.com/office/drawing/2014/main" id="{4BF2D0CF-269B-4C1A-A991-8138B0BD86DE}"/>
              </a:ext>
            </a:extLst>
          </p:cNvPr>
          <p:cNvSpPr>
            <a:spLocks noGrp="1"/>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a:spLocks noGrp="1"/>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a:spLocks noGrp="1"/>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a:spLocks noGrp="1"/>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lstStyle/>
          <a:p>
            <a:endParaRPr lang="de-CH"/>
          </a:p>
        </p:txBody>
      </p:sp>
      <p:sp>
        <p:nvSpPr>
          <p:cNvPr id="23" name="group-C-cmd-text">
            <a:extLst>
              <a:ext uri="{FF2B5EF4-FFF2-40B4-BE49-F238E27FC236}">
                <a16:creationId xmlns:a16="http://schemas.microsoft.com/office/drawing/2014/main" id="{484FB4AE-F334-410B-ACF9-0B95576ECBA5}"/>
              </a:ext>
            </a:extLst>
          </p:cNvPr>
          <p:cNvSpPr>
            <a:spLocks noGrp="1"/>
          </p:cNvSpPr>
          <p:nvPr/>
        </p:nvSpPr>
        <p:spPr>
          <a:xfrm>
            <a:off x="7920000" y="3060000"/>
            <a:ext cx="2714625" cy="238125"/>
          </a:xfrm>
          <a:prstGeom prst="rect">
            <a:avLst/>
          </a:prstGeom>
          <a:noFill/>
          <a:ln w="0">
            <a:noFill/>
            <a:prstDash val="solid"/>
          </a:ln>
        </p:spPr>
        <p:txBody>
          <a:bodyPr anchor="t"/>
          <a:lstStyle/>
          <a:p>
            <a:pPr algn="ctr">
              <a:defRPr sz="1125" b="1">
                <a:solidFill>
                  <a:srgbClr val="FFFFFF"/>
                </a:solidFill>
                <a:latin typeface="Arial"/>
                <a:ea typeface="Arial"/>
                <a:cs typeface="Arial"/>
              </a:defRPr>
            </a:pPr>
            <a:r>
              <a:rPr sz="1125" b="1">
                <a:solidFill>
                  <a:srgbClr val="FFFFFF"/>
                </a:solidFill>
                <a:latin typeface="Aria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a:spLocks noGrp="1"/>
          </p:cNvSpPr>
          <p:nvPr/>
        </p:nvSpPr>
        <p:spPr>
          <a:xfrm>
            <a:off x="7920000" y="3780000"/>
            <a:ext cx="2700000" cy="1080000"/>
          </a:xfrm>
          <a:prstGeom prst="rect">
            <a:avLst/>
          </a:prstGeom>
          <a:noFill/>
          <a:ln w="0">
            <a:noFill/>
            <a:prstDash val="solid"/>
          </a:ln>
        </p:spPr>
        <p:txBody>
          <a:bodyPr anchor="t"/>
          <a:lstStyle/>
          <a:p>
            <a:pPr algn="l">
              <a:defRPr sz="1425" b="0">
                <a:solidFill>
                  <a:srgbClr val="2D3F4B"/>
                </a:solidFill>
                <a:latin typeface="Arial"/>
                <a:ea typeface="Arial"/>
                <a:cs typeface="Arial"/>
              </a:defRPr>
            </a:pPr>
            <a:r>
              <a:rPr sz="1425" b="0">
                <a:solidFill>
                  <a:srgbClr val="2D3F4B"/>
                </a:solidFill>
                <a:latin typeface="Arial"/>
                <a:ea typeface="Arial"/>
                <a:cs typeface="Arial"/>
              </a:rPr>
              <a:t>Referenzfrage testen</a:t>
            </a:r>
          </a:p>
          <a:p>
            <a:pPr algn="l">
              <a:defRPr sz="1425" b="0">
                <a:solidFill>
                  <a:srgbClr val="2D3F4B"/>
                </a:solidFill>
                <a:latin typeface="Arial"/>
                <a:ea typeface="Arial"/>
                <a:cs typeface="Arial"/>
              </a:defRPr>
            </a:pPr>
            <a:r>
              <a:rPr sz="1425" b="0">
                <a:solidFill>
                  <a:srgbClr val="2D3F4B"/>
                </a:solidFill>
                <a:latin typeface="Arial"/>
                <a:ea typeface="Arial"/>
                <a:cs typeface="Arial"/>
              </a:rPr>
              <a:t>Vector und Graph vergleichen</a:t>
            </a:r>
          </a:p>
          <a:p>
            <a:pPr algn="l">
              <a:defRPr sz="1425" b="0">
                <a:solidFill>
                  <a:srgbClr val="2D3F4B"/>
                </a:solidFill>
                <a:latin typeface="Arial"/>
                <a:ea typeface="Arial"/>
                <a:cs typeface="Arial"/>
              </a:defRPr>
            </a:pPr>
            <a:r>
              <a:rPr sz="1425" b="0">
                <a:solidFill>
                  <a:srgbClr val="2D3F4B"/>
                </a:solidFill>
                <a:latin typeface="Arial"/>
                <a:ea typeface="Arial"/>
                <a:cs typeface="Arial"/>
              </a:rPr>
              <a:t>Token-Trade-off erklären</a:t>
            </a:r>
          </a:p>
        </p:txBody>
      </p:sp>
      <p:sp>
        <p:nvSpPr>
          <p:cNvPr id="25" name="group-output">
            <a:extLst>
              <a:ext uri="{FF2B5EF4-FFF2-40B4-BE49-F238E27FC236}">
                <a16:creationId xmlns:a16="http://schemas.microsoft.com/office/drawing/2014/main" id="{52A6162D-5932-436E-A042-07A49271FBD3}"/>
              </a:ext>
            </a:extLst>
          </p:cNvPr>
          <p:cNvSpPr>
            <a:spLocks noGrp="1"/>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lstStyle/>
          <a:p>
            <a:endParaRPr lang="de-CH"/>
          </a:p>
        </p:txBody>
      </p:sp>
      <p:sp>
        <p:nvSpPr>
          <p:cNvPr id="26" name="group-output-text">
            <a:extLst>
              <a:ext uri="{FF2B5EF4-FFF2-40B4-BE49-F238E27FC236}">
                <a16:creationId xmlns:a16="http://schemas.microsoft.com/office/drawing/2014/main" id="{9C814ADF-AAEF-44FB-9C55-E660AF5CD6C7}"/>
              </a:ext>
            </a:extLst>
          </p:cNvPr>
          <p:cNvSpPr>
            <a:spLocks noGrp="1"/>
          </p:cNvSpPr>
          <p:nvPr/>
        </p:nvSpPr>
        <p:spPr>
          <a:xfrm>
            <a:off x="2340000" y="5400000"/>
            <a:ext cx="7334250" cy="323850"/>
          </a:xfrm>
          <a:prstGeom prst="rect">
            <a:avLst/>
          </a:prstGeom>
          <a:noFill/>
          <a:ln w="0">
            <a:noFill/>
            <a:prstDash val="solid"/>
          </a:ln>
        </p:spPr>
        <p:txBody>
          <a:bodyPr anchor="ct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a:spLocks noGrp="1"/>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a:spLocks noGrp="1"/>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a:spLocks noGrp="1"/>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a:spLocks noGrp="1"/>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a:spLocks noGrp="1"/>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a:spLocks noGrp="1"/>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a:spLocks noGrp="1"/>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a:spLocks noGrp="1"/>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a:spLocks noGrp="1"/>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a:spLocks noGrp="1"/>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a:spLocks noGrp="1"/>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a:spLocks noGrp="1"/>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a:spLocks noGrp="1"/>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a:spLocks noGrp="1"/>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a:spLocks noGrp="1"/>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a:spLocks noGrp="1"/>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a:spLocks noGrp="1"/>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a:spLocks noGrp="1"/>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a:spLocks noGrp="1"/>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a:spLocks noGrp="1"/>
          </p:cNvSpPr>
          <p:nvPr/>
        </p:nvSpPr>
        <p:spPr>
          <a:xfrm>
            <a:off x="2520000" y="5580000"/>
            <a:ext cx="7143750" cy="400050"/>
          </a:xfrm>
          <a:prstGeom prst="roundRect">
            <a:avLst>
              <a:gd name="adj" fmla="val 28571"/>
            </a:avLst>
          </a:prstGeom>
          <a:solidFill>
            <a:srgbClr val="2D3F4B"/>
          </a:solidFill>
          <a:ln w="0">
            <a:solidFill>
              <a:srgbClr val="2D3F4B"/>
            </a:solidFill>
            <a:prstDash val="solid"/>
          </a:ln>
        </p:spPr>
        <p:txBody>
          <a:bodyPr/>
          <a:lstStyle/>
          <a:p>
            <a:endParaRPr lang="de-CH"/>
          </a:p>
        </p:txBody>
      </p:sp>
      <p:sp>
        <p:nvSpPr>
          <p:cNvPr id="26" name="framework-question-text">
            <a:extLst>
              <a:ext uri="{FF2B5EF4-FFF2-40B4-BE49-F238E27FC236}">
                <a16:creationId xmlns:a16="http://schemas.microsoft.com/office/drawing/2014/main" id="{2E134B1B-CA2D-4AA8-9422-8D553538956C}"/>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275" b="1">
                <a:solidFill>
                  <a:srgbClr val="FFFFFF"/>
                </a:solidFill>
                <a:latin typeface="Arial"/>
                <a:ea typeface="Arial"/>
                <a:cs typeface="Arial"/>
              </a:defRPr>
            </a:pPr>
            <a:r>
              <a:rPr sz="1275" b="1">
                <a:solidFill>
                  <a:srgbClr val="FFFFFF"/>
                </a:solidFill>
                <a:latin typeface="Arial"/>
                <a:ea typeface="Arial"/>
                <a:cs typeface="Arial"/>
              </a:rPr>
              <a:t>Entscheidend: Datenresidenz · Berechtigungen · Observability · Lock-in</a:t>
            </a:r>
          </a:p>
        </p:txBody>
      </p:sp>
    </p:spTree>
    <p:extLst>
      <p:ext uri="{BB962C8B-B14F-4D97-AF65-F5344CB8AC3E}">
        <p14:creationId xmlns:p14="http://schemas.microsoft.com/office/powerpoint/2010/main" val="114164754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a:spLocks noGrp="1"/>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a:spLocks noGrp="1"/>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a:spLocks noGrp="1"/>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a:spLocks noGrp="1"/>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a:spLocks noGrp="1"/>
          </p:cNvSpPr>
          <p:nvPr/>
        </p:nvSpPr>
        <p:spPr>
          <a:xfrm>
            <a:off x="1800000" y="2160000"/>
            <a:ext cx="3429000" cy="323850"/>
          </a:xfrm>
          <a:prstGeom prst="rect">
            <a:avLst/>
          </a:prstGeom>
          <a:noFill/>
          <a:ln w="0">
            <a:noFill/>
            <a:prstDash val="solid"/>
          </a:ln>
        </p:spPr>
        <p:txBody>
          <a:bodyPr anchor="t"/>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a:spLocks noGrp="1"/>
          </p:cNvSpPr>
          <p:nvPr/>
        </p:nvSpPr>
        <p:spPr>
          <a:xfrm>
            <a:off x="5400000" y="216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a:spLocks noGrp="1"/>
          </p:cNvSpPr>
          <p:nvPr/>
        </p:nvSpPr>
        <p:spPr>
          <a:xfrm>
            <a:off x="1800000" y="288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a:spLocks noGrp="1"/>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a:spLocks noGrp="1"/>
          </p:cNvSpPr>
          <p:nvPr/>
        </p:nvSpPr>
        <p:spPr>
          <a:xfrm>
            <a:off x="1800000" y="3240000"/>
            <a:ext cx="3429000" cy="323850"/>
          </a:xfrm>
          <a:prstGeom prst="rect">
            <a:avLst/>
          </a:prstGeom>
          <a:noFill/>
          <a:ln w="0">
            <a:noFill/>
            <a:prstDash val="solid"/>
          </a:ln>
        </p:spPr>
        <p:txBody>
          <a:bodyPr anchor="t"/>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a:spLocks noGrp="1"/>
          </p:cNvSpPr>
          <p:nvPr/>
        </p:nvSpPr>
        <p:spPr>
          <a:xfrm>
            <a:off x="5400000" y="324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a:spLocks noGrp="1"/>
          </p:cNvSpPr>
          <p:nvPr/>
        </p:nvSpPr>
        <p:spPr>
          <a:xfrm>
            <a:off x="1800000" y="396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a:spLocks noGrp="1"/>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a:spLocks noGrp="1"/>
          </p:cNvSpPr>
          <p:nvPr/>
        </p:nvSpPr>
        <p:spPr>
          <a:xfrm>
            <a:off x="1800000" y="4500000"/>
            <a:ext cx="3429000" cy="323850"/>
          </a:xfrm>
          <a:prstGeom prst="rect">
            <a:avLst/>
          </a:prstGeom>
          <a:noFill/>
          <a:ln w="0">
            <a:noFill/>
            <a:prstDash val="solid"/>
          </a:ln>
        </p:spPr>
        <p:txBody>
          <a:bodyPr anchor="t"/>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a:spLocks noGrp="1"/>
          </p:cNvSpPr>
          <p:nvPr/>
        </p:nvSpPr>
        <p:spPr>
          <a:xfrm>
            <a:off x="5400000" y="4320000"/>
            <a:ext cx="5760000" cy="540000"/>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a:spLocks noGrp="1"/>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lstStyle/>
          <a:p>
            <a:endParaRPr lang="de-DE" noProof="0" dirty="0"/>
          </a:p>
        </p:txBody>
      </p:sp>
      <p:sp>
        <p:nvSpPr>
          <p:cNvPr id="19" name="final-path-text">
            <a:extLst>
              <a:ext uri="{FF2B5EF4-FFF2-40B4-BE49-F238E27FC236}">
                <a16:creationId xmlns:a16="http://schemas.microsoft.com/office/drawing/2014/main" id="{B9D0D05C-582B-4D4E-A353-4577B1236631}"/>
              </a:ext>
            </a:extLst>
          </p:cNvPr>
          <p:cNvSpPr>
            <a:spLocks noGrp="1"/>
          </p:cNvSpPr>
          <p:nvPr/>
        </p:nvSpPr>
        <p:spPr>
          <a:xfrm>
            <a:off x="2700000" y="5580000"/>
            <a:ext cx="6762750" cy="228600"/>
          </a:xfrm>
          <a:prstGeom prst="rect">
            <a:avLst/>
          </a:prstGeom>
          <a:noFill/>
          <a:ln w="0">
            <a:noFill/>
            <a:prstDash val="solid"/>
          </a:ln>
        </p:spPr>
        <p:txBody>
          <a:bodyPr anchor="t"/>
          <a:lstStyle/>
          <a:p>
            <a:pPr algn="ctr">
              <a:defRPr sz="1500" b="1">
                <a:solidFill>
                  <a:srgbClr val="FFFFFF"/>
                </a:solidFill>
                <a:latin typeface="Arial"/>
                <a:ea typeface="Arial"/>
                <a:cs typeface="Arial"/>
              </a:defRPr>
            </a:pPr>
            <a:r>
              <a:rPr lang="de-DE" sz="1500" b="1" noProof="0" dirty="0">
                <a:solidFill>
                  <a:srgbClr val="FFFFFF"/>
                </a:solidFill>
                <a:latin typeface="Aria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P spid="19"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10.08.2026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26</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4084</Words>
  <Application>Microsoft Office PowerPoint</Application>
  <PresentationFormat>Breitbild</PresentationFormat>
  <Paragraphs>632</Paragraphs>
  <Slides>26</Slides>
  <Notes>20</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26</vt:i4>
      </vt:variant>
    </vt:vector>
  </HeadingPairs>
  <TitlesOfParts>
    <vt:vector size="30" baseType="lpstr">
      <vt:lpstr>Arial</vt:lpstr>
      <vt:lpstr>Courier New</vt:lpstr>
      <vt:lpstr>AKROS</vt:lpstr>
      <vt:lpstr>think-cell Folie</vt:lpstr>
      <vt:lpstr>Retrieval-Augmented Generator (RAG)</vt:lpstr>
      <vt:lpstr>Agenda</vt:lpstr>
      <vt:lpstr>Was ist RAG?</vt:lpstr>
      <vt:lpstr>Reine LLMs haben drei blinde Flecken</vt:lpstr>
      <vt:lpstr>RAG verschiebt die Aufgabe</vt:lpstr>
      <vt:lpstr>Vier Bausteine formen den LLM-Kontext</vt:lpstr>
      <vt:lpstr>Aufbau eines Vector RAGs</vt:lpstr>
      <vt:lpstr>Vom Modellaufruf zum messbaren RAG</vt:lpstr>
      <vt:lpstr>Hands-on</vt:lpstr>
      <vt:lpstr>Vom Setup zur ersten belegbaren Antwort</vt:lpstr>
      <vt:lpstr>Stufe 1 · Chat ohne RAG</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Mehltretter Stephanie</cp:lastModifiedBy>
  <cp:revision>44</cp:revision>
  <dcterms:created xsi:type="dcterms:W3CDTF">2026-08-04T12:09:36Z</dcterms:created>
  <dcterms:modified xsi:type="dcterms:W3CDTF">2026-08-10T10:00:01Z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