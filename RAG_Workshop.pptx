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23" r:id="rId33"/>
    <p:sldId id="324" r:id="rId34"/>
    <p:sldId id="325" r:id="rId35"/>
    <p:sldId id="308" r:id="rId15"/>
    <p:sldId id="326" r:id="rId36"/>
    <p:sldId id="256" r:id="rId16"/>
    <p:sldId id="313" r:id="rId17"/>
    <p:sldId id="327" r:id="rId3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5.xml"/><Relationship Id="rId37"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720000" y="1620000"/>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7020000" y="1620000"/>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0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00000" y="1980000"/>
            <a:ext cx="1080000" cy="10800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60000" y="216000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1080000" y="1980000"/>
            <a:ext cx="1080000" cy="10800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60000" y="216000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00000" y="50400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0000" y="504000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0000" y="540000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32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720000" y="4860000"/>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72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72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00000" y="4320000"/>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0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0000" y="4680000"/>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60000" y="4860000"/>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60000" y="4320000"/>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60000" y="5040000"/>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320000" y="2700000"/>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940771" y="2853888"/>
            <a:ext cx="2379228" cy="1286111"/>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39500" y="2853888"/>
            <a:ext cx="2641271" cy="1286111"/>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720000" y="4140000"/>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00000" y="4140000"/>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80000" y="4140000"/>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60000" y="4140000"/>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00000" y="4860000"/>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6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30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6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30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60000" y="1260000"/>
            <a:ext cx="11520000" cy="46800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60000" y="25200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20000" y="3060000"/>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32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20000" y="3060000"/>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300000" y="3060000"/>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0000" y="3060000"/>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LLM"/>
          <p:cNvSpPr/>
          <p:nvPr/>
        </p:nvSpPr>
        <p:spPr>
          <a:xfrm>
            <a:off x="7696800" y="4996800"/>
            <a:ext cx="1526400" cy="954000"/>
          </a:xfrm>
          <a:prstGeom prst="roundRect">
            <a:avLst/>
          </a:prstGeom>
          <a:noFill/>
          <a:ln w="28575">
            <a:solidFill>
              <a:srgbClr val="C60C30"/>
            </a:solidFill>
            <a:prstDash val="dash"/>
          </a:ln>
        </p:spPr>
        <p:txBody>
          <a:bodyPr/>
          <a:lstStyle/>
          <a:p/>
        </p:txBody>
      </p:sp>
      <p:sp>
        <p:nvSpPr>
          <p:cNvPr id="1001" name="Marker Query"/>
          <p:cNvSpPr/>
          <p:nvPr/>
        </p:nvSpPr>
        <p:spPr>
          <a:xfrm>
            <a:off x="9496800" y="1396800"/>
            <a:ext cx="1526400" cy="954000"/>
          </a:xfrm>
          <a:prstGeom prst="roundRect">
            <a:avLst/>
          </a:prstGeom>
          <a:noFill/>
          <a:ln w="28575">
            <a:solidFill>
              <a:srgbClr val="C60C30"/>
            </a:solidFill>
            <a:prstDash val="dash"/>
          </a:ln>
        </p:spPr>
        <p:txBody>
          <a:bodyPr/>
          <a:lstStyle/>
          <a:p/>
        </p:txBody>
      </p:sp>
      <p:sp>
        <p:nvSpPr>
          <p:cNvPr id="1002" name="Marker Response"/>
          <p:cNvSpPr/>
          <p:nvPr/>
        </p:nvSpPr>
        <p:spPr>
          <a:xfrm>
            <a:off x="94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1001" name="Marker Chunks"/>
          <p:cNvSpPr/>
          <p:nvPr/>
        </p:nvSpPr>
        <p:spPr>
          <a:xfrm>
            <a:off x="496800" y="1396800"/>
            <a:ext cx="1526400" cy="954000"/>
          </a:xfrm>
          <a:prstGeom prst="roundRect">
            <a:avLst/>
          </a:prstGeom>
          <a:noFill/>
          <a:ln w="28575">
            <a:solidFill>
              <a:srgbClr val="C60C30"/>
            </a:solidFill>
            <a:prstDash val="dash"/>
          </a:ln>
        </p:spPr>
        <p:txBody>
          <a:bodyPr/>
          <a:lstStyle/>
          <a:p/>
        </p:txBody>
      </p:sp>
      <p:sp>
        <p:nvSpPr>
          <p:cNvPr id="1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p:txBody>
      </p:sp>
      <p:sp>
        <p:nvSpPr>
          <p:cNvPr id="1003" name="Marker Embeddings@4140000"/>
          <p:cNvSpPr/>
          <p:nvPr/>
        </p:nvSpPr>
        <p:spPr>
          <a:xfrm>
            <a:off x="4096800" y="2656800"/>
            <a:ext cx="1526400" cy="954000"/>
          </a:xfrm>
          <a:prstGeom prst="roundRect">
            <a:avLst/>
          </a:prstGeom>
          <a:noFill/>
          <a:ln w="28575">
            <a:solidFill>
              <a:srgbClr val="C60C30"/>
            </a:solidFill>
            <a:prstDash val="dash"/>
          </a:ln>
        </p:spPr>
        <p:txBody>
          <a:bodyPr/>
          <a:lstStyle/>
          <a:p/>
        </p:txBody>
      </p:sp>
      <p:sp>
        <p:nvSpPr>
          <p:cNvPr id="1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p:txBody>
      </p:sp>
      <p:sp>
        <p:nvSpPr>
          <p:cNvPr id="1005" name="Marker Raw Data Files"/>
          <p:cNvSpPr/>
          <p:nvPr/>
        </p:nvSpPr>
        <p:spPr>
          <a:xfrm>
            <a:off x="496800" y="4996800"/>
            <a:ext cx="1526400" cy="954000"/>
          </a:xfrm>
          <a:prstGeom prst="roundRect">
            <a:avLst/>
          </a:prstGeom>
          <a:noFill/>
          <a:ln w="28575">
            <a:solidFill>
              <a:srgbClr val="C60C30"/>
            </a:solidFill>
            <a:prstDash val="dash"/>
          </a:ln>
        </p:spPr>
        <p:txBody>
          <a:bodyPr/>
          <a:lstStyle/>
          <a:p/>
        </p:txBody>
      </p:sp>
      <p:sp>
        <p:nvSpPr>
          <p:cNvPr id="1006" name="Marker Vector Database"/>
          <p:cNvSpPr/>
          <p:nvPr/>
        </p:nvSpPr>
        <p:spPr>
          <a:xfrm>
            <a:off x="5896800" y="265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p:txBody>
      </p:sp>
      <p:sp>
        <p:nvSpPr>
          <p:cNvPr id="1001" name="Marker Embeddings@7740000"/>
          <p:cNvSpPr/>
          <p:nvPr/>
        </p:nvSpPr>
        <p:spPr>
          <a:xfrm>
            <a:off x="7696800" y="2656800"/>
            <a:ext cx="1526400" cy="954000"/>
          </a:xfrm>
          <a:prstGeom prst="roundRect">
            <a:avLst/>
          </a:prstGeom>
          <a:noFill/>
          <a:ln w="28575">
            <a:solidFill>
              <a:srgbClr val="C60C30"/>
            </a:solidFill>
            <a:prstDash val="dash"/>
          </a:ln>
        </p:spPr>
        <p:txBody>
          <a:bodyPr/>
          <a:lstStyle/>
          <a:p/>
        </p:txBody>
      </p:sp>
      <p:sp>
        <p:nvSpPr>
          <p:cNvPr id="1002"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
        <p:nvSpPr>
          <p:cNvPr id="1003" name="Marker Relevant Data"/>
          <p:cNvSpPr/>
          <p:nvPr/>
        </p:nvSpPr>
        <p:spPr>
          <a:xfrm>
            <a:off x="58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1001"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06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0000" y="432000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90000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660000" y="2520000"/>
            <a:ext cx="4680000" cy="108000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9000000" y="3600000"/>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40000" y="3960000"/>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9000000" y="414000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80000" y="432000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60000" y="45000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dirty="0" sz="3600"/>
              <a:t>Chunking entscheidet, was auffindbar bleibt</a:t>
            </a:r>
            <a:endParaRPr lang="de-CH" dirty="0" sz="3600"/>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900000" y="396000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20000" y="3060000"/>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220000" y="4320000"/>
            <a:ext cx="504056" cy="224739"/>
          </a:xfrm>
          <a:prstGeom prst="rect">
            <a:avLst/>
          </a:prstGeom>
        </p:spPr>
      </p:pic>
      <p:sp>
        <p:nvSpPr>
          <p:cNvPr id="68" name="Titel 1"/>
          <p:cNvSpPr>
            <a:spLocks noGrp="1"/>
          </p:cNvSpPr>
          <p:nvPr>
            <p:ph type="title"/>
          </p:nvPr>
        </p:nvSpPr>
        <p:spPr>
          <a:xfrm>
            <a:off x="482461" y="346633"/>
            <a:ext cx="11230114" cy="767605"/>
          </a:xfrm>
        </p:spPr>
        <p:txBody>
          <a:bodyPr/>
          <a:lstStyle/>
          <a:p>
            <a:r>
              <a:rPr lang="de-CH" dirty="0" sz="3600"/>
              <a:t>Reranking sortiert Kandidaten – es findet keine neuen</a:t>
            </a:r>
            <a:endParaRPr lang="de-CH" dirty="0" sz="3600"/>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900000" y="25200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60000" y="234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320000" y="234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6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60000" y="288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320000" y="288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6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780000" y="32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60000" y="342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320000" y="342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6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780000" y="378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60000" y="396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320000" y="396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60000" y="396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00000" y="2700000"/>
            <a:ext cx="720000" cy="72000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20000" y="234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180000" y="234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80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20000" y="288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180000" y="288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80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80000" y="2700000"/>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Graph Database"/>
          <p:cNvSpPr/>
          <p:nvPr/>
        </p:nvSpPr>
        <p:spPr>
          <a:xfrm>
            <a:off x="4096800" y="3736800"/>
            <a:ext cx="1526400" cy="954000"/>
          </a:xfrm>
          <a:prstGeom prst="roundRect">
            <a:avLst/>
          </a:prstGeom>
          <a:noFill/>
          <a:ln w="28575">
            <a:solidFill>
              <a:srgbClr val="C60C30"/>
            </a:solidFill>
            <a:prstDash val="dash"/>
          </a:ln>
        </p:spPr>
        <p:txBody>
          <a:bodyPr/>
          <a:lstStyle/>
          <a:p/>
        </p:txBody>
      </p:sp>
      <p:sp>
        <p:nvSpPr>
          <p:cNvPr id="1001" name="Marker Graph Engine"/>
          <p:cNvSpPr/>
          <p:nvPr/>
        </p:nvSpPr>
        <p:spPr>
          <a:xfrm>
            <a:off x="22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dirty="0" sz="3600"/>
              <a:t>GraphRAG verbindet mehrere Suchsignale</a:t>
            </a:r>
            <a:endParaRPr lang="de-CH" dirty="0" sz="3600"/>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dirty="0" sz="3600"/>
              <a:t>Hybrider GraphRAG verbindet mehrere Suchsignale</a:t>
            </a:r>
            <a:endParaRPr lang="de-CH" dirty="0" sz="3600"/>
          </a:p>
        </p:txBody>
      </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90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4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2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76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36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dirty="0" sz="2800"/>
              <a:t>Besseres Retrieval verbessert Antworten – garantiert sie aber nicht</a:t>
            </a:r>
            <a:endParaRPr lang="de-CH" dirty="0" sz="2800"/>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dirty="0" sz="3600"/>
              <a:t>Wahlmodul: Drei Gruppen, ein gemeinsamer Befund</a:t>
            </a:r>
            <a:endParaRPr lang="de-CH" dirty="0" sz="3600"/>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dirty="0" sz="3600"/>
              <a:t>Frameworkwahl ist eine Betriebsentscheidung</a:t>
            </a:r>
            <a:endParaRPr lang="de-CH" dirty="0" sz="3600"/>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dirty="0" sz="3600"/>
              <a:t>Drei Leitlinien für gutes RAG</a:t>
            </a:r>
            <a:endParaRPr lang="de-CH" dirty="0" sz="3600"/>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