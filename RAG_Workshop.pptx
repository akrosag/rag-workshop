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29.svg" ContentType="image/svg+xml"/>
  <Override PartName="/ppt/media/image30.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9.svg" ContentType="image/svg+xml"/>
  <Override PartName="/ppt/media/image51.svg" ContentType="image/svg+xml"/>
  <Override PartName="/ppt/media/image5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6"/>
  </p:notesMasterIdLst>
  <p:handoutMasterIdLst>
    <p:handoutMasterId r:id="rId27"/>
  </p:handoutMasterIdLst>
  <p:sldIdLst>
    <p:sldId id="290" r:id="rId5"/>
    <p:sldId id="279" r:id="rId6"/>
    <p:sldId id="296" r:id="rId7"/>
    <p:sldId id="301" r:id="rId8"/>
    <p:sldId id="263" r:id="rId9"/>
    <p:sldId id="317" r:id="rId10"/>
    <p:sldId id="319" r:id="rId11"/>
    <p:sldId id="266" r:id="rId12"/>
    <p:sldId id="307" r:id="rId13"/>
    <p:sldId id="322" r:id="rId14"/>
    <p:sldId id="323" r:id="rId33"/>
    <p:sldId id="324" r:id="rId34"/>
    <p:sldId id="325" r:id="rId35"/>
    <p:sldId id="308" r:id="rId15"/>
    <p:sldId id="326" r:id="rId36"/>
    <p:sldId id="256" r:id="rId16"/>
    <p:sldId id="313" r:id="rId17"/>
    <p:sldId id="327" r:id="rId37"/>
    <p:sldId id="320" r:id="rId18"/>
    <p:sldId id="321" r:id="rId19"/>
    <p:sldId id="271" r:id="rId20"/>
    <p:sldId id="272" r:id="rId21"/>
    <p:sldId id="274" r:id="rId22"/>
    <p:sldId id="275" r:id="rId23"/>
    <p:sldId id="276" r:id="rId24"/>
    <p:sldId id="295" r:id="rId25"/>
  </p:sldIdLst>
  <p:sldSz cx="12192000" cy="6858000"/>
  <p:notesSz cx="6858000" cy="9144000"/>
  <p:custDataLst>
    <p:tags r:id="rId28"/>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08"/>
            <p14:sldId id="256"/>
            <p14:sldId id="313"/>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6" autoAdjust="0"/>
    <p:restoredTop sz="86331" autoAdjust="0"/>
  </p:normalViewPr>
  <p:slideViewPr>
    <p:cSldViewPr snapToGrid="0">
      <p:cViewPr varScale="1">
        <p:scale>
          <a:sx n="111" d="100"/>
          <a:sy n="111" d="100"/>
        </p:scale>
        <p:origin x="513" y="51"/>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4.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notesMaster" Target="notesMasters/notesMaster1.xml"/><Relationship Id="rId27" Type="http://schemas.openxmlformats.org/officeDocument/2006/relationships/handoutMaster" Target="handoutMasters/handoutMaster1.xml"/><Relationship Id="rId28" Type="http://schemas.openxmlformats.org/officeDocument/2006/relationships/tags" Target="tags/tag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5.xml"/><Relationship Id="rId37"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08.08.2026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08.08.2026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08.08.2026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08.08.2026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08.08.2026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08.08.2026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2" Type="http://schemas.openxmlformats.org/officeDocument/2006/relationships/theme" Target="../theme/theme1.xml"/><Relationship Id="rId13" Type="http://schemas.openxmlformats.org/officeDocument/2006/relationships/tags" Target="../tags/tag2.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3"/>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4" imgW="306" imgH="306" progId="TCLayout.ActiveDocument.1">
                  <p:embed/>
                </p:oleObj>
              </mc:Choice>
              <mc:Fallback>
                <p:oleObj name="think-cell Folie" r:id="rId14" imgW="306" imgH="306" progId="TCLayout.ActiveDocument.1">
                  <p:embed/>
                  <p:pic>
                    <p:nvPicPr>
                      <p:cNvPr id="0" name=""/>
                      <p:cNvPicPr/>
                      <p:nvPr/>
                    </p:nvPicPr>
                    <p:blipFill>
                      <a:blip r:embed="rId15"/>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08.08.2026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6"/>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6" Type="http://schemas.openxmlformats.org/officeDocument/2006/relationships/image" Target="../media/image10.png"/><Relationship Id="rId7" Type="http://schemas.openxmlformats.org/officeDocument/2006/relationships/image" Target="../media/image42.svg"/><Relationship Id="rId8" Type="http://schemas.openxmlformats.org/officeDocument/2006/relationships/image" Target="../media/image12.png"/><Relationship Id="rId9" Type="http://schemas.openxmlformats.org/officeDocument/2006/relationships/image" Target="../media/image44.svg"/><Relationship Id="rId10" Type="http://schemas.openxmlformats.org/officeDocument/2006/relationships/image" Target="../media/image13.png"/><Relationship Id="rId11" Type="http://schemas.openxmlformats.org/officeDocument/2006/relationships/image" Target="../media/image46.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5" Type="http://schemas.openxmlformats.org/officeDocument/2006/relationships/image" Target="../media/image6.png"/><Relationship Id="rId6" Type="http://schemas.openxmlformats.org/officeDocument/2006/relationships/image" Target="../media/image40.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9" Type="http://schemas.openxmlformats.org/officeDocument/2006/relationships/image" Target="../media/image9.png"/><Relationship Id="rId16" Type="http://schemas.openxmlformats.org/officeDocument/2006/relationships/image" Target="../media/image26.pn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0.svg"/><Relationship Id="rId22" Type="http://schemas.openxmlformats.org/officeDocument/2006/relationships/image" Target="../media/image32.png"/><Relationship Id="rId23" Type="http://schemas.openxmlformats.org/officeDocument/2006/relationships/image" Target="../media/image31.svg"/><Relationship Id="rId24" Type="http://schemas.openxmlformats.org/officeDocument/2006/relationships/image" Target="../media/image34.png"/><Relationship Id="rId25" Type="http://schemas.openxmlformats.org/officeDocument/2006/relationships/image" Target="../media/image49.svg"/><Relationship Id="rId26" Type="http://schemas.openxmlformats.org/officeDocument/2006/relationships/image" Target="../media/image36.png"/><Relationship Id="rId27" Type="http://schemas.openxmlformats.org/officeDocument/2006/relationships/image" Target="../media/image33.svg"/><Relationship Id="rId28" Type="http://schemas.openxmlformats.org/officeDocument/2006/relationships/image" Target="../media/image35.svg"/><Relationship Id="rId29" Type="http://schemas.openxmlformats.org/officeDocument/2006/relationships/image" Target="../media/image37.svg"/><Relationship Id="rId30" Type="http://schemas.openxmlformats.org/officeDocument/2006/relationships/image" Target="../media/image40.png"/><Relationship Id="rId31" Type="http://schemas.openxmlformats.org/officeDocument/2006/relationships/image" Target="../media/image41.svg"/><Relationship Id="rId32" Type="http://schemas.openxmlformats.org/officeDocument/2006/relationships/image" Target="../media/image39.svg"/><Relationship Id="rId33" Type="http://schemas.openxmlformats.org/officeDocument/2006/relationships/image" Target="../media/image43.svg"/><Relationship Id="rId34" Type="http://schemas.openxmlformats.org/officeDocument/2006/relationships/image" Target="../media/image44.png"/><Relationship Id="rId35" Type="http://schemas.openxmlformats.org/officeDocument/2006/relationships/image" Target="../media/image45.svg"/><Relationship Id="rId36" Type="http://schemas.openxmlformats.org/officeDocument/2006/relationships/image" Target="../media/image46.png"/><Relationship Id="rId37" Type="http://schemas.openxmlformats.org/officeDocument/2006/relationships/image" Target="../media/image47.svg"/><Relationship Id="rId38" Type="http://schemas.openxmlformats.org/officeDocument/2006/relationships/image" Target="../media/image48.png"/><Relationship Id="rId39" Type="http://schemas.openxmlformats.org/officeDocument/2006/relationships/image" Target="../media/image11.png"/><Relationship Id="rId40" Type="http://schemas.openxmlformats.org/officeDocument/2006/relationships/image" Target="../media/image50.png"/><Relationship Id="rId41" Type="http://schemas.openxmlformats.org/officeDocument/2006/relationships/image" Target="../media/image51.svg"/><Relationship Id="rId42" Type="http://schemas.openxmlformats.org/officeDocument/2006/relationships/image" Target="../media/image52.png"/><Relationship Id="rId43" Type="http://schemas.openxmlformats.org/officeDocument/2006/relationships/image" Target="../media/image53.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24.jpg"/><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08.08.2026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08.08.2026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08.08.2026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08.08.2026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720000" y="1620000"/>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7020000" y="1620000"/>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0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r:embed="rId8">
            <a:extLst>
              <a:ext uri="{96DAC541-7B7A-43D3-8B79-37D633B846F1}">
                <ns1:svgBlip xmlns:ns1="http://schemas.microsoft.com/office/drawing/2016/SVG/main" r:embed="rId9"/>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r:embed="rId6">
            <a:extLst>
              <a:ext uri="{96DAC541-7B7A-43D3-8B79-37D633B846F1}">
                <ns0:svgBlip xmlns:ns0="http://schemas.microsoft.com/office/drawing/2016/SVG/main" r:embed="rId7"/>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r:embed="rId10">
            <a:extLst>
              <a:ext uri="{96DAC541-7B7A-43D3-8B79-37D633B846F1}">
                <ns2:svgBlip xmlns:ns2="http://schemas.microsoft.com/office/drawing/2016/SVG/main" r:embed="rId11"/>
              </a:ext>
            </a:extLst>
          </a:blip>
          <a:stretch>
            <a:fillRect/>
          </a:stretch>
        </p:blipFill>
        <p:spPr>
          <a:xfrm>
            <a:off x="900000" y="5040000"/>
            <a:ext cx="612000" cy="6120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0000" y="504000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0000" y="540000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32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08.08.2026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720000" y="4860000"/>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72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72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00000" y="4320000"/>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0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0000" y="4680000"/>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60000" y="4860000"/>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60000" y="4320000"/>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60000" y="5040000"/>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320000" y="2700000"/>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940771" y="2853888"/>
            <a:ext cx="2379228" cy="1286111"/>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39500" y="2853888"/>
            <a:ext cx="2641271" cy="1286111"/>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720000" y="4140000"/>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00000" y="4140000"/>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80000" y="4140000"/>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60000" y="4140000"/>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00000" y="4860000"/>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4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2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08.08.2026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6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1 · Chat</a:t>
            </a:r>
          </a:p>
          <a:p>
            <a:pPr algn="l">
              <a:buNone/>
              <a:defRPr sz="2400">
                <a:solidFill>
                  <a:srgbClr val="000000"/>
                </a:solidFill>
                <a:latin typeface="Arial"/>
                <a:ea typeface="Arial"/>
                <a:cs typeface="Arial"/>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30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2 · Vector RAG</a:t>
            </a:r>
          </a:p>
          <a:p>
            <a:pPr algn="l">
              <a:buNone/>
              <a:defRPr sz="2400">
                <a:solidFill>
                  <a:srgbClr val="000000"/>
                </a:solidFill>
                <a:latin typeface="Arial"/>
                <a:ea typeface="Arial"/>
                <a:cs typeface="Arial"/>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6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3 · Qualität</a:t>
            </a:r>
          </a:p>
          <a:p>
            <a:pPr algn="l">
              <a:buNone/>
              <a:defRPr sz="2400">
                <a:solidFill>
                  <a:srgbClr val="000000"/>
                </a:solidFill>
                <a:latin typeface="Arial"/>
                <a:ea typeface="Arial"/>
                <a:cs typeface="Arial"/>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30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4 · Graph + Eval</a:t>
            </a:r>
          </a:p>
          <a:p>
            <a:pPr algn="l">
              <a:buNone/>
              <a:defRPr sz="2400">
                <a:solidFill>
                  <a:srgbClr val="000000"/>
                </a:solidFill>
                <a:latin typeface="Arial"/>
                <a:ea typeface="Arial"/>
                <a:cs typeface="Arial"/>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60000" y="1260000"/>
            <a:ext cx="11520000" cy="46800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60000" y="25200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20000" y="3060000"/>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32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20000" y="3060000"/>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300000" y="3060000"/>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0000" y="3060000"/>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08.08.2026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LLM"/>
          <p:cNvSpPr/>
          <p:nvPr/>
        </p:nvSpPr>
        <p:spPr>
          <a:xfrm>
            <a:off x="7696800" y="4996800"/>
            <a:ext cx="1526400" cy="954000"/>
          </a:xfrm>
          <a:prstGeom prst="roundRect">
            <a:avLst/>
          </a:prstGeom>
          <a:noFill/>
          <a:ln w="28575">
            <a:solidFill>
              <a:srgbClr val="C60C30"/>
            </a:solidFill>
            <a:prstDash val="dash"/>
          </a:ln>
        </p:spPr>
        <p:txBody>
          <a:bodyPr/>
          <a:lstStyle/>
          <a:p/>
        </p:txBody>
      </p:sp>
      <p:sp>
        <p:nvSpPr>
          <p:cNvPr id="1001" name="Marker Query"/>
          <p:cNvSpPr/>
          <p:nvPr/>
        </p:nvSpPr>
        <p:spPr>
          <a:xfrm>
            <a:off x="9496800" y="1396800"/>
            <a:ext cx="1526400" cy="954000"/>
          </a:xfrm>
          <a:prstGeom prst="roundRect">
            <a:avLst/>
          </a:prstGeom>
          <a:noFill/>
          <a:ln w="28575">
            <a:solidFill>
              <a:srgbClr val="C60C30"/>
            </a:solidFill>
            <a:prstDash val="dash"/>
          </a:ln>
        </p:spPr>
        <p:txBody>
          <a:bodyPr/>
          <a:lstStyle/>
          <a:p/>
        </p:txBody>
      </p:sp>
      <p:sp>
        <p:nvSpPr>
          <p:cNvPr id="1002" name="Marker Response"/>
          <p:cNvSpPr/>
          <p:nvPr/>
        </p:nvSpPr>
        <p:spPr>
          <a:xfrm>
            <a:off x="9496800" y="499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Chunking"/>
          <p:cNvSpPr/>
          <p:nvPr/>
        </p:nvSpPr>
        <p:spPr>
          <a:xfrm>
            <a:off x="496800" y="2656800"/>
            <a:ext cx="1526400" cy="954000"/>
          </a:xfrm>
          <a:prstGeom prst="roundRect">
            <a:avLst/>
          </a:prstGeom>
          <a:noFill/>
          <a:ln w="28575">
            <a:solidFill>
              <a:srgbClr val="C60C30"/>
            </a:solidFill>
            <a:prstDash val="dash"/>
          </a:ln>
        </p:spPr>
        <p:txBody>
          <a:bodyPr/>
          <a:lstStyle/>
          <a:p/>
        </p:txBody>
      </p:sp>
      <p:sp>
        <p:nvSpPr>
          <p:cNvPr id="1001" name="Marker Chunks"/>
          <p:cNvSpPr/>
          <p:nvPr/>
        </p:nvSpPr>
        <p:spPr>
          <a:xfrm>
            <a:off x="496800" y="1396800"/>
            <a:ext cx="1526400" cy="954000"/>
          </a:xfrm>
          <a:prstGeom prst="roundRect">
            <a:avLst/>
          </a:prstGeom>
          <a:noFill/>
          <a:ln w="28575">
            <a:solidFill>
              <a:srgbClr val="C60C30"/>
            </a:solidFill>
            <a:prstDash val="dash"/>
          </a:ln>
        </p:spPr>
        <p:txBody>
          <a:bodyPr/>
          <a:lstStyle/>
          <a:p/>
        </p:txBody>
      </p:sp>
      <p:sp>
        <p:nvSpPr>
          <p:cNvPr id="1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p:txBody>
      </p:sp>
      <p:sp>
        <p:nvSpPr>
          <p:cNvPr id="1003" name="Marker Embeddings@4140000"/>
          <p:cNvSpPr/>
          <p:nvPr/>
        </p:nvSpPr>
        <p:spPr>
          <a:xfrm>
            <a:off x="4096800" y="2656800"/>
            <a:ext cx="1526400" cy="954000"/>
          </a:xfrm>
          <a:prstGeom prst="roundRect">
            <a:avLst/>
          </a:prstGeom>
          <a:noFill/>
          <a:ln w="28575">
            <a:solidFill>
              <a:srgbClr val="C60C30"/>
            </a:solidFill>
            <a:prstDash val="dash"/>
          </a:ln>
        </p:spPr>
        <p:txBody>
          <a:bodyPr/>
          <a:lstStyle/>
          <a:p/>
        </p:txBody>
      </p:sp>
      <p:sp>
        <p:nvSpPr>
          <p:cNvPr id="1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p:txBody>
      </p:sp>
      <p:sp>
        <p:nvSpPr>
          <p:cNvPr id="1005" name="Marker Raw Data Files"/>
          <p:cNvSpPr/>
          <p:nvPr/>
        </p:nvSpPr>
        <p:spPr>
          <a:xfrm>
            <a:off x="496800" y="4996800"/>
            <a:ext cx="1526400" cy="954000"/>
          </a:xfrm>
          <a:prstGeom prst="roundRect">
            <a:avLst/>
          </a:prstGeom>
          <a:noFill/>
          <a:ln w="28575">
            <a:solidFill>
              <a:srgbClr val="C60C30"/>
            </a:solidFill>
            <a:prstDash val="dash"/>
          </a:ln>
        </p:spPr>
        <p:txBody>
          <a:bodyPr/>
          <a:lstStyle/>
          <a:p/>
        </p:txBody>
      </p:sp>
      <p:sp>
        <p:nvSpPr>
          <p:cNvPr id="1006" name="Marker Vector Database"/>
          <p:cNvSpPr/>
          <p:nvPr/>
        </p:nvSpPr>
        <p:spPr>
          <a:xfrm>
            <a:off x="5896800" y="265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p:txBody>
      </p:sp>
      <p:sp>
        <p:nvSpPr>
          <p:cNvPr id="1001" name="Marker Embeddings@7740000"/>
          <p:cNvSpPr/>
          <p:nvPr/>
        </p:nvSpPr>
        <p:spPr>
          <a:xfrm>
            <a:off x="7696800" y="2656800"/>
            <a:ext cx="1526400" cy="954000"/>
          </a:xfrm>
          <a:prstGeom prst="roundRect">
            <a:avLst/>
          </a:prstGeom>
          <a:noFill/>
          <a:ln w="28575">
            <a:solidFill>
              <a:srgbClr val="C60C30"/>
            </a:solidFill>
            <a:prstDash val="dash"/>
          </a:ln>
        </p:spPr>
        <p:txBody>
          <a:bodyPr/>
          <a:lstStyle/>
          <a:p/>
        </p:txBody>
      </p:sp>
      <p:sp>
        <p:nvSpPr>
          <p:cNvPr id="1002" name="Marker Ranking"/>
          <p:cNvSpPr/>
          <p:nvPr/>
        </p:nvSpPr>
        <p:spPr>
          <a:xfrm>
            <a:off x="5896800" y="3736800"/>
            <a:ext cx="1526400" cy="954000"/>
          </a:xfrm>
          <a:prstGeom prst="roundRect">
            <a:avLst/>
          </a:prstGeom>
          <a:noFill/>
          <a:ln w="28575">
            <a:solidFill>
              <a:srgbClr val="C60C30"/>
            </a:solidFill>
            <a:prstDash val="dash"/>
          </a:ln>
        </p:spPr>
        <p:txBody>
          <a:bodyPr/>
          <a:lstStyle/>
          <a:p/>
        </p:txBody>
      </p:sp>
      <p:sp>
        <p:nvSpPr>
          <p:cNvPr id="1003" name="Marker Relevant Data"/>
          <p:cNvSpPr/>
          <p:nvPr/>
        </p:nvSpPr>
        <p:spPr>
          <a:xfrm>
            <a:off x="5896800" y="499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08.08.2026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11</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Chunking"/>
          <p:cNvSpPr/>
          <p:nvPr/>
        </p:nvSpPr>
        <p:spPr>
          <a:xfrm>
            <a:off x="496800" y="2656800"/>
            <a:ext cx="1526400" cy="954000"/>
          </a:xfrm>
          <a:prstGeom prst="roundRect">
            <a:avLst/>
          </a:prstGeom>
          <a:noFill/>
          <a:ln w="28575">
            <a:solidFill>
              <a:srgbClr val="C60C30"/>
            </a:solidFill>
            <a:prstDash val="dash"/>
          </a:ln>
        </p:spPr>
        <p:txBody>
          <a:bodyPr/>
          <a:lstStyle/>
          <a:p/>
        </p:txBody>
      </p:sp>
      <p:sp>
        <p:nvSpPr>
          <p:cNvPr id="1001" name="Marker Ranking"/>
          <p:cNvSpPr/>
          <p:nvPr/>
        </p:nvSpPr>
        <p:spPr>
          <a:xfrm>
            <a:off x="5896800" y="373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06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0000" y="432000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90000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660000" y="2520000"/>
            <a:ext cx="4680000" cy="108000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9000000" y="3600000"/>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40000" y="3960000"/>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9000000" y="414000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80000" y="432000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60000" y="45000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dirty="0" sz="3600"/>
              <a:t>Chunking entscheidet, was auffindbar bleibt</a:t>
            </a:r>
            <a:endParaRPr lang="de-CH" dirty="0" sz="3600"/>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900000" y="396000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20000" y="3060000"/>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dirty="0" sz="3600"/>
              <a:t>Reranking sortiert Kandidaten – es findet keine neuen</a:t>
            </a:r>
            <a:endParaRPr lang="de-CH" dirty="0" sz="3600"/>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20000" y="198000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720000" y="2340000"/>
            <a:ext cx="2160000" cy="72000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900000" y="25200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880000" y="2700000"/>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60000" y="198000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60000" y="234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320000" y="234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6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60000" y="288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320000" y="288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6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780000" y="32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60000" y="342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320000" y="342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6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780000" y="378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60000" y="396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320000" y="396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60000" y="3960000"/>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40000" y="360000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40000" y="378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20000" y="198000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20000" y="234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180000" y="234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80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20000" y="288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180000" y="288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80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820000" y="324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20000" y="342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180000" y="342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80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820000" y="37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20000" y="396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180000" y="396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800000" y="3960000"/>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60000" y="5040000"/>
            <a:ext cx="7740000" cy="720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520000" y="5040000"/>
            <a:ext cx="7200000" cy="54000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r:embed="rId5">
            <a:extLst>
              <a:ext uri="{96DAC541-7B7A-43D3-8B79-37D633B846F1}">
                <ns0:svgBlip xmlns:ns0="http://schemas.microsoft.com/office/drawing/2016/SVG/main" r:embed="rId6"/>
              </a:ext>
            </a:extLst>
          </a:blip>
          <a:stretch>
            <a:fillRect/>
          </a:stretch>
        </p:blipFill>
        <p:spPr>
          <a:xfrm>
            <a:off x="7200000"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 presetClass="entr" presetSubtype="0" fill="hold" grpId="0"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41"/>
                                        </p:tgtEl>
                                        <p:attrNameLst>
                                          <p:attrName>style.visibility</p:attrName>
                                        </p:attrNameLst>
                                      </p:cBhvr>
                                      <p:to>
                                        <p:strVal val="visible"/>
                                      </p:to>
                                    </p:set>
                                  </p:childTnLst>
                                </p:cTn>
                              </p:par>
                              <p:par>
                                <p:cTn id="37" presetID="1" presetClass="entr" presetSubtype="0" fill="hold" grpId="0" nodeType="withEffect" nodePh="1">
                                  <p:stCondLst>
                                    <p:cond delay="0"/>
                                  </p:stCondLst>
                                  <p:endCondLst>
                                    <p:cond evt="begin" delay="0">
                                      <p:tn val="37"/>
                                    </p:cond>
                                  </p:endCondLst>
                                  <p:childTnLst>
                                    <p:set>
                                      <p:cBhvr>
                                        <p:cTn id="38" dur="1" fill="hold">
                                          <p:stCondLst>
                                            <p:cond delay="0"/>
                                          </p:stCondLst>
                                        </p:cTn>
                                        <p:tgtEl>
                                          <p:spTgt spid="4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4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8"/>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9"/>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2"/>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63"/>
                                        </p:tgtEl>
                                        <p:attrNameLst>
                                          <p:attrName>style.visibility</p:attrName>
                                        </p:attrNameLst>
                                      </p:cBhvr>
                                      <p:to>
                                        <p:strVal val="visible"/>
                                      </p:to>
                                    </p:set>
                                  </p:childTnLst>
                                </p:cTn>
                              </p:par>
                              <p:par>
                                <p:cTn id="77" presetID="1" presetClass="entr" presetSubtype="0" fill="hold" grpId="0" nodeType="withEffect" nodePh="1">
                                  <p:stCondLst>
                                    <p:cond delay="0"/>
                                  </p:stCondLst>
                                  <p:endCondLst>
                                    <p:cond evt="begin" delay="0">
                                      <p:tn val="77"/>
                                    </p:cond>
                                  </p:endCondLst>
                                  <p:childTnLst>
                                    <p:set>
                                      <p:cBhvr>
                                        <p:cTn id="78" dur="1" fill="hold">
                                          <p:stCondLst>
                                            <p:cond delay="0"/>
                                          </p:stCondLst>
                                        </p:cTn>
                                        <p:tgtEl>
                                          <p:spTgt spid="64"/>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grpId="0" nodeType="click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16">
              <a:extLst>
                <a:ext uri="{96DAC541-7B7A-43D3-8B79-37D633B846F1}">
                  <ns0:svgBlip xmlns:ns0="http://schemas.microsoft.com/office/drawing/2016/SVG/main" r:embed="rId31"/>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18">
              <a:extLst>
                <a:ext uri="{96DAC541-7B7A-43D3-8B79-37D633B846F1}">
                  <ns1:svgBlip xmlns:ns1="http://schemas.microsoft.com/office/drawing/2016/SVG/main" r:embed="rId32"/>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20">
              <a:extLst>
                <a:ext uri="{96DAC541-7B7A-43D3-8B79-37D633B846F1}">
                  <ns2:svgBlip xmlns:ns2="http://schemas.microsoft.com/office/drawing/2016/SVG/main" r:embed="rId33"/>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22">
              <a:extLst>
                <a:ext uri="{96DAC541-7B7A-43D3-8B79-37D633B846F1}">
                  <ns3:svgBlip xmlns:ns3="http://schemas.microsoft.com/office/drawing/2016/SVG/main" r:embed="rId2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24">
              <a:extLst>
                <a:ext uri="{96DAC541-7B7A-43D3-8B79-37D633B846F1}">
                  <ns4:svgBlip xmlns:ns4="http://schemas.microsoft.com/office/drawing/2016/SVG/main" r:embed="rId35"/>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26">
              <a:extLst>
                <a:ext uri="{96DAC541-7B7A-43D3-8B79-37D633B846F1}">
                  <ns5:svgBlip xmlns:ns5="http://schemas.microsoft.com/office/drawing/2016/SVG/main" r:embed="rId2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9">
              <a:extLst>
                <a:ext uri="{96DAC541-7B7A-43D3-8B79-37D633B846F1}">
                  <ns6:svgBlip xmlns:ns6="http://schemas.microsoft.com/office/drawing/2016/SVG/main" r:embed="rId3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30">
              <a:extLst>
                <a:ext uri="{96DAC541-7B7A-43D3-8B79-37D633B846F1}">
                  <ns7:svgBlip xmlns:ns7="http://schemas.microsoft.com/office/drawing/2016/SVG/main" r:embed="rId2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39">
              <a:extLst>
                <a:ext uri="{96DAC541-7B7A-43D3-8B79-37D633B846F1}">
                  <ns8:svgBlip xmlns:ns8="http://schemas.microsoft.com/office/drawing/2016/SVG/main" r:embed="rId2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34">
              <a:extLst>
                <a:ext uri="{96DAC541-7B7A-43D3-8B79-37D633B846F1}">
                  <ns9:svgBlip xmlns:ns9="http://schemas.microsoft.com/office/drawing/2016/SVG/main" r:embed="rId4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39">
              <a:extLst>
                <a:ext uri="{96DAC541-7B7A-43D3-8B79-37D633B846F1}">
                  <ns10:svgBlip xmlns:ns10="http://schemas.microsoft.com/office/drawing/2016/SVG/main" r:embed="rId2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36">
              <a:extLst>
                <a:ext uri="{96DAC541-7B7A-43D3-8B79-37D633B846F1}">
                  <ns11:svgBlip xmlns:ns11="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26">
              <a:extLst>
                <a:ext uri="{96DAC541-7B7A-43D3-8B79-37D633B846F1}">
                  <ns12:svgBlip xmlns:ns12="http://schemas.microsoft.com/office/drawing/2016/SVG/main" r:embed="rId2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38">
              <a:extLst>
                <a:ext uri="{96DAC541-7B7A-43D3-8B79-37D633B846F1}">
                  <ns13:svgBlip xmlns:ns13="http://schemas.microsoft.com/office/drawing/2016/SVG/main" r:embed="rId4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40">
              <a:extLst>
                <a:ext uri="{96DAC541-7B7A-43D3-8B79-37D633B846F1}">
                  <ns14:svgBlip xmlns:ns14="http://schemas.microsoft.com/office/drawing/2016/SVG/main" r:embed="rId2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42">
              <a:extLst>
                <a:ext uri="{96DAC541-7B7A-43D3-8B79-37D633B846F1}">
                  <ns15:svgBlip xmlns:ns15="http://schemas.microsoft.com/office/drawing/2016/SVG/main" r:embed="rId1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0" name="Marker Graph Database"/>
          <p:cNvSpPr/>
          <p:nvPr/>
        </p:nvSpPr>
        <p:spPr>
          <a:xfrm>
            <a:off x="4096800" y="3736800"/>
            <a:ext cx="1526400" cy="954000"/>
          </a:xfrm>
          <a:prstGeom prst="roundRect">
            <a:avLst/>
          </a:prstGeom>
          <a:noFill/>
          <a:ln w="28575">
            <a:solidFill>
              <a:srgbClr val="C60C30"/>
            </a:solidFill>
            <a:prstDash val="dash"/>
          </a:ln>
        </p:spPr>
        <p:txBody>
          <a:bodyPr/>
          <a:lstStyle/>
          <a:p/>
        </p:txBody>
      </p:sp>
      <p:sp>
        <p:nvSpPr>
          <p:cNvPr id="1001" name="Marker Graph Engine"/>
          <p:cNvSpPr/>
          <p:nvPr/>
        </p:nvSpPr>
        <p:spPr>
          <a:xfrm>
            <a:off x="2296800" y="373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540000" y="1260000"/>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8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1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54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80000" y="252000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0000" y="3240000"/>
            <a:ext cx="1260000" cy="7200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520000" y="198000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40000" y="2340000"/>
            <a:ext cx="2700000" cy="216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520000" y="2520000"/>
            <a:ext cx="2160000" cy="720000"/>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00000" y="28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520000" y="3420000"/>
            <a:ext cx="2160000" cy="720000"/>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00000" y="36000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2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220000" y="2700000"/>
            <a:ext cx="1260000" cy="126000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80000" y="3060000"/>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20000" y="3960000"/>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0000" y="198000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7020000" y="2340000"/>
            <a:ext cx="2340000" cy="216000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60000" y="306000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60000" y="306000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80000" y="27000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80000" y="2880000"/>
            <a:ext cx="540000" cy="54000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100000" y="2520000"/>
            <a:ext cx="540000" cy="54000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280000" y="3240000"/>
            <a:ext cx="540000" cy="54000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80000" y="306000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00000" y="270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80000" y="342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00000" y="3960000"/>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720000" y="198000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40000" y="2340000"/>
            <a:ext cx="2160000" cy="216000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900000" y="25200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900000" y="3060000"/>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900000" y="3240000"/>
            <a:ext cx="1620000" cy="9000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80000" y="5040000"/>
            <a:ext cx="8280000" cy="7200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160000" y="5040000"/>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160000" y="540000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dirty="0" sz="3600"/>
              <a:t>GraphRAG verbindet mehrere Suchsignale</a:t>
            </a:r>
            <a:endParaRPr lang="de-CH" dirty="0" sz="3600"/>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52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04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20000" y="18000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260000" y="216000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20000" y="25200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3060000" y="18000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60000" y="21600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00000" y="1440000"/>
            <a:ext cx="2700000" cy="1440000"/>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580000" y="1620000"/>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300000" y="2160000"/>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300000" y="2160000"/>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840000" y="1980000"/>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120000" y="1980000"/>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660000" y="1800000"/>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60000" y="2340000"/>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120000" y="216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60000" y="198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60000" y="2520000"/>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00000" y="2520000"/>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dirty="0" sz="3600"/>
              <a:t>Hybrider GraphRAG verbindet mehrere Suchsignale</a:t>
            </a:r>
            <a:endParaRPr lang="de-CH" dirty="0" sz="3600"/>
          </a:p>
        </p:txBody>
      </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90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90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4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6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2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2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7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76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60000" y="1980000"/>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6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0" y="28800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3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360000" y="28800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9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160000" y="5040000"/>
            <a:ext cx="7920000" cy="72000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40000" y="52200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dirty="0" sz="2800"/>
              <a:t>Besseres Retrieval verbessert Antworten – garantiert sie aber nicht</a:t>
            </a:r>
            <a:endParaRPr lang="de-CH" dirty="0" sz="2800"/>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40000" y="1980000"/>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60000" y="1980000"/>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4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6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8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50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40000" y="540000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dirty="0" sz="3600"/>
              <a:t>Wahlmodul: Drei Gruppen, ein gemeinsamer Befund</a:t>
            </a:r>
            <a:endParaRPr lang="de-CH" dirty="0" sz="3600"/>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9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9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5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5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792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2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340000" y="54000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dirty="0" sz="3600"/>
              <a:t>Frameworkwahl ist eine Betriebsentscheidung</a:t>
            </a:r>
            <a:endParaRPr lang="de-CH" dirty="0" sz="3600"/>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0000" y="5580000"/>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dirty="0" sz="3600"/>
              <a:t>Drei Leitlinien für gutes RAG</a:t>
            </a:r>
            <a:endParaRPr lang="de-CH" dirty="0" sz="3600"/>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08.08.2026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21</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34436CE-240F-4EE4-9FC5-4255E6874223}">
  <ds:schemaRefs>
    <ds:schemaRef ds:uri="http://schemas.microsoft.com/sharepoint/v3/contenttype/forms"/>
  </ds:schemaRefs>
</ds:datastoreItem>
</file>

<file path=customXml/itemProps3.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3970</Words>
  <Application>Microsoft Office PowerPoint</Application>
  <PresentationFormat>Breitbild</PresentationFormat>
  <Paragraphs>565</Paragraphs>
  <Slides>21</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21</vt:i4>
      </vt:variant>
    </vt:vector>
  </HeadingPairs>
  <TitlesOfParts>
    <vt:vector size="25"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Advanced RAG</vt:lpstr>
      <vt:lpstr>PowerPoint-Präsentation</vt:lpstr>
      <vt:lpstr>PowerPoint-Präsentation</vt:lpstr>
      <vt:lpstr>PowerPoint-Präsentation</vt:lpstr>
      <vt:lpstr>PowerPoint-Präsentation</vt:lpstr>
      <vt:lpstr>GraphRAG: höchster Article-Recall, kleinster Kontext</vt:lpstr>
      <vt:lpstr>PowerPoint-Präsentation</vt:lpstr>
      <vt:lpstr>PowerPoint-Präsentation</vt:lpstr>
      <vt:lpstr>PowerPoint-Präsentation</vt:lpstr>
      <vt:lpstr>PowerPoint-Präsentation</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43</cp:revision>
  <dcterms:created xsi:type="dcterms:W3CDTF">2026-08-04T12:09:36Z</dcterms:created>
  <dcterms:modified xsi:type="dcterms:W3CDTF">2026-08-08T14:32:16Z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