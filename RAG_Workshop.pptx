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5" d="100"/>
          <a:sy n="105" d="100"/>
        </p:scale>
        <p:origin x="114" y="17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3.png"/><Relationship Id="rId15" Type="http://schemas.openxmlformats.org/officeDocument/2006/relationships/image" Target="../media/image24.svg"/><Relationship Id="rId16" Type="http://schemas.openxmlformats.org/officeDocument/2006/relationships/image" Target="../media/image25.png"/><Relationship Id="rId17" Type="http://schemas.openxmlformats.org/officeDocument/2006/relationships/image" Target="../media/image26.svg"/><Relationship Id="rId18" Type="http://schemas.openxmlformats.org/officeDocument/2006/relationships/image" Target="../media/image27.png"/><Relationship Id="rId19" Type="http://schemas.openxmlformats.org/officeDocument/2006/relationships/image" Target="../media/image28.svg"/><Relationship Id="rId20" Type="http://schemas.openxmlformats.org/officeDocument/2006/relationships/image" Target="../media/image29.png"/><Relationship Id="rId21" Type="http://schemas.openxmlformats.org/officeDocument/2006/relationships/image" Target="../media/image30.svg"/><Relationship Id="rId22" Type="http://schemas.openxmlformats.org/officeDocument/2006/relationships/image" Target="../media/image31.png"/><Relationship Id="rId23" Type="http://schemas.openxmlformats.org/officeDocument/2006/relationships/image" Target="../media/image32.svg"/><Relationship Id="rId24" Type="http://schemas.openxmlformats.org/officeDocument/2006/relationships/image" Target="../media/image33.png"/><Relationship Id="rId25" Type="http://schemas.openxmlformats.org/officeDocument/2006/relationships/image" Target="../media/image34.svg"/><Relationship Id="rId26" Type="http://schemas.openxmlformats.org/officeDocument/2006/relationships/image" Target="../media/image35.png"/><Relationship Id="rId27" Type="http://schemas.openxmlformats.org/officeDocument/2006/relationships/image" Target="../media/image36.svg"/><Relationship Id="rId28" Type="http://schemas.openxmlformats.org/officeDocument/2006/relationships/image" Target="../media/image37.png"/><Relationship Id="rId29" Type="http://schemas.openxmlformats.org/officeDocument/2006/relationships/image" Target="../media/image38.svg"/><Relationship Id="rId30" Type="http://schemas.openxmlformats.org/officeDocument/2006/relationships/image" Target="../media/image39.png"/><Relationship Id="rId31" Type="http://schemas.openxmlformats.org/officeDocument/2006/relationships/image" Target="../media/image40.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1.jp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476615" y="5142674"/>
            <a:ext cx="1735200" cy="867600"/>
            <a:chOff x="476615" y="5142674"/>
            <a:chExt cx="17352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476615" y="5142674"/>
              <a:ext cx="17352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Raw Data Files</a:t>
              </a:r>
              <a:endParaRPr sz="12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476615" y="5431235"/>
              <a:ext cx="17352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41895" y="5478100"/>
              <a:ext cx="404640" cy="468000"/>
            </a:xfrm>
            <a:prstGeom prst="rect">
              <a:avLst/>
            </a:prstGeom>
          </p:spPr>
        </p:pic>
      </p:grpSp>
      <p:grpSp>
        <p:nvGrpSpPr>
          <p:cNvPr id="147" name="Gruppe Query"/>
          <p:cNvGrpSpPr/>
          <p:nvPr/>
        </p:nvGrpSpPr>
        <p:grpSpPr>
          <a:xfrm>
            <a:off x="10049240" y="1570799"/>
            <a:ext cx="1735200" cy="867600"/>
            <a:chOff x="10049240" y="1570799"/>
            <a:chExt cx="17352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049240" y="1570799"/>
              <a:ext cx="1735200" cy="867600"/>
            </a:xfrm>
            <a:prstGeom prst="roundRect">
              <a:avLst/>
            </a:prstGeom>
            <a:solidFill>
              <a:schemeClr val="accent1">
                <a:alpha val="5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Query</a:t>
              </a:r>
              <a:endParaRPr sz="12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4">
              <a:extLst>
                <a:ext uri="{96DAC541-7B7A-43D3-8B79-37D633B846F1}">
                  <ns0:svgBlip xmlns:ns0="http://schemas.microsoft.com/office/drawing/2016/SVG/main" r:embed="rId15"/>
                </a:ext>
              </a:extLst>
            </a:blip>
            <a:stretch>
              <a:fillRect/>
            </a:stretch>
          </p:blipFill>
          <p:spPr>
            <a:xfrm>
              <a:off x="10682840" y="1906225"/>
              <a:ext cx="468000" cy="468000"/>
            </a:xfrm>
            <a:prstGeom prst="rect">
              <a:avLst/>
            </a:prstGeom>
          </p:spPr>
        </p:pic>
        <p:sp>
          <p:nvSpPr>
            <p:cNvPr id="159" name="Gerader Verbinder 159"/>
            <p:cNvSpPr>
              <a:spLocks/>
            </p:cNvSpPr>
            <p:nvPr/>
          </p:nvSpPr>
          <p:spPr>
            <a:xfrm flipV="1">
              <a:off x="10049240" y="1859360"/>
              <a:ext cx="17352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48" name="Gruppe Response"/>
          <p:cNvGrpSpPr/>
          <p:nvPr/>
        </p:nvGrpSpPr>
        <p:grpSpPr>
          <a:xfrm>
            <a:off x="10049240" y="5161353"/>
            <a:ext cx="1735200" cy="867600"/>
            <a:chOff x="10049240" y="5161353"/>
            <a:chExt cx="17352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049240" y="5161353"/>
              <a:ext cx="1735200" cy="867600"/>
            </a:xfrm>
            <a:prstGeom prst="roundRect">
              <a:avLst/>
            </a:prstGeom>
            <a:solidFill>
              <a:schemeClr val="accent5">
                <a:alpha val="5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Response</a:t>
              </a:r>
              <a:endParaRPr sz="12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6">
              <a:extLst>
                <a:ext uri="{96DAC541-7B7A-43D3-8B79-37D633B846F1}">
                  <ns1:svgBlip xmlns:ns1="http://schemas.microsoft.com/office/drawing/2016/SVG/main" r:embed="rId17"/>
                </a:ext>
              </a:extLst>
            </a:blip>
            <a:stretch>
              <a:fillRect/>
            </a:stretch>
          </p:blipFill>
          <p:spPr>
            <a:xfrm>
              <a:off x="10682840" y="5496779"/>
              <a:ext cx="468000" cy="468000"/>
            </a:xfrm>
            <a:prstGeom prst="rect">
              <a:avLst/>
            </a:prstGeom>
          </p:spPr>
        </p:pic>
        <p:sp>
          <p:nvSpPr>
            <p:cNvPr id="160" name="Gerader Verbinder 160"/>
            <p:cNvSpPr>
              <a:spLocks/>
            </p:cNvSpPr>
            <p:nvPr/>
          </p:nvSpPr>
          <p:spPr>
            <a:xfrm flipV="1">
              <a:off x="10049240" y="5449914"/>
              <a:ext cx="17352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49" name="Gruppe Information Extraction"/>
          <p:cNvGrpSpPr/>
          <p:nvPr/>
        </p:nvGrpSpPr>
        <p:grpSpPr>
          <a:xfrm>
            <a:off x="475308" y="3952049"/>
            <a:ext cx="1735200" cy="867600"/>
            <a:chOff x="475308" y="3952049"/>
            <a:chExt cx="17352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475308" y="3952049"/>
              <a:ext cx="17352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Information Extraction</a:t>
              </a:r>
              <a:endParaRPr sz="12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8">
              <a:extLst>
                <a:ext uri="{96DAC541-7B7A-43D3-8B79-37D633B846F1}">
                  <ns2:svgBlip xmlns:ns2="http://schemas.microsoft.com/office/drawing/2016/SVG/main" r:embed="rId19"/>
                </a:ext>
              </a:extLst>
            </a:blip>
            <a:stretch>
              <a:fillRect/>
            </a:stretch>
          </p:blipFill>
          <p:spPr>
            <a:xfrm>
              <a:off x="1108908" y="4287475"/>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475308" y="4240610"/>
              <a:ext cx="17352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0" name="Gruppe Chunking"/>
          <p:cNvGrpSpPr/>
          <p:nvPr/>
        </p:nvGrpSpPr>
        <p:grpSpPr>
          <a:xfrm>
            <a:off x="476615" y="2761424"/>
            <a:ext cx="1735200" cy="867600"/>
            <a:chOff x="476615" y="2761424"/>
            <a:chExt cx="17352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476615" y="2761424"/>
              <a:ext cx="17352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Chunking</a:t>
              </a:r>
              <a:endParaRPr sz="12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476615" y="3049985"/>
              <a:ext cx="17352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0">
              <a:extLst>
                <a:ext uri="{96DAC541-7B7A-43D3-8B79-37D633B846F1}">
                  <ns3:svgBlip xmlns:ns3="http://schemas.microsoft.com/office/drawing/2016/SVG/main" r:embed="rId21"/>
                </a:ext>
              </a:extLst>
            </a:blip>
            <a:stretch>
              <a:fillRect/>
            </a:stretch>
          </p:blipFill>
          <p:spPr>
            <a:xfrm>
              <a:off x="1110215" y="3096850"/>
              <a:ext cx="468000" cy="468000"/>
            </a:xfrm>
            <a:prstGeom prst="rect">
              <a:avLst/>
            </a:prstGeom>
          </p:spPr>
        </p:pic>
      </p:grpSp>
      <p:grpSp>
        <p:nvGrpSpPr>
          <p:cNvPr id="151" name="Gruppe Embedding"/>
          <p:cNvGrpSpPr/>
          <p:nvPr/>
        </p:nvGrpSpPr>
        <p:grpSpPr>
          <a:xfrm>
            <a:off x="4861644" y="1578083"/>
            <a:ext cx="1735200" cy="867600"/>
            <a:chOff x="4861644" y="1578083"/>
            <a:chExt cx="17352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4861644" y="1578083"/>
              <a:ext cx="17352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Embedding</a:t>
              </a:r>
              <a:endParaRPr sz="12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2">
              <a:extLst>
                <a:ext uri="{96DAC541-7B7A-43D3-8B79-37D633B846F1}">
                  <ns4:svgBlip xmlns:ns4="http://schemas.microsoft.com/office/drawing/2016/SVG/main" r:embed="rId23"/>
                </a:ext>
              </a:extLst>
            </a:blip>
            <a:stretch>
              <a:fillRect/>
            </a:stretch>
          </p:blipFill>
          <p:spPr>
            <a:xfrm>
              <a:off x="5495244" y="1913509"/>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4861644" y="1866644"/>
              <a:ext cx="17352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3" name="Gruppe Vector Database"/>
          <p:cNvGrpSpPr/>
          <p:nvPr/>
        </p:nvGrpSpPr>
        <p:grpSpPr>
          <a:xfrm>
            <a:off x="4858115" y="2776165"/>
            <a:ext cx="1735200" cy="867600"/>
            <a:chOff x="4858115" y="2776165"/>
            <a:chExt cx="17352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4858115" y="2776165"/>
              <a:ext cx="17352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Vector Database</a:t>
              </a:r>
              <a:endParaRPr sz="12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4">
              <a:extLst>
                <a:ext uri="{96DAC541-7B7A-43D3-8B79-37D633B846F1}">
                  <ns5:svgBlip xmlns:ns5="http://schemas.microsoft.com/office/drawing/2016/SVG/main" r:embed="rId25"/>
                </a:ext>
              </a:extLst>
            </a:blip>
            <a:stretch>
              <a:fillRect/>
            </a:stretch>
          </p:blipFill>
          <p:spPr>
            <a:xfrm>
              <a:off x="5491715" y="3111591"/>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4858115" y="3064726"/>
              <a:ext cx="17352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4" name="Gruppe Relevant Data"/>
          <p:cNvGrpSpPr/>
          <p:nvPr/>
        </p:nvGrpSpPr>
        <p:grpSpPr>
          <a:xfrm>
            <a:off x="4858115" y="5161353"/>
            <a:ext cx="1735200" cy="867600"/>
            <a:chOff x="4858115" y="5161353"/>
            <a:chExt cx="17352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4858115" y="5161353"/>
              <a:ext cx="17352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Relevant Data</a:t>
              </a:r>
              <a:endParaRPr sz="12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6">
              <a:extLst>
                <a:ext uri="{96DAC541-7B7A-43D3-8B79-37D633B846F1}">
                  <ns6:svgBlip xmlns:ns6="http://schemas.microsoft.com/office/drawing/2016/SVG/main" r:embed="rId27"/>
                </a:ext>
              </a:extLst>
            </a:blip>
            <a:stretch>
              <a:fillRect/>
            </a:stretch>
          </p:blipFill>
          <p:spPr>
            <a:xfrm>
              <a:off x="5491715" y="5496779"/>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4858115" y="5449914"/>
              <a:ext cx="17352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5" name="Gruppe Embedding LLM"/>
          <p:cNvGrpSpPr/>
          <p:nvPr/>
        </p:nvGrpSpPr>
        <p:grpSpPr>
          <a:xfrm>
            <a:off x="7848442" y="1570799"/>
            <a:ext cx="1735200" cy="867600"/>
            <a:chOff x="7848442" y="1570799"/>
            <a:chExt cx="17352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848442" y="1570799"/>
              <a:ext cx="17352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Embedding LLM</a:t>
              </a:r>
              <a:endParaRPr sz="12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28">
              <a:extLst>
                <a:ext uri="{96DAC541-7B7A-43D3-8B79-37D633B846F1}">
                  <ns7:svgBlip xmlns:ns7="http://schemas.microsoft.com/office/drawing/2016/SVG/main" r:embed="rId29"/>
                </a:ext>
              </a:extLst>
            </a:blip>
            <a:stretch>
              <a:fillRect/>
            </a:stretch>
          </p:blipFill>
          <p:spPr>
            <a:xfrm>
              <a:off x="8482042" y="1906225"/>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848442" y="1859360"/>
              <a:ext cx="17352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858490" y="5161353"/>
            <a:ext cx="1735200" cy="867600"/>
            <a:chOff x="7858490" y="5161353"/>
            <a:chExt cx="17352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7858490" y="5161353"/>
              <a:ext cx="17352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LLM</a:t>
              </a:r>
              <a:endParaRPr sz="12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0">
              <a:extLst>
                <a:ext uri="{96DAC541-7B7A-43D3-8B79-37D633B846F1}">
                  <ns8:svgBlip xmlns:ns8="http://schemas.microsoft.com/office/drawing/2016/SVG/main" r:embed="rId31"/>
                </a:ext>
              </a:extLst>
            </a:blip>
            <a:stretch>
              <a:fillRect/>
            </a:stretch>
          </p:blipFill>
          <p:spPr>
            <a:xfrm>
              <a:off x="8492090" y="5496779"/>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7858490" y="5449914"/>
              <a:ext cx="17352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350688"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400"/>
            <a:ext cx="6311"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6114751" y="2012297"/>
            <a:ext cx="642461"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6593315" y="5595153"/>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cxnSpLocks/>
          </p:cNvCxnSpPr>
          <p:nvPr/>
        </p:nvCxnSpPr>
        <p:spPr>
          <a:xfrm flipV="1">
            <a:off x="7969527" y="5098014"/>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flipV="1">
            <a:off x="6593315" y="3209965"/>
            <a:ext cx="1265175" cy="1836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355058" y="2005013"/>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2205504" y="2004599"/>
            <a:ext cx="430812"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636316" y="1570799"/>
            <a:ext cx="1735200" cy="867600"/>
            <a:chOff x="2636316" y="1570799"/>
            <a:chExt cx="17352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636316" y="1570799"/>
              <a:ext cx="17352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Embedding LLM</a:t>
              </a:r>
              <a:endParaRPr sz="12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28">
              <a:extLst>
                <a:ext uri="{96DAC541-7B7A-43D3-8B79-37D633B846F1}">
                  <ns9:svgBlip xmlns:ns9="http://schemas.microsoft.com/office/drawing/2016/SVG/main" r:embed="rId29"/>
                </a:ext>
              </a:extLst>
            </a:blip>
            <a:stretch>
              <a:fillRect/>
            </a:stretch>
          </p:blipFill>
          <p:spPr>
            <a:xfrm>
              <a:off x="3269916" y="1906225"/>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636316" y="1859360"/>
              <a:ext cx="17352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371516" y="2004599"/>
            <a:ext cx="490128"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593690" y="5595153"/>
            <a:ext cx="45555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583642" y="2004599"/>
            <a:ext cx="46559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32" idx="0"/>
          </p:cNvCxnSpPr>
          <p:nvPr/>
        </p:nvCxnSpPr>
        <p:spPr>
          <a:xfrm>
            <a:off x="8716042" y="2434208"/>
            <a:ext cx="10048" cy="36032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5713094" y="2445683"/>
            <a:ext cx="12621" cy="33048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a:off x="5725715" y="3642941"/>
            <a:ext cx="0"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470304" y="1570799"/>
            <a:ext cx="1735200" cy="867600"/>
            <a:chOff x="470304" y="1570799"/>
            <a:chExt cx="17352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470304" y="1570799"/>
              <a:ext cx="17352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Chunks</a:t>
              </a:r>
              <a:endParaRPr sz="12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37126" y="1906225"/>
              <a:ext cx="401555"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470304" y="1859360"/>
              <a:ext cx="17352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29" name="Gruppieren 28">
            <a:extLst>
              <a:ext uri="{FF2B5EF4-FFF2-40B4-BE49-F238E27FC236}">
                <a16:creationId xmlns:a16="http://schemas.microsoft.com/office/drawing/2014/main" id="{7E49CBB9-D26E-EAFB-D6EA-C3D737912938}"/>
              </a:ext>
            </a:extLst>
          </p:cNvPr>
          <p:cNvGrpSpPr/>
          <p:nvPr/>
        </p:nvGrpSpPr>
        <p:grpSpPr>
          <a:xfrm>
            <a:off x="7858490" y="2794529"/>
            <a:ext cx="1735200" cy="867600"/>
            <a:chOff x="7858490" y="5161353"/>
            <a:chExt cx="17352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7858490" y="5161353"/>
              <a:ext cx="17352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Embedding</a:t>
              </a:r>
              <a:endParaRPr sz="12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2">
              <a:extLst>
                <a:ext uri="{96DAC541-7B7A-43D3-8B79-37D633B846F1}">
                  <ns10:svgBlip xmlns:ns10="http://schemas.microsoft.com/office/drawing/2016/SVG/main" r:embed="rId23"/>
                </a:ext>
              </a:extLst>
            </a:blip>
            <a:stretch>
              <a:fillRect/>
            </a:stretch>
          </p:blipFill>
          <p:spPr>
            <a:xfrm>
              <a:off x="8492090" y="549677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7858490" y="5449914"/>
              <a:ext cx="17352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8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24" grpId="0" animBg="1"/>
      <p:bldP spid="37" grpId="0" animBg="1"/>
      <p:bldP spid="44" grpId="0" animBg="1"/>
      <p:bldP spid="45" grpId="0" animBg="1"/>
      <p:bldP spid="51" grpId="0" animBg="1"/>
      <p:bldP spid="54" grpId="0" animBg="1"/>
      <p:bldP spid="58" grpId="0" animBg="1"/>
      <p:bldP spid="72" grpId="0" animBg="1"/>
      <p:bldP spid="79" grpId="0" animBg="1"/>
      <p:bldP spid="81" grpId="0" animBg="1"/>
      <p:bldP spid="90" grpId="0" animBg="1"/>
      <p:bldP spid="93" grpId="0" animBg="1"/>
      <p:bldP spid="101" grpId="0" animBg="1"/>
      <p:bldP spid="102" grpId="0" animBg="1"/>
      <p:bldP spid="106" grpId="0" animBg="1"/>
      <p:bldP spid="137" grpId="0" animBg="1"/>
      <p:bldP spid="140" grpId="0" animBg="1"/>
      <p:bldP spid="121" grpId="0" animBg="1"/>
      <p:bldP spid="124" grpId="0" animBg="1"/>
      <p:bldP spid="32" grpId="0" animBg="1"/>
      <p:bldP spid="3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3965</Words>
  <Application>Microsoft Office PowerPoint</Application>
  <PresentationFormat>Breitbild</PresentationFormat>
  <Paragraphs>562</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33</cp:revision>
  <dcterms:created xsi:type="dcterms:W3CDTF">2026-08-04T12:09:36Z</dcterms:created>
  <dcterms:modified xsi:type="dcterms:W3CDTF">2026-08-07T14:44:10Z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