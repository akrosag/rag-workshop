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9400"/>
    <a:srgbClr val="2D3F4B"/>
    <a:srgbClr val="81725E"/>
    <a:srgbClr val="C3BBB2"/>
    <a:srgbClr val="C60C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1" d="100"/>
          <a:sy n="101" d="100"/>
        </p:scale>
        <p:origin x="120" y="25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15" Type="http://schemas.openxmlformats.org/officeDocument/2006/relationships/image" Target="../media/image25.png"/><Relationship Id="rId16" Type="http://schemas.openxmlformats.org/officeDocument/2006/relationships/image" Target="../media/image26.svg"/><Relationship Id="rId17" Type="http://schemas.openxmlformats.org/officeDocument/2006/relationships/image" Target="../media/image27.png"/><Relationship Id="rId18" Type="http://schemas.openxmlformats.org/officeDocument/2006/relationships/image" Target="../media/image28.svg"/><Relationship Id="rId19" Type="http://schemas.openxmlformats.org/officeDocument/2006/relationships/image" Target="../media/image29.png"/><Relationship Id="rId20" Type="http://schemas.openxmlformats.org/officeDocument/2006/relationships/image" Target="../media/image30.svg"/><Relationship Id="rId21" Type="http://schemas.openxmlformats.org/officeDocument/2006/relationships/image" Target="../media/image31.png"/><Relationship Id="rId22" Type="http://schemas.openxmlformats.org/officeDocument/2006/relationships/image" Target="../media/image32.svg"/><Relationship Id="rId23" Type="http://schemas.openxmlformats.org/officeDocument/2006/relationships/image" Target="../media/image33.png"/><Relationship Id="rId24" Type="http://schemas.openxmlformats.org/officeDocument/2006/relationships/image" Target="../media/image34.svg"/><Relationship Id="rId25" Type="http://schemas.openxmlformats.org/officeDocument/2006/relationships/image" Target="../media/image35.png"/><Relationship Id="rId26" Type="http://schemas.openxmlformats.org/officeDocument/2006/relationships/image" Target="../media/image36.svg"/><Relationship Id="rId27" Type="http://schemas.openxmlformats.org/officeDocument/2006/relationships/image" Target="../media/image37.png"/><Relationship Id="rId28" Type="http://schemas.openxmlformats.org/officeDocument/2006/relationships/image" Target="../media/image38.svg"/><Relationship Id="rId29" Type="http://schemas.openxmlformats.org/officeDocument/2006/relationships/image" Target="../media/image39.png"/><Relationship Id="rId30" Type="http://schemas.openxmlformats.org/officeDocument/2006/relationships/image" Target="../media/image40.svg"/><Relationship Id="rId31" Type="http://schemas.openxmlformats.org/officeDocument/2006/relationships/image" Target="../media/image41.png"/><Relationship Id="rId32" Type="http://schemas.openxmlformats.org/officeDocument/2006/relationships/image" Target="../media/image42.svg"/><Relationship Id="rId33" Type="http://schemas.openxmlformats.org/officeDocument/2006/relationships/image" Target="../media/image43.png"/><Relationship Id="rId34" Type="http://schemas.openxmlformats.org/officeDocument/2006/relationships/image" Target="../media/image44.svg"/><Relationship Id="rId35" Type="http://schemas.openxmlformats.org/officeDocument/2006/relationships/image" Target="../media/image45.png"/><Relationship Id="rId36" Type="http://schemas.openxmlformats.org/officeDocument/2006/relationships/image" Target="../media/image46.svg"/><Relationship Id="rId37" Type="http://schemas.openxmlformats.org/officeDocument/2006/relationships/image" Target="../media/image47.png"/><Relationship Id="rId38" Type="http://schemas.openxmlformats.org/officeDocument/2006/relationships/image" Target="../media/image48.svg"/><Relationship Id="rId39" Type="http://schemas.openxmlformats.org/officeDocument/2006/relationships/image" Target="../media/image49.png"/><Relationship Id="rId40" Type="http://schemas.openxmlformats.org/officeDocument/2006/relationships/image" Target="../media/image50.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3.jp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Raw Data Files</a:t>
              </a:r>
              <a:endParaRPr sz="1000"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5">
              <a:extLst>
                <a:ext uri="{96DAC541-7B7A-43D3-8B79-37D633B846F1}">
                  <ns0:svgBlip xmlns:ns0="http://schemas.microsoft.com/office/drawing/2016/SVG/main" r:embed="rId16"/>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chemeClr val="accent1">
                <a:alpha val="5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Query</a:t>
              </a:r>
              <a:endParaRPr sz="1000"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7">
              <a:extLst>
                <a:ext uri="{96DAC541-7B7A-43D3-8B79-37D633B846F1}">
                  <ns1:svgBlip xmlns:ns1="http://schemas.microsoft.com/office/drawing/2016/SVG/main" r:embed="rId1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chemeClr val="accent5">
                <a:alpha val="5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Response</a:t>
              </a:r>
              <a:endParaRPr sz="1000"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19">
              <a:extLst>
                <a:ext uri="{96DAC541-7B7A-43D3-8B79-37D633B846F1}">
                  <ns2:svgBlip xmlns:ns2="http://schemas.microsoft.com/office/drawing/2016/SVG/main" r:embed="rId2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Information Extraction</a:t>
              </a:r>
              <a:endParaRPr sz="1000"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1">
              <a:extLst>
                <a:ext uri="{96DAC541-7B7A-43D3-8B79-37D633B846F1}">
                  <ns3:svgBlip xmlns:ns3="http://schemas.microsoft.com/office/drawing/2016/SVG/main" r:embed="rId22"/>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1000"/>
            </a:p>
          </p:txBody>
        </p:sp>
      </p:grpSp>
      <p:grpSp>
        <p:nvGrpSpPr>
          <p:cNvPr id="50" name="Gruppieren 49">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a:solidFill>
                    <a:schemeClr val="bg2">
                      <a:lumMod val="10000"/>
                    </a:schemeClr>
                  </a:solidFill>
                </a:rPr>
                <a:t>Chunking</a:t>
              </a:r>
              <a:endParaRPr sz="1000"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3">
              <a:extLst>
                <a:ext uri="{96DAC541-7B7A-43D3-8B79-37D633B846F1}">
                  <ns4:svgBlip xmlns:ns4="http://schemas.microsoft.com/office/drawing/2016/SVG/main" r:embed="rId24"/>
                </a:ext>
              </a:extLst>
            </a:blip>
            <a:stretch>
              <a:fillRect/>
            </a:stretch>
          </p:blipFill>
          <p:spPr>
            <a:xfrm>
              <a:off x="1110215" y="3105504"/>
              <a:ext cx="468000" cy="468000"/>
            </a:xfrm>
            <a:prstGeom prst="rect">
              <a:avLst/>
            </a:prstGeom>
          </p:spPr>
        </p:pic>
      </p:grpSp>
      <p:grpSp>
        <p:nvGrpSpPr>
          <p:cNvPr id="151" name="Gruppe Embedding"/>
          <p:cNvGrpSpPr/>
          <p:nvPr/>
        </p:nvGrpSpPr>
        <p:grpSpPr>
          <a:xfrm>
            <a:off x="5940000" y="1454258"/>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err="1">
                  <a:solidFill>
                    <a:schemeClr val="bg2">
                      <a:lumMod val="10000"/>
                    </a:schemeClr>
                  </a:solidFill>
                </a:rPr>
                <a:t>Embeddings</a:t>
              </a:r>
              <a:endParaRPr sz="1000"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5">
              <a:extLst>
                <a:ext uri="{96DAC541-7B7A-43D3-8B79-37D633B846F1}">
                  <ns5:svgBlip xmlns:ns5="http://schemas.microsoft.com/office/drawing/2016/SVG/main" r:embed="rId26"/>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Vector Database</a:t>
              </a:r>
              <a:endParaRPr sz="1000"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27">
              <a:extLst>
                <a:ext uri="{96DAC541-7B7A-43D3-8B79-37D633B846F1}">
                  <ns6:svgBlip xmlns:ns6="http://schemas.microsoft.com/office/drawing/2016/SVG/main" r:embed="rId28"/>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Relevant Data</a:t>
              </a:r>
              <a:endParaRPr sz="1000"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29">
              <a:extLst>
                <a:ext uri="{96DAC541-7B7A-43D3-8B79-37D633B846F1}">
                  <ns7:svgBlip xmlns:ns7="http://schemas.microsoft.com/office/drawing/2016/SVG/main" r:embed="rId3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1">
              <a:extLst>
                <a:ext uri="{96DAC541-7B7A-43D3-8B79-37D633B846F1}">
                  <ns8:svgBlip xmlns:ns8="http://schemas.microsoft.com/office/drawing/2016/SVG/main" r:embed="rId3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7" name="Gruppieren 26">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LLM</a:t>
              </a:r>
              <a:endParaRPr sz="1000"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3">
              <a:extLst>
                <a:ext uri="{96DAC541-7B7A-43D3-8B79-37D633B846F1}">
                  <ns9:svgBlip xmlns:ns9="http://schemas.microsoft.com/office/drawing/2016/SVG/main" r:embed="rId3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107" name="Gerade Verbindung mit Pfeil 114">
            <a:extLst>
              <a:ext uri="{FF2B5EF4-FFF2-40B4-BE49-F238E27FC236}">
                <a16:creationId xmlns:a16="http://schemas.microsoft.com/office/drawing/2014/main" id="{C51FF297-FBDC-ECF0-D713-029BB7225127}"/>
              </a:ext>
            </a:extLst>
          </p:cNvPr>
          <p:cNvCxnSpPr>
            <a:cxnSpLocks/>
          </p:cNvCxnSpPr>
          <p:nvPr/>
        </p:nvCxnSpPr>
        <p:spPr>
          <a:xfrm flipV="1">
            <a:off x="540000" y="2313687"/>
            <a:ext cx="1777931" cy="270516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cxnSpLocks/>
            <a:stCxn id="54" idx="3"/>
          </p:cNvCxnSpPr>
          <p:nvPr/>
        </p:nvCxnSpPr>
        <p:spPr>
          <a:xfrm flipH="1">
            <a:off x="6114751" y="1888058"/>
            <a:ext cx="1265249" cy="783787"/>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385158"/>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cxnSpLocks/>
            <a:stCxn id="93" idx="1"/>
          </p:cNvCxnSpPr>
          <p:nvPr/>
        </p:nvCxnSpPr>
        <p:spPr>
          <a:xfrm flipH="1">
            <a:off x="4099016" y="1881188"/>
            <a:ext cx="3499473" cy="7797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2787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cxnSpLocks/>
            <a:stCxn id="18" idx="1"/>
          </p:cNvCxnSpPr>
          <p:nvPr/>
        </p:nvCxnSpPr>
        <p:spPr>
          <a:xfrm flipH="1">
            <a:off x="8699090" y="1883739"/>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79887"/>
            <a:ext cx="360000" cy="887"/>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7" name="Gruppe Embedding LLM"/>
          <p:cNvGrpSpPr/>
          <p:nvPr/>
        </p:nvGrpSpPr>
        <p:grpSpPr>
          <a:xfrm>
            <a:off x="2340000" y="1446087"/>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1">
              <a:extLst>
                <a:ext uri="{96DAC541-7B7A-43D3-8B79-37D633B846F1}">
                  <ns10:svgBlip xmlns:ns10="http://schemas.microsoft.com/office/drawing/2016/SVG/main" r:embed="rId3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3780000" y="1879887"/>
            <a:ext cx="2160000" cy="817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endCxn id="72" idx="0"/>
          </p:cNvCxnSpPr>
          <p:nvPr/>
        </p:nvCxnSpPr>
        <p:spPr>
          <a:xfrm>
            <a:off x="6647379" y="2321858"/>
            <a:ext cx="12621" cy="31574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Chunks</a:t>
              </a:r>
              <a:endParaRPr sz="1000"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3">
              <a:extLst>
                <a:ext uri="{96DAC541-7B7A-43D3-8B79-37D633B846F1}">
                  <ns11:svgBlip xmlns:ns11="http://schemas.microsoft.com/office/drawing/2016/SVG/main" r:embed="rId2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39" name="Gruppieren 38">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err="1">
                  <a:solidFill>
                    <a:schemeClr val="bg2">
                      <a:lumMod val="10000"/>
                    </a:schemeClr>
                  </a:solidFill>
                </a:rPr>
                <a:t>Embeddings</a:t>
              </a:r>
              <a:endParaRPr sz="1000"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5">
              <a:extLst>
                <a:ext uri="{96DAC541-7B7A-43D3-8B79-37D633B846F1}">
                  <ns12:svgBlip xmlns:ns12="http://schemas.microsoft.com/office/drawing/2016/SVG/main" r:embed="rId26"/>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3" name="Gruppe Embedding LLM">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Engine</a:t>
              </a:r>
              <a:endParaRPr sz="1000"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5">
              <a:extLst>
                <a:ext uri="{96DAC541-7B7A-43D3-8B79-37D633B846F1}">
                  <ns13:svgBlip xmlns:ns13="http://schemas.microsoft.com/office/drawing/2016/SVG/main" r:embed="rId36"/>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2" name="Gruppe Vector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Database</a:t>
              </a:r>
              <a:endParaRPr sz="1000"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37">
              <a:extLst>
                <a:ext uri="{96DAC541-7B7A-43D3-8B79-37D633B846F1}">
                  <ns14:svgBlip xmlns:ns14="http://schemas.microsoft.com/office/drawing/2016/SVG/main" r:embed="rId38"/>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40" name="Gruppe Embedding LLM">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Ranking</a:t>
              </a:r>
              <a:endParaRPr sz="1000"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39">
              <a:extLst>
                <a:ext uri="{96DAC541-7B7A-43D3-8B79-37D633B846F1}">
                  <ns15:svgBlip xmlns:ns15="http://schemas.microsoft.com/office/drawing/2016/SVG/main" r:embed="rId40"/>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40</cp:revision>
  <dcterms:created xsi:type="dcterms:W3CDTF">2026-08-04T12:09:36Z</dcterms:created>
  <dcterms:modified xsi:type="dcterms:W3CDTF">2026-08-07T16:52:06Z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