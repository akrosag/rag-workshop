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29.svg" ContentType="image/svg+xml"/>
  <Override PartName="/ppt/media/image30.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08" r:id="rId15"/>
    <p:sldId id="256" r:id="rId16"/>
    <p:sldId id="313" r:id="rId1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6" autoAdjust="0"/>
    <p:restoredTop sz="86331" autoAdjust="0"/>
  </p:normalViewPr>
  <p:slideViewPr>
    <p:cSldViewPr snapToGrid="0">
      <p:cViewPr varScale="1">
        <p:scale>
          <a:sx n="111" d="100"/>
          <a:sy n="111" d="100"/>
        </p:scale>
        <p:origin x="513" y="51"/>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08.08.2026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08.08.2026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08.08.2026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08.08.2026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08.08.2026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63723368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08.08.2026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 id="2147483669" r:id="rId11"/>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svg"/><Relationship Id="rId4" Type="http://schemas.openxmlformats.org/officeDocument/2006/relationships/image" Target="../media/image7.svg"/><Relationship Id="rId5" Type="http://schemas.openxmlformats.org/officeDocument/2006/relationships/image" Target="../media/image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9" Type="http://schemas.openxmlformats.org/officeDocument/2006/relationships/image" Target="../media/image9.png"/><Relationship Id="rId16" Type="http://schemas.openxmlformats.org/officeDocument/2006/relationships/image" Target="../media/image26.pn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0.svg"/><Relationship Id="rId22" Type="http://schemas.openxmlformats.org/officeDocument/2006/relationships/image" Target="../media/image32.png"/><Relationship Id="rId23" Type="http://schemas.openxmlformats.org/officeDocument/2006/relationships/image" Target="../media/image31.svg"/><Relationship Id="rId24" Type="http://schemas.openxmlformats.org/officeDocument/2006/relationships/image" Target="../media/image34.png"/><Relationship Id="rId25" Type="http://schemas.openxmlformats.org/officeDocument/2006/relationships/image" Target="../media/image49.svg"/><Relationship Id="rId26" Type="http://schemas.openxmlformats.org/officeDocument/2006/relationships/image" Target="../media/image36.png"/><Relationship Id="rId27" Type="http://schemas.openxmlformats.org/officeDocument/2006/relationships/image" Target="../media/image33.svg"/><Relationship Id="rId28" Type="http://schemas.openxmlformats.org/officeDocument/2006/relationships/image" Target="../media/image35.svg"/><Relationship Id="rId29" Type="http://schemas.openxmlformats.org/officeDocument/2006/relationships/image" Target="../media/image37.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39.sv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11.png"/><Relationship Id="rId40" Type="http://schemas.openxmlformats.org/officeDocument/2006/relationships/image" Target="../media/image50.png"/><Relationship Id="rId41" Type="http://schemas.openxmlformats.org/officeDocument/2006/relationships/image" Target="../media/image51.svg"/><Relationship Id="rId42" Type="http://schemas.openxmlformats.org/officeDocument/2006/relationships/image" Target="../media/image52.png"/><Relationship Id="rId43" Type="http://schemas.openxmlformats.org/officeDocument/2006/relationships/image" Target="../media/image5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2.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4.jpg"/><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08.08.2026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498765" y="3660815"/>
            <a:ext cx="6148215" cy="971475"/>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08.08.2026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479421" y="3691487"/>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479421" y="2756433"/>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434322" y="2754675"/>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389222" y="2749092"/>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479421" y="2883822"/>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434319" y="2883823"/>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04569" y="2889066"/>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482461" y="4857750"/>
            <a:ext cx="11042789" cy="10287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666750" y="1673516"/>
            <a:ext cx="4572000" cy="2818746"/>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6953250" y="1698989"/>
            <a:ext cx="4572001" cy="2818746"/>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08.08.2026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666750" y="1666875"/>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6953250" y="1666875"/>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76875" y="2724150"/>
            <a:ext cx="1238250" cy="66675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666750" y="4857750"/>
            <a:ext cx="85725" cy="1028700"/>
          </a:xfrm>
          <a:prstGeom prst="rect">
            <a:avLst/>
          </a:prstGeom>
          <a:solidFill>
            <a:srgbClr val="C9960F"/>
          </a:solidFill>
          <a:ln w="0">
            <a:solidFill>
              <a:srgbClr val="C9960F"/>
            </a:solidFill>
            <a:prstDash val="solid"/>
          </a:ln>
        </p:spPr>
        <p:txBody>
          <a:bodyPr/>
          <a:lstStyle/>
          <a:p>
            <a:endParaRPr lang="de-CH"/>
          </a:p>
        </p:txBody>
      </p:sp>
      <p:sp>
        <p:nvSpPr>
          <p:cNvPr id="26" name="Komprimieren-icon-background">
            <a:extLst>
              <a:ext uri="{FF2B5EF4-FFF2-40B4-BE49-F238E27FC236}">
                <a16:creationId xmlns:a16="http://schemas.microsoft.com/office/drawing/2014/main" id="{AE5F489A-B22B-45B4-B5E9-27A843A475CA}"/>
              </a:ext>
            </a:extLst>
          </p:cNvPr>
          <p:cNvSpPr>
            <a:spLocks noGrp="1"/>
          </p:cNvSpPr>
          <p:nvPr/>
        </p:nvSpPr>
        <p:spPr>
          <a:xfrm>
            <a:off x="7277100" y="2000250"/>
            <a:ext cx="990600" cy="990600"/>
          </a:xfrm>
          <a:prstGeom prst="ellipse">
            <a:avLst/>
          </a:prstGeom>
          <a:solidFill>
            <a:srgbClr val="9BC7EE"/>
          </a:solidFill>
          <a:ln w="0">
            <a:solidFill>
              <a:srgbClr val="9BC7EE"/>
            </a:solidFill>
            <a:prstDash val="solid"/>
          </a:ln>
        </p:spPr>
        <p:txBody>
          <a:bodyPr/>
          <a:lstStyle/>
          <a:p>
            <a:endParaRPr lang="de-CH"/>
          </a:p>
        </p:txBody>
      </p:sp>
      <p:pic>
        <p:nvPicPr>
          <p:cNvPr id="27" name="Grafik 26"/>
          <p:cNvPicPr>
            <a:picLocks noChangeAspect="1"/>
          </p:cNvPicPr>
          <p:nvPr/>
        </p:nvPicPr>
        <p:blipFill>
          <a:blip>
            <a:extLst>
              <a:ext uri="{96DAC541-7B7A-43D3-8B79-37D633B846F1}">
                <asvg:svgBlip xmlns:asvg="http://schemas.microsoft.com/office/drawing/2016/SVG/main" r:embed="rId3"/>
              </a:ext>
            </a:extLst>
          </a:blip>
          <a:stretch/>
        </p:blipFill>
        <p:spPr>
          <a:xfrm>
            <a:off x="7505700" y="2228850"/>
            <a:ext cx="533400" cy="5334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96300" y="20574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96300" y="24003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77100" y="3295650"/>
            <a:ext cx="3905250" cy="89535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sp>
        <p:nvSpPr>
          <p:cNvPr id="34" name="Expandieren-icon-background">
            <a:extLst>
              <a:ext uri="{FF2B5EF4-FFF2-40B4-BE49-F238E27FC236}">
                <a16:creationId xmlns:a16="http://schemas.microsoft.com/office/drawing/2014/main" id="{6F2B703B-43AC-4242-AA8D-70AAA7E7DF51}"/>
              </a:ext>
            </a:extLst>
          </p:cNvPr>
          <p:cNvSpPr>
            <a:spLocks noGrp="1"/>
          </p:cNvSpPr>
          <p:nvPr/>
        </p:nvSpPr>
        <p:spPr>
          <a:xfrm>
            <a:off x="990600" y="2000250"/>
            <a:ext cx="990600" cy="990600"/>
          </a:xfrm>
          <a:prstGeom prst="ellipse">
            <a:avLst/>
          </a:prstGeom>
          <a:solidFill>
            <a:srgbClr val="FFFFFF"/>
          </a:solidFill>
          <a:ln w="0">
            <a:solidFill>
              <a:srgbClr val="FFFFFF"/>
            </a:solidFill>
            <a:prstDash val="solid"/>
          </a:ln>
        </p:spPr>
        <p:txBody>
          <a:bodyPr/>
          <a:lstStyle/>
          <a:p>
            <a:endParaRPr lang="de-CH"/>
          </a:p>
        </p:txBody>
      </p:sp>
      <p:pic>
        <p:nvPicPr>
          <p:cNvPr id="35" name="Grafik 34"/>
          <p:cNvPicPr>
            <a:picLocks noChangeAspect="1"/>
          </p:cNvPicPr>
          <p:nvPr/>
        </p:nvPicPr>
        <p:blipFill>
          <a:blip>
            <a:extLst>
              <a:ext uri="{96DAC541-7B7A-43D3-8B79-37D633B846F1}">
                <asvg:svgBlip xmlns:asvg="http://schemas.microsoft.com/office/drawing/2016/SVG/main" r:embed="rId4"/>
              </a:ext>
            </a:extLst>
          </a:blip>
          <a:stretch/>
        </p:blipFill>
        <p:spPr>
          <a:xfrm>
            <a:off x="1219200" y="2228850"/>
            <a:ext cx="533400" cy="5334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209800" y="20574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209800" y="24003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990600" y="3295650"/>
            <a:ext cx="3905250" cy="89535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Grafik 40"/>
          <p:cNvPicPr>
            <a:picLocks noChangeAspect="1"/>
          </p:cNvPicPr>
          <p:nvPr/>
        </p:nvPicPr>
        <p:blipFill>
          <a:blip>
            <a:extLst>
              <a:ext uri="{96DAC541-7B7A-43D3-8B79-37D633B846F1}">
                <asvg:svgBlip xmlns:asvg="http://schemas.microsoft.com/office/drawing/2016/SVG/main" r:embed="rId5"/>
              </a:ext>
            </a:extLst>
          </a:blip>
          <a:stretch/>
        </p:blipFill>
        <p:spPr>
          <a:xfrm>
            <a:off x="971550" y="5067300"/>
            <a:ext cx="609600" cy="6096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9750" y="501015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9750" y="539115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37998"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2361" y="4206511"/>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27560" y="4210332"/>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668204" y="4230513"/>
            <a:ext cx="2441633" cy="1518578"/>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08.08.2026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668266" y="4788671"/>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66826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668263"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27642" y="4394296"/>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34826" y="4954814"/>
            <a:ext cx="2441571"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9637" y="4758515"/>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9635" y="4394296"/>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9636" y="4954814"/>
            <a:ext cx="2441568" cy="553998"/>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44444" y="4791446"/>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44442" y="4394296"/>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37142" y="4977897"/>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286250" y="2524495"/>
            <a:ext cx="3619500" cy="81915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286250" y="2780181"/>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889046" y="2934070"/>
            <a:ext cx="2397204" cy="1276262"/>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05750" y="2934070"/>
            <a:ext cx="2644188" cy="1264278"/>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668274" y="4210332"/>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26724" y="4210332"/>
            <a:ext cx="2441543"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75178" y="4206511"/>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29166" y="4198348"/>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286250" y="2052156"/>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a:spLocks noGrp="1"/>
          </p:cNvSpPr>
          <p:nvPr/>
        </p:nvSpPr>
        <p:spPr>
          <a:xfrm>
            <a:off x="3626699" y="4788671"/>
            <a:ext cx="2441568"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1328"/>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071399"/>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flipV="1">
            <a:off x="1980000" y="1866221"/>
            <a:ext cx="2160000" cy="14553"/>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0021"/>
            <a:ext cx="0" cy="336752"/>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flipV="1">
            <a:off x="9180000" y="5461803"/>
            <a:ext cx="360000" cy="95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9582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flipV="1">
            <a:off x="9180000" y="1880774"/>
            <a:ext cx="360000" cy="2551"/>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14574"/>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070573"/>
            <a:ext cx="360000" cy="826"/>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05199"/>
            <a:ext cx="0" cy="323025"/>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95824"/>
            <a:ext cx="0" cy="341704"/>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62024"/>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18849"/>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6">
              <a:extLst>
                <a:ext uri="{96DAC541-7B7A-43D3-8B79-37D633B846F1}">
                  <ns0:svgBlip xmlns:ns0="http://schemas.microsoft.com/office/drawing/2016/SVG/main" r:embed="rId31"/>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9525"/>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32"/>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28003"/>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33"/>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828224"/>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2">
              <a:extLst>
                <a:ext uri="{96DAC541-7B7A-43D3-8B79-37D633B846F1}">
                  <ns3:svgBlip xmlns:ns3="http://schemas.microsoft.com/office/drawing/2016/SVG/main" r:embed="rId2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637599"/>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4">
              <a:extLst>
                <a:ext uri="{96DAC541-7B7A-43D3-8B79-37D633B846F1}">
                  <ns4:svgBlip xmlns:ns4="http://schemas.microsoft.com/office/drawing/2016/SVG/main" r:embed="rId35"/>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636773"/>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6">
              <a:extLst>
                <a:ext uri="{96DAC541-7B7A-43D3-8B79-37D633B846F1}">
                  <ns5:svgBlip xmlns:ns5="http://schemas.microsoft.com/office/drawing/2016/SVG/main" r:embed="rId2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637599"/>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extLst>
                <a:ext uri="{96DAC541-7B7A-43D3-8B79-37D633B846F1}">
                  <ns6:svgBlip xmlns:ns6="http://schemas.microsoft.com/office/drawing/2016/SVG/main" r:embed="rId37"/>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37528"/>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30">
              <a:extLst>
                <a:ext uri="{96DAC541-7B7A-43D3-8B79-37D633B846F1}">
                  <ns7:svgBlip xmlns:ns7="http://schemas.microsoft.com/office/drawing/2016/SVG/main" r:embed="rId2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6974"/>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39">
              <a:extLst>
                <a:ext uri="{96DAC541-7B7A-43D3-8B79-37D633B846F1}">
                  <ns8:svgBlip xmlns:ns8="http://schemas.microsoft.com/office/drawing/2016/SVG/main" r:embed="rId2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37528"/>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4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32421"/>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39">
              <a:extLst>
                <a:ext uri="{96DAC541-7B7A-43D3-8B79-37D633B846F1}">
                  <ns10:svgBlip xmlns:ns10="http://schemas.microsoft.com/office/drawing/2016/SVG/main" r:embed="rId2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6974"/>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36">
              <a:extLst>
                <a:ext uri="{96DAC541-7B7A-43D3-8B79-37D633B846F1}">
                  <ns11:svgBlip xmlns:ns11="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637599"/>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6">
              <a:extLst>
                <a:ext uri="{96DAC541-7B7A-43D3-8B79-37D633B846F1}">
                  <ns12:svgBlip xmlns:ns12="http://schemas.microsoft.com/office/drawing/2016/SVG/main" r:embed="rId2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828224"/>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38">
              <a:extLst>
                <a:ext uri="{96DAC541-7B7A-43D3-8B79-37D633B846F1}">
                  <ns13:svgBlip xmlns:ns13="http://schemas.microsoft.com/office/drawing/2016/SVG/main" r:embed="rId4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828224"/>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40">
              <a:extLst>
                <a:ext uri="{96DAC541-7B7A-43D3-8B79-37D633B846F1}">
                  <ns14:svgBlip xmlns:ns14="http://schemas.microsoft.com/office/drawing/2016/SVG/main" r:embed="rId2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828224"/>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42">
              <a:extLst>
                <a:ext uri="{96DAC541-7B7A-43D3-8B79-37D633B846F1}">
                  <ns15:svgBlip xmlns:ns15="http://schemas.microsoft.com/office/drawing/2016/SVG/main" r:embed="rId1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17125"/>
            <a:ext cx="1800000" cy="2720403"/>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08.08.2026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93668"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1 · Chat</a:t>
            </a:r>
          </a:p>
          <a:p>
            <a:pPr algn="l">
              <a:buNone/>
              <a:defRPr sz="2400">
                <a:solidFill>
                  <a:srgbClr val="000000"/>
                </a:solidFill>
                <a:latin typeface="Helvetica Neue"/>
                <a:ea typeface="Helvetica Neue"/>
                <a:cs typeface="Helvetica Neue"/>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256592" y="2031968"/>
            <a:ext cx="5537168" cy="1643063"/>
          </a:xfrm>
          <a:prstGeom prst="rect">
            <a:avLst/>
          </a:prstGeom>
        </p:spPr>
        <p:txBody>
          <a:bodyPr lIns="91440" tIns="45720" rIns="91440" bIns="45720"/>
          <a:lstStyle/>
          <a:p>
            <a:pPr algn="l">
              <a:buNone/>
              <a:defRPr sz="2400">
                <a:solidFill>
                  <a:srgbClr val="000000"/>
                </a:solidFill>
                <a:latin typeface="Helvetica Neue"/>
                <a:ea typeface="Helvetica Neue"/>
                <a:cs typeface="Helvetica Neue"/>
              </a:defRPr>
            </a:pPr>
            <a:r>
              <a:t>2 · Vector RAG</a:t>
            </a:r>
          </a:p>
          <a:p>
            <a:pPr algn="l">
              <a:buNone/>
              <a:defRPr sz="2400">
                <a:solidFill>
                  <a:srgbClr val="000000"/>
                </a:solidFill>
                <a:latin typeface="Helvetica Neue"/>
                <a:ea typeface="Helvetica Neue"/>
                <a:cs typeface="Helvetica Neue"/>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93668"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3 · Qualität</a:t>
            </a:r>
          </a:p>
          <a:p>
            <a:pPr algn="l">
              <a:buNone/>
              <a:defRPr sz="2400">
                <a:solidFill>
                  <a:srgbClr val="000000"/>
                </a:solidFill>
                <a:latin typeface="Helvetica Neue"/>
                <a:ea typeface="Helvetica Neue"/>
                <a:cs typeface="Helvetica Neue"/>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256592" y="4016978"/>
            <a:ext cx="5537168" cy="1643158"/>
          </a:xfrm>
          <a:prstGeom prst="rect">
            <a:avLst/>
          </a:prstGeom>
        </p:spPr>
        <p:txBody>
          <a:bodyPr lIns="0" tIns="0" rIns="0" bIns="0">
            <a:normAutofit/>
          </a:bodyPr>
          <a:lstStyle/>
          <a:p>
            <a:pPr algn="l">
              <a:buNone/>
              <a:defRPr sz="2400">
                <a:solidFill>
                  <a:srgbClr val="000000"/>
                </a:solidFill>
                <a:latin typeface="Helvetica Neue"/>
                <a:ea typeface="Helvetica Neue"/>
                <a:cs typeface="Helvetica Neue"/>
              </a:defRPr>
            </a:pPr>
            <a:r>
              <a:t>4 · Graph + Eval</a:t>
            </a:r>
          </a:p>
          <a:p>
            <a:pPr algn="l">
              <a:buNone/>
              <a:defRPr sz="2400">
                <a:solidFill>
                  <a:srgbClr val="000000"/>
                </a:solidFill>
                <a:latin typeface="Helvetica Neue"/>
                <a:ea typeface="Helvetica Neue"/>
                <a:cs typeface="Helvetica Neue"/>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33375" y="1285875"/>
            <a:ext cx="11525250" cy="47625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23875" y="14097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38250" y="25146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76375" y="2171700"/>
            <a:ext cx="685800" cy="6858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14375" y="3095625"/>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143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143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238625" y="2171700"/>
            <a:ext cx="685800" cy="6858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76625" y="3095625"/>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766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766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00875" y="2171700"/>
            <a:ext cx="685800" cy="6858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238875" y="3095625"/>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23887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23887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63125" y="2171700"/>
            <a:ext cx="685800" cy="6858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1125" y="3095625"/>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1125" y="360045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1125" y="4019550"/>
            <a:ext cx="2238375" cy="7239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190625" y="5095875"/>
            <a:ext cx="9810750" cy="78105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08.08.2026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71500" y="11811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71500" y="1724025"/>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71500" y="19812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5550" y="1724025"/>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5550" y="19812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52450" y="2343150"/>
            <a:ext cx="5200650" cy="28575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5550" y="2343150"/>
            <a:ext cx="5334000" cy="28575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8001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800100" y="2819400"/>
            <a:ext cx="2114550" cy="1524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390900" y="25527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390900" y="2819400"/>
            <a:ext cx="1952625" cy="142875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133725" y="257175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5100" y="428625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885825" y="4752975"/>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591300" y="2571750"/>
            <a:ext cx="4762500" cy="104775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19900" y="272415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19900" y="295275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8972550" y="3629025"/>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19900" y="3876675"/>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8972550" y="417195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53300" y="436245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24750" y="44577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095500" y="5467350"/>
            <a:ext cx="8001000" cy="6477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81250" y="56007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31" name="Titel 1">
            <a:extLst>
              <a:ext uri="{FF2B5EF4-FFF2-40B4-BE49-F238E27FC236}">
                <a16:creationId xmlns:a16="http://schemas.microsoft.com/office/drawing/2014/main" id="{B2980687-90D9-7016-3632-98FC3B81D643}"/>
              </a:ext>
            </a:extLst>
          </p:cNvPr>
          <p:cNvSpPr txBox="1">
            <a:spLocks/>
          </p:cNvSpPr>
          <p:nvPr/>
        </p:nvSpPr>
        <p:spPr>
          <a:xfrm>
            <a:off x="476250" y="342900"/>
            <a:ext cx="11239500" cy="742950"/>
          </a:xfrm>
          <a:prstGeom prst="rect">
            <a:avLst/>
          </a:prstGeom>
        </p:spPr>
        <p:txBody>
          <a:bodyPr anchor="ctr"/>
          <a:lst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a:lstStyle>
          <a:p>
            <a:pPr>
              <a:defRPr sz="2850">
                <a:solidFill>
                  <a:srgbClr val="2D3F4B"/>
                </a:solidFill>
                <a:latin typeface="Arial"/>
                <a:ea typeface="Arial"/>
                <a:cs typeface="Arial"/>
              </a:defRPr>
            </a:pPr>
            <a:r>
              <a:rPr lang="de-DE"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885825" y="3992773"/>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10491" y="3036497"/>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Grafik 12"/>
          <p:cNvPicPr>
            <a:picLocks noChangeAspect="1"/>
          </p:cNvPicPr>
          <p:nvPr/>
        </p:nvPicPr>
        <p:blipFill rotWithShape="1">
          <a:blip r:embed="rId3"/>
          <a:srcRect/>
          <a:stretch/>
        </p:blipFill>
        <p:spPr>
          <a:xfrm>
            <a:off x="5185617" y="4336553"/>
            <a:ext cx="504056" cy="224739"/>
          </a:xfrm>
          <a:prstGeom prst="rect">
            <a:avLst/>
          </a:prstGeom>
        </p:spPr>
      </p:pic>
      <p:sp>
        <p:nvSpPr>
          <p:cNvPr id="17" name="slide-title">
            <a:extLst>
              <a:ext uri="{FF2B5EF4-FFF2-40B4-BE49-F238E27FC236}">
                <a16:creationId xmlns:a16="http://schemas.microsoft.com/office/drawing/2014/main" id="{B94511CE-68DE-4BF9-98FC-216466D2C497}"/>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a:solidFill>
                  <a:srgbClr val="2D3F4B"/>
                </a:solidFill>
                <a:latin typeface="Arial"/>
                <a:ea typeface="Arial"/>
                <a:cs typeface="Arial"/>
              </a:rPr>
              <a:t>Reranking </a:t>
            </a:r>
            <a:r>
              <a:rPr sz="2850" b="0" dirty="0" err="1">
                <a:solidFill>
                  <a:srgbClr val="2D3F4B"/>
                </a:solidFill>
                <a:latin typeface="Arial"/>
                <a:ea typeface="Arial"/>
                <a:cs typeface="Arial"/>
              </a:rPr>
              <a:t>sortiert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Kandidaten</a:t>
            </a:r>
            <a:r>
              <a:rPr sz="2850" b="0" dirty="0">
                <a:solidFill>
                  <a:srgbClr val="2D3F4B"/>
                </a:solidFill>
                <a:latin typeface="Arial"/>
                <a:ea typeface="Arial"/>
                <a:cs typeface="Arial"/>
              </a:rPr>
              <a:t> – es </a:t>
            </a:r>
            <a:r>
              <a:rPr sz="2850" b="0" dirty="0" err="1">
                <a:solidFill>
                  <a:srgbClr val="2D3F4B"/>
                </a:solidFill>
                <a:latin typeface="Arial"/>
                <a:ea typeface="Arial"/>
                <a:cs typeface="Arial"/>
              </a:rPr>
              <a:t>findet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keine</a:t>
            </a:r>
            <a:r>
              <a:rPr sz="2850" b="0" dirty="0">
                <a:solidFill>
                  <a:srgbClr val="2D3F4B"/>
                </a:solidFill>
                <a:latin typeface="Arial"/>
                <a:ea typeface="Arial"/>
                <a:cs typeface="Arial"/>
              </a:rPr>
              <a:t> </a:t>
            </a:r>
            <a:r>
              <a:rPr sz="2850" b="0" dirty="0" err="1">
                <a:solidFill>
                  <a:srgbClr val="2D3F4B"/>
                </a:solidFill>
                <a:latin typeface="Arial"/>
                <a:ea typeface="Arial"/>
                <a:cs typeface="Arial"/>
              </a:rPr>
              <a:t>neuen</a:t>
            </a:r>
            <a:endParaRPr sz="2850" b="0" dirty="0">
              <a:solidFill>
                <a:srgbClr val="2D3F4B"/>
              </a:solidFill>
              <a:latin typeface="Arial"/>
              <a:ea typeface="Arial"/>
              <a:cs typeface="Arial"/>
            </a:endParaRPr>
          </a:p>
        </p:txBody>
      </p:sp>
      <p:sp>
        <p:nvSpPr>
          <p:cNvPr id="18" name="title-rule">
            <a:extLst>
              <a:ext uri="{FF2B5EF4-FFF2-40B4-BE49-F238E27FC236}">
                <a16:creationId xmlns:a16="http://schemas.microsoft.com/office/drawing/2014/main" id="{6942C085-3770-4E03-B601-DAEA48B347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14375" y="200025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666750" y="2286000"/>
            <a:ext cx="2238375" cy="78105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857250" y="24384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905125" y="2676525"/>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05250" y="200025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810000" y="230505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24300" y="238125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267200" y="238125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4357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810000" y="2809875"/>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24300" y="288607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267200" y="288607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4357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810000" y="33147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24300" y="33909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267200" y="33909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4357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810000" y="3819525"/>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24300" y="3895725"/>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267200" y="3895725"/>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43575" y="3895725"/>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77000" y="3009900"/>
            <a:ext cx="762000" cy="0"/>
          </a:xfrm>
          <a:prstGeom prst="line">
            <a:avLst/>
          </a:prstGeom>
          <a:ln w="23813">
            <a:solidFill>
              <a:srgbClr val="43858A"/>
            </a:solidFill>
            <a:prstDash val="solid"/>
          </a:ln>
        </p:spPr>
        <p:txBody>
          <a:bodyPr/>
          <a:lstStyle/>
          <a:p>
            <a:endParaRPr lang="de-CH"/>
          </a:p>
        </p:txBody>
      </p:sp>
      <p:sp>
        <p:nvSpPr>
          <p:cNvPr id="44" name="cross-encoder">
            <a:extLst>
              <a:ext uri="{FF2B5EF4-FFF2-40B4-BE49-F238E27FC236}">
                <a16:creationId xmlns:a16="http://schemas.microsoft.com/office/drawing/2014/main" id="{5ACAE4B7-BBAD-44F8-9F1E-3C128F4A775F}"/>
              </a:ext>
            </a:extLst>
          </p:cNvPr>
          <p:cNvSpPr>
            <a:spLocks noGrp="1"/>
          </p:cNvSpPr>
          <p:nvPr/>
        </p:nvSpPr>
        <p:spPr>
          <a:xfrm>
            <a:off x="7239000" y="2628900"/>
            <a:ext cx="781050" cy="781050"/>
          </a:xfrm>
          <a:prstGeom prst="ellipse">
            <a:avLst/>
          </a:prstGeom>
          <a:solidFill>
            <a:srgbClr val="43858A"/>
          </a:solidFill>
          <a:ln w="23813">
            <a:solidFill>
              <a:srgbClr val="FFFFFF"/>
            </a:solidFill>
            <a:prstDash val="solid"/>
          </a:ln>
        </p:spPr>
        <p:txBody>
          <a:bodyPr anchor="ctr"/>
          <a:lstStyle/>
          <a:p>
            <a:pPr algn="ctr">
              <a:defRPr sz="2550" b="1">
                <a:solidFill>
                  <a:srgbClr val="FFFFFF"/>
                </a:solidFill>
                <a:latin typeface="Arial"/>
                <a:ea typeface="Arial"/>
                <a:cs typeface="Arial"/>
              </a:defRPr>
            </a:pPr>
            <a:endParaRPr sz="2550" b="1" dirty="0">
              <a:solidFill>
                <a:srgbClr val="FFFFFF"/>
              </a:solidFill>
              <a:latin typeface="Arial"/>
              <a:ea typeface="Arial"/>
              <a:cs typeface="Arial"/>
            </a:endParaRPr>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58000" y="352425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58000" y="381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096250" y="30099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58250" y="200025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763000" y="230505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77300" y="238125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220200" y="238125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791825" y="238125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763000" y="280987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77300" y="288607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220200" y="288607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791825" y="2886075"/>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763000" y="33147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77300" y="33909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220200" y="33909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791825" y="33909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763000" y="3819525"/>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77300" y="3895725"/>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220200" y="3895725"/>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791825" y="3895725"/>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90750" y="4953000"/>
            <a:ext cx="7810500" cy="762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476500" y="5048250"/>
            <a:ext cx="7239000" cy="59055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Grafik 39">
            <a:extLst>
              <a:ext uri="{FF2B5EF4-FFF2-40B4-BE49-F238E27FC236}">
                <a16:creationId xmlns:a16="http://schemas.microsoft.com/office/drawing/2014/main" id="{010C40FB-D25D-CD65-BF09-E9CF2713632D}"/>
              </a:ext>
            </a:extLst>
          </p:cNvPr>
          <p:cNvPicPr>
            <a:picLocks noChangeAspect="1"/>
          </p:cNvPicPr>
          <p:nvPr/>
        </p:nvPicPr>
        <p:blipFill>
          <a:blip r:embed="rId4"/>
          <a:stretch>
            <a:fillRect/>
          </a:stretch>
        </p:blipFill>
        <p:spPr>
          <a:xfrm flipH="1">
            <a:off x="7337063" y="2714625"/>
            <a:ext cx="584924" cy="59368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4"/>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4"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476250" y="1209674"/>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1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9149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4845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220200" y="318135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62865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71500" y="2362200"/>
            <a:ext cx="1524000" cy="200025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47750" y="257175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3900" y="3181350"/>
            <a:ext cx="1219200" cy="7239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457450" y="192405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81250" y="2266950"/>
            <a:ext cx="2667000" cy="219075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609850" y="2505075"/>
            <a:ext cx="2209800" cy="714375"/>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81300" y="260985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81300" y="284797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609850" y="3438525"/>
            <a:ext cx="2209800" cy="714375"/>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81300" y="35433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81300" y="3781425"/>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95900" y="192405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305425" y="2647950"/>
            <a:ext cx="1200150" cy="120015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14975" y="3052764"/>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67325" y="3898447"/>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9450" y="192405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6953250" y="2266950"/>
            <a:ext cx="2400300" cy="219075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53325" y="310515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53325" y="310515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77225" y="27432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34250" y="2819400"/>
            <a:ext cx="590550" cy="59055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096250" y="2457450"/>
            <a:ext cx="590550" cy="59055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191500" y="3238500"/>
            <a:ext cx="590550" cy="59055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91400" y="299085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15300" y="26289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10550" y="340995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19950" y="3914775"/>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658350" y="192405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82150" y="2266950"/>
            <a:ext cx="2076450" cy="219075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810750" y="24765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858375" y="3114675"/>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839325" y="3276600"/>
            <a:ext cx="1600200" cy="8382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24050" y="4962525"/>
            <a:ext cx="8343900" cy="6858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209800" y="5076825"/>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209800" y="531495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33400" y="64389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990600" y="64389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7" name="slide-title">
            <a:extLst>
              <a:ext uri="{FF2B5EF4-FFF2-40B4-BE49-F238E27FC236}">
                <a16:creationId xmlns:a16="http://schemas.microsoft.com/office/drawing/2014/main" id="{C2984923-51DE-0413-B15B-2A1630DEB66E}"/>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52450" y="12668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52450" y="3324225"/>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45745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105400" y="211455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562100" y="28575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781800" y="28575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4310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673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134225"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743950" y="4238625"/>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39375" y="4238625"/>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609600" y="1676400"/>
            <a:ext cx="1714500" cy="120015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42950" y="17907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171575" y="207645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42950" y="24765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19400" y="1676400"/>
            <a:ext cx="2152650" cy="120015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2990850" y="17907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09900" y="21717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48300" y="1457325"/>
            <a:ext cx="2667000" cy="1419225"/>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657850" y="1565508"/>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267450" y="2213637"/>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267450" y="2213637"/>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791325" y="2042187"/>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038850" y="1994562"/>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591300" y="1823112"/>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29400" y="2299362"/>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067425" y="212791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19875" y="1956462"/>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57975" y="2432712"/>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19950" y="2466975"/>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609600" y="3752850"/>
            <a:ext cx="1200150" cy="131445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3900" y="3876675"/>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42975" y="417195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3900" y="4695825"/>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286000" y="3638550"/>
            <a:ext cx="2857500" cy="154305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476500" y="375285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457450" y="4057650"/>
            <a:ext cx="1200150" cy="8763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33650" y="4143375"/>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33650" y="440055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52850" y="4057650"/>
            <a:ext cx="1219200" cy="8763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819525" y="4143375"/>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819525" y="440055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619750" y="3752850"/>
            <a:ext cx="1390650" cy="131445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2625" y="3876675"/>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2625" y="443865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486650" y="3752850"/>
            <a:ext cx="1143000" cy="131445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600950" y="3876675"/>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05725" y="4191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600950" y="4638675"/>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86850" y="3752850"/>
            <a:ext cx="1028700" cy="131445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220200" y="3876675"/>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220200" y="4276725"/>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220200" y="4619625"/>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591800" y="3752850"/>
            <a:ext cx="1066800" cy="131445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9900" y="3876675"/>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10875" y="4200525"/>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706100" y="4657725"/>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33600" y="5476875"/>
            <a:ext cx="7924800" cy="55245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81250" y="5591175"/>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33400" y="6448425"/>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990600" y="6448425"/>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2" name="slide-title">
            <a:extLst>
              <a:ext uri="{FF2B5EF4-FFF2-40B4-BE49-F238E27FC236}">
                <a16:creationId xmlns:a16="http://schemas.microsoft.com/office/drawing/2014/main" id="{239C4669-0BE9-772E-98E4-69BE8C283166}"/>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lang="de-DE" sz="2850" b="0" dirty="0">
                <a:solidFill>
                  <a:srgbClr val="2D3F4B"/>
                </a:solidFill>
                <a:latin typeface="Arial"/>
                <a:ea typeface="Arial"/>
                <a:cs typeface="Arial"/>
              </a:rPr>
              <a:t>Hybrider </a:t>
            </a:r>
            <a:r>
              <a:rPr sz="2850" b="0" dirty="0" err="1">
                <a:solidFill>
                  <a:srgbClr val="2D3F4B"/>
                </a:solidFill>
                <a:latin typeface="Arial"/>
                <a:ea typeface="Arial"/>
                <a:cs typeface="Arial"/>
              </a:rPr>
              <a:t>GraphRAG</a:t>
            </a:r>
            <a:r>
              <a:rPr sz="2850" b="0" dirty="0">
                <a:solidFill>
                  <a:srgbClr val="2D3F4B"/>
                </a:solidFill>
                <a:latin typeface="Arial"/>
                <a:ea typeface="Arial"/>
                <a:cs typeface="Arial"/>
              </a:rPr>
              <a:t> </a:t>
            </a:r>
            <a:r>
              <a:rPr sz="2850" b="0" dirty="0" err="1">
                <a:solidFill>
                  <a:srgbClr val="2D3F4B"/>
                </a:solidFill>
                <a:latin typeface="Arial"/>
                <a:ea typeface="Arial"/>
                <a:cs typeface="Arial"/>
              </a:rPr>
              <a:t>verbindet</a:t>
            </a:r>
            <a:r>
              <a:rPr sz="2850" b="0" dirty="0">
                <a:solidFill>
                  <a:srgbClr val="2D3F4B"/>
                </a:solidFill>
                <a:latin typeface="Arial"/>
                <a:ea typeface="Arial"/>
                <a:cs typeface="Arial"/>
              </a:rPr>
              <a:t> </a:t>
            </a:r>
            <a:r>
              <a:rPr sz="2850" b="0" dirty="0" err="1">
                <a:solidFill>
                  <a:srgbClr val="2D3F4B"/>
                </a:solidFill>
                <a:latin typeface="Arial"/>
                <a:ea typeface="Arial"/>
                <a:cs typeface="Arial"/>
              </a:rPr>
              <a:t>mehrere</a:t>
            </a:r>
            <a:r>
              <a:rPr sz="2850" b="0" dirty="0">
                <a:solidFill>
                  <a:srgbClr val="2D3F4B"/>
                </a:solidFill>
                <a:latin typeface="Arial"/>
                <a:ea typeface="Arial"/>
                <a:cs typeface="Arial"/>
              </a:rPr>
              <a:t> </a:t>
            </a:r>
            <a:r>
              <a:rPr sz="2850" b="0" dirty="0" err="1">
                <a:solidFill>
                  <a:srgbClr val="2D3F4B"/>
                </a:solidFill>
                <a:latin typeface="Arial"/>
                <a:ea typeface="Arial"/>
                <a:cs typeface="Arial"/>
              </a:rPr>
              <a:t>Suchsignale</a:t>
            </a:r>
            <a:endParaRPr sz="2850" b="0" dirty="0">
              <a:solidFill>
                <a:srgbClr val="2D3F4B"/>
              </a:solidFill>
              <a:latin typeface="Arial"/>
              <a:ea typeface="Arial"/>
              <a:cs typeface="Arial"/>
            </a:endParaRPr>
          </a:p>
        </p:txBody>
      </p:sp>
    </p:spTree>
    <p:extLst>
      <p:ext uri="{BB962C8B-B14F-4D97-AF65-F5344CB8AC3E}">
        <p14:creationId xmlns:p14="http://schemas.microsoft.com/office/powerpoint/2010/main" val="10800522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rule">
            <a:extLst>
              <a:ext uri="{FF2B5EF4-FFF2-40B4-BE49-F238E27FC236}">
                <a16:creationId xmlns:a16="http://schemas.microsoft.com/office/drawing/2014/main" id="{D9277F89-7AAC-4778-8ADF-2F34CDC56F6F}"/>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619125" y="2047875"/>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61912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857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85725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3362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3362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90750" y="268605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487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095750" y="2047875"/>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095750"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33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33875"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81025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810250"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667375" y="268605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81500"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72375" y="2047875"/>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72375" y="2381250"/>
            <a:ext cx="3143250" cy="2238375"/>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810500"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810500" y="2952750"/>
            <a:ext cx="1190625" cy="55245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286875" y="264795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286875" y="2952750"/>
            <a:ext cx="1190625" cy="55245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44000" y="268605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858125" y="38481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095500" y="5000625"/>
            <a:ext cx="8001000" cy="66675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33625" y="51816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081F6242-4B33-4F6E-ABF2-96C4D73D1765}"/>
              </a:ext>
            </a:extLst>
          </p:cNvPr>
          <p:cNvSpPr>
            <a:spLocks noGrp="1"/>
          </p:cNvSpPr>
          <p:nvPr/>
        </p:nvSpPr>
        <p:spPr>
          <a:xfrm>
            <a:off x="476250" y="333375"/>
            <a:ext cx="11239500" cy="714375"/>
          </a:xfrm>
          <a:prstGeom prst="rect">
            <a:avLst/>
          </a:prstGeom>
          <a:noFill/>
          <a:ln w="0">
            <a:noFill/>
            <a:prstDash val="solid"/>
          </a:ln>
        </p:spPr>
        <p:txBody>
          <a:bodyPr anchor="ctr"/>
          <a:lstStyle/>
          <a:p>
            <a:pPr algn="l">
              <a:buNone/>
              <a:defRPr sz="2850" b="0">
                <a:solidFill>
                  <a:srgbClr val="2D3F4B"/>
                </a:solidFill>
                <a:latin typeface="Arial"/>
                <a:ea typeface="Arial"/>
                <a:cs typeface="Arial"/>
              </a:defRPr>
            </a:pPr>
            <a:r>
              <a:rPr sz="2850" b="0" dirty="0" err="1">
                <a:solidFill>
                  <a:srgbClr val="2D3F4B"/>
                </a:solidFill>
                <a:latin typeface="Arial"/>
                <a:ea typeface="Arial"/>
                <a:cs typeface="Arial"/>
              </a:rPr>
              <a:t>Besseres</a:t>
            </a:r>
            <a:r>
              <a:rPr sz="2850" b="0" dirty="0">
                <a:solidFill>
                  <a:srgbClr val="2D3F4B"/>
                </a:solidFill>
                <a:latin typeface="Arial"/>
                <a:ea typeface="Arial"/>
                <a:cs typeface="Arial"/>
              </a:rPr>
              <a:t> Retrieval </a:t>
            </a:r>
            <a:r>
              <a:rPr sz="2850" b="0" dirty="0" err="1">
                <a:solidFill>
                  <a:srgbClr val="2D3F4B"/>
                </a:solidFill>
                <a:latin typeface="Arial"/>
                <a:ea typeface="Arial"/>
                <a:cs typeface="Arial"/>
              </a:rPr>
              <a:t>verbessert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Antworten</a:t>
            </a:r>
            <a:r>
              <a:rPr sz="2850" b="0" dirty="0">
                <a:solidFill>
                  <a:srgbClr val="2D3F4B"/>
                </a:solidFill>
                <a:latin typeface="Arial"/>
                <a:ea typeface="Arial"/>
                <a:cs typeface="Arial"/>
              </a:rPr>
              <a:t> – </a:t>
            </a:r>
            <a:r>
              <a:rPr sz="2850" b="0" dirty="0" err="1">
                <a:solidFill>
                  <a:srgbClr val="2D3F4B"/>
                </a:solidFill>
                <a:latin typeface="Arial"/>
                <a:ea typeface="Arial"/>
                <a:cs typeface="Arial"/>
              </a:rPr>
              <a:t>garantiert</a:t>
            </a:r>
            <a:r>
              <a:rPr sz="2850" b="0" dirty="0">
                <a:solidFill>
                  <a:srgbClr val="2D3F4B"/>
                </a:solidFill>
                <a:latin typeface="Arial"/>
                <a:ea typeface="Arial"/>
                <a:cs typeface="Arial"/>
              </a:rPr>
              <a:t> </a:t>
            </a:r>
            <a:r>
              <a:rPr sz="2850" b="0" dirty="0" err="1">
                <a:solidFill>
                  <a:srgbClr val="2D3F4B"/>
                </a:solidFill>
                <a:latin typeface="Arial"/>
                <a:ea typeface="Arial"/>
                <a:cs typeface="Arial"/>
              </a:rPr>
              <a:t>sie</a:t>
            </a:r>
            <a:r>
              <a:rPr sz="2850" b="0" dirty="0">
                <a:solidFill>
                  <a:srgbClr val="2D3F4B"/>
                </a:solidFill>
                <a:latin typeface="Arial"/>
                <a:ea typeface="Arial"/>
                <a:cs typeface="Arial"/>
              </a:rPr>
              <a:t> </a:t>
            </a:r>
            <a:r>
              <a:rPr sz="2850" b="0" dirty="0" err="1">
                <a:solidFill>
                  <a:srgbClr val="2D3F4B"/>
                </a:solidFill>
                <a:latin typeface="Arial"/>
                <a:ea typeface="Arial"/>
                <a:cs typeface="Arial"/>
              </a:rPr>
              <a:t>aber</a:t>
            </a:r>
            <a:r>
              <a:rPr sz="2850" b="0" dirty="0">
                <a:solidFill>
                  <a:srgbClr val="2D3F4B"/>
                </a:solidFill>
                <a:latin typeface="Arial"/>
                <a:ea typeface="Arial"/>
                <a:cs typeface="Arial"/>
              </a:rPr>
              <a:t> </a:t>
            </a:r>
            <a:r>
              <a:rPr sz="2850" b="0" dirty="0" err="1">
                <a:solidFill>
                  <a:srgbClr val="2D3F4B"/>
                </a:solidFill>
                <a:latin typeface="Arial"/>
                <a:ea typeface="Arial"/>
                <a:cs typeface="Arial"/>
              </a:rPr>
              <a:t>nicht</a:t>
            </a:r>
            <a:endParaRPr sz="2850" b="0" dirty="0">
              <a:solidFill>
                <a:srgbClr val="2D3F4B"/>
              </a:solidFill>
              <a:latin typeface="Arial"/>
              <a:ea typeface="Arial"/>
              <a:cs typeface="Arial"/>
            </a:endParaRPr>
          </a:p>
        </p:txBody>
      </p:sp>
      <p:sp>
        <p:nvSpPr>
          <p:cNvPr id="3" name="title-rule">
            <a:extLst>
              <a:ext uri="{FF2B5EF4-FFF2-40B4-BE49-F238E27FC236}">
                <a16:creationId xmlns:a16="http://schemas.microsoft.com/office/drawing/2014/main" id="{4BE0893D-6444-4CF5-896E-61287A6092E5}"/>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23875" y="1362075"/>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476250" y="6353175"/>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33450" y="6353175"/>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05500" y="1933575"/>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34500" y="1933575"/>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809625" y="23812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333750" y="23336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333750" y="23336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333750" y="2524125"/>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05500" y="235267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34500" y="2333625"/>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809625" y="31051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333750" y="30575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333750" y="3057525"/>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333750" y="3248025"/>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05500" y="3095625"/>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34500" y="3076575"/>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809625" y="38290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333750" y="37814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333750" y="37814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333750" y="3971925"/>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05500" y="3813499"/>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34500" y="3824751"/>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809625" y="455295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333750" y="4505325"/>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333750" y="4505325"/>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333750" y="4695825"/>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05500" y="4543425"/>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34500" y="4543425"/>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143000" y="5286375"/>
            <a:ext cx="9906000" cy="59055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28750" y="542925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clean-canvas">
            <a:extLst>
              <a:ext uri="{FF2B5EF4-FFF2-40B4-BE49-F238E27FC236}">
                <a16:creationId xmlns:a16="http://schemas.microsoft.com/office/drawing/2014/main" id="{AC4D295C-DA35-4948-9A28-42A34DDCB8DC}"/>
              </a:ext>
            </a:extLst>
          </p:cNvPr>
          <p:cNvSpPr>
            <a:spLocks noGrp="1"/>
          </p:cNvSpPr>
          <p:nvPr/>
        </p:nvSpPr>
        <p:spPr>
          <a:xfrm>
            <a:off x="0" y="0"/>
            <a:ext cx="12192000" cy="6096000"/>
          </a:xfrm>
          <a:prstGeom prst="rect">
            <a:avLst/>
          </a:prstGeom>
          <a:solidFill>
            <a:srgbClr val="FFFFFF"/>
          </a:solidFill>
          <a:ln w="0">
            <a:solidFill>
              <a:srgbClr val="FFFFFF"/>
            </a:solidFill>
            <a:prstDash val="solid"/>
          </a:ln>
        </p:spPr>
        <p:txBody>
          <a:bodyPr/>
          <a:lstStyle/>
          <a:p>
            <a:endParaRPr lang="de-CH"/>
          </a:p>
        </p:txBody>
      </p:sp>
      <p:sp>
        <p:nvSpPr>
          <p:cNvPr id="2" name="slide-title">
            <a:extLst>
              <a:ext uri="{FF2B5EF4-FFF2-40B4-BE49-F238E27FC236}">
                <a16:creationId xmlns:a16="http://schemas.microsoft.com/office/drawing/2014/main" id="{EBF84E5B-9733-4D1C-891F-87753FEF6200}"/>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Wahlmodul: Drei Gruppen, ein gemeinsamer Befund</a:t>
            </a:r>
          </a:p>
        </p:txBody>
      </p:sp>
      <p:sp>
        <p:nvSpPr>
          <p:cNvPr id="3" name="title-rule">
            <a:extLst>
              <a:ext uri="{FF2B5EF4-FFF2-40B4-BE49-F238E27FC236}">
                <a16:creationId xmlns:a16="http://schemas.microsoft.com/office/drawing/2014/main" id="{F89291CC-D312-4577-8F2B-4346D995CEAB}"/>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7150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62000" y="2333625"/>
            <a:ext cx="552450" cy="55245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7800" y="23622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6200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85725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83820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3375"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33875" y="2333625"/>
            <a:ext cx="552450" cy="55245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19675" y="23622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33875"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429125"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410075"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15250" y="2143125"/>
            <a:ext cx="3286125" cy="28575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05750" y="2333625"/>
            <a:ext cx="552450" cy="55245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591550" y="23622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05750" y="3000375"/>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8001000" y="3095625"/>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81950" y="3714750"/>
            <a:ext cx="2762250" cy="1000125"/>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90750" y="5286375"/>
            <a:ext cx="7810500" cy="5715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428875" y="54102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EDAA12F4-DD2B-4E05-B0F5-F6000E07CF9A}"/>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sz="2850" b="0">
                <a:solidFill>
                  <a:srgbClr val="2D3F4B"/>
                </a:solidFill>
                <a:latin typeface="Arial"/>
                <a:ea typeface="Arial"/>
                <a:cs typeface="Arial"/>
              </a:rPr>
              <a:t>Frameworkwahl ist eine Betriebsentscheidung</a:t>
            </a:r>
          </a:p>
        </p:txBody>
      </p:sp>
      <p:sp>
        <p:nvSpPr>
          <p:cNvPr id="3" name="title-rule">
            <a:extLst>
              <a:ext uri="{FF2B5EF4-FFF2-40B4-BE49-F238E27FC236}">
                <a16:creationId xmlns:a16="http://schemas.microsoft.com/office/drawing/2014/main" id="{742A57DF-B26E-46AE-AE0B-871F1DC60C91}"/>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CH"/>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23875" y="1362075"/>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9750" y="4905375"/>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9750" y="2047875"/>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790700" y="5106761"/>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22821" y="510676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23875" y="1786618"/>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28637" y="4862512"/>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619375" y="2428875"/>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05000" y="2066925"/>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9750" y="2828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191125" y="3190875"/>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476750" y="2828925"/>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81500" y="359092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00875" y="2286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286500" y="192405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91250" y="268605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572500" y="3857625"/>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858125" y="3495675"/>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62875" y="4257675"/>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4125" y="5572125"/>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14625" y="565785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title">
            <a:extLst>
              <a:ext uri="{FF2B5EF4-FFF2-40B4-BE49-F238E27FC236}">
                <a16:creationId xmlns:a16="http://schemas.microsoft.com/office/drawing/2014/main" id="{4EA02B6D-B5AD-492C-AC7D-DA36712DCA39}"/>
              </a:ext>
            </a:extLst>
          </p:cNvPr>
          <p:cNvSpPr>
            <a:spLocks noGrp="1"/>
          </p:cNvSpPr>
          <p:nvPr/>
        </p:nvSpPr>
        <p:spPr>
          <a:xfrm>
            <a:off x="476250" y="333375"/>
            <a:ext cx="11239500" cy="714375"/>
          </a:xfrm>
          <a:prstGeom prst="rect">
            <a:avLst/>
          </a:prstGeom>
          <a:noFill/>
          <a:ln w="0">
            <a:noFill/>
            <a:prstDash val="solid"/>
          </a:ln>
        </p:spPr>
        <p:txBody>
          <a:bodyPr anchor="ctr"/>
          <a:lstStyle/>
          <a:p>
            <a:pPr algn="l">
              <a:defRPr sz="2850" b="0">
                <a:solidFill>
                  <a:srgbClr val="2D3F4B"/>
                </a:solidFill>
                <a:latin typeface="Arial"/>
                <a:ea typeface="Arial"/>
                <a:cs typeface="Arial"/>
              </a:defRPr>
            </a:pPr>
            <a:r>
              <a:rPr lang="de-DE" sz="2850" b="0" noProof="0" dirty="0">
                <a:solidFill>
                  <a:srgbClr val="2D3F4B"/>
                </a:solidFill>
                <a:latin typeface="Arial"/>
                <a:ea typeface="Arial"/>
                <a:cs typeface="Arial"/>
              </a:rPr>
              <a:t>Drei Leitlinien für gutes RAG</a:t>
            </a:r>
          </a:p>
        </p:txBody>
      </p:sp>
      <p:sp>
        <p:nvSpPr>
          <p:cNvPr id="3" name="title-rule">
            <a:extLst>
              <a:ext uri="{FF2B5EF4-FFF2-40B4-BE49-F238E27FC236}">
                <a16:creationId xmlns:a16="http://schemas.microsoft.com/office/drawing/2014/main" id="{F07EF700-241F-4664-BD5F-529E0F094C76}"/>
              </a:ext>
            </a:extLst>
          </p:cNvPr>
          <p:cNvSpPr>
            <a:spLocks noGrp="1"/>
          </p:cNvSpPr>
          <p:nvPr/>
        </p:nvSpPr>
        <p:spPr>
          <a:xfrm>
            <a:off x="476250" y="1133475"/>
            <a:ext cx="11239500" cy="0"/>
          </a:xfrm>
          <a:prstGeom prst="line">
            <a:avLst/>
          </a:prstGeom>
          <a:ln w="25718">
            <a:solidFill>
              <a:srgbClr val="C60C30"/>
            </a:solidFill>
            <a:prstDash val="solid"/>
          </a:ln>
        </p:spPr>
        <p:txBody>
          <a:bodyPr/>
          <a:lstStyle/>
          <a:p>
            <a:endParaRPr lang="de-DE" noProof="0" dirty="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476251" y="1362075"/>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476250" y="6353175"/>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33450" y="6353175"/>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857250" y="2095500"/>
            <a:ext cx="685800" cy="6858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57375" y="2124075"/>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334000" y="2076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57375" y="2905125"/>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857250" y="3238500"/>
            <a:ext cx="685800" cy="6858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57375" y="3267075"/>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334000" y="3219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57375" y="4048125"/>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857250" y="4381500"/>
            <a:ext cx="685800" cy="6858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57375" y="4410075"/>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334000" y="4362450"/>
            <a:ext cx="5810250" cy="59055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476500" y="5572125"/>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14625" y="560342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08.08.2026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479425" y="1412874"/>
            <a:ext cx="2016125" cy="2016125"/>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91250" y="1412873"/>
            <a:ext cx="2016125" cy="2016125"/>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91250" y="3591718"/>
            <a:ext cx="3332302" cy="1894681"/>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3970</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43</cp:revision>
  <dcterms:created xsi:type="dcterms:W3CDTF">2026-08-04T12:09:36Z</dcterms:created>
  <dcterms:modified xsi:type="dcterms:W3CDTF">2026-08-08T14:32:16Z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