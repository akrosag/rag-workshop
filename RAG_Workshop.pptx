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3"/>
  </p:notesMasterIdLst>
  <p:handoutMasterIdLst>
    <p:handoutMasterId r:id="rId34"/>
  </p:handoutMasterIdLst>
  <p:sldIdLst>
    <p:sldId id="285" r:id="rId5"/>
    <p:sldId id="294" r:id="rId6"/>
    <p:sldId id="290" r:id="rId7"/>
    <p:sldId id="279" r:id="rId8"/>
    <p:sldId id="296" r:id="rId9"/>
    <p:sldId id="301" r:id="rId10"/>
    <p:sldId id="263" r:id="rId11"/>
    <p:sldId id="304" r:id="rId12"/>
    <p:sldId id="305" r:id="rId13"/>
    <p:sldId id="266" r:id="rId14"/>
    <p:sldId id="265" r:id="rId15"/>
    <p:sldId id="306" r:id="rId16"/>
    <p:sldId id="307" r:id="rId17"/>
    <p:sldId id="308" r:id="rId18"/>
    <p:sldId id="312" r:id="rId19"/>
    <p:sldId id="313" r:id="rId20"/>
    <p:sldId id="314" r:id="rId21"/>
    <p:sldId id="315" r:id="rId22"/>
    <p:sldId id="316" r:id="rId23"/>
    <p:sldId id="274" r:id="rId24"/>
    <p:sldId id="275" r:id="rId25"/>
    <p:sldId id="276" r:id="rId26"/>
    <p:sldId id="295" r:id="rId27"/>
    <p:sldId id="300" r:id="rId28"/>
    <p:sldId id="281" r:id="rId29"/>
    <p:sldId id="278" r:id="rId30"/>
    <p:sldId id="271" r:id="rId31"/>
    <p:sldId id="270" r:id="rId32"/>
  </p:sldIdLst>
  <p:sldSz cx="12192000" cy="6858000"/>
  <p:notesSz cx="6858000" cy="9144000"/>
  <p:custDataLst>
    <p:tags r:id="rId35"/>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F4B"/>
    <a:srgbClr val="81725E"/>
    <a:srgbClr val="C3BBB2"/>
    <a:srgbClr val="C60C30"/>
    <a:srgbClr val="FA94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94660"/>
  </p:normalViewPr>
  <p:slideViewPr>
    <p:cSldViewPr snapToGrid="0">
      <p:cViewPr varScale="1">
        <p:scale>
          <a:sx n="75" d="100"/>
          <a:sy n="75" d="100"/>
        </p:scale>
        <p:origin x="327" y="27"/>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ags" Target="tags/tag1.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04.08.2026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04.08.2026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Folie baut auf den drei Anfragearten der vorherigen Folie auf. Ohne Kontext muss das Modell fehlende Details expandieren. RAG liefert relevante Dokumentstellen und macht daraus eine Kompressionsaufgabe. Translation verändert dagegen primär Darstellung oder Sprache.</a:t>
            </a:r>
          </a:p>
          <a:p>
            <a:endParaRPr/>
          </a:p>
          <a:p>
            <a:r>
              <a:t>[Sources]</a:t>
            </a:r>
          </a:p>
          <a:p>
            <a:r>
              <a:t>- Workshop - RAG (Retrieval Augmented Generation), Confluence, Seite 321455241</a:t>
            </a:r>
          </a:p>
          <a:p>
            <a:r>
              <a:t>- Google Material Design Icons: open_in_full, compress, translate; Apache License 2.0</a:t>
            </a:r>
          </a:p>
          <a:p>
            <a:r>
              <a:t>- https://github.com/google/material-design-icons</a:t>
            </a:r>
          </a:p>
          <a:p>
            <a:r>
              <a:t>- https://github.com/google/material-design-icons/blob/master/LICENSE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Context Engineering ist die bewusste Zusammenstellung dessen, was das Modell für die aktuelle Anfrage sieht. RAG liefert relevante Dokument-Chunks. MCP-Tools stellen aktuelle Daten bereit oder führen Aktionen aus. Skills aktivieren spezialisierte Anweisungen und Workflows. Das Kontextfenster enthält schließlich Frage, Verlauf und die ausgewählten Inhalte.</a:t>
            </a:r>
          </a:p>
          <a:p>
            <a:endParaRPr/>
          </a:p>
          <a:p>
            <a:r>
              <a:t>[Sources]</a:t>
            </a:r>
          </a:p>
          <a:p>
            <a:r>
              <a:t>- Workshop - RAG (Retrieval Augmented Generation), Confluence, Seite 321455241</a:t>
            </a:r>
          </a:p>
          <a:p>
            <a:r>
              <a:t>- RAG-Workshop Repository 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Das Repository ist bewusst stufenweise aufgebaut. rag-1 zeigt nur den Modellaufruf. rag-2 ergänzt Fixed-Size-Chunking, Chroma und klassisches Vector Retrieval. rag-3 führt strukturorientiertes Legal-Chunking sowie optionales Cross-Encoder-Reranking ein. rag-4 ergänzt hybrides Retrieval und Graph-Nachbarn. evaluate.py vergleicht Retrieval, Antwortqualität und Tokenverbrauch. Die Stufen sind Lernschritte und keine konkurrierenden Produktversionen.</a:t>
            </a:r>
          </a:p>
          <a:p>
            <a:endParaRPr/>
          </a:p>
          <a:p>
            <a:r>
              <a:t>[Sources]</a:t>
            </a:r>
          </a:p>
          <a:p>
            <a:r>
              <a:t>- C:/Users/mehlst/Documents/RAG-Workshop/README.md</a:t>
            </a:r>
          </a:p>
          <a:p>
            <a:r>
              <a:t>- C:/Users/mehlst/Documents/RAG-Workshop/Workshop2026-RAG-Workshop-Script.txt</a:t>
            </a:r>
          </a:p>
          <a:p>
            <a:r>
              <a:t>- C:/Users/mehlst/Documents/RAG-Workshop/rag-1-chat.py</a:t>
            </a:r>
          </a:p>
          <a:p>
            <a:r>
              <a:t>- C:/Users/mehlst/Documents/RAG-Workshop/rag-2a-ingest.py</a:t>
            </a:r>
          </a:p>
          <a:p>
            <a:r>
              <a:t>- C:/Users/mehlst/Documents/RAG-Workshop/rag-3a-ingest.py</a:t>
            </a:r>
          </a:p>
          <a:p>
            <a:r>
              <a:t>- C:/Users/mehlst/Documents/RAG-Workshop/rag-4b-chat.py</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Pipeline hat zwei Betriebsarten: Der Ingest bereitet die Dokumente typischerweise einmalig vor. Bei jeder Anfrage wird die Frage gesucht, der passende Kontext ausgewählt und anschließend die Antwort erzeugt. Wichtig: Frage und Dokumente müssen mit kompatiblen Embeddings verglichen werden. Im Projekt speichert Chroma Dokument, Metadaten und Vektor; Chat und Embeddings laufen über den OpenAI-kompatiblen Marvin-Endpoint.</a:t>
            </a:r>
          </a:p>
          <a:p>
            <a:endParaRPr/>
          </a:p>
          <a:p>
            <a:r>
              <a:t>[Sources]</a:t>
            </a:r>
          </a:p>
          <a:p>
            <a:r>
              <a:t>- https://intranet.nosergroup.com/pages/viewpage.action?pageId=321455241</a:t>
            </a:r>
          </a:p>
          <a:p>
            <a:r>
              <a:t>- C:/Users/mehlst/Documents/RAG-Workshop/rag-2a-ingest.py</a:t>
            </a:r>
          </a:p>
          <a:p>
            <a:r>
              <a:t>- C:/Users/mehlst/Documents/RAG-Workshop/rag-2b-chat.py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E7CED-9EBA-546F-8AF0-636B4FF0E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F082B-143D-6A19-8B7A-4ABE17C8C716}"/>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24A73E1D-3B76-08FF-F6EE-93D449CE9DC6}"/>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7B7836BC-FBC3-16D0-89C3-A1CB8B10005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7543380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Fixed-Size-Chunking schneidet nach einer festen Zeichenzahl. Dadurch können Sätze oder Artikelübergänge an einer beliebigen Stelle getrennt werden. Die Stage-3-Logik startet primär an Artikelüberschriften, trennt übergrosse Artikel zusätzlich an Satzgrenzen und führt kleine zusammengehörige Blöcke bis zum Budget zusammen. Das Beispiel ist didaktisch verkürzt; es visualisiert die mögliche Grenze des Stage-2-Algorithmus.</a:t>
            </a:r>
          </a:p>
          <a:p>
            <a:endParaRPr/>
          </a:p>
          <a:p>
            <a:r>
              <a:t>[Sources]</a:t>
            </a:r>
          </a:p>
          <a:p>
            <a:r>
              <a:t>- C:/Users/mehlst/Documents/RAG-Workshop/rag-2a-ingest.py</a:t>
            </a:r>
          </a:p>
          <a:p>
            <a:r>
              <a:t>- C:/Users/mehlst/Documents/RAG-Workshop/rag-3a-ingest.py</a:t>
            </a:r>
          </a:p>
          <a:p>
            <a:r>
              <a:t>- C:/Users/mehlst/Documents/RAG-Workshop/Verification_semantic_chunking.md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rag-3c holt zunächst Vector-Kandidaten und bewertet anschließend Frage und Chunk gemeinsam mit einem Cross-Encoder. Nur die bestbewerteten Chunks gehen in den Prompt. Reranking verbessert Präzision und Reihenfolge, aber nicht den Kandidaten-Recall.</a:t>
            </a:r>
          </a:p>
          <a:p>
            <a:endParaRPr/>
          </a:p>
          <a:p>
            <a:r>
              <a:t>[Sources]</a:t>
            </a:r>
          </a:p>
          <a:p>
            <a:r>
              <a:t>- C:/Users/mehlst/Documents/RAG-Workshop/rag-3c-chat-rerank.py</a:t>
            </a:r>
          </a:p>
          <a:p>
            <a:r>
              <a:t>- C:/Users/mehlst/Documents/RAG-Workshop/Workshop2026-RAG-Workshop-Script.txt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graph_retrieve kombiniert semantische Treffer mit lexikalischen Artikelkandidaten. Reciprocal Rank Fusion führt die Rankings zusammen. Erst danach werden Graph-Nachbarn und erkannte Artikelverweise ergänzt. Der Graph ersetzt die Suche nicht, sondern erweitert gute Seeds.</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Im aktuellen Lauf erreichen Vector und Graph jeweils 100 Prozent Article Recall@K. Die MRR-Werte sind praktisch gleich. GraphRAG benötigt durchschnittlich 746 statt 857 Prompt-Kontext-Tokens, also 13 Prozent weniger. Diese Werte stammen aus acht Fragen und sind keine allgemeine Benchmark.</a:t>
            </a:r>
          </a:p>
          <a:p>
            <a:endParaRPr/>
          </a:p>
          <a:p>
            <a:r>
              <a:t>[Sources]</a:t>
            </a:r>
          </a:p>
          <a:p>
            <a:r>
              <a:t>- C:/Users/mehlst/Documents/RAG-Workshop/evaluation/report.md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GraphRAG deckt im aktuellen Lauf mehr erwartete Fakten ab, liegt aber bei Expected-citation Precision, Citation Grounding und Citation Completeness hinter Vector-RAG. Deshalb müssen Retrieval- und Antwortmetriken gemeinsam interpretiert werden. Term Coverage bleibt nur eine Diagnosemetrik.</a:t>
            </a:r>
          </a:p>
          <a:p>
            <a:endParaRPr/>
          </a:p>
          <a:p>
            <a:r>
              <a:t>[Sources]</a:t>
            </a:r>
          </a:p>
          <a:p>
            <a:r>
              <a:t>- C:/Users/mehlst/Documents/RAG-Workshop/evaluation/report.md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Gruppen arbeiten parallel an Chunking, Reranking oder Graph plus Evaluation. Jede Gruppe berichtet maximal zwei Minuten und beantwortet drei Fragen: Was wurde ausgeführt oder verändert? Was wurde besser oder schlechter? Welche Grenze bleibt bestehen?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Matrix ist eine qualitative Orientierung, keine Rangliste. From scratch maximiert Verständnis und Kontrolle. Frameworks reduzieren Implementierungsaufwand. LangGraph adressiert komplexere zustandsbasierte Abläufe. Managed Services reduzieren Eigenbetrieb, erhöhen aber Abhängigkeit und erfordern eine Prüfung von Datenresidenz, Berechtigungen, Kosten und Lock-in.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drei Leitlinien fassen den Workshop zusammen. Kontext ist ein Engineering-Artefakt. Retrieval und Antwortqualität brauchen getrennte Metriken. Komplexität wie Reranking oder GraphRAG sollte nur ergänzt werden, wenn ein konkretes Problem gemessen wurde.</a:t>
            </a:r>
          </a:p>
          <a:p>
            <a:endParaRPr/>
          </a:p>
          <a:p>
            <a:r>
              <a:t>[Sources]</a:t>
            </a:r>
          </a:p>
          <a:p>
            <a:r>
              <a:t>- C:/Users/mehlst/Documents/RAG-Workshop/Workshop2026-RAG-Workshop-Script.txt</a:t>
            </a:r>
          </a:p>
          <a:p>
            <a:r>
              <a:t>- C:/Users/mehlst/Documents/RAG-Workshop/evaluation/report.md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04.08.2026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04.08.2026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04.08.2026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04.08.2026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04.08.2026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04.08.2026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04.08.2026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04.08.2026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04.08.2026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04.08.2026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04.08.2026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3" Type="http://schemas.openxmlformats.org/officeDocument/2006/relationships/image" Target="../media/image14.png"/><Relationship Id="rId21" Type="http://schemas.openxmlformats.org/officeDocument/2006/relationships/image" Target="../media/image32.png"/><Relationship Id="rId7" Type="http://schemas.openxmlformats.org/officeDocument/2006/relationships/image" Target="../media/image18.png"/><Relationship Id="rId12" Type="http://schemas.openxmlformats.org/officeDocument/2006/relationships/image" Target="../media/image23.png"/><Relationship Id="rId17" Type="http://schemas.openxmlformats.org/officeDocument/2006/relationships/image" Target="../media/image28.png"/><Relationship Id="rId2" Type="http://schemas.openxmlformats.org/officeDocument/2006/relationships/notesSlide" Target="../notesSlides/notesSlide6.xml"/><Relationship Id="rId16" Type="http://schemas.openxmlformats.org/officeDocument/2006/relationships/image" Target="../media/image27.png"/><Relationship Id="rId20" Type="http://schemas.openxmlformats.org/officeDocument/2006/relationships/image" Target="../media/image31.png"/><Relationship Id="rId1" Type="http://schemas.openxmlformats.org/officeDocument/2006/relationships/slideLayout" Target="../slideLayouts/slideLayout9.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5" Type="http://schemas.openxmlformats.org/officeDocument/2006/relationships/image" Target="../media/image26.png"/><Relationship Id="rId10" Type="http://schemas.openxmlformats.org/officeDocument/2006/relationships/image" Target="../media/image21.png"/><Relationship Id="rId19" Type="http://schemas.openxmlformats.org/officeDocument/2006/relationships/image" Target="../media/image30.png"/><Relationship Id="rId4" Type="http://schemas.openxmlformats.org/officeDocument/2006/relationships/image" Target="../media/image15.png"/><Relationship Id="rId9" Type="http://schemas.openxmlformats.org/officeDocument/2006/relationships/image" Target="../media/image20.png"/><Relationship Id="rId1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jp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18" Type="http://schemas.openxmlformats.org/officeDocument/2006/relationships/image" Target="../media/image30.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17" Type="http://schemas.openxmlformats.org/officeDocument/2006/relationships/image" Target="../media/image29.png"/><Relationship Id="rId2" Type="http://schemas.openxmlformats.org/officeDocument/2006/relationships/image" Target="../media/image14.png"/><Relationship Id="rId16" Type="http://schemas.openxmlformats.org/officeDocument/2006/relationships/image" Target="../media/image28.png"/><Relationship Id="rId20" Type="http://schemas.openxmlformats.org/officeDocument/2006/relationships/image" Target="../media/image32.png"/><Relationship Id="rId1" Type="http://schemas.openxmlformats.org/officeDocument/2006/relationships/slideLayout" Target="../slideLayouts/slideLayout9.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19" Type="http://schemas.openxmlformats.org/officeDocument/2006/relationships/image" Target="../media/image31.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tags" Target="../tags/tag5.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image" Target="../media/image33.png"/><Relationship Id="rId5" Type="http://schemas.openxmlformats.org/officeDocument/2006/relationships/slideLayout" Target="../slideLayouts/slideLayout3.xml"/><Relationship Id="rId4" Type="http://schemas.openxmlformats.org/officeDocument/2006/relationships/tags" Target="../tags/tag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73ECF5-4E9B-4C5C-97FC-C367FF4B9AB9}"/>
              </a:ext>
            </a:extLst>
          </p:cNvPr>
          <p:cNvSpPr>
            <a:spLocks noGrp="1"/>
          </p:cNvSpPr>
          <p:nvPr>
            <p:ph type="title"/>
          </p:nvPr>
        </p:nvSpPr>
        <p:spPr/>
        <p:txBody>
          <a:bodyPr/>
          <a:lstStyle/>
          <a:p>
            <a:r>
              <a:rPr lang="de-CH" dirty="0"/>
              <a:t>Tipps und Tricks</a:t>
            </a:r>
          </a:p>
        </p:txBody>
      </p:sp>
      <p:sp>
        <p:nvSpPr>
          <p:cNvPr id="3" name="Datumsplatzhalter 2">
            <a:extLst>
              <a:ext uri="{FF2B5EF4-FFF2-40B4-BE49-F238E27FC236}">
                <a16:creationId xmlns:a16="http://schemas.microsoft.com/office/drawing/2014/main" id="{AD9B1177-0F48-4E0B-BC1E-0B405DFCBAED}"/>
              </a:ext>
            </a:extLst>
          </p:cNvPr>
          <p:cNvSpPr>
            <a:spLocks noGrp="1"/>
          </p:cNvSpPr>
          <p:nvPr>
            <p:ph type="dt" sz="half" idx="10"/>
          </p:nvPr>
        </p:nvSpPr>
        <p:spPr/>
        <p:txBody>
          <a:bodyPr/>
          <a:lstStyle/>
          <a:p>
            <a:fld id="{AB3AEEF6-9BAD-47BA-B5E5-0F02FE43D1AF}" type="datetime1">
              <a:rPr lang="de-CH" smtClean="0"/>
              <a:t>04.08.2026</a:t>
            </a:fld>
            <a:endParaRPr lang="de-CH" dirty="0"/>
          </a:p>
        </p:txBody>
      </p:sp>
      <p:sp>
        <p:nvSpPr>
          <p:cNvPr id="5" name="Foliennummernplatzhalter 4">
            <a:extLst>
              <a:ext uri="{FF2B5EF4-FFF2-40B4-BE49-F238E27FC236}">
                <a16:creationId xmlns:a16="http://schemas.microsoft.com/office/drawing/2014/main" id="{47A53583-76E5-4A9B-A4F2-8BD2E49EEEB1}"/>
              </a:ext>
            </a:extLst>
          </p:cNvPr>
          <p:cNvSpPr>
            <a:spLocks noGrp="1"/>
          </p:cNvSpPr>
          <p:nvPr>
            <p:ph type="sldNum" sz="quarter" idx="12"/>
          </p:nvPr>
        </p:nvSpPr>
        <p:spPr/>
        <p:txBody>
          <a:bodyPr/>
          <a:lstStyle/>
          <a:p>
            <a:fld id="{CE7E00E2-F08D-429A-AD9B-1ECBEC02F4DB}" type="slidenum">
              <a:rPr lang="de-CH" smtClean="0"/>
              <a:t>1</a:t>
            </a:fld>
            <a:endParaRPr lang="de-CH" dirty="0"/>
          </a:p>
        </p:txBody>
      </p:sp>
      <p:sp>
        <p:nvSpPr>
          <p:cNvPr id="6" name="Inhaltsplatzhalter 5">
            <a:extLst>
              <a:ext uri="{FF2B5EF4-FFF2-40B4-BE49-F238E27FC236}">
                <a16:creationId xmlns:a16="http://schemas.microsoft.com/office/drawing/2014/main" id="{5FEC974A-2F70-42E7-AB34-5DA141EDDE71}"/>
              </a:ext>
            </a:extLst>
          </p:cNvPr>
          <p:cNvSpPr>
            <a:spLocks noGrp="1"/>
          </p:cNvSpPr>
          <p:nvPr>
            <p:ph sz="quarter" idx="13"/>
          </p:nvPr>
        </p:nvSpPr>
        <p:spPr>
          <a:xfrm>
            <a:off x="482461" y="1412875"/>
            <a:ext cx="8172255" cy="4752975"/>
          </a:xfrm>
        </p:spPr>
        <p:txBody>
          <a:bodyPr/>
          <a:lstStyle/>
          <a:p>
            <a:pPr marL="12600" indent="0">
              <a:buNone/>
            </a:pPr>
            <a:r>
              <a:rPr lang="de-CH" sz="1400" b="1" dirty="0"/>
              <a:t>Folien kopieren</a:t>
            </a:r>
            <a:br>
              <a:rPr lang="de-CH" sz="1400" dirty="0"/>
            </a:br>
            <a:r>
              <a:rPr lang="de-CH" sz="1400" dirty="0"/>
              <a:t>Bitte keine </a:t>
            </a:r>
            <a:r>
              <a:rPr lang="de-CH" sz="1400" dirty="0" err="1"/>
              <a:t>Slides</a:t>
            </a:r>
            <a:r>
              <a:rPr lang="de-CH" sz="1400" dirty="0"/>
              <a:t> aus anderen Präsentationen kopieren. Da schleppt man immer «Schmutz» ein, der nur schwer wieder wegzubekommen ist. Kopiere statt dessen nur Inhalte und nicht den «Platzhalter»*. Also den Inhalt der Überschrift und die Inhalte der anderen Folienelemente. Frei platzierte Textkästen und Bilder können einfach so kopiert werden.</a:t>
            </a:r>
          </a:p>
          <a:p>
            <a:pPr marL="12600" indent="0">
              <a:buNone/>
            </a:pPr>
            <a:r>
              <a:rPr lang="de-CH" sz="1400" dirty="0"/>
              <a:t>Kontrollmöglichkeit, ob fremde Layouts importiert wurden: Sobald mehr als zehn Layouts in der Übersicht erkennbar sind, wurden durchs Kopieren fremde Layouts «importiert». Muss unter «Ansicht» Folienmaster bereinigt bzw. gelöscht werden.</a:t>
            </a:r>
          </a:p>
          <a:p>
            <a:pPr marL="12600" indent="0">
              <a:buNone/>
            </a:pPr>
            <a:r>
              <a:rPr lang="de-CH" sz="1400" b="1" dirty="0"/>
              <a:t>Schriftgrösse</a:t>
            </a:r>
            <a:br>
              <a:rPr lang="de-CH" sz="1400" dirty="0"/>
            </a:br>
            <a:r>
              <a:rPr lang="de-CH" sz="1400" dirty="0"/>
              <a:t>Werden </a:t>
            </a:r>
            <a:r>
              <a:rPr lang="de-CH" sz="1400" dirty="0" err="1"/>
              <a:t>Slides</a:t>
            </a:r>
            <a:r>
              <a:rPr lang="de-CH" sz="1400" dirty="0"/>
              <a:t> für vor Ort Referate eingesetzt, muss die Schrift je nach Leinwand- und Saalgrösse angepasst werden, so dass der Text gut lesbar ist. Bei vortragsbegleitenden Folien gilt die Regel: Der Inhalt muss vom Publikum in 2 bis 4 Sekunden erfasst sein. Es darf also gar nicht viel auf eine Folie. </a:t>
            </a:r>
          </a:p>
          <a:p>
            <a:pPr marL="12600" indent="0">
              <a:buNone/>
            </a:pPr>
            <a:r>
              <a:rPr lang="de-CH" sz="1400" b="1" dirty="0"/>
              <a:t>Dateigrösse wegen Bilder</a:t>
            </a:r>
            <a:br>
              <a:rPr lang="de-CH" sz="1400" dirty="0"/>
            </a:br>
            <a:r>
              <a:rPr lang="de-CH" sz="1400" dirty="0"/>
              <a:t>PowerPoint rechnet die eingefügten Bilder automatisch herunter. Um grosse Dateimengen zu vermeiden macht es Sinn, Bilder vorab zuzuschneiden. Die richtige Grösse für Titelfolien liegt bei </a:t>
            </a:r>
            <a:br>
              <a:rPr lang="de-CH" sz="1400" dirty="0"/>
            </a:br>
            <a:r>
              <a:rPr lang="de-CH" sz="1400" dirty="0"/>
              <a:t>1920 x 540 </a:t>
            </a:r>
            <a:r>
              <a:rPr lang="de-CH" sz="1400" dirty="0" err="1"/>
              <a:t>px</a:t>
            </a:r>
            <a:r>
              <a:rPr lang="de-CH" sz="1400" dirty="0"/>
              <a:t>, für Trennfolien bei 1920 x 700 </a:t>
            </a:r>
            <a:r>
              <a:rPr lang="de-CH" sz="1400" dirty="0" err="1"/>
              <a:t>px</a:t>
            </a:r>
            <a:r>
              <a:rPr lang="de-CH" sz="1400" dirty="0"/>
              <a:t>. Wenn möglich bitte JPG anstatt PNG verwenden.</a:t>
            </a:r>
          </a:p>
          <a:p>
            <a:pPr marL="12600" indent="0">
              <a:spcAft>
                <a:spcPts val="0"/>
              </a:spcAft>
              <a:buNone/>
            </a:pPr>
            <a:r>
              <a:rPr lang="de-CH" sz="1400" b="1" dirty="0"/>
              <a:t>AKROS Bildwelt</a:t>
            </a:r>
          </a:p>
          <a:p>
            <a:pPr marL="12600" indent="0">
              <a:buNone/>
            </a:pPr>
            <a:r>
              <a:rPr lang="de-CH" sz="1400" dirty="0"/>
              <a:t>Bei Bedarf dürfen weitere Bilder aus der Bildwelt für Trennfolien verwendet werden. Diese sind unter folgendem Microsoft Teams Kanal zu finden: AKROS Infos &gt; Marketing &gt; Dateien &gt; Bilddatenbank</a:t>
            </a:r>
          </a:p>
          <a:p>
            <a:pPr marL="12600" indent="0">
              <a:buNone/>
            </a:pPr>
            <a:endParaRPr lang="de-CH" sz="1400" dirty="0"/>
          </a:p>
        </p:txBody>
      </p:sp>
      <p:sp>
        <p:nvSpPr>
          <p:cNvPr id="10" name="Textfeld 9">
            <a:extLst>
              <a:ext uri="{FF2B5EF4-FFF2-40B4-BE49-F238E27FC236}">
                <a16:creationId xmlns:a16="http://schemas.microsoft.com/office/drawing/2014/main" id="{2D5A0071-D1A5-4470-BB9C-ED9720BCB4A0}"/>
              </a:ext>
            </a:extLst>
          </p:cNvPr>
          <p:cNvSpPr txBox="1"/>
          <p:nvPr/>
        </p:nvSpPr>
        <p:spPr>
          <a:xfrm>
            <a:off x="9047747" y="4776533"/>
            <a:ext cx="2815390" cy="861774"/>
          </a:xfrm>
          <a:prstGeom prst="rect">
            <a:avLst/>
          </a:prstGeom>
          <a:noFill/>
        </p:spPr>
        <p:txBody>
          <a:bodyPr wrap="square" lIns="0" tIns="0" rIns="0" bIns="0" rtlCol="0">
            <a:spAutoFit/>
          </a:bodyPr>
          <a:lstStyle/>
          <a:p>
            <a:pPr algn="l"/>
            <a:r>
              <a:rPr lang="de-CH" sz="1400" dirty="0"/>
              <a:t>*Diese zehn Folienlayouts sind vorgegeben. Die gestrichelten Rahmen sind sogenannte «Platzhalter». </a:t>
            </a:r>
          </a:p>
        </p:txBody>
      </p:sp>
      <p:pic>
        <p:nvPicPr>
          <p:cNvPr id="13" name="Grafik 12" descr="Ein Bild, das Text, Screenshot, Website, Webseite enthält.&#10;&#10;Automatisch generierte Beschreibung">
            <a:extLst>
              <a:ext uri="{FF2B5EF4-FFF2-40B4-BE49-F238E27FC236}">
                <a16:creationId xmlns:a16="http://schemas.microsoft.com/office/drawing/2014/main" id="{BE85139E-A434-2AD9-3B8E-5507AB7B46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32679" y="1412875"/>
            <a:ext cx="1627045" cy="3115791"/>
          </a:xfrm>
          <a:prstGeom prst="rect">
            <a:avLst/>
          </a:prstGeom>
        </p:spPr>
      </p:pic>
    </p:spTree>
    <p:extLst>
      <p:ext uri="{BB962C8B-B14F-4D97-AF65-F5344CB8AC3E}">
        <p14:creationId xmlns:p14="http://schemas.microsoft.com/office/powerpoint/2010/main" val="551017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C01358AF-E5C9-6B84-A559-B87349FE4955}"/>
              </a:ext>
            </a:extLst>
          </p:cNvPr>
          <p:cNvSpPr>
            <a:spLocks noGrp="1"/>
          </p:cNvSpPr>
          <p:nvPr>
            <p:ph type="dt" sz="half" idx="10"/>
          </p:nvPr>
        </p:nvSpPr>
        <p:spPr/>
        <p:txBody>
          <a:bodyPr/>
          <a:lstStyle/>
          <a:p>
            <a:fld id="{BF60FE83-14F8-4BE1-96C4-C952106104A6}" type="datetime1">
              <a:rPr lang="de-CH" smtClean="0"/>
              <a:t>04.08.2026</a:t>
            </a:fld>
            <a:endParaRPr lang="de-CH" dirty="0"/>
          </a:p>
        </p:txBody>
      </p:sp>
      <p:sp>
        <p:nvSpPr>
          <p:cNvPr id="3" name="Foliennummernplatzhalter 2">
            <a:extLst>
              <a:ext uri="{FF2B5EF4-FFF2-40B4-BE49-F238E27FC236}">
                <a16:creationId xmlns:a16="http://schemas.microsoft.com/office/drawing/2014/main" id="{9C257CCA-F598-4660-1F22-ACFC98C2C80B}"/>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4" name="Titel 3">
            <a:extLst>
              <a:ext uri="{FF2B5EF4-FFF2-40B4-BE49-F238E27FC236}">
                <a16:creationId xmlns:a16="http://schemas.microsoft.com/office/drawing/2014/main" id="{0BB82BCD-90C9-F5E0-8E1F-3549A918F74F}"/>
              </a:ext>
            </a:extLst>
          </p:cNvPr>
          <p:cNvSpPr>
            <a:spLocks noGrp="1"/>
          </p:cNvSpPr>
          <p:nvPr>
            <p:ph type="title"/>
          </p:nvPr>
        </p:nvSpPr>
        <p:spPr/>
        <p:txBody>
          <a:bodyPr/>
          <a:lstStyle/>
          <a:p>
            <a:r>
              <a:rPr lang="de-DE" dirty="0"/>
              <a:t>Trennfolie ohne Bild</a:t>
            </a:r>
          </a:p>
        </p:txBody>
      </p:sp>
    </p:spTree>
    <p:extLst>
      <p:ext uri="{BB962C8B-B14F-4D97-AF65-F5344CB8AC3E}">
        <p14:creationId xmlns:p14="http://schemas.microsoft.com/office/powerpoint/2010/main" val="11097534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04.08.2026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3</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514351"/>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p:txBody>
      </p:sp>
    </p:spTree>
    <p:extLst>
      <p:ext uri="{BB962C8B-B14F-4D97-AF65-F5344CB8AC3E}">
        <p14:creationId xmlns:p14="http://schemas.microsoft.com/office/powerpoint/2010/main" val="10870274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04.08.2026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4</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04.08.2026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5</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04.08.2026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6</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bereitbestellten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a:t>04.08.2026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7</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r:embed="rId3">
            <a:extLst>
              <a:ext uri="{96DAC541-7B7A-43D3-8B79-37D633B846F1}">
                <asvg:svgBlip xmlns:asvg="http://schemas.microsoft.com/office/drawing/2016/SVG/main" r:embed="rId4"/>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r:embed="rId5">
            <a:extLst>
              <a:ext uri="{96DAC541-7B7A-43D3-8B79-37D633B846F1}">
                <asvg:svgBlip xmlns:asvg="http://schemas.microsoft.com/office/drawing/2016/SVG/main" r:embed="rId6"/>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r:embed="rId7">
            <a:extLst>
              <a:ext uri="{96DAC541-7B7A-43D3-8B79-37D633B846F1}">
                <asvg:svgBlip xmlns:asvg="http://schemas.microsoft.com/office/drawing/2016/SVG/main" r:embed="rId8"/>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CAE26B-4865-C6F0-5B97-694858312949}"/>
              </a:ext>
            </a:extLst>
          </p:cNvPr>
          <p:cNvSpPr>
            <a:spLocks noGrp="1"/>
          </p:cNvSpPr>
          <p:nvPr>
            <p:ph type="title"/>
          </p:nvPr>
        </p:nvSpPr>
        <p:spPr/>
        <p:txBody>
          <a:bodyPr/>
          <a:lstStyle/>
          <a:p>
            <a:r>
              <a:rPr lang="de-DE" dirty="0"/>
              <a:t>Bausteine eines guten LLM-</a:t>
            </a:r>
            <a:r>
              <a:rPr lang="de-DE" dirty="0" err="1"/>
              <a:t>Contexts</a:t>
            </a:r>
            <a:endParaRPr lang="de-CH" dirty="0"/>
          </a:p>
        </p:txBody>
      </p:sp>
      <p:sp>
        <p:nvSpPr>
          <p:cNvPr id="3" name="Datumsplatzhalter 2">
            <a:extLst>
              <a:ext uri="{FF2B5EF4-FFF2-40B4-BE49-F238E27FC236}">
                <a16:creationId xmlns:a16="http://schemas.microsoft.com/office/drawing/2014/main" id="{B4438418-9676-7CB0-887F-B094922C97AC}"/>
              </a:ext>
            </a:extLst>
          </p:cNvPr>
          <p:cNvSpPr>
            <a:spLocks noGrp="1"/>
          </p:cNvSpPr>
          <p:nvPr>
            <p:ph type="dt" sz="half" idx="10"/>
          </p:nvPr>
        </p:nvSpPr>
        <p:spPr/>
        <p:txBody>
          <a:bodyPr/>
          <a:lstStyle/>
          <a:p>
            <a:fld id="{E2111384-F462-4D90-9803-E7B6DB23FD1B}" type="datetime1">
              <a:rPr lang="de-CH" smtClean="0"/>
              <a:t>04.08.2026</a:t>
            </a:fld>
            <a:endParaRPr lang="de-CH" dirty="0"/>
          </a:p>
        </p:txBody>
      </p:sp>
      <p:sp>
        <p:nvSpPr>
          <p:cNvPr id="4" name="Foliennummernplatzhalter 3">
            <a:extLst>
              <a:ext uri="{FF2B5EF4-FFF2-40B4-BE49-F238E27FC236}">
                <a16:creationId xmlns:a16="http://schemas.microsoft.com/office/drawing/2014/main" id="{A01BAB59-63EB-59FA-5985-3F6EC05966A0}"/>
              </a:ext>
            </a:extLst>
          </p:cNvPr>
          <p:cNvSpPr>
            <a:spLocks noGrp="1"/>
          </p:cNvSpPr>
          <p:nvPr>
            <p:ph type="sldNum" sz="quarter" idx="12"/>
          </p:nvPr>
        </p:nvSpPr>
        <p:spPr/>
        <p:txBody>
          <a:bodyPr/>
          <a:lstStyle/>
          <a:p>
            <a:fld id="{CE7E00E2-F08D-429A-AD9B-1ECBEC02F4DB}" type="slidenum">
              <a:rPr lang="de-CH" smtClean="0"/>
              <a:t>8</a:t>
            </a:fld>
            <a:endParaRPr lang="de-CH" dirty="0"/>
          </a:p>
        </p:txBody>
      </p:sp>
      <p:sp>
        <p:nvSpPr>
          <p:cNvPr id="7" name="Inhaltsplatzhalter 6">
            <a:extLst>
              <a:ext uri="{FF2B5EF4-FFF2-40B4-BE49-F238E27FC236}">
                <a16:creationId xmlns:a16="http://schemas.microsoft.com/office/drawing/2014/main" id="{EF25329D-BC93-CDC7-FF93-C91335CE3538}"/>
              </a:ext>
            </a:extLst>
          </p:cNvPr>
          <p:cNvSpPr>
            <a:spLocks noGrp="1"/>
          </p:cNvSpPr>
          <p:nvPr>
            <p:ph sz="quarter" idx="13"/>
          </p:nvPr>
        </p:nvSpPr>
        <p:spPr>
          <a:xfrm>
            <a:off x="482461" y="1412876"/>
            <a:ext cx="11230114" cy="914400"/>
          </a:xfrm>
        </p:spPr>
        <p:txBody>
          <a:bodyPr/>
          <a:lstStyle/>
          <a:p>
            <a:r>
              <a:rPr lang="de-DE" b="1" dirty="0" err="1"/>
              <a:t>Context</a:t>
            </a:r>
            <a:r>
              <a:rPr lang="de-DE" b="1" dirty="0"/>
              <a:t> Engineering </a:t>
            </a:r>
            <a:r>
              <a:rPr lang="de-DE" dirty="0"/>
              <a:t>entscheidet, welcher Kontext wann ins Modell gelangt. RAG ist ein Baustein davon.</a:t>
            </a:r>
          </a:p>
          <a:p>
            <a:endParaRPr lang="de-CH" dirty="0"/>
          </a:p>
        </p:txBody>
      </p:sp>
      <p:grpSp>
        <p:nvGrpSpPr>
          <p:cNvPr id="39" name="Gruppieren 38">
            <a:extLst>
              <a:ext uri="{FF2B5EF4-FFF2-40B4-BE49-F238E27FC236}">
                <a16:creationId xmlns:a16="http://schemas.microsoft.com/office/drawing/2014/main" id="{0CDAD6E9-ABA1-D534-4676-D5C3800CC927}"/>
              </a:ext>
            </a:extLst>
          </p:cNvPr>
          <p:cNvGrpSpPr/>
          <p:nvPr/>
        </p:nvGrpSpPr>
        <p:grpSpPr>
          <a:xfrm>
            <a:off x="668263" y="2727392"/>
            <a:ext cx="2441575" cy="1512075"/>
            <a:chOff x="668263" y="2727392"/>
            <a:chExt cx="2441575" cy="1512075"/>
          </a:xfrm>
        </p:grpSpPr>
        <p:grpSp>
          <p:nvGrpSpPr>
            <p:cNvPr id="10" name="Gruppieren 9">
              <a:extLst>
                <a:ext uri="{FF2B5EF4-FFF2-40B4-BE49-F238E27FC236}">
                  <a16:creationId xmlns:a16="http://schemas.microsoft.com/office/drawing/2014/main" id="{48E03A85-2053-4E42-9162-19F71FCDE85A}"/>
                </a:ext>
              </a:extLst>
            </p:cNvPr>
            <p:cNvGrpSpPr/>
            <p:nvPr/>
          </p:nvGrpSpPr>
          <p:grpSpPr>
            <a:xfrm>
              <a:off x="668266" y="2727392"/>
              <a:ext cx="2441572" cy="1512075"/>
              <a:chOff x="668265" y="2727391"/>
              <a:chExt cx="3419476" cy="1787082"/>
            </a:xfrm>
          </p:grpSpPr>
          <p:sp>
            <p:nvSpPr>
              <p:cNvPr id="8" name="Rechteck: abgerundete Ecken 7">
                <a:extLst>
                  <a:ext uri="{FF2B5EF4-FFF2-40B4-BE49-F238E27FC236}">
                    <a16:creationId xmlns:a16="http://schemas.microsoft.com/office/drawing/2014/main" id="{BA7C0937-B2BE-8B82-56EA-1B376899F8C6}"/>
                  </a:ext>
                </a:extLst>
              </p:cNvPr>
              <p:cNvSpPr/>
              <p:nvPr/>
            </p:nvSpPr>
            <p:spPr>
              <a:xfrm>
                <a:off x="668265" y="2727391"/>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cxnSp>
            <p:nvCxnSpPr>
              <p:cNvPr id="9" name="Gerader Verbinder 8">
                <a:extLst>
                  <a:ext uri="{FF2B5EF4-FFF2-40B4-BE49-F238E27FC236}">
                    <a16:creationId xmlns:a16="http://schemas.microsoft.com/office/drawing/2014/main" id="{634DB42F-8F53-A3C3-5780-F4675E8265EB}"/>
                  </a:ext>
                </a:extLst>
              </p:cNvPr>
              <p:cNvCxnSpPr/>
              <p:nvPr/>
            </p:nvCxnSpPr>
            <p:spPr>
              <a:xfrm>
                <a:off x="668266" y="337937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2" name="Textfeld 11">
              <a:extLst>
                <a:ext uri="{FF2B5EF4-FFF2-40B4-BE49-F238E27FC236}">
                  <a16:creationId xmlns:a16="http://schemas.microsoft.com/office/drawing/2014/main" id="{7CF9C841-C1B0-9E1A-2159-076355393AA7}"/>
                </a:ext>
              </a:extLst>
            </p:cNvPr>
            <p:cNvSpPr txBox="1"/>
            <p:nvPr/>
          </p:nvSpPr>
          <p:spPr>
            <a:xfrm>
              <a:off x="668265" y="2923425"/>
              <a:ext cx="2441570" cy="276999"/>
            </a:xfrm>
            <a:prstGeom prst="rect">
              <a:avLst/>
            </a:prstGeom>
            <a:noFill/>
          </p:spPr>
          <p:txBody>
            <a:bodyPr wrap="square" lIns="0" tIns="0" rIns="0" bIns="0" rtlCol="0">
              <a:spAutoFit/>
            </a:bodyPr>
            <a:lstStyle/>
            <a:p>
              <a:pPr algn="ctr"/>
              <a:r>
                <a:rPr lang="de-DE" b="1" dirty="0"/>
                <a:t>RAG</a:t>
              </a:r>
              <a:endParaRPr lang="de-CH" b="1" dirty="0" err="1"/>
            </a:p>
          </p:txBody>
        </p:sp>
        <p:sp>
          <p:nvSpPr>
            <p:cNvPr id="13" name="Textfeld 12">
              <a:extLst>
                <a:ext uri="{FF2B5EF4-FFF2-40B4-BE49-F238E27FC236}">
                  <a16:creationId xmlns:a16="http://schemas.microsoft.com/office/drawing/2014/main" id="{DF95F684-B212-F433-4493-2B6CB6EA4ED0}"/>
                </a:ext>
              </a:extLst>
            </p:cNvPr>
            <p:cNvSpPr txBox="1"/>
            <p:nvPr/>
          </p:nvSpPr>
          <p:spPr>
            <a:xfrm>
              <a:off x="668263" y="3450033"/>
              <a:ext cx="2441571" cy="553998"/>
            </a:xfrm>
            <a:prstGeom prst="rect">
              <a:avLst/>
            </a:prstGeom>
            <a:noFill/>
          </p:spPr>
          <p:txBody>
            <a:bodyPr wrap="square" lIns="0" tIns="0" rIns="0" bIns="0" rtlCol="0">
              <a:spAutoFit/>
            </a:bodyPr>
            <a:lstStyle/>
            <a:p>
              <a:pPr algn="ctr"/>
              <a:r>
                <a:rPr lang="de-DE" dirty="0"/>
                <a:t>liefert Dokumentenwissen</a:t>
              </a:r>
              <a:endParaRPr lang="de-CH" dirty="0" err="1"/>
            </a:p>
          </p:txBody>
        </p:sp>
      </p:grpSp>
      <p:grpSp>
        <p:nvGrpSpPr>
          <p:cNvPr id="38" name="Gruppieren 37">
            <a:extLst>
              <a:ext uri="{FF2B5EF4-FFF2-40B4-BE49-F238E27FC236}">
                <a16:creationId xmlns:a16="http://schemas.microsoft.com/office/drawing/2014/main" id="{F9FECE5F-E4FE-8AFE-069E-0BA53C8B70BC}"/>
              </a:ext>
            </a:extLst>
          </p:cNvPr>
          <p:cNvGrpSpPr/>
          <p:nvPr/>
        </p:nvGrpSpPr>
        <p:grpSpPr>
          <a:xfrm>
            <a:off x="3627642" y="2705985"/>
            <a:ext cx="2448756" cy="1488096"/>
            <a:chOff x="4677601" y="2764036"/>
            <a:chExt cx="2448756" cy="1488096"/>
          </a:xfrm>
        </p:grpSpPr>
        <p:grpSp>
          <p:nvGrpSpPr>
            <p:cNvPr id="14" name="Gruppieren 13">
              <a:extLst>
                <a:ext uri="{FF2B5EF4-FFF2-40B4-BE49-F238E27FC236}">
                  <a16:creationId xmlns:a16="http://schemas.microsoft.com/office/drawing/2014/main" id="{A983DFC2-4B26-F6F2-AAED-911CE91E57C5}"/>
                </a:ext>
              </a:extLst>
            </p:cNvPr>
            <p:cNvGrpSpPr/>
            <p:nvPr/>
          </p:nvGrpSpPr>
          <p:grpSpPr>
            <a:xfrm>
              <a:off x="4684785" y="2764036"/>
              <a:ext cx="2441572" cy="1488096"/>
              <a:chOff x="668265" y="2727391"/>
              <a:chExt cx="3419476" cy="1787082"/>
            </a:xfrm>
          </p:grpSpPr>
          <p:sp>
            <p:nvSpPr>
              <p:cNvPr id="15" name="Rechteck: abgerundete Ecken 14">
                <a:extLst>
                  <a:ext uri="{FF2B5EF4-FFF2-40B4-BE49-F238E27FC236}">
                    <a16:creationId xmlns:a16="http://schemas.microsoft.com/office/drawing/2014/main" id="{4369F58F-5F4E-9F74-DDDB-4056E9092599}"/>
                  </a:ext>
                </a:extLst>
              </p:cNvPr>
              <p:cNvSpPr/>
              <p:nvPr/>
            </p:nvSpPr>
            <p:spPr>
              <a:xfrm>
                <a:off x="668265" y="2727391"/>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cxnSp>
            <p:nvCxnSpPr>
              <p:cNvPr id="16" name="Gerader Verbinder 15">
                <a:extLst>
                  <a:ext uri="{FF2B5EF4-FFF2-40B4-BE49-F238E27FC236}">
                    <a16:creationId xmlns:a16="http://schemas.microsoft.com/office/drawing/2014/main" id="{56BEAB66-2388-1E93-EF0E-48A5953FEEDE}"/>
                  </a:ext>
                </a:extLst>
              </p:cNvPr>
              <p:cNvCxnSpPr/>
              <p:nvPr/>
            </p:nvCxnSpPr>
            <p:spPr>
              <a:xfrm>
                <a:off x="668266" y="337937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7" name="Textfeld 16">
              <a:extLst>
                <a:ext uri="{FF2B5EF4-FFF2-40B4-BE49-F238E27FC236}">
                  <a16:creationId xmlns:a16="http://schemas.microsoft.com/office/drawing/2014/main" id="{80EE699B-3600-A474-540C-811337A86E65}"/>
                </a:ext>
              </a:extLst>
            </p:cNvPr>
            <p:cNvSpPr txBox="1"/>
            <p:nvPr/>
          </p:nvSpPr>
          <p:spPr>
            <a:xfrm>
              <a:off x="4677601" y="2923425"/>
              <a:ext cx="2441571" cy="276999"/>
            </a:xfrm>
            <a:prstGeom prst="rect">
              <a:avLst/>
            </a:prstGeom>
            <a:noFill/>
          </p:spPr>
          <p:txBody>
            <a:bodyPr wrap="square" lIns="0" tIns="0" rIns="0" bIns="0" rtlCol="0">
              <a:spAutoFit/>
            </a:bodyPr>
            <a:lstStyle/>
            <a:p>
              <a:pPr algn="ctr"/>
              <a:r>
                <a:rPr lang="de-DE" b="1" dirty="0"/>
                <a:t>MCP-Tools</a:t>
              </a:r>
              <a:endParaRPr lang="de-CH" b="1" dirty="0" err="1"/>
            </a:p>
          </p:txBody>
        </p:sp>
        <p:sp>
          <p:nvSpPr>
            <p:cNvPr id="18" name="Textfeld 17">
              <a:extLst>
                <a:ext uri="{FF2B5EF4-FFF2-40B4-BE49-F238E27FC236}">
                  <a16:creationId xmlns:a16="http://schemas.microsoft.com/office/drawing/2014/main" id="{DFEA7FD6-B342-BA72-3E4C-6A669CBD5463}"/>
                </a:ext>
              </a:extLst>
            </p:cNvPr>
            <p:cNvSpPr txBox="1"/>
            <p:nvPr/>
          </p:nvSpPr>
          <p:spPr>
            <a:xfrm>
              <a:off x="4684785" y="3466331"/>
              <a:ext cx="2441571" cy="553998"/>
            </a:xfrm>
            <a:prstGeom prst="rect">
              <a:avLst/>
            </a:prstGeom>
            <a:noFill/>
          </p:spPr>
          <p:txBody>
            <a:bodyPr wrap="square" lIns="0" tIns="0" rIns="0" bIns="0" rtlCol="0">
              <a:spAutoFit/>
            </a:bodyPr>
            <a:lstStyle/>
            <a:p>
              <a:pPr algn="ctr"/>
              <a:r>
                <a:rPr lang="de-DE" dirty="0"/>
                <a:t>liefert aktuelle Daten &amp; führt Aktionen aus</a:t>
              </a:r>
              <a:endParaRPr lang="de-CH" dirty="0" err="1"/>
            </a:p>
          </p:txBody>
        </p:sp>
      </p:grpSp>
      <p:grpSp>
        <p:nvGrpSpPr>
          <p:cNvPr id="42" name="Gruppieren 41">
            <a:extLst>
              <a:ext uri="{FF2B5EF4-FFF2-40B4-BE49-F238E27FC236}">
                <a16:creationId xmlns:a16="http://schemas.microsoft.com/office/drawing/2014/main" id="{E9DE2EEF-2A04-5484-5561-378A4F7BAA9B}"/>
              </a:ext>
            </a:extLst>
          </p:cNvPr>
          <p:cNvGrpSpPr/>
          <p:nvPr/>
        </p:nvGrpSpPr>
        <p:grpSpPr>
          <a:xfrm>
            <a:off x="6489635" y="2705985"/>
            <a:ext cx="2441570" cy="1488096"/>
            <a:chOff x="8564358" y="2764036"/>
            <a:chExt cx="2441570" cy="1488096"/>
          </a:xfrm>
        </p:grpSpPr>
        <p:grpSp>
          <p:nvGrpSpPr>
            <p:cNvPr id="24" name="Gruppieren 23">
              <a:extLst>
                <a:ext uri="{FF2B5EF4-FFF2-40B4-BE49-F238E27FC236}">
                  <a16:creationId xmlns:a16="http://schemas.microsoft.com/office/drawing/2014/main" id="{351914E7-B4AE-6357-57D4-57AB69BC96E5}"/>
                </a:ext>
              </a:extLst>
            </p:cNvPr>
            <p:cNvGrpSpPr/>
            <p:nvPr/>
          </p:nvGrpSpPr>
          <p:grpSpPr>
            <a:xfrm>
              <a:off x="8564359" y="2764036"/>
              <a:ext cx="2441569" cy="1488096"/>
              <a:chOff x="668265" y="2727391"/>
              <a:chExt cx="3419476" cy="1787082"/>
            </a:xfrm>
          </p:grpSpPr>
          <p:sp>
            <p:nvSpPr>
              <p:cNvPr id="25" name="Rechteck: abgerundete Ecken 24">
                <a:extLst>
                  <a:ext uri="{FF2B5EF4-FFF2-40B4-BE49-F238E27FC236}">
                    <a16:creationId xmlns:a16="http://schemas.microsoft.com/office/drawing/2014/main" id="{5A970DB3-0C1A-2123-520E-AEDB91E2D3C4}"/>
                  </a:ext>
                </a:extLst>
              </p:cNvPr>
              <p:cNvSpPr/>
              <p:nvPr/>
            </p:nvSpPr>
            <p:spPr>
              <a:xfrm>
                <a:off x="668265" y="2727391"/>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cxnSp>
            <p:nvCxnSpPr>
              <p:cNvPr id="26" name="Gerader Verbinder 25">
                <a:extLst>
                  <a:ext uri="{FF2B5EF4-FFF2-40B4-BE49-F238E27FC236}">
                    <a16:creationId xmlns:a16="http://schemas.microsoft.com/office/drawing/2014/main" id="{75AF685E-909C-4FB4-D52B-AD9E9035613A}"/>
                  </a:ext>
                </a:extLst>
              </p:cNvPr>
              <p:cNvCxnSpPr/>
              <p:nvPr/>
            </p:nvCxnSpPr>
            <p:spPr>
              <a:xfrm>
                <a:off x="668266" y="337937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feld 20">
              <a:extLst>
                <a:ext uri="{FF2B5EF4-FFF2-40B4-BE49-F238E27FC236}">
                  <a16:creationId xmlns:a16="http://schemas.microsoft.com/office/drawing/2014/main" id="{3E91CA84-30F3-7882-F0B4-34A2AA9A47FE}"/>
                </a:ext>
              </a:extLst>
            </p:cNvPr>
            <p:cNvSpPr txBox="1"/>
            <p:nvPr/>
          </p:nvSpPr>
          <p:spPr>
            <a:xfrm>
              <a:off x="8564358" y="2943327"/>
              <a:ext cx="2441570" cy="276999"/>
            </a:xfrm>
            <a:prstGeom prst="rect">
              <a:avLst/>
            </a:prstGeom>
            <a:noFill/>
          </p:spPr>
          <p:txBody>
            <a:bodyPr wrap="square" lIns="0" tIns="0" rIns="0" bIns="0" rtlCol="0">
              <a:spAutoFit/>
            </a:bodyPr>
            <a:lstStyle/>
            <a:p>
              <a:pPr algn="ctr"/>
              <a:r>
                <a:rPr lang="de-DE" b="1" dirty="0"/>
                <a:t>Skills</a:t>
              </a:r>
              <a:endParaRPr lang="de-CH" b="1" dirty="0" err="1"/>
            </a:p>
          </p:txBody>
        </p:sp>
        <p:sp>
          <p:nvSpPr>
            <p:cNvPr id="22" name="Textfeld 21">
              <a:extLst>
                <a:ext uri="{FF2B5EF4-FFF2-40B4-BE49-F238E27FC236}">
                  <a16:creationId xmlns:a16="http://schemas.microsoft.com/office/drawing/2014/main" id="{B1FFBAAC-2612-DE64-FB55-0C73CF85209A}"/>
                </a:ext>
              </a:extLst>
            </p:cNvPr>
            <p:cNvSpPr txBox="1"/>
            <p:nvPr/>
          </p:nvSpPr>
          <p:spPr>
            <a:xfrm>
              <a:off x="8564359" y="3483429"/>
              <a:ext cx="2441568" cy="553998"/>
            </a:xfrm>
            <a:prstGeom prst="rect">
              <a:avLst/>
            </a:prstGeom>
            <a:noFill/>
          </p:spPr>
          <p:txBody>
            <a:bodyPr wrap="square" lIns="0" tIns="0" rIns="0" bIns="0" rtlCol="0">
              <a:spAutoFit/>
            </a:bodyPr>
            <a:lstStyle/>
            <a:p>
              <a:pPr algn="ctr"/>
              <a:r>
                <a:rPr lang="de-DE" dirty="0"/>
                <a:t>lädt spezialisierte Anweisungen &amp; Abläufe</a:t>
              </a:r>
              <a:endParaRPr lang="de-CH" dirty="0" err="1"/>
            </a:p>
          </p:txBody>
        </p:sp>
      </p:grpSp>
      <p:grpSp>
        <p:nvGrpSpPr>
          <p:cNvPr id="43" name="Gruppieren 42">
            <a:extLst>
              <a:ext uri="{FF2B5EF4-FFF2-40B4-BE49-F238E27FC236}">
                <a16:creationId xmlns:a16="http://schemas.microsoft.com/office/drawing/2014/main" id="{D5EAE95D-DABC-01B3-E4CB-DCEBFF977514}"/>
              </a:ext>
            </a:extLst>
          </p:cNvPr>
          <p:cNvGrpSpPr/>
          <p:nvPr/>
        </p:nvGrpSpPr>
        <p:grpSpPr>
          <a:xfrm>
            <a:off x="9344442" y="2727392"/>
            <a:ext cx="2621587" cy="1519683"/>
            <a:chOff x="668263" y="4604592"/>
            <a:chExt cx="2621587" cy="1519683"/>
          </a:xfrm>
        </p:grpSpPr>
        <p:grpSp>
          <p:nvGrpSpPr>
            <p:cNvPr id="27" name="Gruppieren 26">
              <a:extLst>
                <a:ext uri="{FF2B5EF4-FFF2-40B4-BE49-F238E27FC236}">
                  <a16:creationId xmlns:a16="http://schemas.microsoft.com/office/drawing/2014/main" id="{1277E48F-6B60-9E3D-1F01-0C2A00EB4250}"/>
                </a:ext>
              </a:extLst>
            </p:cNvPr>
            <p:cNvGrpSpPr/>
            <p:nvPr/>
          </p:nvGrpSpPr>
          <p:grpSpPr>
            <a:xfrm>
              <a:off x="668264" y="4604592"/>
              <a:ext cx="2441568" cy="1519683"/>
              <a:chOff x="668265" y="2727391"/>
              <a:chExt cx="3419476" cy="1787082"/>
            </a:xfrm>
          </p:grpSpPr>
          <p:sp>
            <p:nvSpPr>
              <p:cNvPr id="28" name="Rechteck: abgerundete Ecken 27">
                <a:extLst>
                  <a:ext uri="{FF2B5EF4-FFF2-40B4-BE49-F238E27FC236}">
                    <a16:creationId xmlns:a16="http://schemas.microsoft.com/office/drawing/2014/main" id="{00F46F07-87E4-480D-0073-625EED597483}"/>
                  </a:ext>
                </a:extLst>
              </p:cNvPr>
              <p:cNvSpPr/>
              <p:nvPr/>
            </p:nvSpPr>
            <p:spPr>
              <a:xfrm>
                <a:off x="668265" y="2727391"/>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cxnSp>
            <p:nvCxnSpPr>
              <p:cNvPr id="29" name="Gerader Verbinder 28">
                <a:extLst>
                  <a:ext uri="{FF2B5EF4-FFF2-40B4-BE49-F238E27FC236}">
                    <a16:creationId xmlns:a16="http://schemas.microsoft.com/office/drawing/2014/main" id="{0C8564BD-E5B8-413B-4D52-D559EA12F059}"/>
                  </a:ext>
                </a:extLst>
              </p:cNvPr>
              <p:cNvCxnSpPr/>
              <p:nvPr/>
            </p:nvCxnSpPr>
            <p:spPr>
              <a:xfrm>
                <a:off x="668266" y="337937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Textfeld 29">
              <a:extLst>
                <a:ext uri="{FF2B5EF4-FFF2-40B4-BE49-F238E27FC236}">
                  <a16:creationId xmlns:a16="http://schemas.microsoft.com/office/drawing/2014/main" id="{55BD1810-2D8D-19B9-CDE7-6969A0F81BED}"/>
                </a:ext>
              </a:extLst>
            </p:cNvPr>
            <p:cNvSpPr txBox="1"/>
            <p:nvPr/>
          </p:nvSpPr>
          <p:spPr>
            <a:xfrm>
              <a:off x="668263" y="4800625"/>
              <a:ext cx="2621587" cy="276999"/>
            </a:xfrm>
            <a:prstGeom prst="rect">
              <a:avLst/>
            </a:prstGeom>
            <a:noFill/>
          </p:spPr>
          <p:txBody>
            <a:bodyPr wrap="square" lIns="0" tIns="0" rIns="0" bIns="0" rtlCol="0">
              <a:spAutoFit/>
            </a:bodyPr>
            <a:lstStyle/>
            <a:p>
              <a:pPr algn="ctr"/>
              <a:r>
                <a:rPr lang="de-DE" b="1" dirty="0"/>
                <a:t>Kontextfenster</a:t>
              </a:r>
              <a:endParaRPr lang="de-CH" b="1" dirty="0" err="1"/>
            </a:p>
          </p:txBody>
        </p:sp>
        <p:sp>
          <p:nvSpPr>
            <p:cNvPr id="31" name="Textfeld 30">
              <a:extLst>
                <a:ext uri="{FF2B5EF4-FFF2-40B4-BE49-F238E27FC236}">
                  <a16:creationId xmlns:a16="http://schemas.microsoft.com/office/drawing/2014/main" id="{CCC7E1F5-DDF5-2B67-B021-454272284078}"/>
                </a:ext>
              </a:extLst>
            </p:cNvPr>
            <p:cNvSpPr txBox="1"/>
            <p:nvPr/>
          </p:nvSpPr>
          <p:spPr>
            <a:xfrm>
              <a:off x="734521" y="5407941"/>
              <a:ext cx="2309051" cy="553998"/>
            </a:xfrm>
            <a:prstGeom prst="rect">
              <a:avLst/>
            </a:prstGeom>
            <a:noFill/>
          </p:spPr>
          <p:txBody>
            <a:bodyPr wrap="square" lIns="0" tIns="0" rIns="0" bIns="0" rtlCol="0">
              <a:spAutoFit/>
            </a:bodyPr>
            <a:lstStyle/>
            <a:p>
              <a:pPr algn="ctr"/>
              <a:r>
                <a:rPr lang="de-DE" dirty="0"/>
                <a:t>enthält Frage, Verlauf &amp; Inhalte</a:t>
              </a:r>
              <a:endParaRPr lang="de-CH" dirty="0" err="1"/>
            </a:p>
          </p:txBody>
        </p:sp>
      </p:grpSp>
      <p:grpSp>
        <p:nvGrpSpPr>
          <p:cNvPr id="37" name="Gruppieren 36">
            <a:extLst>
              <a:ext uri="{FF2B5EF4-FFF2-40B4-BE49-F238E27FC236}">
                <a16:creationId xmlns:a16="http://schemas.microsoft.com/office/drawing/2014/main" id="{B055401C-6BF2-F5C7-8E54-ED22B5356AA6}"/>
              </a:ext>
            </a:extLst>
          </p:cNvPr>
          <p:cNvGrpSpPr/>
          <p:nvPr/>
        </p:nvGrpSpPr>
        <p:grpSpPr>
          <a:xfrm>
            <a:off x="4848427" y="4883325"/>
            <a:ext cx="2309050" cy="780648"/>
            <a:chOff x="6255307" y="5132036"/>
            <a:chExt cx="2309050" cy="780648"/>
          </a:xfrm>
        </p:grpSpPr>
        <p:sp>
          <p:nvSpPr>
            <p:cNvPr id="33" name="Rechteck: abgerundete Ecken 32">
              <a:extLst>
                <a:ext uri="{FF2B5EF4-FFF2-40B4-BE49-F238E27FC236}">
                  <a16:creationId xmlns:a16="http://schemas.microsoft.com/office/drawing/2014/main" id="{8C0DA19A-A848-5F86-B15F-117B973089E4}"/>
                </a:ext>
              </a:extLst>
            </p:cNvPr>
            <p:cNvSpPr/>
            <p:nvPr/>
          </p:nvSpPr>
          <p:spPr>
            <a:xfrm>
              <a:off x="6255307" y="5132036"/>
              <a:ext cx="2309050" cy="780648"/>
            </a:xfrm>
            <a:prstGeom prst="round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5" name="Textfeld 34">
              <a:extLst>
                <a:ext uri="{FF2B5EF4-FFF2-40B4-BE49-F238E27FC236}">
                  <a16:creationId xmlns:a16="http://schemas.microsoft.com/office/drawing/2014/main" id="{363D0D2F-6233-A6AA-8138-E4996E24545F}"/>
                </a:ext>
              </a:extLst>
            </p:cNvPr>
            <p:cNvSpPr txBox="1"/>
            <p:nvPr/>
          </p:nvSpPr>
          <p:spPr>
            <a:xfrm>
              <a:off x="6255307" y="5377551"/>
              <a:ext cx="2309050" cy="276999"/>
            </a:xfrm>
            <a:prstGeom prst="rect">
              <a:avLst/>
            </a:prstGeom>
            <a:noFill/>
          </p:spPr>
          <p:txBody>
            <a:bodyPr wrap="square" lIns="0" tIns="0" rIns="0" bIns="0" rtlCol="0">
              <a:spAutoFit/>
            </a:bodyPr>
            <a:lstStyle/>
            <a:p>
              <a:pPr algn="ctr"/>
              <a:r>
                <a:rPr lang="de-DE" b="1" dirty="0"/>
                <a:t>LLM-</a:t>
              </a:r>
              <a:r>
                <a:rPr lang="de-DE" b="1" dirty="0" err="1"/>
                <a:t>Context</a:t>
              </a:r>
              <a:endParaRPr lang="de-CH" b="1" dirty="0" err="1"/>
            </a:p>
          </p:txBody>
        </p:sp>
      </p:grpSp>
      <p:cxnSp>
        <p:nvCxnSpPr>
          <p:cNvPr id="45" name="Gerade Verbindung mit Pfeil 44">
            <a:extLst>
              <a:ext uri="{FF2B5EF4-FFF2-40B4-BE49-F238E27FC236}">
                <a16:creationId xmlns:a16="http://schemas.microsoft.com/office/drawing/2014/main" id="{D2C61A77-91F3-782D-334E-A463C1789C05}"/>
              </a:ext>
            </a:extLst>
          </p:cNvPr>
          <p:cNvCxnSpPr>
            <a:cxnSpLocks/>
            <a:stCxn id="8" idx="2"/>
            <a:endCxn id="35" idx="1"/>
          </p:cNvCxnSpPr>
          <p:nvPr/>
        </p:nvCxnSpPr>
        <p:spPr>
          <a:xfrm>
            <a:off x="1889052" y="4239467"/>
            <a:ext cx="2959375" cy="102787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48">
            <a:extLst>
              <a:ext uri="{FF2B5EF4-FFF2-40B4-BE49-F238E27FC236}">
                <a16:creationId xmlns:a16="http://schemas.microsoft.com/office/drawing/2014/main" id="{F9F0EB31-A8C1-A6FB-E5AF-3B49DEE2CF10}"/>
              </a:ext>
            </a:extLst>
          </p:cNvPr>
          <p:cNvCxnSpPr>
            <a:cxnSpLocks/>
            <a:stCxn id="15" idx="2"/>
          </p:cNvCxnSpPr>
          <p:nvPr/>
        </p:nvCxnSpPr>
        <p:spPr>
          <a:xfrm>
            <a:off x="4855612" y="4194081"/>
            <a:ext cx="737125" cy="68924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Gerade Verbindung mit Pfeil 50">
            <a:extLst>
              <a:ext uri="{FF2B5EF4-FFF2-40B4-BE49-F238E27FC236}">
                <a16:creationId xmlns:a16="http://schemas.microsoft.com/office/drawing/2014/main" id="{D93C7C05-4AD1-F2CB-6E31-6BE658846BFC}"/>
              </a:ext>
            </a:extLst>
          </p:cNvPr>
          <p:cNvCxnSpPr>
            <a:cxnSpLocks/>
            <a:stCxn id="25" idx="2"/>
          </p:cNvCxnSpPr>
          <p:nvPr/>
        </p:nvCxnSpPr>
        <p:spPr>
          <a:xfrm flipH="1">
            <a:off x="6510362" y="4194081"/>
            <a:ext cx="1200058" cy="68924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52">
            <a:extLst>
              <a:ext uri="{FF2B5EF4-FFF2-40B4-BE49-F238E27FC236}">
                <a16:creationId xmlns:a16="http://schemas.microsoft.com/office/drawing/2014/main" id="{B1F17B6C-0ABE-5C17-FCC4-3C45E059D83F}"/>
              </a:ext>
            </a:extLst>
          </p:cNvPr>
          <p:cNvCxnSpPr>
            <a:cxnSpLocks/>
            <a:stCxn id="28" idx="2"/>
            <a:endCxn id="35" idx="3"/>
          </p:cNvCxnSpPr>
          <p:nvPr/>
        </p:nvCxnSpPr>
        <p:spPr>
          <a:xfrm flipH="1">
            <a:off x="7157477" y="4247075"/>
            <a:ext cx="3407750" cy="10202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816912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reihandform: Form 18">
            <a:extLst>
              <a:ext uri="{FF2B5EF4-FFF2-40B4-BE49-F238E27FC236}">
                <a16:creationId xmlns:a16="http://schemas.microsoft.com/office/drawing/2014/main" id="{1C893A98-4388-AF19-0A53-CE7DA15734D9}"/>
              </a:ext>
            </a:extLst>
          </p:cNvPr>
          <p:cNvSpPr/>
          <p:nvPr/>
        </p:nvSpPr>
        <p:spPr>
          <a:xfrm>
            <a:off x="9337998" y="2700708"/>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80928F5A-A620-D15B-309C-4D7E5896C25F}"/>
              </a:ext>
            </a:extLst>
          </p:cNvPr>
          <p:cNvSpPr/>
          <p:nvPr/>
        </p:nvSpPr>
        <p:spPr>
          <a:xfrm>
            <a:off x="6482361" y="2696887"/>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200D9A3D-276C-4D19-64AE-CC44B34F666E}"/>
              </a:ext>
            </a:extLst>
          </p:cNvPr>
          <p:cNvSpPr/>
          <p:nvPr/>
        </p:nvSpPr>
        <p:spPr>
          <a:xfrm>
            <a:off x="3627580" y="2700708"/>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3B9A958D-6F8C-2948-301A-E2807E08FBB0}"/>
              </a:ext>
            </a:extLst>
          </p:cNvPr>
          <p:cNvSpPr/>
          <p:nvPr/>
        </p:nvSpPr>
        <p:spPr>
          <a:xfrm>
            <a:off x="668204" y="2720889"/>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D3CAE26B-4865-C6F0-5B97-694858312949}"/>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B4438418-9676-7CB0-887F-B094922C97AC}"/>
              </a:ext>
            </a:extLst>
          </p:cNvPr>
          <p:cNvSpPr>
            <a:spLocks noGrp="1"/>
          </p:cNvSpPr>
          <p:nvPr>
            <p:ph type="dt" idx="10"/>
          </p:nvPr>
        </p:nvSpPr>
        <p:spPr/>
        <p:txBody>
          <a:bodyPr/>
          <a:lstStyle/>
          <a:p>
            <a:fld id="{E2111384-F462-4D90-9803-E7B6DB23FD1B}" type="datetime1">
              <a:rPr/>
              <a:t>04.08.2026</a:t>
            </a:fld>
            <a:endParaRPr/>
          </a:p>
        </p:txBody>
      </p:sp>
      <p:sp>
        <p:nvSpPr>
          <p:cNvPr id="4" name="Foliennummernplatzhalter 3">
            <a:extLst>
              <a:ext uri="{FF2B5EF4-FFF2-40B4-BE49-F238E27FC236}">
                <a16:creationId xmlns:a16="http://schemas.microsoft.com/office/drawing/2014/main" id="{A01BAB59-63EB-59FA-5985-3F6EC05966A0}"/>
              </a:ext>
            </a:extLst>
          </p:cNvPr>
          <p:cNvSpPr>
            <a:spLocks noGrp="1"/>
          </p:cNvSpPr>
          <p:nvPr>
            <p:ph type="sldNum" idx="12"/>
          </p:nvPr>
        </p:nvSpPr>
        <p:spPr/>
        <p:txBody>
          <a:bodyPr/>
          <a:lstStyle/>
          <a:p>
            <a:fld id="{CE7E00E2-F08D-429A-AD9B-1ECBEC02F4DB}" type="slidenum">
              <a:rPr/>
              <a:t>9</a:t>
            </a:fld>
            <a:endParaRPr/>
          </a:p>
        </p:txBody>
      </p:sp>
      <p:sp>
        <p:nvSpPr>
          <p:cNvPr id="7" name="Inhaltsplatzhalter 6">
            <a:extLst>
              <a:ext uri="{FF2B5EF4-FFF2-40B4-BE49-F238E27FC236}">
                <a16:creationId xmlns:a16="http://schemas.microsoft.com/office/drawing/2014/main" id="{EF25329D-BC93-CDC7-FF93-C91335CE3538}"/>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a:solidFill>
                  <a:srgbClr val="2D3F4B"/>
                </a:solidFill>
                <a:latin typeface="Arial"/>
                <a:ea typeface="Arial"/>
                <a:cs typeface="Arial"/>
              </a:rPr>
              <a:t>Context Engineering entscheidet, welche Informationen das Modell für die aktuelle Aufgabe tatsächlich sieht.</a:t>
            </a:r>
          </a:p>
        </p:txBody>
      </p:sp>
      <p:sp>
        <p:nvSpPr>
          <p:cNvPr id="9" name="Gerader Verbinder 8">
            <a:extLst>
              <a:ext uri="{FF2B5EF4-FFF2-40B4-BE49-F238E27FC236}">
                <a16:creationId xmlns:a16="http://schemas.microsoft.com/office/drawing/2014/main" id="{D9549AF6-D69C-4F01-92F6-62BF6C2E4D89}"/>
              </a:ext>
            </a:extLst>
          </p:cNvPr>
          <p:cNvSpPr>
            <a:spLocks noGrp="1"/>
          </p:cNvSpPr>
          <p:nvPr/>
        </p:nvSpPr>
        <p:spPr>
          <a:xfrm>
            <a:off x="668266" y="3279047"/>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7CF9C841-C1B0-9E1A-2159-076355393AA7}"/>
              </a:ext>
            </a:extLst>
          </p:cNvPr>
          <p:cNvSpPr>
            <a:spLocks noGrp="1"/>
          </p:cNvSpPr>
          <p:nvPr/>
        </p:nvSpPr>
        <p:spPr>
          <a:xfrm>
            <a:off x="668265" y="2923425"/>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DF95F684-B212-F433-4493-2B6CB6EA4ED0}"/>
              </a:ext>
            </a:extLst>
          </p:cNvPr>
          <p:cNvSpPr>
            <a:spLocks noGrp="1"/>
          </p:cNvSpPr>
          <p:nvPr/>
        </p:nvSpPr>
        <p:spPr>
          <a:xfrm>
            <a:off x="668263" y="3450033"/>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relevante</a:t>
            </a:r>
          </a:p>
          <a:p>
            <a:pPr algn="ctr">
              <a:buNone/>
              <a:defRPr sz="1650">
                <a:solidFill>
                  <a:srgbClr val="2D3F4B"/>
                </a:solidFill>
                <a:latin typeface="Arial"/>
                <a:ea typeface="Arial"/>
                <a:cs typeface="Arial"/>
              </a:defRPr>
            </a:pPr>
            <a:r>
              <a:rPr sz="1650">
                <a:solidFill>
                  <a:srgbClr val="2D3F4B"/>
                </a:solidFill>
                <a:latin typeface="Arial"/>
                <a:ea typeface="Arial"/>
                <a:cs typeface="Arial"/>
              </a:rPr>
              <a:t>Dokument-Chunks</a:t>
            </a:r>
          </a:p>
        </p:txBody>
      </p:sp>
      <p:sp>
        <p:nvSpPr>
          <p:cNvPr id="16" name="Gerader Verbinder 15">
            <a:extLst>
              <a:ext uri="{FF2B5EF4-FFF2-40B4-BE49-F238E27FC236}">
                <a16:creationId xmlns:a16="http://schemas.microsoft.com/office/drawing/2014/main" id="{3B56A8C2-0070-4B78-8263-0D063BEB9F2B}"/>
              </a:ext>
            </a:extLst>
          </p:cNvPr>
          <p:cNvSpPr>
            <a:spLocks noGrp="1"/>
          </p:cNvSpPr>
          <p:nvPr/>
        </p:nvSpPr>
        <p:spPr>
          <a:xfrm>
            <a:off x="3634826" y="3248891"/>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80EE699B-3600-A474-540C-811337A86E65}"/>
              </a:ext>
            </a:extLst>
          </p:cNvPr>
          <p:cNvSpPr>
            <a:spLocks noGrp="1"/>
          </p:cNvSpPr>
          <p:nvPr/>
        </p:nvSpPr>
        <p:spPr>
          <a:xfrm>
            <a:off x="3627642" y="2865374"/>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DFEA7FD6-B342-BA72-3E4C-6A669CBD5463}"/>
              </a:ext>
            </a:extLst>
          </p:cNvPr>
          <p:cNvSpPr>
            <a:spLocks noGrp="1"/>
          </p:cNvSpPr>
          <p:nvPr/>
        </p:nvSpPr>
        <p:spPr>
          <a:xfrm>
            <a:off x="3634826" y="3408280"/>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DAA5B841-1404-4F3A-A17C-AA16A49EAAC9}"/>
              </a:ext>
            </a:extLst>
          </p:cNvPr>
          <p:cNvSpPr>
            <a:spLocks noGrp="1"/>
          </p:cNvSpPr>
          <p:nvPr/>
        </p:nvSpPr>
        <p:spPr>
          <a:xfrm>
            <a:off x="6489637" y="3248891"/>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3E91CA84-30F3-7882-F0B4-34A2AA9A47FE}"/>
              </a:ext>
            </a:extLst>
          </p:cNvPr>
          <p:cNvSpPr>
            <a:spLocks noGrp="1"/>
          </p:cNvSpPr>
          <p:nvPr/>
        </p:nvSpPr>
        <p:spPr>
          <a:xfrm>
            <a:off x="6489635" y="288527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1FFBAAC-2612-DE64-FB55-0C73CF85209A}"/>
              </a:ext>
            </a:extLst>
          </p:cNvPr>
          <p:cNvSpPr>
            <a:spLocks noGrp="1"/>
          </p:cNvSpPr>
          <p:nvPr/>
        </p:nvSpPr>
        <p:spPr>
          <a:xfrm>
            <a:off x="6489636" y="3425378"/>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3AF7B58B-63CE-4B5D-8393-7C3E960C87D2}"/>
              </a:ext>
            </a:extLst>
          </p:cNvPr>
          <p:cNvSpPr>
            <a:spLocks noGrp="1"/>
          </p:cNvSpPr>
          <p:nvPr/>
        </p:nvSpPr>
        <p:spPr>
          <a:xfrm>
            <a:off x="9344444" y="3281822"/>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55BD1810-2D8D-19B9-CDE7-6969A0F81BED}"/>
              </a:ext>
            </a:extLst>
          </p:cNvPr>
          <p:cNvSpPr>
            <a:spLocks noGrp="1"/>
          </p:cNvSpPr>
          <p:nvPr/>
        </p:nvSpPr>
        <p:spPr>
          <a:xfrm>
            <a:off x="9344442" y="2923425"/>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CCC7E1F5-DDF5-2B67-B021-454272284078}"/>
              </a:ext>
            </a:extLst>
          </p:cNvPr>
          <p:cNvSpPr>
            <a:spLocks noGrp="1"/>
          </p:cNvSpPr>
          <p:nvPr/>
        </p:nvSpPr>
        <p:spPr>
          <a:xfrm>
            <a:off x="9410700" y="3530741"/>
            <a:ext cx="230905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Frage, Verlauf</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Inhalte</a:t>
            </a:r>
          </a:p>
        </p:txBody>
      </p:sp>
      <p:sp>
        <p:nvSpPr>
          <p:cNvPr id="33" name="Rechteck: abgerundete Ecken 32">
            <a:extLst>
              <a:ext uri="{FF2B5EF4-FFF2-40B4-BE49-F238E27FC236}">
                <a16:creationId xmlns:a16="http://schemas.microsoft.com/office/drawing/2014/main" id="{8C0DA19A-A848-5F86-B15F-117B973089E4}"/>
              </a:ext>
            </a:extLst>
          </p:cNvPr>
          <p:cNvSpPr>
            <a:spLocks noGrp="1"/>
          </p:cNvSpPr>
          <p:nvPr/>
        </p:nvSpPr>
        <p:spPr>
          <a:xfrm>
            <a:off x="4286250" y="490537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363D0D2F-6233-A6AA-8138-E4996E24545F}"/>
              </a:ext>
            </a:extLst>
          </p:cNvPr>
          <p:cNvSpPr>
            <a:spLocks noGrp="1"/>
          </p:cNvSpPr>
          <p:nvPr/>
        </p:nvSpPr>
        <p:spPr>
          <a:xfrm>
            <a:off x="4286250" y="516106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p:cNvCxnSpPr>
            <a:cxnSpLocks/>
            <a:endCxn id="35" idx="1"/>
          </p:cNvCxnSpPr>
          <p:nvPr/>
        </p:nvCxnSpPr>
        <p:spPr>
          <a:xfrm>
            <a:off x="1844618" y="4247075"/>
            <a:ext cx="2441632" cy="1067875"/>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p:cNvCxnSpPr>
            <a:cxnSpLocks/>
          </p:cNvCxnSpPr>
          <p:nvPr/>
        </p:nvCxnSpPr>
        <p:spPr>
          <a:xfrm>
            <a:off x="4815840" y="4215465"/>
            <a:ext cx="776897" cy="667860"/>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p:cNvCxnSpPr>
            <a:cxnSpLocks/>
          </p:cNvCxnSpPr>
          <p:nvPr/>
        </p:nvCxnSpPr>
        <p:spPr>
          <a:xfrm flipH="1">
            <a:off x="6510362" y="4215465"/>
            <a:ext cx="1239178" cy="667860"/>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p:cNvCxnSpPr>
            <a:cxnSpLocks/>
            <a:endCxn id="35" idx="3"/>
          </p:cNvCxnSpPr>
          <p:nvPr/>
        </p:nvCxnSpPr>
        <p:spPr>
          <a:xfrm flipH="1">
            <a:off x="7905750" y="4231270"/>
            <a:ext cx="2716530" cy="1083680"/>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9EC82F57-08FA-4E52-966F-E447140C1A50}"/>
              </a:ext>
            </a:extLst>
          </p:cNvPr>
          <p:cNvSpPr>
            <a:spLocks noGrp="1"/>
          </p:cNvSpPr>
          <p:nvPr/>
        </p:nvSpPr>
        <p:spPr>
          <a:xfrm>
            <a:off x="668274" y="2700708"/>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0634EF25-1DCC-428A-A386-E202ED0EBF10}"/>
              </a:ext>
            </a:extLst>
          </p:cNvPr>
          <p:cNvSpPr>
            <a:spLocks noGrp="1"/>
          </p:cNvSpPr>
          <p:nvPr/>
        </p:nvSpPr>
        <p:spPr>
          <a:xfrm>
            <a:off x="3620396" y="2688723"/>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FA8AE44F-41CA-4D1C-9E2E-0D254B53F9C9}"/>
              </a:ext>
            </a:extLst>
          </p:cNvPr>
          <p:cNvSpPr>
            <a:spLocks noGrp="1"/>
          </p:cNvSpPr>
          <p:nvPr/>
        </p:nvSpPr>
        <p:spPr>
          <a:xfrm>
            <a:off x="6475178" y="2696887"/>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01A6F93A-A880-43C5-A386-38FE5A35AE6A}"/>
              </a:ext>
            </a:extLst>
          </p:cNvPr>
          <p:cNvSpPr>
            <a:spLocks noGrp="1"/>
          </p:cNvSpPr>
          <p:nvPr/>
        </p:nvSpPr>
        <p:spPr>
          <a:xfrm>
            <a:off x="9329166" y="2688724"/>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590DE59E-99BD-42AC-AC8F-134CB047FA08}"/>
              </a:ext>
            </a:extLst>
          </p:cNvPr>
          <p:cNvSpPr>
            <a:spLocks noGrp="1"/>
          </p:cNvSpPr>
          <p:nvPr/>
        </p:nvSpPr>
        <p:spPr>
          <a:xfrm>
            <a:off x="4286250" y="581025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solidFill>
                  <a:schemeClr val="accent3"/>
                </a:solidFill>
                <a:latin typeface="Arial"/>
                <a:ea typeface="Arial"/>
                <a:cs typeface="Arial"/>
              </a:rPr>
              <a:t>Das Modell </a:t>
            </a:r>
            <a:r>
              <a:rPr sz="1200" dirty="0" err="1">
                <a:solidFill>
                  <a:schemeClr val="accent3"/>
                </a:solidFill>
                <a:latin typeface="Arial"/>
                <a:ea typeface="Arial"/>
                <a:cs typeface="Arial"/>
              </a:rPr>
              <a:t>kann</a:t>
            </a:r>
            <a:r>
              <a:rPr sz="1200" dirty="0">
                <a:solidFill>
                  <a:schemeClr val="accent3"/>
                </a:solidFill>
                <a:latin typeface="Arial"/>
                <a:ea typeface="Arial"/>
                <a:cs typeface="Arial"/>
              </a:rPr>
              <a:t> </a:t>
            </a:r>
            <a:r>
              <a:rPr sz="1200" dirty="0" err="1">
                <a:solidFill>
                  <a:schemeClr val="accent3"/>
                </a:solidFill>
                <a:latin typeface="Arial"/>
                <a:ea typeface="Arial"/>
                <a:cs typeface="Arial"/>
              </a:rPr>
              <a:t>nur</a:t>
            </a:r>
            <a:r>
              <a:rPr sz="1200" dirty="0">
                <a:solidFill>
                  <a:schemeClr val="accent3"/>
                </a:solidFill>
                <a:latin typeface="Arial"/>
                <a:ea typeface="Arial"/>
                <a:cs typeface="Arial"/>
              </a:rPr>
              <a:t> den </a:t>
            </a:r>
            <a:r>
              <a:rPr sz="1200" dirty="0" err="1">
                <a:solidFill>
                  <a:schemeClr val="accent3"/>
                </a:solidFill>
                <a:latin typeface="Arial"/>
                <a:ea typeface="Arial"/>
                <a:cs typeface="Arial"/>
              </a:rPr>
              <a:t>zusammengestellten</a:t>
            </a:r>
            <a:r>
              <a:rPr sz="1200" dirty="0">
                <a:solidFill>
                  <a:schemeClr val="accent3"/>
                </a:solidFill>
                <a:latin typeface="Arial"/>
                <a:ea typeface="Arial"/>
                <a:cs typeface="Arial"/>
              </a:rPr>
              <a:t> </a:t>
            </a:r>
            <a:r>
              <a:rPr sz="1200" dirty="0" err="1">
                <a:solidFill>
                  <a:schemeClr val="accent3"/>
                </a:solidFill>
                <a:latin typeface="Arial"/>
                <a:ea typeface="Arial"/>
                <a:cs typeface="Arial"/>
              </a:rPr>
              <a:t>Kontext</a:t>
            </a:r>
            <a:r>
              <a:rPr sz="1200" dirty="0">
                <a:solidFill>
                  <a:schemeClr val="accent3"/>
                </a:solidFill>
                <a:latin typeface="Arial"/>
                <a:ea typeface="Arial"/>
                <a:cs typeface="Arial"/>
              </a:rPr>
              <a:t> </a:t>
            </a:r>
            <a:r>
              <a:rPr sz="1200" dirty="0" err="1">
                <a:solidFill>
                  <a:schemeClr val="accent3"/>
                </a:solidFill>
                <a:latin typeface="Arial"/>
                <a:ea typeface="Arial"/>
                <a:cs typeface="Arial"/>
              </a:rPr>
              <a:t>nutzen</a:t>
            </a:r>
            <a:r>
              <a:rPr sz="1200" dirty="0">
                <a:solidFill>
                  <a:schemeClr val="accent3"/>
                </a:solidFill>
                <a:latin typeface="Arial"/>
                <a:ea typeface="Arial"/>
                <a:cs typeface="Arial"/>
              </a:rPr>
              <a:t>.</a:t>
            </a:r>
          </a:p>
        </p:txBody>
      </p:sp>
    </p:spTree>
    <p:extLst>
      <p:ext uri="{BB962C8B-B14F-4D97-AF65-F5344CB8AC3E}">
        <p14:creationId xmlns:p14="http://schemas.microsoft.com/office/powerpoint/2010/main" val="32307487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76250" y="342900"/>
            <a:ext cx="11239500" cy="742950"/>
          </a:xfrm>
        </p:spPr>
        <p:txBody>
          <a:bodyPr anchor="ctr"/>
          <a:lstStyle/>
          <a:p>
            <a:pPr algn="l">
              <a:buNone/>
              <a:defRPr sz="2850">
                <a:solidFill>
                  <a:srgbClr val="2D3F4B"/>
                </a:solidFill>
                <a:latin typeface="Arial"/>
                <a:ea typeface="Arial"/>
                <a:cs typeface="Arial"/>
              </a:defRPr>
            </a:pPr>
            <a:r>
              <a:rPr sz="2850">
                <a:solidFill>
                  <a:srgbClr val="2D3F4B"/>
                </a:solidFill>
                <a:latin typeface="Arial"/>
                <a:ea typeface="Arial"/>
                <a:cs typeface="Arial"/>
              </a:rPr>
              <a:t>Vom Modellaufruf zum messbaren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idx="10"/>
          </p:nvPr>
        </p:nvSpPr>
        <p:spPr/>
        <p:txBody>
          <a:bodyPr/>
          <a:lstStyle/>
          <a:p>
            <a:fld id="{1EB7C1D4-D1F3-40CB-8780-B2B6A9133392}" type="datetime1">
              <a:rPr/>
              <a:t>04.08.2026</a:t>
            </a:fld>
            <a:endParaRPr/>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idx="12"/>
          </p:nvPr>
        </p:nvSpPr>
        <p:spPr/>
        <p:txBody>
          <a:bodyPr/>
          <a:lstStyle/>
          <a:p>
            <a:fld id="{CE7E00E2-F08D-429A-AD9B-1ECBEC02F4DB}" type="slidenum">
              <a:rPr/>
              <a:t>10</a:t>
            </a:fld>
            <a:endParaRPr/>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Vector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Legal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GraphRAG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evaluate.py   →   Retrieval prüfen   •   Antworten bewerten   •   Kontext-Tokens vergleichen</a:t>
            </a:r>
          </a:p>
        </p:txBody>
      </p:sp>
    </p:spTree>
    <p:extLst>
      <p:ext uri="{BB962C8B-B14F-4D97-AF65-F5344CB8AC3E}">
        <p14:creationId xmlns:p14="http://schemas.microsoft.com/office/powerpoint/2010/main" val="1620215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lide-Number-Placeholder-3-2">
            <a:extLst>
              <a:ext uri="{FF2B5EF4-FFF2-40B4-BE49-F238E27FC236}">
                <a16:creationId xmlns:a16="http://schemas.microsoft.com/office/drawing/2014/main" id="{D49820AC-934E-441B-8FA6-8602BB7F9F0D}"/>
              </a:ext>
            </a:extLst>
          </p:cNvPr>
          <p:cNvSpPr>
            <a:spLocks noGrp="1"/>
          </p:cNvSpPr>
          <p:nvPr/>
        </p:nvSpPr>
        <p:spPr>
          <a:xfrm>
            <a:off x="11279315" y="6279261"/>
            <a:ext cx="518922" cy="241268"/>
          </a:xfrm>
          <a:prstGeom prst="rect">
            <a:avLst/>
          </a:prstGeom>
        </p:spPr>
        <p:txBody>
          <a:bodyPr lIns="0" tIns="0" rIns="0" bIns="0" anchor="b"/>
          <a:lstStyle/>
          <a:p>
            <a:pPr algn="r">
              <a:buNone/>
              <a:defRPr sz="1000">
                <a:solidFill>
                  <a:srgbClr val="000000"/>
                </a:solidFill>
                <a:latin typeface="Helvetica Neue"/>
                <a:ea typeface="Helvetica Neue"/>
                <a:cs typeface="Helvetica Neue"/>
              </a:defRPr>
            </a:pPr>
            <a:r>
              <a:t>7</a:t>
            </a:r>
          </a:p>
        </p:txBody>
      </p:sp>
      <p:sp>
        <p:nvSpPr>
          <p:cNvPr id="2" name="Title-10-3">
            <a:extLst>
              <a:ext uri="{FF2B5EF4-FFF2-40B4-BE49-F238E27FC236}">
                <a16:creationId xmlns:a16="http://schemas.microsoft.com/office/drawing/2014/main" id="{C1C3CB49-0906-4E8C-9B8A-E2BC670CCED0}"/>
              </a:ext>
            </a:extLst>
          </p:cNvPr>
          <p:cNvSpPr>
            <a:spLocks noGrp="1"/>
          </p:cNvSpPr>
          <p:nvPr/>
        </p:nvSpPr>
        <p:spPr>
          <a:xfrm>
            <a:off x="476250" y="342900"/>
            <a:ext cx="11239500" cy="742950"/>
          </a:xfrm>
          <a:prstGeom prst="rect">
            <a:avLst/>
          </a:prstGeom>
        </p:spPr>
        <p:txBody>
          <a:bodyPr lIns="0" tIns="0" rIns="0" bIns="0" anchor="ctr">
            <a:normAutofit/>
          </a:bodyPr>
          <a:lstStyle/>
          <a:p>
            <a:pPr algn="l">
              <a:buNone/>
              <a:defRPr sz="2850">
                <a:solidFill>
                  <a:srgbClr val="2D3F4B"/>
                </a:solidFill>
                <a:latin typeface="Arial"/>
                <a:ea typeface="Arial"/>
                <a:cs typeface="Arial"/>
              </a:defRPr>
            </a:pPr>
            <a:r>
              <a:rPr sz="2850">
                <a:solidFill>
                  <a:srgbClr val="2D3F4B"/>
                </a:solidFill>
                <a:latin typeface="Arial"/>
                <a:ea typeface="Arial"/>
                <a:cs typeface="Arial"/>
              </a:rPr>
              <a:t>RAG trennt Vorbereitung und Anfrage</a:t>
            </a:r>
          </a:p>
        </p:txBody>
      </p:sp>
      <p:cxnSp>
        <p:nvCxnSpPr>
          <p:cNvPr id="27" name="Google-Shape-2259-p159-4"/>
          <p:cNvCxnSpPr/>
          <p:nvPr/>
        </p:nvCxnSpPr>
        <p:spPr>
          <a:xfrm>
            <a:off x="1476375" y="2638425"/>
            <a:ext cx="8096250" cy="0"/>
          </a:xfrm>
          <a:prstGeom prst="straightConnector1">
            <a:avLst/>
          </a:prstGeom>
          <a:ln w="28575">
            <a:solidFill>
              <a:srgbClr val="2D3F4B"/>
            </a:solidFill>
            <a:prstDash val="solid"/>
          </a:ln>
        </p:spPr>
      </p:cxnSp>
      <p:sp>
        <p:nvSpPr>
          <p:cNvPr id="4" name="Google-Shape-2260-p159-5">
            <a:extLst>
              <a:ext uri="{FF2B5EF4-FFF2-40B4-BE49-F238E27FC236}">
                <a16:creationId xmlns:a16="http://schemas.microsoft.com/office/drawing/2014/main" id="{84C0DA39-A193-4AAE-B25E-1DC1959E1A67}"/>
              </a:ext>
            </a:extLst>
          </p:cNvPr>
          <p:cNvSpPr>
            <a:spLocks noGrp="1"/>
          </p:cNvSpPr>
          <p:nvPr/>
        </p:nvSpPr>
        <p:spPr>
          <a:xfrm>
            <a:off x="1419225" y="2343150"/>
            <a:ext cx="590550" cy="590550"/>
          </a:xfrm>
          <a:prstGeom prst="ellipse">
            <a:avLst/>
          </a:prstGeom>
          <a:solidFill>
            <a:srgbClr val="C60C30"/>
          </a:solidFill>
          <a:ln w="28575">
            <a:solidFill>
              <a:srgbClr val="FFFFFF"/>
            </a:solidFill>
            <a:prstDash val="solid"/>
          </a:ln>
        </p:spPr>
        <p:txBody>
          <a:bodyPr anchor="ctr"/>
          <a:lstStyle/>
          <a:p>
            <a:pPr algn="ctr">
              <a:defRPr sz="1875" b="1">
                <a:solidFill>
                  <a:srgbClr val="FFFFFF"/>
                </a:solidFill>
                <a:latin typeface="Arial"/>
                <a:ea typeface="Arial"/>
                <a:cs typeface="Arial"/>
              </a:defRPr>
            </a:pPr>
            <a:r>
              <a:rPr sz="1875" b="1">
                <a:solidFill>
                  <a:srgbClr val="FFFFFF"/>
                </a:solidFill>
                <a:latin typeface="Arial"/>
                <a:ea typeface="Arial"/>
                <a:cs typeface="Arial"/>
              </a:rPr>
              <a:t>1</a:t>
            </a:r>
          </a:p>
        </p:txBody>
      </p:sp>
      <p:sp>
        <p:nvSpPr>
          <p:cNvPr id="5" name="Google-Shape-2261-p159-6">
            <a:extLst>
              <a:ext uri="{FF2B5EF4-FFF2-40B4-BE49-F238E27FC236}">
                <a16:creationId xmlns:a16="http://schemas.microsoft.com/office/drawing/2014/main" id="{82744E84-5A69-4A5E-839C-F0A61DA3C1FA}"/>
              </a:ext>
            </a:extLst>
          </p:cNvPr>
          <p:cNvSpPr>
            <a:spLocks noGrp="1"/>
          </p:cNvSpPr>
          <p:nvPr/>
        </p:nvSpPr>
        <p:spPr>
          <a:xfrm>
            <a:off x="5324475" y="2343150"/>
            <a:ext cx="590550" cy="590550"/>
          </a:xfrm>
          <a:prstGeom prst="ellipse">
            <a:avLst/>
          </a:prstGeom>
          <a:solidFill>
            <a:srgbClr val="43858A"/>
          </a:solidFill>
          <a:ln w="28575">
            <a:solidFill>
              <a:srgbClr val="FFFFFF"/>
            </a:solidFill>
            <a:prstDash val="solid"/>
          </a:ln>
        </p:spPr>
        <p:txBody>
          <a:bodyPr anchor="ctr"/>
          <a:lstStyle/>
          <a:p>
            <a:pPr algn="ctr">
              <a:defRPr sz="1875" b="1">
                <a:solidFill>
                  <a:srgbClr val="FFFFFF"/>
                </a:solidFill>
                <a:latin typeface="Arial"/>
                <a:ea typeface="Arial"/>
                <a:cs typeface="Arial"/>
              </a:defRPr>
            </a:pPr>
            <a:r>
              <a:rPr sz="1875" b="1">
                <a:solidFill>
                  <a:srgbClr val="FFFFFF"/>
                </a:solidFill>
                <a:latin typeface="Arial"/>
                <a:ea typeface="Arial"/>
                <a:cs typeface="Arial"/>
              </a:rPr>
              <a:t>2</a:t>
            </a:r>
          </a:p>
        </p:txBody>
      </p:sp>
      <p:sp>
        <p:nvSpPr>
          <p:cNvPr id="6" name="Google-Shape-2262-p159-7">
            <a:extLst>
              <a:ext uri="{FF2B5EF4-FFF2-40B4-BE49-F238E27FC236}">
                <a16:creationId xmlns:a16="http://schemas.microsoft.com/office/drawing/2014/main" id="{84CED366-64DF-40F5-B4F2-CDC86305ECA0}"/>
              </a:ext>
            </a:extLst>
          </p:cNvPr>
          <p:cNvSpPr>
            <a:spLocks noGrp="1"/>
          </p:cNvSpPr>
          <p:nvPr/>
        </p:nvSpPr>
        <p:spPr>
          <a:xfrm>
            <a:off x="9229725" y="2343150"/>
            <a:ext cx="590550" cy="590550"/>
          </a:xfrm>
          <a:prstGeom prst="ellipse">
            <a:avLst/>
          </a:prstGeom>
          <a:solidFill>
            <a:srgbClr val="C9960F"/>
          </a:solidFill>
          <a:ln w="28575">
            <a:solidFill>
              <a:srgbClr val="FFFFFF"/>
            </a:solidFill>
            <a:prstDash val="solid"/>
          </a:ln>
        </p:spPr>
        <p:txBody>
          <a:bodyPr anchor="ctr"/>
          <a:lstStyle/>
          <a:p>
            <a:pPr algn="ctr">
              <a:defRPr sz="1875" b="1">
                <a:solidFill>
                  <a:srgbClr val="FFFFFF"/>
                </a:solidFill>
                <a:latin typeface="Arial"/>
                <a:ea typeface="Arial"/>
                <a:cs typeface="Arial"/>
              </a:defRPr>
            </a:pPr>
            <a:r>
              <a:rPr sz="1875" b="1">
                <a:solidFill>
                  <a:srgbClr val="FFFFFF"/>
                </a:solidFill>
                <a:latin typeface="Arial"/>
                <a:ea typeface="Arial"/>
                <a:cs typeface="Arial"/>
              </a:rPr>
              <a:t>3</a:t>
            </a:r>
          </a:p>
        </p:txBody>
      </p:sp>
      <p:sp>
        <p:nvSpPr>
          <p:cNvPr id="7" name="Content-Placeholder-15-8">
            <a:extLst>
              <a:ext uri="{FF2B5EF4-FFF2-40B4-BE49-F238E27FC236}">
                <a16:creationId xmlns:a16="http://schemas.microsoft.com/office/drawing/2014/main" id="{E298FEE2-F6C8-4FBF-A83C-81F3CBA9D665}"/>
              </a:ext>
            </a:extLst>
          </p:cNvPr>
          <p:cNvSpPr>
            <a:spLocks noGrp="1"/>
          </p:cNvSpPr>
          <p:nvPr/>
        </p:nvSpPr>
        <p:spPr>
          <a:xfrm>
            <a:off x="523875" y="2019300"/>
            <a:ext cx="2381250" cy="266700"/>
          </a:xfrm>
          <a:prstGeom prst="rect">
            <a:avLst/>
          </a:prstGeom>
        </p:spPr>
        <p:txBody>
          <a:bodyPr lIns="0" tIns="0" rIns="0" bIns="0" anchor="ctr">
            <a:noAutofit/>
          </a:bodyPr>
          <a:lstStyle/>
          <a:p>
            <a:pPr algn="ctr">
              <a:buNone/>
              <a:defRPr sz="1350" b="1">
                <a:solidFill>
                  <a:srgbClr val="C60C30"/>
                </a:solidFill>
                <a:latin typeface="Arial"/>
                <a:ea typeface="Arial"/>
                <a:cs typeface="Arial"/>
              </a:defRPr>
            </a:pPr>
            <a:r>
              <a:rPr sz="1350" b="1">
                <a:solidFill>
                  <a:srgbClr val="C60C30"/>
                </a:solidFill>
                <a:latin typeface="Arial"/>
                <a:ea typeface="Arial"/>
                <a:cs typeface="Arial"/>
              </a:rPr>
              <a:t>INGEST</a:t>
            </a:r>
          </a:p>
        </p:txBody>
      </p:sp>
      <p:sp>
        <p:nvSpPr>
          <p:cNvPr id="8" name="Content-Placeholder-15-9">
            <a:extLst>
              <a:ext uri="{FF2B5EF4-FFF2-40B4-BE49-F238E27FC236}">
                <a16:creationId xmlns:a16="http://schemas.microsoft.com/office/drawing/2014/main" id="{FFC760AB-87EA-41F1-A780-897945A55E45}"/>
              </a:ext>
            </a:extLst>
          </p:cNvPr>
          <p:cNvSpPr>
            <a:spLocks noGrp="1"/>
          </p:cNvSpPr>
          <p:nvPr/>
        </p:nvSpPr>
        <p:spPr>
          <a:xfrm>
            <a:off x="4429125" y="2019300"/>
            <a:ext cx="2381250" cy="266700"/>
          </a:xfrm>
          <a:prstGeom prst="rect">
            <a:avLst/>
          </a:prstGeom>
        </p:spPr>
        <p:txBody>
          <a:bodyPr lIns="0" tIns="0" rIns="0" bIns="0" anchor="ctr">
            <a:noAutofit/>
          </a:bodyPr>
          <a:lstStyle/>
          <a:p>
            <a:pPr algn="ctr">
              <a:buNone/>
              <a:defRPr sz="1350" b="1">
                <a:solidFill>
                  <a:srgbClr val="43858A"/>
                </a:solidFill>
                <a:latin typeface="Arial"/>
                <a:ea typeface="Arial"/>
                <a:cs typeface="Arial"/>
              </a:defRPr>
            </a:pPr>
            <a:r>
              <a:rPr sz="1350" b="1">
                <a:solidFill>
                  <a:srgbClr val="43858A"/>
                </a:solidFill>
                <a:latin typeface="Arial"/>
                <a:ea typeface="Arial"/>
                <a:cs typeface="Arial"/>
              </a:rPr>
              <a:t>RETRIEVAL</a:t>
            </a:r>
          </a:p>
        </p:txBody>
      </p:sp>
      <p:sp>
        <p:nvSpPr>
          <p:cNvPr id="9" name="Content-Placeholder-15-10">
            <a:extLst>
              <a:ext uri="{FF2B5EF4-FFF2-40B4-BE49-F238E27FC236}">
                <a16:creationId xmlns:a16="http://schemas.microsoft.com/office/drawing/2014/main" id="{97FC5AC8-615F-4CC4-9D40-4D026E390306}"/>
              </a:ext>
            </a:extLst>
          </p:cNvPr>
          <p:cNvSpPr>
            <a:spLocks noGrp="1"/>
          </p:cNvSpPr>
          <p:nvPr/>
        </p:nvSpPr>
        <p:spPr>
          <a:xfrm>
            <a:off x="8334375" y="2019300"/>
            <a:ext cx="2381250" cy="266700"/>
          </a:xfrm>
          <a:prstGeom prst="rect">
            <a:avLst/>
          </a:prstGeom>
        </p:spPr>
        <p:txBody>
          <a:bodyPr lIns="0" tIns="0" rIns="0" bIns="0" anchor="ctr">
            <a:noAutofit/>
          </a:bodyPr>
          <a:lstStyle/>
          <a:p>
            <a:pPr algn="ctr">
              <a:buNone/>
              <a:defRPr sz="1350" b="1">
                <a:solidFill>
                  <a:srgbClr val="C9960F"/>
                </a:solidFill>
                <a:latin typeface="Arial"/>
                <a:ea typeface="Arial"/>
                <a:cs typeface="Arial"/>
              </a:defRPr>
            </a:pPr>
            <a:r>
              <a:rPr sz="1350" b="1">
                <a:solidFill>
                  <a:srgbClr val="C9960F"/>
                </a:solidFill>
                <a:latin typeface="Arial"/>
                <a:ea typeface="Arial"/>
                <a:cs typeface="Arial"/>
              </a:rPr>
              <a:t>GENERATION</a:t>
            </a:r>
          </a:p>
        </p:txBody>
      </p:sp>
      <p:sp>
        <p:nvSpPr>
          <p:cNvPr id="10" name="Text-Placeholder-16-11">
            <a:extLst>
              <a:ext uri="{FF2B5EF4-FFF2-40B4-BE49-F238E27FC236}">
                <a16:creationId xmlns:a16="http://schemas.microsoft.com/office/drawing/2014/main" id="{95F81849-9583-42B1-A5D7-65A101BA2CA1}"/>
              </a:ext>
            </a:extLst>
          </p:cNvPr>
          <p:cNvSpPr>
            <a:spLocks noGrp="1"/>
          </p:cNvSpPr>
          <p:nvPr/>
        </p:nvSpPr>
        <p:spPr>
          <a:xfrm>
            <a:off x="4429125" y="3219450"/>
            <a:ext cx="3333750" cy="2000250"/>
          </a:xfrm>
          <a:prstGeom prst="roundRect">
            <a:avLst>
              <a:gd name="adj" fmla="val 8571"/>
            </a:avLst>
          </a:prstGeom>
          <a:solidFill>
            <a:srgbClr val="EAE8E5"/>
          </a:solidFill>
          <a:ln w="11430">
            <a:solidFill>
              <a:srgbClr val="C3BBB2"/>
            </a:solidFill>
            <a:prstDash val="solid"/>
          </a:ln>
        </p:spPr>
        <p:txBody>
          <a:bodyPr lIns="228600" tIns="685800" rIns="228600" bIns="171450" anchor="t">
            <a:noAutofit/>
          </a:bodyPr>
          <a:lstStyle/>
          <a:p>
            <a:pPr algn="l">
              <a:buNone/>
              <a:defRPr sz="1650">
                <a:solidFill>
                  <a:srgbClr val="2D3F4B"/>
                </a:solidFill>
                <a:latin typeface="Arial"/>
                <a:ea typeface="Arial"/>
                <a:cs typeface="Arial"/>
              </a:defRPr>
            </a:pPr>
            <a:r>
              <a:rPr sz="1650">
                <a:solidFill>
                  <a:srgbClr val="2D3F4B"/>
                </a:solidFill>
                <a:latin typeface="Arial"/>
                <a:ea typeface="Arial"/>
                <a:cs typeface="Arial"/>
              </a:rPr>
              <a:t>Zur Frage werden die relevantesten semantischen oder strukturellen Treffer ausgewählt.</a:t>
            </a:r>
          </a:p>
        </p:txBody>
      </p:sp>
      <p:sp>
        <p:nvSpPr>
          <p:cNvPr id="11" name="Text-Placeholder-16-12">
            <a:extLst>
              <a:ext uri="{FF2B5EF4-FFF2-40B4-BE49-F238E27FC236}">
                <a16:creationId xmlns:a16="http://schemas.microsoft.com/office/drawing/2014/main" id="{673B0B97-D413-4B3F-8F29-BCB8ED771DE4}"/>
              </a:ext>
            </a:extLst>
          </p:cNvPr>
          <p:cNvSpPr>
            <a:spLocks noGrp="1"/>
          </p:cNvSpPr>
          <p:nvPr/>
        </p:nvSpPr>
        <p:spPr>
          <a:xfrm>
            <a:off x="523875" y="3219450"/>
            <a:ext cx="3333750" cy="2000250"/>
          </a:xfrm>
          <a:prstGeom prst="roundRect">
            <a:avLst>
              <a:gd name="adj" fmla="val 8571"/>
            </a:avLst>
          </a:prstGeom>
          <a:solidFill>
            <a:srgbClr val="EAE8E5"/>
          </a:solidFill>
          <a:ln w="11430">
            <a:solidFill>
              <a:srgbClr val="C3BBB2"/>
            </a:solidFill>
            <a:prstDash val="solid"/>
          </a:ln>
        </p:spPr>
        <p:txBody>
          <a:bodyPr lIns="228600" tIns="685800" rIns="228600" bIns="171450" anchor="t">
            <a:noAutofit/>
          </a:bodyPr>
          <a:lstStyle/>
          <a:p>
            <a:pPr algn="l">
              <a:buNone/>
              <a:defRPr sz="1650">
                <a:solidFill>
                  <a:srgbClr val="2D3F4B"/>
                </a:solidFill>
                <a:latin typeface="Arial"/>
                <a:ea typeface="Arial"/>
                <a:cs typeface="Arial"/>
              </a:defRPr>
            </a:pPr>
            <a:r>
              <a:rPr sz="1650">
                <a:solidFill>
                  <a:srgbClr val="2D3F4B"/>
                </a:solidFill>
                <a:latin typeface="Arial"/>
                <a:ea typeface="Arial"/>
                <a:cs typeface="Arial"/>
              </a:rPr>
              <a:t>Dokumente werden in suchbare Chunks zerlegt und als Vektoren indexiert.</a:t>
            </a:r>
          </a:p>
        </p:txBody>
      </p:sp>
      <p:sp>
        <p:nvSpPr>
          <p:cNvPr id="12" name="Text-Placeholder-16-13">
            <a:extLst>
              <a:ext uri="{FF2B5EF4-FFF2-40B4-BE49-F238E27FC236}">
                <a16:creationId xmlns:a16="http://schemas.microsoft.com/office/drawing/2014/main" id="{91816FCB-F942-46E3-8FD1-38F3AD698D93}"/>
              </a:ext>
            </a:extLst>
          </p:cNvPr>
          <p:cNvSpPr>
            <a:spLocks noGrp="1"/>
          </p:cNvSpPr>
          <p:nvPr/>
        </p:nvSpPr>
        <p:spPr>
          <a:xfrm>
            <a:off x="8334375" y="3219450"/>
            <a:ext cx="3333750" cy="2000250"/>
          </a:xfrm>
          <a:prstGeom prst="roundRect">
            <a:avLst>
              <a:gd name="adj" fmla="val 8571"/>
            </a:avLst>
          </a:prstGeom>
          <a:solidFill>
            <a:srgbClr val="EAE8E5"/>
          </a:solidFill>
          <a:ln w="11430">
            <a:solidFill>
              <a:srgbClr val="C3BBB2"/>
            </a:solidFill>
            <a:prstDash val="solid"/>
          </a:ln>
        </p:spPr>
        <p:txBody>
          <a:bodyPr lIns="228600" tIns="685800" rIns="228600" bIns="171450" anchor="t">
            <a:noAutofit/>
          </a:bodyPr>
          <a:lstStyle/>
          <a:p>
            <a:pPr algn="l">
              <a:buNone/>
              <a:defRPr sz="1650">
                <a:solidFill>
                  <a:srgbClr val="2D3F4B"/>
                </a:solidFill>
                <a:latin typeface="Arial"/>
                <a:ea typeface="Arial"/>
                <a:cs typeface="Arial"/>
              </a:defRPr>
            </a:pPr>
            <a:r>
              <a:rPr sz="1650">
                <a:solidFill>
                  <a:srgbClr val="2D3F4B"/>
                </a:solidFill>
                <a:latin typeface="Arial"/>
                <a:ea typeface="Arial"/>
                <a:cs typeface="Arial"/>
              </a:rPr>
              <a:t>Der gefundene Kontext ergänzt den Prompt und begründet die Antwort.</a:t>
            </a:r>
          </a:p>
        </p:txBody>
      </p:sp>
      <p:sp>
        <p:nvSpPr>
          <p:cNvPr id="16" name="INGEST-accent">
            <a:extLst>
              <a:ext uri="{FF2B5EF4-FFF2-40B4-BE49-F238E27FC236}">
                <a16:creationId xmlns:a16="http://schemas.microsoft.com/office/drawing/2014/main" id="{32D14670-E93F-4161-900C-10CED47AA6C0}"/>
              </a:ext>
            </a:extLst>
          </p:cNvPr>
          <p:cNvSpPr>
            <a:spLocks noGrp="1"/>
          </p:cNvSpPr>
          <p:nvPr/>
        </p:nvSpPr>
        <p:spPr>
          <a:xfrm>
            <a:off x="523875" y="3219450"/>
            <a:ext cx="3333750" cy="76200"/>
          </a:xfrm>
          <a:prstGeom prst="rect">
            <a:avLst/>
          </a:prstGeom>
          <a:solidFill>
            <a:srgbClr val="C60C30"/>
          </a:solidFill>
          <a:ln w="0">
            <a:solidFill>
              <a:srgbClr val="C60C30"/>
            </a:solidFill>
            <a:prstDash val="solid"/>
          </a:ln>
        </p:spPr>
        <p:txBody>
          <a:bodyPr/>
          <a:lstStyle/>
          <a:p>
            <a:endParaRPr lang="de-CH"/>
          </a:p>
        </p:txBody>
      </p:sp>
      <p:sp>
        <p:nvSpPr>
          <p:cNvPr id="17" name="INGEST-heading">
            <a:extLst>
              <a:ext uri="{FF2B5EF4-FFF2-40B4-BE49-F238E27FC236}">
                <a16:creationId xmlns:a16="http://schemas.microsoft.com/office/drawing/2014/main" id="{D27FE73B-D889-4732-AC77-A1615A45EF43}"/>
              </a:ext>
            </a:extLst>
          </p:cNvPr>
          <p:cNvSpPr>
            <a:spLocks noGrp="1"/>
          </p:cNvSpPr>
          <p:nvPr/>
        </p:nvSpPr>
        <p:spPr>
          <a:xfrm>
            <a:off x="752475" y="3476625"/>
            <a:ext cx="2876550" cy="400050"/>
          </a:xfrm>
          <a:prstGeom prst="rect">
            <a:avLst/>
          </a:prstGeom>
          <a:noFill/>
          <a:ln w="0">
            <a:noFill/>
            <a:prstDash val="solid"/>
          </a:ln>
        </p:spPr>
        <p:txBody>
          <a:bodyPr anchor="ctr"/>
          <a:lstStyle/>
          <a:p>
            <a:pPr algn="l">
              <a:defRPr sz="1800" b="1">
                <a:solidFill>
                  <a:srgbClr val="2D3F4B"/>
                </a:solidFill>
                <a:latin typeface="Arial"/>
                <a:ea typeface="Arial"/>
                <a:cs typeface="Arial"/>
              </a:defRPr>
            </a:pPr>
            <a:r>
              <a:rPr sz="1800" b="1">
                <a:solidFill>
                  <a:srgbClr val="2D3F4B"/>
                </a:solidFill>
                <a:latin typeface="Arial"/>
                <a:ea typeface="Arial"/>
                <a:cs typeface="Arial"/>
              </a:rPr>
              <a:t>Load → Chunk → Embed</a:t>
            </a:r>
          </a:p>
        </p:txBody>
      </p:sp>
      <p:sp>
        <p:nvSpPr>
          <p:cNvPr id="18" name="RETRIEVAL-accent">
            <a:extLst>
              <a:ext uri="{FF2B5EF4-FFF2-40B4-BE49-F238E27FC236}">
                <a16:creationId xmlns:a16="http://schemas.microsoft.com/office/drawing/2014/main" id="{9B193A4A-FE29-42D7-AF7F-0BC0460560FB}"/>
              </a:ext>
            </a:extLst>
          </p:cNvPr>
          <p:cNvSpPr>
            <a:spLocks noGrp="1"/>
          </p:cNvSpPr>
          <p:nvPr/>
        </p:nvSpPr>
        <p:spPr>
          <a:xfrm>
            <a:off x="4429125" y="3219450"/>
            <a:ext cx="3333750" cy="76200"/>
          </a:xfrm>
          <a:prstGeom prst="rect">
            <a:avLst/>
          </a:prstGeom>
          <a:solidFill>
            <a:srgbClr val="43858A"/>
          </a:solidFill>
          <a:ln w="0">
            <a:solidFill>
              <a:srgbClr val="43858A"/>
            </a:solidFill>
            <a:prstDash val="solid"/>
          </a:ln>
        </p:spPr>
        <p:txBody>
          <a:bodyPr/>
          <a:lstStyle/>
          <a:p>
            <a:endParaRPr lang="de-CH"/>
          </a:p>
        </p:txBody>
      </p:sp>
      <p:sp>
        <p:nvSpPr>
          <p:cNvPr id="19" name="RETRIEVAL-heading">
            <a:extLst>
              <a:ext uri="{FF2B5EF4-FFF2-40B4-BE49-F238E27FC236}">
                <a16:creationId xmlns:a16="http://schemas.microsoft.com/office/drawing/2014/main" id="{0490C1E6-C962-4F5E-9671-72D583BC0FFA}"/>
              </a:ext>
            </a:extLst>
          </p:cNvPr>
          <p:cNvSpPr>
            <a:spLocks noGrp="1"/>
          </p:cNvSpPr>
          <p:nvPr/>
        </p:nvSpPr>
        <p:spPr>
          <a:xfrm>
            <a:off x="4657725" y="3476625"/>
            <a:ext cx="2876550" cy="400050"/>
          </a:xfrm>
          <a:prstGeom prst="rect">
            <a:avLst/>
          </a:prstGeom>
          <a:noFill/>
          <a:ln w="0">
            <a:noFill/>
            <a:prstDash val="solid"/>
          </a:ln>
        </p:spPr>
        <p:txBody>
          <a:bodyPr anchor="ctr"/>
          <a:lstStyle/>
          <a:p>
            <a:pPr algn="l">
              <a:defRPr sz="1800" b="1">
                <a:solidFill>
                  <a:srgbClr val="2D3F4B"/>
                </a:solidFill>
                <a:latin typeface="Arial"/>
                <a:ea typeface="Arial"/>
                <a:cs typeface="Arial"/>
              </a:defRPr>
            </a:pPr>
            <a:r>
              <a:rPr sz="1800" b="1">
                <a:solidFill>
                  <a:srgbClr val="2D3F4B"/>
                </a:solidFill>
                <a:latin typeface="Arial"/>
                <a:ea typeface="Arial"/>
                <a:cs typeface="Arial"/>
              </a:rPr>
              <a:t>Question → Search</a:t>
            </a:r>
          </a:p>
        </p:txBody>
      </p:sp>
      <p:sp>
        <p:nvSpPr>
          <p:cNvPr id="20" name="GENERATION-accent">
            <a:extLst>
              <a:ext uri="{FF2B5EF4-FFF2-40B4-BE49-F238E27FC236}">
                <a16:creationId xmlns:a16="http://schemas.microsoft.com/office/drawing/2014/main" id="{D7ECC4DB-FAB8-46FD-BCC8-7DC96BE0F92B}"/>
              </a:ext>
            </a:extLst>
          </p:cNvPr>
          <p:cNvSpPr>
            <a:spLocks noGrp="1"/>
          </p:cNvSpPr>
          <p:nvPr/>
        </p:nvSpPr>
        <p:spPr>
          <a:xfrm>
            <a:off x="8334375" y="3219450"/>
            <a:ext cx="3333750" cy="76200"/>
          </a:xfrm>
          <a:prstGeom prst="rect">
            <a:avLst/>
          </a:prstGeom>
          <a:solidFill>
            <a:srgbClr val="C9960F"/>
          </a:solidFill>
          <a:ln w="0">
            <a:solidFill>
              <a:srgbClr val="C9960F"/>
            </a:solidFill>
            <a:prstDash val="solid"/>
          </a:ln>
        </p:spPr>
        <p:txBody>
          <a:bodyPr/>
          <a:lstStyle/>
          <a:p>
            <a:endParaRPr lang="de-CH"/>
          </a:p>
        </p:txBody>
      </p:sp>
      <p:sp>
        <p:nvSpPr>
          <p:cNvPr id="21" name="GENERATION-heading">
            <a:extLst>
              <a:ext uri="{FF2B5EF4-FFF2-40B4-BE49-F238E27FC236}">
                <a16:creationId xmlns:a16="http://schemas.microsoft.com/office/drawing/2014/main" id="{AF2552B5-8E0D-4350-8545-E0AC86C66C8A}"/>
              </a:ext>
            </a:extLst>
          </p:cNvPr>
          <p:cNvSpPr>
            <a:spLocks noGrp="1"/>
          </p:cNvSpPr>
          <p:nvPr/>
        </p:nvSpPr>
        <p:spPr>
          <a:xfrm>
            <a:off x="8562975" y="3476625"/>
            <a:ext cx="2876550" cy="400050"/>
          </a:xfrm>
          <a:prstGeom prst="rect">
            <a:avLst/>
          </a:prstGeom>
          <a:noFill/>
          <a:ln w="0">
            <a:noFill/>
            <a:prstDash val="solid"/>
          </a:ln>
        </p:spPr>
        <p:txBody>
          <a:bodyPr anchor="ctr"/>
          <a:lstStyle/>
          <a:p>
            <a:pPr algn="l">
              <a:defRPr sz="1800" b="1">
                <a:solidFill>
                  <a:srgbClr val="2D3F4B"/>
                </a:solidFill>
                <a:latin typeface="Arial"/>
                <a:ea typeface="Arial"/>
                <a:cs typeface="Arial"/>
              </a:defRPr>
            </a:pPr>
            <a:r>
              <a:rPr sz="1800" b="1">
                <a:solidFill>
                  <a:srgbClr val="2D3F4B"/>
                </a:solidFill>
                <a:latin typeface="Arial"/>
                <a:ea typeface="Arial"/>
                <a:cs typeface="Arial"/>
              </a:rPr>
              <a:t>Augment → Answer</a:t>
            </a:r>
          </a:p>
        </p:txBody>
      </p:sp>
      <p:sp>
        <p:nvSpPr>
          <p:cNvPr id="22" name="offline-pill">
            <a:extLst>
              <a:ext uri="{FF2B5EF4-FFF2-40B4-BE49-F238E27FC236}">
                <a16:creationId xmlns:a16="http://schemas.microsoft.com/office/drawing/2014/main" id="{D9E5237E-277F-4597-91F2-143FFC0209C3}"/>
              </a:ext>
            </a:extLst>
          </p:cNvPr>
          <p:cNvSpPr>
            <a:spLocks noGrp="1"/>
          </p:cNvSpPr>
          <p:nvPr/>
        </p:nvSpPr>
        <p:spPr>
          <a:xfrm>
            <a:off x="666750" y="1504950"/>
            <a:ext cx="3048000" cy="323850"/>
          </a:xfrm>
          <a:prstGeom prst="roundRect">
            <a:avLst>
              <a:gd name="adj" fmla="val 44118"/>
            </a:avLst>
          </a:prstGeom>
          <a:solidFill>
            <a:srgbClr val="C60C30"/>
          </a:solidFill>
          <a:ln w="0">
            <a:solidFill>
              <a:srgbClr val="C60C30"/>
            </a:solidFill>
            <a:prstDash val="solid"/>
          </a:ln>
        </p:spPr>
        <p:txBody>
          <a:bodyPr anchor="ct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VORBEREITUNG · EINMALIG</a:t>
            </a:r>
          </a:p>
        </p:txBody>
      </p:sp>
      <p:sp>
        <p:nvSpPr>
          <p:cNvPr id="23" name="query-pill">
            <a:extLst>
              <a:ext uri="{FF2B5EF4-FFF2-40B4-BE49-F238E27FC236}">
                <a16:creationId xmlns:a16="http://schemas.microsoft.com/office/drawing/2014/main" id="{40444EEB-CBDD-4C4E-B2B3-8DA7BF6E9F6B}"/>
              </a:ext>
            </a:extLst>
          </p:cNvPr>
          <p:cNvSpPr>
            <a:spLocks noGrp="1"/>
          </p:cNvSpPr>
          <p:nvPr/>
        </p:nvSpPr>
        <p:spPr>
          <a:xfrm>
            <a:off x="4572000" y="1504950"/>
            <a:ext cx="6953250" cy="323850"/>
          </a:xfrm>
          <a:prstGeom prst="roundRect">
            <a:avLst>
              <a:gd name="adj" fmla="val 44118"/>
            </a:avLst>
          </a:prstGeom>
          <a:solidFill>
            <a:srgbClr val="2D3F4B"/>
          </a:solidFill>
          <a:ln w="0">
            <a:solidFill>
              <a:srgbClr val="2D3F4B"/>
            </a:solidFill>
            <a:prstDash val="solid"/>
          </a:ln>
        </p:spPr>
        <p:txBody>
          <a:bodyPr anchor="ct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ANFRAGE · PRO QUERY</a:t>
            </a:r>
          </a:p>
        </p:txBody>
      </p:sp>
      <p:sp>
        <p:nvSpPr>
          <p:cNvPr id="24" name="pipeline-takeaway">
            <a:extLst>
              <a:ext uri="{FF2B5EF4-FFF2-40B4-BE49-F238E27FC236}">
                <a16:creationId xmlns:a16="http://schemas.microsoft.com/office/drawing/2014/main" id="{6D64C187-7D51-444C-A6A7-081B0B3C7BEC}"/>
              </a:ext>
            </a:extLst>
          </p:cNvPr>
          <p:cNvSpPr>
            <a:spLocks noGrp="1"/>
          </p:cNvSpPr>
          <p:nvPr/>
        </p:nvSpPr>
        <p:spPr>
          <a:xfrm>
            <a:off x="2000250" y="5524500"/>
            <a:ext cx="8191500" cy="400050"/>
          </a:xfrm>
          <a:prstGeom prst="rect">
            <a:avLst/>
          </a:prstGeom>
          <a:noFill/>
          <a:ln w="0">
            <a:noFill/>
            <a:prstDash val="solid"/>
          </a:ln>
        </p:spPr>
        <p:txBody>
          <a:bodyPr anchor="ctr"/>
          <a:lstStyle/>
          <a:p>
            <a:pPr algn="ctr">
              <a:defRPr sz="1425" b="1">
                <a:solidFill>
                  <a:srgbClr val="81725E"/>
                </a:solidFill>
                <a:latin typeface="Arial"/>
                <a:ea typeface="Arial"/>
                <a:cs typeface="Arial"/>
              </a:defRPr>
            </a:pPr>
            <a:r>
              <a:rPr sz="1425" b="1">
                <a:solidFill>
                  <a:srgbClr val="81725E"/>
                </a:solidFill>
                <a:latin typeface="Arial"/>
                <a:ea typeface="Arial"/>
                <a:cs typeface="Arial"/>
              </a:rPr>
              <a:t>Dokumente → Index    |    Frage → relevante Chunks → belegte Antwort</a:t>
            </a:r>
          </a:p>
        </p:txBody>
      </p:sp>
      <p:pic>
        <p:nvPicPr>
          <p:cNvPr id="3" name="Picture 2">
            <a:extLst>
              <a:ext uri="{FF2B5EF4-FFF2-40B4-BE49-F238E27FC236}">
                <a16:creationId xmlns:a16="http://schemas.microsoft.com/office/drawing/2014/main" id="{77CC4794-F31D-CC91-53E4-342EF541CF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0635" y="-615794"/>
            <a:ext cx="117475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77000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9E9C94-A4CC-595E-C858-323B166663D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p:txBody>
          <a:bodyPr/>
          <a:lstStyle/>
          <a:p>
            <a:r>
              <a:rPr lang="de-DE" dirty="0"/>
              <a:t>Das Repository macht jede Stufe sichtbar</a:t>
            </a:r>
            <a:endParaRPr dirty="0"/>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idx="10"/>
          </p:nvPr>
        </p:nvSpPr>
        <p:spPr/>
        <p:txBody>
          <a:bodyPr/>
          <a:lstStyle/>
          <a:p>
            <a:fld id="{1EB7C1D4-D1F3-40CB-8780-B2B6A9133392}" type="datetime1">
              <a:rPr/>
              <a:t>04.08.2026</a:t>
            </a:fld>
            <a:endParaRPr/>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idx="12"/>
          </p:nvPr>
        </p:nvSpPr>
        <p:spPr/>
        <p:txBody>
          <a:bodyPr/>
          <a:lstStyle/>
          <a:p>
            <a:fld id="{CE7E00E2-F08D-429A-AD9B-1ECBEC02F4DB}" type="slidenum">
              <a:rPr/>
              <a:t>12</a:t>
            </a:fld>
            <a:endParaRPr/>
          </a:p>
        </p:txBody>
      </p:sp>
      <p:sp>
        <p:nvSpPr>
          <p:cNvPr id="4" name="Inhaltsplatzhalter 3">
            <a:extLst>
              <a:ext uri="{FF2B5EF4-FFF2-40B4-BE49-F238E27FC236}">
                <a16:creationId xmlns:a16="http://schemas.microsoft.com/office/drawing/2014/main" id="{9E00F11B-F7DF-E426-C174-8B3704E26776}"/>
              </a:ext>
            </a:extLst>
          </p:cNvPr>
          <p:cNvSpPr>
            <a:spLocks noGrp="1"/>
          </p:cNvSpPr>
          <p:nvPr>
            <p:ph idx="13"/>
          </p:nvPr>
        </p:nvSpPr>
        <p:spPr/>
        <p:txBody>
          <a:bodyPr/>
          <a:lstStyle/>
          <a:p>
            <a:endParaRPr dirty="0"/>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defRPr sz="2400">
                <a:solidFill>
                  <a:srgbClr val="000000"/>
                </a:solidFill>
                <a:latin typeface="Helvetica Neue"/>
                <a:ea typeface="Helvetica Neue"/>
                <a:cs typeface="Helvetica Neue"/>
              </a:defRPr>
            </a:pPr>
            <a:r>
              <a:rPr dirty="0"/>
              <a:t>1 · Chat</a:t>
            </a:r>
          </a:p>
          <a:p>
            <a:pPr algn="l">
              <a:defRPr sz="2400">
                <a:solidFill>
                  <a:srgbClr val="000000"/>
                </a:solidFill>
                <a:latin typeface="Helvetica Neue"/>
                <a:ea typeface="Helvetica Neue"/>
                <a:cs typeface="Helvetica Neue"/>
              </a:defRPr>
            </a:pPr>
            <a:r>
              <a:rPr dirty="0"/>
              <a:t>OpenAI-</a:t>
            </a:r>
            <a:r>
              <a:rPr dirty="0" err="1"/>
              <a:t>kompatibler</a:t>
            </a:r>
            <a:r>
              <a:rPr dirty="0"/>
              <a:t> Client und </a:t>
            </a:r>
            <a:r>
              <a:rPr dirty="0" err="1"/>
              <a:t>ein</a:t>
            </a:r>
            <a:r>
              <a:rPr dirty="0"/>
              <a:t>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defRPr sz="2400">
                <a:solidFill>
                  <a:srgbClr val="000000"/>
                </a:solidFill>
                <a:latin typeface="Helvetica Neue"/>
                <a:ea typeface="Helvetica Neue"/>
                <a:cs typeface="Helvetica Neue"/>
              </a:defRPr>
            </a:pPr>
            <a:r>
              <a:t>2 · Vector RAG</a:t>
            </a:r>
          </a:p>
          <a:p>
            <a:pPr algn="l">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defRPr sz="2400">
                <a:solidFill>
                  <a:srgbClr val="000000"/>
                </a:solidFill>
                <a:latin typeface="Helvetica Neue"/>
                <a:ea typeface="Helvetica Neue"/>
                <a:cs typeface="Helvetica Neue"/>
              </a:defRPr>
            </a:pPr>
            <a:r>
              <a:t>3 · Qualität</a:t>
            </a:r>
          </a:p>
          <a:p>
            <a:pPr algn="l">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defRPr sz="2400">
                <a:solidFill>
                  <a:srgbClr val="000000"/>
                </a:solidFill>
                <a:latin typeface="Helvetica Neue"/>
                <a:ea typeface="Helvetica Neue"/>
                <a:cs typeface="Helvetica Neue"/>
              </a:defRPr>
            </a:pPr>
            <a:r>
              <a:t>4 · Graph + Eval</a:t>
            </a:r>
          </a:p>
          <a:p>
            <a:pPr algn="l">
              <a:defRPr sz="2400">
                <a:solidFill>
                  <a:srgbClr val="000000"/>
                </a:solidFill>
                <a:latin typeface="Helvetica Neue"/>
                <a:ea typeface="Helvetica Neue"/>
                <a:cs typeface="Helvetica Neue"/>
              </a:defRPr>
            </a:pPr>
            <a:r>
              <a:t>Hybride Artikelsuche, Graph-Nachbarn, messbare Qualität.</a:t>
            </a:r>
          </a:p>
        </p:txBody>
      </p:sp>
    </p:spTree>
    <p:extLst>
      <p:ext uri="{BB962C8B-B14F-4D97-AF65-F5344CB8AC3E}">
        <p14:creationId xmlns:p14="http://schemas.microsoft.com/office/powerpoint/2010/main" val="3368991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04.08.2026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13</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04.08.2026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14</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26"/>
          <p:cNvPicPr>
            <a:picLocks noChangeAspect="1"/>
          </p:cNvPicPr>
          <p:nvPr/>
        </p:nvPicPr>
        <p:blipFill>
          <a:blip r:embed="rId3"/>
          <a:stretch>
            <a:fillRect/>
          </a:stretch>
        </p:blipFill>
        <p:spPr>
          <a:xfrm>
            <a:off x="2912712" y="1575664"/>
            <a:ext cx="425450" cy="457200"/>
          </a:xfrm>
          <a:prstGeom prst="rect">
            <a:avLst/>
          </a:prstGeom>
        </p:spPr>
      </p:pic>
      <p:pic>
        <p:nvPicPr>
          <p:cNvPr id="68" name="Grafik 28"/>
          <p:cNvPicPr>
            <a:picLocks noChangeAspect="1"/>
          </p:cNvPicPr>
          <p:nvPr/>
        </p:nvPicPr>
        <p:blipFill>
          <a:blip r:embed="rId4"/>
          <a:stretch>
            <a:fillRect/>
          </a:stretch>
        </p:blipFill>
        <p:spPr>
          <a:xfrm>
            <a:off x="8761385" y="1446112"/>
            <a:ext cx="508000" cy="596900"/>
          </a:xfrm>
          <a:prstGeom prst="rect">
            <a:avLst/>
          </a:prstGeom>
        </p:spPr>
      </p:pic>
      <p:pic>
        <p:nvPicPr>
          <p:cNvPr id="69" name="Grafik 30"/>
          <p:cNvPicPr>
            <a:picLocks noChangeAspect="1"/>
          </p:cNvPicPr>
          <p:nvPr/>
        </p:nvPicPr>
        <p:blipFill>
          <a:blip r:embed="rId5"/>
          <a:stretch>
            <a:fillRect/>
          </a:stretch>
        </p:blipFill>
        <p:spPr>
          <a:xfrm>
            <a:off x="6848896" y="1446112"/>
            <a:ext cx="355600" cy="622300"/>
          </a:xfrm>
          <a:prstGeom prst="rect">
            <a:avLst/>
          </a:prstGeom>
        </p:spPr>
      </p:pic>
      <p:pic>
        <p:nvPicPr>
          <p:cNvPr id="70" name="Grafik 32"/>
          <p:cNvPicPr>
            <a:picLocks noChangeAspect="1"/>
          </p:cNvPicPr>
          <p:nvPr/>
        </p:nvPicPr>
        <p:blipFill>
          <a:blip r:embed="rId6"/>
          <a:stretch>
            <a:fillRect/>
          </a:stretch>
        </p:blipFill>
        <p:spPr>
          <a:xfrm>
            <a:off x="4708193" y="1505626"/>
            <a:ext cx="457200" cy="596900"/>
          </a:xfrm>
          <a:prstGeom prst="rect">
            <a:avLst/>
          </a:prstGeom>
        </p:spPr>
      </p:pic>
      <p:pic>
        <p:nvPicPr>
          <p:cNvPr id="71" name="Grafik 34"/>
          <p:cNvPicPr>
            <a:picLocks noChangeAspect="1"/>
          </p:cNvPicPr>
          <p:nvPr/>
        </p:nvPicPr>
        <p:blipFill>
          <a:blip r:embed="rId7"/>
          <a:stretch>
            <a:fillRect/>
          </a:stretch>
        </p:blipFill>
        <p:spPr>
          <a:xfrm>
            <a:off x="4746365" y="4032518"/>
            <a:ext cx="614323" cy="614323"/>
          </a:xfrm>
          <a:prstGeom prst="rect">
            <a:avLst/>
          </a:prstGeom>
        </p:spPr>
      </p:pic>
      <p:pic>
        <p:nvPicPr>
          <p:cNvPr id="72" name="Grafik 36"/>
          <p:cNvPicPr>
            <a:picLocks noChangeAspect="1"/>
          </p:cNvPicPr>
          <p:nvPr/>
        </p:nvPicPr>
        <p:blipFill>
          <a:blip r:embed="rId8"/>
          <a:stretch>
            <a:fillRect/>
          </a:stretch>
        </p:blipFill>
        <p:spPr>
          <a:xfrm>
            <a:off x="8871738" y="4043591"/>
            <a:ext cx="450850" cy="603250"/>
          </a:xfrm>
          <a:prstGeom prst="rect">
            <a:avLst/>
          </a:prstGeom>
        </p:spPr>
      </p:pic>
      <p:pic>
        <p:nvPicPr>
          <p:cNvPr id="73" name="Grafik 38"/>
          <p:cNvPicPr>
            <a:picLocks noChangeAspect="1"/>
          </p:cNvPicPr>
          <p:nvPr/>
        </p:nvPicPr>
        <p:blipFill>
          <a:blip r:embed="rId9"/>
          <a:stretch>
            <a:fillRect/>
          </a:stretch>
        </p:blipFill>
        <p:spPr>
          <a:xfrm>
            <a:off x="6848896" y="4168825"/>
            <a:ext cx="514350" cy="457200"/>
          </a:xfrm>
          <a:prstGeom prst="rect">
            <a:avLst/>
          </a:prstGeom>
        </p:spPr>
      </p:pic>
      <p:pic>
        <p:nvPicPr>
          <p:cNvPr id="74" name="Grafik 40"/>
          <p:cNvPicPr>
            <a:picLocks noChangeAspect="1"/>
          </p:cNvPicPr>
          <p:nvPr/>
        </p:nvPicPr>
        <p:blipFill>
          <a:blip r:embed="rId10"/>
          <a:stretch>
            <a:fillRect/>
          </a:stretch>
        </p:blipFill>
        <p:spPr>
          <a:xfrm>
            <a:off x="986234" y="4036257"/>
            <a:ext cx="552450" cy="603250"/>
          </a:xfrm>
          <a:prstGeom prst="rect">
            <a:avLst/>
          </a:prstGeom>
        </p:spPr>
      </p:pic>
      <p:pic>
        <p:nvPicPr>
          <p:cNvPr id="75" name="Grafik 42"/>
          <p:cNvPicPr>
            <a:picLocks noChangeAspect="1"/>
          </p:cNvPicPr>
          <p:nvPr/>
        </p:nvPicPr>
        <p:blipFill>
          <a:blip r:embed="rId11"/>
          <a:stretch>
            <a:fillRect/>
          </a:stretch>
        </p:blipFill>
        <p:spPr>
          <a:xfrm>
            <a:off x="2867282" y="4177789"/>
            <a:ext cx="495300" cy="438150"/>
          </a:xfrm>
          <a:prstGeom prst="rect">
            <a:avLst/>
          </a:prstGeom>
        </p:spPr>
      </p:pic>
      <p:pic>
        <p:nvPicPr>
          <p:cNvPr id="76" name="Grafik 44"/>
          <p:cNvPicPr>
            <a:picLocks noChangeAspect="1"/>
          </p:cNvPicPr>
          <p:nvPr/>
        </p:nvPicPr>
        <p:blipFill>
          <a:blip r:embed="rId12"/>
          <a:stretch>
            <a:fillRect/>
          </a:stretch>
        </p:blipFill>
        <p:spPr>
          <a:xfrm>
            <a:off x="2767830" y="2811865"/>
            <a:ext cx="603250" cy="565150"/>
          </a:xfrm>
          <a:prstGeom prst="rect">
            <a:avLst/>
          </a:prstGeom>
        </p:spPr>
      </p:pic>
      <p:pic>
        <p:nvPicPr>
          <p:cNvPr id="77" name="Grafik 46"/>
          <p:cNvPicPr>
            <a:picLocks noChangeAspect="1"/>
          </p:cNvPicPr>
          <p:nvPr/>
        </p:nvPicPr>
        <p:blipFill>
          <a:blip r:embed="rId13"/>
          <a:stretch>
            <a:fillRect/>
          </a:stretch>
        </p:blipFill>
        <p:spPr>
          <a:xfrm>
            <a:off x="4676302" y="2891615"/>
            <a:ext cx="609600" cy="444500"/>
          </a:xfrm>
          <a:prstGeom prst="rect">
            <a:avLst/>
          </a:prstGeom>
        </p:spPr>
      </p:pic>
      <p:pic>
        <p:nvPicPr>
          <p:cNvPr id="78" name="Grafik 48"/>
          <p:cNvPicPr>
            <a:picLocks noChangeAspect="1"/>
          </p:cNvPicPr>
          <p:nvPr/>
        </p:nvPicPr>
        <p:blipFill>
          <a:blip r:embed="rId14"/>
          <a:stretch>
            <a:fillRect/>
          </a:stretch>
        </p:blipFill>
        <p:spPr>
          <a:xfrm>
            <a:off x="1104692" y="2718569"/>
            <a:ext cx="342900" cy="609600"/>
          </a:xfrm>
          <a:prstGeom prst="rect">
            <a:avLst/>
          </a:prstGeom>
        </p:spPr>
      </p:pic>
      <p:pic>
        <p:nvPicPr>
          <p:cNvPr id="79" name="Grafik 50"/>
          <p:cNvPicPr>
            <a:picLocks noChangeAspect="1"/>
          </p:cNvPicPr>
          <p:nvPr/>
        </p:nvPicPr>
        <p:blipFill>
          <a:blip r:embed="rId15"/>
          <a:stretch>
            <a:fillRect/>
          </a:stretch>
        </p:blipFill>
        <p:spPr>
          <a:xfrm>
            <a:off x="6858421" y="2881715"/>
            <a:ext cx="482600" cy="495300"/>
          </a:xfrm>
          <a:prstGeom prst="rect">
            <a:avLst/>
          </a:prstGeom>
        </p:spPr>
      </p:pic>
      <p:pic>
        <p:nvPicPr>
          <p:cNvPr id="80" name="Grafik 52"/>
          <p:cNvPicPr>
            <a:picLocks noChangeAspect="1"/>
          </p:cNvPicPr>
          <p:nvPr/>
        </p:nvPicPr>
        <p:blipFill>
          <a:blip r:embed="rId16"/>
          <a:stretch>
            <a:fillRect/>
          </a:stretch>
        </p:blipFill>
        <p:spPr>
          <a:xfrm>
            <a:off x="1043010" y="1600684"/>
            <a:ext cx="577850" cy="425450"/>
          </a:xfrm>
          <a:prstGeom prst="rect">
            <a:avLst/>
          </a:prstGeom>
        </p:spPr>
      </p:pic>
      <p:pic>
        <p:nvPicPr>
          <p:cNvPr id="81" name="Grafik 54"/>
          <p:cNvPicPr>
            <a:picLocks noChangeAspect="1"/>
          </p:cNvPicPr>
          <p:nvPr/>
        </p:nvPicPr>
        <p:blipFill>
          <a:blip r:embed="rId17"/>
          <a:stretch>
            <a:fillRect/>
          </a:stretch>
        </p:blipFill>
        <p:spPr>
          <a:xfrm>
            <a:off x="2825075" y="5443044"/>
            <a:ext cx="591467" cy="528545"/>
          </a:xfrm>
          <a:prstGeom prst="rect">
            <a:avLst/>
          </a:prstGeom>
        </p:spPr>
      </p:pic>
      <p:pic>
        <p:nvPicPr>
          <p:cNvPr id="82" name="Grafik 56"/>
          <p:cNvPicPr>
            <a:picLocks noChangeAspect="1"/>
          </p:cNvPicPr>
          <p:nvPr/>
        </p:nvPicPr>
        <p:blipFill>
          <a:blip r:embed="rId18"/>
          <a:stretch>
            <a:fillRect/>
          </a:stretch>
        </p:blipFill>
        <p:spPr>
          <a:xfrm>
            <a:off x="6883638" y="5351808"/>
            <a:ext cx="390117" cy="597759"/>
          </a:xfrm>
          <a:prstGeom prst="rect">
            <a:avLst/>
          </a:prstGeom>
        </p:spPr>
      </p:pic>
      <p:pic>
        <p:nvPicPr>
          <p:cNvPr id="83" name="Grafik 58"/>
          <p:cNvPicPr>
            <a:picLocks noChangeAspect="1"/>
          </p:cNvPicPr>
          <p:nvPr/>
        </p:nvPicPr>
        <p:blipFill>
          <a:blip r:embed="rId19"/>
          <a:stretch>
            <a:fillRect/>
          </a:stretch>
        </p:blipFill>
        <p:spPr>
          <a:xfrm>
            <a:off x="969185" y="5327696"/>
            <a:ext cx="553714" cy="648097"/>
          </a:xfrm>
          <a:prstGeom prst="rect">
            <a:avLst/>
          </a:prstGeom>
        </p:spPr>
      </p:pic>
      <p:pic>
        <p:nvPicPr>
          <p:cNvPr id="84" name="Grafik 60"/>
          <p:cNvPicPr>
            <a:picLocks noChangeAspect="1"/>
          </p:cNvPicPr>
          <p:nvPr/>
        </p:nvPicPr>
        <p:blipFill>
          <a:blip r:embed="rId20"/>
          <a:stretch>
            <a:fillRect/>
          </a:stretch>
        </p:blipFill>
        <p:spPr>
          <a:xfrm>
            <a:off x="4769220" y="5465067"/>
            <a:ext cx="591468" cy="484500"/>
          </a:xfrm>
          <a:prstGeom prst="rect">
            <a:avLst/>
          </a:prstGeom>
        </p:spPr>
      </p:pic>
      <p:pic>
        <p:nvPicPr>
          <p:cNvPr id="85" name="Grafik 62"/>
          <p:cNvPicPr>
            <a:picLocks noChangeAspect="1"/>
          </p:cNvPicPr>
          <p:nvPr/>
        </p:nvPicPr>
        <p:blipFill>
          <a:blip r:embed="rId21"/>
          <a:stretch>
            <a:fillRect/>
          </a:stretch>
        </p:blipFill>
        <p:spPr>
          <a:xfrm>
            <a:off x="8795296" y="5301167"/>
            <a:ext cx="786524" cy="610343"/>
          </a:xfrm>
          <a:prstGeom prst="rect">
            <a:avLst/>
          </a:prstGeom>
        </p:spPr>
      </p:pic>
      <p:sp>
        <p:nvSpPr>
          <p:cNvPr id="44" name="clean-canvas">
            <a:extLst>
              <a:ext uri="{FF2B5EF4-FFF2-40B4-BE49-F238E27FC236}">
                <a16:creationId xmlns:a16="http://schemas.microsoft.com/office/drawing/2014/main" id="{F8866071-3C88-4097-8E4C-FB38C4D71252}"/>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45" name="slide-title">
            <a:extLst>
              <a:ext uri="{FF2B5EF4-FFF2-40B4-BE49-F238E27FC236}">
                <a16:creationId xmlns:a16="http://schemas.microsoft.com/office/drawing/2014/main" id="{D3CFEC37-B71C-47B1-B53B-EFB4D00208FC}"/>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Chunking entscheidet, was auffindbar bleibt</a:t>
            </a:r>
          </a:p>
        </p:txBody>
      </p:sp>
      <p:sp>
        <p:nvSpPr>
          <p:cNvPr id="46" name="title-rule">
            <a:extLst>
              <a:ext uri="{FF2B5EF4-FFF2-40B4-BE49-F238E27FC236}">
                <a16:creationId xmlns:a16="http://schemas.microsoft.com/office/drawing/2014/main" id="{B2B51FF7-C602-4A76-8C64-1BC02846C8A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7" name="slide-subtitle">
            <a:extLst>
              <a:ext uri="{FF2B5EF4-FFF2-40B4-BE49-F238E27FC236}">
                <a16:creationId xmlns:a16="http://schemas.microsoft.com/office/drawing/2014/main" id="{7E42A93E-6173-42DB-AE94-893959D73EB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Gleiche Dokumente, andere Grenzen – und damit andere Treffer.</a:t>
            </a:r>
          </a:p>
        </p:txBody>
      </p:sp>
      <p:sp>
        <p:nvSpPr>
          <p:cNvPr id="48" name="page-number">
            <a:extLst>
              <a:ext uri="{FF2B5EF4-FFF2-40B4-BE49-F238E27FC236}">
                <a16:creationId xmlns:a16="http://schemas.microsoft.com/office/drawing/2014/main" id="{41BF9434-7A97-41A8-86F2-D380B620AC16}"/>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14</a:t>
            </a:r>
          </a:p>
        </p:txBody>
      </p:sp>
      <p:sp>
        <p:nvSpPr>
          <p:cNvPr id="49" name="date">
            <a:extLst>
              <a:ext uri="{FF2B5EF4-FFF2-40B4-BE49-F238E27FC236}">
                <a16:creationId xmlns:a16="http://schemas.microsoft.com/office/drawing/2014/main" id="{0585C109-1EC1-4803-8756-EB5B7984AD9F}"/>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50" name="fixed-label">
            <a:extLst>
              <a:ext uri="{FF2B5EF4-FFF2-40B4-BE49-F238E27FC236}">
                <a16:creationId xmlns:a16="http://schemas.microsoft.com/office/drawing/2014/main" id="{2D50A49A-8C02-4F52-A42C-AF0A927FB5D2}"/>
              </a:ext>
            </a:extLst>
          </p:cNvPr>
          <p:cNvSpPr>
            <a:spLocks noGrp="1"/>
          </p:cNvSpPr>
          <p:nvPr/>
        </p:nvSpPr>
        <p:spPr>
          <a:xfrm>
            <a:off x="619125" y="1885950"/>
            <a:ext cx="4762500" cy="285750"/>
          </a:xfrm>
          <a:prstGeom prst="rect">
            <a:avLst/>
          </a:prstGeom>
          <a:noFill/>
          <a:ln w="0">
            <a:noFill/>
            <a:prstDash val="solid"/>
          </a:ln>
        </p:spPr>
        <p:txBody>
          <a:bodyPr anchor="t"/>
          <a:lstStyle/>
          <a:p>
            <a:pPr algn="l">
              <a:defRPr sz="1350" b="1">
                <a:solidFill>
                  <a:srgbClr val="C60C30"/>
                </a:solidFill>
                <a:latin typeface="Arial"/>
                <a:ea typeface="Arial"/>
                <a:cs typeface="Arial"/>
              </a:defRPr>
            </a:pPr>
            <a:r>
              <a:rPr sz="1350" b="1">
                <a:solidFill>
                  <a:srgbClr val="C60C30"/>
                </a:solidFill>
                <a:latin typeface="Arial"/>
                <a:ea typeface="Arial"/>
                <a:cs typeface="Arial"/>
              </a:rPr>
              <a:t>FIXED-SIZE · 800 ZEICHEN</a:t>
            </a:r>
          </a:p>
        </p:txBody>
      </p:sp>
      <p:sp>
        <p:nvSpPr>
          <p:cNvPr id="51" name="legal-label">
            <a:extLst>
              <a:ext uri="{FF2B5EF4-FFF2-40B4-BE49-F238E27FC236}">
                <a16:creationId xmlns:a16="http://schemas.microsoft.com/office/drawing/2014/main" id="{66F6F618-2973-4D0A-ABD7-9646DDEA64FE}"/>
              </a:ext>
            </a:extLst>
          </p:cNvPr>
          <p:cNvSpPr>
            <a:spLocks noGrp="1"/>
          </p:cNvSpPr>
          <p:nvPr/>
        </p:nvSpPr>
        <p:spPr>
          <a:xfrm>
            <a:off x="6715125" y="1885950"/>
            <a:ext cx="4857750" cy="285750"/>
          </a:xfrm>
          <a:prstGeom prst="rect">
            <a:avLst/>
          </a:prstGeom>
          <a:noFill/>
          <a:ln w="0">
            <a:noFill/>
            <a:prstDash val="solid"/>
          </a:ln>
        </p:spPr>
        <p:txBody>
          <a:bodyPr anchor="t"/>
          <a:lstStyle/>
          <a:p>
            <a:pPr algn="l">
              <a:defRPr sz="1350" b="1">
                <a:solidFill>
                  <a:srgbClr val="43858A"/>
                </a:solidFill>
                <a:latin typeface="Arial"/>
                <a:ea typeface="Arial"/>
                <a:cs typeface="Arial"/>
              </a:defRPr>
            </a:pPr>
            <a:r>
              <a:rPr sz="1350" b="1">
                <a:solidFill>
                  <a:srgbClr val="43858A"/>
                </a:solidFill>
                <a:latin typeface="Arial"/>
                <a:ea typeface="Arial"/>
                <a:cs typeface="Arial"/>
              </a:rPr>
              <a:t>STRUKTURORIENTIERT · ARTIKEL + SÄTZE</a:t>
            </a:r>
          </a:p>
        </p:txBody>
      </p:sp>
      <p:sp>
        <p:nvSpPr>
          <p:cNvPr id="52" name="fixed-bg">
            <a:extLst>
              <a:ext uri="{FF2B5EF4-FFF2-40B4-BE49-F238E27FC236}">
                <a16:creationId xmlns:a16="http://schemas.microsoft.com/office/drawing/2014/main" id="{55EC3174-294E-423B-8B34-A82BB4458868}"/>
              </a:ext>
            </a:extLst>
          </p:cNvPr>
          <p:cNvSpPr>
            <a:spLocks noGrp="1"/>
          </p:cNvSpPr>
          <p:nvPr/>
        </p:nvSpPr>
        <p:spPr>
          <a:xfrm>
            <a:off x="571500" y="2266950"/>
            <a:ext cx="5191125" cy="2714625"/>
          </a:xfrm>
          <a:prstGeom prst="roundRect">
            <a:avLst>
              <a:gd name="adj" fmla="val 6316"/>
            </a:avLst>
          </a:prstGeom>
          <a:solidFill>
            <a:srgbClr val="F7E5E9"/>
          </a:solidFill>
          <a:ln w="11430">
            <a:solidFill>
              <a:srgbClr val="C3BBB2"/>
            </a:solidFill>
            <a:prstDash val="solid"/>
          </a:ln>
        </p:spPr>
        <p:txBody>
          <a:bodyPr/>
          <a:lstStyle/>
          <a:p>
            <a:endParaRPr lang="de-CH"/>
          </a:p>
        </p:txBody>
      </p:sp>
      <p:sp>
        <p:nvSpPr>
          <p:cNvPr id="53" name="fixed-a">
            <a:extLst>
              <a:ext uri="{FF2B5EF4-FFF2-40B4-BE49-F238E27FC236}">
                <a16:creationId xmlns:a16="http://schemas.microsoft.com/office/drawing/2014/main" id="{65803038-6F56-4A10-8D7B-E3B42E696A24}"/>
              </a:ext>
            </a:extLst>
          </p:cNvPr>
          <p:cNvSpPr>
            <a:spLocks noGrp="1"/>
          </p:cNvSpPr>
          <p:nvPr/>
        </p:nvSpPr>
        <p:spPr>
          <a:xfrm>
            <a:off x="838200" y="2524125"/>
            <a:ext cx="2571750" cy="1428750"/>
          </a:xfrm>
          <a:prstGeom prst="rect">
            <a:avLst/>
          </a:prstGeom>
          <a:noFill/>
          <a:ln w="0">
            <a:noFill/>
            <a:prstDash val="solid"/>
          </a:ln>
        </p:spPr>
        <p:txBody>
          <a:bodyPr anchor="t"/>
          <a:lstStyle/>
          <a:p>
            <a:pPr algn="l">
              <a:defRPr sz="1350" b="0">
                <a:solidFill>
                  <a:srgbClr val="2D3F4B"/>
                </a:solidFill>
                <a:latin typeface="Arial"/>
                <a:ea typeface="Arial"/>
                <a:cs typeface="Arial"/>
              </a:defRPr>
            </a:pPr>
            <a:r>
              <a:rPr sz="1350" b="0">
                <a:solidFill>
                  <a:srgbClr val="2D3F4B"/>
                </a:solidFill>
                <a:latin typeface="Arial"/>
                <a:ea typeface="Arial"/>
                <a:cs typeface="Arial"/>
              </a:rPr>
              <a:t>CHUNK 17</a:t>
            </a:r>
          </a:p>
          <a:p>
            <a:pPr algn="l">
              <a:defRPr sz="1350" b="0">
                <a:solidFill>
                  <a:srgbClr val="2D3F4B"/>
                </a:solidFill>
                <a:latin typeface="Arial"/>
                <a:ea typeface="Arial"/>
                <a:cs typeface="Arial"/>
              </a:defRPr>
            </a:pPr>
            <a:r>
              <a:rPr sz="1350" b="0">
                <a:solidFill>
                  <a:srgbClr val="2D3F4B"/>
                </a:solidFill>
                <a:latin typeface="Arial"/>
                <a:ea typeface="Arial"/>
                <a:cs typeface="Arial"/>
              </a:rPr>
              <a:t>Art. 335b · Probezeit</a:t>
            </a:r>
          </a:p>
          <a:p>
            <a:pPr algn="l">
              <a:defRPr sz="1350" b="0">
                <a:solidFill>
                  <a:srgbClr val="2D3F4B"/>
                </a:solidFill>
                <a:latin typeface="Arial"/>
                <a:ea typeface="Arial"/>
                <a:cs typeface="Arial"/>
              </a:defRPr>
            </a:pPr>
            <a:r>
              <a:rPr sz="1350" b="0">
                <a:solidFill>
                  <a:srgbClr val="2D3F4B"/>
                </a:solidFill>
                <a:latin typeface="Arial"/>
                <a:ea typeface="Arial"/>
                <a:cs typeface="Arial"/>
              </a:rPr>
              <a:t>Die Probezeit beträgt grundsätzlich den ersten Monat. Sie kann auf höchstens drei Monate verlän-</a:t>
            </a:r>
          </a:p>
        </p:txBody>
      </p:sp>
      <p:sp>
        <p:nvSpPr>
          <p:cNvPr id="54" name="hard-cut">
            <a:extLst>
              <a:ext uri="{FF2B5EF4-FFF2-40B4-BE49-F238E27FC236}">
                <a16:creationId xmlns:a16="http://schemas.microsoft.com/office/drawing/2014/main" id="{577697E5-3652-4DAC-B9B4-258426B3F337}"/>
              </a:ext>
            </a:extLst>
          </p:cNvPr>
          <p:cNvSpPr>
            <a:spLocks noGrp="1"/>
          </p:cNvSpPr>
          <p:nvPr/>
        </p:nvSpPr>
        <p:spPr>
          <a:xfrm>
            <a:off x="3524250" y="2381250"/>
            <a:ext cx="0" cy="2095500"/>
          </a:xfrm>
          <a:prstGeom prst="line">
            <a:avLst/>
          </a:prstGeom>
          <a:ln w="38100">
            <a:solidFill>
              <a:srgbClr val="C60C30"/>
            </a:solidFill>
            <a:prstDash val="solid"/>
          </a:ln>
        </p:spPr>
        <p:txBody>
          <a:bodyPr/>
          <a:lstStyle/>
          <a:p>
            <a:endParaRPr lang="de-CH"/>
          </a:p>
        </p:txBody>
      </p:sp>
      <p:sp>
        <p:nvSpPr>
          <p:cNvPr id="55" name="cut-marker">
            <a:extLst>
              <a:ext uri="{FF2B5EF4-FFF2-40B4-BE49-F238E27FC236}">
                <a16:creationId xmlns:a16="http://schemas.microsoft.com/office/drawing/2014/main" id="{C0788AC8-AA5F-479A-9539-85033760F498}"/>
              </a:ext>
            </a:extLst>
          </p:cNvPr>
          <p:cNvSpPr>
            <a:spLocks noGrp="1"/>
          </p:cNvSpPr>
          <p:nvPr/>
        </p:nvSpPr>
        <p:spPr>
          <a:xfrm>
            <a:off x="3076575" y="4095750"/>
            <a:ext cx="904875" cy="400050"/>
          </a:xfrm>
          <a:prstGeom prst="rect">
            <a:avLst/>
          </a:prstGeom>
          <a:noFill/>
          <a:ln w="0">
            <a:noFill/>
            <a:prstDash val="solid"/>
          </a:ln>
        </p:spPr>
        <p:txBody>
          <a:bodyPr anchor="t"/>
          <a:lstStyle/>
          <a:p>
            <a:pPr algn="ctr">
              <a:defRPr sz="975" b="1">
                <a:solidFill>
                  <a:srgbClr val="C60C30"/>
                </a:solidFill>
                <a:latin typeface="Arial"/>
                <a:ea typeface="Arial"/>
                <a:cs typeface="Arial"/>
              </a:defRPr>
            </a:pPr>
            <a:r>
              <a:rPr sz="975" b="1">
                <a:solidFill>
                  <a:srgbClr val="C60C30"/>
                </a:solidFill>
                <a:latin typeface="Arial"/>
                <a:ea typeface="Arial"/>
                <a:cs typeface="Arial"/>
              </a:rPr>
              <a:t>STARRE</a:t>
            </a:r>
          </a:p>
          <a:p>
            <a:pPr algn="ctr">
              <a:defRPr sz="975" b="1">
                <a:solidFill>
                  <a:srgbClr val="C60C30"/>
                </a:solidFill>
                <a:latin typeface="Arial"/>
                <a:ea typeface="Arial"/>
                <a:cs typeface="Arial"/>
              </a:defRPr>
            </a:pPr>
            <a:r>
              <a:rPr sz="975" b="1">
                <a:solidFill>
                  <a:srgbClr val="C60C30"/>
                </a:solidFill>
                <a:latin typeface="Arial"/>
                <a:ea typeface="Arial"/>
                <a:cs typeface="Arial"/>
              </a:rPr>
              <a:t>GRENZE</a:t>
            </a:r>
          </a:p>
        </p:txBody>
      </p:sp>
      <p:sp>
        <p:nvSpPr>
          <p:cNvPr id="56" name="fixed-b">
            <a:extLst>
              <a:ext uri="{FF2B5EF4-FFF2-40B4-BE49-F238E27FC236}">
                <a16:creationId xmlns:a16="http://schemas.microsoft.com/office/drawing/2014/main" id="{DB5A4F8A-F219-4D51-9531-4BF9A2630F96}"/>
              </a:ext>
            </a:extLst>
          </p:cNvPr>
          <p:cNvSpPr>
            <a:spLocks noGrp="1"/>
          </p:cNvSpPr>
          <p:nvPr/>
        </p:nvSpPr>
        <p:spPr>
          <a:xfrm>
            <a:off x="3762375" y="2524125"/>
            <a:ext cx="1619250" cy="1762125"/>
          </a:xfrm>
          <a:prstGeom prst="rect">
            <a:avLst/>
          </a:prstGeom>
          <a:noFill/>
          <a:ln w="0">
            <a:noFill/>
            <a:prstDash val="solid"/>
          </a:ln>
        </p:spPr>
        <p:txBody>
          <a:bodyPr anchor="t"/>
          <a:lstStyle/>
          <a:p>
            <a:pPr algn="l">
              <a:defRPr sz="1350" b="0">
                <a:solidFill>
                  <a:srgbClr val="2D3F4B"/>
                </a:solidFill>
                <a:latin typeface="Arial"/>
                <a:ea typeface="Arial"/>
                <a:cs typeface="Arial"/>
              </a:defRPr>
            </a:pPr>
            <a:r>
              <a:rPr sz="1350" b="0">
                <a:solidFill>
                  <a:srgbClr val="2D3F4B"/>
                </a:solidFill>
                <a:latin typeface="Arial"/>
                <a:ea typeface="Arial"/>
                <a:cs typeface="Arial"/>
              </a:rPr>
              <a:t>CHUNK 18</a:t>
            </a:r>
          </a:p>
          <a:p>
            <a:pPr algn="l">
              <a:defRPr sz="1350" b="0">
                <a:solidFill>
                  <a:srgbClr val="2D3F4B"/>
                </a:solidFill>
                <a:latin typeface="Arial"/>
                <a:ea typeface="Arial"/>
                <a:cs typeface="Arial"/>
              </a:defRPr>
            </a:pPr>
            <a:r>
              <a:rPr sz="1350" b="0">
                <a:solidFill>
                  <a:srgbClr val="2D3F4B"/>
                </a:solidFill>
                <a:latin typeface="Arial"/>
                <a:ea typeface="Arial"/>
                <a:cs typeface="Arial"/>
              </a:rPr>
              <a:t>gert werden. Bei Krankheit …</a:t>
            </a:r>
          </a:p>
          <a:p>
            <a:endParaRPr sz="1350" b="0">
              <a:solidFill>
                <a:srgbClr val="2D3F4B"/>
              </a:solidFill>
              <a:latin typeface="Arial"/>
              <a:ea typeface="Arial"/>
              <a:cs typeface="Arial"/>
            </a:endParaRPr>
          </a:p>
          <a:p>
            <a:pPr algn="l">
              <a:defRPr sz="1350" b="0">
                <a:solidFill>
                  <a:srgbClr val="2D3F4B"/>
                </a:solidFill>
                <a:latin typeface="Arial"/>
                <a:ea typeface="Arial"/>
                <a:cs typeface="Arial"/>
              </a:defRPr>
            </a:pPr>
            <a:r>
              <a:rPr sz="1350" b="0">
                <a:solidFill>
                  <a:srgbClr val="2D3F4B"/>
                </a:solidFill>
                <a:latin typeface="Arial"/>
                <a:ea typeface="Arial"/>
                <a:cs typeface="Arial"/>
              </a:rPr>
              <a:t>Art. 335c</a:t>
            </a:r>
          </a:p>
          <a:p>
            <a:pPr algn="l">
              <a:defRPr sz="1350" b="0">
                <a:solidFill>
                  <a:srgbClr val="2D3F4B"/>
                </a:solidFill>
                <a:latin typeface="Arial"/>
                <a:ea typeface="Arial"/>
                <a:cs typeface="Arial"/>
              </a:defRPr>
            </a:pPr>
            <a:r>
              <a:rPr sz="1350" b="0">
                <a:solidFill>
                  <a:srgbClr val="2D3F4B"/>
                </a:solidFill>
                <a:latin typeface="Arial"/>
                <a:ea typeface="Arial"/>
                <a:cs typeface="Arial"/>
              </a:rPr>
              <a:t>Kündigungsfristen …</a:t>
            </a:r>
          </a:p>
        </p:txBody>
      </p:sp>
      <p:sp>
        <p:nvSpPr>
          <p:cNvPr id="57" name="fixed-problems">
            <a:extLst>
              <a:ext uri="{FF2B5EF4-FFF2-40B4-BE49-F238E27FC236}">
                <a16:creationId xmlns:a16="http://schemas.microsoft.com/office/drawing/2014/main" id="{72674BF2-8F3C-49D5-93F3-1E299E69961F}"/>
              </a:ext>
            </a:extLst>
          </p:cNvPr>
          <p:cNvSpPr>
            <a:spLocks noGrp="1"/>
          </p:cNvSpPr>
          <p:nvPr/>
        </p:nvSpPr>
        <p:spPr>
          <a:xfrm>
            <a:off x="800100" y="4543425"/>
            <a:ext cx="4524375" cy="323850"/>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Folge: Satz getrennt · Artikel vermischt · Bedeutung geschwächt</a:t>
            </a:r>
          </a:p>
        </p:txBody>
      </p:sp>
      <p:sp>
        <p:nvSpPr>
          <p:cNvPr id="58" name="legal-bg">
            <a:extLst>
              <a:ext uri="{FF2B5EF4-FFF2-40B4-BE49-F238E27FC236}">
                <a16:creationId xmlns:a16="http://schemas.microsoft.com/office/drawing/2014/main" id="{9C7F3130-292D-4BBB-8B9A-CF94AEB4F20C}"/>
              </a:ext>
            </a:extLst>
          </p:cNvPr>
          <p:cNvSpPr>
            <a:spLocks noGrp="1"/>
          </p:cNvSpPr>
          <p:nvPr/>
        </p:nvSpPr>
        <p:spPr>
          <a:xfrm>
            <a:off x="6429375" y="2266950"/>
            <a:ext cx="5191125" cy="2714625"/>
          </a:xfrm>
          <a:prstGeom prst="roundRect">
            <a:avLst>
              <a:gd name="adj" fmla="val 6316"/>
            </a:avLst>
          </a:prstGeom>
          <a:solidFill>
            <a:srgbClr val="E3F0F0"/>
          </a:solidFill>
          <a:ln w="11430">
            <a:solidFill>
              <a:srgbClr val="C3BBB2"/>
            </a:solidFill>
            <a:prstDash val="solid"/>
          </a:ln>
        </p:spPr>
        <p:txBody>
          <a:bodyPr/>
          <a:lstStyle/>
          <a:p>
            <a:endParaRPr lang="de-CH"/>
          </a:p>
        </p:txBody>
      </p:sp>
      <p:sp>
        <p:nvSpPr>
          <p:cNvPr id="59" name="article-1">
            <a:extLst>
              <a:ext uri="{FF2B5EF4-FFF2-40B4-BE49-F238E27FC236}">
                <a16:creationId xmlns:a16="http://schemas.microsoft.com/office/drawing/2014/main" id="{5745C3D2-98FA-45D2-A3AB-73104BEF70D1}"/>
              </a:ext>
            </a:extLst>
          </p:cNvPr>
          <p:cNvSpPr>
            <a:spLocks noGrp="1"/>
          </p:cNvSpPr>
          <p:nvPr/>
        </p:nvSpPr>
        <p:spPr>
          <a:xfrm>
            <a:off x="6715125" y="2505075"/>
            <a:ext cx="4619625" cy="781050"/>
          </a:xfrm>
          <a:prstGeom prst="roundRect">
            <a:avLst>
              <a:gd name="adj" fmla="val 14634"/>
            </a:avLst>
          </a:prstGeom>
          <a:solidFill>
            <a:srgbClr val="FFFFFF"/>
          </a:solidFill>
          <a:ln w="11430">
            <a:solidFill>
              <a:srgbClr val="43858A"/>
            </a:solidFill>
            <a:prstDash val="solid"/>
          </a:ln>
        </p:spPr>
        <p:txBody>
          <a:bodyPr/>
          <a:lstStyle/>
          <a:p>
            <a:endParaRPr lang="de-CH"/>
          </a:p>
        </p:txBody>
      </p:sp>
      <p:sp>
        <p:nvSpPr>
          <p:cNvPr id="60" name="article-1-text">
            <a:extLst>
              <a:ext uri="{FF2B5EF4-FFF2-40B4-BE49-F238E27FC236}">
                <a16:creationId xmlns:a16="http://schemas.microsoft.com/office/drawing/2014/main" id="{3037E747-F742-438A-93B9-9476C8FB4A72}"/>
              </a:ext>
            </a:extLst>
          </p:cNvPr>
          <p:cNvSpPr>
            <a:spLocks noGrp="1"/>
          </p:cNvSpPr>
          <p:nvPr/>
        </p:nvSpPr>
        <p:spPr>
          <a:xfrm>
            <a:off x="6905625" y="2647950"/>
            <a:ext cx="4238625" cy="514350"/>
          </a:xfrm>
          <a:prstGeom prst="rect">
            <a:avLst/>
          </a:prstGeom>
          <a:noFill/>
          <a:ln w="0">
            <a:noFill/>
            <a:prstDash val="solid"/>
          </a:ln>
        </p:spPr>
        <p:txBody>
          <a:bodyPr anchor="t"/>
          <a:lstStyle/>
          <a:p>
            <a:pPr algn="l">
              <a:defRPr sz="1350" b="1">
                <a:solidFill>
                  <a:srgbClr val="2D3F4B"/>
                </a:solidFill>
                <a:latin typeface="Arial"/>
                <a:ea typeface="Arial"/>
                <a:cs typeface="Arial"/>
              </a:defRPr>
            </a:pPr>
            <a:r>
              <a:rPr sz="1350" b="1">
                <a:solidFill>
                  <a:srgbClr val="2D3F4B"/>
                </a:solidFill>
                <a:latin typeface="Arial"/>
                <a:ea typeface="Arial"/>
                <a:cs typeface="Arial"/>
              </a:rPr>
              <a:t>Art. 335b · Probezeit</a:t>
            </a:r>
          </a:p>
          <a:p>
            <a:pPr algn="l">
              <a:defRPr sz="1350" b="1">
                <a:solidFill>
                  <a:srgbClr val="2D3F4B"/>
                </a:solidFill>
                <a:latin typeface="Arial"/>
                <a:ea typeface="Arial"/>
                <a:cs typeface="Arial"/>
              </a:defRPr>
            </a:pPr>
            <a:r>
              <a:rPr sz="1350" b="1">
                <a:solidFill>
                  <a:srgbClr val="2D3F4B"/>
                </a:solidFill>
                <a:latin typeface="Arial"/>
                <a:ea typeface="Arial"/>
                <a:cs typeface="Arial"/>
              </a:rPr>
              <a:t>Absätze bleiben gemeinsam, solange das Budget reicht.</a:t>
            </a:r>
          </a:p>
        </p:txBody>
      </p:sp>
      <p:sp>
        <p:nvSpPr>
          <p:cNvPr id="61" name="article-2">
            <a:extLst>
              <a:ext uri="{FF2B5EF4-FFF2-40B4-BE49-F238E27FC236}">
                <a16:creationId xmlns:a16="http://schemas.microsoft.com/office/drawing/2014/main" id="{60F660BA-B874-442C-BB8B-40B7DE05E0BE}"/>
              </a:ext>
            </a:extLst>
          </p:cNvPr>
          <p:cNvSpPr>
            <a:spLocks noGrp="1"/>
          </p:cNvSpPr>
          <p:nvPr/>
        </p:nvSpPr>
        <p:spPr>
          <a:xfrm>
            <a:off x="6715125" y="3429000"/>
            <a:ext cx="4619625" cy="666750"/>
          </a:xfrm>
          <a:prstGeom prst="roundRect">
            <a:avLst>
              <a:gd name="adj" fmla="val 17143"/>
            </a:avLst>
          </a:prstGeom>
          <a:solidFill>
            <a:srgbClr val="FFFFFF"/>
          </a:solidFill>
          <a:ln w="11430">
            <a:solidFill>
              <a:srgbClr val="43858A"/>
            </a:solidFill>
            <a:prstDash val="solid"/>
          </a:ln>
        </p:spPr>
        <p:txBody>
          <a:bodyPr/>
          <a:lstStyle/>
          <a:p>
            <a:endParaRPr lang="de-CH"/>
          </a:p>
        </p:txBody>
      </p:sp>
      <p:sp>
        <p:nvSpPr>
          <p:cNvPr id="62" name="article-2-text">
            <a:extLst>
              <a:ext uri="{FF2B5EF4-FFF2-40B4-BE49-F238E27FC236}">
                <a16:creationId xmlns:a16="http://schemas.microsoft.com/office/drawing/2014/main" id="{454F7FE6-3F23-4E24-812C-88CB09A40B65}"/>
              </a:ext>
            </a:extLst>
          </p:cNvPr>
          <p:cNvSpPr>
            <a:spLocks noGrp="1"/>
          </p:cNvSpPr>
          <p:nvPr/>
        </p:nvSpPr>
        <p:spPr>
          <a:xfrm>
            <a:off x="6905625" y="3581400"/>
            <a:ext cx="4238625" cy="381000"/>
          </a:xfrm>
          <a:prstGeom prst="rect">
            <a:avLst/>
          </a:prstGeom>
          <a:noFill/>
          <a:ln w="0">
            <a:noFill/>
            <a:prstDash val="solid"/>
          </a:ln>
        </p:spPr>
        <p:txBody>
          <a:bodyPr anchor="t"/>
          <a:lstStyle/>
          <a:p>
            <a:pPr algn="l">
              <a:defRPr sz="1350" b="1">
                <a:solidFill>
                  <a:srgbClr val="2D3F4B"/>
                </a:solidFill>
                <a:latin typeface="Arial"/>
                <a:ea typeface="Arial"/>
                <a:cs typeface="Arial"/>
              </a:defRPr>
            </a:pPr>
            <a:r>
              <a:rPr sz="1350" b="1">
                <a:solidFill>
                  <a:srgbClr val="2D3F4B"/>
                </a:solidFill>
                <a:latin typeface="Arial"/>
                <a:ea typeface="Arial"/>
                <a:cs typeface="Arial"/>
              </a:rPr>
              <a:t>Übergrosser Artikel → zusätzliche Trennung an Satzgrenzen</a:t>
            </a:r>
          </a:p>
        </p:txBody>
      </p:sp>
      <p:sp>
        <p:nvSpPr>
          <p:cNvPr id="63" name="article-3">
            <a:extLst>
              <a:ext uri="{FF2B5EF4-FFF2-40B4-BE49-F238E27FC236}">
                <a16:creationId xmlns:a16="http://schemas.microsoft.com/office/drawing/2014/main" id="{21FFC50F-CE34-4054-BA1B-D0AFBE8693BA}"/>
              </a:ext>
            </a:extLst>
          </p:cNvPr>
          <p:cNvSpPr>
            <a:spLocks noGrp="1"/>
          </p:cNvSpPr>
          <p:nvPr/>
        </p:nvSpPr>
        <p:spPr>
          <a:xfrm>
            <a:off x="6715125" y="4238625"/>
            <a:ext cx="4619625" cy="495300"/>
          </a:xfrm>
          <a:prstGeom prst="roundRect">
            <a:avLst>
              <a:gd name="adj" fmla="val 23077"/>
            </a:avLst>
          </a:prstGeom>
          <a:solidFill>
            <a:srgbClr val="FFFFFF"/>
          </a:solidFill>
          <a:ln w="11430">
            <a:solidFill>
              <a:srgbClr val="43858A"/>
            </a:solidFill>
            <a:prstDash val="solid"/>
          </a:ln>
        </p:spPr>
        <p:txBody>
          <a:bodyPr/>
          <a:lstStyle/>
          <a:p>
            <a:endParaRPr lang="de-CH"/>
          </a:p>
        </p:txBody>
      </p:sp>
      <p:sp>
        <p:nvSpPr>
          <p:cNvPr id="64" name="article-3-text">
            <a:extLst>
              <a:ext uri="{FF2B5EF4-FFF2-40B4-BE49-F238E27FC236}">
                <a16:creationId xmlns:a16="http://schemas.microsoft.com/office/drawing/2014/main" id="{074B9189-E862-485D-9F8F-1201434C845A}"/>
              </a:ext>
            </a:extLst>
          </p:cNvPr>
          <p:cNvSpPr>
            <a:spLocks noGrp="1"/>
          </p:cNvSpPr>
          <p:nvPr/>
        </p:nvSpPr>
        <p:spPr>
          <a:xfrm>
            <a:off x="6905625" y="4362450"/>
            <a:ext cx="4238625" cy="285750"/>
          </a:xfrm>
          <a:prstGeom prst="rect">
            <a:avLst/>
          </a:prstGeom>
          <a:noFill/>
          <a:ln w="0">
            <a:noFill/>
            <a:prstDash val="solid"/>
          </a:ln>
        </p:spPr>
        <p:txBody>
          <a:bodyPr anchor="t"/>
          <a:lstStyle/>
          <a:p>
            <a:pPr algn="l">
              <a:defRPr sz="1200" b="0">
                <a:solidFill>
                  <a:srgbClr val="2D3F4B"/>
                </a:solidFill>
                <a:latin typeface="Arial"/>
                <a:ea typeface="Arial"/>
                <a:cs typeface="Arial"/>
              </a:defRPr>
            </a:pPr>
            <a:r>
              <a:rPr sz="1200" b="0">
                <a:solidFill>
                  <a:srgbClr val="2D3F4B"/>
                </a:solidFill>
                <a:latin typeface="Arial"/>
                <a:ea typeface="Arial"/>
                <a:cs typeface="Arial"/>
              </a:rPr>
              <a:t>Kleine zusammengehörige Blöcke → bis zum Budget verbinden</a:t>
            </a:r>
          </a:p>
        </p:txBody>
      </p:sp>
      <p:sp>
        <p:nvSpPr>
          <p:cNvPr id="65" name="chunking-takeaway">
            <a:extLst>
              <a:ext uri="{FF2B5EF4-FFF2-40B4-BE49-F238E27FC236}">
                <a16:creationId xmlns:a16="http://schemas.microsoft.com/office/drawing/2014/main" id="{3AD95251-3893-44CB-BE2F-10DE8758A38D}"/>
              </a:ext>
            </a:extLst>
          </p:cNvPr>
          <p:cNvSpPr>
            <a:spLocks noGrp="1"/>
          </p:cNvSpPr>
          <p:nvPr/>
        </p:nvSpPr>
        <p:spPr>
          <a:xfrm>
            <a:off x="2143125" y="5286375"/>
            <a:ext cx="7905750" cy="552450"/>
          </a:xfrm>
          <a:prstGeom prst="roundRect">
            <a:avLst>
              <a:gd name="adj" fmla="val 24138"/>
            </a:avLst>
          </a:prstGeom>
          <a:solidFill>
            <a:srgbClr val="2D3F4B"/>
          </a:solidFill>
          <a:ln w="0">
            <a:solidFill>
              <a:srgbClr val="2D3F4B"/>
            </a:solidFill>
            <a:prstDash val="solid"/>
          </a:ln>
        </p:spPr>
        <p:txBody>
          <a:bodyPr/>
          <a:lstStyle/>
          <a:p>
            <a:endParaRPr lang="de-CH"/>
          </a:p>
        </p:txBody>
      </p:sp>
      <p:sp>
        <p:nvSpPr>
          <p:cNvPr id="66" name="chunking-takeaway-text">
            <a:extLst>
              <a:ext uri="{FF2B5EF4-FFF2-40B4-BE49-F238E27FC236}">
                <a16:creationId xmlns:a16="http://schemas.microsoft.com/office/drawing/2014/main" id="{6BD54CDE-029E-4BFB-9873-4857F06B01B6}"/>
              </a:ext>
            </a:extLst>
          </p:cNvPr>
          <p:cNvSpPr>
            <a:spLocks noGrp="1"/>
          </p:cNvSpPr>
          <p:nvPr/>
        </p:nvSpPr>
        <p:spPr>
          <a:xfrm>
            <a:off x="2381250" y="5419725"/>
            <a:ext cx="7429500" cy="3048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Ziel: Budget einhalten, ohne juristische Bedeutung zu zerreissen.</a:t>
            </a:r>
          </a:p>
        </p:txBody>
      </p:sp>
    </p:spTree>
    <p:extLst>
      <p:ext uri="{BB962C8B-B14F-4D97-AF65-F5344CB8AC3E}">
        <p14:creationId xmlns:p14="http://schemas.microsoft.com/office/powerpoint/2010/main" val="4079980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6" name="clean-canvas">
            <a:extLst>
              <a:ext uri="{FF2B5EF4-FFF2-40B4-BE49-F238E27FC236}">
                <a16:creationId xmlns:a16="http://schemas.microsoft.com/office/drawing/2014/main" id="{F58BDAD1-04C5-415F-BE9C-8972EB1A1B45}"/>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Reranking sortiert Kandidaten – es findet keine neuen</a:t>
            </a: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weitere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r>
              <a:rPr sz="2550" b="1">
                <a:solidFill>
                  <a:srgbClr val="FFFFFF"/>
                </a:solidFill>
                <a:latin typeface="Arial"/>
                <a:ea typeface="Arial"/>
                <a:cs typeface="Arial"/>
              </a:rPr>
              <a:t>×</a:t>
            </a: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spTree>
    <p:extLst>
      <p:ext uri="{BB962C8B-B14F-4D97-AF65-F5344CB8AC3E}">
        <p14:creationId xmlns:p14="http://schemas.microsoft.com/office/powerpoint/2010/main" val="6441046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lean-canvas">
            <a:extLst>
              <a:ext uri="{FF2B5EF4-FFF2-40B4-BE49-F238E27FC236}">
                <a16:creationId xmlns:a16="http://schemas.microsoft.com/office/drawing/2014/main" id="{6F80D306-1533-4A33-9D61-905B9EB0FEA0}"/>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732B2702-A668-49E0-9A21-FA20CB826AE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GraphRAG verbindet mehrere Suchsignale</a:t>
            </a:r>
          </a:p>
        </p:txBody>
      </p:sp>
      <p:sp>
        <p:nvSpPr>
          <p:cNvPr id="3" name="title-rule">
            <a:extLst>
              <a:ext uri="{FF2B5EF4-FFF2-40B4-BE49-F238E27FC236}">
                <a16:creationId xmlns:a16="http://schemas.microsoft.com/office/drawing/2014/main" id="{338FCBE2-D444-4D92-BCEB-4D670291127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DC3FF5F5-F19E-4BBC-AFB6-48C07664CF6C}"/>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Semantik findet Ähnliches, Lexik findet Bezeichner, der Graph ergänzt Beziehungen.</a:t>
            </a:r>
          </a:p>
        </p:txBody>
      </p:sp>
      <p:sp>
        <p:nvSpPr>
          <p:cNvPr id="5" name="page-number">
            <a:extLst>
              <a:ext uri="{FF2B5EF4-FFF2-40B4-BE49-F238E27FC236}">
                <a16:creationId xmlns:a16="http://schemas.microsoft.com/office/drawing/2014/main" id="{98F1BFDF-C147-4B70-965B-327C9125274E}"/>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16</a:t>
            </a:r>
          </a:p>
        </p:txBody>
      </p:sp>
      <p:sp>
        <p:nvSpPr>
          <p:cNvPr id="6" name="date">
            <a:extLst>
              <a:ext uri="{FF2B5EF4-FFF2-40B4-BE49-F238E27FC236}">
                <a16:creationId xmlns:a16="http://schemas.microsoft.com/office/drawing/2014/main" id="{09104125-F812-4820-9D06-78FD2E4A57C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aph-query">
            <a:extLst>
              <a:ext uri="{FF2B5EF4-FFF2-40B4-BE49-F238E27FC236}">
                <a16:creationId xmlns:a16="http://schemas.microsoft.com/office/drawing/2014/main" id="{77328115-E5FA-4CF9-B014-05936C8F4743}"/>
              </a:ext>
            </a:extLst>
          </p:cNvPr>
          <p:cNvSpPr>
            <a:spLocks noGrp="1"/>
          </p:cNvSpPr>
          <p:nvPr/>
        </p:nvSpPr>
        <p:spPr>
          <a:xfrm>
            <a:off x="523875" y="2571750"/>
            <a:ext cx="1762125" cy="819150"/>
          </a:xfrm>
          <a:prstGeom prst="roundRect">
            <a:avLst>
              <a:gd name="adj" fmla="val 18605"/>
            </a:avLst>
          </a:prstGeom>
          <a:solidFill>
            <a:srgbClr val="2D3F4B"/>
          </a:solidFill>
          <a:ln w="0">
            <a:solidFill>
              <a:srgbClr val="2D3F4B"/>
            </a:solidFill>
            <a:prstDash val="solid"/>
          </a:ln>
        </p:spPr>
        <p:txBody>
          <a:bodyPr/>
          <a:lstStyle/>
          <a:p>
            <a:endParaRPr lang="de-CH"/>
          </a:p>
        </p:txBody>
      </p:sp>
      <p:sp>
        <p:nvSpPr>
          <p:cNvPr id="8" name="graph-query-text">
            <a:extLst>
              <a:ext uri="{FF2B5EF4-FFF2-40B4-BE49-F238E27FC236}">
                <a16:creationId xmlns:a16="http://schemas.microsoft.com/office/drawing/2014/main" id="{1543EEB9-1690-4D57-BEA1-89570484E8B7}"/>
              </a:ext>
            </a:extLst>
          </p:cNvPr>
          <p:cNvSpPr>
            <a:spLocks noGrp="1"/>
          </p:cNvSpPr>
          <p:nvPr/>
        </p:nvSpPr>
        <p:spPr>
          <a:xfrm>
            <a:off x="714375" y="2733675"/>
            <a:ext cx="138112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FRAGE</a:t>
            </a:r>
          </a:p>
          <a:p>
            <a:pPr algn="ctr">
              <a:defRPr sz="1575" b="1">
                <a:solidFill>
                  <a:srgbClr val="FFFFFF"/>
                </a:solidFill>
                <a:latin typeface="Arial"/>
                <a:ea typeface="Arial"/>
                <a:cs typeface="Arial"/>
              </a:defRPr>
            </a:pPr>
            <a:r>
              <a:rPr sz="1575" b="1">
                <a:solidFill>
                  <a:srgbClr val="FFFFFF"/>
                </a:solidFill>
                <a:latin typeface="Arial"/>
                <a:ea typeface="Arial"/>
                <a:cs typeface="Arial"/>
              </a:rPr>
              <a:t>„Art. 1 OR?“</a:t>
            </a:r>
          </a:p>
        </p:txBody>
      </p:sp>
      <p:sp>
        <p:nvSpPr>
          <p:cNvPr id="9" name="query-semantic">
            <a:extLst>
              <a:ext uri="{FF2B5EF4-FFF2-40B4-BE49-F238E27FC236}">
                <a16:creationId xmlns:a16="http://schemas.microsoft.com/office/drawing/2014/main" id="{79FA1045-0D94-4187-B890-33899D4E649B}"/>
              </a:ext>
            </a:extLst>
          </p:cNvPr>
          <p:cNvSpPr>
            <a:spLocks noGrp="1"/>
          </p:cNvSpPr>
          <p:nvPr/>
        </p:nvSpPr>
        <p:spPr>
          <a:xfrm>
            <a:off x="2286000" y="2286000"/>
            <a:ext cx="1143000" cy="523875"/>
          </a:xfrm>
          <a:prstGeom prst="line">
            <a:avLst/>
          </a:prstGeom>
          <a:ln w="23813">
            <a:solidFill>
              <a:srgbClr val="C60C30"/>
            </a:solidFill>
            <a:prstDash val="solid"/>
          </a:ln>
        </p:spPr>
        <p:txBody>
          <a:bodyPr/>
          <a:lstStyle/>
          <a:p>
            <a:endParaRPr lang="de-CH"/>
          </a:p>
        </p:txBody>
      </p:sp>
      <p:sp>
        <p:nvSpPr>
          <p:cNvPr id="10" name="query-lexical">
            <a:extLst>
              <a:ext uri="{FF2B5EF4-FFF2-40B4-BE49-F238E27FC236}">
                <a16:creationId xmlns:a16="http://schemas.microsoft.com/office/drawing/2014/main" id="{8C28B3AB-31D9-49F9-BDE1-6046159319D6}"/>
              </a:ext>
            </a:extLst>
          </p:cNvPr>
          <p:cNvSpPr>
            <a:spLocks noGrp="1"/>
          </p:cNvSpPr>
          <p:nvPr/>
        </p:nvSpPr>
        <p:spPr>
          <a:xfrm>
            <a:off x="2286000" y="3143250"/>
            <a:ext cx="1143000" cy="523875"/>
          </a:xfrm>
          <a:prstGeom prst="line">
            <a:avLst/>
          </a:prstGeom>
          <a:ln w="23813">
            <a:solidFill>
              <a:srgbClr val="43858A"/>
            </a:solidFill>
            <a:prstDash val="solid"/>
          </a:ln>
        </p:spPr>
        <p:txBody>
          <a:bodyPr/>
          <a:lstStyle/>
          <a:p>
            <a:endParaRPr lang="de-CH"/>
          </a:p>
        </p:txBody>
      </p:sp>
      <p:sp>
        <p:nvSpPr>
          <p:cNvPr id="11" name="semantic-box">
            <a:extLst>
              <a:ext uri="{FF2B5EF4-FFF2-40B4-BE49-F238E27FC236}">
                <a16:creationId xmlns:a16="http://schemas.microsoft.com/office/drawing/2014/main" id="{65D622AF-6D11-41B4-AEE4-D5F3914C7F23}"/>
              </a:ext>
            </a:extLst>
          </p:cNvPr>
          <p:cNvSpPr>
            <a:spLocks noGrp="1"/>
          </p:cNvSpPr>
          <p:nvPr/>
        </p:nvSpPr>
        <p:spPr>
          <a:xfrm>
            <a:off x="3476625" y="1857375"/>
            <a:ext cx="2381250" cy="857250"/>
          </a:xfrm>
          <a:prstGeom prst="roundRect">
            <a:avLst>
              <a:gd name="adj" fmla="val 15556"/>
            </a:avLst>
          </a:prstGeom>
          <a:solidFill>
            <a:srgbClr val="F7E5E9"/>
          </a:solidFill>
          <a:ln w="11430">
            <a:solidFill>
              <a:srgbClr val="C60C30"/>
            </a:solidFill>
            <a:prstDash val="solid"/>
          </a:ln>
        </p:spPr>
        <p:txBody>
          <a:bodyPr/>
          <a:lstStyle/>
          <a:p>
            <a:endParaRPr lang="de-CH"/>
          </a:p>
        </p:txBody>
      </p:sp>
      <p:sp>
        <p:nvSpPr>
          <p:cNvPr id="12" name="semantic-title">
            <a:extLst>
              <a:ext uri="{FF2B5EF4-FFF2-40B4-BE49-F238E27FC236}">
                <a16:creationId xmlns:a16="http://schemas.microsoft.com/office/drawing/2014/main" id="{21BD1B58-EC2E-4579-A5FA-01E0EAA4A666}"/>
              </a:ext>
            </a:extLst>
          </p:cNvPr>
          <p:cNvSpPr>
            <a:spLocks noGrp="1"/>
          </p:cNvSpPr>
          <p:nvPr/>
        </p:nvSpPr>
        <p:spPr>
          <a:xfrm>
            <a:off x="3667125" y="2019300"/>
            <a:ext cx="2000250" cy="238125"/>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SEMANTISCH</a:t>
            </a:r>
          </a:p>
        </p:txBody>
      </p:sp>
      <p:sp>
        <p:nvSpPr>
          <p:cNvPr id="13" name="semantic-copy">
            <a:extLst>
              <a:ext uri="{FF2B5EF4-FFF2-40B4-BE49-F238E27FC236}">
                <a16:creationId xmlns:a16="http://schemas.microsoft.com/office/drawing/2014/main" id="{5E5D98E6-650C-433B-AF7F-049F8E909E9E}"/>
              </a:ext>
            </a:extLst>
          </p:cNvPr>
          <p:cNvSpPr>
            <a:spLocks noGrp="1"/>
          </p:cNvSpPr>
          <p:nvPr/>
        </p:nvSpPr>
        <p:spPr>
          <a:xfrm>
            <a:off x="3667125" y="2324100"/>
            <a:ext cx="2000250" cy="304800"/>
          </a:xfrm>
          <a:prstGeom prst="rect">
            <a:avLst/>
          </a:prstGeom>
          <a:noFill/>
          <a:ln w="0">
            <a:noFill/>
            <a:prstDash val="solid"/>
          </a:ln>
        </p:spPr>
        <p:txBody>
          <a:bodyPr anchor="ctr"/>
          <a:lstStyle/>
          <a:p>
            <a:pPr algn="ctr">
              <a:defRPr sz="1275" b="0">
                <a:solidFill>
                  <a:srgbClr val="2D3F4B"/>
                </a:solidFill>
                <a:latin typeface="Arial"/>
                <a:ea typeface="Arial"/>
                <a:cs typeface="Arial"/>
              </a:defRPr>
            </a:pPr>
            <a:r>
              <a:rPr sz="1275" b="0">
                <a:solidFill>
                  <a:srgbClr val="2D3F4B"/>
                </a:solidFill>
                <a:latin typeface="Arial"/>
                <a:ea typeface="Arial"/>
                <a:cs typeface="Arial"/>
              </a:rPr>
              <a:t>Embedding-Ähnlichkeit</a:t>
            </a:r>
          </a:p>
        </p:txBody>
      </p:sp>
      <p:sp>
        <p:nvSpPr>
          <p:cNvPr id="14" name="lexical-box">
            <a:extLst>
              <a:ext uri="{FF2B5EF4-FFF2-40B4-BE49-F238E27FC236}">
                <a16:creationId xmlns:a16="http://schemas.microsoft.com/office/drawing/2014/main" id="{2195EE9A-FB58-4ED3-A52E-0420E9F83984}"/>
              </a:ext>
            </a:extLst>
          </p:cNvPr>
          <p:cNvSpPr>
            <a:spLocks noGrp="1"/>
          </p:cNvSpPr>
          <p:nvPr/>
        </p:nvSpPr>
        <p:spPr>
          <a:xfrm>
            <a:off x="3476625" y="3381375"/>
            <a:ext cx="2381250" cy="857250"/>
          </a:xfrm>
          <a:prstGeom prst="roundRect">
            <a:avLst>
              <a:gd name="adj" fmla="val 15556"/>
            </a:avLst>
          </a:prstGeom>
          <a:solidFill>
            <a:srgbClr val="E3F0F0"/>
          </a:solidFill>
          <a:ln w="11430">
            <a:solidFill>
              <a:srgbClr val="43858A"/>
            </a:solidFill>
            <a:prstDash val="solid"/>
          </a:ln>
        </p:spPr>
        <p:txBody>
          <a:bodyPr/>
          <a:lstStyle/>
          <a:p>
            <a:endParaRPr lang="de-CH"/>
          </a:p>
        </p:txBody>
      </p:sp>
      <p:sp>
        <p:nvSpPr>
          <p:cNvPr id="15" name="lexical-title">
            <a:extLst>
              <a:ext uri="{FF2B5EF4-FFF2-40B4-BE49-F238E27FC236}">
                <a16:creationId xmlns:a16="http://schemas.microsoft.com/office/drawing/2014/main" id="{357769B1-8D02-4084-94E8-7B23395D921F}"/>
              </a:ext>
            </a:extLst>
          </p:cNvPr>
          <p:cNvSpPr>
            <a:spLocks noGrp="1"/>
          </p:cNvSpPr>
          <p:nvPr/>
        </p:nvSpPr>
        <p:spPr>
          <a:xfrm>
            <a:off x="3667125" y="3543300"/>
            <a:ext cx="2000250" cy="238125"/>
          </a:xfrm>
          <a:prstGeom prst="rect">
            <a:avLst/>
          </a:prstGeom>
          <a:noFill/>
          <a:ln w="0">
            <a:noFill/>
            <a:prstDash val="solid"/>
          </a:ln>
        </p:spPr>
        <p:txBody>
          <a:bodyPr anchor="t"/>
          <a:lstStyle/>
          <a:p>
            <a:pPr algn="ctr">
              <a:defRPr sz="1275" b="1">
                <a:solidFill>
                  <a:srgbClr val="43858A"/>
                </a:solidFill>
                <a:latin typeface="Arial"/>
                <a:ea typeface="Arial"/>
                <a:cs typeface="Arial"/>
              </a:defRPr>
            </a:pPr>
            <a:r>
              <a:rPr sz="1275" b="1">
                <a:solidFill>
                  <a:srgbClr val="43858A"/>
                </a:solidFill>
                <a:latin typeface="Arial"/>
                <a:ea typeface="Arial"/>
                <a:cs typeface="Arial"/>
              </a:rPr>
              <a:t>LEXIKALISCH</a:t>
            </a:r>
          </a:p>
        </p:txBody>
      </p:sp>
      <p:sp>
        <p:nvSpPr>
          <p:cNvPr id="16" name="lexical-copy">
            <a:extLst>
              <a:ext uri="{FF2B5EF4-FFF2-40B4-BE49-F238E27FC236}">
                <a16:creationId xmlns:a16="http://schemas.microsoft.com/office/drawing/2014/main" id="{1B33F516-A521-4DA4-950A-21C3292FE74A}"/>
              </a:ext>
            </a:extLst>
          </p:cNvPr>
          <p:cNvSpPr>
            <a:spLocks noGrp="1"/>
          </p:cNvSpPr>
          <p:nvPr/>
        </p:nvSpPr>
        <p:spPr>
          <a:xfrm>
            <a:off x="3667125" y="3876675"/>
            <a:ext cx="2000250" cy="228600"/>
          </a:xfrm>
          <a:prstGeom prst="rect">
            <a:avLst/>
          </a:prstGeom>
          <a:noFill/>
          <a:ln w="0">
            <a:noFill/>
            <a:prstDash val="solid"/>
          </a:ln>
        </p:spPr>
        <p:txBody>
          <a:bodyPr anchor="t"/>
          <a:lstStyle/>
          <a:p>
            <a:pPr algn="ctr">
              <a:defRPr sz="1425" b="0">
                <a:solidFill>
                  <a:srgbClr val="2D3F4B"/>
                </a:solidFill>
                <a:latin typeface="Arial"/>
                <a:ea typeface="Arial"/>
                <a:cs typeface="Arial"/>
              </a:defRPr>
            </a:pPr>
            <a:r>
              <a:rPr sz="1425" b="0">
                <a:solidFill>
                  <a:srgbClr val="2D3F4B"/>
                </a:solidFill>
                <a:latin typeface="Arial"/>
                <a:ea typeface="Arial"/>
                <a:cs typeface="Arial"/>
              </a:rPr>
              <a:t>Erlass + Artikel + Titel</a:t>
            </a:r>
          </a:p>
        </p:txBody>
      </p:sp>
      <p:sp>
        <p:nvSpPr>
          <p:cNvPr id="17" name="semantic-rrf">
            <a:extLst>
              <a:ext uri="{FF2B5EF4-FFF2-40B4-BE49-F238E27FC236}">
                <a16:creationId xmlns:a16="http://schemas.microsoft.com/office/drawing/2014/main" id="{FEF3FFFD-BC1D-4A57-ACBC-3D1B47D2AAC3}"/>
              </a:ext>
            </a:extLst>
          </p:cNvPr>
          <p:cNvSpPr>
            <a:spLocks noGrp="1"/>
          </p:cNvSpPr>
          <p:nvPr/>
        </p:nvSpPr>
        <p:spPr>
          <a:xfrm>
            <a:off x="5857875" y="2286000"/>
            <a:ext cx="1143000" cy="762000"/>
          </a:xfrm>
          <a:prstGeom prst="line">
            <a:avLst/>
          </a:prstGeom>
          <a:ln w="23813">
            <a:solidFill>
              <a:srgbClr val="C60C30"/>
            </a:solidFill>
            <a:prstDash val="solid"/>
          </a:ln>
        </p:spPr>
        <p:txBody>
          <a:bodyPr/>
          <a:lstStyle/>
          <a:p>
            <a:endParaRPr lang="de-CH"/>
          </a:p>
        </p:txBody>
      </p:sp>
      <p:sp>
        <p:nvSpPr>
          <p:cNvPr id="18" name="lexical-rrf">
            <a:extLst>
              <a:ext uri="{FF2B5EF4-FFF2-40B4-BE49-F238E27FC236}">
                <a16:creationId xmlns:a16="http://schemas.microsoft.com/office/drawing/2014/main" id="{294247A2-897D-4AAB-8C4D-AA9D5404D66C}"/>
              </a:ext>
            </a:extLst>
          </p:cNvPr>
          <p:cNvSpPr>
            <a:spLocks noGrp="1"/>
          </p:cNvSpPr>
          <p:nvPr/>
        </p:nvSpPr>
        <p:spPr>
          <a:xfrm>
            <a:off x="5857875" y="3048000"/>
            <a:ext cx="1143000" cy="762000"/>
          </a:xfrm>
          <a:prstGeom prst="line">
            <a:avLst/>
          </a:prstGeom>
          <a:ln w="23813">
            <a:solidFill>
              <a:srgbClr val="43858A"/>
            </a:solidFill>
            <a:prstDash val="solid"/>
          </a:ln>
        </p:spPr>
        <p:txBody>
          <a:bodyPr/>
          <a:lstStyle/>
          <a:p>
            <a:endParaRPr lang="de-CH"/>
          </a:p>
        </p:txBody>
      </p:sp>
      <p:sp>
        <p:nvSpPr>
          <p:cNvPr id="19" name="rrf">
            <a:extLst>
              <a:ext uri="{FF2B5EF4-FFF2-40B4-BE49-F238E27FC236}">
                <a16:creationId xmlns:a16="http://schemas.microsoft.com/office/drawing/2014/main" id="{0521D844-5A60-40B3-A063-7700203430FF}"/>
              </a:ext>
            </a:extLst>
          </p:cNvPr>
          <p:cNvSpPr>
            <a:spLocks noGrp="1"/>
          </p:cNvSpPr>
          <p:nvPr/>
        </p:nvSpPr>
        <p:spPr>
          <a:xfrm>
            <a:off x="6953250" y="2619375"/>
            <a:ext cx="876300" cy="876300"/>
          </a:xfrm>
          <a:prstGeom prst="ellipse">
            <a:avLst/>
          </a:prstGeom>
          <a:solidFill>
            <a:srgbClr val="7C466F"/>
          </a:solidFill>
          <a:ln w="23813">
            <a:solidFill>
              <a:srgbClr val="FFFFFF"/>
            </a:solidFill>
            <a:prstDash val="solid"/>
          </a:ln>
        </p:spPr>
        <p:txBody>
          <a:bodyPr anchor="ctr"/>
          <a:lstStyle/>
          <a:p>
            <a:pPr algn="ctr">
              <a:defRPr sz="1650" b="1">
                <a:solidFill>
                  <a:srgbClr val="FFFFFF"/>
                </a:solidFill>
                <a:latin typeface="Arial"/>
                <a:ea typeface="Arial"/>
                <a:cs typeface="Arial"/>
              </a:defRPr>
            </a:pPr>
            <a:r>
              <a:rPr sz="1650" b="1">
                <a:solidFill>
                  <a:srgbClr val="FFFFFF"/>
                </a:solidFill>
                <a:latin typeface="Arial"/>
                <a:ea typeface="Arial"/>
                <a:cs typeface="Arial"/>
              </a:rPr>
              <a:t>RRF</a:t>
            </a:r>
          </a:p>
        </p:txBody>
      </p:sp>
      <p:sp>
        <p:nvSpPr>
          <p:cNvPr id="20" name="rrf-label">
            <a:extLst>
              <a:ext uri="{FF2B5EF4-FFF2-40B4-BE49-F238E27FC236}">
                <a16:creationId xmlns:a16="http://schemas.microsoft.com/office/drawing/2014/main" id="{7020E88C-8990-4FCC-B223-11C4BAC8137F}"/>
              </a:ext>
            </a:extLst>
          </p:cNvPr>
          <p:cNvSpPr>
            <a:spLocks noGrp="1"/>
          </p:cNvSpPr>
          <p:nvPr/>
        </p:nvSpPr>
        <p:spPr>
          <a:xfrm>
            <a:off x="6572250" y="3600450"/>
            <a:ext cx="1619250" cy="457200"/>
          </a:xfrm>
          <a:prstGeom prst="rect">
            <a:avLst/>
          </a:prstGeom>
          <a:noFill/>
          <a:ln w="0">
            <a:noFill/>
            <a:prstDash val="solid"/>
          </a:ln>
        </p:spPr>
        <p:txBody>
          <a:bodyPr anchor="t"/>
          <a:lstStyle/>
          <a:p>
            <a:pPr algn="ctr">
              <a:defRPr sz="1125" b="1">
                <a:solidFill>
                  <a:srgbClr val="7C466F"/>
                </a:solidFill>
                <a:latin typeface="Arial"/>
                <a:ea typeface="Arial"/>
                <a:cs typeface="Arial"/>
              </a:defRPr>
            </a:pPr>
            <a:r>
              <a:rPr sz="1125" b="1">
                <a:solidFill>
                  <a:srgbClr val="7C466F"/>
                </a:solidFill>
                <a:latin typeface="Arial"/>
                <a:ea typeface="Arial"/>
                <a:cs typeface="Arial"/>
              </a:rPr>
              <a:t>RANKINGS</a:t>
            </a:r>
          </a:p>
          <a:p>
            <a:pPr algn="ctr">
              <a:defRPr sz="1125" b="1">
                <a:solidFill>
                  <a:srgbClr val="7C466F"/>
                </a:solidFill>
                <a:latin typeface="Arial"/>
                <a:ea typeface="Arial"/>
                <a:cs typeface="Arial"/>
              </a:defRPr>
            </a:pPr>
            <a:r>
              <a:rPr sz="1125" b="1">
                <a:solidFill>
                  <a:srgbClr val="7C466F"/>
                </a:solidFill>
                <a:latin typeface="Arial"/>
                <a:ea typeface="Arial"/>
                <a:cs typeface="Arial"/>
              </a:rPr>
              <a:t>ZUSAMMENFÜHREN</a:t>
            </a:r>
          </a:p>
        </p:txBody>
      </p:sp>
      <p:sp>
        <p:nvSpPr>
          <p:cNvPr id="21" name="rrf-graph">
            <a:extLst>
              <a:ext uri="{FF2B5EF4-FFF2-40B4-BE49-F238E27FC236}">
                <a16:creationId xmlns:a16="http://schemas.microsoft.com/office/drawing/2014/main" id="{88D4FF31-E8A9-4073-A359-AE6C1AE2E0B7}"/>
              </a:ext>
            </a:extLst>
          </p:cNvPr>
          <p:cNvSpPr>
            <a:spLocks noGrp="1"/>
          </p:cNvSpPr>
          <p:nvPr/>
        </p:nvSpPr>
        <p:spPr>
          <a:xfrm>
            <a:off x="7829550" y="3057525"/>
            <a:ext cx="1047750" cy="0"/>
          </a:xfrm>
          <a:prstGeom prst="line">
            <a:avLst/>
          </a:prstGeom>
          <a:ln w="23813">
            <a:solidFill>
              <a:srgbClr val="7C466F"/>
            </a:solidFill>
            <a:prstDash val="solid"/>
          </a:ln>
        </p:spPr>
        <p:txBody>
          <a:bodyPr/>
          <a:lstStyle/>
          <a:p>
            <a:endParaRPr lang="de-CH"/>
          </a:p>
        </p:txBody>
      </p:sp>
      <p:sp>
        <p:nvSpPr>
          <p:cNvPr id="22" name="graph-box">
            <a:extLst>
              <a:ext uri="{FF2B5EF4-FFF2-40B4-BE49-F238E27FC236}">
                <a16:creationId xmlns:a16="http://schemas.microsoft.com/office/drawing/2014/main" id="{8F12ADFC-4D6E-4DF6-902B-5C06D2FA89E1}"/>
              </a:ext>
            </a:extLst>
          </p:cNvPr>
          <p:cNvSpPr>
            <a:spLocks noGrp="1"/>
          </p:cNvSpPr>
          <p:nvPr/>
        </p:nvSpPr>
        <p:spPr>
          <a:xfrm>
            <a:off x="8905875" y="2143125"/>
            <a:ext cx="2571750" cy="1809750"/>
          </a:xfrm>
          <a:prstGeom prst="roundRect">
            <a:avLst>
              <a:gd name="adj" fmla="val 9474"/>
            </a:avLst>
          </a:prstGeom>
          <a:solidFill>
            <a:srgbClr val="EAE8E5"/>
          </a:solidFill>
          <a:ln w="11430">
            <a:solidFill>
              <a:srgbClr val="C3BBB2"/>
            </a:solidFill>
            <a:prstDash val="solid"/>
          </a:ln>
        </p:spPr>
        <p:txBody>
          <a:bodyPr/>
          <a:lstStyle/>
          <a:p>
            <a:endParaRPr lang="de-CH"/>
          </a:p>
        </p:txBody>
      </p:sp>
      <p:sp>
        <p:nvSpPr>
          <p:cNvPr id="23" name="graph-title">
            <a:extLst>
              <a:ext uri="{FF2B5EF4-FFF2-40B4-BE49-F238E27FC236}">
                <a16:creationId xmlns:a16="http://schemas.microsoft.com/office/drawing/2014/main" id="{6518461C-BEB6-4B82-8305-861FE6468501}"/>
              </a:ext>
            </a:extLst>
          </p:cNvPr>
          <p:cNvSpPr>
            <a:spLocks noGrp="1"/>
          </p:cNvSpPr>
          <p:nvPr/>
        </p:nvSpPr>
        <p:spPr>
          <a:xfrm>
            <a:off x="9144000" y="2333625"/>
            <a:ext cx="2095500" cy="266700"/>
          </a:xfrm>
          <a:prstGeom prst="rect">
            <a:avLst/>
          </a:prstGeom>
          <a:noFill/>
          <a:ln w="0">
            <a:noFill/>
            <a:prstDash val="solid"/>
          </a:ln>
        </p:spPr>
        <p:txBody>
          <a:bodyPr anchor="t"/>
          <a:lstStyle/>
          <a:p>
            <a:pPr algn="ctr">
              <a:defRPr sz="1350" b="1">
                <a:solidFill>
                  <a:srgbClr val="C9960F"/>
                </a:solidFill>
                <a:latin typeface="Arial"/>
                <a:ea typeface="Arial"/>
                <a:cs typeface="Arial"/>
              </a:defRPr>
            </a:pPr>
            <a:r>
              <a:rPr sz="1350" b="1">
                <a:solidFill>
                  <a:srgbClr val="C9960F"/>
                </a:solidFill>
                <a:latin typeface="Arial"/>
                <a:ea typeface="Arial"/>
                <a:cs typeface="Arial"/>
              </a:rPr>
              <a:t>GRAPH ERWEITERT</a:t>
            </a:r>
          </a:p>
        </p:txBody>
      </p:sp>
      <p:sp>
        <p:nvSpPr>
          <p:cNvPr id="24" name="node-a">
            <a:extLst>
              <a:ext uri="{FF2B5EF4-FFF2-40B4-BE49-F238E27FC236}">
                <a16:creationId xmlns:a16="http://schemas.microsoft.com/office/drawing/2014/main" id="{C4359535-EC26-4601-BDB1-051F1A62E3EB}"/>
              </a:ext>
            </a:extLst>
          </p:cNvPr>
          <p:cNvSpPr>
            <a:spLocks noGrp="1"/>
          </p:cNvSpPr>
          <p:nvPr/>
        </p:nvSpPr>
        <p:spPr>
          <a:xfrm>
            <a:off x="9239250" y="2781300"/>
            <a:ext cx="590550" cy="590550"/>
          </a:xfrm>
          <a:prstGeom prst="ellipse">
            <a:avLst/>
          </a:prstGeom>
          <a:solidFill>
            <a:srgbClr val="C9960F"/>
          </a:solidFill>
          <a:ln w="23813">
            <a:solidFill>
              <a:srgbClr val="FFFFFF"/>
            </a:solidFill>
            <a:prstDash val="solid"/>
          </a:ln>
        </p:spPr>
        <p:txBody>
          <a:bodyPr anchor="ctr"/>
          <a:lstStyle/>
          <a:p>
            <a:pPr algn="ctr">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25" name="node-b">
            <a:extLst>
              <a:ext uri="{FF2B5EF4-FFF2-40B4-BE49-F238E27FC236}">
                <a16:creationId xmlns:a16="http://schemas.microsoft.com/office/drawing/2014/main" id="{BB44BFEF-23BF-4D51-94C6-12FA6903AF99}"/>
              </a:ext>
            </a:extLst>
          </p:cNvPr>
          <p:cNvSpPr>
            <a:spLocks noGrp="1"/>
          </p:cNvSpPr>
          <p:nvPr/>
        </p:nvSpPr>
        <p:spPr>
          <a:xfrm>
            <a:off x="10287000" y="2619375"/>
            <a:ext cx="590550" cy="590550"/>
          </a:xfrm>
          <a:prstGeom prst="ellipse">
            <a:avLst/>
          </a:prstGeom>
          <a:solidFill>
            <a:srgbClr val="43858A"/>
          </a:solidFill>
          <a:ln w="23813">
            <a:solidFill>
              <a:srgbClr val="FFFFFF"/>
            </a:solidFill>
            <a:prstDash val="solid"/>
          </a:ln>
        </p:spPr>
        <p:txBody>
          <a:bodyPr anchor="ctr"/>
          <a:lstStyle/>
          <a:p>
            <a:pPr algn="ctr">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26" name="node-c">
            <a:extLst>
              <a:ext uri="{FF2B5EF4-FFF2-40B4-BE49-F238E27FC236}">
                <a16:creationId xmlns:a16="http://schemas.microsoft.com/office/drawing/2014/main" id="{6D6483F3-FB5D-4248-B066-CF1821BBAA4B}"/>
              </a:ext>
            </a:extLst>
          </p:cNvPr>
          <p:cNvSpPr>
            <a:spLocks noGrp="1"/>
          </p:cNvSpPr>
          <p:nvPr/>
        </p:nvSpPr>
        <p:spPr>
          <a:xfrm>
            <a:off x="10287000" y="3333750"/>
            <a:ext cx="590550" cy="590550"/>
          </a:xfrm>
          <a:prstGeom prst="ellipse">
            <a:avLst/>
          </a:prstGeom>
          <a:solidFill>
            <a:srgbClr val="81725E"/>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t>
            </a:r>
          </a:p>
        </p:txBody>
      </p:sp>
      <p:sp>
        <p:nvSpPr>
          <p:cNvPr id="27" name="edge-a-b">
            <a:extLst>
              <a:ext uri="{FF2B5EF4-FFF2-40B4-BE49-F238E27FC236}">
                <a16:creationId xmlns:a16="http://schemas.microsoft.com/office/drawing/2014/main" id="{72C0B5C3-FA22-4684-96CE-99F0A7F730F8}"/>
              </a:ext>
            </a:extLst>
          </p:cNvPr>
          <p:cNvSpPr>
            <a:spLocks noGrp="1"/>
          </p:cNvSpPr>
          <p:nvPr/>
        </p:nvSpPr>
        <p:spPr>
          <a:xfrm>
            <a:off x="9810750" y="2924175"/>
            <a:ext cx="523875" cy="95250"/>
          </a:xfrm>
          <a:prstGeom prst="line">
            <a:avLst/>
          </a:prstGeom>
          <a:ln w="17145">
            <a:solidFill>
              <a:srgbClr val="2D3F4B"/>
            </a:solidFill>
            <a:prstDash val="solid"/>
          </a:ln>
        </p:spPr>
        <p:txBody>
          <a:bodyPr/>
          <a:lstStyle/>
          <a:p>
            <a:endParaRPr lang="de-CH"/>
          </a:p>
        </p:txBody>
      </p:sp>
      <p:sp>
        <p:nvSpPr>
          <p:cNvPr id="28" name="edge-a-c">
            <a:extLst>
              <a:ext uri="{FF2B5EF4-FFF2-40B4-BE49-F238E27FC236}">
                <a16:creationId xmlns:a16="http://schemas.microsoft.com/office/drawing/2014/main" id="{B43F0A3C-C065-47E6-930E-DB08ACA3F666}"/>
              </a:ext>
            </a:extLst>
          </p:cNvPr>
          <p:cNvSpPr>
            <a:spLocks noGrp="1"/>
          </p:cNvSpPr>
          <p:nvPr/>
        </p:nvSpPr>
        <p:spPr>
          <a:xfrm>
            <a:off x="9791700" y="3124200"/>
            <a:ext cx="552450" cy="428625"/>
          </a:xfrm>
          <a:prstGeom prst="line">
            <a:avLst/>
          </a:prstGeom>
          <a:ln w="17145">
            <a:solidFill>
              <a:srgbClr val="2D3F4B"/>
            </a:solidFill>
            <a:prstDash val="solid"/>
          </a:ln>
        </p:spPr>
        <p:txBody>
          <a:bodyPr/>
          <a:lstStyle/>
          <a:p>
            <a:endParaRPr lang="de-CH"/>
          </a:p>
        </p:txBody>
      </p:sp>
      <p:sp>
        <p:nvSpPr>
          <p:cNvPr id="29" name="graph-prompt">
            <a:extLst>
              <a:ext uri="{FF2B5EF4-FFF2-40B4-BE49-F238E27FC236}">
                <a16:creationId xmlns:a16="http://schemas.microsoft.com/office/drawing/2014/main" id="{34F8537A-B072-4A8A-BB6F-0868316F7553}"/>
              </a:ext>
            </a:extLst>
          </p:cNvPr>
          <p:cNvSpPr>
            <a:spLocks noGrp="1"/>
          </p:cNvSpPr>
          <p:nvPr/>
        </p:nvSpPr>
        <p:spPr>
          <a:xfrm>
            <a:off x="11477625" y="3057525"/>
            <a:ext cx="428625" cy="0"/>
          </a:xfrm>
          <a:prstGeom prst="line">
            <a:avLst/>
          </a:prstGeom>
          <a:ln w="23813">
            <a:solidFill>
              <a:srgbClr val="C9960F"/>
            </a:solidFill>
            <a:prstDash val="solid"/>
          </a:ln>
        </p:spPr>
        <p:txBody>
          <a:bodyPr/>
          <a:lstStyle/>
          <a:p>
            <a:endParaRPr lang="de-CH"/>
          </a:p>
        </p:txBody>
      </p:sp>
      <p:sp>
        <p:nvSpPr>
          <p:cNvPr id="30" name="prompt-label">
            <a:extLst>
              <a:ext uri="{FF2B5EF4-FFF2-40B4-BE49-F238E27FC236}">
                <a16:creationId xmlns:a16="http://schemas.microsoft.com/office/drawing/2014/main" id="{815E2A76-3238-47B9-B6E8-BE5972163393}"/>
              </a:ext>
            </a:extLst>
          </p:cNvPr>
          <p:cNvSpPr>
            <a:spLocks noGrp="1"/>
          </p:cNvSpPr>
          <p:nvPr/>
        </p:nvSpPr>
        <p:spPr>
          <a:xfrm>
            <a:off x="10668000" y="4333875"/>
            <a:ext cx="1000125" cy="228600"/>
          </a:xfrm>
          <a:prstGeom prst="rect">
            <a:avLst/>
          </a:prstGeom>
          <a:noFill/>
          <a:ln w="0">
            <a:noFill/>
            <a:prstDash val="solid"/>
          </a:ln>
        </p:spPr>
        <p:txBody>
          <a:bodyPr anchor="t"/>
          <a:lstStyle/>
          <a:p>
            <a:pPr algn="ctr">
              <a:defRPr sz="1200" b="1">
                <a:solidFill>
                  <a:srgbClr val="2D3F4B"/>
                </a:solidFill>
                <a:latin typeface="Arial"/>
                <a:ea typeface="Arial"/>
                <a:cs typeface="Arial"/>
              </a:defRPr>
            </a:pPr>
            <a:r>
              <a:rPr sz="1200" b="1">
                <a:solidFill>
                  <a:srgbClr val="2D3F4B"/>
                </a:solidFill>
                <a:latin typeface="Arial"/>
                <a:ea typeface="Arial"/>
                <a:cs typeface="Arial"/>
              </a:rPr>
              <a:t>KONTEXT</a:t>
            </a:r>
          </a:p>
        </p:txBody>
      </p:sp>
      <p:sp>
        <p:nvSpPr>
          <p:cNvPr id="31" name="graph-takeaway">
            <a:extLst>
              <a:ext uri="{FF2B5EF4-FFF2-40B4-BE49-F238E27FC236}">
                <a16:creationId xmlns:a16="http://schemas.microsoft.com/office/drawing/2014/main" id="{733AC1B9-F4BE-443C-9E6F-86686D1C2CDB}"/>
              </a:ext>
            </a:extLst>
          </p:cNvPr>
          <p:cNvSpPr>
            <a:spLocks noGrp="1"/>
          </p:cNvSpPr>
          <p:nvPr/>
        </p:nvSpPr>
        <p:spPr>
          <a:xfrm>
            <a:off x="1666875" y="5000625"/>
            <a:ext cx="8858250" cy="723900"/>
          </a:xfrm>
          <a:prstGeom prst="roundRect">
            <a:avLst>
              <a:gd name="adj" fmla="val 21053"/>
            </a:avLst>
          </a:prstGeom>
          <a:solidFill>
            <a:srgbClr val="2D3F4B"/>
          </a:solidFill>
          <a:ln w="0">
            <a:solidFill>
              <a:srgbClr val="2D3F4B"/>
            </a:solidFill>
            <a:prstDash val="solid"/>
          </a:ln>
        </p:spPr>
        <p:txBody>
          <a:bodyPr/>
          <a:lstStyle/>
          <a:p>
            <a:endParaRPr lang="de-CH"/>
          </a:p>
        </p:txBody>
      </p:sp>
      <p:sp>
        <p:nvSpPr>
          <p:cNvPr id="32" name="graph-takeaway-text">
            <a:extLst>
              <a:ext uri="{FF2B5EF4-FFF2-40B4-BE49-F238E27FC236}">
                <a16:creationId xmlns:a16="http://schemas.microsoft.com/office/drawing/2014/main" id="{B63E6B08-6893-4FA2-A318-BBBCBDD341BD}"/>
              </a:ext>
            </a:extLst>
          </p:cNvPr>
          <p:cNvSpPr>
            <a:spLocks noGrp="1"/>
          </p:cNvSpPr>
          <p:nvPr/>
        </p:nvSpPr>
        <p:spPr>
          <a:xfrm>
            <a:off x="1952625" y="5162550"/>
            <a:ext cx="8286750" cy="4191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sz="1500" b="1">
                <a:solidFill>
                  <a:srgbClr val="FFFFFF"/>
                </a:solidFill>
                <a:latin typeface="Arial"/>
                <a:ea typeface="Arial"/>
                <a:cs typeface="Arial"/>
              </a:rPr>
              <a:t>Hybrid zuerst, Graph danach:</a:t>
            </a:r>
          </a:p>
          <a:p>
            <a:pPr algn="ctr">
              <a:defRPr sz="1500" b="1">
                <a:solidFill>
                  <a:srgbClr val="FFFFFF"/>
                </a:solidFill>
                <a:latin typeface="Arial"/>
                <a:ea typeface="Arial"/>
                <a:cs typeface="Arial"/>
              </a:defRPr>
            </a:pPr>
            <a:r>
              <a:rPr sz="1500" b="1">
                <a:solidFill>
                  <a:srgbClr val="FFFFFF"/>
                </a:solidFill>
                <a:latin typeface="Arial"/>
                <a:ea typeface="Arial"/>
                <a:cs typeface="Arial"/>
              </a:rPr>
              <a:t>Trefferlisten fusionieren → relevante Nachbarn ergänzen → Kontextbudget einhalten.</a:t>
            </a:r>
          </a:p>
        </p:txBody>
      </p:sp>
    </p:spTree>
    <p:extLst>
      <p:ext uri="{BB962C8B-B14F-4D97-AF65-F5344CB8AC3E}">
        <p14:creationId xmlns:p14="http://schemas.microsoft.com/office/powerpoint/2010/main" val="27776752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lean-canvas">
            <a:extLst>
              <a:ext uri="{FF2B5EF4-FFF2-40B4-BE49-F238E27FC236}">
                <a16:creationId xmlns:a16="http://schemas.microsoft.com/office/drawing/2014/main" id="{B2FBC28B-665B-4948-A297-C71BDA3ECCB7}"/>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540E8F70-9B23-436C-B2AB-251CB6C804B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Retrieval: Beide finden die Artikel – Graph nutzt weniger Kontext</a:t>
            </a:r>
          </a:p>
        </p:txBody>
      </p:sp>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Aktueller Lauf · 8 Fragen · gemeinsames Budget von 6 Chunks.</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100%</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defRPr sz="1125" b="1">
                <a:solidFill>
                  <a:srgbClr val="C60C30"/>
                </a:solidFill>
                <a:latin typeface="Arial"/>
                <a:ea typeface="Arial"/>
                <a:cs typeface="Arial"/>
              </a:defRPr>
            </a:pPr>
            <a:r>
              <a:rPr sz="1125" b="1">
                <a:solidFill>
                  <a:srgbClr val="C60C30"/>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defRPr sz="2550" b="1">
                <a:solidFill>
                  <a:srgbClr val="C60C30"/>
                </a:solidFill>
                <a:latin typeface="Arial"/>
                <a:ea typeface="Arial"/>
                <a:cs typeface="Arial"/>
              </a:defRPr>
            </a:pPr>
            <a:r>
              <a:rPr sz="2550" b="1">
                <a:solidFill>
                  <a:srgbClr val="C60C30"/>
                </a:solidFill>
                <a:latin typeface="Arial"/>
                <a:ea typeface="Arial"/>
                <a:cs typeface="Arial"/>
              </a:rPr>
              <a:t>100%</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lang="de-CH"/>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Alle erwarteten Artikel im Kontext</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0.83</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defRPr sz="2550" b="1">
                <a:solidFill>
                  <a:srgbClr val="43858A"/>
                </a:solidFill>
                <a:latin typeface="Arial"/>
                <a:ea typeface="Arial"/>
                <a:cs typeface="Arial"/>
              </a:defRPr>
            </a:pPr>
            <a:r>
              <a:rPr sz="2550" b="1">
                <a:solidFill>
                  <a:srgbClr val="43858A"/>
                </a:solidFill>
                <a:latin typeface="Arial"/>
                <a:ea typeface="Arial"/>
                <a:cs typeface="Arial"/>
              </a:rPr>
              <a:t>0.82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lang="de-CH"/>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Nahezu gleiche Rangqualität</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857</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defRPr sz="1125" b="1">
                <a:solidFill>
                  <a:srgbClr val="C9960F"/>
                </a:solidFill>
                <a:latin typeface="Arial"/>
                <a:ea typeface="Arial"/>
                <a:cs typeface="Arial"/>
              </a:defRPr>
            </a:pPr>
            <a:r>
              <a:rPr sz="1125" b="1">
                <a:solidFill>
                  <a:srgbClr val="C9960F"/>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defRPr sz="2550" b="1">
                <a:solidFill>
                  <a:srgbClr val="C9960F"/>
                </a:solidFill>
                <a:latin typeface="Arial"/>
                <a:ea typeface="Arial"/>
                <a:cs typeface="Arial"/>
              </a:defRPr>
            </a:pPr>
            <a:r>
              <a:rPr sz="2550" b="1">
                <a:solidFill>
                  <a:srgbClr val="C9960F"/>
                </a:solidFill>
                <a:latin typeface="Arial"/>
                <a:ea typeface="Arial"/>
                <a:cs typeface="Arial"/>
              </a:rPr>
              <a:t>746</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lang="de-CH"/>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Graph: 13 % weniger Kontext</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lang="de-CH"/>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sz="1500" b="1">
                <a:solidFill>
                  <a:srgbClr val="FFFFFF"/>
                </a:solidFill>
                <a:latin typeface="Arial"/>
                <a:ea typeface="Arial"/>
                <a:cs typeface="Arial"/>
              </a:rPr>
              <a:t>100 % Recall bedeutet: im Kontext vorhanden – nicht automatisch korrekt beantwortet.</a:t>
            </a:r>
          </a:p>
        </p:txBody>
      </p:sp>
    </p:spTree>
    <p:extLst>
      <p:ext uri="{BB962C8B-B14F-4D97-AF65-F5344CB8AC3E}">
        <p14:creationId xmlns:p14="http://schemas.microsoft.com/office/powerpoint/2010/main" val="12996448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clean-canvas">
            <a:extLst>
              <a:ext uri="{FF2B5EF4-FFF2-40B4-BE49-F238E27FC236}">
                <a16:creationId xmlns:a16="http://schemas.microsoft.com/office/drawing/2014/main" id="{5E51C087-B602-40CA-9202-01BA72A8860A}"/>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Antwortqualität: Mehr Fakten sind nicht automatisch besser belegt</a:t>
            </a: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Der aktuelle Lauf zeigt einen echten Trade-off zwischen Abdeckung und Zitierqualität.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defRPr sz="1200" b="1">
                <a:solidFill>
                  <a:srgbClr val="2D3F4B"/>
                </a:solidFill>
                <a:latin typeface="Arial"/>
                <a:ea typeface="Arial"/>
                <a:cs typeface="Arial"/>
              </a:defRPr>
            </a:pPr>
            <a:r>
              <a:rPr sz="1200" b="1">
                <a:solidFill>
                  <a:srgbClr val="2D3F4B"/>
                </a:solidFill>
                <a:latin typeface="Arial"/>
                <a:ea typeface="Arial"/>
                <a:cs typeface="Arial"/>
              </a:rPr>
              <a:t>VECTOR</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GRAPH</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Fact coverage</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145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5050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93.8%</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precision</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384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54.2%</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2289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39.6%</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grounding</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7623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9528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79.2%</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completeness</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4862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6767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75.0%</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lang="de-CH"/>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Graph: +6.3 Punkte Faktenabdeckung · Vector: stärkere Zitationsmetriken</a:t>
            </a:r>
          </a:p>
        </p:txBody>
      </p:sp>
    </p:spTree>
    <p:extLst>
      <p:ext uri="{BB962C8B-B14F-4D97-AF65-F5344CB8AC3E}">
        <p14:creationId xmlns:p14="http://schemas.microsoft.com/office/powerpoint/2010/main" val="8529517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20C2307B-AB02-453A-93F3-1BE8CB0FC5D9}"/>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619250" y="5095875"/>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a:solidFill>
                  <a:srgbClr val="81725E"/>
                </a:solidFill>
                <a:latin typeface="Arial"/>
                <a:ea typeface="Arial"/>
                <a:cs typeface="Arial"/>
              </a:rPr>
              <a:t>mehr Kontrolle</a:t>
            </a: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763000" y="5095875"/>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a:solidFill>
                  <a:srgbClr val="81725E"/>
                </a:solidFill>
                <a:latin typeface="Arial"/>
                <a:ea typeface="Arial"/>
                <a:cs typeface="Arial"/>
              </a:rPr>
              <a:t>schneller produktiv</a:t>
            </a: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666750" y="1905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a:solidFill>
                  <a:srgbClr val="81725E"/>
                </a:solidFill>
                <a:latin typeface="Arial"/>
                <a:ea typeface="Arial"/>
                <a:cs typeface="Arial"/>
              </a:rPr>
              <a:t>mehr Betriebsaufwand</a:t>
            </a: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3875" y="466725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a:solidFill>
                  <a:srgbClr val="81725E"/>
                </a:solidFill>
                <a:latin typeface="Arial"/>
                <a:ea typeface="Arial"/>
                <a:cs typeface="Arial"/>
              </a:rPr>
              <a:t>weniger Eigenbetrieb</a:t>
            </a: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lean-canvas">
            <a:extLst>
              <a:ext uri="{FF2B5EF4-FFF2-40B4-BE49-F238E27FC236}">
                <a16:creationId xmlns:a16="http://schemas.microsoft.com/office/drawing/2014/main" id="{F7E06DD1-D6AF-4D5A-825C-0F76804EDB92}"/>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sz="1575" b="1">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sz="1875" b="1">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sz="1500" b="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CH"/>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sz="1575" b="1">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sz="1875" b="1">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sz="1500" b="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CH"/>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sz="1575" b="1">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sz="1875" b="1">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sz="1500" b="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sz="1500" b="1">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04.08.2026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23</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2">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836EE0A5-6FD0-7215-FE94-DB1A9704CE11}"/>
              </a:ext>
            </a:extLst>
          </p:cNvPr>
          <p:cNvSpPr>
            <a:spLocks noGrp="1"/>
          </p:cNvSpPr>
          <p:nvPr>
            <p:ph type="dt" sz="half" idx="10"/>
          </p:nvPr>
        </p:nvSpPr>
        <p:spPr/>
        <p:txBody>
          <a:bodyPr/>
          <a:lstStyle/>
          <a:p>
            <a:fld id="{0B6BC845-9EC3-4110-A168-5DC366913D79}" type="datetime1">
              <a:rPr lang="de-CH" smtClean="0"/>
              <a:t>04.08.2026</a:t>
            </a:fld>
            <a:endParaRPr lang="de-CH" dirty="0"/>
          </a:p>
        </p:txBody>
      </p:sp>
      <p:sp>
        <p:nvSpPr>
          <p:cNvPr id="3" name="Foliennummernplatzhalter 2">
            <a:extLst>
              <a:ext uri="{FF2B5EF4-FFF2-40B4-BE49-F238E27FC236}">
                <a16:creationId xmlns:a16="http://schemas.microsoft.com/office/drawing/2014/main" id="{70A28DE3-AF74-A7F1-F9D6-835BF684733E}"/>
              </a:ext>
            </a:extLst>
          </p:cNvPr>
          <p:cNvSpPr>
            <a:spLocks noGrp="1"/>
          </p:cNvSpPr>
          <p:nvPr>
            <p:ph type="sldNum" sz="quarter" idx="12"/>
          </p:nvPr>
        </p:nvSpPr>
        <p:spPr/>
        <p:txBody>
          <a:bodyPr/>
          <a:lstStyle/>
          <a:p>
            <a:fld id="{CE7E00E2-F08D-429A-AD9B-1ECBEC02F4DB}" type="slidenum">
              <a:rPr lang="de-CH" smtClean="0"/>
              <a:t>24</a:t>
            </a:fld>
            <a:endParaRPr lang="de-CH" dirty="0"/>
          </a:p>
        </p:txBody>
      </p:sp>
      <p:sp>
        <p:nvSpPr>
          <p:cNvPr id="4" name="Titel 3">
            <a:extLst>
              <a:ext uri="{FF2B5EF4-FFF2-40B4-BE49-F238E27FC236}">
                <a16:creationId xmlns:a16="http://schemas.microsoft.com/office/drawing/2014/main" id="{31EFACCF-4334-C97A-CC12-803F597A91A6}"/>
              </a:ext>
            </a:extLst>
          </p:cNvPr>
          <p:cNvSpPr>
            <a:spLocks noGrp="1"/>
          </p:cNvSpPr>
          <p:nvPr>
            <p:ph type="title"/>
          </p:nvPr>
        </p:nvSpPr>
        <p:spPr/>
        <p:txBody>
          <a:bodyPr/>
          <a:lstStyle/>
          <a:p>
            <a:r>
              <a:rPr lang="de-DE" dirty="0"/>
              <a:t>«Alles Gescheite ist schon gedacht worden, man muss nur versuchen, es noch einmal zu denken!»</a:t>
            </a:r>
          </a:p>
        </p:txBody>
      </p:sp>
      <p:sp>
        <p:nvSpPr>
          <p:cNvPr id="5" name="Textplatzhalter 4">
            <a:extLst>
              <a:ext uri="{FF2B5EF4-FFF2-40B4-BE49-F238E27FC236}">
                <a16:creationId xmlns:a16="http://schemas.microsoft.com/office/drawing/2014/main" id="{9ED5866E-3B43-F854-0209-4548C69B7148}"/>
              </a:ext>
            </a:extLst>
          </p:cNvPr>
          <p:cNvSpPr>
            <a:spLocks noGrp="1"/>
          </p:cNvSpPr>
          <p:nvPr>
            <p:ph type="body" sz="half" idx="2"/>
          </p:nvPr>
        </p:nvSpPr>
        <p:spPr/>
        <p:txBody>
          <a:bodyPr/>
          <a:lstStyle/>
          <a:p>
            <a:r>
              <a:rPr lang="de-DE" dirty="0"/>
              <a:t>Johann Wolfgang von Goethe</a:t>
            </a:r>
          </a:p>
          <a:p>
            <a:endParaRPr lang="de-DE" dirty="0"/>
          </a:p>
          <a:p>
            <a:endParaRPr lang="de-DE" dirty="0"/>
          </a:p>
        </p:txBody>
      </p:sp>
    </p:spTree>
    <p:extLst>
      <p:ext uri="{BB962C8B-B14F-4D97-AF65-F5344CB8AC3E}">
        <p14:creationId xmlns:p14="http://schemas.microsoft.com/office/powerpoint/2010/main" val="20955442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2E04E9-84E4-4F85-8FBB-53C78CF6AFB3}"/>
              </a:ext>
            </a:extLst>
          </p:cNvPr>
          <p:cNvSpPr>
            <a:spLocks noGrp="1"/>
          </p:cNvSpPr>
          <p:nvPr>
            <p:ph type="title"/>
          </p:nvPr>
        </p:nvSpPr>
        <p:spPr/>
        <p:txBody>
          <a:bodyPr/>
          <a:lstStyle/>
          <a:p>
            <a:r>
              <a:rPr lang="de-CH" dirty="0"/>
              <a:t>Icons</a:t>
            </a:r>
          </a:p>
        </p:txBody>
      </p:sp>
      <p:sp>
        <p:nvSpPr>
          <p:cNvPr id="14" name="Datumsplatzhalter 13">
            <a:extLst>
              <a:ext uri="{FF2B5EF4-FFF2-40B4-BE49-F238E27FC236}">
                <a16:creationId xmlns:a16="http://schemas.microsoft.com/office/drawing/2014/main" id="{71D14B1D-71ED-4F9D-ACC4-437877BAFF05}"/>
              </a:ext>
            </a:extLst>
          </p:cNvPr>
          <p:cNvSpPr>
            <a:spLocks noGrp="1"/>
          </p:cNvSpPr>
          <p:nvPr>
            <p:ph type="dt" sz="half" idx="10"/>
          </p:nvPr>
        </p:nvSpPr>
        <p:spPr/>
        <p:txBody>
          <a:bodyPr/>
          <a:lstStyle/>
          <a:p>
            <a:fld id="{F196820D-00FA-4B4E-B920-EDE68A30BEAA}" type="datetime1">
              <a:rPr lang="de-CH" smtClean="0"/>
              <a:t>04.08.2026</a:t>
            </a:fld>
            <a:endParaRPr lang="de-CH" dirty="0"/>
          </a:p>
        </p:txBody>
      </p:sp>
      <p:sp>
        <p:nvSpPr>
          <p:cNvPr id="16" name="Foliennummernplatzhalter 15">
            <a:extLst>
              <a:ext uri="{FF2B5EF4-FFF2-40B4-BE49-F238E27FC236}">
                <a16:creationId xmlns:a16="http://schemas.microsoft.com/office/drawing/2014/main" id="{C61D0FF6-5777-4C8C-B2D1-F03E6520B6A0}"/>
              </a:ext>
            </a:extLst>
          </p:cNvPr>
          <p:cNvSpPr>
            <a:spLocks noGrp="1"/>
          </p:cNvSpPr>
          <p:nvPr>
            <p:ph type="sldNum" sz="quarter" idx="12"/>
          </p:nvPr>
        </p:nvSpPr>
        <p:spPr/>
        <p:txBody>
          <a:bodyPr/>
          <a:lstStyle/>
          <a:p>
            <a:fld id="{CE7E00E2-F08D-429A-AD9B-1ECBEC02F4DB}" type="slidenum">
              <a:rPr lang="de-CH" smtClean="0"/>
              <a:t>25</a:t>
            </a:fld>
            <a:endParaRPr lang="de-CH" dirty="0"/>
          </a:p>
        </p:txBody>
      </p:sp>
      <p:pic>
        <p:nvPicPr>
          <p:cNvPr id="27" name="Grafik 26" descr="Ein Bild, das Kreis, Design, Kunst enthält.&#10;&#10;Automatisch generierte Beschreibung">
            <a:extLst>
              <a:ext uri="{FF2B5EF4-FFF2-40B4-BE49-F238E27FC236}">
                <a16:creationId xmlns:a16="http://schemas.microsoft.com/office/drawing/2014/main" id="{A0B8623F-500E-72C5-3B7B-C500590D80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12712" y="1575664"/>
            <a:ext cx="425450" cy="457200"/>
          </a:xfrm>
          <a:prstGeom prst="rect">
            <a:avLst/>
          </a:prstGeom>
        </p:spPr>
      </p:pic>
      <p:pic>
        <p:nvPicPr>
          <p:cNvPr id="29" name="Grafik 28" descr="Ein Bild, das Screenshot, Kreis, Grafiken, Design enthält.&#10;&#10;Automatisch generierte Beschreibung">
            <a:extLst>
              <a:ext uri="{FF2B5EF4-FFF2-40B4-BE49-F238E27FC236}">
                <a16:creationId xmlns:a16="http://schemas.microsoft.com/office/drawing/2014/main" id="{BE741828-B498-AE2E-8B42-5746A5207D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61385" y="1446112"/>
            <a:ext cx="508000" cy="596900"/>
          </a:xfrm>
          <a:prstGeom prst="rect">
            <a:avLst/>
          </a:prstGeom>
        </p:spPr>
      </p:pic>
      <p:pic>
        <p:nvPicPr>
          <p:cNvPr id="31" name="Grafik 30" descr="Ein Bild, das Grafiken, Kreis, Screenshot, Design enthält.&#10;&#10;Automatisch generierte Beschreibung">
            <a:extLst>
              <a:ext uri="{FF2B5EF4-FFF2-40B4-BE49-F238E27FC236}">
                <a16:creationId xmlns:a16="http://schemas.microsoft.com/office/drawing/2014/main" id="{2430055B-C1A1-5C69-FA95-072D189152F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48896" y="1446112"/>
            <a:ext cx="355600" cy="622300"/>
          </a:xfrm>
          <a:prstGeom prst="rect">
            <a:avLst/>
          </a:prstGeom>
        </p:spPr>
      </p:pic>
      <p:pic>
        <p:nvPicPr>
          <p:cNvPr id="33" name="Grafik 32" descr="Ein Bild, das Kreis, Screenshot, Grafiken, Design enthält.&#10;&#10;Automatisch generierte Beschreibung">
            <a:extLst>
              <a:ext uri="{FF2B5EF4-FFF2-40B4-BE49-F238E27FC236}">
                <a16:creationId xmlns:a16="http://schemas.microsoft.com/office/drawing/2014/main" id="{0CFA17E6-A4E2-BEB7-9AEC-C39841A100E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08193" y="1505626"/>
            <a:ext cx="457200" cy="596900"/>
          </a:xfrm>
          <a:prstGeom prst="rect">
            <a:avLst/>
          </a:prstGeom>
        </p:spPr>
      </p:pic>
      <p:pic>
        <p:nvPicPr>
          <p:cNvPr id="35" name="Grafik 34" descr="Ein Bild, das Kreis, Screenshot, Design, Kunst enthält.&#10;&#10;Automatisch generierte Beschreibung">
            <a:extLst>
              <a:ext uri="{FF2B5EF4-FFF2-40B4-BE49-F238E27FC236}">
                <a16:creationId xmlns:a16="http://schemas.microsoft.com/office/drawing/2014/main" id="{196C1F2B-F5DE-475C-4491-7DEA27C49CA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746365" y="4032518"/>
            <a:ext cx="614323" cy="614323"/>
          </a:xfrm>
          <a:prstGeom prst="rect">
            <a:avLst/>
          </a:prstGeom>
        </p:spPr>
      </p:pic>
      <p:pic>
        <p:nvPicPr>
          <p:cNvPr id="37" name="Grafik 36" descr="Ein Bild, das Grafiken, Screenshot, Design, Kunst enthält.&#10;&#10;Automatisch generierte Beschreibung">
            <a:extLst>
              <a:ext uri="{FF2B5EF4-FFF2-40B4-BE49-F238E27FC236}">
                <a16:creationId xmlns:a16="http://schemas.microsoft.com/office/drawing/2014/main" id="{F1756791-7307-510B-7E4A-8B6BC960DF5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871738" y="4043591"/>
            <a:ext cx="450850" cy="603250"/>
          </a:xfrm>
          <a:prstGeom prst="rect">
            <a:avLst/>
          </a:prstGeom>
        </p:spPr>
      </p:pic>
      <p:pic>
        <p:nvPicPr>
          <p:cNvPr id="39" name="Grafik 38" descr="Ein Bild, das Kreis, Grafiken enthält.&#10;&#10;Automatisch generierte Beschreibung">
            <a:extLst>
              <a:ext uri="{FF2B5EF4-FFF2-40B4-BE49-F238E27FC236}">
                <a16:creationId xmlns:a16="http://schemas.microsoft.com/office/drawing/2014/main" id="{2097DF7E-92A1-5224-A2CB-40925536B86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848896" y="4168825"/>
            <a:ext cx="514350" cy="457200"/>
          </a:xfrm>
          <a:prstGeom prst="rect">
            <a:avLst/>
          </a:prstGeom>
        </p:spPr>
      </p:pic>
      <p:pic>
        <p:nvPicPr>
          <p:cNvPr id="41" name="Grafik 40" descr="Ein Bild, das Kreis, Grafiken, Screenshot, Design enthält.&#10;&#10;Automatisch generierte Beschreibung">
            <a:extLst>
              <a:ext uri="{FF2B5EF4-FFF2-40B4-BE49-F238E27FC236}">
                <a16:creationId xmlns:a16="http://schemas.microsoft.com/office/drawing/2014/main" id="{E4584C95-BC6E-311C-50E3-743F701AF26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86234" y="4036257"/>
            <a:ext cx="552450" cy="603250"/>
          </a:xfrm>
          <a:prstGeom prst="rect">
            <a:avLst/>
          </a:prstGeom>
        </p:spPr>
      </p:pic>
      <p:pic>
        <p:nvPicPr>
          <p:cNvPr id="43" name="Grafik 42" descr="Ein Bild, das Screenshot, Quadrat enthält.&#10;&#10;Automatisch generierte Beschreibung">
            <a:extLst>
              <a:ext uri="{FF2B5EF4-FFF2-40B4-BE49-F238E27FC236}">
                <a16:creationId xmlns:a16="http://schemas.microsoft.com/office/drawing/2014/main" id="{8A4FA658-B7F6-37C7-935E-9C58EAE55C4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867282" y="4177789"/>
            <a:ext cx="495300" cy="438150"/>
          </a:xfrm>
          <a:prstGeom prst="rect">
            <a:avLst/>
          </a:prstGeom>
        </p:spPr>
      </p:pic>
      <p:pic>
        <p:nvPicPr>
          <p:cNvPr id="45" name="Grafik 44" descr="Ein Bild, das Kreis, Grafiken, Clipart, Design enthält.&#10;&#10;Automatisch generierte Beschreibung">
            <a:extLst>
              <a:ext uri="{FF2B5EF4-FFF2-40B4-BE49-F238E27FC236}">
                <a16:creationId xmlns:a16="http://schemas.microsoft.com/office/drawing/2014/main" id="{8D51D1EF-4B58-75DD-D69E-3D68066DE1C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767830" y="2811865"/>
            <a:ext cx="603250" cy="565150"/>
          </a:xfrm>
          <a:prstGeom prst="rect">
            <a:avLst/>
          </a:prstGeom>
        </p:spPr>
      </p:pic>
      <p:pic>
        <p:nvPicPr>
          <p:cNvPr id="47" name="Grafik 46" descr="Ein Bild, das Grafiken, Herz, Design enthält.&#10;&#10;Automatisch generierte Beschreibung">
            <a:extLst>
              <a:ext uri="{FF2B5EF4-FFF2-40B4-BE49-F238E27FC236}">
                <a16:creationId xmlns:a16="http://schemas.microsoft.com/office/drawing/2014/main" id="{356F8C24-5918-E12F-BE7E-6C36FDCBF6AA}"/>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4676302" y="2891615"/>
            <a:ext cx="609600" cy="444500"/>
          </a:xfrm>
          <a:prstGeom prst="rect">
            <a:avLst/>
          </a:prstGeom>
        </p:spPr>
      </p:pic>
      <p:pic>
        <p:nvPicPr>
          <p:cNvPr id="49" name="Grafik 48" descr="Ein Bild, das Screenshot, Kreis, Grafiken, Design enthält.&#10;&#10;Automatisch generierte Beschreibung">
            <a:extLst>
              <a:ext uri="{FF2B5EF4-FFF2-40B4-BE49-F238E27FC236}">
                <a16:creationId xmlns:a16="http://schemas.microsoft.com/office/drawing/2014/main" id="{4F53F9E8-F8DA-C078-011F-8C15D72F95FC}"/>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104692" y="2718569"/>
            <a:ext cx="342900" cy="609600"/>
          </a:xfrm>
          <a:prstGeom prst="rect">
            <a:avLst/>
          </a:prstGeom>
        </p:spPr>
      </p:pic>
      <p:pic>
        <p:nvPicPr>
          <p:cNvPr id="51" name="Grafik 50" descr="Ein Bild, das Design, Screenshot enthält.&#10;&#10;Automatisch generierte Beschreibung">
            <a:extLst>
              <a:ext uri="{FF2B5EF4-FFF2-40B4-BE49-F238E27FC236}">
                <a16:creationId xmlns:a16="http://schemas.microsoft.com/office/drawing/2014/main" id="{389540F9-B2BF-A144-BC0A-7ED7FF0FD7A6}"/>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6858421" y="2881715"/>
            <a:ext cx="482600" cy="495300"/>
          </a:xfrm>
          <a:prstGeom prst="rect">
            <a:avLst/>
          </a:prstGeom>
        </p:spPr>
      </p:pic>
      <p:pic>
        <p:nvPicPr>
          <p:cNvPr id="53" name="Grafik 52" descr="Ein Bild, das Screenshot, Design, Kunst enthält.&#10;&#10;Automatisch generierte Beschreibung">
            <a:extLst>
              <a:ext uri="{FF2B5EF4-FFF2-40B4-BE49-F238E27FC236}">
                <a16:creationId xmlns:a16="http://schemas.microsoft.com/office/drawing/2014/main" id="{48DE78F0-6A31-BD0B-94FF-686ADA7CB1C4}"/>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043010" y="1600684"/>
            <a:ext cx="577850" cy="425450"/>
          </a:xfrm>
          <a:prstGeom prst="rect">
            <a:avLst/>
          </a:prstGeom>
        </p:spPr>
      </p:pic>
      <p:pic>
        <p:nvPicPr>
          <p:cNvPr id="55" name="Grafik 54" descr="Ein Bild, das Grafiken, Kreis, Design, Screenshot enthält.&#10;&#10;Automatisch generierte Beschreibung">
            <a:extLst>
              <a:ext uri="{FF2B5EF4-FFF2-40B4-BE49-F238E27FC236}">
                <a16:creationId xmlns:a16="http://schemas.microsoft.com/office/drawing/2014/main" id="{8FA9C668-6B72-6C2D-B627-313D4A2A413E}"/>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2825075" y="5443044"/>
            <a:ext cx="591467" cy="528545"/>
          </a:xfrm>
          <a:prstGeom prst="rect">
            <a:avLst/>
          </a:prstGeom>
        </p:spPr>
      </p:pic>
      <p:pic>
        <p:nvPicPr>
          <p:cNvPr id="57" name="Grafik 56" descr="Ein Bild, das Kreis, Grafiken, Design, Kunst enthält.&#10;&#10;Automatisch generierte Beschreibung">
            <a:extLst>
              <a:ext uri="{FF2B5EF4-FFF2-40B4-BE49-F238E27FC236}">
                <a16:creationId xmlns:a16="http://schemas.microsoft.com/office/drawing/2014/main" id="{1F572A76-3DD9-61BD-8D24-426FA8FFAFCA}"/>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6883638" y="5351808"/>
            <a:ext cx="390117" cy="597759"/>
          </a:xfrm>
          <a:prstGeom prst="rect">
            <a:avLst/>
          </a:prstGeom>
        </p:spPr>
      </p:pic>
      <p:pic>
        <p:nvPicPr>
          <p:cNvPr id="59" name="Grafik 58" descr="Ein Bild, das Kreis, Screenshot, Diagramm, Design enthält.&#10;&#10;Automatisch generierte Beschreibung">
            <a:extLst>
              <a:ext uri="{FF2B5EF4-FFF2-40B4-BE49-F238E27FC236}">
                <a16:creationId xmlns:a16="http://schemas.microsoft.com/office/drawing/2014/main" id="{2A1C5E47-3DA6-B52D-1576-83219AF99960}"/>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969185" y="5327696"/>
            <a:ext cx="553714" cy="648097"/>
          </a:xfrm>
          <a:prstGeom prst="rect">
            <a:avLst/>
          </a:prstGeom>
        </p:spPr>
      </p:pic>
      <p:pic>
        <p:nvPicPr>
          <p:cNvPr id="61" name="Grafik 60" descr="Ein Bild, das Kreis, Grafiken enthält.&#10;&#10;Automatisch generierte Beschreibung">
            <a:extLst>
              <a:ext uri="{FF2B5EF4-FFF2-40B4-BE49-F238E27FC236}">
                <a16:creationId xmlns:a16="http://schemas.microsoft.com/office/drawing/2014/main" id="{7D32D895-87AD-61B7-FA78-8E15DE192126}"/>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4769220" y="5465067"/>
            <a:ext cx="591468" cy="484500"/>
          </a:xfrm>
          <a:prstGeom prst="rect">
            <a:avLst/>
          </a:prstGeom>
        </p:spPr>
      </p:pic>
      <p:pic>
        <p:nvPicPr>
          <p:cNvPr id="63" name="Grafik 62" descr="Ein Bild, das Kreis, Design, Kunst, Darstellung enthält.&#10;&#10;Automatisch generierte Beschreibung">
            <a:extLst>
              <a:ext uri="{FF2B5EF4-FFF2-40B4-BE49-F238E27FC236}">
                <a16:creationId xmlns:a16="http://schemas.microsoft.com/office/drawing/2014/main" id="{A492CF6B-3794-3238-ABAE-B3368907BEA7}"/>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8795296" y="5301167"/>
            <a:ext cx="786524" cy="610343"/>
          </a:xfrm>
          <a:prstGeom prst="rect">
            <a:avLst/>
          </a:prstGeom>
        </p:spPr>
      </p:pic>
      <p:sp>
        <p:nvSpPr>
          <p:cNvPr id="3" name="Textfeld 2">
            <a:extLst>
              <a:ext uri="{FF2B5EF4-FFF2-40B4-BE49-F238E27FC236}">
                <a16:creationId xmlns:a16="http://schemas.microsoft.com/office/drawing/2014/main" id="{2D5D24E3-4C85-C76C-B92C-214E37BDAE10}"/>
              </a:ext>
            </a:extLst>
          </p:cNvPr>
          <p:cNvSpPr txBox="1"/>
          <p:nvPr/>
        </p:nvSpPr>
        <p:spPr>
          <a:xfrm>
            <a:off x="958980" y="2037660"/>
            <a:ext cx="1257129" cy="215444"/>
          </a:xfrm>
          <a:prstGeom prst="rect">
            <a:avLst/>
          </a:prstGeom>
          <a:noFill/>
        </p:spPr>
        <p:txBody>
          <a:bodyPr wrap="square" lIns="0" tIns="0" rIns="0" bIns="0" rtlCol="0">
            <a:spAutoFit/>
          </a:bodyPr>
          <a:lstStyle/>
          <a:p>
            <a:pPr algn="l"/>
            <a:r>
              <a:rPr lang="de-DE" sz="1400" dirty="0"/>
              <a:t>Academy</a:t>
            </a:r>
          </a:p>
        </p:txBody>
      </p:sp>
      <p:sp>
        <p:nvSpPr>
          <p:cNvPr id="4" name="Textfeld 3">
            <a:extLst>
              <a:ext uri="{FF2B5EF4-FFF2-40B4-BE49-F238E27FC236}">
                <a16:creationId xmlns:a16="http://schemas.microsoft.com/office/drawing/2014/main" id="{AFD92EBF-828F-63E5-452C-7E661E17D3A2}"/>
              </a:ext>
            </a:extLst>
          </p:cNvPr>
          <p:cNvSpPr txBox="1"/>
          <p:nvPr/>
        </p:nvSpPr>
        <p:spPr>
          <a:xfrm>
            <a:off x="2383384" y="2036135"/>
            <a:ext cx="1755216" cy="215444"/>
          </a:xfrm>
          <a:prstGeom prst="rect">
            <a:avLst/>
          </a:prstGeom>
          <a:noFill/>
        </p:spPr>
        <p:txBody>
          <a:bodyPr wrap="square" lIns="0" tIns="0" rIns="0" bIns="0" rtlCol="0">
            <a:spAutoFit/>
          </a:bodyPr>
          <a:lstStyle/>
          <a:p>
            <a:pPr algn="l"/>
            <a:r>
              <a:rPr lang="de-DE" sz="1400" dirty="0"/>
              <a:t>Datenmanagement</a:t>
            </a:r>
          </a:p>
        </p:txBody>
      </p:sp>
      <p:sp>
        <p:nvSpPr>
          <p:cNvPr id="5" name="Textfeld 4">
            <a:extLst>
              <a:ext uri="{FF2B5EF4-FFF2-40B4-BE49-F238E27FC236}">
                <a16:creationId xmlns:a16="http://schemas.microsoft.com/office/drawing/2014/main" id="{9344C6F1-D035-7E03-1C94-2141AFC8AAAE}"/>
              </a:ext>
            </a:extLst>
          </p:cNvPr>
          <p:cNvSpPr txBox="1"/>
          <p:nvPr/>
        </p:nvSpPr>
        <p:spPr>
          <a:xfrm>
            <a:off x="4111738" y="2044390"/>
            <a:ext cx="1755216" cy="215444"/>
          </a:xfrm>
          <a:prstGeom prst="rect">
            <a:avLst/>
          </a:prstGeom>
          <a:noFill/>
        </p:spPr>
        <p:txBody>
          <a:bodyPr wrap="square" lIns="0" tIns="0" rIns="0" bIns="0" rtlCol="0">
            <a:spAutoFit/>
          </a:bodyPr>
          <a:lstStyle/>
          <a:p>
            <a:pPr algn="l"/>
            <a:r>
              <a:rPr lang="de-DE" sz="1400" dirty="0"/>
              <a:t>Qualitätsmanagement</a:t>
            </a:r>
          </a:p>
        </p:txBody>
      </p:sp>
      <p:sp>
        <p:nvSpPr>
          <p:cNvPr id="6" name="Textfeld 5">
            <a:extLst>
              <a:ext uri="{FF2B5EF4-FFF2-40B4-BE49-F238E27FC236}">
                <a16:creationId xmlns:a16="http://schemas.microsoft.com/office/drawing/2014/main" id="{0EA2ED8C-7B6F-069C-4D67-E987CC39A77C}"/>
              </a:ext>
            </a:extLst>
          </p:cNvPr>
          <p:cNvSpPr txBox="1"/>
          <p:nvPr/>
        </p:nvSpPr>
        <p:spPr>
          <a:xfrm>
            <a:off x="6342741" y="2044390"/>
            <a:ext cx="1755216" cy="215444"/>
          </a:xfrm>
          <a:prstGeom prst="rect">
            <a:avLst/>
          </a:prstGeom>
          <a:noFill/>
        </p:spPr>
        <p:txBody>
          <a:bodyPr wrap="square" lIns="0" tIns="0" rIns="0" bIns="0" rtlCol="0">
            <a:spAutoFit/>
          </a:bodyPr>
          <a:lstStyle/>
          <a:p>
            <a:pPr algn="l"/>
            <a:r>
              <a:rPr lang="de-DE" sz="1400" dirty="0"/>
              <a:t>Softwarelösungen</a:t>
            </a:r>
          </a:p>
        </p:txBody>
      </p:sp>
      <p:sp>
        <p:nvSpPr>
          <p:cNvPr id="7" name="Textfeld 6">
            <a:extLst>
              <a:ext uri="{FF2B5EF4-FFF2-40B4-BE49-F238E27FC236}">
                <a16:creationId xmlns:a16="http://schemas.microsoft.com/office/drawing/2014/main" id="{732DD0E1-FE02-902B-2C9E-84929EC9E978}"/>
              </a:ext>
            </a:extLst>
          </p:cNvPr>
          <p:cNvSpPr txBox="1"/>
          <p:nvPr/>
        </p:nvSpPr>
        <p:spPr>
          <a:xfrm>
            <a:off x="8147829" y="2044390"/>
            <a:ext cx="2454027" cy="215444"/>
          </a:xfrm>
          <a:prstGeom prst="rect">
            <a:avLst/>
          </a:prstGeom>
          <a:noFill/>
        </p:spPr>
        <p:txBody>
          <a:bodyPr wrap="square" lIns="0" tIns="0" rIns="0" bIns="0" rtlCol="0">
            <a:spAutoFit/>
          </a:bodyPr>
          <a:lstStyle/>
          <a:p>
            <a:pPr algn="l"/>
            <a:r>
              <a:rPr lang="de-DE" sz="1400" dirty="0"/>
              <a:t>Geschäftsprozessintegration</a:t>
            </a:r>
          </a:p>
        </p:txBody>
      </p:sp>
      <p:sp>
        <p:nvSpPr>
          <p:cNvPr id="8" name="Textfeld 7">
            <a:extLst>
              <a:ext uri="{FF2B5EF4-FFF2-40B4-BE49-F238E27FC236}">
                <a16:creationId xmlns:a16="http://schemas.microsoft.com/office/drawing/2014/main" id="{B05A987D-5FA9-E42D-E5DE-879E53ADF785}"/>
              </a:ext>
            </a:extLst>
          </p:cNvPr>
          <p:cNvSpPr txBox="1"/>
          <p:nvPr/>
        </p:nvSpPr>
        <p:spPr>
          <a:xfrm>
            <a:off x="697404" y="3339636"/>
            <a:ext cx="1257129" cy="215444"/>
          </a:xfrm>
          <a:prstGeom prst="rect">
            <a:avLst/>
          </a:prstGeom>
          <a:noFill/>
        </p:spPr>
        <p:txBody>
          <a:bodyPr wrap="square" lIns="0" tIns="0" rIns="0" bIns="0" rtlCol="0">
            <a:spAutoFit/>
          </a:bodyPr>
          <a:lstStyle/>
          <a:p>
            <a:pPr algn="l"/>
            <a:r>
              <a:rPr lang="de-DE" sz="1400" dirty="0"/>
              <a:t>Energiesektor</a:t>
            </a:r>
          </a:p>
        </p:txBody>
      </p:sp>
      <p:sp>
        <p:nvSpPr>
          <p:cNvPr id="9" name="Textfeld 8">
            <a:extLst>
              <a:ext uri="{FF2B5EF4-FFF2-40B4-BE49-F238E27FC236}">
                <a16:creationId xmlns:a16="http://schemas.microsoft.com/office/drawing/2014/main" id="{160A9C72-E126-7007-0621-11C7605BFBB8}"/>
              </a:ext>
            </a:extLst>
          </p:cNvPr>
          <p:cNvSpPr txBox="1"/>
          <p:nvPr/>
        </p:nvSpPr>
        <p:spPr>
          <a:xfrm>
            <a:off x="2590889" y="3375794"/>
            <a:ext cx="1445887" cy="215444"/>
          </a:xfrm>
          <a:prstGeom prst="rect">
            <a:avLst/>
          </a:prstGeom>
          <a:noFill/>
        </p:spPr>
        <p:txBody>
          <a:bodyPr wrap="square" lIns="0" tIns="0" rIns="0" bIns="0" rtlCol="0">
            <a:spAutoFit/>
          </a:bodyPr>
          <a:lstStyle/>
          <a:p>
            <a:pPr algn="l"/>
            <a:r>
              <a:rPr lang="de-DE" sz="1400" dirty="0"/>
              <a:t>Finanzwesen</a:t>
            </a:r>
          </a:p>
        </p:txBody>
      </p:sp>
      <p:sp>
        <p:nvSpPr>
          <p:cNvPr id="10" name="Textfeld 9">
            <a:extLst>
              <a:ext uri="{FF2B5EF4-FFF2-40B4-BE49-F238E27FC236}">
                <a16:creationId xmlns:a16="http://schemas.microsoft.com/office/drawing/2014/main" id="{0FB26ABB-9877-9630-0925-1549C326A038}"/>
              </a:ext>
            </a:extLst>
          </p:cNvPr>
          <p:cNvSpPr txBox="1"/>
          <p:nvPr/>
        </p:nvSpPr>
        <p:spPr>
          <a:xfrm>
            <a:off x="4218335" y="3375794"/>
            <a:ext cx="1755216" cy="215444"/>
          </a:xfrm>
          <a:prstGeom prst="rect">
            <a:avLst/>
          </a:prstGeom>
          <a:noFill/>
        </p:spPr>
        <p:txBody>
          <a:bodyPr wrap="square" lIns="0" tIns="0" rIns="0" bIns="0" rtlCol="0">
            <a:spAutoFit/>
          </a:bodyPr>
          <a:lstStyle/>
          <a:p>
            <a:pPr algn="l"/>
            <a:r>
              <a:rPr lang="de-DE" sz="1400" dirty="0"/>
              <a:t>Gesundheitswesen</a:t>
            </a:r>
          </a:p>
        </p:txBody>
      </p:sp>
      <p:sp>
        <p:nvSpPr>
          <p:cNvPr id="11" name="Textfeld 10">
            <a:extLst>
              <a:ext uri="{FF2B5EF4-FFF2-40B4-BE49-F238E27FC236}">
                <a16:creationId xmlns:a16="http://schemas.microsoft.com/office/drawing/2014/main" id="{56475E62-3BCE-4FFF-7F93-508D8EBA6479}"/>
              </a:ext>
            </a:extLst>
          </p:cNvPr>
          <p:cNvSpPr txBox="1"/>
          <p:nvPr/>
        </p:nvSpPr>
        <p:spPr>
          <a:xfrm>
            <a:off x="6397798" y="3375794"/>
            <a:ext cx="1755216" cy="215444"/>
          </a:xfrm>
          <a:prstGeom prst="rect">
            <a:avLst/>
          </a:prstGeom>
          <a:noFill/>
        </p:spPr>
        <p:txBody>
          <a:bodyPr wrap="square" lIns="0" tIns="0" rIns="0" bIns="0" rtlCol="0">
            <a:spAutoFit/>
          </a:bodyPr>
          <a:lstStyle/>
          <a:p>
            <a:pPr algn="l"/>
            <a:r>
              <a:rPr lang="de-DE" sz="1400" dirty="0"/>
              <a:t>Öffentlicher Sektor</a:t>
            </a:r>
          </a:p>
        </p:txBody>
      </p:sp>
      <p:sp>
        <p:nvSpPr>
          <p:cNvPr id="13" name="Textfeld 12">
            <a:extLst>
              <a:ext uri="{FF2B5EF4-FFF2-40B4-BE49-F238E27FC236}">
                <a16:creationId xmlns:a16="http://schemas.microsoft.com/office/drawing/2014/main" id="{43F4FDE9-0DBD-88FF-FAB9-AACE587507B4}"/>
              </a:ext>
            </a:extLst>
          </p:cNvPr>
          <p:cNvSpPr txBox="1"/>
          <p:nvPr/>
        </p:nvSpPr>
        <p:spPr>
          <a:xfrm>
            <a:off x="482461" y="4662559"/>
            <a:ext cx="1961136" cy="215444"/>
          </a:xfrm>
          <a:prstGeom prst="rect">
            <a:avLst/>
          </a:prstGeom>
          <a:noFill/>
        </p:spPr>
        <p:txBody>
          <a:bodyPr wrap="square" lIns="0" tIns="0" rIns="0" bIns="0" rtlCol="0">
            <a:spAutoFit/>
          </a:bodyPr>
          <a:lstStyle/>
          <a:p>
            <a:pPr algn="l"/>
            <a:r>
              <a:rPr lang="de-DE" sz="1400" dirty="0"/>
              <a:t>Projektcharakteristik</a:t>
            </a:r>
          </a:p>
        </p:txBody>
      </p:sp>
      <p:sp>
        <p:nvSpPr>
          <p:cNvPr id="15" name="Textfeld 14">
            <a:extLst>
              <a:ext uri="{FF2B5EF4-FFF2-40B4-BE49-F238E27FC236}">
                <a16:creationId xmlns:a16="http://schemas.microsoft.com/office/drawing/2014/main" id="{CCF49AC3-BCA6-4922-4420-85462EDEC484}"/>
              </a:ext>
            </a:extLst>
          </p:cNvPr>
          <p:cNvSpPr txBox="1"/>
          <p:nvPr/>
        </p:nvSpPr>
        <p:spPr>
          <a:xfrm>
            <a:off x="2532468" y="4662559"/>
            <a:ext cx="1173910" cy="215444"/>
          </a:xfrm>
          <a:prstGeom prst="rect">
            <a:avLst/>
          </a:prstGeom>
          <a:noFill/>
        </p:spPr>
        <p:txBody>
          <a:bodyPr wrap="square" lIns="0" tIns="0" rIns="0" bIns="0" rtlCol="0">
            <a:spAutoFit/>
          </a:bodyPr>
          <a:lstStyle/>
          <a:p>
            <a:pPr algn="l"/>
            <a:r>
              <a:rPr lang="de-DE" sz="1400" dirty="0"/>
              <a:t>Personentage</a:t>
            </a:r>
          </a:p>
        </p:txBody>
      </p:sp>
      <p:sp>
        <p:nvSpPr>
          <p:cNvPr id="17" name="Textfeld 16">
            <a:extLst>
              <a:ext uri="{FF2B5EF4-FFF2-40B4-BE49-F238E27FC236}">
                <a16:creationId xmlns:a16="http://schemas.microsoft.com/office/drawing/2014/main" id="{EA5A31AD-606D-1C04-AE61-A119F04C9AE8}"/>
              </a:ext>
            </a:extLst>
          </p:cNvPr>
          <p:cNvSpPr txBox="1"/>
          <p:nvPr/>
        </p:nvSpPr>
        <p:spPr>
          <a:xfrm>
            <a:off x="4830859" y="4662559"/>
            <a:ext cx="596455" cy="215444"/>
          </a:xfrm>
          <a:prstGeom prst="rect">
            <a:avLst/>
          </a:prstGeom>
          <a:noFill/>
        </p:spPr>
        <p:txBody>
          <a:bodyPr wrap="square" lIns="0" tIns="0" rIns="0" bIns="0" rtlCol="0">
            <a:spAutoFit/>
          </a:bodyPr>
          <a:lstStyle/>
          <a:p>
            <a:pPr algn="l"/>
            <a:r>
              <a:rPr lang="de-DE" sz="1400" dirty="0"/>
              <a:t>Tools</a:t>
            </a:r>
          </a:p>
        </p:txBody>
      </p:sp>
      <p:sp>
        <p:nvSpPr>
          <p:cNvPr id="18" name="Textfeld 17">
            <a:extLst>
              <a:ext uri="{FF2B5EF4-FFF2-40B4-BE49-F238E27FC236}">
                <a16:creationId xmlns:a16="http://schemas.microsoft.com/office/drawing/2014/main" id="{EB4A0DB0-487D-8029-D680-54304597370A}"/>
              </a:ext>
            </a:extLst>
          </p:cNvPr>
          <p:cNvSpPr txBox="1"/>
          <p:nvPr/>
        </p:nvSpPr>
        <p:spPr>
          <a:xfrm>
            <a:off x="6769097" y="4662559"/>
            <a:ext cx="976971" cy="215444"/>
          </a:xfrm>
          <a:prstGeom prst="rect">
            <a:avLst/>
          </a:prstGeom>
          <a:noFill/>
        </p:spPr>
        <p:txBody>
          <a:bodyPr wrap="square" lIns="0" tIns="0" rIns="0" bIns="0" rtlCol="0">
            <a:spAutoFit/>
          </a:bodyPr>
          <a:lstStyle/>
          <a:p>
            <a:pPr algn="l"/>
            <a:r>
              <a:rPr lang="de-DE" sz="1400" dirty="0"/>
              <a:t>Methoden</a:t>
            </a:r>
          </a:p>
        </p:txBody>
      </p:sp>
      <p:sp>
        <p:nvSpPr>
          <p:cNvPr id="19" name="Textfeld 18">
            <a:extLst>
              <a:ext uri="{FF2B5EF4-FFF2-40B4-BE49-F238E27FC236}">
                <a16:creationId xmlns:a16="http://schemas.microsoft.com/office/drawing/2014/main" id="{38831DB7-C1DE-AAB1-3473-0DDE39586C75}"/>
              </a:ext>
            </a:extLst>
          </p:cNvPr>
          <p:cNvSpPr txBox="1"/>
          <p:nvPr/>
        </p:nvSpPr>
        <p:spPr>
          <a:xfrm>
            <a:off x="8731229" y="4662559"/>
            <a:ext cx="1182718" cy="215444"/>
          </a:xfrm>
          <a:prstGeom prst="rect">
            <a:avLst/>
          </a:prstGeom>
          <a:noFill/>
        </p:spPr>
        <p:txBody>
          <a:bodyPr wrap="square" lIns="0" tIns="0" rIns="0" bIns="0" rtlCol="0">
            <a:spAutoFit/>
          </a:bodyPr>
          <a:lstStyle/>
          <a:p>
            <a:pPr algn="l"/>
            <a:r>
              <a:rPr lang="de-DE" sz="1400" dirty="0"/>
              <a:t>Technologien</a:t>
            </a:r>
          </a:p>
        </p:txBody>
      </p:sp>
      <p:sp>
        <p:nvSpPr>
          <p:cNvPr id="20" name="Textfeld 19">
            <a:extLst>
              <a:ext uri="{FF2B5EF4-FFF2-40B4-BE49-F238E27FC236}">
                <a16:creationId xmlns:a16="http://schemas.microsoft.com/office/drawing/2014/main" id="{251DBBC7-ADF1-A495-4A18-18F4E6ED8CDF}"/>
              </a:ext>
            </a:extLst>
          </p:cNvPr>
          <p:cNvSpPr txBox="1"/>
          <p:nvPr/>
        </p:nvSpPr>
        <p:spPr>
          <a:xfrm>
            <a:off x="944020" y="5991359"/>
            <a:ext cx="891788" cy="215444"/>
          </a:xfrm>
          <a:prstGeom prst="rect">
            <a:avLst/>
          </a:prstGeom>
          <a:noFill/>
        </p:spPr>
        <p:txBody>
          <a:bodyPr wrap="square" lIns="0" tIns="0" rIns="0" bIns="0" rtlCol="0">
            <a:spAutoFit/>
          </a:bodyPr>
          <a:lstStyle/>
          <a:p>
            <a:pPr algn="l"/>
            <a:r>
              <a:rPr lang="de-DE" sz="1400" dirty="0"/>
              <a:t>Redner</a:t>
            </a:r>
          </a:p>
        </p:txBody>
      </p:sp>
      <p:sp>
        <p:nvSpPr>
          <p:cNvPr id="21" name="Textfeld 20">
            <a:extLst>
              <a:ext uri="{FF2B5EF4-FFF2-40B4-BE49-F238E27FC236}">
                <a16:creationId xmlns:a16="http://schemas.microsoft.com/office/drawing/2014/main" id="{7670092C-9685-7CB4-4483-01DEAE1A70A2}"/>
              </a:ext>
            </a:extLst>
          </p:cNvPr>
          <p:cNvSpPr txBox="1"/>
          <p:nvPr/>
        </p:nvSpPr>
        <p:spPr>
          <a:xfrm>
            <a:off x="2671811" y="5991359"/>
            <a:ext cx="1173910" cy="215444"/>
          </a:xfrm>
          <a:prstGeom prst="rect">
            <a:avLst/>
          </a:prstGeom>
          <a:noFill/>
        </p:spPr>
        <p:txBody>
          <a:bodyPr wrap="square" lIns="0" tIns="0" rIns="0" bIns="0" rtlCol="0">
            <a:spAutoFit/>
          </a:bodyPr>
          <a:lstStyle/>
          <a:p>
            <a:pPr algn="l"/>
            <a:r>
              <a:rPr lang="de-DE" sz="1400" dirty="0"/>
              <a:t>Handshake</a:t>
            </a:r>
          </a:p>
        </p:txBody>
      </p:sp>
      <p:sp>
        <p:nvSpPr>
          <p:cNvPr id="22" name="Textfeld 21">
            <a:extLst>
              <a:ext uri="{FF2B5EF4-FFF2-40B4-BE49-F238E27FC236}">
                <a16:creationId xmlns:a16="http://schemas.microsoft.com/office/drawing/2014/main" id="{D721E24B-E3F0-C129-6894-FD2F9EB38734}"/>
              </a:ext>
            </a:extLst>
          </p:cNvPr>
          <p:cNvSpPr txBox="1"/>
          <p:nvPr/>
        </p:nvSpPr>
        <p:spPr>
          <a:xfrm>
            <a:off x="4525722" y="5991359"/>
            <a:ext cx="1317506" cy="215444"/>
          </a:xfrm>
          <a:prstGeom prst="rect">
            <a:avLst/>
          </a:prstGeom>
          <a:noFill/>
        </p:spPr>
        <p:txBody>
          <a:bodyPr wrap="square" lIns="0" tIns="0" rIns="0" bIns="0" rtlCol="0">
            <a:spAutoFit/>
          </a:bodyPr>
          <a:lstStyle/>
          <a:p>
            <a:pPr algn="l"/>
            <a:r>
              <a:rPr lang="de-DE" sz="1400" dirty="0"/>
              <a:t>Mitarbeitende</a:t>
            </a:r>
          </a:p>
        </p:txBody>
      </p:sp>
      <p:sp>
        <p:nvSpPr>
          <p:cNvPr id="23" name="Textfeld 22">
            <a:extLst>
              <a:ext uri="{FF2B5EF4-FFF2-40B4-BE49-F238E27FC236}">
                <a16:creationId xmlns:a16="http://schemas.microsoft.com/office/drawing/2014/main" id="{B552EC38-ABBF-1B24-2FF9-C6225D422C96}"/>
              </a:ext>
            </a:extLst>
          </p:cNvPr>
          <p:cNvSpPr txBox="1"/>
          <p:nvPr/>
        </p:nvSpPr>
        <p:spPr>
          <a:xfrm>
            <a:off x="6675569" y="5991359"/>
            <a:ext cx="976971" cy="215444"/>
          </a:xfrm>
          <a:prstGeom prst="rect">
            <a:avLst/>
          </a:prstGeom>
          <a:noFill/>
        </p:spPr>
        <p:txBody>
          <a:bodyPr wrap="square" lIns="0" tIns="0" rIns="0" bIns="0" rtlCol="0">
            <a:spAutoFit/>
          </a:bodyPr>
          <a:lstStyle/>
          <a:p>
            <a:pPr algn="l"/>
            <a:r>
              <a:rPr lang="de-DE" sz="1400" dirty="0"/>
              <a:t>Standorte</a:t>
            </a:r>
          </a:p>
        </p:txBody>
      </p:sp>
      <p:sp>
        <p:nvSpPr>
          <p:cNvPr id="24" name="Textfeld 23">
            <a:extLst>
              <a:ext uri="{FF2B5EF4-FFF2-40B4-BE49-F238E27FC236}">
                <a16:creationId xmlns:a16="http://schemas.microsoft.com/office/drawing/2014/main" id="{D57A74CB-AA87-EC0B-1D11-FE9EEAD81175}"/>
              </a:ext>
            </a:extLst>
          </p:cNvPr>
          <p:cNvSpPr txBox="1"/>
          <p:nvPr/>
        </p:nvSpPr>
        <p:spPr>
          <a:xfrm>
            <a:off x="8731229" y="5991359"/>
            <a:ext cx="1182718" cy="215444"/>
          </a:xfrm>
          <a:prstGeom prst="rect">
            <a:avLst/>
          </a:prstGeom>
          <a:noFill/>
        </p:spPr>
        <p:txBody>
          <a:bodyPr wrap="square" lIns="0" tIns="0" rIns="0" bIns="0" rtlCol="0">
            <a:spAutoFit/>
          </a:bodyPr>
          <a:lstStyle/>
          <a:p>
            <a:pPr algn="l"/>
            <a:r>
              <a:rPr lang="de-DE" sz="1400" dirty="0"/>
              <a:t>Gründung</a:t>
            </a:r>
          </a:p>
        </p:txBody>
      </p:sp>
    </p:spTree>
    <p:extLst>
      <p:ext uri="{BB962C8B-B14F-4D97-AF65-F5344CB8AC3E}">
        <p14:creationId xmlns:p14="http://schemas.microsoft.com/office/powerpoint/2010/main" val="21390268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hteck: abgerundete Ecken 2">
            <a:extLst>
              <a:ext uri="{FF2B5EF4-FFF2-40B4-BE49-F238E27FC236}">
                <a16:creationId xmlns:a16="http://schemas.microsoft.com/office/drawing/2014/main" id="{BFE33625-0650-49CA-850E-BD635AE7D26A}"/>
              </a:ext>
            </a:extLst>
          </p:cNvPr>
          <p:cNvSpPr/>
          <p:nvPr/>
        </p:nvSpPr>
        <p:spPr>
          <a:xfrm>
            <a:off x="273537" y="3780839"/>
            <a:ext cx="5686992" cy="1154908"/>
          </a:xfrm>
          <a:prstGeom prst="round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de-CH" b="1">
              <a:solidFill>
                <a:schemeClr val="tx1"/>
              </a:solidFill>
            </a:endParaRPr>
          </a:p>
          <a:p>
            <a:endParaRPr lang="de-CH" b="1" dirty="0">
              <a:solidFill>
                <a:schemeClr val="tx1"/>
              </a:solidFill>
            </a:endParaRPr>
          </a:p>
        </p:txBody>
      </p:sp>
      <p:sp>
        <p:nvSpPr>
          <p:cNvPr id="6" name="Titel 5">
            <a:extLst>
              <a:ext uri="{FF2B5EF4-FFF2-40B4-BE49-F238E27FC236}">
                <a16:creationId xmlns:a16="http://schemas.microsoft.com/office/drawing/2014/main" id="{FDC315D3-16A5-41FC-9C7E-130EF631D9A0}"/>
              </a:ext>
            </a:extLst>
          </p:cNvPr>
          <p:cNvSpPr>
            <a:spLocks noGrp="1"/>
          </p:cNvSpPr>
          <p:nvPr>
            <p:ph type="title"/>
          </p:nvPr>
        </p:nvSpPr>
        <p:spPr/>
        <p:txBody>
          <a:bodyPr/>
          <a:lstStyle/>
          <a:p>
            <a:r>
              <a:rPr lang="de-CH"/>
              <a:t>Aufzählungszeichen</a:t>
            </a:r>
            <a:endParaRPr lang="de-CH" dirty="0"/>
          </a:p>
        </p:txBody>
      </p:sp>
      <p:sp>
        <p:nvSpPr>
          <p:cNvPr id="3" name="Datumsplatzhalter 2">
            <a:extLst>
              <a:ext uri="{FF2B5EF4-FFF2-40B4-BE49-F238E27FC236}">
                <a16:creationId xmlns:a16="http://schemas.microsoft.com/office/drawing/2014/main" id="{23A6FF06-DAC9-4333-B9E9-69861C0CA9B6}"/>
              </a:ext>
            </a:extLst>
          </p:cNvPr>
          <p:cNvSpPr>
            <a:spLocks noGrp="1"/>
          </p:cNvSpPr>
          <p:nvPr>
            <p:ph type="dt" sz="half" idx="10"/>
          </p:nvPr>
        </p:nvSpPr>
        <p:spPr/>
        <p:txBody>
          <a:bodyPr/>
          <a:lstStyle/>
          <a:p>
            <a:fld id="{CF56F820-89D3-4FDB-8A7C-80749311DF08}" type="datetime1">
              <a:rPr lang="de-CH" smtClean="0"/>
              <a:t>04.08.2026</a:t>
            </a:fld>
            <a:endParaRPr lang="de-CH" dirty="0"/>
          </a:p>
        </p:txBody>
      </p:sp>
      <p:sp>
        <p:nvSpPr>
          <p:cNvPr id="5" name="Foliennummernplatzhalter 4">
            <a:extLst>
              <a:ext uri="{FF2B5EF4-FFF2-40B4-BE49-F238E27FC236}">
                <a16:creationId xmlns:a16="http://schemas.microsoft.com/office/drawing/2014/main" id="{014AA3A7-A947-4914-9DB9-2D431B5D49DA}"/>
              </a:ext>
            </a:extLst>
          </p:cNvPr>
          <p:cNvSpPr>
            <a:spLocks noGrp="1"/>
          </p:cNvSpPr>
          <p:nvPr>
            <p:ph type="sldNum" sz="quarter" idx="12"/>
          </p:nvPr>
        </p:nvSpPr>
        <p:spPr/>
        <p:txBody>
          <a:bodyPr/>
          <a:lstStyle/>
          <a:p>
            <a:fld id="{CE7E00E2-F08D-429A-AD9B-1ECBEC02F4DB}" type="slidenum">
              <a:rPr lang="de-CH" smtClean="0"/>
              <a:t>26</a:t>
            </a:fld>
            <a:endParaRPr lang="de-CH" dirty="0"/>
          </a:p>
        </p:txBody>
      </p:sp>
      <p:sp>
        <p:nvSpPr>
          <p:cNvPr id="7" name="Inhaltsplatzhalter 6">
            <a:extLst>
              <a:ext uri="{FF2B5EF4-FFF2-40B4-BE49-F238E27FC236}">
                <a16:creationId xmlns:a16="http://schemas.microsoft.com/office/drawing/2014/main" id="{5C767D3C-62C9-4EBB-AA48-CA5C73FE959E}"/>
              </a:ext>
            </a:extLst>
          </p:cNvPr>
          <p:cNvSpPr>
            <a:spLocks noGrp="1"/>
          </p:cNvSpPr>
          <p:nvPr>
            <p:ph sz="quarter" idx="13"/>
          </p:nvPr>
        </p:nvSpPr>
        <p:spPr/>
        <p:txBody>
          <a:bodyPr/>
          <a:lstStyle/>
          <a:p>
            <a:r>
              <a:rPr lang="de-CH"/>
              <a:t>Erste Ebene</a:t>
            </a:r>
          </a:p>
          <a:p>
            <a:pPr lvl="1"/>
            <a:r>
              <a:rPr lang="de-CH"/>
              <a:t>Zweite Ebene</a:t>
            </a:r>
          </a:p>
          <a:p>
            <a:pPr lvl="2"/>
            <a:r>
              <a:rPr lang="de-CH"/>
              <a:t>Dritte Ebene</a:t>
            </a:r>
          </a:p>
          <a:p>
            <a:pPr lvl="3"/>
            <a:r>
              <a:rPr lang="de-CH"/>
              <a:t>Vierte Ebene</a:t>
            </a:r>
            <a:endParaRPr lang="de-CH" dirty="0"/>
          </a:p>
        </p:txBody>
      </p:sp>
      <p:sp>
        <p:nvSpPr>
          <p:cNvPr id="8" name="Textplatzhalter 1">
            <a:extLst>
              <a:ext uri="{FF2B5EF4-FFF2-40B4-BE49-F238E27FC236}">
                <a16:creationId xmlns:a16="http://schemas.microsoft.com/office/drawing/2014/main" id="{5A5F6BD9-2A91-430A-A008-6A6A5AB006CD}"/>
              </a:ext>
            </a:extLst>
          </p:cNvPr>
          <p:cNvSpPr txBox="1">
            <a:spLocks/>
          </p:cNvSpPr>
          <p:nvPr>
            <p:custDataLst>
              <p:tags r:id="rId1"/>
            </p:custDataLst>
          </p:nvPr>
        </p:nvSpPr>
        <p:spPr bwMode="gray">
          <a:xfrm>
            <a:off x="513929" y="3934275"/>
            <a:ext cx="5209160" cy="50783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gn="l" rtl="0" fontAlgn="base">
              <a:spcBef>
                <a:spcPts val="200"/>
              </a:spcBef>
              <a:spcAft>
                <a:spcPct val="0"/>
              </a:spcAft>
              <a:buFont typeface="Arial" charset="0"/>
              <a:defRPr sz="1100" kern="1200">
                <a:solidFill>
                  <a:schemeClr val="tx1"/>
                </a:solidFill>
                <a:latin typeface="Verdana" pitchFamily="34" charset="0"/>
                <a:ea typeface="Verdana" pitchFamily="34" charset="0"/>
                <a:cs typeface="Verdana" pitchFamily="34" charset="0"/>
              </a:defRPr>
            </a:lvl1pPr>
            <a:lvl2pPr marL="180975" indent="-180975" algn="l" rtl="0" fontAlgn="base">
              <a:spcBef>
                <a:spcPts val="200"/>
              </a:spcBef>
              <a:spcAft>
                <a:spcPct val="0"/>
              </a:spcAft>
              <a:buFont typeface="Verdana" pitchFamily="34" charset="0"/>
              <a:buChar char="•"/>
              <a:defRPr sz="1100" kern="1200">
                <a:solidFill>
                  <a:schemeClr val="tx1"/>
                </a:solidFill>
                <a:latin typeface="Verdana" pitchFamily="34" charset="0"/>
                <a:ea typeface="Verdana" pitchFamily="34" charset="0"/>
                <a:cs typeface="Verdana" pitchFamily="34" charset="0"/>
              </a:defRPr>
            </a:lvl2pPr>
            <a:lvl3pPr marL="358775" indent="-177800" algn="l" rtl="0" fontAlgn="base">
              <a:spcBef>
                <a:spcPts val="200"/>
              </a:spcBef>
              <a:spcAft>
                <a:spcPct val="0"/>
              </a:spcAft>
              <a:buFont typeface="Symbol" pitchFamily="18" charset="2"/>
              <a:buChar char="-"/>
              <a:defRPr sz="1100" kern="1200">
                <a:solidFill>
                  <a:schemeClr val="tx1"/>
                </a:solidFill>
                <a:latin typeface="Verdana" pitchFamily="34" charset="0"/>
                <a:ea typeface="Verdana" pitchFamily="34" charset="0"/>
                <a:cs typeface="Verdana" pitchFamily="34" charset="0"/>
              </a:defRPr>
            </a:lvl3pPr>
            <a:lvl4pPr marL="542925" indent="-184150" algn="l" rtl="0" fontAlgn="base">
              <a:spcBef>
                <a:spcPts val="200"/>
              </a:spcBef>
              <a:spcAft>
                <a:spcPct val="0"/>
              </a:spcAft>
              <a:buFont typeface="Symbol" pitchFamily="18" charset="2"/>
              <a:buChar char="-"/>
              <a:defRPr sz="1100" kern="1200">
                <a:solidFill>
                  <a:schemeClr val="tx1"/>
                </a:solidFill>
                <a:latin typeface="Verdana" pitchFamily="34" charset="0"/>
                <a:ea typeface="Verdana" pitchFamily="34" charset="0"/>
                <a:cs typeface="Verdana" pitchFamily="34" charset="0"/>
              </a:defRPr>
            </a:lvl4pPr>
            <a:lvl5pPr marL="717550" indent="-177800" algn="l" rtl="0" fontAlgn="base">
              <a:spcBef>
                <a:spcPts val="200"/>
              </a:spcBef>
              <a:spcAft>
                <a:spcPct val="0"/>
              </a:spcAft>
              <a:buFont typeface="Symbol" pitchFamily="18" charset="2"/>
              <a:buChar char="-"/>
              <a:defRPr sz="1100" kern="1200">
                <a:solidFill>
                  <a:schemeClr val="tx1"/>
                </a:solidFill>
                <a:latin typeface="Verdana" pitchFamily="34" charset="0"/>
                <a:ea typeface="Verdana" pitchFamily="34" charset="0"/>
                <a:cs typeface="Verdana"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lvl="1" indent="0">
              <a:buNone/>
            </a:pPr>
            <a:r>
              <a:rPr lang="de-CH">
                <a:latin typeface="Arial" pitchFamily="34" charset="0"/>
                <a:cs typeface="Arial" pitchFamily="34" charset="0"/>
              </a:rPr>
              <a:t>Nutzung eines Platzhalters nötig (nicht eines normalen Textfelds), da automatische Einrückung ausschließlich in Platzhaltern über höher/tiefer Stufen erfolgt (oder Umschalttaste + Alt + </a:t>
            </a:r>
            <a:r>
              <a:rPr lang="de-CH">
                <a:latin typeface="Arial" pitchFamily="34" charset="0"/>
                <a:cs typeface="Arial" pitchFamily="34" charset="0"/>
                <a:sym typeface="Wingdings" pitchFamily="2" charset="2"/>
              </a:rPr>
              <a:t></a:t>
            </a:r>
            <a:r>
              <a:rPr lang="de-CH">
                <a:latin typeface="Arial" pitchFamily="34" charset="0"/>
                <a:cs typeface="Arial" pitchFamily="34" charset="0"/>
              </a:rPr>
              <a:t> / </a:t>
            </a:r>
            <a:r>
              <a:rPr lang="de-CH">
                <a:latin typeface="Arial" pitchFamily="34" charset="0"/>
                <a:cs typeface="Arial" pitchFamily="34" charset="0"/>
                <a:sym typeface="Wingdings" pitchFamily="2" charset="2"/>
              </a:rPr>
              <a:t></a:t>
            </a:r>
            <a:r>
              <a:rPr lang="de-CH">
                <a:latin typeface="Arial" pitchFamily="34" charset="0"/>
                <a:cs typeface="Arial" pitchFamily="34" charset="0"/>
              </a:rPr>
              <a:t>)</a:t>
            </a:r>
            <a:endParaRPr lang="de-CH" dirty="0">
              <a:latin typeface="Arial" pitchFamily="34" charset="0"/>
              <a:cs typeface="Arial" pitchFamily="34" charset="0"/>
            </a:endParaRPr>
          </a:p>
        </p:txBody>
      </p:sp>
      <p:cxnSp>
        <p:nvCxnSpPr>
          <p:cNvPr id="9" name="Gerade Verbindung 9">
            <a:extLst>
              <a:ext uri="{FF2B5EF4-FFF2-40B4-BE49-F238E27FC236}">
                <a16:creationId xmlns:a16="http://schemas.microsoft.com/office/drawing/2014/main" id="{A5F982AE-CAFD-412C-876A-E0DD923B4A8F}"/>
              </a:ext>
            </a:extLst>
          </p:cNvPr>
          <p:cNvCxnSpPr>
            <a:cxnSpLocks/>
          </p:cNvCxnSpPr>
          <p:nvPr>
            <p:custDataLst>
              <p:tags r:id="rId2"/>
            </p:custDataLst>
          </p:nvPr>
        </p:nvCxnSpPr>
        <p:spPr bwMode="gray">
          <a:xfrm flipV="1">
            <a:off x="538189" y="2182483"/>
            <a:ext cx="0" cy="1661304"/>
          </a:xfrm>
          <a:prstGeom prst="line">
            <a:avLst/>
          </a:prstGeom>
          <a:ln w="12700">
            <a:solidFill>
              <a:srgbClr val="CC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Gerade Verbindung 10">
            <a:extLst>
              <a:ext uri="{FF2B5EF4-FFF2-40B4-BE49-F238E27FC236}">
                <a16:creationId xmlns:a16="http://schemas.microsoft.com/office/drawing/2014/main" id="{E69E62DF-2714-4436-93C4-F05052366EE5}"/>
              </a:ext>
            </a:extLst>
          </p:cNvPr>
          <p:cNvCxnSpPr/>
          <p:nvPr>
            <p:custDataLst>
              <p:tags r:id="rId3"/>
            </p:custDataLst>
          </p:nvPr>
        </p:nvCxnSpPr>
        <p:spPr bwMode="gray">
          <a:xfrm flipV="1">
            <a:off x="741193" y="2688880"/>
            <a:ext cx="0" cy="1154908"/>
          </a:xfrm>
          <a:prstGeom prst="line">
            <a:avLst/>
          </a:prstGeom>
          <a:ln w="12700">
            <a:solidFill>
              <a:srgbClr val="CC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 name="Rechteck 10">
            <a:extLst>
              <a:ext uri="{FF2B5EF4-FFF2-40B4-BE49-F238E27FC236}">
                <a16:creationId xmlns:a16="http://schemas.microsoft.com/office/drawing/2014/main" id="{4BC93934-237E-4E64-AEF4-A6A65F9DC2B5}"/>
              </a:ext>
            </a:extLst>
          </p:cNvPr>
          <p:cNvSpPr/>
          <p:nvPr/>
        </p:nvSpPr>
        <p:spPr bwMode="gray">
          <a:xfrm>
            <a:off x="5113146" y="4280181"/>
            <a:ext cx="648998" cy="32385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36000" rIns="72000" bIns="36000" numCol="1" spcCol="0" rtlCol="0" fromWordArt="0" anchor="t" anchorCtr="0" forceAA="0" compatLnSpc="1">
            <a:prstTxWarp prst="textNoShape">
              <a:avLst/>
            </a:prstTxWarp>
            <a:noAutofit/>
          </a:bodyPr>
          <a:lstStyle/>
          <a:p>
            <a:pPr algn="ctr"/>
            <a:endParaRPr lang="de-CH" sz="1000" dirty="0" err="1">
              <a:solidFill>
                <a:schemeClr val="tx1"/>
              </a:solidFill>
              <a:latin typeface="Arial" pitchFamily="34" charset="0"/>
              <a:ea typeface="Verdana" pitchFamily="34" charset="0"/>
              <a:cs typeface="Arial" pitchFamily="34" charset="0"/>
            </a:endParaRPr>
          </a:p>
        </p:txBody>
      </p:sp>
      <p:cxnSp>
        <p:nvCxnSpPr>
          <p:cNvPr id="12" name="Gerade Verbindung 14">
            <a:extLst>
              <a:ext uri="{FF2B5EF4-FFF2-40B4-BE49-F238E27FC236}">
                <a16:creationId xmlns:a16="http://schemas.microsoft.com/office/drawing/2014/main" id="{B33F0C9C-2CDE-4C8F-AE51-91EC380E174A}"/>
              </a:ext>
            </a:extLst>
          </p:cNvPr>
          <p:cNvCxnSpPr>
            <a:cxnSpLocks/>
          </p:cNvCxnSpPr>
          <p:nvPr>
            <p:custDataLst>
              <p:tags r:id="rId4"/>
            </p:custDataLst>
          </p:nvPr>
        </p:nvCxnSpPr>
        <p:spPr bwMode="gray">
          <a:xfrm>
            <a:off x="2652128" y="4371843"/>
            <a:ext cx="2343852" cy="0"/>
          </a:xfrm>
          <a:prstGeom prst="line">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13" name="Grafik 12">
            <a:extLst>
              <a:ext uri="{FF2B5EF4-FFF2-40B4-BE49-F238E27FC236}">
                <a16:creationId xmlns:a16="http://schemas.microsoft.com/office/drawing/2014/main" id="{899C2585-F873-4612-8D1C-B3525FC4E434}"/>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5185617" y="4336553"/>
            <a:ext cx="504056" cy="224739"/>
          </a:xfrm>
          <a:prstGeom prst="rect">
            <a:avLst/>
          </a:prstGeom>
        </p:spPr>
      </p:pic>
    </p:spTree>
    <p:extLst>
      <p:ext uri="{BB962C8B-B14F-4D97-AF65-F5344CB8AC3E}">
        <p14:creationId xmlns:p14="http://schemas.microsoft.com/office/powerpoint/2010/main" val="24339970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B5AD07-058A-4D37-89B2-176D0FD92D7A}"/>
              </a:ext>
            </a:extLst>
          </p:cNvPr>
          <p:cNvSpPr>
            <a:spLocks noGrp="1"/>
          </p:cNvSpPr>
          <p:nvPr>
            <p:ph type="title"/>
          </p:nvPr>
        </p:nvSpPr>
        <p:spPr/>
        <p:txBody>
          <a:bodyPr/>
          <a:lstStyle/>
          <a:p>
            <a:r>
              <a:rPr lang="de-CH" dirty="0"/>
              <a:t>Der Folientitel</a:t>
            </a:r>
          </a:p>
        </p:txBody>
      </p:sp>
      <p:sp>
        <p:nvSpPr>
          <p:cNvPr id="3" name="Datumsplatzhalter 2">
            <a:extLst>
              <a:ext uri="{FF2B5EF4-FFF2-40B4-BE49-F238E27FC236}">
                <a16:creationId xmlns:a16="http://schemas.microsoft.com/office/drawing/2014/main" id="{A7B3095A-7300-46B2-B899-9F8618E4A21A}"/>
              </a:ext>
            </a:extLst>
          </p:cNvPr>
          <p:cNvSpPr>
            <a:spLocks noGrp="1"/>
          </p:cNvSpPr>
          <p:nvPr>
            <p:ph type="dt" sz="half" idx="10"/>
          </p:nvPr>
        </p:nvSpPr>
        <p:spPr/>
        <p:txBody>
          <a:bodyPr/>
          <a:lstStyle/>
          <a:p>
            <a:fld id="{04381471-EE2E-49E3-AAA9-FECB7D268E6C}" type="datetime1">
              <a:rPr lang="de-CH" smtClean="0"/>
              <a:t>04.08.2026</a:t>
            </a:fld>
            <a:endParaRPr lang="de-CH" dirty="0"/>
          </a:p>
        </p:txBody>
      </p:sp>
      <p:sp>
        <p:nvSpPr>
          <p:cNvPr id="5" name="Foliennummernplatzhalter 4">
            <a:extLst>
              <a:ext uri="{FF2B5EF4-FFF2-40B4-BE49-F238E27FC236}">
                <a16:creationId xmlns:a16="http://schemas.microsoft.com/office/drawing/2014/main" id="{66365162-B6EE-42B9-AABE-0300271D7704}"/>
              </a:ext>
            </a:extLst>
          </p:cNvPr>
          <p:cNvSpPr>
            <a:spLocks noGrp="1"/>
          </p:cNvSpPr>
          <p:nvPr>
            <p:ph type="sldNum" sz="quarter" idx="12"/>
          </p:nvPr>
        </p:nvSpPr>
        <p:spPr/>
        <p:txBody>
          <a:bodyPr/>
          <a:lstStyle/>
          <a:p>
            <a:fld id="{CE7E00E2-F08D-429A-AD9B-1ECBEC02F4DB}" type="slidenum">
              <a:rPr lang="de-CH" smtClean="0"/>
              <a:t>27</a:t>
            </a:fld>
            <a:endParaRPr lang="de-CH" dirty="0"/>
          </a:p>
        </p:txBody>
      </p:sp>
      <p:sp>
        <p:nvSpPr>
          <p:cNvPr id="6" name="Inhaltsplatzhalter 5">
            <a:extLst>
              <a:ext uri="{FF2B5EF4-FFF2-40B4-BE49-F238E27FC236}">
                <a16:creationId xmlns:a16="http://schemas.microsoft.com/office/drawing/2014/main" id="{F41BD534-3907-4227-894D-38DF2EF1619A}"/>
              </a:ext>
            </a:extLst>
          </p:cNvPr>
          <p:cNvSpPr>
            <a:spLocks noGrp="1"/>
          </p:cNvSpPr>
          <p:nvPr>
            <p:ph sz="quarter" idx="13"/>
          </p:nvPr>
        </p:nvSpPr>
        <p:spPr>
          <a:solidFill>
            <a:schemeClr val="accent4">
              <a:lumMod val="40000"/>
              <a:lumOff val="60000"/>
            </a:schemeClr>
          </a:solidFill>
        </p:spPr>
        <p:txBody>
          <a:bodyPr/>
          <a:lstStyle/>
          <a:p>
            <a:r>
              <a:rPr lang="de-CH" dirty="0"/>
              <a:t>Maximale Fläche für Inhalt. </a:t>
            </a:r>
          </a:p>
          <a:p>
            <a:r>
              <a:rPr lang="de-CH" dirty="0"/>
              <a:t>Führungslinien mit Alt + F9 einblenden</a:t>
            </a:r>
          </a:p>
        </p:txBody>
      </p:sp>
    </p:spTree>
    <p:extLst>
      <p:ext uri="{BB962C8B-B14F-4D97-AF65-F5344CB8AC3E}">
        <p14:creationId xmlns:p14="http://schemas.microsoft.com/office/powerpoint/2010/main" val="7238498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5F0DFE3-9199-426C-8343-A6C0A66C84AD}"/>
              </a:ext>
            </a:extLst>
          </p:cNvPr>
          <p:cNvSpPr>
            <a:spLocks noGrp="1"/>
          </p:cNvSpPr>
          <p:nvPr>
            <p:ph type="title"/>
          </p:nvPr>
        </p:nvSpPr>
        <p:spPr/>
        <p:txBody>
          <a:bodyPr/>
          <a:lstStyle/>
          <a:p>
            <a:r>
              <a:rPr lang="de-CH" dirty="0"/>
              <a:t>Farbwelt</a:t>
            </a:r>
          </a:p>
        </p:txBody>
      </p:sp>
      <p:sp>
        <p:nvSpPr>
          <p:cNvPr id="4" name="Rechteck 3">
            <a:extLst>
              <a:ext uri="{FF2B5EF4-FFF2-40B4-BE49-F238E27FC236}">
                <a16:creationId xmlns:a16="http://schemas.microsoft.com/office/drawing/2014/main" id="{8D6FFEDE-3FA9-4A2C-8FF9-735B6244BC18}"/>
              </a:ext>
            </a:extLst>
          </p:cNvPr>
          <p:cNvSpPr/>
          <p:nvPr/>
        </p:nvSpPr>
        <p:spPr>
          <a:xfrm>
            <a:off x="6215185" y="4173178"/>
            <a:ext cx="787227" cy="78722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5" name="Rechteck 4">
            <a:extLst>
              <a:ext uri="{FF2B5EF4-FFF2-40B4-BE49-F238E27FC236}">
                <a16:creationId xmlns:a16="http://schemas.microsoft.com/office/drawing/2014/main" id="{D300109D-18C9-413E-8294-4A4B91C9DB75}"/>
              </a:ext>
            </a:extLst>
          </p:cNvPr>
          <p:cNvSpPr/>
          <p:nvPr/>
        </p:nvSpPr>
        <p:spPr>
          <a:xfrm>
            <a:off x="8829957" y="2656393"/>
            <a:ext cx="787227" cy="78722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6" name="Rechteck 5">
            <a:extLst>
              <a:ext uri="{FF2B5EF4-FFF2-40B4-BE49-F238E27FC236}">
                <a16:creationId xmlns:a16="http://schemas.microsoft.com/office/drawing/2014/main" id="{E83E098A-08FA-48AC-B6D2-0BC9511B2714}"/>
              </a:ext>
            </a:extLst>
          </p:cNvPr>
          <p:cNvSpPr/>
          <p:nvPr/>
        </p:nvSpPr>
        <p:spPr>
          <a:xfrm>
            <a:off x="504117" y="2639690"/>
            <a:ext cx="787227" cy="787227"/>
          </a:xfrm>
          <a:prstGeom prst="rect">
            <a:avLst/>
          </a:prstGeom>
          <a:solidFill>
            <a:srgbClr val="C60C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7" name="Rechteck 6">
            <a:extLst>
              <a:ext uri="{FF2B5EF4-FFF2-40B4-BE49-F238E27FC236}">
                <a16:creationId xmlns:a16="http://schemas.microsoft.com/office/drawing/2014/main" id="{37251CA9-DA09-4BFF-BE61-3C917D0BB74E}"/>
              </a:ext>
            </a:extLst>
          </p:cNvPr>
          <p:cNvSpPr/>
          <p:nvPr/>
        </p:nvSpPr>
        <p:spPr>
          <a:xfrm>
            <a:off x="7528366" y="2639690"/>
            <a:ext cx="787227" cy="78722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8" name="Rechteck 7">
            <a:extLst>
              <a:ext uri="{FF2B5EF4-FFF2-40B4-BE49-F238E27FC236}">
                <a16:creationId xmlns:a16="http://schemas.microsoft.com/office/drawing/2014/main" id="{25F530E5-F3D5-496C-BA9B-C892C7888C3F}"/>
              </a:ext>
            </a:extLst>
          </p:cNvPr>
          <p:cNvSpPr/>
          <p:nvPr/>
        </p:nvSpPr>
        <p:spPr>
          <a:xfrm>
            <a:off x="10118850" y="2656393"/>
            <a:ext cx="787227" cy="7872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9" name="Rechteck 8">
            <a:extLst>
              <a:ext uri="{FF2B5EF4-FFF2-40B4-BE49-F238E27FC236}">
                <a16:creationId xmlns:a16="http://schemas.microsoft.com/office/drawing/2014/main" id="{6DDF2B32-D85A-43C7-BB57-5234B797C8DD}"/>
              </a:ext>
            </a:extLst>
          </p:cNvPr>
          <p:cNvSpPr/>
          <p:nvPr/>
        </p:nvSpPr>
        <p:spPr>
          <a:xfrm>
            <a:off x="6215185" y="2639690"/>
            <a:ext cx="787227" cy="78722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10" name="Rechteck 9">
            <a:extLst>
              <a:ext uri="{FF2B5EF4-FFF2-40B4-BE49-F238E27FC236}">
                <a16:creationId xmlns:a16="http://schemas.microsoft.com/office/drawing/2014/main" id="{B3513810-D12A-433A-A52F-50280D1CC5A2}"/>
              </a:ext>
            </a:extLst>
          </p:cNvPr>
          <p:cNvSpPr/>
          <p:nvPr/>
        </p:nvSpPr>
        <p:spPr>
          <a:xfrm>
            <a:off x="1811877" y="2639690"/>
            <a:ext cx="787227" cy="787227"/>
          </a:xfrm>
          <a:prstGeom prst="rect">
            <a:avLst/>
          </a:prstGeom>
          <a:solidFill>
            <a:srgbClr val="2D3F4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11" name="Textfeld 10">
            <a:extLst>
              <a:ext uri="{FF2B5EF4-FFF2-40B4-BE49-F238E27FC236}">
                <a16:creationId xmlns:a16="http://schemas.microsoft.com/office/drawing/2014/main" id="{95911406-E6F5-4DAF-8650-88F4E05D5F60}"/>
              </a:ext>
            </a:extLst>
          </p:cNvPr>
          <p:cNvSpPr txBox="1"/>
          <p:nvPr/>
        </p:nvSpPr>
        <p:spPr>
          <a:xfrm>
            <a:off x="489377" y="1881188"/>
            <a:ext cx="1952458" cy="369332"/>
          </a:xfrm>
          <a:prstGeom prst="rect">
            <a:avLst/>
          </a:prstGeom>
          <a:noFill/>
        </p:spPr>
        <p:txBody>
          <a:bodyPr wrap="none" lIns="0" tIns="0" rIns="0" bIns="0" rtlCol="0">
            <a:spAutoFit/>
          </a:bodyPr>
          <a:lstStyle/>
          <a:p>
            <a:r>
              <a:rPr lang="de-CH" sz="2400" dirty="0"/>
              <a:t>3 Hauptfarben</a:t>
            </a:r>
          </a:p>
        </p:txBody>
      </p:sp>
      <p:sp>
        <p:nvSpPr>
          <p:cNvPr id="12" name="Textfeld 11">
            <a:extLst>
              <a:ext uri="{FF2B5EF4-FFF2-40B4-BE49-F238E27FC236}">
                <a16:creationId xmlns:a16="http://schemas.microsoft.com/office/drawing/2014/main" id="{A8345852-BB0A-4FD0-A137-C2215AA8087B}"/>
              </a:ext>
            </a:extLst>
          </p:cNvPr>
          <p:cNvSpPr txBox="1"/>
          <p:nvPr/>
        </p:nvSpPr>
        <p:spPr>
          <a:xfrm>
            <a:off x="6203950" y="1905773"/>
            <a:ext cx="2311530" cy="369332"/>
          </a:xfrm>
          <a:prstGeom prst="rect">
            <a:avLst/>
          </a:prstGeom>
          <a:noFill/>
        </p:spPr>
        <p:txBody>
          <a:bodyPr wrap="none" lIns="0" tIns="0" rIns="0" bIns="0" rtlCol="0">
            <a:spAutoFit/>
          </a:bodyPr>
          <a:lstStyle/>
          <a:p>
            <a:r>
              <a:rPr lang="de-CH" sz="2400"/>
              <a:t>7 weitere Farben</a:t>
            </a:r>
            <a:endParaRPr lang="de-CH" sz="2400" dirty="0"/>
          </a:p>
        </p:txBody>
      </p:sp>
      <p:sp>
        <p:nvSpPr>
          <p:cNvPr id="13" name="Rechteck 12">
            <a:extLst>
              <a:ext uri="{FF2B5EF4-FFF2-40B4-BE49-F238E27FC236}">
                <a16:creationId xmlns:a16="http://schemas.microsoft.com/office/drawing/2014/main" id="{08A8A5D2-DDB4-4D79-9F4D-16F5A585978F}"/>
              </a:ext>
            </a:extLst>
          </p:cNvPr>
          <p:cNvSpPr/>
          <p:nvPr/>
        </p:nvSpPr>
        <p:spPr>
          <a:xfrm>
            <a:off x="8841547" y="4197368"/>
            <a:ext cx="787227" cy="787227"/>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14" name="Rechteck 13">
            <a:extLst>
              <a:ext uri="{FF2B5EF4-FFF2-40B4-BE49-F238E27FC236}">
                <a16:creationId xmlns:a16="http://schemas.microsoft.com/office/drawing/2014/main" id="{0AE5095D-4F5C-4BFB-8B43-96821CCDA734}"/>
              </a:ext>
            </a:extLst>
          </p:cNvPr>
          <p:cNvSpPr/>
          <p:nvPr/>
        </p:nvSpPr>
        <p:spPr>
          <a:xfrm>
            <a:off x="3113468" y="2639690"/>
            <a:ext cx="787227" cy="78722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15" name="Rechteck 14">
            <a:extLst>
              <a:ext uri="{FF2B5EF4-FFF2-40B4-BE49-F238E27FC236}">
                <a16:creationId xmlns:a16="http://schemas.microsoft.com/office/drawing/2014/main" id="{EE034D7C-F684-46BB-8A3C-D3C0391A239A}"/>
              </a:ext>
            </a:extLst>
          </p:cNvPr>
          <p:cNvSpPr/>
          <p:nvPr/>
        </p:nvSpPr>
        <p:spPr>
          <a:xfrm>
            <a:off x="7528366" y="4197368"/>
            <a:ext cx="787227" cy="78722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16" name="Datumsplatzhalter 15">
            <a:extLst>
              <a:ext uri="{FF2B5EF4-FFF2-40B4-BE49-F238E27FC236}">
                <a16:creationId xmlns:a16="http://schemas.microsoft.com/office/drawing/2014/main" id="{72CA99CC-CF12-4C2F-9402-765E9C9D1955}"/>
              </a:ext>
            </a:extLst>
          </p:cNvPr>
          <p:cNvSpPr>
            <a:spLocks noGrp="1"/>
          </p:cNvSpPr>
          <p:nvPr>
            <p:ph type="dt" sz="half" idx="10"/>
          </p:nvPr>
        </p:nvSpPr>
        <p:spPr/>
        <p:txBody>
          <a:bodyPr/>
          <a:lstStyle/>
          <a:p>
            <a:fld id="{4CF53D05-B946-4A1F-90E1-738FFFA348C9}" type="datetime1">
              <a:rPr lang="de-CH" smtClean="0"/>
              <a:t>04.08.2026</a:t>
            </a:fld>
            <a:endParaRPr lang="de-CH" dirty="0"/>
          </a:p>
        </p:txBody>
      </p:sp>
      <p:sp>
        <p:nvSpPr>
          <p:cNvPr id="18" name="Foliennummernplatzhalter 17">
            <a:extLst>
              <a:ext uri="{FF2B5EF4-FFF2-40B4-BE49-F238E27FC236}">
                <a16:creationId xmlns:a16="http://schemas.microsoft.com/office/drawing/2014/main" id="{BC18F736-23A9-4713-8D74-8B7B36456FED}"/>
              </a:ext>
            </a:extLst>
          </p:cNvPr>
          <p:cNvSpPr>
            <a:spLocks noGrp="1"/>
          </p:cNvSpPr>
          <p:nvPr>
            <p:ph type="sldNum" sz="quarter" idx="12"/>
          </p:nvPr>
        </p:nvSpPr>
        <p:spPr/>
        <p:txBody>
          <a:bodyPr/>
          <a:lstStyle/>
          <a:p>
            <a:fld id="{CE7E00E2-F08D-429A-AD9B-1ECBEC02F4DB}" type="slidenum">
              <a:rPr lang="de-CH" smtClean="0"/>
              <a:t>28</a:t>
            </a:fld>
            <a:endParaRPr lang="de-CH" dirty="0"/>
          </a:p>
        </p:txBody>
      </p:sp>
    </p:spTree>
    <p:extLst>
      <p:ext uri="{BB962C8B-B14F-4D97-AF65-F5344CB8AC3E}">
        <p14:creationId xmlns:p14="http://schemas.microsoft.com/office/powerpoint/2010/main" val="30199437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pGMiMPoLFkkeijbk17BM5xw"/>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pavwgjMXt90alFq4BRBKSEQ"/>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pWileQdXaokqJtF7rtz4.5w"/>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9r89M5d2Ek6x__AjEVTUbw"/>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AKROS_Firmenpräsentation</Template>
  <TotalTime>0</TotalTime>
  <Words>2583</Words>
  <Application>Microsoft Office PowerPoint</Application>
  <PresentationFormat>Breitbild</PresentationFormat>
  <Paragraphs>451</Paragraphs>
  <Slides>28</Slides>
  <Notes>13</Notes>
  <HiddenSlides>1</HiddenSlides>
  <MMClips>0</MMClips>
  <ScaleCrop>false</ScaleCrop>
  <HeadingPairs>
    <vt:vector size="8" baseType="variant">
      <vt:variant>
        <vt:lpstr>Verwendete Schriftarten</vt:lpstr>
      </vt:variant>
      <vt:variant>
        <vt:i4>1</vt:i4>
      </vt:variant>
      <vt:variant>
        <vt:lpstr>Design</vt:lpstr>
      </vt:variant>
      <vt:variant>
        <vt:i4>1</vt:i4>
      </vt:variant>
      <vt:variant>
        <vt:lpstr>Eingebettete OLE-Server</vt:lpstr>
      </vt:variant>
      <vt:variant>
        <vt:i4>1</vt:i4>
      </vt:variant>
      <vt:variant>
        <vt:lpstr>Folientitel</vt:lpstr>
      </vt:variant>
      <vt:variant>
        <vt:i4>28</vt:i4>
      </vt:variant>
    </vt:vector>
  </HeadingPairs>
  <TitlesOfParts>
    <vt:vector size="31" baseType="lpstr">
      <vt:lpstr>Arial</vt:lpstr>
      <vt:lpstr>AKROS</vt:lpstr>
      <vt:lpstr>think-cell Folie</vt:lpstr>
      <vt:lpstr>Tipps und Tricks</vt:lpstr>
      <vt:lpstr>Trennfolie ohne Bild</vt:lpstr>
      <vt:lpstr>Retrieval-Augmented Generator (RAG)</vt:lpstr>
      <vt:lpstr>Agenda</vt:lpstr>
      <vt:lpstr>Was ist RAG?</vt:lpstr>
      <vt:lpstr>Reine LLMs haben drei blinde Flecken</vt:lpstr>
      <vt:lpstr>RAG verschiebt die Aufgabe</vt:lpstr>
      <vt:lpstr>Bausteine eines guten LLM-Contexts</vt:lpstr>
      <vt:lpstr>Vier Bausteine formen den LLM-Kontext</vt:lpstr>
      <vt:lpstr>Vom Modellaufruf zum messbaren RAG</vt:lpstr>
      <vt:lpstr>PowerPoint-Präsentation</vt:lpstr>
      <vt:lpstr>Das Repository macht jede Stufe sichtbar</vt:lpstr>
      <vt:lpstr>Hands-on</vt:lpstr>
      <vt:lpstr>Advanced RAG</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Vielen Dank für Ihr Interesse!</vt:lpstr>
      <vt:lpstr>«Alles Gescheite ist schon gedacht worden, man muss nur versuchen, es noch einmal zu denken!»</vt:lpstr>
      <vt:lpstr>Icons</vt:lpstr>
      <vt:lpstr>Aufzählungszeichen</vt:lpstr>
      <vt:lpstr>Der Folientitel</vt:lpstr>
      <vt:lpstr>Farbwelt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Mehltretter Stephanie</cp:lastModifiedBy>
  <cp:revision>8</cp:revision>
  <dcterms:created xsi:type="dcterms:W3CDTF">2026-08-04T12:09:36Z</dcterms:created>
  <dcterms:modified xsi:type="dcterms:W3CDTF">2026-08-04T17:45:15Z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ies>
</file>