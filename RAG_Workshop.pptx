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4" d="100"/>
          <a:sy n="104" d="100"/>
        </p:scale>
        <p:origin x="69" y="20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0.jp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grpSp>
        <p:nvGrpSpPr>
          <p:cNvPr id="146" name="Gruppe Raw Data Files"/>
          <p:cNvGrpSpPr/>
          <p:nvPr/>
        </p:nvGrpSpPr>
        <p:grpSpPr>
          <a:xfrm>
            <a:off x="660215" y="5142674"/>
            <a:ext cx="1368000" cy="867600"/>
            <a:chOff x="660215" y="5142674"/>
            <a:chExt cx="1368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60215" y="5142674"/>
              <a:ext cx="13680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p:cNvSpPr>
            <p:nvPr/>
          </p:nvSpPr>
          <p:spPr>
            <a:xfrm>
              <a:off x="660215" y="5161353"/>
              <a:ext cx="136800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60215" y="5438352"/>
              <a:ext cx="13680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3"/>
            <a:stretch>
              <a:fillRect/>
            </a:stretch>
          </p:blipFill>
          <p:spPr>
            <a:xfrm flipH="1">
              <a:off x="1136680" y="5502557"/>
              <a:ext cx="415070" cy="480063"/>
            </a:xfrm>
            <a:prstGeom prst="rect">
              <a:avLst/>
            </a:prstGeom>
          </p:spPr>
        </p:pic>
      </p:grpSp>
      <p:grpSp>
        <p:nvGrpSpPr>
          <p:cNvPr id="147" name="Gruppe Query"/>
          <p:cNvGrpSpPr/>
          <p:nvPr/>
        </p:nvGrpSpPr>
        <p:grpSpPr>
          <a:xfrm>
            <a:off x="10232840" y="1570799"/>
            <a:ext cx="1368000" cy="867600"/>
            <a:chOff x="10232840" y="1570799"/>
            <a:chExt cx="1368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232840" y="1570799"/>
              <a:ext cx="1368000" cy="867600"/>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stretch>
              <a:fillRect/>
            </a:stretch>
          </p:blipFill>
          <p:spPr>
            <a:xfrm>
              <a:off x="10611908" y="1866477"/>
              <a:ext cx="609864"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p:cNvSpPr>
            <p:nvPr/>
          </p:nvSpPr>
          <p:spPr>
            <a:xfrm>
              <a:off x="10232840" y="1589478"/>
              <a:ext cx="1368000" cy="276999"/>
            </a:xfrm>
            <a:prstGeom prst="rect">
              <a:avLst/>
            </a:prstGeom>
            <a:noFill/>
          </p:spPr>
          <p:txBody>
            <a:bodyPr wrap="square">
              <a:spAutoFit/>
            </a:bodyPr>
            <a:lstStyle/>
            <a:p>
              <a:pPr algn="ctr">
                <a:buNone/>
              </a:pPr>
              <a:r>
                <a:rPr sz="1200">
                  <a:solidFill>
                    <a:schemeClr val="bg1"/>
                  </a:solidFill>
                </a:rPr>
                <a:t>Query</a:t>
              </a:r>
            </a:p>
          </p:txBody>
        </p:sp>
      </p:grpSp>
      <p:grpSp>
        <p:nvGrpSpPr>
          <p:cNvPr id="148" name="Gruppe Response"/>
          <p:cNvGrpSpPr/>
          <p:nvPr/>
        </p:nvGrpSpPr>
        <p:grpSpPr>
          <a:xfrm>
            <a:off x="10232840" y="5161353"/>
            <a:ext cx="1368000" cy="867600"/>
            <a:chOff x="10232840" y="5161353"/>
            <a:chExt cx="1368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232840" y="5161353"/>
              <a:ext cx="1368000" cy="867600"/>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5"/>
            <a:stretch>
              <a:fillRect/>
            </a:stretch>
          </p:blipFill>
          <p:spPr>
            <a:xfrm flipH="1">
              <a:off x="10609408" y="5445025"/>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p:cNvSpPr>
            <p:nvPr/>
          </p:nvSpPr>
          <p:spPr>
            <a:xfrm>
              <a:off x="10232840" y="5180032"/>
              <a:ext cx="1368000" cy="276999"/>
            </a:xfrm>
            <a:prstGeom prst="rect">
              <a:avLst/>
            </a:prstGeom>
            <a:noFill/>
          </p:spPr>
          <p:txBody>
            <a:bodyPr wrap="square">
              <a:spAutoFit/>
            </a:bodyPr>
            <a:lstStyle/>
            <a:p>
              <a:pPr algn="ctr">
                <a:buNone/>
              </a:pPr>
              <a:r>
                <a:rPr sz="1200">
                  <a:solidFill>
                    <a:schemeClr val="bg1"/>
                  </a:solidFill>
                </a:rPr>
                <a:t>Response</a:t>
              </a:r>
            </a:p>
          </p:txBody>
        </p:sp>
      </p:grpSp>
      <p:grpSp>
        <p:nvGrpSpPr>
          <p:cNvPr id="149" name="Gruppe Information Extraction"/>
          <p:cNvGrpSpPr/>
          <p:nvPr/>
        </p:nvGrpSpPr>
        <p:grpSpPr>
          <a:xfrm>
            <a:off x="658908" y="3952049"/>
            <a:ext cx="1368000" cy="867600"/>
            <a:chOff x="658908" y="3952049"/>
            <a:chExt cx="1368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58908" y="3952049"/>
              <a:ext cx="13680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6"/>
            <a:stretch>
              <a:fillRect/>
            </a:stretch>
          </p:blipFill>
          <p:spPr>
            <a:xfrm flipH="1">
              <a:off x="1109228" y="4247727"/>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p:cNvSpPr>
            <p:nvPr/>
          </p:nvSpPr>
          <p:spPr>
            <a:xfrm>
              <a:off x="658908" y="3970728"/>
              <a:ext cx="1368000" cy="276999"/>
            </a:xfrm>
            <a:prstGeom prst="rect">
              <a:avLst/>
            </a:prstGeom>
            <a:noFill/>
          </p:spPr>
          <p:txBody>
            <a:bodyPr wrap="square">
              <a:spAutoFit/>
            </a:bodyPr>
            <a:lstStyle/>
            <a:p>
              <a:pPr algn="ctr">
                <a:buNone/>
              </a:pPr>
              <a:r>
                <a:rPr lang="de-CH" sz="1200" dirty="0"/>
                <a:t>Relevant Data</a:t>
              </a:r>
              <a:endParaRPr sz="1200" dirty="0"/>
            </a:p>
          </p:txBody>
        </p:sp>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58908" y="4247727"/>
              <a:ext cx="13680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0" name="Gruppe Chunking"/>
          <p:cNvGrpSpPr/>
          <p:nvPr/>
        </p:nvGrpSpPr>
        <p:grpSpPr>
          <a:xfrm>
            <a:off x="660215" y="2761424"/>
            <a:ext cx="1368000" cy="867600"/>
            <a:chOff x="660215" y="2761424"/>
            <a:chExt cx="1368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60215" y="2761424"/>
              <a:ext cx="13680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8" name="Textfeld 60">
              <a:extLst>
                <a:ext uri="{FF2B5EF4-FFF2-40B4-BE49-F238E27FC236}">
                  <a16:creationId xmlns:a16="http://schemas.microsoft.com/office/drawing/2014/main" id="{9300C327-65D2-42BB-19E9-6CBA235D48A3}"/>
                </a:ext>
              </a:extLst>
            </p:cNvPr>
            <p:cNvSpPr>
              <a:spLocks/>
            </p:cNvSpPr>
            <p:nvPr/>
          </p:nvSpPr>
          <p:spPr>
            <a:xfrm>
              <a:off x="660215" y="2780103"/>
              <a:ext cx="136800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60215" y="3054078"/>
              <a:ext cx="13680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7"/>
            <a:stretch>
              <a:fillRect/>
            </a:stretch>
          </p:blipFill>
          <p:spPr>
            <a:xfrm>
              <a:off x="1086582" y="3153285"/>
              <a:ext cx="515265" cy="403725"/>
            </a:xfrm>
            <a:prstGeom prst="rect">
              <a:avLst/>
            </a:prstGeom>
          </p:spPr>
        </p:pic>
      </p:grpSp>
      <p:grpSp>
        <p:nvGrpSpPr>
          <p:cNvPr id="151" name="Gruppe Embedding"/>
          <p:cNvGrpSpPr/>
          <p:nvPr/>
        </p:nvGrpSpPr>
        <p:grpSpPr>
          <a:xfrm>
            <a:off x="5045244" y="1578083"/>
            <a:ext cx="1368000" cy="867600"/>
            <a:chOff x="5045244" y="1578083"/>
            <a:chExt cx="1368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45244" y="1578083"/>
              <a:ext cx="13680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8"/>
            <a:stretch>
              <a:fillRect/>
            </a:stretch>
          </p:blipFill>
          <p:spPr>
            <a:xfrm flipH="1">
              <a:off x="5487815" y="1916993"/>
              <a:ext cx="482858" cy="509226"/>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p:cNvSpPr>
            <p:nvPr/>
          </p:nvSpPr>
          <p:spPr>
            <a:xfrm>
              <a:off x="5045244" y="1596762"/>
              <a:ext cx="1368000" cy="276999"/>
            </a:xfrm>
            <a:prstGeom prst="rect">
              <a:avLst/>
            </a:prstGeom>
            <a:noFill/>
          </p:spPr>
          <p:txBody>
            <a:bodyPr wrap="square">
              <a:spAutoFit/>
            </a:bodyPr>
            <a:lstStyle/>
            <a:p>
              <a:pPr algn="ctr">
                <a:buNone/>
              </a:pPr>
              <a:r>
                <a:rPr sz="1200"/>
                <a:t>Embedding</a:t>
              </a:r>
            </a:p>
          </p:txBody>
        </p:sp>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45244" y="1873761"/>
              <a:ext cx="13680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2" name="Gruppe Embedding"/>
          <p:cNvGrpSpPr/>
          <p:nvPr/>
        </p:nvGrpSpPr>
        <p:grpSpPr>
          <a:xfrm>
            <a:off x="8042090" y="2776165"/>
            <a:ext cx="1368000" cy="879071"/>
            <a:chOff x="8042090" y="2776165"/>
            <a:chExt cx="1368000" cy="879071"/>
          </a:xfrm>
        </p:grpSpPr>
        <p:sp>
          <p:nvSpPr>
            <p:cNvPr id="60" name="Rechteck: abgerundete Ecken 59">
              <a:extLst>
                <a:ext uri="{FF2B5EF4-FFF2-40B4-BE49-F238E27FC236}">
                  <a16:creationId xmlns:a16="http://schemas.microsoft.com/office/drawing/2014/main" id="{0F97695A-AB9E-12B2-E874-0BCD324FB8A7}"/>
                </a:ext>
              </a:extLst>
            </p:cNvPr>
            <p:cNvSpPr>
              <a:spLocks/>
            </p:cNvSpPr>
            <p:nvPr/>
          </p:nvSpPr>
          <p:spPr>
            <a:xfrm>
              <a:off x="8042090" y="2776165"/>
              <a:ext cx="1368000" cy="867600"/>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63" name="Grafik 12">
              <a:extLst>
                <a:ext uri="{FF2B5EF4-FFF2-40B4-BE49-F238E27FC236}">
                  <a16:creationId xmlns:a16="http://schemas.microsoft.com/office/drawing/2014/main" id="{E86CBA64-1F16-70AF-49B8-BA3DAF1F453E}"/>
                </a:ext>
              </a:extLst>
            </p:cNvPr>
            <p:cNvPicPr>
              <a:picLocks noChangeAspect="1"/>
            </p:cNvPicPr>
            <p:nvPr/>
          </p:nvPicPr>
          <p:blipFill>
            <a:blip r:embed="rId8"/>
            <a:stretch>
              <a:fillRect/>
            </a:stretch>
          </p:blipFill>
          <p:spPr>
            <a:xfrm flipH="1">
              <a:off x="8455327" y="3084139"/>
              <a:ext cx="541526" cy="571097"/>
            </a:xfrm>
            <a:prstGeom prst="rect">
              <a:avLst/>
            </a:prstGeom>
          </p:spPr>
        </p:pic>
        <p:sp>
          <p:nvSpPr>
            <p:cNvPr id="67" name="Textfeld 31">
              <a:extLst>
                <a:ext uri="{FF2B5EF4-FFF2-40B4-BE49-F238E27FC236}">
                  <a16:creationId xmlns:a16="http://schemas.microsoft.com/office/drawing/2014/main" id="{93602E7B-DC37-F2CD-0924-065EFB64C7BA}"/>
                </a:ext>
              </a:extLst>
            </p:cNvPr>
            <p:cNvSpPr>
              <a:spLocks/>
            </p:cNvSpPr>
            <p:nvPr/>
          </p:nvSpPr>
          <p:spPr>
            <a:xfrm>
              <a:off x="8042090" y="2794844"/>
              <a:ext cx="1368000" cy="276999"/>
            </a:xfrm>
            <a:prstGeom prst="rect">
              <a:avLst/>
            </a:prstGeom>
            <a:noFill/>
          </p:spPr>
          <p:txBody>
            <a:bodyPr wrap="square">
              <a:spAutoFit/>
            </a:bodyPr>
            <a:lstStyle/>
            <a:p>
              <a:pPr algn="ctr">
                <a:buNone/>
              </a:pPr>
              <a:r>
                <a:rPr sz="1200"/>
                <a:t>Embedding</a:t>
              </a:r>
            </a:p>
          </p:txBody>
        </p:sp>
        <p:sp>
          <p:nvSpPr>
            <p:cNvPr id="69" name="Gerader Verbinder 68">
              <a:extLst>
                <a:ext uri="{FF2B5EF4-FFF2-40B4-BE49-F238E27FC236}">
                  <a16:creationId xmlns:a16="http://schemas.microsoft.com/office/drawing/2014/main" id="{919036DE-C489-76A0-3FDD-88C13187B396}"/>
                </a:ext>
              </a:extLst>
            </p:cNvPr>
            <p:cNvSpPr>
              <a:spLocks/>
            </p:cNvSpPr>
            <p:nvPr/>
          </p:nvSpPr>
          <p:spPr>
            <a:xfrm flipV="1">
              <a:off x="8042090" y="3071843"/>
              <a:ext cx="1368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3" name="Gruppe Vector Database"/>
          <p:cNvGrpSpPr/>
          <p:nvPr/>
        </p:nvGrpSpPr>
        <p:grpSpPr>
          <a:xfrm>
            <a:off x="5041715" y="2776165"/>
            <a:ext cx="1368000" cy="867600"/>
            <a:chOff x="5041715" y="2776165"/>
            <a:chExt cx="1368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41715" y="2776165"/>
              <a:ext cx="1368000" cy="867600"/>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stretch>
              <a:fillRect/>
            </a:stretch>
          </p:blipFill>
          <p:spPr>
            <a:xfrm flipH="1">
              <a:off x="5445714" y="3156961"/>
              <a:ext cx="560002" cy="485980"/>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p:cNvSpPr>
            <p:nvPr/>
          </p:nvSpPr>
          <p:spPr>
            <a:xfrm>
              <a:off x="5041715" y="2794844"/>
              <a:ext cx="1368000" cy="285750"/>
            </a:xfrm>
            <a:prstGeom prst="rect">
              <a:avLst/>
            </a:prstGeom>
            <a:noFill/>
          </p:spPr>
          <p:txBody>
            <a:bodyPr wrap="square">
              <a:spAutoFit/>
            </a:bodyPr>
            <a:lstStyle/>
            <a:p>
              <a:pPr algn="ctr">
                <a:buNone/>
              </a:pPr>
              <a:r>
                <a:rPr sz="1200" dirty="0"/>
                <a:t>Vector </a:t>
              </a:r>
              <a:r>
                <a:rPr lang="de-CH" sz="1200" dirty="0"/>
                <a:t>DB</a:t>
              </a:r>
              <a:endParaRPr sz="1200" dirty="0"/>
            </a:p>
          </p:txBody>
        </p:sp>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41715" y="3080594"/>
              <a:ext cx="1368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4" name="Gruppe Relevant Data"/>
          <p:cNvGrpSpPr/>
          <p:nvPr/>
        </p:nvGrpSpPr>
        <p:grpSpPr>
          <a:xfrm>
            <a:off x="5041715" y="5161353"/>
            <a:ext cx="1368000" cy="885454"/>
            <a:chOff x="5041715" y="5161353"/>
            <a:chExt cx="1368000" cy="885454"/>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41715" y="5161353"/>
              <a:ext cx="1368000" cy="867600"/>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0"/>
            <a:stretch>
              <a:fillRect/>
            </a:stretch>
          </p:blipFill>
          <p:spPr>
            <a:xfrm flipH="1">
              <a:off x="5378242" y="5428671"/>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p:cNvSpPr>
            <p:nvPr/>
          </p:nvSpPr>
          <p:spPr>
            <a:xfrm>
              <a:off x="5041715" y="5180032"/>
              <a:ext cx="136800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41715" y="5457031"/>
              <a:ext cx="1368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5" name="Gruppe Embedding LLM"/>
          <p:cNvGrpSpPr/>
          <p:nvPr/>
        </p:nvGrpSpPr>
        <p:grpSpPr>
          <a:xfrm>
            <a:off x="8032042" y="1570799"/>
            <a:ext cx="1368000" cy="867600"/>
            <a:chOff x="8032042" y="1570799"/>
            <a:chExt cx="1368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8032042" y="1570799"/>
              <a:ext cx="1368000" cy="867600"/>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1"/>
            <a:stretch>
              <a:fillRect/>
            </a:stretch>
          </p:blipFill>
          <p:spPr>
            <a:xfrm flipH="1">
              <a:off x="8449146" y="1892426"/>
              <a:ext cx="533792" cy="541782"/>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p:cNvSpPr>
            <p:nvPr/>
          </p:nvSpPr>
          <p:spPr>
            <a:xfrm>
              <a:off x="8032042" y="1570799"/>
              <a:ext cx="1368000"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8032042" y="1854598"/>
              <a:ext cx="1368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6" name="Gruppe LLM"/>
          <p:cNvGrpSpPr/>
          <p:nvPr/>
        </p:nvGrpSpPr>
        <p:grpSpPr>
          <a:xfrm>
            <a:off x="8042090" y="5161353"/>
            <a:ext cx="1368000" cy="889358"/>
            <a:chOff x="8042090" y="5161353"/>
            <a:chExt cx="1368000" cy="889358"/>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42090" y="5161353"/>
              <a:ext cx="1368000" cy="867600"/>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1"/>
            <a:stretch>
              <a:fillRect/>
            </a:stretch>
          </p:blipFill>
          <p:spPr>
            <a:xfrm flipH="1">
              <a:off x="8433628" y="5457031"/>
              <a:ext cx="584924" cy="593680"/>
            </a:xfrm>
            <a:prstGeom prst="rect">
              <a:avLst/>
            </a:prstGeom>
          </p:spPr>
        </p:pic>
        <p:sp>
          <p:nvSpPr>
            <p:cNvPr id="105" name="Textfeld 37">
              <a:extLst>
                <a:ext uri="{FF2B5EF4-FFF2-40B4-BE49-F238E27FC236}">
                  <a16:creationId xmlns:a16="http://schemas.microsoft.com/office/drawing/2014/main" id="{50BD9ACB-9327-9657-F19C-720F9C5F935E}"/>
                </a:ext>
              </a:extLst>
            </p:cNvPr>
            <p:cNvSpPr>
              <a:spLocks/>
            </p:cNvSpPr>
            <p:nvPr/>
          </p:nvSpPr>
          <p:spPr>
            <a:xfrm>
              <a:off x="8042090" y="5207333"/>
              <a:ext cx="1368000" cy="276999"/>
            </a:xfrm>
            <a:prstGeom prst="rect">
              <a:avLst/>
            </a:prstGeom>
            <a:solidFill>
              <a:schemeClr val="accent6">
                <a:lumMod val="40000"/>
                <a:lumOff val="60000"/>
              </a:schemeClr>
            </a:solidFill>
            <a:ln>
              <a:noFill/>
            </a:ln>
          </p:spPr>
          <p:txBody>
            <a:bodyPr wrap="square">
              <a:spAutoFit/>
            </a:bodyPr>
            <a:lstStyle/>
            <a:p>
              <a:pPr algn="ctr">
                <a:buNone/>
              </a:pPr>
              <a:r>
                <a:rPr sz="1200"/>
                <a:t>LLM</a:t>
              </a:r>
            </a:p>
          </p:txBody>
        </p:sp>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42090" y="5449914"/>
              <a:ext cx="1368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350688"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342909" y="3629025"/>
            <a:ext cx="1306" cy="32385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8" idx="0"/>
            <a:endCxn id="121" idx="2"/>
          </p:cNvCxnSpPr>
          <p:nvPr/>
        </p:nvCxnSpPr>
        <p:spPr>
          <a:xfrm flipH="1" flipV="1">
            <a:off x="1337904" y="2438399"/>
            <a:ext cx="6311"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6114751" y="2012297"/>
            <a:ext cx="642461" cy="78337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6593315" y="5595153"/>
            <a:ext cx="1265175"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endCxn id="24" idx="0"/>
          </p:cNvCxnSpPr>
          <p:nvPr/>
        </p:nvCxnSpPr>
        <p:spPr>
          <a:xfrm flipV="1">
            <a:off x="7969527" y="5162179"/>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60" idx="1"/>
            <a:endCxn id="72" idx="3"/>
          </p:cNvCxnSpPr>
          <p:nvPr/>
        </p:nvCxnSpPr>
        <p:spPr>
          <a:xfrm flipH="1">
            <a:off x="6593315" y="3209965"/>
            <a:ext cx="1265175"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cxnSpLocks/>
            <a:stCxn id="93" idx="1"/>
          </p:cNvCxnSpPr>
          <p:nvPr/>
        </p:nvCxnSpPr>
        <p:spPr>
          <a:xfrm flipH="1">
            <a:off x="4355058" y="2005013"/>
            <a:ext cx="3499473" cy="7797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stCxn id="18" idx="1"/>
            <a:endCxn id="60" idx="3"/>
          </p:cNvCxnSpPr>
          <p:nvPr/>
        </p:nvCxnSpPr>
        <p:spPr>
          <a:xfrm flipH="1">
            <a:off x="9355930" y="2005013"/>
            <a:ext cx="931070" cy="1205366"/>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2205504" y="2004599"/>
            <a:ext cx="430812"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7" name="Gruppe Embedding LLM"/>
          <p:cNvGrpSpPr/>
          <p:nvPr/>
        </p:nvGrpSpPr>
        <p:grpSpPr>
          <a:xfrm>
            <a:off x="2819916" y="1570799"/>
            <a:ext cx="1368000" cy="867600"/>
            <a:chOff x="2819916" y="1570799"/>
            <a:chExt cx="1368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819916" y="1570799"/>
              <a:ext cx="1368000" cy="867600"/>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1"/>
            <a:stretch>
              <a:fillRect/>
            </a:stretch>
          </p:blipFill>
          <p:spPr>
            <a:xfrm flipH="1">
              <a:off x="3266354" y="1909499"/>
              <a:ext cx="475124" cy="482236"/>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p:cNvSpPr>
            <p:nvPr/>
          </p:nvSpPr>
          <p:spPr>
            <a:xfrm>
              <a:off x="2819916" y="1570799"/>
              <a:ext cx="1368000"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819916" y="1854598"/>
              <a:ext cx="1368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4371516" y="2004599"/>
            <a:ext cx="490128" cy="728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593690" y="5595153"/>
            <a:ext cx="45555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42" idx="2"/>
          </p:cNvCxnSpPr>
          <p:nvPr/>
        </p:nvCxnSpPr>
        <p:spPr>
          <a:xfrm flipH="1" flipV="1">
            <a:off x="1342908" y="4808134"/>
            <a:ext cx="1307" cy="33536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583642" y="2004599"/>
            <a:ext cx="465598"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6" idx="2"/>
            <a:endCxn id="67" idx="0"/>
          </p:cNvCxnSpPr>
          <p:nvPr/>
        </p:nvCxnSpPr>
        <p:spPr>
          <a:xfrm>
            <a:off x="8716042" y="2434208"/>
            <a:ext cx="10048" cy="36063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2"/>
            <a:endCxn id="72" idx="0"/>
          </p:cNvCxnSpPr>
          <p:nvPr/>
        </p:nvCxnSpPr>
        <p:spPr>
          <a:xfrm flipH="1">
            <a:off x="5725715" y="2445683"/>
            <a:ext cx="3529" cy="330482"/>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4" idx="2"/>
            <a:endCxn id="87" idx="0"/>
          </p:cNvCxnSpPr>
          <p:nvPr/>
        </p:nvCxnSpPr>
        <p:spPr>
          <a:xfrm>
            <a:off x="5725715" y="3642941"/>
            <a:ext cx="0" cy="153709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8" name="Gruppe Chunks"/>
          <p:cNvGrpSpPr/>
          <p:nvPr/>
        </p:nvGrpSpPr>
        <p:grpSpPr>
          <a:xfrm>
            <a:off x="653904" y="1570799"/>
            <a:ext cx="1368000" cy="867600"/>
            <a:chOff x="653904" y="1570799"/>
            <a:chExt cx="1368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53904" y="1570799"/>
              <a:ext cx="1368000" cy="867600"/>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3" name="Textfeld 171">
              <a:extLst>
                <a:ext uri="{FF2B5EF4-FFF2-40B4-BE49-F238E27FC236}">
                  <a16:creationId xmlns:a16="http://schemas.microsoft.com/office/drawing/2014/main" id="{94B0B414-3457-95E7-777A-E27F72556F9D}"/>
                </a:ext>
              </a:extLst>
            </p:cNvPr>
            <p:cNvSpPr>
              <a:spLocks/>
            </p:cNvSpPr>
            <p:nvPr/>
          </p:nvSpPr>
          <p:spPr>
            <a:xfrm>
              <a:off x="653904" y="1589478"/>
              <a:ext cx="1368000" cy="276999"/>
            </a:xfrm>
            <a:prstGeom prst="rect">
              <a:avLst/>
            </a:prstGeom>
            <a:noFill/>
          </p:spPr>
          <p:txBody>
            <a:bodyPr wrap="square">
              <a:spAutoFit/>
            </a:bodyPr>
            <a:lstStyle/>
            <a:p>
              <a:pPr algn="ctr">
                <a:buNone/>
              </a:pPr>
              <a:r>
                <a:rPr sz="1200" dirty="0"/>
                <a:t>Chunks</a:t>
              </a: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12"/>
            <a:stretch>
              <a:fillRect/>
            </a:stretch>
          </p:blipFill>
          <p:spPr>
            <a:xfrm flipH="1">
              <a:off x="1110373" y="1880907"/>
              <a:ext cx="455061" cy="530359"/>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53904" y="1863453"/>
              <a:ext cx="136800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29" name="Gruppe Embedding LLM">
            <a:extLst>
              <a:ext uri="{FF2B5EF4-FFF2-40B4-BE49-F238E27FC236}">
                <a16:creationId xmlns:a16="http://schemas.microsoft.com/office/drawing/2014/main" id="{97DA10AF-5D12-3A3B-5C8A-46A79720B1A4}"/>
              </a:ext>
            </a:extLst>
          </p:cNvPr>
          <p:cNvGrpSpPr/>
          <p:nvPr/>
        </p:nvGrpSpPr>
        <p:grpSpPr>
          <a:xfrm>
            <a:off x="2819916" y="1570799"/>
            <a:ext cx="1368000" cy="867600"/>
            <a:chOff x="2819916" y="1570799"/>
            <a:chExt cx="1368000" cy="867600"/>
          </a:xfrm>
        </p:grpSpPr>
        <p:sp>
          <p:nvSpPr>
            <p:cNvPr id="32" name="Rechteck: abgerundete Ecken 31">
              <a:extLst>
                <a:ext uri="{FF2B5EF4-FFF2-40B4-BE49-F238E27FC236}">
                  <a16:creationId xmlns:a16="http://schemas.microsoft.com/office/drawing/2014/main" id="{B73EED8C-74B7-0DE4-4653-D7C4D2CA248D}"/>
                </a:ext>
              </a:extLst>
            </p:cNvPr>
            <p:cNvSpPr>
              <a:spLocks/>
            </p:cNvSpPr>
            <p:nvPr/>
          </p:nvSpPr>
          <p:spPr>
            <a:xfrm>
              <a:off x="2819916" y="1570799"/>
              <a:ext cx="1368000" cy="867600"/>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40">
              <a:extLst>
                <a:ext uri="{FF2B5EF4-FFF2-40B4-BE49-F238E27FC236}">
                  <a16:creationId xmlns:a16="http://schemas.microsoft.com/office/drawing/2014/main" id="{48FF7E7C-9CC8-E0A2-D673-5A5B2FB7A6A1}"/>
                </a:ext>
              </a:extLst>
            </p:cNvPr>
            <p:cNvSpPr>
              <a:spLocks/>
            </p:cNvSpPr>
            <p:nvPr/>
          </p:nvSpPr>
          <p:spPr>
            <a:xfrm>
              <a:off x="2819916" y="1570799"/>
              <a:ext cx="1368000" cy="276999"/>
            </a:xfrm>
            <a:prstGeom prst="rect">
              <a:avLst/>
            </a:prstGeom>
            <a:noFill/>
          </p:spPr>
          <p:txBody>
            <a:bodyPr wrap="square">
              <a:spAutoFit/>
            </a:bodyPr>
            <a:lstStyle/>
            <a:p>
              <a:pPr algn="ctr">
                <a:buNone/>
              </a:pPr>
              <a:r>
                <a:rPr lang="de-CH" sz="1200" dirty="0"/>
                <a:t>Graph Engine</a:t>
              </a:r>
              <a:endParaRPr sz="1200" dirty="0"/>
            </a:p>
          </p:txBody>
        </p:sp>
        <p:sp>
          <p:nvSpPr>
            <p:cNvPr id="36" name="Gerader Verbinder 35">
              <a:extLst>
                <a:ext uri="{FF2B5EF4-FFF2-40B4-BE49-F238E27FC236}">
                  <a16:creationId xmlns:a16="http://schemas.microsoft.com/office/drawing/2014/main" id="{E58DDFDC-2C03-2A44-F9F9-B7FC0D217F20}"/>
                </a:ext>
              </a:extLst>
            </p:cNvPr>
            <p:cNvSpPr>
              <a:spLocks/>
            </p:cNvSpPr>
            <p:nvPr/>
          </p:nvSpPr>
          <p:spPr>
            <a:xfrm>
              <a:off x="2819916" y="1854598"/>
              <a:ext cx="1368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cxnSp>
        <p:nvCxnSpPr>
          <p:cNvPr id="55" name="Gerade Verbindung mit Pfeil 116">
            <a:extLst>
              <a:ext uri="{FF2B5EF4-FFF2-40B4-BE49-F238E27FC236}">
                <a16:creationId xmlns:a16="http://schemas.microsoft.com/office/drawing/2014/main" id="{61F9B370-A340-9EEC-FC69-097193881A3C}"/>
              </a:ext>
            </a:extLst>
          </p:cNvPr>
          <p:cNvCxnSpPr>
            <a:cxnSpLocks/>
            <a:stCxn id="20" idx="2"/>
            <a:endCxn id="102" idx="0"/>
          </p:cNvCxnSpPr>
          <p:nvPr/>
        </p:nvCxnSpPr>
        <p:spPr>
          <a:xfrm flipH="1">
            <a:off x="8726090" y="2433197"/>
            <a:ext cx="2190750" cy="272815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64" name="Gruppe Embedding LLM">
            <a:extLst>
              <a:ext uri="{FF2B5EF4-FFF2-40B4-BE49-F238E27FC236}">
                <a16:creationId xmlns:a16="http://schemas.microsoft.com/office/drawing/2014/main" id="{7D3C3C34-10C0-8929-8845-4EFB21D0B163}"/>
              </a:ext>
            </a:extLst>
          </p:cNvPr>
          <p:cNvGrpSpPr/>
          <p:nvPr/>
        </p:nvGrpSpPr>
        <p:grpSpPr>
          <a:xfrm>
            <a:off x="2819916" y="1570799"/>
            <a:ext cx="1368000" cy="867600"/>
            <a:chOff x="2819916" y="1570799"/>
            <a:chExt cx="1368000" cy="867600"/>
          </a:xfrm>
        </p:grpSpPr>
        <p:sp>
          <p:nvSpPr>
            <p:cNvPr id="65" name="Rechteck: abgerundete Ecken 64">
              <a:extLst>
                <a:ext uri="{FF2B5EF4-FFF2-40B4-BE49-F238E27FC236}">
                  <a16:creationId xmlns:a16="http://schemas.microsoft.com/office/drawing/2014/main" id="{76CE6652-449C-657E-7587-9F547A9D6ECD}"/>
                </a:ext>
              </a:extLst>
            </p:cNvPr>
            <p:cNvSpPr>
              <a:spLocks/>
            </p:cNvSpPr>
            <p:nvPr/>
          </p:nvSpPr>
          <p:spPr>
            <a:xfrm>
              <a:off x="2819916" y="1570799"/>
              <a:ext cx="1368000" cy="867600"/>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dirty="0"/>
            </a:p>
          </p:txBody>
        </p:sp>
        <p:pic>
          <p:nvPicPr>
            <p:cNvPr id="66" name="Grafik 39">
              <a:extLst>
                <a:ext uri="{FF2B5EF4-FFF2-40B4-BE49-F238E27FC236}">
                  <a16:creationId xmlns:a16="http://schemas.microsoft.com/office/drawing/2014/main" id="{2D0438B3-277A-DEEA-3A5E-97C93124AC32}"/>
                </a:ext>
              </a:extLst>
            </p:cNvPr>
            <p:cNvPicPr>
              <a:picLocks noChangeAspect="1"/>
            </p:cNvPicPr>
            <p:nvPr/>
          </p:nvPicPr>
          <p:blipFill>
            <a:blip r:embed="rId11"/>
            <a:stretch>
              <a:fillRect/>
            </a:stretch>
          </p:blipFill>
          <p:spPr>
            <a:xfrm flipH="1">
              <a:off x="3266354" y="1909499"/>
              <a:ext cx="475124" cy="482236"/>
            </a:xfrm>
            <a:prstGeom prst="rect">
              <a:avLst/>
            </a:prstGeom>
          </p:spPr>
        </p:pic>
        <p:sp>
          <p:nvSpPr>
            <p:cNvPr id="68" name="Textfeld 40">
              <a:extLst>
                <a:ext uri="{FF2B5EF4-FFF2-40B4-BE49-F238E27FC236}">
                  <a16:creationId xmlns:a16="http://schemas.microsoft.com/office/drawing/2014/main" id="{49288EC7-398C-49E2-3B9A-979BFB1B3F7D}"/>
                </a:ext>
              </a:extLst>
            </p:cNvPr>
            <p:cNvSpPr>
              <a:spLocks/>
            </p:cNvSpPr>
            <p:nvPr/>
          </p:nvSpPr>
          <p:spPr>
            <a:xfrm>
              <a:off x="2819916" y="1570799"/>
              <a:ext cx="1368000" cy="276999"/>
            </a:xfrm>
            <a:prstGeom prst="rect">
              <a:avLst/>
            </a:prstGeom>
            <a:noFill/>
          </p:spPr>
          <p:txBody>
            <a:bodyPr wrap="square">
              <a:spAutoFit/>
            </a:bodyPr>
            <a:lstStyle/>
            <a:p>
              <a:pPr algn="ctr">
                <a:buNone/>
              </a:pPr>
              <a:r>
                <a:rPr lang="de-CH" sz="1200" dirty="0" err="1"/>
                <a:t>Reranking</a:t>
              </a:r>
              <a:r>
                <a:rPr lang="de-CH" sz="1200" dirty="0"/>
                <a:t> Model</a:t>
              </a:r>
              <a:endParaRPr sz="1200" dirty="0"/>
            </a:p>
          </p:txBody>
        </p:sp>
        <p:sp>
          <p:nvSpPr>
            <p:cNvPr id="70" name="Gerader Verbinder 69">
              <a:extLst>
                <a:ext uri="{FF2B5EF4-FFF2-40B4-BE49-F238E27FC236}">
                  <a16:creationId xmlns:a16="http://schemas.microsoft.com/office/drawing/2014/main" id="{10779A5F-A567-5DF9-7B5F-9A5A5EE7DD74}"/>
                </a:ext>
              </a:extLst>
            </p:cNvPr>
            <p:cNvSpPr>
              <a:spLocks/>
            </p:cNvSpPr>
            <p:nvPr/>
          </p:nvSpPr>
          <p:spPr>
            <a:xfrm>
              <a:off x="2819916" y="1854598"/>
              <a:ext cx="1368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71" name="Gruppe Vector Database">
            <a:extLst>
              <a:ext uri="{FF2B5EF4-FFF2-40B4-BE49-F238E27FC236}">
                <a16:creationId xmlns:a16="http://schemas.microsoft.com/office/drawing/2014/main" id="{B98C4647-36F1-433C-634F-DF32A373D759}"/>
              </a:ext>
            </a:extLst>
          </p:cNvPr>
          <p:cNvGrpSpPr/>
          <p:nvPr/>
        </p:nvGrpSpPr>
        <p:grpSpPr>
          <a:xfrm>
            <a:off x="5041715" y="2776165"/>
            <a:ext cx="1368000" cy="867600"/>
            <a:chOff x="5041715" y="2776165"/>
            <a:chExt cx="1368000" cy="867600"/>
          </a:xfrm>
        </p:grpSpPr>
        <p:sp>
          <p:nvSpPr>
            <p:cNvPr id="73" name="Rechteck: abgerundete Ecken 72">
              <a:extLst>
                <a:ext uri="{FF2B5EF4-FFF2-40B4-BE49-F238E27FC236}">
                  <a16:creationId xmlns:a16="http://schemas.microsoft.com/office/drawing/2014/main" id="{3E9D7813-18D0-AF4A-8AE8-061A242CC2EA}"/>
                </a:ext>
              </a:extLst>
            </p:cNvPr>
            <p:cNvSpPr>
              <a:spLocks/>
            </p:cNvSpPr>
            <p:nvPr/>
          </p:nvSpPr>
          <p:spPr>
            <a:xfrm>
              <a:off x="5041715" y="2776165"/>
              <a:ext cx="1368000" cy="867600"/>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5" name="Grafik 14">
              <a:extLst>
                <a:ext uri="{FF2B5EF4-FFF2-40B4-BE49-F238E27FC236}">
                  <a16:creationId xmlns:a16="http://schemas.microsoft.com/office/drawing/2014/main" id="{EABA32D5-430E-BA1F-7CFD-BF324A4D963B}"/>
                </a:ext>
              </a:extLst>
            </p:cNvPr>
            <p:cNvPicPr>
              <a:picLocks noChangeAspect="1"/>
            </p:cNvPicPr>
            <p:nvPr/>
          </p:nvPicPr>
          <p:blipFill>
            <a:blip r:embed="rId9"/>
            <a:stretch>
              <a:fillRect/>
            </a:stretch>
          </p:blipFill>
          <p:spPr>
            <a:xfrm flipH="1">
              <a:off x="5445714" y="3112571"/>
              <a:ext cx="560002" cy="485980"/>
            </a:xfrm>
            <a:prstGeom prst="rect">
              <a:avLst/>
            </a:prstGeom>
          </p:spPr>
        </p:pic>
        <p:sp>
          <p:nvSpPr>
            <p:cNvPr id="76" name="Textfeld 25">
              <a:extLst>
                <a:ext uri="{FF2B5EF4-FFF2-40B4-BE49-F238E27FC236}">
                  <a16:creationId xmlns:a16="http://schemas.microsoft.com/office/drawing/2014/main" id="{CE061EE7-7B86-3DDE-1040-660336EDF0E6}"/>
                </a:ext>
              </a:extLst>
            </p:cNvPr>
            <p:cNvSpPr>
              <a:spLocks/>
            </p:cNvSpPr>
            <p:nvPr/>
          </p:nvSpPr>
          <p:spPr>
            <a:xfrm>
              <a:off x="5041715" y="2794844"/>
              <a:ext cx="1368000" cy="285750"/>
            </a:xfrm>
            <a:prstGeom prst="rect">
              <a:avLst/>
            </a:prstGeom>
            <a:noFill/>
          </p:spPr>
          <p:txBody>
            <a:bodyPr wrap="square">
              <a:spAutoFit/>
            </a:bodyPr>
            <a:lstStyle/>
            <a:p>
              <a:pPr algn="ctr">
                <a:buNone/>
              </a:pPr>
              <a:r>
                <a:rPr lang="de-CH" sz="1200" dirty="0"/>
                <a:t>Graph DB</a:t>
              </a:r>
              <a:endParaRPr sz="1200" dirty="0"/>
            </a:p>
          </p:txBody>
        </p:sp>
        <p:sp>
          <p:nvSpPr>
            <p:cNvPr id="78" name="Gerader Verbinder 77">
              <a:extLst>
                <a:ext uri="{FF2B5EF4-FFF2-40B4-BE49-F238E27FC236}">
                  <a16:creationId xmlns:a16="http://schemas.microsoft.com/office/drawing/2014/main" id="{4E074795-CC90-4A5D-B6F0-1CD75A4E2F56}"/>
                </a:ext>
              </a:extLst>
            </p:cNvPr>
            <p:cNvSpPr>
              <a:spLocks/>
            </p:cNvSpPr>
            <p:nvPr/>
          </p:nvSpPr>
          <p:spPr>
            <a:xfrm>
              <a:off x="5041715" y="3080594"/>
              <a:ext cx="1368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cxnSp>
        <p:nvCxnSpPr>
          <p:cNvPr id="80" name="Gerade Verbindung mit Pfeil 116">
            <a:extLst>
              <a:ext uri="{FF2B5EF4-FFF2-40B4-BE49-F238E27FC236}">
                <a16:creationId xmlns:a16="http://schemas.microsoft.com/office/drawing/2014/main" id="{E376D28E-420A-43B9-883A-3952BE9F2B5B}"/>
              </a:ext>
            </a:extLst>
          </p:cNvPr>
          <p:cNvCxnSpPr>
            <a:cxnSpLocks/>
            <a:stCxn id="37" idx="3"/>
            <a:endCxn id="32" idx="1"/>
          </p:cNvCxnSpPr>
          <p:nvPr/>
        </p:nvCxnSpPr>
        <p:spPr>
          <a:xfrm flipV="1">
            <a:off x="2210508" y="3840734"/>
            <a:ext cx="425808" cy="54511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5" name="Gerade Verbindung mit Pfeil 116">
            <a:extLst>
              <a:ext uri="{FF2B5EF4-FFF2-40B4-BE49-F238E27FC236}">
                <a16:creationId xmlns:a16="http://schemas.microsoft.com/office/drawing/2014/main" id="{C59435DB-3B08-9D13-84B3-B8E6C33DF518}"/>
              </a:ext>
            </a:extLst>
          </p:cNvPr>
          <p:cNvCxnSpPr>
            <a:cxnSpLocks/>
            <a:stCxn id="32" idx="2"/>
            <a:endCxn id="76" idx="0"/>
          </p:cNvCxnSpPr>
          <p:nvPr/>
        </p:nvCxnSpPr>
        <p:spPr>
          <a:xfrm>
            <a:off x="3503916" y="4274534"/>
            <a:ext cx="0" cy="357082"/>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1" name="Gerade Verbindung mit Pfeil 116">
            <a:extLst>
              <a:ext uri="{FF2B5EF4-FFF2-40B4-BE49-F238E27FC236}">
                <a16:creationId xmlns:a16="http://schemas.microsoft.com/office/drawing/2014/main" id="{0936BFDE-4003-BDDE-5765-B85CD9CFFDEB}"/>
              </a:ext>
            </a:extLst>
          </p:cNvPr>
          <p:cNvCxnSpPr>
            <a:cxnSpLocks/>
            <a:stCxn id="73" idx="3"/>
            <a:endCxn id="65" idx="1"/>
          </p:cNvCxnSpPr>
          <p:nvPr/>
        </p:nvCxnSpPr>
        <p:spPr>
          <a:xfrm flipV="1">
            <a:off x="4371516" y="4390973"/>
            <a:ext cx="486599" cy="65576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4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0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22"/>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23"/>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24"/>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21"/>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37"/>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3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4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39"/>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4"/>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57"/>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8"/>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01"/>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99"/>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60"/>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6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69"/>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81"/>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8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87"/>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90"/>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111"/>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102"/>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104"/>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105"/>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106"/>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24"/>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28"/>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31"/>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nodeType="clickEffect">
                                  <p:stCondLst>
                                    <p:cond delay="0"/>
                                  </p:stCondLst>
                                  <p:childTnLst>
                                    <p:set>
                                      <p:cBhvr>
                                        <p:cTn id="126" dur="1" fill="hold">
                                          <p:stCondLst>
                                            <p:cond delay="0"/>
                                          </p:stCondLst>
                                        </p:cTn>
                                        <p:tgtEl>
                                          <p:spTgt spid="32"/>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36"/>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35"/>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nodeType="clickEffect">
                                  <p:stCondLst>
                                    <p:cond delay="0"/>
                                  </p:stCondLst>
                                  <p:childTnLst>
                                    <p:set>
                                      <p:cBhvr>
                                        <p:cTn id="134" dur="1" fill="hold">
                                          <p:stCondLst>
                                            <p:cond delay="0"/>
                                          </p:stCondLst>
                                        </p:cTn>
                                        <p:tgtEl>
                                          <p:spTgt spid="65"/>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66"/>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0"/>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68"/>
                                        </p:tgtEl>
                                        <p:attrNameLst>
                                          <p:attrName>style.visibility</p:attrName>
                                        </p:attrNameLst>
                                      </p:cBhvr>
                                      <p:to>
                                        <p:strVal val="visible"/>
                                      </p:to>
                                    </p:set>
                                  </p:childTnLst>
                                </p:cTn>
                              </p:par>
                            </p:childTnLst>
                          </p:cTn>
                        </p:par>
                      </p:childTnLst>
                    </p:cTn>
                  </p:par>
                  <p:par>
                    <p:cTn id="141" fill="hold">
                      <p:stCondLst>
                        <p:cond delay="indefinite"/>
                      </p:stCondLst>
                      <p:childTnLst>
                        <p:par>
                          <p:cTn id="142" fill="hold">
                            <p:stCondLst>
                              <p:cond delay="0"/>
                            </p:stCondLst>
                            <p:childTnLst>
                              <p:par>
                                <p:cTn id="143" presetID="1" presetClass="entr" presetSubtype="0" fill="hold" nodeType="clickEffect">
                                  <p:stCondLst>
                                    <p:cond delay="0"/>
                                  </p:stCondLst>
                                  <p:childTnLst>
                                    <p:set>
                                      <p:cBhvr>
                                        <p:cTn id="144" dur="1" fill="hold">
                                          <p:stCondLst>
                                            <p:cond delay="0"/>
                                          </p:stCondLst>
                                        </p:cTn>
                                        <p:tgtEl>
                                          <p:spTgt spid="73"/>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5"/>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6"/>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60" grpId="0" animBg="1"/>
      <p:bldP spid="67" grpId="0"/>
      <p:bldP spid="69"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5" grpId="0" animBg="1"/>
      <p:bldP spid="106" grpId="0" animBg="1"/>
      <p:bldP spid="137" grpId="0" animBg="1"/>
      <p:bldP spid="139" grpId="0"/>
      <p:bldP spid="140" grpId="0" animBg="1"/>
      <p:bldP spid="121" grpId="0" animBg="1"/>
      <p:bldP spid="123" grpId="0"/>
      <p:bldP spid="124" grpId="0" animBg="1"/>
      <p:bldP spid="32" grpId="0" animBg="1"/>
      <p:bldP spid="35" grpId="0"/>
      <p:bldP spid="36" grpId="0" animBg="1"/>
      <p:bldP spid="65" grpId="0" animBg="1"/>
      <p:bldP spid="68" grpId="0"/>
      <p:bldP spid="70" grpId="0" animBg="1"/>
      <p:bldP spid="73" grpId="0" animBg="1"/>
      <p:bldP spid="76" grpId="0"/>
      <p:bldP spid="7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07.08.2026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3971</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34</cp:revision>
  <dcterms:created xsi:type="dcterms:W3CDTF">2026-08-04T12:09:36Z</dcterms:created>
  <dcterms:modified xsi:type="dcterms:W3CDTF">2026-08-07T14:22:59Z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