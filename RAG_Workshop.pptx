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3"/>
  </p:notesMasterIdLst>
  <p:handoutMasterIdLst>
    <p:handoutMasterId r:id="rId34"/>
  </p:handoutMasterIdLst>
  <p:sldIdLst>
    <p:sldId id="290" r:id="rId5"/>
    <p:sldId id="279" r:id="rId6"/>
    <p:sldId id="329" r:id="rId7"/>
    <p:sldId id="296" r:id="rId8"/>
    <p:sldId id="301" r:id="rId9"/>
    <p:sldId id="263" r:id="rId10"/>
    <p:sldId id="317" r:id="rId11"/>
    <p:sldId id="319" r:id="rId12"/>
    <p:sldId id="266" r:id="rId13"/>
    <p:sldId id="307" r:id="rId14"/>
    <p:sldId id="323" r:id="rId15"/>
    <p:sldId id="322" r:id="rId16"/>
    <p:sldId id="324" r:id="rId17"/>
    <p:sldId id="325" r:id="rId18"/>
    <p:sldId id="308" r:id="rId19"/>
    <p:sldId id="326" r:id="rId20"/>
    <p:sldId id="256" r:id="rId21"/>
    <p:sldId id="313" r:id="rId22"/>
    <p:sldId id="327" r:id="rId23"/>
    <p:sldId id="320" r:id="rId24"/>
    <p:sldId id="321" r:id="rId25"/>
    <p:sldId id="328" r:id="rId26"/>
    <p:sldId id="278" r:id="rId27"/>
    <p:sldId id="330" r:id="rId28"/>
    <p:sldId id="274" r:id="rId29"/>
    <p:sldId id="275" r:id="rId30"/>
    <p:sldId id="276" r:id="rId31"/>
    <p:sldId id="295" r:id="rId32"/>
  </p:sldIdLst>
  <p:sldSz cx="12192000" cy="6858000"/>
  <p:notesSz cx="6858000" cy="9144000"/>
  <p:custDataLst>
    <p:tags r:id="rId35"/>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329"/>
            <p14:sldId id="296"/>
            <p14:sldId id="301"/>
            <p14:sldId id="263"/>
            <p14:sldId id="317"/>
            <p14:sldId id="319"/>
            <p14:sldId id="266"/>
            <p14:sldId id="307"/>
            <p14:sldId id="323"/>
            <p14:sldId id="322"/>
            <p14:sldId id="324"/>
            <p14:sldId id="325"/>
            <p14:sldId id="308"/>
            <p14:sldId id="326"/>
            <p14:sldId id="256"/>
            <p14:sldId id="313"/>
            <p14:sldId id="327"/>
            <p14:sldId id="320"/>
            <p14:sldId id="321"/>
            <p14:sldId id="328"/>
            <p14:sldId id="278"/>
            <p14:sldId id="330"/>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CFC"/>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59472" autoAdjust="0"/>
  </p:normalViewPr>
  <p:slideViewPr>
    <p:cSldViewPr snapToGrid="0">
      <p:cViewPr varScale="1">
        <p:scale>
          <a:sx n="63" d="100"/>
          <a:sy n="63" d="100"/>
        </p:scale>
        <p:origin x="1230" y="6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ags" Target="tags/tag1.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20.08.2026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20.08.2026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rPr lang="de-DE" dirty="0"/>
              <a:t>Es ist richtig schön, dass ihr den Weg zu diesem Workshop über RAGs gefunden habt. RAGs sind sog. Knowledge Worker und wir werden heute nicht nur die Theorie erklären, sondern auch die Implementierung eines solchen in der Praxis sehen. &lt;Kernbotschaft&gt;Dabei möchten wir die Mechanik eines belastbaren RAG-Systems aufzeigen. &lt;/Kernbotschaft&gt;</a:t>
            </a:r>
          </a:p>
          <a:p>
            <a:endParaRPr dirty="0"/>
          </a:p>
          <a:p>
            <a:r>
              <a:rPr dirty="0"/>
              <a:t>Als </a:t>
            </a:r>
            <a:r>
              <a:rPr dirty="0" err="1"/>
              <a:t>durchgängiges</a:t>
            </a:r>
            <a:r>
              <a:rPr dirty="0"/>
              <a:t> </a:t>
            </a:r>
            <a:r>
              <a:rPr dirty="0" err="1"/>
              <a:t>Beispiel</a:t>
            </a:r>
            <a:r>
              <a:rPr dirty="0"/>
              <a:t> </a:t>
            </a:r>
            <a:r>
              <a:rPr dirty="0" err="1"/>
              <a:t>verwenden</a:t>
            </a:r>
            <a:r>
              <a:rPr dirty="0"/>
              <a:t> </a:t>
            </a:r>
            <a:r>
              <a:rPr dirty="0" err="1"/>
              <a:t>wir</a:t>
            </a:r>
            <a:r>
              <a:rPr dirty="0"/>
              <a:t> Schweizer </a:t>
            </a:r>
            <a:r>
              <a:rPr dirty="0" err="1"/>
              <a:t>Gesetzestexte</a:t>
            </a:r>
            <a:r>
              <a:rPr dirty="0"/>
              <a:t>. </a:t>
            </a:r>
            <a:r>
              <a:rPr dirty="0" err="1"/>
              <a:t>Dadurch</a:t>
            </a:r>
            <a:r>
              <a:rPr dirty="0"/>
              <a:t> </a:t>
            </a:r>
            <a:r>
              <a:rPr dirty="0" err="1"/>
              <a:t>können</a:t>
            </a:r>
            <a:r>
              <a:rPr dirty="0"/>
              <a:t> </a:t>
            </a:r>
            <a:r>
              <a:rPr dirty="0" err="1"/>
              <a:t>wir</a:t>
            </a:r>
            <a:r>
              <a:rPr dirty="0"/>
              <a:t> </a:t>
            </a:r>
            <a:r>
              <a:rPr dirty="0" err="1"/>
              <a:t>sehr</a:t>
            </a:r>
            <a:r>
              <a:rPr dirty="0"/>
              <a:t> </a:t>
            </a:r>
            <a:r>
              <a:rPr dirty="0" err="1"/>
              <a:t>konkret</a:t>
            </a:r>
            <a:r>
              <a:rPr dirty="0"/>
              <a:t> </a:t>
            </a:r>
            <a:r>
              <a:rPr dirty="0" err="1"/>
              <a:t>prüfen</a:t>
            </a:r>
            <a:r>
              <a:rPr dirty="0"/>
              <a:t>, </a:t>
            </a:r>
            <a:endParaRPr lang="de-DE" dirty="0"/>
          </a:p>
          <a:p>
            <a:pPr lvl="1"/>
            <a:r>
              <a:rPr dirty="0" err="1"/>
              <a:t>ob</a:t>
            </a:r>
            <a:r>
              <a:rPr dirty="0"/>
              <a:t> </a:t>
            </a:r>
            <a:r>
              <a:rPr dirty="0" err="1"/>
              <a:t>ein</a:t>
            </a:r>
            <a:r>
              <a:rPr dirty="0"/>
              <a:t> System den </a:t>
            </a:r>
            <a:r>
              <a:rPr dirty="0" err="1"/>
              <a:t>richtigen</a:t>
            </a:r>
            <a:r>
              <a:rPr dirty="0"/>
              <a:t> </a:t>
            </a:r>
            <a:r>
              <a:rPr dirty="0" err="1"/>
              <a:t>Erlass</a:t>
            </a:r>
            <a:r>
              <a:rPr dirty="0"/>
              <a:t> </a:t>
            </a:r>
            <a:r>
              <a:rPr dirty="0" err="1"/>
              <a:t>findet</a:t>
            </a:r>
            <a:r>
              <a:rPr dirty="0"/>
              <a:t>,</a:t>
            </a:r>
            <a:endParaRPr lang="de-DE" dirty="0"/>
          </a:p>
          <a:p>
            <a:pPr lvl="1"/>
            <a:r>
              <a:rPr dirty="0" err="1"/>
              <a:t>ob</a:t>
            </a:r>
            <a:r>
              <a:rPr dirty="0"/>
              <a:t> es </a:t>
            </a:r>
            <a:r>
              <a:rPr dirty="0" err="1"/>
              <a:t>Quellen</a:t>
            </a:r>
            <a:r>
              <a:rPr dirty="0"/>
              <a:t> </a:t>
            </a:r>
            <a:r>
              <a:rPr dirty="0" err="1"/>
              <a:t>nennt</a:t>
            </a:r>
            <a:r>
              <a:rPr dirty="0"/>
              <a:t> </a:t>
            </a:r>
            <a:endParaRPr lang="de-DE" dirty="0"/>
          </a:p>
          <a:p>
            <a:pPr lvl="1"/>
            <a:r>
              <a:rPr dirty="0"/>
              <a:t>und </a:t>
            </a:r>
            <a:r>
              <a:rPr dirty="0" err="1"/>
              <a:t>wie</a:t>
            </a:r>
            <a:r>
              <a:rPr dirty="0"/>
              <a:t> </a:t>
            </a:r>
            <a:r>
              <a:rPr dirty="0" err="1"/>
              <a:t>viel</a:t>
            </a:r>
            <a:r>
              <a:rPr dirty="0"/>
              <a:t> </a:t>
            </a:r>
            <a:r>
              <a:rPr dirty="0" err="1"/>
              <a:t>Kontext</a:t>
            </a:r>
            <a:r>
              <a:rPr dirty="0"/>
              <a:t> es </a:t>
            </a:r>
            <a:r>
              <a:rPr dirty="0" err="1"/>
              <a:t>dafür</a:t>
            </a:r>
            <a:r>
              <a:rPr dirty="0"/>
              <a:t> </a:t>
            </a:r>
            <a:r>
              <a:rPr dirty="0" err="1"/>
              <a:t>benötigt</a:t>
            </a:r>
            <a:r>
              <a:rPr dirty="0"/>
              <a:t>. </a:t>
            </a:r>
            <a:endParaRPr lang="de-DE" dirty="0"/>
          </a:p>
          <a:p>
            <a:pPr marL="216000" lvl="1" indent="0">
              <a:buNone/>
            </a:pPr>
            <a:r>
              <a:rPr dirty="0"/>
              <a:t>Am Ende </a:t>
            </a:r>
            <a:r>
              <a:rPr dirty="0" err="1"/>
              <a:t>sollt</a:t>
            </a:r>
            <a:r>
              <a:rPr dirty="0"/>
              <a:t> </a:t>
            </a:r>
            <a:r>
              <a:rPr dirty="0" err="1"/>
              <a:t>ihr</a:t>
            </a:r>
            <a:r>
              <a:rPr dirty="0"/>
              <a:t> die </a:t>
            </a:r>
            <a:r>
              <a:rPr dirty="0" err="1"/>
              <a:t>wichtigsten</a:t>
            </a:r>
            <a:r>
              <a:rPr dirty="0"/>
              <a:t> </a:t>
            </a:r>
            <a:r>
              <a:rPr dirty="0" err="1"/>
              <a:t>Qualitätshebel</a:t>
            </a:r>
            <a:r>
              <a:rPr dirty="0"/>
              <a:t> – Chunking, Retrieval, Reranking und Evaluation – </a:t>
            </a:r>
            <a:r>
              <a:rPr dirty="0" err="1"/>
              <a:t>bewusst</a:t>
            </a:r>
            <a:r>
              <a:rPr dirty="0"/>
              <a:t> </a:t>
            </a:r>
            <a:r>
              <a:rPr lang="de-DE" dirty="0"/>
              <a:t>einsetzen</a:t>
            </a:r>
            <a:r>
              <a:rPr dirty="0"/>
              <a:t> </a:t>
            </a:r>
            <a:r>
              <a:rPr dirty="0" err="1"/>
              <a:t>können</a:t>
            </a:r>
            <a:r>
              <a:rPr dirty="0"/>
              <a:t>.</a:t>
            </a:r>
          </a:p>
          <a:p>
            <a:pPr marL="0" indent="0">
              <a:buNone/>
            </a:pPr>
            <a:endParaRPr dirty="0"/>
          </a:p>
          <a:p>
            <a:r>
              <a:rPr dirty="0" err="1"/>
              <a:t>Übergang</a:t>
            </a:r>
            <a:r>
              <a:rPr dirty="0"/>
              <a:t>: </a:t>
            </a:r>
            <a:r>
              <a:rPr dirty="0" err="1"/>
              <a:t>Schauen</a:t>
            </a:r>
            <a:r>
              <a:rPr dirty="0"/>
              <a:t> </a:t>
            </a:r>
            <a:r>
              <a:rPr dirty="0" err="1"/>
              <a:t>wir</a:t>
            </a:r>
            <a:r>
              <a:rPr dirty="0"/>
              <a:t> </a:t>
            </a:r>
            <a:r>
              <a:rPr dirty="0" err="1"/>
              <a:t>zuerst</a:t>
            </a:r>
            <a:r>
              <a:rPr dirty="0"/>
              <a:t> auf den </a:t>
            </a:r>
            <a:r>
              <a:rPr dirty="0" err="1"/>
              <a:t>Ablauf</a:t>
            </a:r>
            <a:r>
              <a:rPr dirty="0"/>
              <a:t> und das Ziel der </a:t>
            </a:r>
            <a:r>
              <a:rPr dirty="0" err="1"/>
              <a:t>kommenden</a:t>
            </a:r>
            <a:r>
              <a:rPr dirty="0"/>
              <a:t>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endParaRPr dirty="0"/>
          </a:p>
          <a:p>
            <a:r>
              <a:rPr dirty="0" err="1"/>
              <a:t>Zuerst</a:t>
            </a:r>
            <a:r>
              <a:rPr dirty="0"/>
              <a:t> </a:t>
            </a:r>
            <a:r>
              <a:rPr dirty="0" err="1"/>
              <a:t>klären</a:t>
            </a:r>
            <a:r>
              <a:rPr dirty="0"/>
              <a:t> </a:t>
            </a:r>
            <a:r>
              <a:rPr dirty="0" err="1"/>
              <a:t>wir</a:t>
            </a:r>
            <a:r>
              <a:rPr dirty="0"/>
              <a:t>, welches Problem</a:t>
            </a:r>
            <a:r>
              <a:rPr lang="de-DE" dirty="0"/>
              <a:t> ein</a:t>
            </a:r>
            <a:r>
              <a:rPr dirty="0"/>
              <a:t> RAG </a:t>
            </a:r>
            <a:r>
              <a:rPr dirty="0" err="1"/>
              <a:t>löst</a:t>
            </a:r>
            <a:r>
              <a:rPr dirty="0"/>
              <a:t>. </a:t>
            </a:r>
            <a:endParaRPr lang="de-DE" dirty="0"/>
          </a:p>
          <a:p>
            <a:r>
              <a:rPr dirty="0" err="1"/>
              <a:t>Danach</a:t>
            </a:r>
            <a:r>
              <a:rPr dirty="0"/>
              <a:t> </a:t>
            </a:r>
            <a:r>
              <a:rPr dirty="0" err="1"/>
              <a:t>bauen</a:t>
            </a:r>
            <a:r>
              <a:rPr dirty="0"/>
              <a:t> </a:t>
            </a:r>
            <a:r>
              <a:rPr dirty="0" err="1"/>
              <a:t>wir</a:t>
            </a:r>
            <a:r>
              <a:rPr dirty="0"/>
              <a:t> </a:t>
            </a:r>
            <a:r>
              <a:rPr dirty="0" err="1"/>
              <a:t>eine</a:t>
            </a:r>
            <a:r>
              <a:rPr dirty="0"/>
              <a:t> </a:t>
            </a:r>
            <a:r>
              <a:rPr dirty="0" err="1"/>
              <a:t>einfache</a:t>
            </a:r>
            <a:r>
              <a:rPr dirty="0"/>
              <a:t> Pipeline, </a:t>
            </a:r>
            <a:r>
              <a:rPr dirty="0" err="1"/>
              <a:t>verbessern</a:t>
            </a:r>
            <a:r>
              <a:rPr dirty="0"/>
              <a:t> das Chunking, </a:t>
            </a:r>
            <a:r>
              <a:rPr dirty="0" err="1"/>
              <a:t>ergänzen</a:t>
            </a:r>
            <a:r>
              <a:rPr dirty="0"/>
              <a:t> Reranking und </a:t>
            </a:r>
            <a:r>
              <a:rPr dirty="0" err="1"/>
              <a:t>schließlich</a:t>
            </a:r>
            <a:r>
              <a:rPr dirty="0"/>
              <a:t> </a:t>
            </a:r>
            <a:r>
              <a:rPr dirty="0" err="1"/>
              <a:t>GraphRAG</a:t>
            </a:r>
            <a:r>
              <a:rPr dirty="0"/>
              <a:t>. </a:t>
            </a:r>
            <a:endParaRPr lang="de-DE" dirty="0"/>
          </a:p>
          <a:p>
            <a:r>
              <a:rPr dirty="0"/>
              <a:t>Die Evaluation </a:t>
            </a:r>
            <a:r>
              <a:rPr dirty="0" err="1"/>
              <a:t>läuft</a:t>
            </a:r>
            <a:r>
              <a:rPr dirty="0"/>
              <a:t> nicht </a:t>
            </a:r>
            <a:r>
              <a:rPr dirty="0" err="1"/>
              <a:t>nur</a:t>
            </a:r>
            <a:r>
              <a:rPr dirty="0"/>
              <a:t> am Ende: Sie </a:t>
            </a:r>
            <a:r>
              <a:rPr dirty="0" err="1"/>
              <a:t>begleitet</a:t>
            </a:r>
            <a:r>
              <a:rPr dirty="0"/>
              <a:t> </a:t>
            </a:r>
            <a:r>
              <a:rPr dirty="0" err="1"/>
              <a:t>jede</a:t>
            </a:r>
            <a:r>
              <a:rPr dirty="0"/>
              <a:t> </a:t>
            </a:r>
            <a:r>
              <a:rPr dirty="0" err="1"/>
              <a:t>Stufe</a:t>
            </a:r>
            <a:r>
              <a:rPr dirty="0"/>
              <a:t>, </a:t>
            </a:r>
            <a:r>
              <a:rPr dirty="0" err="1"/>
              <a:t>damit</a:t>
            </a:r>
            <a:r>
              <a:rPr dirty="0"/>
              <a:t> </a:t>
            </a:r>
            <a:r>
              <a:rPr dirty="0" err="1"/>
              <a:t>wir</a:t>
            </a:r>
            <a:r>
              <a:rPr dirty="0"/>
              <a:t> </a:t>
            </a:r>
            <a:r>
              <a:rPr dirty="0" err="1"/>
              <a:t>sehen</a:t>
            </a:r>
            <a:r>
              <a:rPr dirty="0"/>
              <a:t>, </a:t>
            </a:r>
            <a:r>
              <a:rPr dirty="0" err="1"/>
              <a:t>welche</a:t>
            </a:r>
            <a:r>
              <a:rPr dirty="0"/>
              <a:t> </a:t>
            </a:r>
            <a:r>
              <a:rPr dirty="0" err="1"/>
              <a:t>Änderung</a:t>
            </a:r>
            <a:r>
              <a:rPr dirty="0"/>
              <a:t> </a:t>
            </a:r>
            <a:r>
              <a:rPr dirty="0" err="1"/>
              <a:t>tatsächlich</a:t>
            </a:r>
            <a:r>
              <a:rPr dirty="0"/>
              <a:t> </a:t>
            </a:r>
            <a:r>
              <a:rPr dirty="0" err="1"/>
              <a:t>einen</a:t>
            </a:r>
            <a:r>
              <a:rPr dirty="0"/>
              <a:t> </a:t>
            </a:r>
            <a:r>
              <a:rPr dirty="0" err="1"/>
              <a:t>messbaren</a:t>
            </a:r>
            <a:r>
              <a:rPr dirty="0"/>
              <a:t> </a:t>
            </a:r>
            <a:r>
              <a:rPr dirty="0" err="1"/>
              <a:t>Effekt</a:t>
            </a:r>
            <a:r>
              <a:rPr dirty="0"/>
              <a:t> hat.</a:t>
            </a:r>
          </a:p>
          <a:p>
            <a:endParaRPr dirty="0"/>
          </a:p>
          <a:p>
            <a:r>
              <a:rPr dirty="0" err="1"/>
              <a:t>Publikumsfrage</a:t>
            </a:r>
            <a:r>
              <a:rPr dirty="0"/>
              <a:t>: </a:t>
            </a:r>
            <a:r>
              <a:rPr dirty="0" err="1"/>
              <a:t>Wer</a:t>
            </a:r>
            <a:r>
              <a:rPr dirty="0"/>
              <a:t> hat </a:t>
            </a:r>
            <a:r>
              <a:rPr dirty="0" err="1"/>
              <a:t>bereits</a:t>
            </a:r>
            <a:r>
              <a:rPr dirty="0"/>
              <a:t> </a:t>
            </a:r>
            <a:r>
              <a:rPr dirty="0" err="1"/>
              <a:t>selbst</a:t>
            </a:r>
            <a:r>
              <a:rPr dirty="0"/>
              <a:t> </a:t>
            </a:r>
            <a:r>
              <a:rPr dirty="0" err="1"/>
              <a:t>ein</a:t>
            </a:r>
            <a:r>
              <a:rPr dirty="0"/>
              <a:t> RAG-System </a:t>
            </a:r>
            <a:r>
              <a:rPr dirty="0" err="1"/>
              <a:t>gebaut</a:t>
            </a:r>
            <a:r>
              <a:rPr dirty="0"/>
              <a:t> </a:t>
            </a:r>
            <a:r>
              <a:rPr dirty="0" err="1"/>
              <a:t>oder</a:t>
            </a:r>
            <a:r>
              <a:rPr dirty="0"/>
              <a:t> </a:t>
            </a:r>
            <a:r>
              <a:rPr dirty="0" err="1"/>
              <a:t>eine</a:t>
            </a:r>
            <a:r>
              <a:rPr dirty="0"/>
              <a:t> </a:t>
            </a:r>
            <a:r>
              <a:rPr dirty="0" err="1"/>
              <a:t>Vektordatenbank</a:t>
            </a:r>
            <a:r>
              <a:rPr dirty="0"/>
              <a:t> </a:t>
            </a:r>
            <a:r>
              <a:rPr dirty="0" err="1"/>
              <a:t>verwendet</a:t>
            </a:r>
            <a:r>
              <a:rPr dirty="0"/>
              <a:t>?</a:t>
            </a:r>
            <a:endParaRPr lang="de-DE" dirty="0"/>
          </a:p>
          <a:p>
            <a:endParaRPr lang="de-DE" dirty="0"/>
          </a:p>
          <a:p>
            <a:r>
              <a:rPr lang="de-DE" dirty="0"/>
              <a:t>Übergang: Dann schauen wir noch kurz auf die Dinge, die ihr heute mitnehmen könnt:</a:t>
            </a:r>
          </a:p>
          <a:p>
            <a:endParaRPr lang="de-DE" dirty="0"/>
          </a:p>
          <a:p>
            <a:endParaRPr dirty="0"/>
          </a:p>
          <a:p>
            <a:pPr marL="0" indent="0">
              <a:buNone/>
            </a:pP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081088" y="617538"/>
            <a:ext cx="4695825" cy="2641600"/>
          </a:xfrm>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042C5124-4C40-4574-A599-2A4750070F64}" type="slidenum">
              <a:rPr lang="de-DE" smtClean="0"/>
              <a:pPr/>
              <a:t>3</a:t>
            </a:fld>
            <a:endParaRPr lang="de-DE"/>
          </a:p>
        </p:txBody>
      </p:sp>
    </p:spTree>
    <p:extLst>
      <p:ext uri="{BB962C8B-B14F-4D97-AF65-F5344CB8AC3E}">
        <p14:creationId xmlns:p14="http://schemas.microsoft.com/office/powerpoint/2010/main" val="22980342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rPr dirty="0" err="1"/>
              <a:t>Kernbotschaft</a:t>
            </a:r>
            <a:r>
              <a:rPr dirty="0"/>
              <a:t>: RAG, MCP, Skills und </a:t>
            </a:r>
            <a:r>
              <a:rPr dirty="0" err="1"/>
              <a:t>große</a:t>
            </a:r>
            <a:r>
              <a:rPr dirty="0"/>
              <a:t> </a:t>
            </a:r>
            <a:r>
              <a:rPr dirty="0" err="1"/>
              <a:t>Kontextfenster</a:t>
            </a:r>
            <a:r>
              <a:rPr dirty="0"/>
              <a:t> </a:t>
            </a:r>
            <a:r>
              <a:rPr dirty="0" err="1"/>
              <a:t>lösen</a:t>
            </a:r>
            <a:r>
              <a:rPr dirty="0"/>
              <a:t> </a:t>
            </a:r>
            <a:r>
              <a:rPr dirty="0" err="1"/>
              <a:t>unterschiedliche</a:t>
            </a:r>
            <a:r>
              <a:rPr dirty="0"/>
              <a:t> </a:t>
            </a:r>
            <a:r>
              <a:rPr dirty="0" err="1"/>
              <a:t>Aufgaben</a:t>
            </a:r>
            <a:r>
              <a:rPr dirty="0"/>
              <a:t> </a:t>
            </a:r>
            <a:r>
              <a:rPr dirty="0" err="1"/>
              <a:t>im</a:t>
            </a:r>
            <a:r>
              <a:rPr dirty="0"/>
              <a:t> Context Engineering.</a:t>
            </a:r>
          </a:p>
          <a:p>
            <a:endParaRPr dirty="0"/>
          </a:p>
          <a:p>
            <a:r>
              <a:rPr dirty="0" err="1"/>
              <a:t>Sprechtext</a:t>
            </a:r>
            <a:r>
              <a:rPr dirty="0"/>
              <a:t>: RAG </a:t>
            </a:r>
            <a:r>
              <a:rPr dirty="0" err="1"/>
              <a:t>ruft</a:t>
            </a:r>
            <a:r>
              <a:rPr dirty="0"/>
              <a:t> </a:t>
            </a:r>
            <a:r>
              <a:rPr dirty="0" err="1"/>
              <a:t>relevante</a:t>
            </a:r>
            <a:r>
              <a:rPr dirty="0"/>
              <a:t> </a:t>
            </a:r>
            <a:r>
              <a:rPr dirty="0" err="1"/>
              <a:t>Dokument</a:t>
            </a:r>
            <a:r>
              <a:rPr dirty="0"/>
              <a:t>-Chunks </a:t>
            </a:r>
            <a:r>
              <a:rPr dirty="0" err="1"/>
              <a:t>bei</a:t>
            </a:r>
            <a:r>
              <a:rPr dirty="0"/>
              <a:t> </a:t>
            </a:r>
            <a:r>
              <a:rPr dirty="0" err="1"/>
              <a:t>Bedarf</a:t>
            </a:r>
            <a:r>
              <a:rPr dirty="0"/>
              <a:t> ab. MCP </a:t>
            </a:r>
            <a:r>
              <a:rPr dirty="0" err="1"/>
              <a:t>macht</a:t>
            </a:r>
            <a:r>
              <a:rPr dirty="0"/>
              <a:t> </a:t>
            </a:r>
            <a:r>
              <a:rPr dirty="0" err="1"/>
              <a:t>Datenquellen</a:t>
            </a:r>
            <a:r>
              <a:rPr dirty="0"/>
              <a:t> </a:t>
            </a:r>
            <a:r>
              <a:rPr dirty="0" err="1"/>
              <a:t>oder</a:t>
            </a:r>
            <a:r>
              <a:rPr dirty="0"/>
              <a:t> </a:t>
            </a:r>
            <a:r>
              <a:rPr dirty="0" err="1"/>
              <a:t>Aktionen</a:t>
            </a:r>
            <a:r>
              <a:rPr dirty="0"/>
              <a:t> </a:t>
            </a:r>
            <a:r>
              <a:rPr dirty="0" err="1"/>
              <a:t>über</a:t>
            </a:r>
            <a:r>
              <a:rPr dirty="0"/>
              <a:t> </a:t>
            </a:r>
            <a:r>
              <a:rPr dirty="0" err="1"/>
              <a:t>standardisierte</a:t>
            </a:r>
            <a:r>
              <a:rPr dirty="0"/>
              <a:t> </a:t>
            </a:r>
            <a:r>
              <a:rPr dirty="0" err="1"/>
              <a:t>Connectoren</a:t>
            </a:r>
            <a:r>
              <a:rPr dirty="0"/>
              <a:t> </a:t>
            </a:r>
            <a:r>
              <a:rPr dirty="0" err="1"/>
              <a:t>verfügbar</a:t>
            </a:r>
            <a:r>
              <a:rPr dirty="0"/>
              <a:t>. Skills </a:t>
            </a:r>
            <a:r>
              <a:rPr dirty="0" err="1"/>
              <a:t>bündeln</a:t>
            </a:r>
            <a:r>
              <a:rPr dirty="0"/>
              <a:t> </a:t>
            </a:r>
            <a:r>
              <a:rPr dirty="0" err="1"/>
              <a:t>spezialisierte</a:t>
            </a:r>
            <a:r>
              <a:rPr dirty="0"/>
              <a:t> </a:t>
            </a:r>
            <a:r>
              <a:rPr dirty="0" err="1"/>
              <a:t>Anweisungen</a:t>
            </a:r>
            <a:r>
              <a:rPr dirty="0"/>
              <a:t> und </a:t>
            </a:r>
            <a:r>
              <a:rPr dirty="0" err="1"/>
              <a:t>Arbeitsabläufe</a:t>
            </a:r>
            <a:r>
              <a:rPr dirty="0"/>
              <a:t>, die </a:t>
            </a:r>
            <a:r>
              <a:rPr dirty="0" err="1"/>
              <a:t>nur</a:t>
            </a:r>
            <a:r>
              <a:rPr dirty="0"/>
              <a:t> </a:t>
            </a:r>
            <a:r>
              <a:rPr dirty="0" err="1"/>
              <a:t>bei</a:t>
            </a:r>
            <a:r>
              <a:rPr dirty="0"/>
              <a:t> </a:t>
            </a:r>
            <a:r>
              <a:rPr dirty="0" err="1"/>
              <a:t>Bedarf</a:t>
            </a:r>
            <a:r>
              <a:rPr dirty="0"/>
              <a:t> </a:t>
            </a:r>
            <a:r>
              <a:rPr dirty="0" err="1"/>
              <a:t>geladen</a:t>
            </a:r>
            <a:r>
              <a:rPr dirty="0"/>
              <a:t> </a:t>
            </a:r>
            <a:r>
              <a:rPr dirty="0" err="1"/>
              <a:t>werden</a:t>
            </a:r>
            <a:r>
              <a:rPr dirty="0"/>
              <a:t>. Ein </a:t>
            </a:r>
            <a:r>
              <a:rPr dirty="0" err="1"/>
              <a:t>großes</a:t>
            </a:r>
            <a:r>
              <a:rPr dirty="0"/>
              <a:t> </a:t>
            </a:r>
            <a:r>
              <a:rPr dirty="0" err="1"/>
              <a:t>Kontextfenster</a:t>
            </a:r>
            <a:r>
              <a:rPr dirty="0"/>
              <a:t> </a:t>
            </a:r>
            <a:r>
              <a:rPr dirty="0" err="1"/>
              <a:t>kann</a:t>
            </a:r>
            <a:r>
              <a:rPr dirty="0"/>
              <a:t> </a:t>
            </a:r>
            <a:r>
              <a:rPr dirty="0" err="1"/>
              <a:t>viel</a:t>
            </a:r>
            <a:r>
              <a:rPr dirty="0"/>
              <a:t> Material </a:t>
            </a:r>
            <a:r>
              <a:rPr dirty="0" err="1"/>
              <a:t>direkt</a:t>
            </a:r>
            <a:r>
              <a:rPr dirty="0"/>
              <a:t> </a:t>
            </a:r>
            <a:r>
              <a:rPr dirty="0" err="1"/>
              <a:t>aufnehmen</a:t>
            </a:r>
            <a:r>
              <a:rPr dirty="0"/>
              <a:t>, </a:t>
            </a:r>
            <a:r>
              <a:rPr dirty="0" err="1"/>
              <a:t>ist</a:t>
            </a:r>
            <a:r>
              <a:rPr dirty="0"/>
              <a:t> </a:t>
            </a:r>
            <a:r>
              <a:rPr dirty="0" err="1"/>
              <a:t>aber</a:t>
            </a:r>
            <a:r>
              <a:rPr dirty="0"/>
              <a:t> </a:t>
            </a:r>
            <a:r>
              <a:rPr dirty="0" err="1"/>
              <a:t>häufig</a:t>
            </a:r>
            <a:r>
              <a:rPr dirty="0"/>
              <a:t> die </a:t>
            </a:r>
            <a:r>
              <a:rPr dirty="0" err="1"/>
              <a:t>teuerste</a:t>
            </a:r>
            <a:r>
              <a:rPr dirty="0"/>
              <a:t> und </a:t>
            </a:r>
            <a:r>
              <a:rPr dirty="0" err="1"/>
              <a:t>unpräziseste</a:t>
            </a:r>
            <a:r>
              <a:rPr dirty="0"/>
              <a:t> Brute-Force-</a:t>
            </a:r>
            <a:r>
              <a:rPr dirty="0" err="1"/>
              <a:t>Variante</a:t>
            </a:r>
            <a:r>
              <a:rPr dirty="0"/>
              <a:t>.</a:t>
            </a:r>
          </a:p>
          <a:p>
            <a:endParaRPr dirty="0"/>
          </a:p>
          <a:p>
            <a:r>
              <a:rPr dirty="0" err="1"/>
              <a:t>Wichtig</a:t>
            </a:r>
            <a:r>
              <a:rPr dirty="0"/>
              <a:t>: Ein Skill </a:t>
            </a:r>
            <a:r>
              <a:rPr dirty="0" err="1"/>
              <a:t>ist</a:t>
            </a:r>
            <a:r>
              <a:rPr dirty="0"/>
              <a:t> nicht </a:t>
            </a:r>
            <a:r>
              <a:rPr dirty="0" err="1"/>
              <a:t>einfach</a:t>
            </a:r>
            <a:r>
              <a:rPr dirty="0"/>
              <a:t> </a:t>
            </a:r>
            <a:r>
              <a:rPr dirty="0" err="1"/>
              <a:t>eine</a:t>
            </a:r>
            <a:r>
              <a:rPr dirty="0"/>
              <a:t> </a:t>
            </a:r>
            <a:r>
              <a:rPr dirty="0" err="1"/>
              <a:t>Wissensdatenbank</a:t>
            </a:r>
            <a:r>
              <a:rPr dirty="0"/>
              <a:t>. Er </a:t>
            </a:r>
            <a:r>
              <a:rPr dirty="0" err="1"/>
              <a:t>beschreibt</a:t>
            </a:r>
            <a:r>
              <a:rPr dirty="0"/>
              <a:t> </a:t>
            </a:r>
            <a:r>
              <a:rPr dirty="0" err="1"/>
              <a:t>vor</a:t>
            </a:r>
            <a:r>
              <a:rPr dirty="0"/>
              <a:t> </a:t>
            </a:r>
            <a:r>
              <a:rPr dirty="0" err="1"/>
              <a:t>allem</a:t>
            </a:r>
            <a:r>
              <a:rPr dirty="0"/>
              <a:t>, </a:t>
            </a:r>
            <a:r>
              <a:rPr dirty="0" err="1"/>
              <a:t>wie</a:t>
            </a:r>
            <a:r>
              <a:rPr dirty="0"/>
              <a:t> </a:t>
            </a:r>
            <a:r>
              <a:rPr dirty="0" err="1"/>
              <a:t>eine</a:t>
            </a:r>
            <a:r>
              <a:rPr dirty="0"/>
              <a:t> Aufgabe </a:t>
            </a:r>
            <a:r>
              <a:rPr dirty="0" err="1"/>
              <a:t>ausgeführt</a:t>
            </a:r>
            <a:r>
              <a:rPr dirty="0"/>
              <a:t> </a:t>
            </a:r>
            <a:r>
              <a:rPr dirty="0" err="1"/>
              <a:t>werden</a:t>
            </a:r>
            <a:r>
              <a:rPr dirty="0"/>
              <a:t> </a:t>
            </a:r>
            <a:r>
              <a:rPr dirty="0" err="1"/>
              <a:t>soll</a:t>
            </a:r>
            <a:r>
              <a:rPr dirty="0"/>
              <a:t>; RAG </a:t>
            </a:r>
            <a:r>
              <a:rPr dirty="0" err="1"/>
              <a:t>liefert</a:t>
            </a:r>
            <a:r>
              <a:rPr dirty="0"/>
              <a:t> </a:t>
            </a:r>
            <a:r>
              <a:rPr dirty="0" err="1"/>
              <a:t>dagegen</a:t>
            </a:r>
            <a:r>
              <a:rPr dirty="0"/>
              <a:t> die </a:t>
            </a:r>
            <a:r>
              <a:rPr dirty="0" err="1"/>
              <a:t>konkreten</a:t>
            </a:r>
            <a:r>
              <a:rPr dirty="0"/>
              <a:t> </a:t>
            </a:r>
            <a:r>
              <a:rPr dirty="0" err="1"/>
              <a:t>Dokumentinhalte</a:t>
            </a:r>
            <a:r>
              <a:rPr dirty="0"/>
              <a:t>.</a:t>
            </a:r>
          </a:p>
          <a:p>
            <a:pPr marL="0" indent="0">
              <a:buNone/>
            </a:pPr>
            <a:endParaRPr lang="de-DE" dirty="0"/>
          </a:p>
          <a:p>
            <a:pPr marL="0" indent="0">
              <a:buNone/>
            </a:pPr>
            <a:endParaRPr lang="de-DE" dirty="0"/>
          </a:p>
          <a:p>
            <a:pPr marL="0" indent="0">
              <a:buNone/>
            </a:pPr>
            <a:r>
              <a:rPr lang="de-DE" dirty="0"/>
              <a:t>Daniel wird uns jetzt den Aufbau eines Full RAGs zeigen:</a:t>
            </a:r>
            <a:endParaRPr lang="de-CH" dirty="0"/>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Chunking </a:t>
            </a:r>
            <a:r>
              <a:rPr dirty="0" err="1"/>
              <a:t>bestimmt</a:t>
            </a:r>
            <a:r>
              <a:rPr dirty="0"/>
              <a:t>, </a:t>
            </a:r>
            <a:r>
              <a:rPr dirty="0" err="1"/>
              <a:t>welche</a:t>
            </a:r>
            <a:r>
              <a:rPr dirty="0"/>
              <a:t> </a:t>
            </a:r>
            <a:r>
              <a:rPr dirty="0" err="1"/>
              <a:t>Bedeutungseinheiten</a:t>
            </a:r>
            <a:r>
              <a:rPr dirty="0"/>
              <a:t> </a:t>
            </a:r>
            <a:r>
              <a:rPr dirty="0" err="1"/>
              <a:t>später</a:t>
            </a:r>
            <a:r>
              <a:rPr dirty="0"/>
              <a:t> </a:t>
            </a:r>
            <a:r>
              <a:rPr dirty="0" err="1"/>
              <a:t>überhaupt</a:t>
            </a:r>
            <a:r>
              <a:rPr dirty="0"/>
              <a:t> </a:t>
            </a:r>
            <a:r>
              <a:rPr dirty="0" err="1"/>
              <a:t>als</a:t>
            </a:r>
            <a:r>
              <a:rPr dirty="0"/>
              <a:t> Treffer </a:t>
            </a:r>
            <a:r>
              <a:rPr dirty="0" err="1"/>
              <a:t>zurückkommen</a:t>
            </a:r>
            <a:r>
              <a:rPr dirty="0"/>
              <a:t> </a:t>
            </a:r>
            <a:r>
              <a:rPr dirty="0" err="1"/>
              <a:t>können</a:t>
            </a:r>
            <a:r>
              <a:rPr dirty="0"/>
              <a:t>.</a:t>
            </a:r>
          </a:p>
          <a:p>
            <a:endParaRPr dirty="0"/>
          </a:p>
          <a:p>
            <a:r>
              <a:rPr dirty="0" err="1"/>
              <a:t>Sprechtext</a:t>
            </a:r>
            <a:r>
              <a:rPr dirty="0"/>
              <a:t>: Links </a:t>
            </a:r>
            <a:r>
              <a:rPr dirty="0" err="1"/>
              <a:t>sehen</a:t>
            </a:r>
            <a:r>
              <a:rPr dirty="0"/>
              <a:t> </a:t>
            </a:r>
            <a:r>
              <a:rPr dirty="0" err="1"/>
              <a:t>wir</a:t>
            </a:r>
            <a:r>
              <a:rPr dirty="0"/>
              <a:t> Fixed-Size-Chunking </a:t>
            </a:r>
            <a:r>
              <a:rPr dirty="0" err="1"/>
              <a:t>mit</a:t>
            </a:r>
            <a:r>
              <a:rPr dirty="0"/>
              <a:t> </a:t>
            </a:r>
            <a:r>
              <a:rPr dirty="0" err="1"/>
              <a:t>einem</a:t>
            </a:r>
            <a:r>
              <a:rPr dirty="0"/>
              <a:t> </a:t>
            </a:r>
            <a:r>
              <a:rPr dirty="0" err="1"/>
              <a:t>starren</a:t>
            </a:r>
            <a:r>
              <a:rPr dirty="0"/>
              <a:t> Budget von 800 </a:t>
            </a:r>
            <a:r>
              <a:rPr dirty="0" err="1"/>
              <a:t>Zeichen</a:t>
            </a:r>
            <a:r>
              <a:rPr dirty="0"/>
              <a:t>. Die </a:t>
            </a:r>
            <a:r>
              <a:rPr dirty="0" err="1"/>
              <a:t>Grenze</a:t>
            </a:r>
            <a:r>
              <a:rPr dirty="0"/>
              <a:t> </a:t>
            </a:r>
            <a:r>
              <a:rPr dirty="0" err="1"/>
              <a:t>kann</a:t>
            </a:r>
            <a:r>
              <a:rPr dirty="0"/>
              <a:t> mitten in </a:t>
            </a:r>
            <a:r>
              <a:rPr dirty="0" err="1"/>
              <a:t>einem</a:t>
            </a:r>
            <a:r>
              <a:rPr dirty="0"/>
              <a:t> Satz </a:t>
            </a:r>
            <a:r>
              <a:rPr dirty="0" err="1"/>
              <a:t>oder</a:t>
            </a:r>
            <a:r>
              <a:rPr dirty="0"/>
              <a:t> </a:t>
            </a:r>
            <a:r>
              <a:rPr dirty="0" err="1"/>
              <a:t>direkt</a:t>
            </a:r>
            <a:r>
              <a:rPr dirty="0"/>
              <a:t> </a:t>
            </a:r>
            <a:r>
              <a:rPr dirty="0" err="1"/>
              <a:t>vor</a:t>
            </a:r>
            <a:r>
              <a:rPr dirty="0"/>
              <a:t> dem </a:t>
            </a:r>
            <a:r>
              <a:rPr dirty="0" err="1"/>
              <a:t>nächsten</a:t>
            </a:r>
            <a:r>
              <a:rPr dirty="0"/>
              <a:t> Artikel </a:t>
            </a:r>
            <a:r>
              <a:rPr dirty="0" err="1"/>
              <a:t>liegen</a:t>
            </a:r>
            <a:r>
              <a:rPr dirty="0"/>
              <a:t>. </a:t>
            </a:r>
            <a:r>
              <a:rPr dirty="0" err="1"/>
              <a:t>Dadurch</a:t>
            </a:r>
            <a:r>
              <a:rPr dirty="0"/>
              <a:t> </a:t>
            </a:r>
            <a:r>
              <a:rPr dirty="0" err="1"/>
              <a:t>verliert</a:t>
            </a:r>
            <a:r>
              <a:rPr dirty="0"/>
              <a:t> </a:t>
            </a:r>
            <a:r>
              <a:rPr dirty="0" err="1"/>
              <a:t>ein</a:t>
            </a:r>
            <a:r>
              <a:rPr dirty="0"/>
              <a:t> Treffer </a:t>
            </a:r>
            <a:r>
              <a:rPr dirty="0" err="1"/>
              <a:t>Kontext</a:t>
            </a:r>
            <a:r>
              <a:rPr dirty="0"/>
              <a:t> </a:t>
            </a:r>
            <a:r>
              <a:rPr dirty="0" err="1"/>
              <a:t>oder</a:t>
            </a:r>
            <a:r>
              <a:rPr dirty="0"/>
              <a:t> </a:t>
            </a:r>
            <a:r>
              <a:rPr dirty="0" err="1"/>
              <a:t>vermischt</a:t>
            </a:r>
            <a:r>
              <a:rPr dirty="0"/>
              <a:t> </a:t>
            </a:r>
            <a:r>
              <a:rPr dirty="0" err="1"/>
              <a:t>mehrere</a:t>
            </a:r>
            <a:r>
              <a:rPr dirty="0"/>
              <a:t> Artikel. </a:t>
            </a:r>
            <a:r>
              <a:rPr dirty="0" err="1"/>
              <a:t>Rechts</a:t>
            </a:r>
            <a:r>
              <a:rPr dirty="0"/>
              <a:t> </a:t>
            </a:r>
            <a:r>
              <a:rPr dirty="0" err="1"/>
              <a:t>orientiert</a:t>
            </a:r>
            <a:r>
              <a:rPr dirty="0"/>
              <a:t> </a:t>
            </a:r>
            <a:r>
              <a:rPr dirty="0" err="1"/>
              <a:t>sich</a:t>
            </a:r>
            <a:r>
              <a:rPr dirty="0"/>
              <a:t> </a:t>
            </a:r>
            <a:r>
              <a:rPr dirty="0" err="1"/>
              <a:t>unser</a:t>
            </a:r>
            <a:r>
              <a:rPr dirty="0"/>
              <a:t> </a:t>
            </a:r>
            <a:r>
              <a:rPr dirty="0" err="1"/>
              <a:t>verbessertes</a:t>
            </a:r>
            <a:r>
              <a:rPr dirty="0"/>
              <a:t> </a:t>
            </a:r>
            <a:r>
              <a:rPr dirty="0" err="1"/>
              <a:t>Verfahren</a:t>
            </a:r>
            <a:r>
              <a:rPr dirty="0"/>
              <a:t> </a:t>
            </a:r>
            <a:r>
              <a:rPr dirty="0" err="1"/>
              <a:t>primär</a:t>
            </a:r>
            <a:r>
              <a:rPr dirty="0"/>
              <a:t> an Markdown- und </a:t>
            </a:r>
            <a:r>
              <a:rPr dirty="0" err="1"/>
              <a:t>Artikelüberschriften</a:t>
            </a:r>
            <a:r>
              <a:rPr dirty="0"/>
              <a:t>. </a:t>
            </a:r>
            <a:r>
              <a:rPr dirty="0" err="1"/>
              <a:t>Übergroße</a:t>
            </a:r>
            <a:r>
              <a:rPr dirty="0"/>
              <a:t> Artikel </a:t>
            </a:r>
            <a:r>
              <a:rPr dirty="0" err="1"/>
              <a:t>werden</a:t>
            </a:r>
            <a:r>
              <a:rPr dirty="0"/>
              <a:t> </a:t>
            </a:r>
            <a:r>
              <a:rPr dirty="0" err="1"/>
              <a:t>zusätzlich</a:t>
            </a:r>
            <a:r>
              <a:rPr dirty="0"/>
              <a:t> an </a:t>
            </a:r>
            <a:r>
              <a:rPr dirty="0" err="1"/>
              <a:t>Satzgrenzen</a:t>
            </a:r>
            <a:r>
              <a:rPr dirty="0"/>
              <a:t> </a:t>
            </a:r>
            <a:r>
              <a:rPr dirty="0" err="1"/>
              <a:t>geteilt</a:t>
            </a:r>
            <a:r>
              <a:rPr dirty="0"/>
              <a:t>; </a:t>
            </a:r>
            <a:r>
              <a:rPr dirty="0" err="1"/>
              <a:t>kleine</a:t>
            </a:r>
            <a:r>
              <a:rPr dirty="0"/>
              <a:t> </a:t>
            </a:r>
            <a:r>
              <a:rPr dirty="0" err="1"/>
              <a:t>zusammengehörige</a:t>
            </a:r>
            <a:r>
              <a:rPr dirty="0"/>
              <a:t> </a:t>
            </a:r>
            <a:r>
              <a:rPr dirty="0" err="1"/>
              <a:t>Blöcke</a:t>
            </a:r>
            <a:r>
              <a:rPr dirty="0"/>
              <a:t> </a:t>
            </a:r>
            <a:r>
              <a:rPr dirty="0" err="1"/>
              <a:t>werden</a:t>
            </a:r>
            <a:r>
              <a:rPr dirty="0"/>
              <a:t> bis </a:t>
            </a:r>
            <a:r>
              <a:rPr dirty="0" err="1"/>
              <a:t>zum</a:t>
            </a:r>
            <a:r>
              <a:rPr dirty="0"/>
              <a:t> Budget </a:t>
            </a:r>
            <a:r>
              <a:rPr dirty="0" err="1"/>
              <a:t>verbunden</a:t>
            </a:r>
            <a:r>
              <a:rPr dirty="0"/>
              <a:t>.</a:t>
            </a:r>
          </a:p>
          <a:p>
            <a:endParaRPr dirty="0"/>
          </a:p>
          <a:p>
            <a:r>
              <a:rPr dirty="0" err="1"/>
              <a:t>Präzisierung</a:t>
            </a:r>
            <a:r>
              <a:rPr dirty="0"/>
              <a:t>: Unser Budget </a:t>
            </a:r>
            <a:r>
              <a:rPr dirty="0" err="1"/>
              <a:t>beträgt</a:t>
            </a:r>
            <a:r>
              <a:rPr dirty="0"/>
              <a:t> 800 </a:t>
            </a:r>
            <a:r>
              <a:rPr dirty="0" err="1"/>
              <a:t>Zeichen</a:t>
            </a:r>
            <a:r>
              <a:rPr dirty="0"/>
              <a:t>, nicht 800 Tokens. Das </a:t>
            </a:r>
            <a:r>
              <a:rPr dirty="0" err="1"/>
              <a:t>Verfahren</a:t>
            </a:r>
            <a:r>
              <a:rPr dirty="0"/>
              <a:t> </a:t>
            </a:r>
            <a:r>
              <a:rPr dirty="0" err="1"/>
              <a:t>ist</a:t>
            </a:r>
            <a:r>
              <a:rPr dirty="0"/>
              <a:t> </a:t>
            </a:r>
            <a:r>
              <a:rPr dirty="0" err="1"/>
              <a:t>deshalb</a:t>
            </a:r>
            <a:r>
              <a:rPr dirty="0"/>
              <a:t> </a:t>
            </a:r>
            <a:r>
              <a:rPr dirty="0" err="1"/>
              <a:t>besser</a:t>
            </a:r>
            <a:r>
              <a:rPr dirty="0"/>
              <a:t> </a:t>
            </a:r>
            <a:r>
              <a:rPr dirty="0" err="1"/>
              <a:t>als</a:t>
            </a:r>
            <a:r>
              <a:rPr dirty="0"/>
              <a:t> „</a:t>
            </a:r>
            <a:r>
              <a:rPr dirty="0" err="1"/>
              <a:t>strukturorientiertes</a:t>
            </a:r>
            <a:r>
              <a:rPr dirty="0"/>
              <a:t> Chunking“ </a:t>
            </a:r>
            <a:r>
              <a:rPr dirty="0" err="1"/>
              <a:t>beschrieben</a:t>
            </a:r>
            <a:r>
              <a:rPr dirty="0"/>
              <a:t>; es </a:t>
            </a:r>
            <a:r>
              <a:rPr dirty="0" err="1"/>
              <a:t>ist</a:t>
            </a:r>
            <a:r>
              <a:rPr dirty="0"/>
              <a:t> </a:t>
            </a:r>
            <a:r>
              <a:rPr dirty="0" err="1"/>
              <a:t>kein</a:t>
            </a:r>
            <a:r>
              <a:rPr dirty="0"/>
              <a:t> LLM-</a:t>
            </a:r>
            <a:r>
              <a:rPr dirty="0" err="1"/>
              <a:t>basiertes</a:t>
            </a:r>
            <a:r>
              <a:rPr dirty="0"/>
              <a:t> </a:t>
            </a:r>
            <a:r>
              <a:rPr dirty="0" err="1"/>
              <a:t>semantisches</a:t>
            </a:r>
            <a:r>
              <a:rPr dirty="0"/>
              <a:t> Chunking.</a:t>
            </a:r>
          </a:p>
          <a:p>
            <a:endParaRPr dirty="0"/>
          </a:p>
          <a:p>
            <a:r>
              <a:rPr dirty="0" err="1"/>
              <a:t>Zusätzlich</a:t>
            </a:r>
            <a:r>
              <a:rPr dirty="0"/>
              <a:t> </a:t>
            </a:r>
            <a:r>
              <a:rPr dirty="0" err="1"/>
              <a:t>entfernen</a:t>
            </a:r>
            <a:r>
              <a:rPr dirty="0"/>
              <a:t> </a:t>
            </a:r>
            <a:r>
              <a:rPr dirty="0" err="1"/>
              <a:t>wir</a:t>
            </a:r>
            <a:r>
              <a:rPr dirty="0"/>
              <a:t> </a:t>
            </a:r>
            <a:r>
              <a:rPr dirty="0" err="1"/>
              <a:t>typisches</a:t>
            </a:r>
            <a:r>
              <a:rPr dirty="0"/>
              <a:t> PDF-</a:t>
            </a:r>
            <a:r>
              <a:rPr dirty="0" err="1"/>
              <a:t>Rauschen</a:t>
            </a:r>
            <a:r>
              <a:rPr dirty="0"/>
              <a:t> </a:t>
            </a:r>
            <a:r>
              <a:rPr dirty="0" err="1"/>
              <a:t>wie</a:t>
            </a:r>
            <a:r>
              <a:rPr dirty="0"/>
              <a:t> </a:t>
            </a:r>
            <a:r>
              <a:rPr dirty="0" err="1"/>
              <a:t>Seitenmarker</a:t>
            </a:r>
            <a:r>
              <a:rPr dirty="0"/>
              <a:t>, </a:t>
            </a:r>
            <a:r>
              <a:rPr dirty="0" err="1"/>
              <a:t>Inhaltsverzeichnisse</a:t>
            </a:r>
            <a:r>
              <a:rPr dirty="0"/>
              <a:t> und </a:t>
            </a:r>
            <a:r>
              <a:rPr dirty="0" err="1"/>
              <a:t>isolierte</a:t>
            </a:r>
            <a:r>
              <a:rPr dirty="0"/>
              <a:t> </a:t>
            </a:r>
            <a:r>
              <a:rPr dirty="0" err="1"/>
              <a:t>Fundstellenblöcke</a:t>
            </a:r>
            <a:r>
              <a:rPr dirty="0"/>
              <a:t>. </a:t>
            </a:r>
            <a:r>
              <a:rPr dirty="0" err="1"/>
              <a:t>Quellen</a:t>
            </a:r>
            <a:r>
              <a:rPr dirty="0"/>
              <a:t>, die </a:t>
            </a:r>
            <a:r>
              <a:rPr dirty="0" err="1"/>
              <a:t>zum</a:t>
            </a:r>
            <a:r>
              <a:rPr dirty="0"/>
              <a:t> </a:t>
            </a:r>
            <a:r>
              <a:rPr dirty="0" err="1"/>
              <a:t>Gesetzesinhalt</a:t>
            </a:r>
            <a:r>
              <a:rPr dirty="0"/>
              <a:t> </a:t>
            </a:r>
            <a:r>
              <a:rPr dirty="0" err="1"/>
              <a:t>gehören</a:t>
            </a:r>
            <a:r>
              <a:rPr dirty="0"/>
              <a:t>, </a:t>
            </a:r>
            <a:r>
              <a:rPr dirty="0" err="1"/>
              <a:t>werden</a:t>
            </a:r>
            <a:r>
              <a:rPr dirty="0"/>
              <a:t> nicht </a:t>
            </a:r>
            <a:r>
              <a:rPr dirty="0" err="1"/>
              <a:t>pauschal</a:t>
            </a:r>
            <a:r>
              <a:rPr dirty="0"/>
              <a:t> </a:t>
            </a:r>
            <a:r>
              <a:rPr dirty="0" err="1"/>
              <a:t>gelöscht</a:t>
            </a:r>
            <a:r>
              <a:rPr dirty="0"/>
              <a:t>.</a:t>
            </a:r>
          </a:p>
          <a:p>
            <a:endParaRPr dirty="0"/>
          </a:p>
          <a:p>
            <a:pPr marL="0" indent="0">
              <a:buNone/>
            </a:pPr>
            <a:endParaRPr dirty="0"/>
          </a:p>
          <a:p>
            <a:r>
              <a:rPr dirty="0" err="1"/>
              <a:t>Übergang</a:t>
            </a:r>
            <a:r>
              <a:rPr dirty="0"/>
              <a:t>: Gute Chunks </a:t>
            </a:r>
            <a:r>
              <a:rPr dirty="0" err="1"/>
              <a:t>erzeugen</a:t>
            </a:r>
            <a:r>
              <a:rPr dirty="0"/>
              <a:t> </a:t>
            </a:r>
            <a:r>
              <a:rPr dirty="0" err="1"/>
              <a:t>bessere</a:t>
            </a:r>
            <a:r>
              <a:rPr dirty="0"/>
              <a:t> </a:t>
            </a:r>
            <a:r>
              <a:rPr dirty="0" err="1"/>
              <a:t>Kandidaten</a:t>
            </a:r>
            <a:r>
              <a:rPr dirty="0"/>
              <a:t>. Als </a:t>
            </a:r>
            <a:r>
              <a:rPr dirty="0" err="1"/>
              <a:t>Nächstes</a:t>
            </a:r>
            <a:r>
              <a:rPr dirty="0"/>
              <a:t> </a:t>
            </a:r>
            <a:r>
              <a:rPr dirty="0" err="1"/>
              <a:t>verbessern</a:t>
            </a:r>
            <a:r>
              <a:rPr dirty="0"/>
              <a:t> </a:t>
            </a:r>
            <a:r>
              <a:rPr dirty="0" err="1"/>
              <a:t>wir</a:t>
            </a:r>
            <a:r>
              <a:rPr dirty="0"/>
              <a:t> </a:t>
            </a:r>
            <a:r>
              <a:rPr dirty="0" err="1"/>
              <a:t>deren</a:t>
            </a:r>
            <a:r>
              <a:rPr dirty="0"/>
              <a:t> </a:t>
            </a:r>
            <a:r>
              <a:rPr dirty="0" err="1"/>
              <a:t>Reihenfolge</a:t>
            </a:r>
            <a:r>
              <a:rPr dirty="0"/>
              <a:t>.</a:t>
            </a:r>
          </a:p>
          <a:p>
            <a:endParaRPr dirty="0"/>
          </a:p>
          <a:p>
            <a:r>
              <a:rPr dirty="0"/>
              <a:t>[Sources]</a:t>
            </a:r>
          </a:p>
          <a:p>
            <a:r>
              <a:rPr dirty="0"/>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dirty="0" err="1"/>
              <a:t>Kernbotschaft</a:t>
            </a:r>
            <a:r>
              <a:rPr dirty="0"/>
              <a:t>: Reranking </a:t>
            </a:r>
            <a:r>
              <a:rPr dirty="0" err="1"/>
              <a:t>sortiert</a:t>
            </a:r>
            <a:r>
              <a:rPr dirty="0"/>
              <a:t> </a:t>
            </a:r>
            <a:r>
              <a:rPr dirty="0" err="1"/>
              <a:t>gefundene</a:t>
            </a:r>
            <a:r>
              <a:rPr dirty="0"/>
              <a:t> </a:t>
            </a:r>
            <a:r>
              <a:rPr dirty="0" err="1"/>
              <a:t>Kandidaten</a:t>
            </a:r>
            <a:r>
              <a:rPr dirty="0"/>
              <a:t> neu; es </a:t>
            </a:r>
            <a:r>
              <a:rPr dirty="0" err="1"/>
              <a:t>kann</a:t>
            </a:r>
            <a:r>
              <a:rPr dirty="0"/>
              <a:t> </a:t>
            </a:r>
            <a:r>
              <a:rPr dirty="0" err="1"/>
              <a:t>keinen</a:t>
            </a:r>
            <a:r>
              <a:rPr dirty="0"/>
              <a:t> </a:t>
            </a:r>
            <a:r>
              <a:rPr dirty="0" err="1"/>
              <a:t>fehlenden</a:t>
            </a:r>
            <a:r>
              <a:rPr dirty="0"/>
              <a:t> Artikel </a:t>
            </a:r>
            <a:r>
              <a:rPr dirty="0" err="1"/>
              <a:t>herbeizaubern</a:t>
            </a:r>
            <a:r>
              <a:rPr dirty="0"/>
              <a:t>.</a:t>
            </a:r>
          </a:p>
          <a:p>
            <a:endParaRPr dirty="0"/>
          </a:p>
          <a:p>
            <a:r>
              <a:rPr dirty="0" err="1"/>
              <a:t>Sprechtext</a:t>
            </a:r>
            <a:r>
              <a:rPr dirty="0"/>
              <a:t>: Die </a:t>
            </a:r>
            <a:r>
              <a:rPr dirty="0" err="1"/>
              <a:t>Vektorsuche</a:t>
            </a:r>
            <a:r>
              <a:rPr dirty="0"/>
              <a:t> holt </a:t>
            </a:r>
            <a:r>
              <a:rPr dirty="0" err="1"/>
              <a:t>zunächst</a:t>
            </a:r>
            <a:r>
              <a:rPr dirty="0"/>
              <a:t> </a:t>
            </a:r>
            <a:r>
              <a:rPr dirty="0" err="1"/>
              <a:t>eine</a:t>
            </a:r>
            <a:r>
              <a:rPr dirty="0"/>
              <a:t> </a:t>
            </a:r>
            <a:r>
              <a:rPr dirty="0" err="1"/>
              <a:t>größere</a:t>
            </a:r>
            <a:r>
              <a:rPr dirty="0"/>
              <a:t> </a:t>
            </a:r>
            <a:r>
              <a:rPr dirty="0" err="1"/>
              <a:t>Kandidatenmenge</a:t>
            </a:r>
            <a:r>
              <a:rPr dirty="0"/>
              <a:t>. Unser Cross-Encoder BAAI/bge-reranker-v2-m3 </a:t>
            </a:r>
            <a:r>
              <a:rPr dirty="0" err="1"/>
              <a:t>liest</a:t>
            </a:r>
            <a:r>
              <a:rPr dirty="0"/>
              <a:t> Frage und Chunk </a:t>
            </a:r>
            <a:r>
              <a:rPr dirty="0" err="1"/>
              <a:t>gemeinsam</a:t>
            </a:r>
            <a:r>
              <a:rPr dirty="0"/>
              <a:t> und </a:t>
            </a:r>
            <a:r>
              <a:rPr dirty="0" err="1"/>
              <a:t>bewertet</a:t>
            </a:r>
            <a:r>
              <a:rPr dirty="0"/>
              <a:t> </a:t>
            </a:r>
            <a:r>
              <a:rPr dirty="0" err="1"/>
              <a:t>ihre</a:t>
            </a:r>
            <a:r>
              <a:rPr dirty="0"/>
              <a:t> </a:t>
            </a:r>
            <a:r>
              <a:rPr dirty="0" err="1"/>
              <a:t>Relevanz</a:t>
            </a:r>
            <a:r>
              <a:rPr dirty="0"/>
              <a:t> </a:t>
            </a:r>
            <a:r>
              <a:rPr dirty="0" err="1"/>
              <a:t>genauer</a:t>
            </a:r>
            <a:r>
              <a:rPr dirty="0"/>
              <a:t> </a:t>
            </a:r>
            <a:r>
              <a:rPr dirty="0" err="1"/>
              <a:t>als</a:t>
            </a:r>
            <a:r>
              <a:rPr dirty="0"/>
              <a:t> der </a:t>
            </a:r>
            <a:r>
              <a:rPr dirty="0" err="1"/>
              <a:t>reine</a:t>
            </a:r>
            <a:r>
              <a:rPr dirty="0"/>
              <a:t> </a:t>
            </a:r>
            <a:r>
              <a:rPr dirty="0" err="1"/>
              <a:t>Vektorabstand</a:t>
            </a:r>
            <a:r>
              <a:rPr dirty="0"/>
              <a:t>. Für die Evaluation </a:t>
            </a:r>
            <a:r>
              <a:rPr dirty="0" err="1"/>
              <a:t>bleiben</a:t>
            </a:r>
            <a:r>
              <a:rPr dirty="0"/>
              <a:t> </a:t>
            </a:r>
            <a:r>
              <a:rPr dirty="0" err="1"/>
              <a:t>nach</a:t>
            </a:r>
            <a:r>
              <a:rPr dirty="0"/>
              <a:t> dem Reranking </a:t>
            </a:r>
            <a:r>
              <a:rPr dirty="0" err="1"/>
              <a:t>sechs</a:t>
            </a:r>
            <a:r>
              <a:rPr dirty="0"/>
              <a:t> Chunks </a:t>
            </a:r>
            <a:r>
              <a:rPr dirty="0" err="1"/>
              <a:t>im</a:t>
            </a:r>
            <a:r>
              <a:rPr dirty="0"/>
              <a:t> </a:t>
            </a:r>
            <a:r>
              <a:rPr dirty="0" err="1"/>
              <a:t>gemeinsamen</a:t>
            </a:r>
            <a:r>
              <a:rPr dirty="0"/>
              <a:t> </a:t>
            </a:r>
            <a:r>
              <a:rPr dirty="0" err="1"/>
              <a:t>Kontextbudget</a:t>
            </a:r>
            <a:r>
              <a:rPr dirty="0"/>
              <a:t>; der </a:t>
            </a:r>
            <a:r>
              <a:rPr dirty="0" err="1"/>
              <a:t>interaktive</a:t>
            </a:r>
            <a:r>
              <a:rPr dirty="0"/>
              <a:t> Chat </a:t>
            </a:r>
            <a:r>
              <a:rPr dirty="0" err="1"/>
              <a:t>verwendet</a:t>
            </a:r>
            <a:r>
              <a:rPr dirty="0"/>
              <a:t> </a:t>
            </a:r>
            <a:r>
              <a:rPr dirty="0" err="1"/>
              <a:t>standardmäßig</a:t>
            </a:r>
            <a:r>
              <a:rPr dirty="0"/>
              <a:t> vier.</a:t>
            </a:r>
          </a:p>
          <a:p>
            <a:endParaRPr dirty="0"/>
          </a:p>
          <a:p>
            <a:r>
              <a:rPr dirty="0"/>
              <a:t>Der </a:t>
            </a:r>
            <a:r>
              <a:rPr dirty="0" err="1"/>
              <a:t>wichtigste</a:t>
            </a:r>
            <a:r>
              <a:rPr dirty="0"/>
              <a:t> </a:t>
            </a:r>
            <a:r>
              <a:rPr dirty="0" err="1"/>
              <a:t>Unterschied</a:t>
            </a:r>
            <a:r>
              <a:rPr dirty="0"/>
              <a:t>: Ein Bi-Encoder </a:t>
            </a:r>
            <a:r>
              <a:rPr dirty="0" err="1"/>
              <a:t>berechnet</a:t>
            </a:r>
            <a:r>
              <a:rPr dirty="0"/>
              <a:t> </a:t>
            </a:r>
            <a:r>
              <a:rPr dirty="0" err="1"/>
              <a:t>Dokument</a:t>
            </a:r>
            <a:r>
              <a:rPr dirty="0"/>
              <a:t>- und Query-</a:t>
            </a:r>
            <a:r>
              <a:rPr dirty="0" err="1"/>
              <a:t>Vektoren</a:t>
            </a:r>
            <a:r>
              <a:rPr dirty="0"/>
              <a:t> </a:t>
            </a:r>
            <a:r>
              <a:rPr dirty="0" err="1"/>
              <a:t>getrennt</a:t>
            </a:r>
            <a:r>
              <a:rPr dirty="0"/>
              <a:t> und </a:t>
            </a:r>
            <a:r>
              <a:rPr dirty="0" err="1"/>
              <a:t>ist</a:t>
            </a:r>
            <a:r>
              <a:rPr dirty="0"/>
              <a:t> schnell. Ein Cross-Encoder </a:t>
            </a:r>
            <a:r>
              <a:rPr dirty="0" err="1"/>
              <a:t>betrachtet</a:t>
            </a:r>
            <a:r>
              <a:rPr dirty="0"/>
              <a:t> </a:t>
            </a:r>
            <a:r>
              <a:rPr dirty="0" err="1"/>
              <a:t>beide</a:t>
            </a:r>
            <a:r>
              <a:rPr dirty="0"/>
              <a:t> Texte </a:t>
            </a:r>
            <a:r>
              <a:rPr dirty="0" err="1"/>
              <a:t>gemeinsam</a:t>
            </a:r>
            <a:r>
              <a:rPr dirty="0"/>
              <a:t> und </a:t>
            </a:r>
            <a:r>
              <a:rPr dirty="0" err="1"/>
              <a:t>ist</a:t>
            </a:r>
            <a:r>
              <a:rPr dirty="0"/>
              <a:t> </a:t>
            </a:r>
            <a:r>
              <a:rPr dirty="0" err="1"/>
              <a:t>präziser</a:t>
            </a:r>
            <a:r>
              <a:rPr dirty="0"/>
              <a:t>, </a:t>
            </a:r>
            <a:r>
              <a:rPr dirty="0" err="1"/>
              <a:t>aber</a:t>
            </a:r>
            <a:r>
              <a:rPr dirty="0"/>
              <a:t> </a:t>
            </a:r>
            <a:r>
              <a:rPr dirty="0" err="1"/>
              <a:t>langsamer</a:t>
            </a:r>
            <a:r>
              <a:rPr dirty="0"/>
              <a:t>. </a:t>
            </a:r>
            <a:r>
              <a:rPr dirty="0" err="1"/>
              <a:t>Deshalb</a:t>
            </a:r>
            <a:r>
              <a:rPr dirty="0"/>
              <a:t> </a:t>
            </a:r>
            <a:r>
              <a:rPr dirty="0" err="1"/>
              <a:t>wird</a:t>
            </a:r>
            <a:r>
              <a:rPr dirty="0"/>
              <a:t> er erst auf </a:t>
            </a:r>
            <a:r>
              <a:rPr dirty="0" err="1"/>
              <a:t>einer</a:t>
            </a:r>
            <a:r>
              <a:rPr dirty="0"/>
              <a:t> </a:t>
            </a:r>
            <a:r>
              <a:rPr dirty="0" err="1"/>
              <a:t>kleinen</a:t>
            </a:r>
            <a:r>
              <a:rPr dirty="0"/>
              <a:t> </a:t>
            </a:r>
            <a:r>
              <a:rPr dirty="0" err="1"/>
              <a:t>Kandidatenliste</a:t>
            </a:r>
            <a:r>
              <a:rPr dirty="0"/>
              <a:t> </a:t>
            </a:r>
            <a:r>
              <a:rPr dirty="0" err="1"/>
              <a:t>eingesetzt</a:t>
            </a:r>
            <a:r>
              <a:rPr dirty="0"/>
              <a:t>.</a:t>
            </a:r>
          </a:p>
          <a:p>
            <a:endParaRPr dirty="0"/>
          </a:p>
          <a:p>
            <a:r>
              <a:rPr dirty="0" err="1"/>
              <a:t>Publikumsfrage</a:t>
            </a:r>
            <a:r>
              <a:rPr dirty="0"/>
              <a:t>: Was </a:t>
            </a:r>
            <a:r>
              <a:rPr dirty="0" err="1"/>
              <a:t>passiert</a:t>
            </a:r>
            <a:r>
              <a:rPr dirty="0"/>
              <a:t>, </a:t>
            </a:r>
            <a:r>
              <a:rPr dirty="0" err="1"/>
              <a:t>wenn</a:t>
            </a:r>
            <a:r>
              <a:rPr dirty="0"/>
              <a:t> Art</a:t>
            </a:r>
            <a:r>
              <a:rPr lang="de-DE" dirty="0"/>
              <a:t> 335 </a:t>
            </a:r>
            <a:r>
              <a:rPr dirty="0"/>
              <a:t>in den </a:t>
            </a:r>
            <a:r>
              <a:rPr dirty="0" err="1"/>
              <a:t>ersten</a:t>
            </a:r>
            <a:r>
              <a:rPr dirty="0"/>
              <a:t> </a:t>
            </a:r>
            <a:r>
              <a:rPr dirty="0" err="1"/>
              <a:t>Kandidaten</a:t>
            </a:r>
            <a:r>
              <a:rPr dirty="0"/>
              <a:t> </a:t>
            </a:r>
            <a:r>
              <a:rPr dirty="0" err="1"/>
              <a:t>überhaupt</a:t>
            </a:r>
            <a:r>
              <a:rPr dirty="0"/>
              <a:t> nicht </a:t>
            </a:r>
            <a:r>
              <a:rPr dirty="0" err="1"/>
              <a:t>enthalten</a:t>
            </a:r>
            <a:r>
              <a:rPr dirty="0"/>
              <a:t> </a:t>
            </a:r>
            <a:r>
              <a:rPr dirty="0" err="1"/>
              <a:t>ist</a:t>
            </a:r>
            <a:r>
              <a:rPr dirty="0"/>
              <a:t>?</a:t>
            </a:r>
          </a:p>
          <a:p>
            <a:endParaRPr dirty="0"/>
          </a:p>
          <a:p>
            <a:r>
              <a:rPr dirty="0" err="1"/>
              <a:t>Erwartete</a:t>
            </a:r>
            <a:r>
              <a:rPr dirty="0"/>
              <a:t> </a:t>
            </a:r>
            <a:r>
              <a:rPr dirty="0" err="1"/>
              <a:t>Antwort</a:t>
            </a:r>
            <a:r>
              <a:rPr dirty="0"/>
              <a:t>: Der </a:t>
            </a:r>
            <a:r>
              <a:rPr dirty="0" err="1"/>
              <a:t>Reranker</a:t>
            </a:r>
            <a:r>
              <a:rPr dirty="0"/>
              <a:t> </a:t>
            </a:r>
            <a:r>
              <a:rPr dirty="0" err="1"/>
              <a:t>kann</a:t>
            </a:r>
            <a:r>
              <a:rPr dirty="0"/>
              <a:t> </a:t>
            </a:r>
            <a:r>
              <a:rPr dirty="0" err="1"/>
              <a:t>ihn</a:t>
            </a:r>
            <a:r>
              <a:rPr dirty="0"/>
              <a:t> nicht </a:t>
            </a:r>
            <a:r>
              <a:rPr dirty="0" err="1"/>
              <a:t>auswählen</a:t>
            </a:r>
            <a:r>
              <a:rPr dirty="0"/>
              <a:t>; </a:t>
            </a:r>
            <a:r>
              <a:rPr dirty="0" err="1"/>
              <a:t>dafür</a:t>
            </a:r>
            <a:r>
              <a:rPr dirty="0"/>
              <a:t> </a:t>
            </a:r>
            <a:r>
              <a:rPr dirty="0" err="1"/>
              <a:t>brauchen</a:t>
            </a:r>
            <a:r>
              <a:rPr dirty="0"/>
              <a:t> </a:t>
            </a:r>
            <a:r>
              <a:rPr dirty="0" err="1"/>
              <a:t>wir</a:t>
            </a:r>
            <a:r>
              <a:rPr dirty="0"/>
              <a:t> </a:t>
            </a:r>
            <a:r>
              <a:rPr dirty="0" err="1"/>
              <a:t>besseren</a:t>
            </a:r>
            <a:r>
              <a:rPr dirty="0"/>
              <a:t> Recall </a:t>
            </a:r>
            <a:r>
              <a:rPr dirty="0" err="1"/>
              <a:t>im</a:t>
            </a:r>
            <a:r>
              <a:rPr dirty="0"/>
              <a:t> </a:t>
            </a:r>
            <a:r>
              <a:rPr dirty="0" err="1"/>
              <a:t>vorgelagerten</a:t>
            </a:r>
            <a:r>
              <a:rPr dirty="0"/>
              <a:t> Retrieval.</a:t>
            </a:r>
          </a:p>
          <a:p>
            <a:endParaRPr dirty="0"/>
          </a:p>
          <a:p>
            <a:r>
              <a:rPr dirty="0" err="1"/>
              <a:t>Übergang</a:t>
            </a:r>
            <a:r>
              <a:rPr dirty="0"/>
              <a:t>: </a:t>
            </a:r>
            <a:r>
              <a:rPr dirty="0" err="1"/>
              <a:t>Genau</a:t>
            </a:r>
            <a:r>
              <a:rPr dirty="0"/>
              <a:t> </a:t>
            </a:r>
            <a:r>
              <a:rPr dirty="0" err="1"/>
              <a:t>dort</a:t>
            </a:r>
            <a:r>
              <a:rPr dirty="0"/>
              <a:t> </a:t>
            </a:r>
            <a:r>
              <a:rPr dirty="0" err="1"/>
              <a:t>setzt</a:t>
            </a:r>
            <a:r>
              <a:rPr dirty="0"/>
              <a:t> die </a:t>
            </a:r>
            <a:r>
              <a:rPr dirty="0" err="1"/>
              <a:t>hybride</a:t>
            </a:r>
            <a:r>
              <a:rPr dirty="0"/>
              <a:t> und </a:t>
            </a:r>
            <a:r>
              <a:rPr dirty="0" err="1"/>
              <a:t>graphbasierte</a:t>
            </a:r>
            <a:r>
              <a:rPr dirty="0"/>
              <a:t> </a:t>
            </a:r>
            <a:r>
              <a:rPr dirty="0" err="1"/>
              <a:t>Suche</a:t>
            </a:r>
            <a:r>
              <a:rPr dirty="0"/>
              <a:t> an.</a:t>
            </a:r>
          </a:p>
          <a:p>
            <a:endParaRPr dirty="0"/>
          </a:p>
          <a:p>
            <a:r>
              <a:rPr dirty="0"/>
              <a:t>[Sources]</a:t>
            </a:r>
          </a:p>
          <a:p>
            <a:r>
              <a:rPr dirty="0"/>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lang="de-CH" dirty="0">
                <a:effectLst/>
              </a:rPr>
              <a:t>Kernbotschaft: </a:t>
            </a:r>
            <a:r>
              <a:rPr lang="de-CH" dirty="0" err="1">
                <a:effectLst/>
              </a:rPr>
              <a:t>GraphRAG</a:t>
            </a:r>
            <a:r>
              <a:rPr lang="de-CH" dirty="0">
                <a:effectLst/>
              </a:rPr>
              <a:t xml:space="preserve"> kombiniert mehrere Suchsignale, damit explizite Artikelangaben und strukturelle </a:t>
            </a:r>
            <a:r>
              <a:rPr lang="de-CH" dirty="0" err="1">
                <a:effectLst/>
              </a:rPr>
              <a:t>Beziehungen nicht</a:t>
            </a:r>
            <a:r>
              <a:rPr lang="de-CH" dirty="0">
                <a:effectLst/>
              </a:rPr>
              <a:t> von semantischer Ähnlichkeit verdrängt werden.</a:t>
            </a:r>
          </a:p>
          <a:p>
            <a:endParaRPr lang="de-CH" dirty="0">
              <a:effectLst/>
            </a:endParaRPr>
          </a:p>
          <a:p>
            <a:r>
              <a:rPr lang="de-CH" dirty="0">
                <a:effectLst/>
              </a:rPr>
              <a:t>Sprechtext: Zuerst holen wir zwei Arten möglicher Treffer: semantisch ähnliche Chunks aus der Vektorsuche und Chunks mit passenden Begriffen, Gesetzesnamen oder Artikelnummern aus der BM25-Suche. </a:t>
            </a:r>
            <a:r>
              <a:rPr lang="de-CH" dirty="0" err="1">
                <a:effectLst/>
              </a:rPr>
              <a:t>Reciprocal</a:t>
            </a:r>
            <a:r>
              <a:rPr lang="de-CH" dirty="0">
                <a:effectLst/>
              </a:rPr>
              <a:t xml:space="preserve"> Rank Fusion führt beide Ranglisten robust zusammen, </a:t>
            </a:r>
            <a:r>
              <a:rPr lang="de-CH" dirty="0" err="1">
                <a:effectLst/>
              </a:rPr>
              <a:t>ohne die</a:t>
            </a:r>
            <a:r>
              <a:rPr lang="de-CH" dirty="0">
                <a:effectLst/>
              </a:rPr>
              <a:t> Rohscores direkt vergleichbar machen zu müssen. Explizite Referenzen </a:t>
            </a:r>
            <a:r>
              <a:rPr lang="de-CH" dirty="0" err="1">
                <a:effectLst/>
              </a:rPr>
              <a:t>wie „Art</a:t>
            </a:r>
            <a:r>
              <a:rPr lang="de-CH" dirty="0">
                <a:effectLst/>
              </a:rPr>
              <a:t>. 1 OR“ können </a:t>
            </a:r>
            <a:r>
              <a:rPr lang="de-CH" dirty="0" err="1">
                <a:effectLst/>
              </a:rPr>
              <a:t>zusätzlich auf</a:t>
            </a:r>
            <a:r>
              <a:rPr lang="de-CH" dirty="0">
                <a:effectLst/>
              </a:rPr>
              <a:t> eine konkrete Artikeldefinition aufgelöst werden, was in den vorherigen Schritten noch nicht </a:t>
            </a:r>
            <a:r>
              <a:rPr lang="de-CH" dirty="0" err="1">
                <a:effectLst/>
              </a:rPr>
              <a:t>ging. Danach</a:t>
            </a:r>
            <a:r>
              <a:rPr lang="de-CH" dirty="0">
                <a:effectLst/>
              </a:rPr>
              <a:t> ergänzen wir </a:t>
            </a:r>
            <a:r>
              <a:rPr lang="de-CH" dirty="0" err="1">
                <a:effectLst/>
              </a:rPr>
              <a:t>passende Graph</a:t>
            </a:r>
            <a:r>
              <a:rPr lang="de-CH" dirty="0">
                <a:effectLst/>
              </a:rPr>
              <a:t>-Nachbarn, etwa </a:t>
            </a:r>
            <a:r>
              <a:rPr lang="de-CH" dirty="0" err="1">
                <a:effectLst/>
              </a:rPr>
              <a:t>angrenzende Artikel</a:t>
            </a:r>
            <a:r>
              <a:rPr lang="de-CH" dirty="0">
                <a:effectLst/>
              </a:rPr>
              <a:t> oder erkannte Verweise.</a:t>
            </a:r>
          </a:p>
          <a:p>
            <a:endParaRPr lang="de-CH" dirty="0">
              <a:effectLst/>
            </a:endParaRPr>
          </a:p>
          <a:p>
            <a:r>
              <a:rPr lang="de-CH" dirty="0">
                <a:effectLst/>
              </a:rPr>
              <a:t>Der Graph </a:t>
            </a:r>
            <a:r>
              <a:rPr lang="de-CH" dirty="0" err="1">
                <a:effectLst/>
              </a:rPr>
              <a:t>ersetzt die</a:t>
            </a:r>
            <a:r>
              <a:rPr lang="de-CH" dirty="0">
                <a:effectLst/>
              </a:rPr>
              <a:t> </a:t>
            </a:r>
            <a:r>
              <a:rPr lang="de-CH" dirty="0" err="1">
                <a:effectLst/>
              </a:rPr>
              <a:t>Suche nicht</a:t>
            </a:r>
            <a:r>
              <a:rPr lang="de-CH" dirty="0">
                <a:effectLst/>
              </a:rPr>
              <a:t>. Er erweitert </a:t>
            </a:r>
            <a:r>
              <a:rPr lang="de-CH" dirty="0" err="1">
                <a:effectLst/>
              </a:rPr>
              <a:t>gute Seed</a:t>
            </a:r>
            <a:r>
              <a:rPr lang="de-CH" dirty="0">
                <a:effectLst/>
              </a:rPr>
              <a:t>-Treffer um strukturell verwandten Kontext. Das hilft besonders bei Fragen, die </a:t>
            </a:r>
            <a:r>
              <a:rPr lang="de-CH" dirty="0" err="1">
                <a:effectLst/>
              </a:rPr>
              <a:t>mehrere Artikel</a:t>
            </a:r>
            <a:r>
              <a:rPr lang="de-CH" dirty="0">
                <a:effectLst/>
              </a:rPr>
              <a:t> oder Erlasse verbinden.</a:t>
            </a:r>
          </a:p>
          <a:p>
            <a:endParaRPr lang="de-CH" dirty="0">
              <a:effectLst/>
            </a:endParaRPr>
          </a:p>
          <a:p>
            <a:r>
              <a:rPr lang="de-CH" dirty="0">
                <a:effectLst/>
              </a:rPr>
              <a:t>Publikumsfrage: Warum ist eine lexikalische Suche </a:t>
            </a:r>
            <a:r>
              <a:rPr lang="de-CH" dirty="0" err="1">
                <a:effectLst/>
              </a:rPr>
              <a:t>bei „Art</a:t>
            </a:r>
            <a:r>
              <a:rPr lang="de-CH" dirty="0">
                <a:effectLst/>
              </a:rPr>
              <a:t>. 1 OR“ oft zuverlässiger als reine semantische Ähnlichkeit?</a:t>
            </a:r>
          </a:p>
          <a:p>
            <a:endParaRPr lang="de-CH" dirty="0">
              <a:effectLst/>
            </a:endParaRPr>
          </a:p>
          <a:p>
            <a:r>
              <a:rPr lang="de-CH" dirty="0">
                <a:effectLst/>
              </a:rPr>
              <a:t>Bei einer bekannten Artikelnummer wollen wir keine ähnliche Bedeutung finden, sondern eine exakte Adresse auflösen. Dafür ist lexikalische Suche zuverlässiger.</a:t>
            </a:r>
          </a:p>
          <a:p>
            <a:endParaRPr lang="de-CH" dirty="0">
              <a:effectLst/>
            </a:endParaRPr>
          </a:p>
          <a:p>
            <a:r>
              <a:rPr lang="de-CH" dirty="0">
                <a:effectLst/>
              </a:rPr>
              <a:t>Übergang: Jetzt prüfen wir, ob diese zusätzliche Logik </a:t>
            </a:r>
            <a:r>
              <a:rPr lang="de-CH" dirty="0" err="1">
                <a:effectLst/>
              </a:rPr>
              <a:t>tatsächlich Recall</a:t>
            </a:r>
            <a:r>
              <a:rPr lang="de-CH" dirty="0">
                <a:effectLst/>
              </a:rPr>
              <a:t>, </a:t>
            </a:r>
            <a:r>
              <a:rPr lang="de-CH" dirty="0" err="1">
                <a:effectLst/>
              </a:rPr>
              <a:t>Rangfolge und</a:t>
            </a:r>
            <a:r>
              <a:rPr lang="de-CH" dirty="0">
                <a:effectLst/>
              </a:rPr>
              <a:t> Kontextbedarf verbessert.</a:t>
            </a:r>
          </a:p>
          <a:p>
            <a:endParaRPr lang="de-CH" dirty="0">
              <a:effectLst/>
            </a:endParaRPr>
          </a:p>
          <a:p>
            <a:pPr marL="0" indent="0">
              <a:buNone/>
            </a:pPr>
            <a:r>
              <a:rPr lang="de-CH" dirty="0">
                <a:effectLst/>
              </a:rPr>
              <a:t>[Sources]</a:t>
            </a:r>
          </a:p>
          <a:p>
            <a:pPr marL="0" indent="0">
              <a:buNone/>
            </a:pPr>
            <a:r>
              <a:rPr lang="de-CH" dirty="0">
                <a:effectLst/>
              </a:rPr>
              <a:t>- C:/Users/mehlst/Documents/RAG-Workshop/graph_retrieval.py</a:t>
            </a:r>
          </a:p>
          <a:p>
            <a:pPr marL="0" indent="0">
              <a:buNone/>
            </a:pPr>
            <a:r>
              <a:rPr lang="de-CH" dirty="0">
                <a:effectLst/>
              </a:rP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Sprechtext</a:t>
            </a:r>
          </a:p>
          <a:p>
            <a:endParaRPr lang="de-DE" dirty="0"/>
          </a:p>
          <a:p>
            <a:r>
              <a:rPr lang="de-DE" dirty="0"/>
              <a:t>Diese Zahlen sind keine allgemeine Benchmark. Sie stammen aus unseren sechs Workshop-Fragen und zeigen vor allem Tendenzen zwischen den vier Varianten.</a:t>
            </a:r>
          </a:p>
          <a:p>
            <a:endParaRPr lang="de-DE" dirty="0"/>
          </a:p>
          <a:p>
            <a:r>
              <a:rPr lang="de-DE" dirty="0" err="1"/>
              <a:t>Recall@K</a:t>
            </a:r>
            <a:r>
              <a:rPr lang="de-DE" dirty="0"/>
              <a:t> beantwortet die Frage: Wie viele der erwarteten relevanten Gesetzesartikel befinden sich unter den K an das LLM übergebenen Treffern? 100 Prozent wäre vollständig. Fixed Vector erreicht hier im Mittel 54 Prozent, </a:t>
            </a:r>
            <a:r>
              <a:rPr lang="de-DE" dirty="0" err="1"/>
              <a:t>Semantic</a:t>
            </a:r>
            <a:r>
              <a:rPr lang="de-DE" dirty="0"/>
              <a:t> Vector 33 Prozent, </a:t>
            </a:r>
            <a:r>
              <a:rPr lang="de-DE" dirty="0" err="1"/>
              <a:t>Rerank</a:t>
            </a:r>
            <a:r>
              <a:rPr lang="de-DE" dirty="0"/>
              <a:t> und Graph jeweils 71 Prozent.</a:t>
            </a:r>
          </a:p>
          <a:p>
            <a:endParaRPr lang="de-DE" dirty="0"/>
          </a:p>
          <a:p>
            <a:r>
              <a:rPr lang="de-DE" dirty="0"/>
              <a:t>MRR steht für Mean </a:t>
            </a:r>
            <a:r>
              <a:rPr lang="de-DE" dirty="0" err="1"/>
              <a:t>Reciprocal</a:t>
            </a:r>
            <a:r>
              <a:rPr lang="de-DE" dirty="0"/>
              <a:t> Rank. Diese Metrik bewertet, wie weit oben der erste erwartete relevante Artikel erscheint. Je näher der Wert an 1 liegt, desto besser. </a:t>
            </a:r>
            <a:r>
              <a:rPr lang="de-DE" dirty="0" err="1"/>
              <a:t>Rerank</a:t>
            </a:r>
            <a:r>
              <a:rPr lang="de-DE" dirty="0"/>
              <a:t> erreicht 0,59 und sortiert den ersten passenden Treffer in diesem Lauf am zuverlässigsten nach vorne. MRR misst jedoch nicht, ob alle benötigten Artikel gefunden wurden.</a:t>
            </a:r>
          </a:p>
          <a:p>
            <a:endParaRPr lang="de-DE" dirty="0"/>
          </a:p>
          <a:p>
            <a:r>
              <a:rPr lang="de-DE" dirty="0"/>
              <a:t>Durchschnittliche Kontext-Tokens geben an, wie viele Tokens der abgerufene Dokumentkontext pro Frage durchschnittlich in den Prompt einbringt. Weniger Tokens bedeuten meist weniger Kosten und weniger Rauschen – aber nur dann einen Vorteil, wenn die relevanten Artikel weiterhin enthalten sind. Graph benötigt hier mit 822 Tokens den kleinsten Kontext.</a:t>
            </a:r>
          </a:p>
          <a:p>
            <a:endParaRPr lang="de-DE" dirty="0"/>
          </a:p>
          <a:p>
            <a:r>
              <a:rPr lang="de-DE" dirty="0"/>
              <a:t>Wichtig: Die vier Zeilen sind getrennte Retrieval-Varianten. Das Graph-Beispiel enthält keinen Cross-Encoder-</a:t>
            </a:r>
            <a:r>
              <a:rPr lang="de-DE" dirty="0" err="1"/>
              <a:t>Reranker</a:t>
            </a:r>
            <a:r>
              <a:rPr lang="de-DE" dirty="0"/>
              <a:t>. </a:t>
            </a:r>
            <a:r>
              <a:rPr lang="de-DE" dirty="0" err="1"/>
              <a:t>Reranking</a:t>
            </a:r>
            <a:r>
              <a:rPr lang="de-DE" dirty="0"/>
              <a:t> gehört zu Schritt 3 und wird in rag-3c-chat-rerank.py demonstriert. Schritt 4 kombiniert stattdessen semantische Embedding-Suche, explizite Artikelzitate, eine BM25-artige lexikalische Artikelsuche und die Erweiterung über Graph-Nachbarn.</a:t>
            </a:r>
          </a:p>
          <a:p>
            <a:endParaRPr lang="de-DE" dirty="0"/>
          </a:p>
          <a:p>
            <a:r>
              <a:rPr lang="de-DE" dirty="0"/>
              <a:t>Überleitung</a:t>
            </a:r>
          </a:p>
          <a:p>
            <a:endParaRPr lang="de-DE" dirty="0"/>
          </a:p>
          <a:p>
            <a:r>
              <a:rPr lang="de-DE" dirty="0"/>
              <a:t>Gutes Retrieval sorgt dafür, dass relevante Quellen im Kontext liegen. Ob daraus eine vollständige und korrekte Antwort entsteht, ist eine zweite Frage – genau das zeigt die nächste Folie.</a:t>
            </a:r>
          </a:p>
          <a:p>
            <a:endParaRPr lang="de-DE" dirty="0"/>
          </a:p>
          <a:p>
            <a:r>
              <a:rPr lang="de-DE" dirty="0"/>
              <a:t>[Sources]</a:t>
            </a:r>
          </a:p>
          <a:p>
            <a:r>
              <a:rPr lang="de-DE" dirty="0"/>
              <a:t>- C:/Users/mehlst/Documents/RAG-Workshop/evaluation/report-graph.md</a:t>
            </a:r>
          </a:p>
          <a:p>
            <a:r>
              <a:rPr lang="de-DE" dirty="0"/>
              <a:t>- C:/Users/mehlst/Documents/RAG-Workshop/evaluate.py</a:t>
            </a:r>
          </a:p>
          <a:p>
            <a:r>
              <a:rPr lang="de-DE" dirty="0"/>
              <a:t>- C:/Users/mehlst/Documents/RAG-Workshop/graph_retrieval.py</a:t>
            </a:r>
          </a:p>
          <a:p>
            <a:r>
              <a:rPr lang="de-DE" dirty="0"/>
              <a:t>- C:/Users/mehlst/Documents/RAG-Workshop/rag-3c-chat-rerank.py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a:p>
            <a:r>
              <a:rPr lang="de-DE" dirty="0"/>
              <a:t>Die vorherige Folie misst das Retrieval: Sind die erwarteten Artikel im Kontext, und wie weit oben stehen sie? Diese Folie misst anschließend die erzeugte Antwort. Die beiden Stufen dürfen wir nicht verwechseln.</a:t>
            </a:r>
          </a:p>
          <a:p>
            <a:endParaRPr lang="de-DE" dirty="0"/>
          </a:p>
          <a:p>
            <a:r>
              <a:rPr lang="de-DE" dirty="0"/>
              <a:t>Die dunkelblauen Balken zeigen die Faktenabdeckung. Dafür haben wir pro Frage erwartete Kernaussagen definiert und prüfen regelbasiert, wie viele davon in der Antwort vorkommen. Das ist ein nützlicher Workshop-Indikator, aber kein Beweis für juristische Richtigkeit: Eine Aussage kann sprachlich erkannt und trotzdem falsch eingeordnet oder unvollständig erklärt sein.</a:t>
            </a:r>
          </a:p>
          <a:p>
            <a:endParaRPr lang="de-DE" dirty="0"/>
          </a:p>
          <a:p>
            <a:r>
              <a:rPr lang="de-DE" dirty="0"/>
              <a:t>Die hellblauen Balken zeigen die Zitationsvollständigkeit. Sie beantwortet: Wie viele der erwarteten Gesetzesfundstellen nennt die Antwort? Sie misst nicht automatisch, ob jedes Zitat die jeweilige Aussage wirklich belegt. Dafür gibt es getrennte Metriken wie </a:t>
            </a:r>
            <a:r>
              <a:rPr lang="de-DE" dirty="0" err="1"/>
              <a:t>Citation</a:t>
            </a:r>
            <a:r>
              <a:rPr lang="de-DE" dirty="0"/>
              <a:t> Grounding oder </a:t>
            </a:r>
            <a:r>
              <a:rPr lang="de-DE" dirty="0" err="1"/>
              <a:t>Citation</a:t>
            </a:r>
            <a:r>
              <a:rPr lang="de-DE" dirty="0"/>
              <a:t> Precision.</a:t>
            </a:r>
          </a:p>
          <a:p>
            <a:endParaRPr lang="de-DE" dirty="0"/>
          </a:p>
          <a:p>
            <a:r>
              <a:rPr lang="de-DE" dirty="0"/>
              <a:t>Das Ergebnis illustriert die Kernaussage: </a:t>
            </a:r>
            <a:r>
              <a:rPr lang="de-DE" dirty="0" err="1"/>
              <a:t>Rerank</a:t>
            </a:r>
            <a:r>
              <a:rPr lang="de-DE" dirty="0"/>
              <a:t> und Graph finden auf der vorherigen Folie gleich viele erwartete Artikel. Bei der generierten Antwort erreichen beide 54 Prozent Faktenabdeckung, aber </a:t>
            </a:r>
            <a:r>
              <a:rPr lang="de-DE" dirty="0" err="1"/>
              <a:t>Rerank</a:t>
            </a:r>
            <a:r>
              <a:rPr lang="de-DE" dirty="0"/>
              <a:t> nennt mit 75 Prozent mehr der erwarteten Fundstellen als Graph mit 67 Prozent. Das LLM nutzt vorhandenen Kontext also nicht immer vollständig oder gleich.</a:t>
            </a:r>
          </a:p>
          <a:p>
            <a:endParaRPr lang="de-DE" dirty="0"/>
          </a:p>
          <a:p>
            <a:r>
              <a:rPr lang="de-DE" dirty="0"/>
              <a:t>Auch Fixed Vector kann bei einzelnen </a:t>
            </a:r>
            <a:r>
              <a:rPr lang="de-DE" dirty="0" err="1"/>
              <a:t>Antwortmetriken</a:t>
            </a:r>
            <a:r>
              <a:rPr lang="de-DE" dirty="0"/>
              <a:t> überraschend gut aussehen, obwohl sein Retrieval schwächer ist. Gründe sind der kleine Testsatz, unterschiedliche Fragen und die nicht vollständig deterministische Generierung. Deshalb sollten wir keine Rangliste aus einer einzelnen Zahl ableiten, sondern Retrieval und Antwortqualität gemeinsam betrachten.</a:t>
            </a:r>
          </a:p>
          <a:p>
            <a:endParaRPr lang="de-DE" dirty="0"/>
          </a:p>
          <a:p>
            <a:r>
              <a:rPr lang="de-DE" dirty="0"/>
              <a:t>Kernaussage</a:t>
            </a:r>
          </a:p>
          <a:p>
            <a:endParaRPr lang="de-DE" dirty="0"/>
          </a:p>
          <a:p>
            <a:r>
              <a:rPr lang="de-DE" dirty="0"/>
              <a:t>Retrieval schafft die Voraussetzung für eine gute Antwort. Es garantiert sie nicht. Nach dem Retrieval müssen wir deshalb zusätzlich Fakten, Zitate und idealerweise die fachliche Korrektheit der Antwort evaluieren.</a:t>
            </a:r>
          </a:p>
          <a:p>
            <a:endParaRPr lang="de-DE" dirty="0"/>
          </a:p>
          <a:p>
            <a:r>
              <a:rPr lang="de-DE" dirty="0"/>
              <a:t>[Sources]</a:t>
            </a:r>
          </a:p>
          <a:p>
            <a:r>
              <a:rPr lang="de-DE" dirty="0"/>
              <a:t>- C:/Users/mehlst/Documents/RAG-Workshop/evaluation/report-graph.md</a:t>
            </a:r>
          </a:p>
          <a:p>
            <a:r>
              <a:rPr lang="de-DE" dirty="0"/>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20.08.2026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20.08.2026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20.08.2026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20.08.2026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20.08.2026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8.xml"/><Relationship Id="rId16" Type="http://schemas.openxmlformats.org/officeDocument/2006/relationships/image" Target="../media/image22.svg"/><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5" Type="http://schemas.openxmlformats.org/officeDocument/2006/relationships/image" Target="../media/image2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10.svg"/><Relationship Id="rId3" Type="http://schemas.openxmlformats.org/officeDocument/2006/relationships/image" Target="../media/image12.svg"/><Relationship Id="rId7" Type="http://schemas.openxmlformats.org/officeDocument/2006/relationships/image" Target="../media/image16.svg"/><Relationship Id="rId12" Type="http://schemas.openxmlformats.org/officeDocument/2006/relationships/image" Target="../media/image22.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5.svg"/><Relationship Id="rId11" Type="http://schemas.openxmlformats.org/officeDocument/2006/relationships/image" Target="../media/image21.svg"/><Relationship Id="rId5" Type="http://schemas.openxmlformats.org/officeDocument/2006/relationships/image" Target="../media/image14.svg"/><Relationship Id="rId15" Type="http://schemas.openxmlformats.org/officeDocument/2006/relationships/image" Target="../media/image18.svg"/><Relationship Id="rId10" Type="http://schemas.openxmlformats.org/officeDocument/2006/relationships/image" Target="../media/image20.svg"/><Relationship Id="rId4" Type="http://schemas.openxmlformats.org/officeDocument/2006/relationships/image" Target="../media/image13.svg"/><Relationship Id="rId9" Type="http://schemas.openxmlformats.org/officeDocument/2006/relationships/image" Target="../media/image19.svg"/><Relationship Id="rId14" Type="http://schemas.openxmlformats.org/officeDocument/2006/relationships/image" Target="../media/image11.svg"/></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5.svg"/><Relationship Id="rId3" Type="http://schemas.openxmlformats.org/officeDocument/2006/relationships/image" Target="../media/image17.svg"/><Relationship Id="rId7" Type="http://schemas.openxmlformats.org/officeDocument/2006/relationships/image" Target="../media/image22.svg"/><Relationship Id="rId12" Type="http://schemas.openxmlformats.org/officeDocument/2006/relationships/image" Target="../media/image13.svg"/><Relationship Id="rId2" Type="http://schemas.openxmlformats.org/officeDocument/2006/relationships/image" Target="../media/image16.svg"/><Relationship Id="rId1" Type="http://schemas.openxmlformats.org/officeDocument/2006/relationships/slideLayout" Target="../slideLayouts/slideLayout3.xml"/><Relationship Id="rId6" Type="http://schemas.openxmlformats.org/officeDocument/2006/relationships/image" Target="../media/image21.svg"/><Relationship Id="rId11" Type="http://schemas.openxmlformats.org/officeDocument/2006/relationships/image" Target="../media/image12.svg"/><Relationship Id="rId5" Type="http://schemas.openxmlformats.org/officeDocument/2006/relationships/image" Target="../media/image20.svg"/><Relationship Id="rId15" Type="http://schemas.openxmlformats.org/officeDocument/2006/relationships/image" Target="../media/image19.svg"/><Relationship Id="rId10" Type="http://schemas.openxmlformats.org/officeDocument/2006/relationships/image" Target="../media/image11.svg"/><Relationship Id="rId4" Type="http://schemas.openxmlformats.org/officeDocument/2006/relationships/image" Target="../media/image14.svg"/><Relationship Id="rId9" Type="http://schemas.openxmlformats.org/officeDocument/2006/relationships/image" Target="../media/image10.svg"/><Relationship Id="rId14" Type="http://schemas.openxmlformats.org/officeDocument/2006/relationships/image" Target="../media/image18.svg"/></Relationships>
</file>

<file path=ppt/slides/_rels/slide14.xml.rels><?xml version="1.0" encoding="UTF-8" standalone="yes"?>
<Relationships xmlns="http://schemas.openxmlformats.org/package/2006/relationships"><Relationship Id="rId8" Type="http://schemas.openxmlformats.org/officeDocument/2006/relationships/image" Target="../media/image20.svg"/><Relationship Id="rId13" Type="http://schemas.openxmlformats.org/officeDocument/2006/relationships/image" Target="../media/image16.svg"/><Relationship Id="rId3" Type="http://schemas.openxmlformats.org/officeDocument/2006/relationships/image" Target="../media/image12.svg"/><Relationship Id="rId7" Type="http://schemas.openxmlformats.org/officeDocument/2006/relationships/image" Target="../media/image19.svg"/><Relationship Id="rId12" Type="http://schemas.openxmlformats.org/officeDocument/2006/relationships/image" Target="../media/image15.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7.svg"/><Relationship Id="rId11" Type="http://schemas.openxmlformats.org/officeDocument/2006/relationships/image" Target="../media/image11.svg"/><Relationship Id="rId5" Type="http://schemas.openxmlformats.org/officeDocument/2006/relationships/image" Target="../media/image14.svg"/><Relationship Id="rId15" Type="http://schemas.openxmlformats.org/officeDocument/2006/relationships/image" Target="../media/image22.svg"/><Relationship Id="rId10" Type="http://schemas.openxmlformats.org/officeDocument/2006/relationships/image" Target="../media/image10.svg"/><Relationship Id="rId4" Type="http://schemas.openxmlformats.org/officeDocument/2006/relationships/image" Target="../media/image13.svg"/><Relationship Id="rId9" Type="http://schemas.openxmlformats.org/officeDocument/2006/relationships/image" Target="../media/image21.svg"/><Relationship Id="rId14" Type="http://schemas.openxmlformats.org/officeDocument/2006/relationships/image" Target="../media/image18.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svg"/><Relationship Id="rId3" Type="http://schemas.openxmlformats.org/officeDocument/2006/relationships/image" Target="../media/image21.svg"/><Relationship Id="rId7" Type="http://schemas.openxmlformats.org/officeDocument/2006/relationships/image" Target="../media/image12.svg"/><Relationship Id="rId12" Type="http://schemas.openxmlformats.org/officeDocument/2006/relationships/image" Target="../media/image17.svg"/><Relationship Id="rId2" Type="http://schemas.openxmlformats.org/officeDocument/2006/relationships/image" Target="../media/image20.svg"/><Relationship Id="rId1" Type="http://schemas.openxmlformats.org/officeDocument/2006/relationships/slideLayout" Target="../slideLayouts/slideLayout3.xml"/><Relationship Id="rId6" Type="http://schemas.openxmlformats.org/officeDocument/2006/relationships/image" Target="../media/image11.svg"/><Relationship Id="rId11" Type="http://schemas.openxmlformats.org/officeDocument/2006/relationships/image" Target="../media/image16.svg"/><Relationship Id="rId5" Type="http://schemas.openxmlformats.org/officeDocument/2006/relationships/image" Target="../media/image10.svg"/><Relationship Id="rId15" Type="http://schemas.openxmlformats.org/officeDocument/2006/relationships/image" Target="../media/image22.sv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svg"/><Relationship Id="rId14" Type="http://schemas.openxmlformats.org/officeDocument/2006/relationships/image" Target="../media/image19.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20.svg"/><Relationship Id="rId3" Type="http://schemas.openxmlformats.org/officeDocument/2006/relationships/image" Target="../media/image14.svg"/><Relationship Id="rId7" Type="http://schemas.openxmlformats.org/officeDocument/2006/relationships/image" Target="../media/image9.svg"/><Relationship Id="rId12" Type="http://schemas.openxmlformats.org/officeDocument/2006/relationships/image" Target="../media/image18.svg"/><Relationship Id="rId2" Type="http://schemas.openxmlformats.org/officeDocument/2006/relationships/image" Target="../media/image13.svg"/><Relationship Id="rId1" Type="http://schemas.openxmlformats.org/officeDocument/2006/relationships/slideLayout" Target="../slideLayouts/slideLayout3.xml"/><Relationship Id="rId6" Type="http://schemas.openxmlformats.org/officeDocument/2006/relationships/image" Target="../media/image19.svg"/><Relationship Id="rId11" Type="http://schemas.openxmlformats.org/officeDocument/2006/relationships/image" Target="../media/image16.svg"/><Relationship Id="rId5" Type="http://schemas.openxmlformats.org/officeDocument/2006/relationships/image" Target="../media/image17.svg"/><Relationship Id="rId15" Type="http://schemas.openxmlformats.org/officeDocument/2006/relationships/image" Target="../media/image22.svg"/><Relationship Id="rId10" Type="http://schemas.openxmlformats.org/officeDocument/2006/relationships/image" Target="../media/image12.svg"/><Relationship Id="rId4" Type="http://schemas.openxmlformats.org/officeDocument/2006/relationships/image" Target="../media/image15.svg"/><Relationship Id="rId9" Type="http://schemas.openxmlformats.org/officeDocument/2006/relationships/image" Target="../media/image11.svg"/><Relationship Id="rId14" Type="http://schemas.openxmlformats.org/officeDocument/2006/relationships/image" Target="../media/image21.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image" Target="../media/image15.svg"/><Relationship Id="rId1" Type="http://schemas.openxmlformats.org/officeDocument/2006/relationships/slideLayout" Target="../slideLayouts/slideLayout9.xml"/><Relationship Id="rId6" Type="http://schemas.openxmlformats.org/officeDocument/2006/relationships/image" Target="../media/image14.svg"/><Relationship Id="rId5" Type="http://schemas.openxmlformats.org/officeDocument/2006/relationships/image" Target="../media/image10.svg"/><Relationship Id="rId10" Type="http://schemas.openxmlformats.org/officeDocument/2006/relationships/image" Target="../media/image11.svg"/><Relationship Id="rId4" Type="http://schemas.openxmlformats.org/officeDocument/2006/relationships/image" Target="../media/image21.svg"/><Relationship Id="rId9" Type="http://schemas.openxmlformats.org/officeDocument/2006/relationships/image" Target="../media/image18.sv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20.08.2026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20.08.2026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A2CB40-4AA5-D7F7-B74C-FCE223109893}"/>
              </a:ext>
            </a:extLst>
          </p:cNvPr>
          <p:cNvSpPr>
            <a:spLocks noGrp="1"/>
          </p:cNvSpPr>
          <p:nvPr>
            <p:ph type="title"/>
          </p:nvPr>
        </p:nvSpPr>
        <p:spPr/>
        <p:txBody>
          <a:bodyPr/>
          <a:lstStyle/>
          <a:p>
            <a:r>
              <a:rPr lang="de-CH" dirty="0"/>
              <a:t>Was Ihr heute mitnehmen könnt</a:t>
            </a:r>
          </a:p>
        </p:txBody>
      </p:sp>
      <p:sp>
        <p:nvSpPr>
          <p:cNvPr id="3" name="Datumsplatzhalter 2">
            <a:extLst>
              <a:ext uri="{FF2B5EF4-FFF2-40B4-BE49-F238E27FC236}">
                <a16:creationId xmlns:a16="http://schemas.microsoft.com/office/drawing/2014/main" id="{2DA3CC93-C983-8492-6900-EF81C4EE1E1A}"/>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4" name="Foliennummernplatzhalter 3">
            <a:extLst>
              <a:ext uri="{FF2B5EF4-FFF2-40B4-BE49-F238E27FC236}">
                <a16:creationId xmlns:a16="http://schemas.microsoft.com/office/drawing/2014/main" id="{9D321ECF-4452-34A1-FFA5-410A1D0BD724}"/>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5" name="Inhaltsplatzhalter 4">
            <a:extLst>
              <a:ext uri="{FF2B5EF4-FFF2-40B4-BE49-F238E27FC236}">
                <a16:creationId xmlns:a16="http://schemas.microsoft.com/office/drawing/2014/main" id="{B6185FCA-0204-7C49-ECBC-2383F8811DFB}"/>
              </a:ext>
            </a:extLst>
          </p:cNvPr>
          <p:cNvSpPr>
            <a:spLocks noGrp="1"/>
          </p:cNvSpPr>
          <p:nvPr>
            <p:ph sz="quarter" idx="13"/>
          </p:nvPr>
        </p:nvSpPr>
        <p:spPr/>
        <p:txBody>
          <a:bodyPr/>
          <a:lstStyle/>
          <a:p>
            <a:r>
              <a:rPr lang="de-DE" dirty="0"/>
              <a:t>Grenzen reiner LLMs erklären</a:t>
            </a:r>
          </a:p>
          <a:p>
            <a:r>
              <a:rPr lang="de-DE" dirty="0"/>
              <a:t>Die Bausteine einer RAG-Pipeline benennen und einordnen</a:t>
            </a:r>
          </a:p>
          <a:p>
            <a:r>
              <a:rPr lang="de-DE" dirty="0"/>
              <a:t>Selbst eine RAG-Pipeline in Betrieb nehmen</a:t>
            </a:r>
          </a:p>
          <a:p>
            <a:r>
              <a:rPr lang="de-DE" dirty="0"/>
              <a:t>Stellschrauben der Antwortqualität kennen</a:t>
            </a:r>
          </a:p>
          <a:p>
            <a:r>
              <a:rPr lang="de-DE" dirty="0"/>
              <a:t>Qualität messen statt vermuten</a:t>
            </a:r>
          </a:p>
          <a:p>
            <a:r>
              <a:rPr lang="de-DE" dirty="0"/>
              <a:t>Fundierte Architektur-Entscheide treffen</a:t>
            </a:r>
            <a:endParaRPr lang="de-CH" dirty="0"/>
          </a:p>
        </p:txBody>
      </p:sp>
    </p:spTree>
    <p:extLst>
      <p:ext uri="{BB962C8B-B14F-4D97-AF65-F5344CB8AC3E}">
        <p14:creationId xmlns:p14="http://schemas.microsoft.com/office/powerpoint/2010/main" val="20652140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4</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20.08.2026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5</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20.08.2026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6</a:t>
            </a:fld>
            <a:endParaRPr/>
          </a:p>
        </p:txBody>
      </p:sp>
      <p:sp>
        <p:nvSpPr>
          <p:cNvPr id="7" name="Expandieren-accent">
            <a:extLst>
              <a:ext uri="{FF2B5EF4-FFF2-40B4-BE49-F238E27FC236}">
                <a16:creationId xmlns:a16="http://schemas.microsoft.com/office/drawing/2014/main" id="{F3B72224-B9DE-495C-9796-06F07B8ACE36}"/>
              </a:ext>
            </a:extLst>
          </p:cNvPr>
          <p:cNvSpPr/>
          <p:nvPr/>
        </p:nvSpPr>
        <p:spPr>
          <a:xfrm>
            <a:off x="720000" y="1620000"/>
            <a:ext cx="4500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p:nvPr/>
        </p:nvSpPr>
        <p:spPr>
          <a:xfrm>
            <a:off x="7020000" y="1620000"/>
            <a:ext cx="4500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p:nvPr/>
        </p:nvSpPr>
        <p:spPr>
          <a:xfrm>
            <a:off x="549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dirty="0" err="1">
                <a:solidFill>
                  <a:srgbClr val="2D3F4B"/>
                </a:solidFill>
                <a:latin typeface="Arial"/>
                <a:ea typeface="Arial"/>
                <a:cs typeface="Arial"/>
              </a:rPr>
              <a:t>Expandieren</a:t>
            </a:r>
            <a:endParaRPr sz="2550" b="1" dirty="0">
              <a:solidFill>
                <a:srgbClr val="2D3F4B"/>
              </a:solidFill>
              <a:latin typeface="Arial"/>
              <a:ea typeface="Arial"/>
              <a:cs typeface="Arial"/>
            </a:endParaRPr>
          </a:p>
        </p:txBody>
      </p:sp>
      <p:sp>
        <p:nvSpPr>
          <p:cNvPr id="38" name="Rechteck 37">
            <a:extLst>
              <a:ext uri="{FF2B5EF4-FFF2-40B4-BE49-F238E27FC236}">
                <a16:creationId xmlns:a16="http://schemas.microsoft.com/office/drawing/2014/main" id="{ACFCC35B-9CB1-45B1-9CAA-5FC9371705C0}"/>
              </a:ext>
            </a:extLst>
          </p:cNvPr>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0000" y="4854216"/>
            <a:ext cx="1034484" cy="1034484"/>
          </a:xfrm>
          <a:prstGeom prst="rect">
            <a:avLst/>
          </a:prstGeom>
        </p:spPr>
      </p:pic>
      <p:sp>
        <p:nvSpPr>
          <p:cNvPr id="42" name="Rechteck 41">
            <a:extLst>
              <a:ext uri="{FF2B5EF4-FFF2-40B4-BE49-F238E27FC236}">
                <a16:creationId xmlns:a16="http://schemas.microsoft.com/office/drawing/2014/main" id="{D3F77ACE-A9C1-407A-8F7A-E075BA0C63A1}"/>
              </a:ext>
            </a:extLst>
          </p:cNvPr>
          <p:cNvSpPr/>
          <p:nvPr/>
        </p:nvSpPr>
        <p:spPr>
          <a:xfrm>
            <a:off x="1934484" y="4874580"/>
            <a:ext cx="2246766" cy="525420"/>
          </a:xfrm>
          <a:prstGeom prst="rect">
            <a:avLst/>
          </a:prstGeom>
          <a:noFill/>
          <a:ln w="0">
            <a:noFill/>
            <a:prstDash val="solid"/>
          </a:ln>
        </p:spPr>
        <p:txBody>
          <a:bodyPr anchor="t"/>
          <a:lstStyle/>
          <a:p>
            <a:pPr>
              <a:defRPr sz="2025" b="1">
                <a:solidFill>
                  <a:srgbClr val="2D3F4B"/>
                </a:solidFill>
                <a:latin typeface="Arial"/>
                <a:ea typeface="Arial"/>
                <a:cs typeface="Arial"/>
              </a:defRPr>
            </a:pPr>
            <a:r>
              <a:rPr sz="2550" b="1" dirty="0" err="1">
                <a:solidFill>
                  <a:srgbClr val="2D3F4B"/>
                </a:solidFill>
                <a:latin typeface="Arial"/>
                <a:ea typeface="Arial"/>
                <a:cs typeface="Arial"/>
              </a:rPr>
              <a:t>Translatieren</a:t>
            </a:r>
            <a:endParaRPr sz="2550"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p:nvPr/>
        </p:nvSpPr>
        <p:spPr>
          <a:xfrm>
            <a:off x="1934484" y="5400000"/>
            <a:ext cx="9415104"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730" dirty="0">
                <a:solidFill>
                  <a:srgbClr val="2D3F4B"/>
                </a:solidFill>
                <a:latin typeface="Arial"/>
                <a:ea typeface="Arial"/>
                <a:cs typeface="Arial"/>
              </a:rPr>
              <a:t>Gleicher </a:t>
            </a:r>
            <a:r>
              <a:rPr sz="1730" dirty="0" err="1">
                <a:solidFill>
                  <a:srgbClr val="2D3F4B"/>
                </a:solidFill>
                <a:latin typeface="Arial"/>
                <a:ea typeface="Arial"/>
                <a:cs typeface="Arial"/>
              </a:rPr>
              <a:t>Inhalt</a:t>
            </a:r>
            <a:r>
              <a:rPr sz="1730" dirty="0">
                <a:solidFill>
                  <a:srgbClr val="2D3F4B"/>
                </a:solidFill>
                <a:latin typeface="Arial"/>
                <a:ea typeface="Arial"/>
                <a:cs typeface="Arial"/>
              </a:rPr>
              <a:t> → </a:t>
            </a:r>
            <a:r>
              <a:rPr sz="1730" dirty="0" err="1">
                <a:solidFill>
                  <a:srgbClr val="2D3F4B"/>
                </a:solidFill>
                <a:latin typeface="Arial"/>
                <a:ea typeface="Arial"/>
                <a:cs typeface="Arial"/>
              </a:rPr>
              <a:t>andere</a:t>
            </a:r>
            <a:r>
              <a:rPr sz="1730" dirty="0">
                <a:solidFill>
                  <a:srgbClr val="2D3F4B"/>
                </a:solidFill>
                <a:latin typeface="Arial"/>
                <a:ea typeface="Arial"/>
                <a:cs typeface="Arial"/>
              </a:rPr>
              <a:t> </a:t>
            </a:r>
            <a:r>
              <a:rPr sz="1730" dirty="0" err="1">
                <a:solidFill>
                  <a:srgbClr val="2D3F4B"/>
                </a:solidFill>
                <a:latin typeface="Arial"/>
                <a:ea typeface="Arial"/>
                <a:cs typeface="Arial"/>
              </a:rPr>
              <a:t>Sprache</a:t>
            </a:r>
            <a:r>
              <a:rPr sz="1730" dirty="0">
                <a:solidFill>
                  <a:srgbClr val="2D3F4B"/>
                </a:solidFill>
                <a:latin typeface="Arial"/>
                <a:ea typeface="Arial"/>
                <a:cs typeface="Arial"/>
              </a:rPr>
              <a:t>, Form </a:t>
            </a:r>
            <a:r>
              <a:rPr sz="1730" dirty="0" err="1">
                <a:solidFill>
                  <a:srgbClr val="2D3F4B"/>
                </a:solidFill>
                <a:latin typeface="Arial"/>
                <a:ea typeface="Arial"/>
                <a:cs typeface="Arial"/>
              </a:rPr>
              <a:t>oder</a:t>
            </a:r>
            <a:r>
              <a:rPr sz="1730" dirty="0">
                <a:solidFill>
                  <a:srgbClr val="2D3F4B"/>
                </a:solidFill>
                <a:latin typeface="Arial"/>
                <a:ea typeface="Arial"/>
                <a:cs typeface="Arial"/>
              </a:rPr>
              <a:t> </a:t>
            </a:r>
            <a:r>
              <a:rPr sz="1730" dirty="0" err="1">
                <a:solidFill>
                  <a:srgbClr val="2D3F4B"/>
                </a:solidFill>
                <a:latin typeface="Arial"/>
                <a:ea typeface="Arial"/>
                <a:cs typeface="Arial"/>
              </a:rPr>
              <a:t>Struktur</a:t>
            </a:r>
            <a:r>
              <a:rPr sz="1730" dirty="0">
                <a:solidFill>
                  <a:srgbClr val="2D3F4B"/>
                </a:solidFill>
                <a:latin typeface="Arial"/>
                <a:ea typeface="Arial"/>
                <a:cs typeface="Arial"/>
              </a:rPr>
              <a:t>. RAG </a:t>
            </a:r>
            <a:r>
              <a:rPr sz="1730" dirty="0" err="1">
                <a:solidFill>
                  <a:srgbClr val="2D3F4B"/>
                </a:solidFill>
                <a:latin typeface="Arial"/>
                <a:ea typeface="Arial"/>
                <a:cs typeface="Arial"/>
              </a:rPr>
              <a:t>ist</a:t>
            </a:r>
            <a:r>
              <a:rPr sz="1730" dirty="0">
                <a:solidFill>
                  <a:srgbClr val="2D3F4B"/>
                </a:solidFill>
                <a:latin typeface="Arial"/>
                <a:ea typeface="Arial"/>
                <a:cs typeface="Arial"/>
              </a:rPr>
              <a:t> </a:t>
            </a:r>
            <a:r>
              <a:rPr sz="1730" dirty="0" err="1">
                <a:solidFill>
                  <a:srgbClr val="2D3F4B"/>
                </a:solidFill>
                <a:latin typeface="Arial"/>
                <a:ea typeface="Arial"/>
                <a:cs typeface="Arial"/>
              </a:rPr>
              <a:t>dafür</a:t>
            </a:r>
            <a:r>
              <a:rPr sz="1730" dirty="0">
                <a:solidFill>
                  <a:srgbClr val="2D3F4B"/>
                </a:solidFill>
                <a:latin typeface="Arial"/>
                <a:ea typeface="Arial"/>
                <a:cs typeface="Arial"/>
              </a:rPr>
              <a:t> nicht </a:t>
            </a:r>
            <a:r>
              <a:rPr sz="1730" dirty="0" err="1">
                <a:solidFill>
                  <a:srgbClr val="2D3F4B"/>
                </a:solidFill>
                <a:latin typeface="Arial"/>
                <a:ea typeface="Arial"/>
                <a:cs typeface="Arial"/>
              </a:rPr>
              <a:t>zwingend</a:t>
            </a:r>
            <a:r>
              <a:rPr sz="1730" dirty="0">
                <a:solidFill>
                  <a:srgbClr val="2D3F4B"/>
                </a:solidFill>
                <a:latin typeface="Arial"/>
                <a:ea typeface="Arial"/>
                <a:cs typeface="Arial"/>
              </a:rPr>
              <a:t> </a:t>
            </a:r>
            <a:r>
              <a:rPr sz="1730" dirty="0" err="1">
                <a:solidFill>
                  <a:srgbClr val="2D3F4B"/>
                </a:solidFill>
                <a:latin typeface="Arial"/>
                <a:ea typeface="Arial"/>
                <a:cs typeface="Arial"/>
              </a:rPr>
              <a:t>nötig</a:t>
            </a:r>
            <a:r>
              <a:rPr sz="1730" dirty="0">
                <a:solidFill>
                  <a:srgbClr val="2D3F4B"/>
                </a:solidFill>
                <a:latin typeface="Arial"/>
                <a:ea typeface="Arial"/>
                <a:cs typeface="Arial"/>
              </a:rPr>
              <a:t>.</a:t>
            </a:r>
          </a:p>
        </p:txBody>
      </p:sp>
    </p:spTree>
    <p:extLst>
      <p:ext uri="{BB962C8B-B14F-4D97-AF65-F5344CB8AC3E}">
        <p14:creationId xmlns:p14="http://schemas.microsoft.com/office/powerpoint/2010/main" val="1326550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20.08.2026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p:nvPr/>
        </p:nvSpPr>
        <p:spPr>
          <a:xfrm>
            <a:off x="719999" y="4680000"/>
            <a:ext cx="2520000"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p:nvPr/>
        </p:nvSpPr>
        <p:spPr>
          <a:xfrm>
            <a:off x="72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p:nvPr/>
        </p:nvSpPr>
        <p:spPr>
          <a:xfrm>
            <a:off x="720000" y="4680000"/>
            <a:ext cx="2520000" cy="900000"/>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p:nvPr/>
        </p:nvSpPr>
        <p:spPr>
          <a:xfrm>
            <a:off x="3599999" y="4245340"/>
            <a:ext cx="2520000" cy="433898"/>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p:nvPr/>
        </p:nvSpPr>
        <p:spPr>
          <a:xfrm>
            <a:off x="360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p:nvPr/>
        </p:nvSpPr>
        <p:spPr>
          <a:xfrm>
            <a:off x="6480000" y="4680000"/>
            <a:ext cx="2520000"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p:nvPr/>
        </p:nvSpPr>
        <p:spPr>
          <a:xfrm>
            <a:off x="648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p:nvPr/>
        </p:nvSpPr>
        <p:spPr>
          <a:xfrm>
            <a:off x="648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Anweisungen</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p:nvPr/>
        </p:nvSpPr>
        <p:spPr>
          <a:xfrm>
            <a:off x="9359999" y="4680000"/>
            <a:ext cx="2520000"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p:nvPr/>
        </p:nvSpPr>
        <p:spPr>
          <a:xfrm>
            <a:off x="9360000" y="4233355"/>
            <a:ext cx="2520000" cy="44588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err="1">
                <a:solidFill>
                  <a:srgbClr val="2D3F4B"/>
                </a:solidFill>
                <a:latin typeface="Arial"/>
                <a:ea typeface="Arial"/>
                <a:cs typeface="Arial"/>
              </a:rPr>
              <a:t>Kontextfenster</a:t>
            </a:r>
            <a:endParaRPr sz="1800" b="1" dirty="0">
              <a:solidFill>
                <a:srgbClr val="2D3F4B"/>
              </a:solidFill>
              <a:latin typeface="Arial"/>
              <a:ea typeface="Arial"/>
              <a:cs typeface="Arial"/>
            </a:endParaRPr>
          </a:p>
        </p:txBody>
      </p:sp>
      <p:sp>
        <p:nvSpPr>
          <p:cNvPr id="31" name="Textfeld 30">
            <a:extLst>
              <a:ext uri="{FF2B5EF4-FFF2-40B4-BE49-F238E27FC236}">
                <a16:creationId xmlns:a16="http://schemas.microsoft.com/office/drawing/2014/main" id="{ACB039CC-F485-C051-649D-630116902526}"/>
              </a:ext>
            </a:extLst>
          </p:cNvPr>
          <p:cNvSpPr/>
          <p:nvPr/>
        </p:nvSpPr>
        <p:spPr>
          <a:xfrm>
            <a:off x="9359999" y="4671659"/>
            <a:ext cx="2520000" cy="908341"/>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de-CH" b="1" dirty="0">
                <a:solidFill>
                  <a:srgbClr val="2D3F4B"/>
                </a:solidFill>
                <a:ea typeface="Arial"/>
                <a:cs typeface="Arial"/>
              </a:rPr>
              <a:t>LLM-KONTEXT</a:t>
            </a:r>
            <a:endParaRPr lang="de-CH" sz="2000" b="1" dirty="0">
              <a:solidFill>
                <a:srgbClr val="2D3F4B"/>
              </a:solidFil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3" idx="1"/>
          </p:cNvCxnSpPr>
          <p:nvPr/>
        </p:nvCxnSpPr>
        <p:spPr>
          <a:xfrm flipV="1">
            <a:off x="1979999" y="2970000"/>
            <a:ext cx="2340001" cy="1170000"/>
          </a:xfrm>
          <a:prstGeom prst="straightConnector1">
            <a:avLst/>
          </a:prstGeom>
          <a:ln w="50800" cap="rnd">
            <a:solidFill>
              <a:srgbClr val="C60C30"/>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a:stCxn id="55" idx="0"/>
          </p:cNvCxnSpPr>
          <p:nvPr/>
        </p:nvCxnSpPr>
        <p:spPr>
          <a:xfrm flipV="1">
            <a:off x="4859999" y="3420000"/>
            <a:ext cx="543691" cy="720000"/>
          </a:xfrm>
          <a:prstGeom prst="straightConnector1">
            <a:avLst/>
          </a:prstGeom>
          <a:ln w="50800" cap="rnd">
            <a:solidFill>
              <a:srgbClr val="9BC7EE"/>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a:stCxn id="56" idx="0"/>
          </p:cNvCxnSpPr>
          <p:nvPr/>
        </p:nvCxnSpPr>
        <p:spPr>
          <a:xfrm flipH="1" flipV="1">
            <a:off x="7131401" y="3420000"/>
            <a:ext cx="608598" cy="720000"/>
          </a:xfrm>
          <a:prstGeom prst="straightConnector1">
            <a:avLst/>
          </a:prstGeom>
          <a:ln w="50800" cap="rnd">
            <a:solidFill>
              <a:srgbClr val="43858A"/>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3" idx="3"/>
          </p:cNvCxnSpPr>
          <p:nvPr/>
        </p:nvCxnSpPr>
        <p:spPr>
          <a:xfrm flipH="1" flipV="1">
            <a:off x="7920000" y="2970000"/>
            <a:ext cx="2699999" cy="1170000"/>
          </a:xfrm>
          <a:prstGeom prst="straightConnector1">
            <a:avLst/>
          </a:prstGeom>
          <a:ln w="50800" cap="rnd">
            <a:solidFill>
              <a:srgbClr val="C9960F"/>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p:nvPr/>
        </p:nvSpPr>
        <p:spPr>
          <a:xfrm>
            <a:off x="719999" y="4140000"/>
            <a:ext cx="2520000"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p:nvPr/>
        </p:nvSpPr>
        <p:spPr>
          <a:xfrm>
            <a:off x="3599999" y="4140000"/>
            <a:ext cx="2520000"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p:nvPr/>
        </p:nvSpPr>
        <p:spPr>
          <a:xfrm>
            <a:off x="6479999" y="4140000"/>
            <a:ext cx="2520000"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p:nvPr/>
        </p:nvSpPr>
        <p:spPr>
          <a:xfrm>
            <a:off x="9359999" y="4140000"/>
            <a:ext cx="2520000"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p:nvPr/>
        </p:nvSpPr>
        <p:spPr>
          <a:xfrm>
            <a:off x="3600000" y="4680000"/>
            <a:ext cx="2520000"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20.08.2026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9</a:t>
            </a:fld>
            <a:endParaRPr lang="de-CH"/>
          </a:p>
        </p:txBody>
      </p:sp>
      <p:sp>
        <p:nvSpPr>
          <p:cNvPr id="11" name="repo-progression-subtitle">
            <a:extLst>
              <a:ext uri="{FF2B5EF4-FFF2-40B4-BE49-F238E27FC236}">
                <a16:creationId xmlns:a16="http://schemas.microsoft.com/office/drawing/2014/main" id="{93070F9C-1D73-491A-AA83-B0CD1488E27D}"/>
              </a:ext>
            </a:extLst>
          </p:cNvPr>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p:nvPr/>
        </p:nvSpPr>
        <p:spPr>
          <a:xfrm>
            <a:off x="1259999" y="2502900"/>
            <a:ext cx="9432508"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p:nvPr/>
        </p:nvSpPr>
        <p:spPr>
          <a:xfrm>
            <a:off x="720000" y="3060000"/>
            <a:ext cx="2160000"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lang="de-CH" sz="1200" b="1" dirty="0">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LLM-</a:t>
            </a:r>
            <a:r>
              <a:rPr sz="1800" b="1" dirty="0" err="1">
                <a:solidFill>
                  <a:srgbClr val="2D3F4B"/>
                </a:solidFill>
                <a:latin typeface="Arial"/>
                <a:ea typeface="Arial"/>
                <a:cs typeface="Arial"/>
              </a:rPr>
              <a:t>Aufruf</a:t>
            </a:r>
            <a:endParaRPr sz="1800" b="1" dirty="0">
              <a:solidFill>
                <a:srgbClr val="2D3F4B"/>
              </a:solidFill>
              <a:latin typeface="Arial"/>
              <a:ea typeface="Arial"/>
              <a:cs typeface="Arial"/>
            </a:endParaRPr>
          </a:p>
        </p:txBody>
      </p:sp>
      <p:sp>
        <p:nvSpPr>
          <p:cNvPr id="16" name="stage-1-copy">
            <a:extLst>
              <a:ext uri="{FF2B5EF4-FFF2-40B4-BE49-F238E27FC236}">
                <a16:creationId xmlns:a16="http://schemas.microsoft.com/office/drawing/2014/main" id="{C5B9BC2D-8807-4358-9EC7-F52D82CC6BF4}"/>
              </a:ext>
            </a:extLst>
          </p:cNvPr>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Prompt </a:t>
            </a:r>
            <a:r>
              <a:rPr sz="1500" dirty="0" err="1">
                <a:solidFill>
                  <a:srgbClr val="2D3F4B"/>
                </a:solidFill>
                <a:latin typeface="Arial"/>
                <a:ea typeface="Arial"/>
                <a:cs typeface="Arial"/>
              </a:rPr>
              <a:t>senden</a:t>
            </a:r>
            <a:endParaRPr sz="1500" dirty="0">
              <a:solidFill>
                <a:srgbClr val="2D3F4B"/>
              </a:solidFill>
              <a:latin typeface="Arial"/>
              <a:ea typeface="Arial"/>
              <a:cs typeface="Arial"/>
            </a:endParaRP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Antwort</a:t>
            </a:r>
            <a:r>
              <a:rPr sz="1500" dirty="0">
                <a:solidFill>
                  <a:srgbClr val="2D3F4B"/>
                </a:solidFill>
                <a:latin typeface="Arial"/>
                <a:ea typeface="Arial"/>
                <a:cs typeface="Arial"/>
              </a:rPr>
              <a:t> </a:t>
            </a:r>
            <a:r>
              <a:rPr sz="1500" dirty="0" err="1">
                <a:solidFill>
                  <a:srgbClr val="2D3F4B"/>
                </a:solidFill>
                <a:latin typeface="Arial"/>
                <a:ea typeface="Arial"/>
                <a:cs typeface="Arial"/>
              </a:rPr>
              <a:t>erhalten</a:t>
            </a:r>
            <a:endParaRPr sz="1500" dirty="0">
              <a:solidFill>
                <a:srgbClr val="2D3F4B"/>
              </a:solidFill>
              <a:latin typeface="Arial"/>
              <a:ea typeface="Arial"/>
              <a:cs typeface="Arial"/>
            </a:endParaRPr>
          </a:p>
        </p:txBody>
      </p:sp>
      <p:sp>
        <p:nvSpPr>
          <p:cNvPr id="17" name="stage-2-circle">
            <a:extLst>
              <a:ext uri="{FF2B5EF4-FFF2-40B4-BE49-F238E27FC236}">
                <a16:creationId xmlns:a16="http://schemas.microsoft.com/office/drawing/2014/main" id="{788267D1-787C-48BB-921D-457EA3D4064D}"/>
              </a:ext>
            </a:extLst>
          </p:cNvPr>
          <p:cNvSpPr/>
          <p:nvPr/>
        </p:nvSpPr>
        <p:spPr>
          <a:xfrm>
            <a:off x="423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p:nvPr/>
        </p:nvSpPr>
        <p:spPr>
          <a:xfrm>
            <a:off x="3480000" y="3060000"/>
            <a:ext cx="2160000"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dirty="0">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p:nvPr/>
        </p:nvSpPr>
        <p:spPr>
          <a:xfrm>
            <a:off x="6240000" y="3060000"/>
            <a:ext cx="2160000"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Suche</a:t>
            </a:r>
            <a:r>
              <a:rPr sz="1500" dirty="0">
                <a:solidFill>
                  <a:srgbClr val="2D3F4B"/>
                </a:solidFill>
                <a:latin typeface="Arial"/>
                <a:ea typeface="Arial"/>
                <a:cs typeface="Arial"/>
              </a:rPr>
              <a:t> + Reranking</a:t>
            </a:r>
          </a:p>
        </p:txBody>
      </p:sp>
      <p:sp>
        <p:nvSpPr>
          <p:cNvPr id="25" name="stage-4-circle">
            <a:extLst>
              <a:ext uri="{FF2B5EF4-FFF2-40B4-BE49-F238E27FC236}">
                <a16:creationId xmlns:a16="http://schemas.microsoft.com/office/drawing/2014/main" id="{1D3AC8DC-9B1D-4449-B0CF-7DCD74368364}"/>
              </a:ext>
            </a:extLst>
          </p:cNvPr>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p:nvPr/>
        </p:nvSpPr>
        <p:spPr>
          <a:xfrm>
            <a:off x="9000000" y="3060000"/>
            <a:ext cx="2160000" cy="36000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dirty="0">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10</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11</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70000"/>
            </a:srgbClr>
          </a:solidFill>
          <a:ln>
            <a:noFill/>
          </a:ln>
        </p:spPr>
        <p:txBody>
          <a:bodyPr/>
          <a:lstStyle/>
          <a:p>
            <a:endParaRPr/>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14</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20.08.2026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15</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16</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dirty="0">
                <a:solidFill>
                  <a:srgbClr val="304452"/>
                </a:solidFill>
              </a:rPr>
              <a:t>Art. 335b · </a:t>
            </a:r>
            <a:r>
              <a:rPr sz="1350" b="0" dirty="0" err="1">
                <a:solidFill>
                  <a:srgbClr val="304452"/>
                </a:solidFill>
              </a:rPr>
              <a:t>Probezeit</a:t>
            </a:r>
            <a:endParaRPr sz="1350" b="0" dirty="0">
              <a:solidFill>
                <a:srgbClr val="304452"/>
              </a:solidFill>
            </a:endParaRPr>
          </a:p>
          <a:p>
            <a:pPr algn="l">
              <a:defRPr sz="1350" b="0">
                <a:solidFill>
                  <a:srgbClr val="304452"/>
                </a:solidFill>
              </a:defRPr>
            </a:pPr>
            <a:r>
              <a:rPr sz="1350" b="0" dirty="0">
                <a:solidFill>
                  <a:srgbClr val="304452"/>
                </a:solidFill>
              </a:rPr>
              <a:t>Die </a:t>
            </a:r>
            <a:r>
              <a:rPr sz="1350" b="0" dirty="0" err="1">
                <a:solidFill>
                  <a:srgbClr val="304452"/>
                </a:solidFill>
              </a:rPr>
              <a:t>Probezeit</a:t>
            </a:r>
            <a:r>
              <a:rPr sz="1350" b="0" dirty="0">
                <a:solidFill>
                  <a:srgbClr val="304452"/>
                </a:solidFill>
              </a:rPr>
              <a:t> </a:t>
            </a:r>
            <a:r>
              <a:rPr sz="1350" b="0" dirty="0" err="1">
                <a:solidFill>
                  <a:srgbClr val="304452"/>
                </a:solidFill>
              </a:rPr>
              <a:t>beträgt</a:t>
            </a:r>
            <a:r>
              <a:rPr sz="1350" b="0" dirty="0">
                <a:solidFill>
                  <a:srgbClr val="304452"/>
                </a:solidFill>
              </a:rPr>
              <a:t> </a:t>
            </a:r>
            <a:r>
              <a:rPr sz="1350" b="0" dirty="0" err="1">
                <a:solidFill>
                  <a:srgbClr val="304452"/>
                </a:solidFill>
              </a:rPr>
              <a:t>grundsätzlich</a:t>
            </a:r>
            <a:r>
              <a:rPr sz="1350" b="0" dirty="0">
                <a:solidFill>
                  <a:srgbClr val="304452"/>
                </a:solidFill>
              </a:rPr>
              <a:t> den </a:t>
            </a:r>
            <a:r>
              <a:rPr sz="1350" b="0" dirty="0" err="1">
                <a:solidFill>
                  <a:srgbClr val="304452"/>
                </a:solidFill>
              </a:rPr>
              <a:t>ersten</a:t>
            </a:r>
            <a:r>
              <a:rPr sz="1350" b="0" dirty="0">
                <a:solidFill>
                  <a:srgbClr val="304452"/>
                </a:solidFill>
              </a:rPr>
              <a:t> Monat. Sie </a:t>
            </a:r>
            <a:r>
              <a:rPr sz="1350" b="0" dirty="0" err="1">
                <a:solidFill>
                  <a:srgbClr val="304452"/>
                </a:solidFill>
              </a:rPr>
              <a:t>kann</a:t>
            </a:r>
            <a:r>
              <a:rPr sz="1350" b="0" dirty="0">
                <a:solidFill>
                  <a:srgbClr val="304452"/>
                </a:solidFill>
              </a:rPr>
              <a:t> auf </a:t>
            </a:r>
            <a:r>
              <a:rPr sz="1350" b="0" dirty="0" err="1">
                <a:solidFill>
                  <a:srgbClr val="304452"/>
                </a:solidFill>
              </a:rPr>
              <a:t>höchstens</a:t>
            </a:r>
            <a:r>
              <a:rPr sz="1350" b="0" dirty="0">
                <a:solidFill>
                  <a:srgbClr val="304452"/>
                </a:solidFill>
              </a:rPr>
              <a:t> </a:t>
            </a:r>
            <a:r>
              <a:rPr sz="1350" b="0" dirty="0" err="1">
                <a:solidFill>
                  <a:srgbClr val="304452"/>
                </a:solidFill>
              </a:rPr>
              <a:t>drei</a:t>
            </a:r>
            <a:r>
              <a:rPr sz="1350" b="0" dirty="0">
                <a:solidFill>
                  <a:srgbClr val="304452"/>
                </a:solidFill>
              </a:rPr>
              <a:t> </a:t>
            </a:r>
            <a:r>
              <a:rPr sz="1350" b="0" dirty="0" err="1">
                <a:solidFill>
                  <a:srgbClr val="304452"/>
                </a:solidFill>
              </a:rPr>
              <a:t>Monate</a:t>
            </a:r>
            <a:r>
              <a:rPr sz="1350" b="0" dirty="0">
                <a:solidFill>
                  <a:srgbClr val="304452"/>
                </a:solidFill>
              </a:rPr>
              <a:t> </a:t>
            </a:r>
            <a:r>
              <a:rPr sz="1350" b="0" dirty="0" err="1">
                <a:solidFill>
                  <a:srgbClr val="304452"/>
                </a:solidFill>
              </a:rPr>
              <a:t>verlän</a:t>
            </a:r>
            <a:r>
              <a:rPr sz="1350" b="0" dirty="0">
                <a:solidFill>
                  <a:srgbClr val="304452"/>
                </a:solidFill>
              </a:rPr>
              <a:t>-</a:t>
            </a:r>
          </a:p>
        </p:txBody>
      </p:sp>
      <p:sp>
        <p:nvSpPr>
          <p:cNvPr id="12" name="chunk18">
            <a:extLst>
              <a:ext uri="{FF2B5EF4-FFF2-40B4-BE49-F238E27FC236}">
                <a16:creationId xmlns:a16="http://schemas.microsoft.com/office/drawing/2014/main" id="{F7A34B1E-6B6D-4093-A46C-5EE5D8C2BE3A}"/>
              </a:ext>
            </a:extLst>
          </p:cNvPr>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dirty="0" err="1">
                <a:solidFill>
                  <a:srgbClr val="304452"/>
                </a:solidFill>
              </a:rPr>
              <a:t>gert</a:t>
            </a:r>
            <a:r>
              <a:rPr sz="1350" b="0" dirty="0">
                <a:solidFill>
                  <a:srgbClr val="304452"/>
                </a:solidFill>
              </a:rPr>
              <a:t> </a:t>
            </a:r>
            <a:r>
              <a:rPr sz="1350" b="0" dirty="0" err="1">
                <a:solidFill>
                  <a:srgbClr val="304452"/>
                </a:solidFill>
              </a:rPr>
              <a:t>werden</a:t>
            </a:r>
            <a:r>
              <a:rPr sz="1350" b="0" dirty="0">
                <a:solidFill>
                  <a:srgbClr val="304452"/>
                </a:solidFill>
              </a:rPr>
              <a:t>. Bei </a:t>
            </a:r>
            <a:r>
              <a:rPr sz="1350" b="0" dirty="0" err="1">
                <a:solidFill>
                  <a:srgbClr val="304452"/>
                </a:solidFill>
              </a:rPr>
              <a:t>Krankheit</a:t>
            </a:r>
            <a:r>
              <a:rPr sz="1350" b="0" dirty="0">
                <a:solidFill>
                  <a:srgbClr val="304452"/>
                </a:solidFill>
              </a:rPr>
              <a:t> …</a:t>
            </a:r>
          </a:p>
          <a:p>
            <a:endParaRPr sz="1350" b="0" dirty="0">
              <a:solidFill>
                <a:srgbClr val="304452"/>
              </a:solidFill>
            </a:endParaRPr>
          </a:p>
          <a:p>
            <a:pPr algn="l">
              <a:defRPr sz="1350" b="0">
                <a:solidFill>
                  <a:srgbClr val="304452"/>
                </a:solidFill>
              </a:defRPr>
            </a:pPr>
            <a:r>
              <a:rPr sz="1350" b="0" dirty="0">
                <a:solidFill>
                  <a:srgbClr val="304452"/>
                </a:solidFill>
              </a:rPr>
              <a:t>Art. 335c</a:t>
            </a:r>
          </a:p>
          <a:p>
            <a:pPr algn="l">
              <a:defRPr sz="1350" b="0">
                <a:solidFill>
                  <a:srgbClr val="304452"/>
                </a:solidFill>
              </a:defRPr>
            </a:pPr>
            <a:r>
              <a:rPr sz="1350" b="0" dirty="0" err="1">
                <a:solidFill>
                  <a:srgbClr val="304452"/>
                </a:solidFill>
              </a:rPr>
              <a:t>Kündigungsfristen</a:t>
            </a:r>
            <a:r>
              <a:rPr sz="1350" b="0" dirty="0">
                <a:solidFill>
                  <a:srgbClr val="304452"/>
                </a:solidFill>
              </a:rPr>
              <a:t> …</a:t>
            </a:r>
          </a:p>
        </p:txBody>
      </p:sp>
      <p:sp>
        <p:nvSpPr>
          <p:cNvPr id="14" name="hard-boundary">
            <a:extLst>
              <a:ext uri="{FF2B5EF4-FFF2-40B4-BE49-F238E27FC236}">
                <a16:creationId xmlns:a16="http://schemas.microsoft.com/office/drawing/2014/main" id="{3A8DD313-725B-4E1C-9433-3901D5DAF639}"/>
              </a:ext>
            </a:extLst>
          </p:cNvPr>
          <p:cNvSpPr/>
          <p:nvPr/>
        </p:nvSpPr>
        <p:spPr>
          <a:xfrm>
            <a:off x="315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p:nvPr/>
        </p:nvSpPr>
        <p:spPr>
          <a:xfrm>
            <a:off x="2721375" y="4320000"/>
            <a:ext cx="857250" cy="400050"/>
          </a:xfrm>
          <a:prstGeom prst="rect">
            <a:avLst/>
          </a:prstGeom>
          <a:noFill/>
          <a:ln w="0">
            <a:noFill/>
            <a:prstDash val="solid"/>
          </a:ln>
        </p:spPr>
        <p:txBody>
          <a:bodyPr anchor="ctr"/>
          <a:lstStyle/>
          <a:p>
            <a:pPr algn="ctr">
              <a:defRPr sz="825" b="1">
                <a:solidFill>
                  <a:srgbClr val="D20A32"/>
                </a:solidFill>
              </a:defRPr>
            </a:pPr>
            <a:r>
              <a:rPr sz="825" b="1" dirty="0">
                <a:solidFill>
                  <a:srgbClr val="D20A32"/>
                </a:solidFill>
              </a:rPr>
              <a:t>STARRE</a:t>
            </a:r>
          </a:p>
          <a:p>
            <a:pPr algn="ctr">
              <a:defRPr sz="825" b="1">
                <a:solidFill>
                  <a:srgbClr val="D20A32"/>
                </a:solidFill>
              </a:defRPr>
            </a:pPr>
            <a:r>
              <a:rPr sz="825" b="1" dirty="0">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p:nvPr/>
        </p:nvSpPr>
        <p:spPr>
          <a:xfrm>
            <a:off x="88305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p:nvPr/>
        </p:nvSpPr>
        <p:spPr>
          <a:xfrm>
            <a:off x="6660000" y="2520000"/>
            <a:ext cx="4680000" cy="1080000"/>
          </a:xfrm>
          <a:prstGeom prst="roundRect">
            <a:avLst>
              <a:gd name="adj" fmla="val 7273"/>
            </a:avLst>
          </a:prstGeom>
          <a:solidFill>
            <a:srgbClr val="FFFFFF"/>
          </a:solidFill>
          <a:ln w="12700">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r>
              <a:rPr lang="de-CH" sz="1350" b="1" dirty="0">
                <a:solidFill>
                  <a:srgbClr val="304452"/>
                </a:solidFill>
              </a:rPr>
              <a:t> </a:t>
            </a: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3" name="result-chip">
            <a:extLst>
              <a:ext uri="{FF2B5EF4-FFF2-40B4-BE49-F238E27FC236}">
                <a16:creationId xmlns:a16="http://schemas.microsoft.com/office/drawing/2014/main" id="{7BBF8A2F-B0CE-4AF3-A58D-9B9260B96072}"/>
              </a:ext>
            </a:extLst>
          </p:cNvPr>
          <p:cNvSpPr/>
          <p:nvPr/>
        </p:nvSpPr>
        <p:spPr>
          <a:xfrm>
            <a:off x="7380000" y="4320000"/>
            <a:ext cx="3238500" cy="457200"/>
          </a:xfrm>
          <a:prstGeom prst="roundRect">
            <a:avLst>
              <a:gd name="adj" fmla="val 16667"/>
            </a:avLst>
          </a:prstGeom>
          <a:solidFill>
            <a:srgbClr val="EAF4F4"/>
          </a:solidFill>
          <a:ln w="12700">
            <a:solidFill>
              <a:srgbClr val="307F87"/>
            </a:solidFill>
            <a:prstDash val="solid"/>
          </a:ln>
        </p:spPr>
        <p:txBody>
          <a:bodyPr anchor="ctr"/>
          <a:lstStyle/>
          <a:p>
            <a:pPr algn="ctr"/>
            <a:r>
              <a:rPr lang="de-CH" sz="1400" b="1" dirty="0">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791735" y="398955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73340" y="3106154"/>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29" name="Gerade Verbindung mit Pfeil 28">
            <a:extLst>
              <a:ext uri="{FF2B5EF4-FFF2-40B4-BE49-F238E27FC236}">
                <a16:creationId xmlns:a16="http://schemas.microsoft.com/office/drawing/2014/main" id="{D8CAD5DB-1C3A-7209-B0FF-1D186D705450}"/>
              </a:ext>
            </a:extLst>
          </p:cNvPr>
          <p:cNvCxnSpPr>
            <a:stCxn id="23" idx="0"/>
            <a:endCxn id="17" idx="2"/>
          </p:cNvCxnSpPr>
          <p:nvPr/>
        </p:nvCxnSpPr>
        <p:spPr>
          <a:xfrm flipV="1">
            <a:off x="8999250" y="3600000"/>
            <a:ext cx="750" cy="720000"/>
          </a:xfrm>
          <a:prstGeom prst="straightConnector1">
            <a:avLst/>
          </a:prstGeom>
          <a:solidFill>
            <a:srgbClr val="EAF4F4"/>
          </a:solidFill>
          <a:ln w="12700">
            <a:solidFill>
              <a:srgbClr val="307F87"/>
            </a:solidFill>
            <a:prstDash val="solid"/>
          </a:ln>
        </p:spPr>
      </p:cxnSp>
      <p:sp>
        <p:nvSpPr>
          <p:cNvPr id="21" name="oversize-note">
            <a:extLst>
              <a:ext uri="{FF2B5EF4-FFF2-40B4-BE49-F238E27FC236}">
                <a16:creationId xmlns:a16="http://schemas.microsoft.com/office/drawing/2014/main" id="{6557A38C-4E89-4CDC-8237-FCB0C661E68A}"/>
              </a:ext>
            </a:extLst>
          </p:cNvPr>
          <p:cNvSpPr/>
          <p:nvPr/>
        </p:nvSpPr>
        <p:spPr>
          <a:xfrm>
            <a:off x="7125750" y="3826650"/>
            <a:ext cx="4095750" cy="266700"/>
          </a:xfrm>
          <a:prstGeom prst="rect">
            <a:avLst/>
          </a:prstGeom>
          <a:solidFill>
            <a:srgbClr val="F8FCFC"/>
          </a:solidFill>
          <a:ln w="0">
            <a:noFill/>
            <a:prstDash val="solid"/>
          </a:ln>
        </p:spPr>
        <p:txBody>
          <a:bodyPr anchor="ctr"/>
          <a:lstStyle/>
          <a:p>
            <a:pPr algn="ctr">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3" grpId="0" animBg="1"/>
      <p:bldP spid="25" grpId="0" animBg="1"/>
      <p:bldP spid="26" grpId="0"/>
      <p:bldP spid="2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p:nvPr/>
        </p:nvSpPr>
        <p:spPr>
          <a:xfrm>
            <a:off x="540000" y="1376382"/>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dirty="0">
                <a:solidFill>
                  <a:srgbClr val="81725E"/>
                </a:solidFill>
                <a:latin typeface="Arial"/>
                <a:ea typeface="Arial"/>
                <a:cs typeface="Arial"/>
              </a:rPr>
              <a:t>Retrieval </a:t>
            </a:r>
            <a:r>
              <a:rPr sz="1650" b="0" dirty="0" err="1">
                <a:solidFill>
                  <a:srgbClr val="81725E"/>
                </a:solidFill>
                <a:latin typeface="Arial"/>
                <a:ea typeface="Arial"/>
                <a:cs typeface="Arial"/>
              </a:rPr>
              <a:t>maximiert</a:t>
            </a:r>
            <a:r>
              <a:rPr sz="1650" b="0" dirty="0">
                <a:solidFill>
                  <a:srgbClr val="81725E"/>
                </a:solidFill>
                <a:latin typeface="Arial"/>
                <a:ea typeface="Arial"/>
                <a:cs typeface="Arial"/>
              </a:rPr>
              <a:t> Recall; der Cross-Encoder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danach</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Reihenfolge</a:t>
            </a:r>
            <a:r>
              <a:rPr sz="1650" b="0" dirty="0">
                <a:solidFill>
                  <a:srgbClr val="81725E"/>
                </a:solidFill>
                <a:latin typeface="Arial"/>
                <a:ea typeface="Arial"/>
                <a:cs typeface="Arial"/>
              </a:rPr>
              <a:t>.</a:t>
            </a:r>
          </a:p>
        </p:txBody>
      </p:sp>
      <p:sp>
        <p:nvSpPr>
          <p:cNvPr id="20" name="page-number">
            <a:extLst>
              <a:ext uri="{FF2B5EF4-FFF2-40B4-BE49-F238E27FC236}">
                <a16:creationId xmlns:a16="http://schemas.microsoft.com/office/drawing/2014/main" id="{19B956D9-D2CE-4318-AEFE-02BD0C4DF8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p:nvPr/>
        </p:nvSpPr>
        <p:spPr>
          <a:xfrm>
            <a:off x="719999" y="1972649"/>
            <a:ext cx="2159999"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p:nvPr/>
        </p:nvSpPr>
        <p:spPr>
          <a:xfrm>
            <a:off x="720000" y="2695635"/>
            <a:ext cx="2160000" cy="720000"/>
          </a:xfrm>
          <a:prstGeom prst="roundRect">
            <a:avLst>
              <a:gd name="adj" fmla="val 19512"/>
            </a:avLst>
          </a:prstGeom>
          <a:solidFill>
            <a:srgbClr val="2D3F4B"/>
          </a:solidFill>
          <a:ln w="0">
            <a:solidFill>
              <a:srgbClr val="2D3F4B"/>
            </a:solidFill>
            <a:prstDash val="solid"/>
          </a:ln>
        </p:spPr>
        <p:txBody>
          <a:bodyPr anchor="ctr"/>
          <a:lstStyle/>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die Probezeit?</a:t>
            </a:r>
          </a:p>
        </p:txBody>
      </p:sp>
      <p:grpSp>
        <p:nvGrpSpPr>
          <p:cNvPr id="11" name="Gruppieren 10">
            <a:extLst>
              <a:ext uri="{FF2B5EF4-FFF2-40B4-BE49-F238E27FC236}">
                <a16:creationId xmlns:a16="http://schemas.microsoft.com/office/drawing/2014/main" id="{5F303323-BE3B-CFB0-4E9D-5E25D97A2082}"/>
              </a:ext>
            </a:extLst>
          </p:cNvPr>
          <p:cNvGrpSpPr/>
          <p:nvPr/>
        </p:nvGrpSpPr>
        <p:grpSpPr>
          <a:xfrm>
            <a:off x="2957273" y="1972649"/>
            <a:ext cx="3442102" cy="2225964"/>
            <a:chOff x="2957273" y="1972649"/>
            <a:chExt cx="3442102" cy="2225964"/>
          </a:xfrm>
        </p:grpSpPr>
        <p:sp>
          <p:nvSpPr>
            <p:cNvPr id="25" name="q-to-vector">
              <a:extLst>
                <a:ext uri="{FF2B5EF4-FFF2-40B4-BE49-F238E27FC236}">
                  <a16:creationId xmlns:a16="http://schemas.microsoft.com/office/drawing/2014/main" id="{A8585295-75E2-46EA-AC32-126696555F4B}"/>
                </a:ext>
              </a:extLst>
            </p:cNvPr>
            <p:cNvSpPr/>
            <p:nvPr/>
          </p:nvSpPr>
          <p:spPr>
            <a:xfrm>
              <a:off x="2957273" y="3055635"/>
              <a:ext cx="717499"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p:nvPr/>
          </p:nvSpPr>
          <p:spPr>
            <a:xfrm>
              <a:off x="3780000" y="1972649"/>
              <a:ext cx="2619374"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grpSp>
          <p:nvGrpSpPr>
            <p:cNvPr id="3" name="Gruppieren 2">
              <a:extLst>
                <a:ext uri="{FF2B5EF4-FFF2-40B4-BE49-F238E27FC236}">
                  <a16:creationId xmlns:a16="http://schemas.microsoft.com/office/drawing/2014/main" id="{1FB2134F-2371-6C77-AF8C-D1C3FCBA96EC}"/>
                </a:ext>
              </a:extLst>
            </p:cNvPr>
            <p:cNvGrpSpPr/>
            <p:nvPr/>
          </p:nvGrpSpPr>
          <p:grpSpPr>
            <a:xfrm>
              <a:off x="3780000" y="2340000"/>
              <a:ext cx="2619375" cy="409575"/>
              <a:chOff x="3780000" y="2340000"/>
              <a:chExt cx="2619375" cy="409575"/>
            </a:xfrm>
          </p:grpSpPr>
          <p:sp>
            <p:nvSpPr>
              <p:cNvPr id="27" name="vector-row-0">
                <a:extLst>
                  <a:ext uri="{FF2B5EF4-FFF2-40B4-BE49-F238E27FC236}">
                    <a16:creationId xmlns:a16="http://schemas.microsoft.com/office/drawing/2014/main" id="{75716B28-0E31-46C2-A3C5-56EECC949C2B}"/>
                  </a:ext>
                </a:extLst>
              </p:cNvPr>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p:nvPr/>
            </p:nvSpPr>
            <p:spPr>
              <a:xfrm>
                <a:off x="3960000" y="242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p:nvPr/>
            </p:nvSpPr>
            <p:spPr>
              <a:xfrm>
                <a:off x="4320000" y="242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Kündigungsfrist</a:t>
                </a:r>
                <a:endParaRPr sz="1275" b="0" dirty="0">
                  <a:solidFill>
                    <a:srgbClr val="2D3F4B"/>
                  </a:solidFill>
                  <a:latin typeface="Arial"/>
                  <a:ea typeface="Arial"/>
                  <a:cs typeface="Arial"/>
                </a:endParaRPr>
              </a:p>
            </p:txBody>
          </p:sp>
          <p:sp>
            <p:nvSpPr>
              <p:cNvPr id="30" name="vector-score-0">
                <a:extLst>
                  <a:ext uri="{FF2B5EF4-FFF2-40B4-BE49-F238E27FC236}">
                    <a16:creationId xmlns:a16="http://schemas.microsoft.com/office/drawing/2014/main" id="{F3A744E8-F2AE-463C-86F7-923304CFAC8C}"/>
                  </a:ext>
                </a:extLst>
              </p:cNvPr>
              <p:cNvSpPr/>
              <p:nvPr/>
            </p:nvSpPr>
            <p:spPr>
              <a:xfrm>
                <a:off x="576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grpSp>
        <p:grpSp>
          <p:nvGrpSpPr>
            <p:cNvPr id="4" name="Gruppieren 3">
              <a:extLst>
                <a:ext uri="{FF2B5EF4-FFF2-40B4-BE49-F238E27FC236}">
                  <a16:creationId xmlns:a16="http://schemas.microsoft.com/office/drawing/2014/main" id="{141B6B71-8143-2108-063C-D8853593EB6D}"/>
                </a:ext>
              </a:extLst>
            </p:cNvPr>
            <p:cNvGrpSpPr/>
            <p:nvPr/>
          </p:nvGrpSpPr>
          <p:grpSpPr>
            <a:xfrm>
              <a:off x="3780000" y="2823013"/>
              <a:ext cx="2619375" cy="409575"/>
              <a:chOff x="3780000" y="2880000"/>
              <a:chExt cx="2619375" cy="409575"/>
            </a:xfrm>
          </p:grpSpPr>
          <p:sp>
            <p:nvSpPr>
              <p:cNvPr id="31" name="vector-row-1">
                <a:extLst>
                  <a:ext uri="{FF2B5EF4-FFF2-40B4-BE49-F238E27FC236}">
                    <a16:creationId xmlns:a16="http://schemas.microsoft.com/office/drawing/2014/main" id="{F450F738-BD5A-48AD-9A41-9FF11D6A9169}"/>
                  </a:ext>
                </a:extLst>
              </p:cNvPr>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p:nvPr/>
            </p:nvSpPr>
            <p:spPr>
              <a:xfrm>
                <a:off x="3960000" y="296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p:nvPr/>
            </p:nvSpPr>
            <p:spPr>
              <a:xfrm>
                <a:off x="4320000" y="296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p:nvPr/>
            </p:nvSpPr>
            <p:spPr>
              <a:xfrm>
                <a:off x="576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grpSp>
        <p:grpSp>
          <p:nvGrpSpPr>
            <p:cNvPr id="5" name="Gruppieren 4">
              <a:extLst>
                <a:ext uri="{FF2B5EF4-FFF2-40B4-BE49-F238E27FC236}">
                  <a16:creationId xmlns:a16="http://schemas.microsoft.com/office/drawing/2014/main" id="{E1AEB315-AE4C-75B6-BD5A-A4C2BA26F968}"/>
                </a:ext>
              </a:extLst>
            </p:cNvPr>
            <p:cNvGrpSpPr/>
            <p:nvPr/>
          </p:nvGrpSpPr>
          <p:grpSpPr>
            <a:xfrm>
              <a:off x="3780000" y="3306026"/>
              <a:ext cx="2619375" cy="409575"/>
              <a:chOff x="3780000" y="3335760"/>
              <a:chExt cx="2619375" cy="409575"/>
            </a:xfrm>
          </p:grpSpPr>
          <p:sp>
            <p:nvSpPr>
              <p:cNvPr id="35" name="vector-row-2">
                <a:extLst>
                  <a:ext uri="{FF2B5EF4-FFF2-40B4-BE49-F238E27FC236}">
                    <a16:creationId xmlns:a16="http://schemas.microsoft.com/office/drawing/2014/main" id="{A0FCE584-190B-47B3-8C38-C35AD8DA58CA}"/>
                  </a:ext>
                </a:extLst>
              </p:cNvPr>
              <p:cNvSpPr/>
              <p:nvPr/>
            </p:nvSpPr>
            <p:spPr>
              <a:xfrm>
                <a:off x="3780000" y="333576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p:nvPr/>
            </p:nvSpPr>
            <p:spPr>
              <a:xfrm>
                <a:off x="3960000" y="341672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p:nvPr/>
            </p:nvSpPr>
            <p:spPr>
              <a:xfrm>
                <a:off x="4320000" y="341672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p:nvPr/>
            </p:nvSpPr>
            <p:spPr>
              <a:xfrm>
                <a:off x="5760000" y="341672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dirty="0">
                    <a:solidFill>
                      <a:srgbClr val="81725E"/>
                    </a:solidFill>
                    <a:latin typeface="Arial"/>
                    <a:ea typeface="Arial"/>
                    <a:cs typeface="Arial"/>
                  </a:rPr>
                  <a:t>0.79</a:t>
                </a:r>
              </a:p>
            </p:txBody>
          </p:sp>
        </p:grpSp>
        <p:grpSp>
          <p:nvGrpSpPr>
            <p:cNvPr id="6" name="Gruppieren 5">
              <a:extLst>
                <a:ext uri="{FF2B5EF4-FFF2-40B4-BE49-F238E27FC236}">
                  <a16:creationId xmlns:a16="http://schemas.microsoft.com/office/drawing/2014/main" id="{5E76CAC2-D564-2846-6F19-8A1C030627FF}"/>
                </a:ext>
              </a:extLst>
            </p:cNvPr>
            <p:cNvGrpSpPr/>
            <p:nvPr/>
          </p:nvGrpSpPr>
          <p:grpSpPr>
            <a:xfrm>
              <a:off x="3780000" y="3789038"/>
              <a:ext cx="2619375" cy="409575"/>
              <a:chOff x="3780000" y="3789038"/>
              <a:chExt cx="2619375" cy="409575"/>
            </a:xfrm>
          </p:grpSpPr>
          <p:sp>
            <p:nvSpPr>
              <p:cNvPr id="39" name="vector-row-3">
                <a:extLst>
                  <a:ext uri="{FF2B5EF4-FFF2-40B4-BE49-F238E27FC236}">
                    <a16:creationId xmlns:a16="http://schemas.microsoft.com/office/drawing/2014/main" id="{A778CD48-FBE7-45F1-B1D9-E5C11B2F386B}"/>
                  </a:ext>
                </a:extLst>
              </p:cNvPr>
              <p:cNvSpPr/>
              <p:nvPr/>
            </p:nvSpPr>
            <p:spPr>
              <a:xfrm>
                <a:off x="3780000" y="3789038"/>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p:nvPr/>
            </p:nvSpPr>
            <p:spPr>
              <a:xfrm>
                <a:off x="3960000" y="387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p:nvPr/>
            </p:nvSpPr>
            <p:spPr>
              <a:xfrm>
                <a:off x="4320000" y="387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p:nvPr/>
            </p:nvSpPr>
            <p:spPr>
              <a:xfrm>
                <a:off x="5760000" y="3870000"/>
                <a:ext cx="552450" cy="247650"/>
              </a:xfrm>
              <a:prstGeom prst="rect">
                <a:avLst/>
              </a:prstGeom>
              <a:noFill/>
              <a:ln w="0">
                <a:noFill/>
                <a:prstDash val="solid"/>
              </a:ln>
            </p:spPr>
            <p:txBody>
              <a:bodyPr anchor="t"/>
              <a:lstStyle/>
              <a:p>
                <a:endParaRPr/>
              </a:p>
            </p:txBody>
          </p:sp>
        </p:grpSp>
      </p:grpSp>
      <p:grpSp>
        <p:nvGrpSpPr>
          <p:cNvPr id="14" name="Gruppieren 13">
            <a:extLst>
              <a:ext uri="{FF2B5EF4-FFF2-40B4-BE49-F238E27FC236}">
                <a16:creationId xmlns:a16="http://schemas.microsoft.com/office/drawing/2014/main" id="{8AED47A5-B5B8-8ED7-EBFE-5D3AF655DF18}"/>
              </a:ext>
            </a:extLst>
          </p:cNvPr>
          <p:cNvGrpSpPr/>
          <p:nvPr/>
        </p:nvGrpSpPr>
        <p:grpSpPr>
          <a:xfrm>
            <a:off x="8100000" y="1972649"/>
            <a:ext cx="3434625" cy="2225964"/>
            <a:chOff x="8100000" y="1972649"/>
            <a:chExt cx="3434625" cy="2225964"/>
          </a:xfrm>
        </p:grpSpPr>
        <p:sp>
          <p:nvSpPr>
            <p:cNvPr id="47" name="rerank-to-top">
              <a:extLst>
                <a:ext uri="{FF2B5EF4-FFF2-40B4-BE49-F238E27FC236}">
                  <a16:creationId xmlns:a16="http://schemas.microsoft.com/office/drawing/2014/main" id="{67DC0688-D565-480D-8784-C0ED88D57A86}"/>
                </a:ext>
              </a:extLst>
            </p:cNvPr>
            <p:cNvSpPr/>
            <p:nvPr/>
          </p:nvSpPr>
          <p:spPr>
            <a:xfrm>
              <a:off x="8100000" y="3060000"/>
              <a:ext cx="666750" cy="0"/>
            </a:xfrm>
            <a:prstGeom prst="line">
              <a:avLst/>
            </a:prstGeom>
            <a:ln w="23813">
              <a:solidFill>
                <a:srgbClr val="C9960F"/>
              </a:solidFill>
              <a:prstDash val="solid"/>
            </a:ln>
          </p:spPr>
          <p:txBody>
            <a:bodyPr/>
            <a:lstStyle/>
            <a:p>
              <a:endParaRPr lang="de-CH"/>
            </a:p>
          </p:txBody>
        </p:sp>
        <p:grpSp>
          <p:nvGrpSpPr>
            <p:cNvPr id="13" name="Gruppieren 12">
              <a:extLst>
                <a:ext uri="{FF2B5EF4-FFF2-40B4-BE49-F238E27FC236}">
                  <a16:creationId xmlns:a16="http://schemas.microsoft.com/office/drawing/2014/main" id="{BC13E1D7-5421-77D7-3B4E-FFB1A58A5021}"/>
                </a:ext>
              </a:extLst>
            </p:cNvPr>
            <p:cNvGrpSpPr/>
            <p:nvPr/>
          </p:nvGrpSpPr>
          <p:grpSpPr>
            <a:xfrm>
              <a:off x="8820000" y="1972649"/>
              <a:ext cx="2714625" cy="2225964"/>
              <a:chOff x="8820000" y="1972649"/>
              <a:chExt cx="2714625" cy="2225964"/>
            </a:xfrm>
          </p:grpSpPr>
          <p:sp>
            <p:nvSpPr>
              <p:cNvPr id="48" name="top-label">
                <a:extLst>
                  <a:ext uri="{FF2B5EF4-FFF2-40B4-BE49-F238E27FC236}">
                    <a16:creationId xmlns:a16="http://schemas.microsoft.com/office/drawing/2014/main" id="{813A9E33-65B7-4EAC-9D0B-F4BDF01804F1}"/>
                  </a:ext>
                </a:extLst>
              </p:cNvPr>
              <p:cNvSpPr/>
              <p:nvPr/>
            </p:nvSpPr>
            <p:spPr>
              <a:xfrm>
                <a:off x="8820000" y="1972649"/>
                <a:ext cx="2714624"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dirty="0">
                    <a:solidFill>
                      <a:srgbClr val="C9960F"/>
                    </a:solidFill>
                    <a:latin typeface="Arial"/>
                    <a:ea typeface="Arial"/>
                    <a:cs typeface="Arial"/>
                  </a:rPr>
                  <a:t>TOP-4 IN DEN PROMPT</a:t>
                </a:r>
              </a:p>
            </p:txBody>
          </p:sp>
          <p:grpSp>
            <p:nvGrpSpPr>
              <p:cNvPr id="7" name="Gruppieren 6">
                <a:extLst>
                  <a:ext uri="{FF2B5EF4-FFF2-40B4-BE49-F238E27FC236}">
                    <a16:creationId xmlns:a16="http://schemas.microsoft.com/office/drawing/2014/main" id="{96B33F7E-F940-E975-D647-C60CAC87F958}"/>
                  </a:ext>
                </a:extLst>
              </p:cNvPr>
              <p:cNvGrpSpPr/>
              <p:nvPr/>
            </p:nvGrpSpPr>
            <p:grpSpPr>
              <a:xfrm>
                <a:off x="8820000" y="2340000"/>
                <a:ext cx="2714625" cy="409575"/>
                <a:chOff x="8820000" y="2340000"/>
                <a:chExt cx="2714625" cy="409575"/>
              </a:xfrm>
            </p:grpSpPr>
            <p:sp>
              <p:nvSpPr>
                <p:cNvPr id="49" name="rerank-row-0">
                  <a:extLst>
                    <a:ext uri="{FF2B5EF4-FFF2-40B4-BE49-F238E27FC236}">
                      <a16:creationId xmlns:a16="http://schemas.microsoft.com/office/drawing/2014/main" id="{DF31896F-4FA2-4656-9746-FB94EE4BD9AF}"/>
                    </a:ext>
                  </a:extLst>
                </p:cNvPr>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p:nvPr/>
              </p:nvSpPr>
              <p:spPr>
                <a:xfrm>
                  <a:off x="8820000" y="242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p:nvPr/>
              </p:nvSpPr>
              <p:spPr>
                <a:xfrm>
                  <a:off x="9180000" y="242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p:nvPr/>
              </p:nvSpPr>
              <p:spPr>
                <a:xfrm>
                  <a:off x="1080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grpSp>
          <p:grpSp>
            <p:nvGrpSpPr>
              <p:cNvPr id="8" name="Gruppieren 7">
                <a:extLst>
                  <a:ext uri="{FF2B5EF4-FFF2-40B4-BE49-F238E27FC236}">
                    <a16:creationId xmlns:a16="http://schemas.microsoft.com/office/drawing/2014/main" id="{08255C8E-C511-B08E-3F5A-42E18623C2FF}"/>
                  </a:ext>
                </a:extLst>
              </p:cNvPr>
              <p:cNvGrpSpPr/>
              <p:nvPr/>
            </p:nvGrpSpPr>
            <p:grpSpPr>
              <a:xfrm>
                <a:off x="8820000" y="2823013"/>
                <a:ext cx="2714625" cy="409575"/>
                <a:chOff x="8820000" y="2880000"/>
                <a:chExt cx="2714625" cy="409575"/>
              </a:xfrm>
            </p:grpSpPr>
            <p:sp>
              <p:nvSpPr>
                <p:cNvPr id="53" name="rerank-row-1">
                  <a:extLst>
                    <a:ext uri="{FF2B5EF4-FFF2-40B4-BE49-F238E27FC236}">
                      <a16:creationId xmlns:a16="http://schemas.microsoft.com/office/drawing/2014/main" id="{43762E83-CA22-40AA-A126-60AE96C1F805}"/>
                    </a:ext>
                  </a:extLst>
                </p:cNvPr>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p:nvPr/>
              </p:nvSpPr>
              <p:spPr>
                <a:xfrm>
                  <a:off x="8820000" y="296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p:nvPr/>
              </p:nvSpPr>
              <p:spPr>
                <a:xfrm>
                  <a:off x="9180000" y="296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Lehrvertrag</a:t>
                  </a:r>
                  <a:endParaRPr sz="1275" b="0" dirty="0">
                    <a:solidFill>
                      <a:srgbClr val="2D3F4B"/>
                    </a:solidFill>
                    <a:latin typeface="Arial"/>
                    <a:ea typeface="Arial"/>
                    <a:cs typeface="Arial"/>
                  </a:endParaRPr>
                </a:p>
              </p:txBody>
            </p:sp>
            <p:sp>
              <p:nvSpPr>
                <p:cNvPr id="56" name="rerank-score-1">
                  <a:extLst>
                    <a:ext uri="{FF2B5EF4-FFF2-40B4-BE49-F238E27FC236}">
                      <a16:creationId xmlns:a16="http://schemas.microsoft.com/office/drawing/2014/main" id="{1E43AC17-5C2E-4C76-B5E9-D9550B9C083A}"/>
                    </a:ext>
                  </a:extLst>
                </p:cNvPr>
                <p:cNvSpPr/>
                <p:nvPr/>
              </p:nvSpPr>
              <p:spPr>
                <a:xfrm>
                  <a:off x="1080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grpSp>
          <p:grpSp>
            <p:nvGrpSpPr>
              <p:cNvPr id="9" name="Gruppieren 8">
                <a:extLst>
                  <a:ext uri="{FF2B5EF4-FFF2-40B4-BE49-F238E27FC236}">
                    <a16:creationId xmlns:a16="http://schemas.microsoft.com/office/drawing/2014/main" id="{2DF2A836-AA57-844A-1BF3-271CE5CE71EE}"/>
                  </a:ext>
                </a:extLst>
              </p:cNvPr>
              <p:cNvGrpSpPr/>
              <p:nvPr/>
            </p:nvGrpSpPr>
            <p:grpSpPr>
              <a:xfrm>
                <a:off x="8820000" y="3306026"/>
                <a:ext cx="2714625" cy="409575"/>
                <a:chOff x="8820000" y="3249038"/>
                <a:chExt cx="2714625" cy="409575"/>
              </a:xfrm>
            </p:grpSpPr>
            <p:sp>
              <p:nvSpPr>
                <p:cNvPr id="57" name="rerank-row-2">
                  <a:extLst>
                    <a:ext uri="{FF2B5EF4-FFF2-40B4-BE49-F238E27FC236}">
                      <a16:creationId xmlns:a16="http://schemas.microsoft.com/office/drawing/2014/main" id="{C609C74F-E2A9-4EBA-9133-D289232429B9}"/>
                    </a:ext>
                  </a:extLst>
                </p:cNvPr>
                <p:cNvSpPr/>
                <p:nvPr/>
              </p:nvSpPr>
              <p:spPr>
                <a:xfrm>
                  <a:off x="8820000" y="324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p:nvPr/>
              </p:nvSpPr>
              <p:spPr>
                <a:xfrm>
                  <a:off x="8820000" y="333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p:nvPr/>
              </p:nvSpPr>
              <p:spPr>
                <a:xfrm>
                  <a:off x="9180000" y="333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p:nvPr/>
              </p:nvSpPr>
              <p:spPr>
                <a:xfrm>
                  <a:off x="10800000" y="333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grpSp>
          <p:grpSp>
            <p:nvGrpSpPr>
              <p:cNvPr id="10" name="Gruppieren 9">
                <a:extLst>
                  <a:ext uri="{FF2B5EF4-FFF2-40B4-BE49-F238E27FC236}">
                    <a16:creationId xmlns:a16="http://schemas.microsoft.com/office/drawing/2014/main" id="{483BA689-0BEA-AB9C-9943-A97B94BA0EB8}"/>
                  </a:ext>
                </a:extLst>
              </p:cNvPr>
              <p:cNvGrpSpPr/>
              <p:nvPr/>
            </p:nvGrpSpPr>
            <p:grpSpPr>
              <a:xfrm>
                <a:off x="8820000" y="3789038"/>
                <a:ext cx="2714625" cy="409575"/>
                <a:chOff x="8820000" y="3789038"/>
                <a:chExt cx="2714625" cy="409575"/>
              </a:xfrm>
            </p:grpSpPr>
            <p:sp>
              <p:nvSpPr>
                <p:cNvPr id="61" name="rerank-row-3">
                  <a:extLst>
                    <a:ext uri="{FF2B5EF4-FFF2-40B4-BE49-F238E27FC236}">
                      <a16:creationId xmlns:a16="http://schemas.microsoft.com/office/drawing/2014/main" id="{DB51D4B7-0DE8-4353-94F1-A0704F80CAF9}"/>
                    </a:ext>
                  </a:extLst>
                </p:cNvPr>
                <p:cNvSpPr/>
                <p:nvPr/>
              </p:nvSpPr>
              <p:spPr>
                <a:xfrm>
                  <a:off x="8820000" y="378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p:nvPr/>
              </p:nvSpPr>
              <p:spPr>
                <a:xfrm>
                  <a:off x="8820000" y="387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p:nvPr/>
              </p:nvSpPr>
              <p:spPr>
                <a:xfrm>
                  <a:off x="9180000" y="387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p:nvPr/>
              </p:nvSpPr>
              <p:spPr>
                <a:xfrm>
                  <a:off x="10800000" y="3870000"/>
                  <a:ext cx="552450" cy="247650"/>
                </a:xfrm>
                <a:prstGeom prst="rect">
                  <a:avLst/>
                </a:prstGeom>
                <a:noFill/>
                <a:ln w="0">
                  <a:noFill/>
                  <a:prstDash val="solid"/>
                </a:ln>
              </p:spPr>
              <p:txBody>
                <a:bodyPr anchor="t"/>
                <a:lstStyle/>
                <a:p>
                  <a:endParaRPr/>
                </a:p>
              </p:txBody>
            </p:sp>
          </p:grpSp>
        </p:grpSp>
      </p:grpSp>
      <p:sp>
        <p:nvSpPr>
          <p:cNvPr id="65" name="rerank-limit">
            <a:extLst>
              <a:ext uri="{FF2B5EF4-FFF2-40B4-BE49-F238E27FC236}">
                <a16:creationId xmlns:a16="http://schemas.microsoft.com/office/drawing/2014/main" id="{ED2A38C4-D755-44FC-9EA4-1E947591FFC9}"/>
              </a:ext>
            </a:extLst>
          </p:cNvPr>
          <p:cNvSpPr/>
          <p:nvPr/>
        </p:nvSpPr>
        <p:spPr>
          <a:xfrm>
            <a:off x="2159999" y="5040000"/>
            <a:ext cx="8591625" cy="720000"/>
          </a:xfrm>
          <a:prstGeom prst="roundRect">
            <a:avLst>
              <a:gd name="adj" fmla="val 20000"/>
            </a:avLst>
          </a:prstGeom>
          <a:solidFill>
            <a:srgbClr val="2D3F4B"/>
          </a:solidFill>
          <a:ln w="0">
            <a:solidFill>
              <a:srgbClr val="2D3F4B"/>
            </a:solidFill>
            <a:prstDash val="solid"/>
          </a:ln>
        </p:spPr>
        <p:txBody>
          <a:bodyPr anchor="ctr"/>
          <a:lstStyle/>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Fehlt der richtige Chunk in den Top-10, kann </a:t>
            </a:r>
            <a:r>
              <a:rPr lang="de-DE" sz="1600" b="1" dirty="0" err="1">
                <a:solidFill>
                  <a:srgbClr val="FFFFFF"/>
                </a:solidFill>
                <a:latin typeface="Arial"/>
                <a:ea typeface="Arial"/>
                <a:cs typeface="Arial"/>
              </a:rPr>
              <a:t>Reranking</a:t>
            </a:r>
            <a:r>
              <a:rPr lang="de-DE" sz="1600" b="1" dirty="0">
                <a:solidFill>
                  <a:srgbClr val="FFFFFF"/>
                </a:solidFill>
                <a:latin typeface="Arial"/>
                <a:ea typeface="Arial"/>
                <a:cs typeface="Arial"/>
              </a:rPr>
              <a:t> ihn nicht zurückholen.</a:t>
            </a:r>
          </a:p>
        </p:txBody>
      </p:sp>
      <p:grpSp>
        <p:nvGrpSpPr>
          <p:cNvPr id="12" name="Gruppieren 11">
            <a:extLst>
              <a:ext uri="{FF2B5EF4-FFF2-40B4-BE49-F238E27FC236}">
                <a16:creationId xmlns:a16="http://schemas.microsoft.com/office/drawing/2014/main" id="{9B1C76F4-AD1D-EEA3-073B-264D2FC1C4F3}"/>
              </a:ext>
            </a:extLst>
          </p:cNvPr>
          <p:cNvGrpSpPr/>
          <p:nvPr/>
        </p:nvGrpSpPr>
        <p:grpSpPr>
          <a:xfrm>
            <a:off x="6480000" y="1972649"/>
            <a:ext cx="2052201" cy="1913551"/>
            <a:chOff x="6480000" y="1972649"/>
            <a:chExt cx="2052201" cy="1913551"/>
          </a:xfrm>
        </p:grpSpPr>
        <p:sp>
          <p:nvSpPr>
            <p:cNvPr id="43" name="vector-to-rerank">
              <a:extLst>
                <a:ext uri="{FF2B5EF4-FFF2-40B4-BE49-F238E27FC236}">
                  <a16:creationId xmlns:a16="http://schemas.microsoft.com/office/drawing/2014/main" id="{8361C6C7-88AF-4C6F-9197-06086CD53D46}"/>
                </a:ext>
              </a:extLst>
            </p:cNvPr>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p:nvPr/>
          </p:nvSpPr>
          <p:spPr>
            <a:xfrm>
              <a:off x="6884163" y="1972649"/>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dirty="0">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p:nvPr/>
          </p:nvSpPr>
          <p:spPr>
            <a:xfrm>
              <a:off x="6807750" y="3429000"/>
              <a:ext cx="1724451"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liest</a:t>
              </a:r>
              <a:r>
                <a:rPr sz="1275" b="0" dirty="0">
                  <a:solidFill>
                    <a:srgbClr val="2D3F4B"/>
                  </a:solidFill>
                  <a:latin typeface="Arial"/>
                  <a:ea typeface="Arial"/>
                  <a:cs typeface="Arial"/>
                </a:rPr>
                <a:t> Frage + Chunk</a:t>
              </a:r>
            </a:p>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gemeinsam</a:t>
              </a:r>
              <a:endParaRPr sz="1275" b="0" dirty="0">
                <a:solidFill>
                  <a:srgbClr val="2D3F4B"/>
                </a:solidFill>
                <a:latin typeface="Arial"/>
                <a:ea typeface="Arial"/>
                <a:cs typeface="Arial"/>
              </a:endParaRP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09975" y="2700000"/>
              <a:ext cx="720000" cy="720000"/>
            </a:xfrm>
            <a:prstGeom prst="rect">
              <a:avLst/>
            </a:prstGeom>
          </p:spPr>
        </p:pic>
      </p:grpSp>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19</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p:nvPr/>
        </p:nvSpPr>
        <p:spPr>
          <a:xfrm>
            <a:off x="540000" y="1260000"/>
            <a:ext cx="11159250" cy="304800"/>
          </a:xfrm>
          <a:prstGeom prst="rect">
            <a:avLst/>
          </a:prstGeom>
          <a:noFill/>
          <a:ln w="0">
            <a:noFill/>
            <a:prstDash val="solid"/>
          </a:ln>
        </p:spPr>
        <p:txBody>
          <a:bodyPr anchor="ctr"/>
          <a:lstStyle/>
          <a:p>
            <a:pPr algn="l">
              <a:defRPr sz="1425" b="0">
                <a:solidFill>
                  <a:srgbClr val="746B5F"/>
                </a:solidFill>
              </a:defRPr>
            </a:pPr>
            <a:r>
              <a:rPr sz="1425" b="0" dirty="0">
                <a:solidFill>
                  <a:srgbClr val="746B5F"/>
                </a:solidFill>
              </a:rPr>
              <a:t>Hybrid Retrieval </a:t>
            </a:r>
            <a:r>
              <a:rPr sz="1425" b="0" dirty="0" err="1">
                <a:solidFill>
                  <a:srgbClr val="746B5F"/>
                </a:solidFill>
              </a:rPr>
              <a:t>findet</a:t>
            </a:r>
            <a:r>
              <a:rPr sz="1425" b="0" dirty="0">
                <a:solidFill>
                  <a:srgbClr val="746B5F"/>
                </a:solidFill>
              </a:rPr>
              <a:t> </a:t>
            </a:r>
            <a:r>
              <a:rPr sz="1425" b="0" dirty="0" err="1">
                <a:solidFill>
                  <a:srgbClr val="746B5F"/>
                </a:solidFill>
              </a:rPr>
              <a:t>relevante</a:t>
            </a:r>
            <a:r>
              <a:rPr sz="1425" b="0" dirty="0">
                <a:solidFill>
                  <a:srgbClr val="746B5F"/>
                </a:solidFill>
              </a:rPr>
              <a:t> </a:t>
            </a:r>
            <a:r>
              <a:rPr sz="1425" b="0" dirty="0" err="1">
                <a:solidFill>
                  <a:srgbClr val="746B5F"/>
                </a:solidFill>
              </a:rPr>
              <a:t>Passagen</a:t>
            </a:r>
            <a:r>
              <a:rPr sz="1425" b="0" dirty="0">
                <a:solidFill>
                  <a:srgbClr val="746B5F"/>
                </a:solidFill>
              </a:rPr>
              <a:t>. Der Graph </a:t>
            </a:r>
            <a:r>
              <a:rPr sz="1425" b="0" dirty="0" err="1">
                <a:solidFill>
                  <a:srgbClr val="746B5F"/>
                </a:solidFill>
              </a:rPr>
              <a:t>erweitert</a:t>
            </a:r>
            <a:r>
              <a:rPr sz="1425" b="0" dirty="0">
                <a:solidFill>
                  <a:srgbClr val="746B5F"/>
                </a:solidFill>
              </a:rPr>
              <a:t> </a:t>
            </a:r>
            <a:r>
              <a:rPr sz="1425" b="0" dirty="0" err="1">
                <a:solidFill>
                  <a:srgbClr val="746B5F"/>
                </a:solidFill>
              </a:rPr>
              <a:t>sie</a:t>
            </a:r>
            <a:r>
              <a:rPr sz="1425" b="0" dirty="0">
                <a:solidFill>
                  <a:srgbClr val="746B5F"/>
                </a:solidFill>
              </a:rPr>
              <a:t> </a:t>
            </a:r>
            <a:r>
              <a:rPr sz="1425" b="0" dirty="0" err="1">
                <a:solidFill>
                  <a:srgbClr val="746B5F"/>
                </a:solidFill>
              </a:rPr>
              <a:t>gezielt</a:t>
            </a:r>
            <a:r>
              <a:rPr sz="1425" b="0" dirty="0">
                <a:solidFill>
                  <a:srgbClr val="746B5F"/>
                </a:solidFill>
              </a:rPr>
              <a:t> um </a:t>
            </a:r>
            <a:r>
              <a:rPr sz="1425" b="0" dirty="0" err="1">
                <a:solidFill>
                  <a:srgbClr val="746B5F"/>
                </a:solidFill>
              </a:rPr>
              <a:t>Kontext</a:t>
            </a:r>
            <a:r>
              <a:rPr sz="1425" b="0" dirty="0">
                <a:solidFill>
                  <a:srgbClr val="746B5F"/>
                </a:solidFill>
              </a:rPr>
              <a:t>.</a:t>
            </a:r>
          </a:p>
        </p:txBody>
      </p:sp>
      <p:sp>
        <p:nvSpPr>
          <p:cNvPr id="8" name="stage1-label">
            <a:extLst>
              <a:ext uri="{FF2B5EF4-FFF2-40B4-BE49-F238E27FC236}">
                <a16:creationId xmlns:a16="http://schemas.microsoft.com/office/drawing/2014/main" id="{AD68111B-D580-47F9-B9FB-95523347BFD8}"/>
              </a:ext>
            </a:extLst>
          </p:cNvPr>
          <p:cNvSpPr/>
          <p:nvPr/>
        </p:nvSpPr>
        <p:spPr>
          <a:xfrm>
            <a:off x="540000" y="1980000"/>
            <a:ext cx="144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pPr algn="ctr">
              <a:defRPr sz="1500" b="1">
                <a:solidFill>
                  <a:srgbClr val="FFFFFF"/>
                </a:solidFill>
              </a:defRPr>
            </a:pPr>
            <a:r>
              <a:rPr lang="de-CH" sz="4000" b="1" dirty="0">
                <a:solidFill>
                  <a:srgbClr val="FFFFFF"/>
                </a:solidFill>
              </a:rPr>
              <a:t>?</a:t>
            </a:r>
          </a:p>
          <a:p>
            <a:pPr algn="ctr">
              <a:defRPr sz="1500" b="1">
                <a:solidFill>
                  <a:srgbClr val="FFFFFF"/>
                </a:solidFill>
              </a:defRPr>
            </a:pPr>
            <a:endParaRPr lang="de-DE" sz="1600" b="1" dirty="0">
              <a:solidFill>
                <a:srgbClr val="FFFFFF"/>
              </a:solidFill>
            </a:endParaRPr>
          </a:p>
          <a:p>
            <a:pPr algn="ctr">
              <a:defRPr sz="1500" b="1">
                <a:solidFill>
                  <a:srgbClr val="FFFFFF"/>
                </a:solidFill>
              </a:defRPr>
            </a:pPr>
            <a:r>
              <a:rPr lang="de-DE" sz="1600" b="1" dirty="0">
                <a:solidFill>
                  <a:srgbClr val="FFFFFF"/>
                </a:solidFill>
              </a:rPr>
              <a:t>Was gilt nach</a:t>
            </a:r>
          </a:p>
          <a:p>
            <a:pPr algn="ctr">
              <a:defRPr sz="1500" b="1">
                <a:solidFill>
                  <a:srgbClr val="FFFFFF"/>
                </a:solidFill>
              </a:defRPr>
            </a:pPr>
            <a:r>
              <a:rPr lang="de-DE" sz="1600" b="1" dirty="0">
                <a:solidFill>
                  <a:srgbClr val="FFFFFF"/>
                </a:solidFill>
              </a:rPr>
              <a:t>Art. 1 OR?</a:t>
            </a:r>
          </a:p>
          <a:p>
            <a:endParaRPr lang="de-CH" dirty="0"/>
          </a:p>
        </p:txBody>
      </p:sp>
      <p:sp>
        <p:nvSpPr>
          <p:cNvPr id="15" name="semantic-title">
            <a:extLst>
              <a:ext uri="{FF2B5EF4-FFF2-40B4-BE49-F238E27FC236}">
                <a16:creationId xmlns:a16="http://schemas.microsoft.com/office/drawing/2014/main" id="{4E361F9E-9187-4347-A714-B3A84599E622}"/>
              </a:ext>
            </a:extLst>
          </p:cNvPr>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endParaRPr sz="975" b="1" dirty="0">
              <a:solidFill>
                <a:srgbClr val="D20A32"/>
              </a:solidFill>
            </a:endParaRPr>
          </a:p>
        </p:txBody>
      </p:sp>
      <p:sp>
        <p:nvSpPr>
          <p:cNvPr id="19" name="lexical-copy">
            <a:extLst>
              <a:ext uri="{FF2B5EF4-FFF2-40B4-BE49-F238E27FC236}">
                <a16:creationId xmlns:a16="http://schemas.microsoft.com/office/drawing/2014/main" id="{9FFDED9B-C5A8-4D35-AED5-08B8808E6621}"/>
              </a:ext>
            </a:extLst>
          </p:cNvPr>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endParaRPr sz="1125" b="0" dirty="0">
              <a:solidFill>
                <a:srgbClr val="304452"/>
              </a:solidFill>
            </a:endParaRPr>
          </a:p>
        </p:txBody>
      </p:sp>
      <p:grpSp>
        <p:nvGrpSpPr>
          <p:cNvPr id="11" name="Gruppieren 10">
            <a:extLst>
              <a:ext uri="{FF2B5EF4-FFF2-40B4-BE49-F238E27FC236}">
                <a16:creationId xmlns:a16="http://schemas.microsoft.com/office/drawing/2014/main" id="{3C3E8730-DF41-44DD-6ADD-2D4FEBCE41F6}"/>
              </a:ext>
            </a:extLst>
          </p:cNvPr>
          <p:cNvGrpSpPr/>
          <p:nvPr/>
        </p:nvGrpSpPr>
        <p:grpSpPr>
          <a:xfrm>
            <a:off x="5154150" y="1980000"/>
            <a:ext cx="1595850" cy="2437200"/>
            <a:chOff x="5154150" y="1980000"/>
            <a:chExt cx="1595850" cy="2437200"/>
          </a:xfrm>
        </p:grpSpPr>
        <p:sp>
          <p:nvSpPr>
            <p:cNvPr id="5" name="flow-2">
              <a:extLst>
                <a:ext uri="{FF2B5EF4-FFF2-40B4-BE49-F238E27FC236}">
                  <a16:creationId xmlns:a16="http://schemas.microsoft.com/office/drawing/2014/main" id="{289C28BA-8205-41D3-8895-860805D26B50}"/>
                </a:ext>
              </a:extLst>
            </p:cNvPr>
            <p:cNvSpPr/>
            <p:nvPr/>
          </p:nvSpPr>
          <p:spPr>
            <a:xfrm>
              <a:off x="5154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20" name="stage3-label">
              <a:extLst>
                <a:ext uri="{FF2B5EF4-FFF2-40B4-BE49-F238E27FC236}">
                  <a16:creationId xmlns:a16="http://schemas.microsoft.com/office/drawing/2014/main" id="{235356C2-D245-426F-8CBE-5E61C6210532}"/>
                </a:ext>
              </a:extLst>
            </p:cNvPr>
            <p:cNvSpPr/>
            <p:nvPr/>
          </p:nvSpPr>
          <p:spPr>
            <a:xfrm>
              <a:off x="5484000" y="1980000"/>
              <a:ext cx="1266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p:nvPr/>
          </p:nvSpPr>
          <p:spPr>
            <a:xfrm>
              <a:off x="5490000" y="2700000"/>
              <a:ext cx="1260000" cy="1260000"/>
            </a:xfrm>
            <a:prstGeom prst="ellipse">
              <a:avLst/>
            </a:prstGeom>
            <a:solidFill>
              <a:srgbClr val="834A78"/>
            </a:solidFill>
            <a:ln w="0">
              <a:solidFill>
                <a:srgbClr val="834A78"/>
              </a:solidFill>
              <a:prstDash val="solid"/>
            </a:ln>
          </p:spPr>
          <p:txBody>
            <a:bodyPr anchor="ctr"/>
            <a:lstStyle/>
            <a:p>
              <a:pPr algn="ctr"/>
              <a:r>
                <a:rPr lang="de-CH" b="1" dirty="0">
                  <a:solidFill>
                    <a:srgbClr val="FFFFFF"/>
                  </a:solidFill>
                </a:rPr>
                <a:t>RRF</a:t>
              </a:r>
              <a:endParaRPr lang="de-CH" dirty="0"/>
            </a:p>
          </p:txBody>
        </p:sp>
        <p:sp>
          <p:nvSpPr>
            <p:cNvPr id="23" name="rrf-copy">
              <a:extLst>
                <a:ext uri="{FF2B5EF4-FFF2-40B4-BE49-F238E27FC236}">
                  <a16:creationId xmlns:a16="http://schemas.microsoft.com/office/drawing/2014/main" id="{7628CD87-A2E9-4DE0-A32F-092CF186B32D}"/>
                </a:ext>
              </a:extLst>
            </p:cNvPr>
            <p:cNvSpPr/>
            <p:nvPr/>
          </p:nvSpPr>
          <p:spPr>
            <a:xfrm>
              <a:off x="5490000" y="3960000"/>
              <a:ext cx="1254000" cy="457200"/>
            </a:xfrm>
            <a:prstGeom prst="rect">
              <a:avLst/>
            </a:prstGeom>
            <a:noFill/>
            <a:ln w="0">
              <a:noFill/>
              <a:prstDash val="solid"/>
            </a:ln>
          </p:spPr>
          <p:txBody>
            <a:bodyPr lIns="0" tIns="0" rIns="0" bIns="0" anchor="ctr"/>
            <a:lstStyle/>
            <a:p>
              <a:pPr algn="ctr">
                <a:defRPr sz="1125" b="1">
                  <a:solidFill>
                    <a:srgbClr val="834A78"/>
                  </a:solidFill>
                </a:defRPr>
              </a:pPr>
              <a:r>
                <a:rPr sz="1100" dirty="0" err="1">
                  <a:solidFill>
                    <a:srgbClr val="834A78"/>
                  </a:solidFill>
                </a:rPr>
                <a:t>ein</a:t>
              </a:r>
              <a:r>
                <a:rPr sz="1100" dirty="0">
                  <a:solidFill>
                    <a:srgbClr val="834A78"/>
                  </a:solidFill>
                </a:rPr>
                <a:t> </a:t>
              </a:r>
              <a:r>
                <a:rPr sz="1100" dirty="0" err="1">
                  <a:solidFill>
                    <a:srgbClr val="834A78"/>
                  </a:solidFill>
                </a:rPr>
                <a:t>gemeinsames</a:t>
              </a:r>
              <a:endParaRPr sz="1100" dirty="0">
                <a:solidFill>
                  <a:srgbClr val="834A78"/>
                </a:solidFill>
              </a:endParaRPr>
            </a:p>
            <a:p>
              <a:pPr algn="ctr">
                <a:defRPr sz="1125" b="1">
                  <a:solidFill>
                    <a:srgbClr val="834A78"/>
                  </a:solidFill>
                </a:defRPr>
              </a:pPr>
              <a:r>
                <a:rPr sz="1100" dirty="0">
                  <a:solidFill>
                    <a:srgbClr val="834A78"/>
                  </a:solidFill>
                </a:rPr>
                <a:t>Ranking</a:t>
              </a:r>
            </a:p>
          </p:txBody>
        </p:sp>
      </p:grpSp>
      <p:grpSp>
        <p:nvGrpSpPr>
          <p:cNvPr id="16" name="Gruppieren 15">
            <a:extLst>
              <a:ext uri="{FF2B5EF4-FFF2-40B4-BE49-F238E27FC236}">
                <a16:creationId xmlns:a16="http://schemas.microsoft.com/office/drawing/2014/main" id="{74168D8E-1DA1-5046-4500-5447A36E93A1}"/>
              </a:ext>
            </a:extLst>
          </p:cNvPr>
          <p:cNvGrpSpPr/>
          <p:nvPr/>
        </p:nvGrpSpPr>
        <p:grpSpPr>
          <a:xfrm>
            <a:off x="6819150" y="1980000"/>
            <a:ext cx="2180850" cy="2340000"/>
            <a:chOff x="6819150" y="1980000"/>
            <a:chExt cx="2180850" cy="2340000"/>
          </a:xfrm>
        </p:grpSpPr>
        <p:sp>
          <p:nvSpPr>
            <p:cNvPr id="6" name="flow-3">
              <a:extLst>
                <a:ext uri="{FF2B5EF4-FFF2-40B4-BE49-F238E27FC236}">
                  <a16:creationId xmlns:a16="http://schemas.microsoft.com/office/drawing/2014/main" id="{7CE22AC2-4395-4F46-ADB7-4E6F9713071E}"/>
                </a:ext>
              </a:extLst>
            </p:cNvPr>
            <p:cNvSpPr/>
            <p:nvPr/>
          </p:nvSpPr>
          <p:spPr>
            <a:xfrm>
              <a:off x="681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24" name="stage4-label">
              <a:extLst>
                <a:ext uri="{FF2B5EF4-FFF2-40B4-BE49-F238E27FC236}">
                  <a16:creationId xmlns:a16="http://schemas.microsoft.com/office/drawing/2014/main" id="{7121B195-CD04-42B9-857A-7411FCE0D2AE}"/>
                </a:ext>
              </a:extLst>
            </p:cNvPr>
            <p:cNvSpPr/>
            <p:nvPr/>
          </p:nvSpPr>
          <p:spPr>
            <a:xfrm>
              <a:off x="7200000" y="1980000"/>
              <a:ext cx="18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p:nvPr/>
          </p:nvSpPr>
          <p:spPr>
            <a:xfrm>
              <a:off x="7200000" y="2340000"/>
              <a:ext cx="1800000" cy="1980000"/>
            </a:xfrm>
            <a:prstGeom prst="roundRect">
              <a:avLst>
                <a:gd name="adj" fmla="val 5217"/>
              </a:avLst>
            </a:prstGeom>
            <a:solidFill>
              <a:srgbClr val="FBF3DF"/>
            </a:solidFill>
            <a:ln w="9525">
              <a:solidFill>
                <a:srgbClr val="E5D4AA"/>
              </a:solidFill>
              <a:prstDash val="solid"/>
            </a:ln>
          </p:spPr>
          <p:txBody>
            <a:bodyPr anchor="b"/>
            <a:lstStyle/>
            <a:p>
              <a:pPr algn="ctr">
                <a:defRPr sz="1125" b="1">
                  <a:solidFill>
                    <a:srgbClr val="304452"/>
                  </a:solidFill>
                </a:defRPr>
              </a:pPr>
              <a:r>
                <a:rPr lang="de-CH" b="1" dirty="0">
                  <a:solidFill>
                    <a:srgbClr val="304452"/>
                  </a:solidFill>
                </a:rPr>
                <a:t>relevante Nachbarn</a:t>
              </a:r>
            </a:p>
            <a:p>
              <a:pPr algn="ctr">
                <a:defRPr sz="1125" b="1">
                  <a:solidFill>
                    <a:srgbClr val="304452"/>
                  </a:solidFill>
                </a:defRPr>
              </a:pPr>
              <a:r>
                <a:rPr lang="de-CH" b="1" dirty="0">
                  <a:solidFill>
                    <a:srgbClr val="304452"/>
                  </a:solidFill>
                </a:rPr>
                <a:t>gezielt ergänzen</a:t>
              </a:r>
            </a:p>
          </p:txBody>
        </p:sp>
        <p:grpSp>
          <p:nvGrpSpPr>
            <p:cNvPr id="47" name="Gruppieren 46">
              <a:extLst>
                <a:ext uri="{FF2B5EF4-FFF2-40B4-BE49-F238E27FC236}">
                  <a16:creationId xmlns:a16="http://schemas.microsoft.com/office/drawing/2014/main" id="{AA403698-CB16-7E63-EC7D-91BFBE43C7AF}"/>
                </a:ext>
              </a:extLst>
            </p:cNvPr>
            <p:cNvGrpSpPr/>
            <p:nvPr/>
          </p:nvGrpSpPr>
          <p:grpSpPr>
            <a:xfrm>
              <a:off x="7380000" y="2520000"/>
              <a:ext cx="1485000" cy="1305000"/>
              <a:chOff x="7380000" y="2520000"/>
              <a:chExt cx="1485000" cy="1305000"/>
            </a:xfrm>
          </p:grpSpPr>
          <p:sp>
            <p:nvSpPr>
              <p:cNvPr id="26" name="edge-a">
                <a:extLst>
                  <a:ext uri="{FF2B5EF4-FFF2-40B4-BE49-F238E27FC236}">
                    <a16:creationId xmlns:a16="http://schemas.microsoft.com/office/drawing/2014/main" id="{7B9FB8E1-886E-4AE5-939D-AB152D87E07E}"/>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30" name="node-neighbor-1">
                <a:extLst>
                  <a:ext uri="{FF2B5EF4-FFF2-40B4-BE49-F238E27FC236}">
                    <a16:creationId xmlns:a16="http://schemas.microsoft.com/office/drawing/2014/main" id="{75FEA930-0C69-4D20-BBBF-D441480D64A8}"/>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31" name="node-neighbor-2">
                <a:extLst>
                  <a:ext uri="{FF2B5EF4-FFF2-40B4-BE49-F238E27FC236}">
                    <a16:creationId xmlns:a16="http://schemas.microsoft.com/office/drawing/2014/main" id="{79228D47-291B-4A14-8451-268CE67330B9}"/>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grpSp>
      <p:grpSp>
        <p:nvGrpSpPr>
          <p:cNvPr id="17" name="Gruppieren 16">
            <a:extLst>
              <a:ext uri="{FF2B5EF4-FFF2-40B4-BE49-F238E27FC236}">
                <a16:creationId xmlns:a16="http://schemas.microsoft.com/office/drawing/2014/main" id="{141A71F6-5EFC-8F31-40DE-181B5B8ECB47}"/>
              </a:ext>
            </a:extLst>
          </p:cNvPr>
          <p:cNvGrpSpPr/>
          <p:nvPr/>
        </p:nvGrpSpPr>
        <p:grpSpPr>
          <a:xfrm>
            <a:off x="9180000" y="1980000"/>
            <a:ext cx="2520000" cy="2340000"/>
            <a:chOff x="9180000" y="1980000"/>
            <a:chExt cx="2520000" cy="2340000"/>
          </a:xfrm>
        </p:grpSpPr>
        <p:sp>
          <p:nvSpPr>
            <p:cNvPr id="7" name="flow-4">
              <a:extLst>
                <a:ext uri="{FF2B5EF4-FFF2-40B4-BE49-F238E27FC236}">
                  <a16:creationId xmlns:a16="http://schemas.microsoft.com/office/drawing/2014/main" id="{809A29F3-7038-4A3C-B6F0-A12C8EE3AB96}"/>
                </a:ext>
              </a:extLst>
            </p:cNvPr>
            <p:cNvSpPr/>
            <p:nvPr/>
          </p:nvSpPr>
          <p:spPr>
            <a:xfrm>
              <a:off x="918000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36" name="stage5-label">
              <a:extLst>
                <a:ext uri="{FF2B5EF4-FFF2-40B4-BE49-F238E27FC236}">
                  <a16:creationId xmlns:a16="http://schemas.microsoft.com/office/drawing/2014/main" id="{D2446592-1FE5-4105-BA2B-CE0893685701}"/>
                </a:ext>
              </a:extLst>
            </p:cNvPr>
            <p:cNvSpPr/>
            <p:nvPr/>
          </p:nvSpPr>
          <p:spPr>
            <a:xfrm>
              <a:off x="9539250" y="1980000"/>
              <a:ext cx="216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p:nvPr/>
          </p:nvSpPr>
          <p:spPr>
            <a:xfrm>
              <a:off x="9540000" y="2340000"/>
              <a:ext cx="2160000" cy="1980000"/>
            </a:xfrm>
            <a:prstGeom prst="roundRect">
              <a:avLst>
                <a:gd name="adj" fmla="val 5505"/>
              </a:avLst>
            </a:prstGeom>
            <a:solidFill>
              <a:srgbClr val="304452"/>
            </a:solidFill>
            <a:ln w="0">
              <a:solidFill>
                <a:srgbClr val="304452"/>
              </a:solidFill>
              <a:prstDash val="solid"/>
            </a:ln>
          </p:spPr>
          <p:txBody>
            <a:bodyPr tIns="90000" anchor="ctr"/>
            <a:lstStyle/>
            <a:p>
              <a:pPr algn="ctr">
                <a:defRPr sz="1350" b="1">
                  <a:solidFill>
                    <a:srgbClr val="FFFFFF"/>
                  </a:solidFill>
                </a:defRPr>
              </a:pPr>
              <a:r>
                <a:rPr lang="de-CH" b="1" dirty="0">
                  <a:solidFill>
                    <a:srgbClr val="FFFFFF"/>
                  </a:solidFill>
                </a:rPr>
                <a:t>KURATIERTER</a:t>
              </a:r>
            </a:p>
            <a:p>
              <a:pPr algn="ctr">
                <a:defRPr sz="1350" b="1">
                  <a:solidFill>
                    <a:srgbClr val="FFFFFF"/>
                  </a:solidFill>
                </a:defRPr>
              </a:pPr>
              <a:r>
                <a:rPr lang="de-CH" b="1" dirty="0">
                  <a:solidFill>
                    <a:srgbClr val="FFFFFF"/>
                  </a:solidFill>
                </a:rPr>
                <a:t>KONTEXT</a:t>
              </a:r>
            </a:p>
            <a:p>
              <a:pPr algn="ctr">
                <a:defRPr sz="1350" b="1">
                  <a:solidFill>
                    <a:srgbClr val="FFFFFF"/>
                  </a:solidFill>
                </a:defRPr>
              </a:pPr>
              <a:endParaRPr lang="de-CH" b="1" dirty="0">
                <a:solidFill>
                  <a:srgbClr val="FFFFFF"/>
                </a:solidFill>
              </a:endParaRPr>
            </a:p>
            <a:p>
              <a:pPr algn="ctr">
                <a:defRPr sz="1350" b="1">
                  <a:solidFill>
                    <a:srgbClr val="FFFFFF"/>
                  </a:solidFill>
                </a:defRPr>
              </a:pPr>
              <a:endParaRPr lang="de-CH" b="1" dirty="0">
                <a:solidFill>
                  <a:srgbClr val="FFFFFF"/>
                </a:solidFill>
              </a:endParaRPr>
            </a:p>
            <a:p>
              <a:pPr algn="ctr">
                <a:defRPr sz="1125" b="0">
                  <a:solidFill>
                    <a:srgbClr val="FFFFFF"/>
                  </a:solidFill>
                </a:defRPr>
              </a:pPr>
              <a:r>
                <a:rPr lang="de-DE" sz="1400" dirty="0">
                  <a:solidFill>
                    <a:srgbClr val="FFFFFF"/>
                  </a:solidFill>
                </a:rPr>
                <a:t>• beste Treffer</a:t>
              </a:r>
            </a:p>
            <a:p>
              <a:pPr algn="ctr">
                <a:defRPr sz="1125" b="0">
                  <a:solidFill>
                    <a:srgbClr val="FFFFFF"/>
                  </a:solidFill>
                </a:defRPr>
              </a:pPr>
              <a:r>
                <a:rPr lang="de-DE" sz="1400" dirty="0">
                  <a:solidFill>
                    <a:srgbClr val="FFFFFF"/>
                  </a:solidFill>
                </a:rPr>
                <a:t>• passende Nachbarn</a:t>
              </a:r>
            </a:p>
            <a:p>
              <a:pPr algn="ctr">
                <a:defRPr sz="1125" b="0">
                  <a:solidFill>
                    <a:srgbClr val="FFFFFF"/>
                  </a:solidFill>
                </a:defRPr>
              </a:pPr>
              <a:r>
                <a:rPr lang="de-DE" sz="1400" dirty="0">
                  <a:solidFill>
                    <a:srgbClr val="FFFFFF"/>
                  </a:solidFill>
                </a:rPr>
                <a:t>• innerhalb des Limits</a:t>
              </a:r>
              <a:endParaRPr lang="de-CH" b="1" dirty="0">
                <a:solidFill>
                  <a:srgbClr val="FFFFFF"/>
                </a:solidFill>
              </a:endParaRPr>
            </a:p>
          </p:txBody>
        </p:sp>
        <p:sp>
          <p:nvSpPr>
            <p:cNvPr id="39" name="context-rule">
              <a:extLst>
                <a:ext uri="{FF2B5EF4-FFF2-40B4-BE49-F238E27FC236}">
                  <a16:creationId xmlns:a16="http://schemas.microsoft.com/office/drawing/2014/main" id="{0502F995-463E-4825-8FE2-0C53FB9F416D}"/>
                </a:ext>
              </a:extLst>
            </p:cNvPr>
            <p:cNvSpPr/>
            <p:nvPr/>
          </p:nvSpPr>
          <p:spPr>
            <a:xfrm>
              <a:off x="9900000" y="3199342"/>
              <a:ext cx="1524000" cy="0"/>
            </a:xfrm>
            <a:prstGeom prst="line">
              <a:avLst/>
            </a:prstGeom>
            <a:noFill/>
            <a:ln w="9525">
              <a:solidFill>
                <a:srgbClr val="80909A"/>
              </a:solidFill>
              <a:prstDash val="solid"/>
            </a:ln>
          </p:spPr>
          <p:txBody>
            <a:bodyPr/>
            <a:lstStyle/>
            <a:p>
              <a:endParaRPr lang="de-CH"/>
            </a:p>
          </p:txBody>
        </p:sp>
      </p:grpSp>
      <p:sp>
        <p:nvSpPr>
          <p:cNvPr id="41" name="takeaway">
            <a:extLst>
              <a:ext uri="{FF2B5EF4-FFF2-40B4-BE49-F238E27FC236}">
                <a16:creationId xmlns:a16="http://schemas.microsoft.com/office/drawing/2014/main" id="{8D67E1C2-6641-4B1A-BC5F-F5469ACC23E4}"/>
              </a:ext>
            </a:extLst>
          </p:cNvPr>
          <p:cNvSpPr/>
          <p:nvPr/>
        </p:nvSpPr>
        <p:spPr>
          <a:xfrm>
            <a:off x="2818071" y="5298150"/>
            <a:ext cx="6555858" cy="720000"/>
          </a:xfrm>
          <a:prstGeom prst="roundRect">
            <a:avLst>
              <a:gd name="adj" fmla="val 16667"/>
            </a:avLst>
          </a:prstGeom>
          <a:solidFill>
            <a:srgbClr val="304452"/>
          </a:solidFill>
          <a:ln w="0">
            <a:solidFill>
              <a:srgbClr val="304452"/>
            </a:solidFill>
            <a:prstDash val="solid"/>
          </a:ln>
        </p:spPr>
        <p:txBody>
          <a:bodyPr anchor="ctr"/>
          <a:lstStyle/>
          <a:p>
            <a:pPr algn="ctr">
              <a:defRPr sz="1275" b="1">
                <a:solidFill>
                  <a:srgbClr val="FFFFFF"/>
                </a:solidFill>
              </a:defRPr>
            </a:pPr>
            <a:r>
              <a:rPr lang="de-DE" sz="1600" b="1" dirty="0">
                <a:solidFill>
                  <a:srgbClr val="FFFFFF"/>
                </a:solidFill>
              </a:rPr>
              <a:t>Reihenfolge zählt:</a:t>
            </a:r>
            <a:br>
              <a:rPr lang="de-DE" sz="1600" b="1" dirty="0">
                <a:solidFill>
                  <a:srgbClr val="FFFFFF"/>
                </a:solidFill>
              </a:rPr>
            </a:br>
            <a:r>
              <a:rPr lang="de-DE" sz="1600" b="1" dirty="0">
                <a:solidFill>
                  <a:srgbClr val="FFFFFF"/>
                </a:solidFill>
              </a:rPr>
              <a:t>erst Treffer fusionieren, dann Beziehungen ergänzen.</a:t>
            </a:r>
          </a:p>
        </p:txBody>
      </p:sp>
      <p:sp>
        <p:nvSpPr>
          <p:cNvPr id="44" name="page">
            <a:extLst>
              <a:ext uri="{FF2B5EF4-FFF2-40B4-BE49-F238E27FC236}">
                <a16:creationId xmlns:a16="http://schemas.microsoft.com/office/drawing/2014/main" id="{FA5986F7-ED63-474F-8ABE-805440A84E62}"/>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grpSp>
        <p:nvGrpSpPr>
          <p:cNvPr id="18" name="Gruppieren 17">
            <a:extLst>
              <a:ext uri="{FF2B5EF4-FFF2-40B4-BE49-F238E27FC236}">
                <a16:creationId xmlns:a16="http://schemas.microsoft.com/office/drawing/2014/main" id="{A8235C08-E095-AE22-B172-B9E02E09245E}"/>
              </a:ext>
            </a:extLst>
          </p:cNvPr>
          <p:cNvGrpSpPr/>
          <p:nvPr/>
        </p:nvGrpSpPr>
        <p:grpSpPr>
          <a:xfrm>
            <a:off x="2049150" y="1980000"/>
            <a:ext cx="3035850" cy="2340000"/>
            <a:chOff x="2049150" y="1980000"/>
            <a:chExt cx="3035850" cy="2340000"/>
          </a:xfrm>
        </p:grpSpPr>
        <p:sp>
          <p:nvSpPr>
            <p:cNvPr id="12" name="stage2-label">
              <a:extLst>
                <a:ext uri="{FF2B5EF4-FFF2-40B4-BE49-F238E27FC236}">
                  <a16:creationId xmlns:a16="http://schemas.microsoft.com/office/drawing/2014/main" id="{76B3E30B-6E9C-49C4-A4D9-623170EB133B}"/>
                </a:ext>
              </a:extLst>
            </p:cNvPr>
            <p:cNvSpPr/>
            <p:nvPr/>
          </p:nvSpPr>
          <p:spPr>
            <a:xfrm>
              <a:off x="2385000" y="1980000"/>
              <a:ext cx="27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2  HYBRID SUCHEN</a:t>
              </a:r>
            </a:p>
          </p:txBody>
        </p:sp>
        <p:grpSp>
          <p:nvGrpSpPr>
            <p:cNvPr id="10" name="Gruppieren 9">
              <a:extLst>
                <a:ext uri="{FF2B5EF4-FFF2-40B4-BE49-F238E27FC236}">
                  <a16:creationId xmlns:a16="http://schemas.microsoft.com/office/drawing/2014/main" id="{FA212CC8-C3F0-2961-45FA-DB208BC3C514}"/>
                </a:ext>
              </a:extLst>
            </p:cNvPr>
            <p:cNvGrpSpPr/>
            <p:nvPr/>
          </p:nvGrpSpPr>
          <p:grpSpPr>
            <a:xfrm>
              <a:off x="2049150" y="2340000"/>
              <a:ext cx="3035850" cy="1980000"/>
              <a:chOff x="2049150" y="2340000"/>
              <a:chExt cx="3035850" cy="1980000"/>
            </a:xfrm>
          </p:grpSpPr>
          <p:sp>
            <p:nvSpPr>
              <p:cNvPr id="4" name="flow-1">
                <a:extLst>
                  <a:ext uri="{FF2B5EF4-FFF2-40B4-BE49-F238E27FC236}">
                    <a16:creationId xmlns:a16="http://schemas.microsoft.com/office/drawing/2014/main" id="{B220FF84-877B-4A53-AEEE-B36C2DCD5C24}"/>
                  </a:ext>
                </a:extLst>
              </p:cNvPr>
              <p:cNvSpPr/>
              <p:nvPr/>
            </p:nvSpPr>
            <p:spPr>
              <a:xfrm>
                <a:off x="2049150" y="3111340"/>
                <a:ext cx="266700" cy="438150"/>
              </a:xfrm>
              <a:prstGeom prst="chevron">
                <a:avLst/>
              </a:prstGeom>
              <a:solidFill>
                <a:srgbClr val="B8C1C6"/>
              </a:solidFill>
              <a:ln w="0">
                <a:solidFill>
                  <a:srgbClr val="B8C1C6"/>
                </a:solidFill>
                <a:prstDash val="solid"/>
              </a:ln>
            </p:spPr>
            <p:txBody>
              <a:bodyPr/>
              <a:lstStyle/>
              <a:p>
                <a:endParaRPr lang="de-CH"/>
              </a:p>
            </p:txBody>
          </p:sp>
          <p:grpSp>
            <p:nvGrpSpPr>
              <p:cNvPr id="46" name="Gruppieren 45">
                <a:extLst>
                  <a:ext uri="{FF2B5EF4-FFF2-40B4-BE49-F238E27FC236}">
                    <a16:creationId xmlns:a16="http://schemas.microsoft.com/office/drawing/2014/main" id="{35E6DBF7-F0BC-BD2E-E848-593EE7BCF77D}"/>
                  </a:ext>
                </a:extLst>
              </p:cNvPr>
              <p:cNvGrpSpPr/>
              <p:nvPr/>
            </p:nvGrpSpPr>
            <p:grpSpPr>
              <a:xfrm>
                <a:off x="2385000" y="2340000"/>
                <a:ext cx="2700000" cy="1980000"/>
                <a:chOff x="2385000" y="2304664"/>
                <a:chExt cx="2700000" cy="1980000"/>
              </a:xfrm>
            </p:grpSpPr>
            <p:sp>
              <p:nvSpPr>
                <p:cNvPr id="13" name="retrieval-shell">
                  <a:extLst>
                    <a:ext uri="{FF2B5EF4-FFF2-40B4-BE49-F238E27FC236}">
                      <a16:creationId xmlns:a16="http://schemas.microsoft.com/office/drawing/2014/main" id="{9857F60E-DF60-4A5E-A0C5-581D2A407A1B}"/>
                    </a:ext>
                  </a:extLst>
                </p:cNvPr>
                <p:cNvSpPr/>
                <p:nvPr/>
              </p:nvSpPr>
              <p:spPr>
                <a:xfrm>
                  <a:off x="2385000" y="2304664"/>
                  <a:ext cx="2700000" cy="198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p:nvPr/>
              </p:nvSpPr>
              <p:spPr>
                <a:xfrm>
                  <a:off x="2655000" y="2520000"/>
                  <a:ext cx="2160000" cy="720000"/>
                </a:xfrm>
                <a:prstGeom prst="roundRect">
                  <a:avLst>
                    <a:gd name="adj" fmla="val 10667"/>
                  </a:avLst>
                </a:prstGeom>
                <a:solidFill>
                  <a:srgbClr val="FAEDF0"/>
                </a:solidFill>
                <a:ln w="11430">
                  <a:solidFill>
                    <a:srgbClr val="D20A32"/>
                  </a:solidFill>
                  <a:prstDash val="solid"/>
                </a:ln>
              </p:spPr>
              <p:txBody>
                <a:bodyPr anchor="ctr"/>
                <a:lstStyle/>
                <a:p>
                  <a:pPr algn="ctr"/>
                  <a:r>
                    <a:rPr lang="de-CH" sz="1400" b="1" dirty="0">
                      <a:solidFill>
                        <a:srgbClr val="D20A32"/>
                      </a:solidFill>
                    </a:rPr>
                    <a:t>SEMANTISCH </a:t>
                  </a:r>
                  <a:br>
                    <a:rPr lang="de-CH" sz="1400" b="1" dirty="0">
                      <a:solidFill>
                        <a:srgbClr val="D20A32"/>
                      </a:solidFill>
                    </a:rPr>
                  </a:br>
                  <a:r>
                    <a:rPr lang="de-CH" sz="1400" dirty="0">
                      <a:solidFill>
                        <a:srgbClr val="304452"/>
                      </a:solidFill>
                    </a:rPr>
                    <a:t>ähnliche Bedeutung</a:t>
                  </a:r>
                </a:p>
              </p:txBody>
            </p:sp>
            <p:sp>
              <p:nvSpPr>
                <p:cNvPr id="2" name="Rechteck: abgerundete Ecken 1">
                  <a:extLst>
                    <a:ext uri="{FF2B5EF4-FFF2-40B4-BE49-F238E27FC236}">
                      <a16:creationId xmlns:a16="http://schemas.microsoft.com/office/drawing/2014/main" id="{952F4388-68B4-8A39-FBE9-D6AA017F2C61}"/>
                    </a:ext>
                  </a:extLst>
                </p:cNvPr>
                <p:cNvSpPr/>
                <p:nvPr/>
              </p:nvSpPr>
              <p:spPr>
                <a:xfrm>
                  <a:off x="2655000" y="3349328"/>
                  <a:ext cx="2160000" cy="718372"/>
                </a:xfrm>
                <a:prstGeom prst="roundRect">
                  <a:avLst/>
                </a:prstGeom>
                <a:solidFill>
                  <a:srgbClr val="EAF4F4"/>
                </a:solidFill>
                <a:ln w="11430">
                  <a:solidFill>
                    <a:srgbClr val="307F87"/>
                  </a:solidFill>
                  <a:prstDash val="solid"/>
                </a:ln>
              </p:spPr>
              <p:txBody>
                <a:bodyPr anchor="ctr"/>
                <a:lstStyle/>
                <a:p>
                  <a:pPr algn="ctr"/>
                  <a:r>
                    <a:rPr lang="de-CH" sz="1400" b="1" dirty="0">
                      <a:solidFill>
                        <a:srgbClr val="307F87"/>
                      </a:solidFill>
                    </a:rPr>
                    <a:t>LEXIKALISCH</a:t>
                  </a:r>
                </a:p>
                <a:p>
                  <a:pPr algn="ctr"/>
                  <a:r>
                    <a:rPr lang="de-CH" sz="1400" dirty="0">
                      <a:solidFill>
                        <a:schemeClr val="bg2">
                          <a:lumMod val="10000"/>
                        </a:schemeClr>
                      </a:solidFill>
                    </a:rPr>
                    <a:t>Begriffe, Titel, Artikel</a:t>
                  </a:r>
                </a:p>
              </p:txBody>
            </p:sp>
          </p:grpSp>
        </p:grpSp>
      </p:gr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left)">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wipe(left)">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p:nvPr/>
        </p:nvSpPr>
        <p:spPr>
          <a:xfrm>
            <a:off x="2490938"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p:nvPr/>
        </p:nvSpPr>
        <p:spPr>
          <a:xfrm>
            <a:off x="5128508"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p:nvPr/>
        </p:nvSpPr>
        <p:spPr>
          <a:xfrm>
            <a:off x="19197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p:nvPr/>
        </p:nvSpPr>
        <p:spPr>
          <a:xfrm>
            <a:off x="52677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p:nvPr/>
        </p:nvSpPr>
        <p:spPr>
          <a:xfrm>
            <a:off x="71757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p:nvPr/>
        </p:nvSpPr>
        <p:spPr>
          <a:xfrm>
            <a:off x="87237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p:nvPr/>
        </p:nvSpPr>
        <p:spPr>
          <a:xfrm>
            <a:off x="102717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pPr algn="ctr"/>
            <a:r>
              <a:rPr lang="de-CH" sz="1400" b="1" dirty="0">
                <a:solidFill>
                  <a:srgbClr val="304452"/>
                </a:solidFill>
              </a:rPr>
              <a:t>CHROMA INDEX</a:t>
            </a:r>
          </a:p>
          <a:p>
            <a:pPr algn="ctr"/>
            <a:r>
              <a:rPr lang="de-CH" sz="1400" b="1" dirty="0">
                <a:solidFill>
                  <a:srgbClr val="438B92"/>
                </a:solidFill>
              </a:rPr>
              <a:t>≋</a:t>
            </a:r>
            <a:endParaRPr lang="de-CH" sz="1400" b="1" dirty="0">
              <a:solidFill>
                <a:srgbClr val="304452"/>
              </a:solidFill>
            </a:endParaRPr>
          </a:p>
          <a:p>
            <a:pPr algn="ctr"/>
            <a:r>
              <a:rPr lang="de-CH" sz="1400" dirty="0">
                <a:solidFill>
                  <a:srgbClr val="304452"/>
                </a:solidFill>
              </a:rPr>
              <a:t>Chunks + </a:t>
            </a:r>
            <a:r>
              <a:rPr lang="de-CH" sz="1400" dirty="0" err="1">
                <a:solidFill>
                  <a:srgbClr val="304452"/>
                </a:solidFill>
              </a:rPr>
              <a:t>Embeddings</a:t>
            </a:r>
            <a:endParaRPr lang="de-CH" sz="1400" b="1" dirty="0">
              <a:solidFill>
                <a:srgbClr val="304452"/>
              </a:solidFill>
            </a:endParaRPr>
          </a:p>
        </p:txBody>
      </p:sp>
      <p:sp>
        <p:nvSpPr>
          <p:cNvPr id="18" name="graph-builder">
            <a:extLst>
              <a:ext uri="{FF2B5EF4-FFF2-40B4-BE49-F238E27FC236}">
                <a16:creationId xmlns:a16="http://schemas.microsoft.com/office/drawing/2014/main" id="{7403451D-2936-47A8-987E-8CB23B3AD79B}"/>
              </a:ext>
            </a:extLst>
          </p:cNvPr>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pPr algn="ctr"/>
            <a:r>
              <a:rPr lang="de-CH" sz="1400" b="1" dirty="0">
                <a:solidFill>
                  <a:srgbClr val="304452"/>
                </a:solidFill>
              </a:rPr>
              <a:t>GRAPH AUFBAU</a:t>
            </a:r>
          </a:p>
          <a:p>
            <a:pPr algn="ctr">
              <a:defRPr sz="1125" b="0">
                <a:solidFill>
                  <a:srgbClr val="304452"/>
                </a:solidFill>
              </a:defRPr>
            </a:pPr>
            <a:r>
              <a:rPr lang="de-CH" sz="1400" dirty="0">
                <a:solidFill>
                  <a:srgbClr val="304452"/>
                </a:solidFill>
              </a:rPr>
              <a:t>Nachbar-Chunks verbinden</a:t>
            </a:r>
          </a:p>
          <a:p>
            <a:pPr algn="ctr">
              <a:defRPr sz="1125" b="0">
                <a:solidFill>
                  <a:srgbClr val="304452"/>
                </a:solidFill>
              </a:defRPr>
            </a:pPr>
            <a:r>
              <a:rPr lang="de-CH" sz="1400" dirty="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p:nvPr/>
        </p:nvSpPr>
        <p:spPr>
          <a:xfrm>
            <a:off x="5450545" y="1624186"/>
            <a:ext cx="2700000" cy="1440000"/>
          </a:xfrm>
          <a:prstGeom prst="roundRect">
            <a:avLst>
              <a:gd name="adj" fmla="val 9524"/>
            </a:avLst>
          </a:prstGeom>
          <a:solidFill>
            <a:srgbClr val="FBF3DF"/>
          </a:solidFill>
          <a:ln w="12383">
            <a:solidFill>
              <a:srgbClr val="D4B873"/>
            </a:solidFill>
            <a:prstDash val="solid"/>
          </a:ln>
        </p:spPr>
        <p:txBody>
          <a:bodyPr/>
          <a:lstStyle/>
          <a:p>
            <a:r>
              <a:rPr lang="de-CH" sz="1400" b="1" dirty="0">
                <a:solidFill>
                  <a:srgbClr val="304452"/>
                </a:solidFill>
              </a:rPr>
              <a:t>RETRIEVAL-GRAPH</a:t>
            </a: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r>
              <a:rPr lang="de-CH" sz="1400" dirty="0">
                <a:solidFill>
                  <a:srgbClr val="746B5F"/>
                </a:solidFill>
              </a:rPr>
              <a:t>JSON · versioniert</a:t>
            </a:r>
            <a:endParaRPr lang="de-CH" sz="1400" b="1" dirty="0">
              <a:solidFill>
                <a:srgbClr val="304452"/>
              </a:solidFill>
            </a:endParaRPr>
          </a:p>
          <a:p>
            <a:endParaRPr lang="de-DE" sz="1400" dirty="0"/>
          </a:p>
        </p:txBody>
      </p:sp>
      <p:grpSp>
        <p:nvGrpSpPr>
          <p:cNvPr id="22" name="Gruppieren 21">
            <a:extLst>
              <a:ext uri="{FF2B5EF4-FFF2-40B4-BE49-F238E27FC236}">
                <a16:creationId xmlns:a16="http://schemas.microsoft.com/office/drawing/2014/main" id="{320F6548-E9D4-8B06-71A5-2CF0347C3F6E}"/>
              </a:ext>
            </a:extLst>
          </p:cNvPr>
          <p:cNvGrpSpPr/>
          <p:nvPr/>
        </p:nvGrpSpPr>
        <p:grpSpPr>
          <a:xfrm>
            <a:off x="540000" y="3780000"/>
            <a:ext cx="1260000" cy="1260000"/>
            <a:chOff x="540000" y="3780000"/>
            <a:chExt cx="1260000" cy="1260000"/>
          </a:xfrm>
        </p:grpSpPr>
        <p:sp>
          <p:nvSpPr>
            <p:cNvPr id="33" name="query">
              <a:extLst>
                <a:ext uri="{FF2B5EF4-FFF2-40B4-BE49-F238E27FC236}">
                  <a16:creationId xmlns:a16="http://schemas.microsoft.com/office/drawing/2014/main" id="{89EEF038-DF75-4FD3-8420-37BD6E68EC96}"/>
                </a:ext>
              </a:extLst>
            </p:cNvPr>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lang="de-CH" sz="2700" b="1" dirty="0">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grpSp>
      <p:grpSp>
        <p:nvGrpSpPr>
          <p:cNvPr id="15" name="Gruppieren 14">
            <a:extLst>
              <a:ext uri="{FF2B5EF4-FFF2-40B4-BE49-F238E27FC236}">
                <a16:creationId xmlns:a16="http://schemas.microsoft.com/office/drawing/2014/main" id="{1254785A-AE8A-6204-791A-7D55FB32A3B9}"/>
              </a:ext>
            </a:extLst>
          </p:cNvPr>
          <p:cNvGrpSpPr/>
          <p:nvPr/>
        </p:nvGrpSpPr>
        <p:grpSpPr>
          <a:xfrm>
            <a:off x="2268000" y="3600000"/>
            <a:ext cx="2880000" cy="1620000"/>
            <a:chOff x="2340000" y="3600000"/>
            <a:chExt cx="2880000" cy="1620000"/>
          </a:xfrm>
        </p:grpSpPr>
        <p:sp>
          <p:nvSpPr>
            <p:cNvPr id="37" name="hybrid-search">
              <a:extLst>
                <a:ext uri="{FF2B5EF4-FFF2-40B4-BE49-F238E27FC236}">
                  <a16:creationId xmlns:a16="http://schemas.microsoft.com/office/drawing/2014/main" id="{D2DAD954-C170-4F91-BE86-F2F97EA63E96}"/>
                </a:ext>
              </a:extLst>
            </p:cNvPr>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dirty="0">
                  <a:solidFill>
                    <a:srgbClr val="304452"/>
                  </a:solidFill>
                </a:rPr>
                <a:t>Artikel-Matches</a:t>
              </a:r>
            </a:p>
            <a:p>
              <a:pPr algn="ctr">
                <a:defRPr sz="975" b="0">
                  <a:solidFill>
                    <a:srgbClr val="304452"/>
                  </a:solidFill>
                </a:defRPr>
              </a:pPr>
              <a:r>
                <a:rPr sz="975" b="0" dirty="0">
                  <a:solidFill>
                    <a:srgbClr val="304452"/>
                  </a:solidFill>
                </a:rPr>
                <a:t>Top 2</a:t>
              </a:r>
            </a:p>
          </p:txBody>
        </p:sp>
      </p:grpSp>
      <p:grpSp>
        <p:nvGrpSpPr>
          <p:cNvPr id="16" name="Gruppieren 15">
            <a:extLst>
              <a:ext uri="{FF2B5EF4-FFF2-40B4-BE49-F238E27FC236}">
                <a16:creationId xmlns:a16="http://schemas.microsoft.com/office/drawing/2014/main" id="{91A9175F-3DDE-F574-E0AE-6D105B951EE3}"/>
              </a:ext>
            </a:extLst>
          </p:cNvPr>
          <p:cNvGrpSpPr/>
          <p:nvPr/>
        </p:nvGrpSpPr>
        <p:grpSpPr>
          <a:xfrm>
            <a:off x="5616000" y="3780000"/>
            <a:ext cx="1440000" cy="1260000"/>
            <a:chOff x="5580000" y="3780000"/>
            <a:chExt cx="1440000" cy="1260000"/>
          </a:xfrm>
        </p:grpSpPr>
        <p:sp>
          <p:nvSpPr>
            <p:cNvPr id="45" name="graph-expand">
              <a:extLst>
                <a:ext uri="{FF2B5EF4-FFF2-40B4-BE49-F238E27FC236}">
                  <a16:creationId xmlns:a16="http://schemas.microsoft.com/office/drawing/2014/main" id="{D7039158-B742-4138-B5D4-85222B365420}"/>
                </a:ext>
              </a:extLst>
            </p:cNvPr>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grpSp>
      <p:grpSp>
        <p:nvGrpSpPr>
          <p:cNvPr id="17" name="Gruppieren 16">
            <a:extLst>
              <a:ext uri="{FF2B5EF4-FFF2-40B4-BE49-F238E27FC236}">
                <a16:creationId xmlns:a16="http://schemas.microsoft.com/office/drawing/2014/main" id="{4E05E68C-6183-44BB-CB05-176C46D385E1}"/>
              </a:ext>
            </a:extLst>
          </p:cNvPr>
          <p:cNvGrpSpPr/>
          <p:nvPr/>
        </p:nvGrpSpPr>
        <p:grpSpPr>
          <a:xfrm>
            <a:off x="7524000" y="3780000"/>
            <a:ext cx="1080000" cy="1260000"/>
            <a:chOff x="7560000" y="3780000"/>
            <a:chExt cx="1080000" cy="1260000"/>
          </a:xfrm>
        </p:grpSpPr>
        <p:sp>
          <p:nvSpPr>
            <p:cNvPr id="48" name="context">
              <a:extLst>
                <a:ext uri="{FF2B5EF4-FFF2-40B4-BE49-F238E27FC236}">
                  <a16:creationId xmlns:a16="http://schemas.microsoft.com/office/drawing/2014/main" id="{1213F267-0D7A-4A49-9897-7B2839492127}"/>
                </a:ext>
              </a:extLst>
            </p:cNvPr>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grpSp>
      <p:grpSp>
        <p:nvGrpSpPr>
          <p:cNvPr id="19" name="Gruppieren 18">
            <a:extLst>
              <a:ext uri="{FF2B5EF4-FFF2-40B4-BE49-F238E27FC236}">
                <a16:creationId xmlns:a16="http://schemas.microsoft.com/office/drawing/2014/main" id="{AEFA7F97-C82E-F5F5-BFC9-8C21707CF4A1}"/>
              </a:ext>
            </a:extLst>
          </p:cNvPr>
          <p:cNvGrpSpPr/>
          <p:nvPr/>
        </p:nvGrpSpPr>
        <p:grpSpPr>
          <a:xfrm>
            <a:off x="9072000" y="3780000"/>
            <a:ext cx="1080000" cy="1260000"/>
            <a:chOff x="9000000" y="3780000"/>
            <a:chExt cx="1080000" cy="1260000"/>
          </a:xfrm>
        </p:grpSpPr>
        <p:sp>
          <p:nvSpPr>
            <p:cNvPr id="52" name="llm">
              <a:extLst>
                <a:ext uri="{FF2B5EF4-FFF2-40B4-BE49-F238E27FC236}">
                  <a16:creationId xmlns:a16="http://schemas.microsoft.com/office/drawing/2014/main" id="{4E0BB49F-8171-4811-9F5F-660E8742F27F}"/>
                </a:ext>
              </a:extLst>
            </p:cNvPr>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grpSp>
      <p:grpSp>
        <p:nvGrpSpPr>
          <p:cNvPr id="20" name="Gruppieren 19">
            <a:extLst>
              <a:ext uri="{FF2B5EF4-FFF2-40B4-BE49-F238E27FC236}">
                <a16:creationId xmlns:a16="http://schemas.microsoft.com/office/drawing/2014/main" id="{BF28B645-6259-BBBC-4035-48ED8C5A5351}"/>
              </a:ext>
            </a:extLst>
          </p:cNvPr>
          <p:cNvGrpSpPr/>
          <p:nvPr/>
        </p:nvGrpSpPr>
        <p:grpSpPr>
          <a:xfrm>
            <a:off x="10620000" y="3780000"/>
            <a:ext cx="1080000" cy="1260000"/>
            <a:chOff x="10620000" y="3780000"/>
            <a:chExt cx="1080000" cy="1260000"/>
          </a:xfrm>
        </p:grpSpPr>
        <p:sp>
          <p:nvSpPr>
            <p:cNvPr id="56" name="response">
              <a:extLst>
                <a:ext uri="{FF2B5EF4-FFF2-40B4-BE49-F238E27FC236}">
                  <a16:creationId xmlns:a16="http://schemas.microsoft.com/office/drawing/2014/main" id="{6EE3B20E-0032-42EF-80FE-40F6861BAD1D}"/>
                </a:ext>
              </a:extLst>
            </p:cNvPr>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grpSp>
      <p:sp>
        <p:nvSpPr>
          <p:cNvPr id="60" name="takeaway">
            <a:extLst>
              <a:ext uri="{FF2B5EF4-FFF2-40B4-BE49-F238E27FC236}">
                <a16:creationId xmlns:a16="http://schemas.microsoft.com/office/drawing/2014/main" id="{C597EED5-1433-43EC-B778-780B05115E00}"/>
              </a:ext>
            </a:extLst>
          </p:cNvPr>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sz="3600" dirty="0"/>
              <a:t>Hybrider GraphRAG verbindet mehrere Suchsignale</a:t>
            </a:r>
          </a:p>
        </p:txBody>
      </p:sp>
      <p:grpSp>
        <p:nvGrpSpPr>
          <p:cNvPr id="2" name="Gruppieren 1">
            <a:extLst>
              <a:ext uri="{FF2B5EF4-FFF2-40B4-BE49-F238E27FC236}">
                <a16:creationId xmlns:a16="http://schemas.microsoft.com/office/drawing/2014/main" id="{72E379B3-099D-9B7B-DCB0-D4063D4FAAD2}"/>
              </a:ext>
            </a:extLst>
          </p:cNvPr>
          <p:cNvGrpSpPr/>
          <p:nvPr/>
        </p:nvGrpSpPr>
        <p:grpSpPr>
          <a:xfrm>
            <a:off x="6628695" y="1708805"/>
            <a:ext cx="1485000" cy="1305000"/>
            <a:chOff x="7380000" y="2520000"/>
            <a:chExt cx="1485000" cy="1305000"/>
          </a:xfrm>
        </p:grpSpPr>
        <p:sp>
          <p:nvSpPr>
            <p:cNvPr id="128" name="edge-a">
              <a:extLst>
                <a:ext uri="{FF2B5EF4-FFF2-40B4-BE49-F238E27FC236}">
                  <a16:creationId xmlns:a16="http://schemas.microsoft.com/office/drawing/2014/main" id="{B41D3A01-C151-E634-F0C1-BCD5F55A484D}"/>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129" name="edge-b">
              <a:extLst>
                <a:ext uri="{FF2B5EF4-FFF2-40B4-BE49-F238E27FC236}">
                  <a16:creationId xmlns:a16="http://schemas.microsoft.com/office/drawing/2014/main" id="{762CB202-B4CA-9A1F-9F2F-27B9832D52C1}"/>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130" name="edge-c">
              <a:extLst>
                <a:ext uri="{FF2B5EF4-FFF2-40B4-BE49-F238E27FC236}">
                  <a16:creationId xmlns:a16="http://schemas.microsoft.com/office/drawing/2014/main" id="{9B302D92-15BE-E306-2286-6E957EDC9401}"/>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131" name="node-main">
              <a:extLst>
                <a:ext uri="{FF2B5EF4-FFF2-40B4-BE49-F238E27FC236}">
                  <a16:creationId xmlns:a16="http://schemas.microsoft.com/office/drawing/2014/main" id="{000D9B39-3D89-B7AD-01A5-BC4F06430B07}"/>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132" name="node-neighbor-1">
              <a:extLst>
                <a:ext uri="{FF2B5EF4-FFF2-40B4-BE49-F238E27FC236}">
                  <a16:creationId xmlns:a16="http://schemas.microsoft.com/office/drawing/2014/main" id="{E644E788-3E58-72C2-36D3-EDE36F5D71AA}"/>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134" name="node-neighbor-2">
              <a:extLst>
                <a:ext uri="{FF2B5EF4-FFF2-40B4-BE49-F238E27FC236}">
                  <a16:creationId xmlns:a16="http://schemas.microsoft.com/office/drawing/2014/main" id="{E7FC3BA0-6B77-6D06-6B12-1D0D63C35738}"/>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Tree>
    <p:extLst>
      <p:ext uri="{BB962C8B-B14F-4D97-AF65-F5344CB8AC3E}">
        <p14:creationId xmlns:p14="http://schemas.microsoft.com/office/powerpoint/2010/main" val="10800522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a:t>Hybrider GraphRAG verbindet mehrere Suchsignale</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20.08.2026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22</a:t>
            </a:fld>
            <a:endParaRPr lang="de-CH" dirty="0"/>
          </a:p>
        </p:txBody>
      </p:sp>
      <p:grpSp>
        <p:nvGrpSpPr>
          <p:cNvPr id="100" name="Gruppe Chroma Index"/>
          <p:cNvGrpSpPr/>
          <p:nvPr/>
        </p:nvGrpSpPr>
        <p:grpSpPr>
          <a:xfrm>
            <a:off x="360000" y="1620000"/>
            <a:ext cx="1440000" cy="867600"/>
            <a:chOff x="5005715" y="2776165"/>
            <a:chExt cx="1440000" cy="867600"/>
          </a:xfrm>
        </p:grpSpPr>
        <p:sp>
          <p:nvSpPr>
            <p:cNvPr id="101"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Chroma Index</a:t>
              </a:r>
              <a:endParaRPr sz="900" b="1" dirty="0">
                <a:solidFill>
                  <a:schemeClr val="bg2">
                    <a:lumMod val="10000"/>
                  </a:schemeClr>
                </a:solidFill>
              </a:endParaRPr>
            </a:p>
          </p:txBody>
        </p:sp>
        <p:pic>
          <p:nvPicPr>
            <p:cNvPr id="102"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715" y="3120245"/>
              <a:ext cx="468000" cy="468000"/>
            </a:xfrm>
            <a:prstGeom prst="rect">
              <a:avLst/>
            </a:prstGeom>
          </p:spPr>
        </p:pic>
        <p:sp>
          <p:nvSpPr>
            <p:cNvPr id="103"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4" name="Info Chroma Index"/>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 Embeddings</a:t>
              </a:r>
            </a:p>
          </p:txBody>
        </p:sp>
      </p:grpSp>
      <p:grpSp>
        <p:nvGrpSpPr>
          <p:cNvPr id="105" name="Gruppe Graph Aufbau">
            <a:extLst>
              <a:ext uri="{FF2B5EF4-FFF2-40B4-BE49-F238E27FC236}">
                <a16:creationId xmlns:a16="http://schemas.microsoft.com/office/drawing/2014/main" id="{D25D0927-7500-9C4D-B2AC-C86A40E321DD}"/>
              </a:ext>
            </a:extLst>
          </p:cNvPr>
          <p:cNvGrpSpPr/>
          <p:nvPr/>
        </p:nvGrpSpPr>
        <p:grpSpPr>
          <a:xfrm>
            <a:off x="2340000" y="1620000"/>
            <a:ext cx="1440000" cy="867600"/>
            <a:chOff x="2783916" y="1570799"/>
            <a:chExt cx="1440000" cy="867600"/>
          </a:xfrm>
        </p:grpSpPr>
        <p:sp>
          <p:nvSpPr>
            <p:cNvPr id="106"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Aufbau</a:t>
              </a:r>
              <a:endParaRPr sz="900" b="1" dirty="0">
                <a:solidFill>
                  <a:schemeClr val="bg2">
                    <a:lumMod val="10000"/>
                  </a:schemeClr>
                </a:solidFill>
              </a:endParaRPr>
            </a:p>
          </p:txBody>
        </p:sp>
        <p:pic>
          <p:nvPicPr>
            <p:cNvPr id="107"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08"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9" name="Info Graph Aufbau"/>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Nachbar-Chunks + Artikelverweise</a:t>
              </a:r>
            </a:p>
          </p:txBody>
        </p:sp>
      </p:grpSp>
      <p:grpSp>
        <p:nvGrpSpPr>
          <p:cNvPr id="110" name="Gruppe Retrieval-Graph">
            <a:extLst>
              <a:ext uri="{FF2B5EF4-FFF2-40B4-BE49-F238E27FC236}">
                <a16:creationId xmlns:a16="http://schemas.microsoft.com/office/drawing/2014/main" id="{BFB423DB-992A-5876-26AC-811D2AA99C40}"/>
              </a:ext>
            </a:extLst>
          </p:cNvPr>
          <p:cNvGrpSpPr/>
          <p:nvPr/>
        </p:nvGrpSpPr>
        <p:grpSpPr>
          <a:xfrm>
            <a:off x="4320000" y="1620000"/>
            <a:ext cx="1440000" cy="867600"/>
            <a:chOff x="5005715" y="2776165"/>
            <a:chExt cx="1440000" cy="867600"/>
          </a:xfrm>
        </p:grpSpPr>
        <p:sp>
          <p:nvSpPr>
            <p:cNvPr id="111"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Retrieval-Graph</a:t>
              </a:r>
              <a:endParaRPr sz="900" b="1" dirty="0">
                <a:solidFill>
                  <a:schemeClr val="bg2">
                    <a:lumMod val="10000"/>
                  </a:schemeClr>
                </a:solidFill>
              </a:endParaRPr>
            </a:p>
          </p:txBody>
        </p:sp>
        <p:pic>
          <p:nvPicPr>
            <p:cNvPr id="112"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15" y="3120245"/>
              <a:ext cx="468000" cy="468000"/>
            </a:xfrm>
            <a:prstGeom prst="rect">
              <a:avLst/>
            </a:prstGeom>
          </p:spPr>
        </p:pic>
        <p:sp>
          <p:nvSpPr>
            <p:cNvPr id="113"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4" name="Info Retrieval-Graph"/>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JSON, versioniert</a:t>
              </a:r>
            </a:p>
          </p:txBody>
        </p:sp>
      </p:grpSp>
      <p:grpSp>
        <p:nvGrpSpPr>
          <p:cNvPr id="115" name="Gruppe Frage"/>
          <p:cNvGrpSpPr/>
          <p:nvPr/>
        </p:nvGrpSpPr>
        <p:grpSpPr>
          <a:xfrm>
            <a:off x="360000" y="3780000"/>
            <a:ext cx="1440000" cy="867600"/>
            <a:chOff x="10196840" y="1570799"/>
            <a:chExt cx="1440000" cy="867600"/>
          </a:xfrm>
        </p:grpSpPr>
        <p:sp>
          <p:nvSpPr>
            <p:cNvPr id="116"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Frage</a:t>
              </a:r>
              <a:endParaRPr sz="900" b="1" dirty="0">
                <a:solidFill>
                  <a:schemeClr val="bg2">
                    <a:lumMod val="10000"/>
                  </a:schemeClr>
                </a:solidFill>
              </a:endParaRPr>
            </a:p>
          </p:txBody>
        </p:sp>
        <p:pic>
          <p:nvPicPr>
            <p:cNvPr id="117"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86840" y="1914879"/>
              <a:ext cx="468000" cy="468000"/>
            </a:xfrm>
            <a:prstGeom prst="rect">
              <a:avLst/>
            </a:prstGeom>
          </p:spPr>
        </p:pic>
        <p:sp>
          <p:nvSpPr>
            <p:cNvPr id="118"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9" name="Info Frage"/>
            <p:cNvSpPr/>
            <p:nvPr/>
          </p:nvSpPr>
          <p:spPr>
            <a:xfrm>
              <a:off x="10790840"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z. B. Probezeit</a:t>
              </a:r>
            </a:p>
          </p:txBody>
        </p:sp>
      </p:grpSp>
      <p:grpSp>
        <p:nvGrpSpPr>
          <p:cNvPr id="120" name="Gruppe Semantik">
            <a:extLst>
              <a:ext uri="{FF2B5EF4-FFF2-40B4-BE49-F238E27FC236}">
                <a16:creationId xmlns:a16="http://schemas.microsoft.com/office/drawing/2014/main" id="{62657446-9BFF-60C0-3E07-97265A6E0278}"/>
              </a:ext>
            </a:extLst>
          </p:cNvPr>
          <p:cNvGrpSpPr/>
          <p:nvPr/>
        </p:nvGrpSpPr>
        <p:grpSpPr>
          <a:xfrm>
            <a:off x="2340000" y="2880000"/>
            <a:ext cx="1440000" cy="867600"/>
            <a:chOff x="2783916" y="1570799"/>
            <a:chExt cx="1440000" cy="867600"/>
          </a:xfrm>
        </p:grpSpPr>
        <p:sp>
          <p:nvSpPr>
            <p:cNvPr id="12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Semantik</a:t>
              </a:r>
              <a:endParaRPr sz="900" b="1" dirty="0">
                <a:solidFill>
                  <a:schemeClr val="bg2">
                    <a:lumMod val="10000"/>
                  </a:schemeClr>
                </a:solidFill>
              </a:endParaRPr>
            </a:p>
          </p:txBody>
        </p:sp>
        <p:pic>
          <p:nvPicPr>
            <p:cNvPr id="122"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73916" y="1914879"/>
              <a:ext cx="468000" cy="468000"/>
            </a:xfrm>
            <a:prstGeom prst="rect">
              <a:avLst/>
            </a:prstGeom>
          </p:spPr>
        </p:pic>
        <p:sp>
          <p:nvSpPr>
            <p:cNvPr id="123"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4" name="Info Semantik"/>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3 Vektor-Treffer</a:t>
              </a:r>
            </a:p>
          </p:txBody>
        </p:sp>
      </p:grpSp>
      <p:grpSp>
        <p:nvGrpSpPr>
          <p:cNvPr id="125" name="Gruppe Lexik + Zitat">
            <a:extLst>
              <a:ext uri="{FF2B5EF4-FFF2-40B4-BE49-F238E27FC236}">
                <a16:creationId xmlns:a16="http://schemas.microsoft.com/office/drawing/2014/main" id="{62657446-9BFF-60C0-3E07-97265A6E0278}"/>
              </a:ext>
            </a:extLst>
          </p:cNvPr>
          <p:cNvGrpSpPr/>
          <p:nvPr/>
        </p:nvGrpSpPr>
        <p:grpSpPr>
          <a:xfrm>
            <a:off x="2340000" y="4680000"/>
            <a:ext cx="1440000" cy="867600"/>
            <a:chOff x="2783916" y="1570799"/>
            <a:chExt cx="1440000" cy="867600"/>
          </a:xfrm>
        </p:grpSpPr>
        <p:sp>
          <p:nvSpPr>
            <p:cNvPr id="126"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Lexik + Zitat</a:t>
              </a:r>
              <a:endParaRPr sz="900" b="1" dirty="0">
                <a:solidFill>
                  <a:schemeClr val="bg2">
                    <a:lumMod val="10000"/>
                  </a:schemeClr>
                </a:solidFill>
              </a:endParaRPr>
            </a:p>
          </p:txBody>
        </p:sp>
        <p:pic>
          <p:nvPicPr>
            <p:cNvPr id="12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73916" y="1914879"/>
              <a:ext cx="468000" cy="468000"/>
            </a:xfrm>
            <a:prstGeom prst="rect">
              <a:avLst/>
            </a:prstGeom>
          </p:spPr>
        </p:pic>
        <p:sp>
          <p:nvSpPr>
            <p:cNvPr id="12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9" name="Info Lexik + Zitat"/>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2 Artikel-Matches</a:t>
              </a:r>
            </a:p>
          </p:txBody>
        </p:sp>
      </p:grpSp>
      <p:grpSp>
        <p:nvGrpSpPr>
          <p:cNvPr id="130" name="Gruppe Graph erweitern">
            <a:extLst>
              <a:ext uri="{FF2B5EF4-FFF2-40B4-BE49-F238E27FC236}">
                <a16:creationId xmlns:a16="http://schemas.microsoft.com/office/drawing/2014/main" id="{D25D0927-7500-9C4D-B2AC-C86A40E321DD}"/>
              </a:ext>
            </a:extLst>
          </p:cNvPr>
          <p:cNvGrpSpPr/>
          <p:nvPr/>
        </p:nvGrpSpPr>
        <p:grpSpPr>
          <a:xfrm>
            <a:off x="4320000" y="3780000"/>
            <a:ext cx="1440000" cy="867600"/>
            <a:chOff x="2783916" y="1570799"/>
            <a:chExt cx="1440000" cy="867600"/>
          </a:xfrm>
        </p:grpSpPr>
        <p:sp>
          <p:nvSpPr>
            <p:cNvPr id="131"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erweitern</a:t>
              </a:r>
              <a:endParaRPr sz="900" b="1" dirty="0">
                <a:solidFill>
                  <a:schemeClr val="bg2">
                    <a:lumMod val="10000"/>
                  </a:schemeClr>
                </a:solidFill>
              </a:endParaRPr>
            </a:p>
          </p:txBody>
        </p:sp>
        <p:pic>
          <p:nvPicPr>
            <p:cNvPr id="132"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33"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4" name="Info Graph erweitern"/>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Nachbarn + Referenzziele</a:t>
              </a:r>
            </a:p>
          </p:txBody>
        </p:sp>
      </p:grpSp>
      <p:grpSp>
        <p:nvGrpSpPr>
          <p:cNvPr id="135" name="Gruppe Kontext ≤ 6"/>
          <p:cNvGrpSpPr/>
          <p:nvPr/>
        </p:nvGrpSpPr>
        <p:grpSpPr>
          <a:xfrm>
            <a:off x="6300000" y="3780000"/>
            <a:ext cx="1440000" cy="867600"/>
            <a:chOff x="5005715" y="5161353"/>
            <a:chExt cx="1440000" cy="867600"/>
          </a:xfrm>
        </p:grpSpPr>
        <p:sp>
          <p:nvSpPr>
            <p:cNvPr id="136"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Kontext ≤ 6</a:t>
              </a:r>
              <a:endParaRPr sz="900" b="1" dirty="0">
                <a:solidFill>
                  <a:schemeClr val="bg2">
                    <a:lumMod val="10000"/>
                  </a:schemeClr>
                </a:solidFill>
              </a:endParaRPr>
            </a:p>
          </p:txBody>
        </p:sp>
        <p:pic>
          <p:nvPicPr>
            <p:cNvPr id="137"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5715" y="5505433"/>
              <a:ext cx="468000" cy="468000"/>
            </a:xfrm>
            <a:prstGeom prst="rect">
              <a:avLst/>
            </a:prstGeom>
          </p:spPr>
        </p:pic>
        <p:sp>
          <p:nvSpPr>
            <p:cNvPr id="138"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9" name="Info Kontext ≤ 6"/>
            <p:cNvSpPr/>
            <p:nvPr/>
          </p:nvSpPr>
          <p:spPr>
            <a:xfrm>
              <a:off x="5599715"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mit Quelle</a:t>
              </a:r>
            </a:p>
          </p:txBody>
        </p:sp>
      </p:grpSp>
      <p:grpSp>
        <p:nvGrpSpPr>
          <p:cNvPr id="140" name="Gruppe LLM">
            <a:extLst>
              <a:ext uri="{FF2B5EF4-FFF2-40B4-BE49-F238E27FC236}">
                <a16:creationId xmlns:a16="http://schemas.microsoft.com/office/drawing/2014/main" id="{CC8957DA-7EEF-07E6-4817-4A1CAB29C56A}"/>
              </a:ext>
            </a:extLst>
          </p:cNvPr>
          <p:cNvGrpSpPr/>
          <p:nvPr/>
        </p:nvGrpSpPr>
        <p:grpSpPr>
          <a:xfrm>
            <a:off x="8280000" y="3780000"/>
            <a:ext cx="1440000" cy="867600"/>
            <a:chOff x="8006090" y="5161353"/>
            <a:chExt cx="1440000" cy="867600"/>
          </a:xfrm>
        </p:grpSpPr>
        <p:sp>
          <p:nvSpPr>
            <p:cNvPr id="141"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42"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96090" y="5505433"/>
              <a:ext cx="468000" cy="468000"/>
            </a:xfrm>
            <a:prstGeom prst="rect">
              <a:avLst/>
            </a:prstGeom>
          </p:spPr>
        </p:pic>
        <p:sp>
          <p:nvSpPr>
            <p:cNvPr id="143"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4" name="Info LLM"/>
            <p:cNvSpPr/>
            <p:nvPr/>
          </p:nvSpPr>
          <p:spPr>
            <a:xfrm>
              <a:off x="860009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llama3.2, nur aus dem Kontext</a:t>
              </a:r>
            </a:p>
          </p:txBody>
        </p:sp>
      </p:grpSp>
      <p:grpSp>
        <p:nvGrpSpPr>
          <p:cNvPr id="145" name="Gruppe Antwort"/>
          <p:cNvGrpSpPr/>
          <p:nvPr/>
        </p:nvGrpSpPr>
        <p:grpSpPr>
          <a:xfrm>
            <a:off x="10260000" y="3780000"/>
            <a:ext cx="1440000" cy="867600"/>
            <a:chOff x="10196840" y="5161353"/>
            <a:chExt cx="1440000" cy="867600"/>
          </a:xfrm>
        </p:grpSpPr>
        <p:sp>
          <p:nvSpPr>
            <p:cNvPr id="146"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Antwort</a:t>
              </a:r>
              <a:endParaRPr sz="900" b="1" dirty="0">
                <a:solidFill>
                  <a:schemeClr val="bg2">
                    <a:lumMod val="10000"/>
                  </a:schemeClr>
                </a:solidFill>
              </a:endParaRPr>
            </a:p>
          </p:txBody>
        </p:sp>
        <p:pic>
          <p:nvPicPr>
            <p:cNvPr id="147"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286840" y="5505433"/>
              <a:ext cx="468000" cy="468000"/>
            </a:xfrm>
            <a:prstGeom prst="rect">
              <a:avLst/>
            </a:prstGeom>
          </p:spPr>
        </p:pic>
        <p:sp>
          <p:nvSpPr>
            <p:cNvPr id="148"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9" name="Info Antwort"/>
            <p:cNvSpPr/>
            <p:nvPr/>
          </p:nvSpPr>
          <p:spPr>
            <a:xfrm>
              <a:off x="1079084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mit Gesetz und Artikel</a:t>
              </a:r>
            </a:p>
          </p:txBody>
        </p:sp>
      </p:grpSp>
      <p:cxnSp>
        <p:nvCxnSpPr>
          <p:cNvPr id="150" name="Pfeil chroma-aufbau">
            <a:extLst>
              <a:ext uri="{FF2B5EF4-FFF2-40B4-BE49-F238E27FC236}">
                <a16:creationId xmlns:a16="http://schemas.microsoft.com/office/drawing/2014/main" id="{0BDDCE84-4016-2B9D-139E-B6028861F673}"/>
              </a:ext>
            </a:extLst>
          </p:cNvPr>
          <p:cNvCxnSpPr>
            <a:cxnSpLocks/>
            <a:stCxn id="101" idx="3"/>
            <a:endCxn id="106" idx="1"/>
          </p:cNvCxnSpPr>
          <p:nvPr/>
        </p:nvCxnSpPr>
        <p:spPr>
          <a:xfrm>
            <a:off x="180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1" name="Pfeil aufbau-rgraph">
            <a:extLst>
              <a:ext uri="{FF2B5EF4-FFF2-40B4-BE49-F238E27FC236}">
                <a16:creationId xmlns:a16="http://schemas.microsoft.com/office/drawing/2014/main" id="{0BDDCE84-4016-2B9D-139E-B6028861F673}"/>
              </a:ext>
            </a:extLst>
          </p:cNvPr>
          <p:cNvCxnSpPr>
            <a:cxnSpLocks/>
            <a:stCxn id="106" idx="3"/>
            <a:endCxn id="111" idx="1"/>
          </p:cNvCxnSpPr>
          <p:nvPr/>
        </p:nvCxnSpPr>
        <p:spPr>
          <a:xfrm>
            <a:off x="378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2" name="Pfeil rgraph-erweitern">
            <a:extLst>
              <a:ext uri="{FF2B5EF4-FFF2-40B4-BE49-F238E27FC236}">
                <a16:creationId xmlns:a16="http://schemas.microsoft.com/office/drawing/2014/main" id="{0BDDCE84-4016-2B9D-139E-B6028861F673}"/>
              </a:ext>
            </a:extLst>
          </p:cNvPr>
          <p:cNvCxnSpPr>
            <a:cxnSpLocks/>
            <a:stCxn id="111" idx="2"/>
            <a:endCxn id="131" idx="0"/>
          </p:cNvCxnSpPr>
          <p:nvPr/>
        </p:nvCxnSpPr>
        <p:spPr>
          <a:xfrm>
            <a:off x="5040000" y="2487600"/>
            <a:ext cx="0" cy="12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3" name="Pfeil chroma-semantik">
            <a:extLst>
              <a:ext uri="{FF2B5EF4-FFF2-40B4-BE49-F238E27FC236}">
                <a16:creationId xmlns:a16="http://schemas.microsoft.com/office/drawing/2014/main" id="{0BDDCE84-4016-2B9D-139E-B6028861F673}"/>
              </a:ext>
            </a:extLst>
          </p:cNvPr>
          <p:cNvCxnSpPr>
            <a:cxnSpLocks/>
            <a:stCxn id="101" idx="3"/>
            <a:endCxn id="121" idx="1"/>
          </p:cNvCxnSpPr>
          <p:nvPr/>
        </p:nvCxnSpPr>
        <p:spPr>
          <a:xfrm>
            <a:off x="1800000" y="2053800"/>
            <a:ext cx="540000" cy="126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4" name="Pfeil frage-semantik">
            <a:extLst>
              <a:ext uri="{FF2B5EF4-FFF2-40B4-BE49-F238E27FC236}">
                <a16:creationId xmlns:a16="http://schemas.microsoft.com/office/drawing/2014/main" id="{0BDDCE84-4016-2B9D-139E-B6028861F673}"/>
              </a:ext>
            </a:extLst>
          </p:cNvPr>
          <p:cNvCxnSpPr>
            <a:cxnSpLocks/>
            <a:stCxn id="116" idx="3"/>
            <a:endCxn id="121" idx="1"/>
          </p:cNvCxnSpPr>
          <p:nvPr/>
        </p:nvCxnSpPr>
        <p:spPr>
          <a:xfrm flipV="1">
            <a:off x="180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5" name="Pfeil frage-lexik">
            <a:extLst>
              <a:ext uri="{FF2B5EF4-FFF2-40B4-BE49-F238E27FC236}">
                <a16:creationId xmlns:a16="http://schemas.microsoft.com/office/drawing/2014/main" id="{0BDDCE84-4016-2B9D-139E-B6028861F673}"/>
              </a:ext>
            </a:extLst>
          </p:cNvPr>
          <p:cNvCxnSpPr>
            <a:cxnSpLocks/>
            <a:stCxn id="116" idx="3"/>
            <a:endCxn id="126" idx="1"/>
          </p:cNvCxnSpPr>
          <p:nvPr/>
        </p:nvCxnSpPr>
        <p:spPr>
          <a:xfrm>
            <a:off x="180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6" name="Pfeil semantik-erweitern">
            <a:extLst>
              <a:ext uri="{FF2B5EF4-FFF2-40B4-BE49-F238E27FC236}">
                <a16:creationId xmlns:a16="http://schemas.microsoft.com/office/drawing/2014/main" id="{0BDDCE84-4016-2B9D-139E-B6028861F673}"/>
              </a:ext>
            </a:extLst>
          </p:cNvPr>
          <p:cNvCxnSpPr>
            <a:cxnSpLocks/>
            <a:stCxn id="121" idx="3"/>
            <a:endCxn id="131" idx="1"/>
          </p:cNvCxnSpPr>
          <p:nvPr/>
        </p:nvCxnSpPr>
        <p:spPr>
          <a:xfrm>
            <a:off x="378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7" name="Pfeil lexik-erweitern">
            <a:extLst>
              <a:ext uri="{FF2B5EF4-FFF2-40B4-BE49-F238E27FC236}">
                <a16:creationId xmlns:a16="http://schemas.microsoft.com/office/drawing/2014/main" id="{0BDDCE84-4016-2B9D-139E-B6028861F673}"/>
              </a:ext>
            </a:extLst>
          </p:cNvPr>
          <p:cNvCxnSpPr>
            <a:cxnSpLocks/>
            <a:stCxn id="126" idx="3"/>
            <a:endCxn id="131" idx="1"/>
          </p:cNvCxnSpPr>
          <p:nvPr/>
        </p:nvCxnSpPr>
        <p:spPr>
          <a:xfrm flipV="1">
            <a:off x="378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8" name="Pfeil erweitern-kontext">
            <a:extLst>
              <a:ext uri="{FF2B5EF4-FFF2-40B4-BE49-F238E27FC236}">
                <a16:creationId xmlns:a16="http://schemas.microsoft.com/office/drawing/2014/main" id="{0BDDCE84-4016-2B9D-139E-B6028861F673}"/>
              </a:ext>
            </a:extLst>
          </p:cNvPr>
          <p:cNvCxnSpPr>
            <a:cxnSpLocks/>
            <a:stCxn id="131" idx="3"/>
            <a:endCxn id="136" idx="1"/>
          </p:cNvCxnSpPr>
          <p:nvPr/>
        </p:nvCxnSpPr>
        <p:spPr>
          <a:xfrm>
            <a:off x="576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9" name="Pfeil kontext-llm">
            <a:extLst>
              <a:ext uri="{FF2B5EF4-FFF2-40B4-BE49-F238E27FC236}">
                <a16:creationId xmlns:a16="http://schemas.microsoft.com/office/drawing/2014/main" id="{0BDDCE84-4016-2B9D-139E-B6028861F673}"/>
              </a:ext>
            </a:extLst>
          </p:cNvPr>
          <p:cNvCxnSpPr>
            <a:cxnSpLocks/>
            <a:stCxn id="136" idx="3"/>
            <a:endCxn id="141" idx="1"/>
          </p:cNvCxnSpPr>
          <p:nvPr/>
        </p:nvCxnSpPr>
        <p:spPr>
          <a:xfrm>
            <a:off x="774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0" name="Pfeil llm-antwort">
            <a:extLst>
              <a:ext uri="{FF2B5EF4-FFF2-40B4-BE49-F238E27FC236}">
                <a16:creationId xmlns:a16="http://schemas.microsoft.com/office/drawing/2014/main" id="{0BDDCE84-4016-2B9D-139E-B6028861F673}"/>
              </a:ext>
            </a:extLst>
          </p:cNvPr>
          <p:cNvCxnSpPr>
            <a:cxnSpLocks/>
            <a:stCxn id="141" idx="3"/>
            <a:endCxn id="146" idx="1"/>
          </p:cNvCxnSpPr>
          <p:nvPr/>
        </p:nvCxnSpPr>
        <p:spPr>
          <a:xfrm>
            <a:off x="972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61" name="Label Indexierung"/>
          <p:cNvSpPr/>
          <p:nvPr/>
        </p:nvSpPr>
        <p:spPr>
          <a:xfrm>
            <a:off x="360000" y="1296000"/>
            <a:ext cx="2880000" cy="216000"/>
          </a:xfrm>
          <a:prstGeom prst="rect">
            <a:avLst/>
          </a:prstGeom>
          <a:noFill/>
        </p:spPr>
        <p:txBody>
          <a:bodyPr wrap="square" lIns="0" tIns="0" rIns="0" bIns="0" anchor="ctr"/>
          <a:lstStyle/>
          <a:p>
            <a:pPr algn="l"/>
            <a:r>
              <a:rPr lang="de-CH" sz="1200" b="1" dirty="0">
                <a:solidFill>
                  <a:srgbClr val="595959"/>
                </a:solidFill>
                <a:latin typeface="Arial"/>
              </a:rPr>
              <a:t>INDEXIERUNG · EINMALIG</a:t>
            </a:r>
          </a:p>
        </p:txBody>
      </p:sp>
      <p:sp>
        <p:nvSpPr>
          <p:cNvPr id="162" name="Label Retrieval"/>
          <p:cNvSpPr/>
          <p:nvPr/>
        </p:nvSpPr>
        <p:spPr>
          <a:xfrm>
            <a:off x="360000" y="3456000"/>
            <a:ext cx="2880000" cy="216000"/>
          </a:xfrm>
          <a:prstGeom prst="rect">
            <a:avLst/>
          </a:prstGeom>
          <a:noFill/>
        </p:spPr>
        <p:txBody>
          <a:bodyPr wrap="square" lIns="0" tIns="0" rIns="0" bIns="0" anchor="ctr"/>
          <a:lstStyle/>
          <a:p>
            <a:pPr algn="l"/>
            <a:r>
              <a:rPr lang="de-CH" sz="1200" b="1" dirty="0">
                <a:solidFill>
                  <a:srgbClr val="595959"/>
                </a:solidFill>
                <a:latin typeface="Arial"/>
              </a:rPr>
              <a:t>RETRIEVAL · PRO FRAGE</a:t>
            </a:r>
          </a:p>
        </p:txBody>
      </p:sp>
      <p:sp>
        <p:nvSpPr>
          <p:cNvPr id="163" name="Takeaway"/>
          <p:cNvSpPr/>
          <p:nvPr/>
        </p:nvSpPr>
        <p:spPr>
          <a:xfrm>
            <a:off x="360000" y="5760000"/>
            <a:ext cx="11340000" cy="540000"/>
          </a:xfrm>
          <a:prstGeom prst="roundRect">
            <a:avLst>
              <a:gd name="adj" fmla="val 18000"/>
            </a:avLst>
          </a:prstGeom>
          <a:solidFill>
            <a:srgbClr val="2D3F4B"/>
          </a:solidFill>
          <a:ln>
            <a:noFill/>
          </a:ln>
        </p:spPr>
        <p:txBody>
          <a:bodyPr wrap="square" anchor="ctr"/>
          <a:lstStyle/>
          <a:p>
            <a:pPr algn="ctr"/>
            <a:r>
              <a:rPr lang="de-CH" sz="1400" b="1" dirty="0">
                <a:solidFill>
                  <a:srgbClr val="FFFFFF"/>
                </a:solidFill>
                <a:latin typeface="Arial"/>
              </a:rPr>
              <a:t>Semantik + Lexik + explizite Zitate → Graph-Nachbarn → begrenzter Kontext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dirty="0">
                <a:solidFill>
                  <a:srgbClr val="81725E"/>
                </a:solidFill>
                <a:latin typeface="Arial"/>
                <a:ea typeface="Arial"/>
                <a:cs typeface="Arial"/>
              </a:rPr>
              <a:t>Reranking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Rangfolge</a:t>
            </a:r>
            <a:r>
              <a:rPr sz="1650" b="0" dirty="0">
                <a:solidFill>
                  <a:srgbClr val="81725E"/>
                </a:solidFill>
                <a:latin typeface="Arial"/>
                <a:ea typeface="Arial"/>
                <a:cs typeface="Arial"/>
              </a:rPr>
              <a:t>; </a:t>
            </a:r>
            <a:r>
              <a:rPr sz="1650" b="0" dirty="0" err="1">
                <a:solidFill>
                  <a:srgbClr val="81725E"/>
                </a:solidFill>
                <a:latin typeface="Arial"/>
                <a:ea typeface="Arial"/>
                <a:cs typeface="Arial"/>
              </a:rPr>
              <a:t>GraphRAG</a:t>
            </a:r>
            <a:r>
              <a:rPr sz="1650" b="0" dirty="0">
                <a:solidFill>
                  <a:srgbClr val="81725E"/>
                </a:solidFill>
                <a:latin typeface="Arial"/>
                <a:ea typeface="Arial"/>
                <a:cs typeface="Arial"/>
              </a:rPr>
              <a:t> </a:t>
            </a:r>
            <a:r>
              <a:rPr sz="1650" b="0" dirty="0" err="1">
                <a:solidFill>
                  <a:srgbClr val="81725E"/>
                </a:solidFill>
                <a:latin typeface="Arial"/>
                <a:ea typeface="Arial"/>
                <a:cs typeface="Arial"/>
              </a:rPr>
              <a:t>erreicht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denselben</a:t>
            </a:r>
            <a:r>
              <a:rPr sz="1650" b="0" dirty="0">
                <a:solidFill>
                  <a:srgbClr val="81725E"/>
                </a:solidFill>
                <a:latin typeface="Arial"/>
                <a:ea typeface="Arial"/>
                <a:cs typeface="Arial"/>
              </a:rPr>
              <a:t> Recall </a:t>
            </a:r>
            <a:r>
              <a:rPr sz="1650" b="0" dirty="0" err="1">
                <a:solidFill>
                  <a:srgbClr val="81725E"/>
                </a:solidFill>
                <a:latin typeface="Arial"/>
                <a:ea typeface="Arial"/>
                <a:cs typeface="Arial"/>
              </a:rPr>
              <a:t>mit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weniger</a:t>
            </a:r>
            <a:r>
              <a:rPr sz="1650" b="0" dirty="0">
                <a:solidFill>
                  <a:srgbClr val="81725E"/>
                </a:solidFill>
                <a:latin typeface="Arial"/>
                <a:ea typeface="Arial"/>
                <a:cs typeface="Arial"/>
              </a:rPr>
              <a:t> </a:t>
            </a:r>
            <a:r>
              <a:rPr sz="1650" b="0" dirty="0" err="1">
                <a:solidFill>
                  <a:srgbClr val="81725E"/>
                </a:solidFill>
                <a:latin typeface="Arial"/>
                <a:ea typeface="Arial"/>
                <a:cs typeface="Arial"/>
              </a:rPr>
              <a:t>Kontext</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540000" y="1980000"/>
            <a:ext cx="2879995"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5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540000" y="2700000"/>
            <a:ext cx="1440000"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540000" y="3087666"/>
            <a:ext cx="1440000" cy="512333"/>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198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1980001" y="3087666"/>
            <a:ext cx="1439998" cy="512333"/>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198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540000" y="3780000"/>
            <a:ext cx="288000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 und Graph gleichauf</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140000" y="1980000"/>
            <a:ext cx="2879995"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1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14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140001" y="3087666"/>
            <a:ext cx="1439998" cy="512333"/>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58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580001" y="3087666"/>
            <a:ext cx="1439998" cy="512333"/>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0.59</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0.48</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139999" y="3780000"/>
            <a:ext cx="2879997"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740000" y="1980000"/>
            <a:ext cx="2879995"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7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74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740001" y="3087666"/>
            <a:ext cx="1439998" cy="512333"/>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1 290</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909</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180000" y="2700000"/>
            <a:ext cx="1439998" cy="387666"/>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180001" y="3087666"/>
            <a:ext cx="1439998" cy="512333"/>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912</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822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8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740000" y="3780000"/>
            <a:ext cx="2879995"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9,5 %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1619997" y="5133300"/>
            <a:ext cx="7920000" cy="720000"/>
          </a:xfrm>
          <a:prstGeom prst="roundRect">
            <a:avLst>
              <a:gd name="adj" fmla="val 22857"/>
            </a:avLst>
          </a:prstGeom>
          <a:solidFill>
            <a:srgbClr val="2D3F4B"/>
          </a:solidFill>
          <a:ln w="0">
            <a:solidFill>
              <a:srgbClr val="2D3F4B"/>
            </a:solidFill>
            <a:prstDash val="solid"/>
          </a:ln>
        </p:spPr>
        <p:txBody>
          <a:bodyPr/>
          <a:lstStyle/>
          <a:p>
            <a:pPr algn="ctr">
              <a:buNone/>
            </a:pPr>
            <a:r>
              <a:rPr sz="1600" b="1">
                <a:solidFill>
                  <a:srgbClr val="FFFFFF"/>
                </a:solidFil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sz="3600" dirty="0" err="1"/>
              <a:t>Rerank</a:t>
            </a:r>
            <a:r>
              <a:rPr sz="3600" dirty="0"/>
              <a:t> &amp; </a:t>
            </a:r>
            <a:r>
              <a:rPr sz="3600" dirty="0" err="1"/>
              <a:t>GraphRAG</a:t>
            </a:r>
            <a:r>
              <a:rPr sz="3600" dirty="0"/>
              <a:t>: bester Recall</a:t>
            </a:r>
          </a:p>
        </p:txBody>
      </p:sp>
    </p:spTree>
    <p:extLst>
      <p:ext uri="{BB962C8B-B14F-4D97-AF65-F5344CB8AC3E}">
        <p14:creationId xmlns:p14="http://schemas.microsoft.com/office/powerpoint/2010/main" val="36589506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a:extLst>
              <a:ext uri="{FF2B5EF4-FFF2-40B4-BE49-F238E27FC236}">
                <a16:creationId xmlns:a16="http://schemas.microsoft.com/office/drawing/2014/main" id="{DF714E49-F92D-4ABE-97BD-45DEC48B8E2F}"/>
              </a:ext>
            </a:extLst>
          </p:cNvPr>
          <p:cNvSpPr>
            <a:spLocks noGrp="1"/>
          </p:cNvSpPr>
          <p:nvPr>
            <p:ph type="title"/>
          </p:nvPr>
        </p:nvSpPr>
        <p:spPr>
          <a:xfrm>
            <a:off x="482461" y="346633"/>
            <a:ext cx="11230114" cy="767605"/>
          </a:xfrm>
        </p:spPr>
        <p:txBody>
          <a:bodyPr/>
          <a:lstStyle/>
          <a:p>
            <a:r>
              <a:rPr sz="2800" dirty="0"/>
              <a:t>Gutes Retrieval </a:t>
            </a:r>
            <a:r>
              <a:rPr sz="2800" dirty="0" err="1"/>
              <a:t>ist</a:t>
            </a:r>
            <a:r>
              <a:rPr sz="2800" dirty="0"/>
              <a:t> </a:t>
            </a:r>
            <a:r>
              <a:rPr sz="2800" dirty="0" err="1"/>
              <a:t>notwendig</a:t>
            </a:r>
            <a:r>
              <a:rPr sz="2800" dirty="0"/>
              <a:t> – </a:t>
            </a:r>
            <a:r>
              <a:rPr sz="2800" dirty="0" err="1"/>
              <a:t>aber</a:t>
            </a:r>
            <a:r>
              <a:rPr sz="2800" dirty="0"/>
              <a:t> </a:t>
            </a:r>
            <a:r>
              <a:rPr sz="2800" dirty="0" err="1"/>
              <a:t>Antwortqualität</a:t>
            </a:r>
            <a:r>
              <a:rPr sz="2800" dirty="0"/>
              <a:t> </a:t>
            </a:r>
            <a:r>
              <a:rPr sz="2800" dirty="0" err="1"/>
              <a:t>bleibt</a:t>
            </a:r>
            <a:r>
              <a:rPr sz="2800" dirty="0"/>
              <a:t> </a:t>
            </a:r>
            <a:r>
              <a:rPr sz="2800" dirty="0" err="1"/>
              <a:t>variabel</a:t>
            </a:r>
            <a:endParaRPr sz="2800" dirty="0"/>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1">
                <a:solidFill>
                  <a:srgbClr val="2D3F4B"/>
                </a:solidFill>
                <a:latin typeface="Arial"/>
                <a:ea typeface="Arial"/>
                <a:cs typeface="Arial"/>
              </a:rPr>
              <a:t>Gefundener Kontext, LLM-Nutzung und Bewertungsregel beeinflussen das Ergebnis.</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871075" y="1951837"/>
            <a:ext cx="1238250" cy="34095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16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291075" y="1951837"/>
            <a:ext cx="1238250" cy="34095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16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720000" y="233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420000" y="2340000"/>
            <a:ext cx="3333750"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420000" y="2520000"/>
            <a:ext cx="4447223"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6518250" y="227415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50 %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7585875" y="244463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720000" y="305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420000" y="3060000"/>
            <a:ext cx="18535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420000" y="3240000"/>
            <a:ext cx="2220277"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4973190" y="3018423"/>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28 %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5339902" y="315525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33 %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720000" y="377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420000" y="3780000"/>
            <a:ext cx="361378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420000" y="3960000"/>
            <a:ext cx="50006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6747934" y="3725408"/>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54 %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8120250" y="39024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75 %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720000" y="449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420000" y="4500000"/>
            <a:ext cx="361378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420000" y="4680000"/>
            <a:ext cx="4447223"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6672872" y="4457464"/>
            <a:ext cx="1238250" cy="33528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54 %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7595017" y="4609184"/>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buNone/>
            </a:pPr>
            <a:r>
              <a:rPr sz="1600" b="1">
                <a:solidFill>
                  <a:srgbClr val="FFFFFF"/>
                </a:solidFill>
              </a:rPr>
              <a:t>Reranking: vollständigste Zitate · Graph: gleicher Faktenwert mit weniger Kontext</a:t>
            </a:r>
          </a:p>
        </p:txBody>
      </p:sp>
    </p:spTree>
    <p:extLst>
      <p:ext uri="{BB962C8B-B14F-4D97-AF65-F5344CB8AC3E}">
        <p14:creationId xmlns:p14="http://schemas.microsoft.com/office/powerpoint/2010/main" val="35438856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p:nvPr/>
        </p:nvSpPr>
        <p:spPr>
          <a:xfrm>
            <a:off x="539999" y="3780000"/>
            <a:ext cx="3240001"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a:solidFill>
                  <a:srgbClr val="2D3F4B"/>
                </a:solidFill>
                <a:latin typeface="Arial"/>
                <a:ea typeface="Arial"/>
                <a:cs typeface="Arial"/>
              </a:rPr>
              <a:t>3 Chunks </a:t>
            </a:r>
            <a:r>
              <a:rPr sz="1425" b="0" dirty="0" err="1">
                <a:solidFill>
                  <a:srgbClr val="2D3F4B"/>
                </a:solidFill>
                <a:latin typeface="Arial"/>
                <a:ea typeface="Arial"/>
                <a:cs typeface="Arial"/>
              </a:rPr>
              <a:t>prüfen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Satz-/</a:t>
            </a:r>
            <a:r>
              <a:rPr sz="1425" b="0" dirty="0" err="1">
                <a:solidFill>
                  <a:srgbClr val="2D3F4B"/>
                </a:solidFill>
                <a:latin typeface="Arial"/>
                <a:ea typeface="Arial"/>
                <a:cs typeface="Arial"/>
              </a:rPr>
              <a:t>Artikelgrenzen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markieren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Rauschen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3" name="group-B">
            <a:extLst>
              <a:ext uri="{FF2B5EF4-FFF2-40B4-BE49-F238E27FC236}">
                <a16:creationId xmlns:a16="http://schemas.microsoft.com/office/drawing/2014/main" id="{300F9B10-87A9-44F1-A7FD-E55CB172AA3A}"/>
              </a:ext>
            </a:extLst>
          </p:cNvPr>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p:nvPr/>
        </p:nvSpPr>
        <p:spPr>
          <a:xfrm>
            <a:off x="4139999" y="3780000"/>
            <a:ext cx="3239999"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gleiche</a:t>
            </a:r>
            <a:r>
              <a:rPr sz="1425" b="0" dirty="0">
                <a:solidFill>
                  <a:srgbClr val="2D3F4B"/>
                </a:solidFill>
                <a:latin typeface="Arial"/>
                <a:ea typeface="Arial"/>
                <a:cs typeface="Arial"/>
              </a:rPr>
              <a:t> Frage </a:t>
            </a:r>
            <a:r>
              <a:rPr sz="1425" b="0" dirty="0" err="1">
                <a:solidFill>
                  <a:srgbClr val="2D3F4B"/>
                </a:solidFill>
                <a:latin typeface="Arial"/>
                <a:ea typeface="Arial"/>
                <a:cs typeface="Arial"/>
              </a:rPr>
              <a:t>verwenden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a:t>
            </a:r>
            <a:r>
              <a:rPr sz="1425" b="0" dirty="0" err="1">
                <a:solidFill>
                  <a:srgbClr val="2D3F4B"/>
                </a:solidFill>
                <a:latin typeface="Arial"/>
                <a:ea typeface="Arial"/>
                <a:cs typeface="Arial"/>
              </a:rPr>
              <a:t>Rerank</a:t>
            </a:r>
            <a:r>
              <a:rPr sz="1425" b="0" dirty="0">
                <a:solidFill>
                  <a:srgbClr val="2D3F4B"/>
                </a:solidFill>
                <a:latin typeface="Arial"/>
                <a:ea typeface="Arial"/>
                <a:cs typeface="Arial"/>
              </a:rPr>
              <a:t>-Rang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Recall-</a:t>
            </a:r>
            <a:r>
              <a:rPr sz="1425" b="0" dirty="0" err="1">
                <a:solidFill>
                  <a:srgbClr val="2D3F4B"/>
                </a:solidFill>
                <a:latin typeface="Arial"/>
                <a:ea typeface="Arial"/>
                <a:cs typeface="Arial"/>
              </a:rPr>
              <a:t>Grenze</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9" name="group-C">
            <a:extLst>
              <a:ext uri="{FF2B5EF4-FFF2-40B4-BE49-F238E27FC236}">
                <a16:creationId xmlns:a16="http://schemas.microsoft.com/office/drawing/2014/main" id="{4BF2D0CF-269B-4C1A-A991-8138B0BD86DE}"/>
              </a:ext>
            </a:extLst>
          </p:cNvPr>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p:nvPr/>
        </p:nvSpPr>
        <p:spPr>
          <a:xfrm>
            <a:off x="7739998" y="3780000"/>
            <a:ext cx="3240000"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Referenzfrage</a:t>
            </a:r>
            <a:r>
              <a:rPr sz="1425" b="0" dirty="0">
                <a:solidFill>
                  <a:srgbClr val="2D3F4B"/>
                </a:solidFill>
                <a:latin typeface="Arial"/>
                <a:ea typeface="Arial"/>
                <a:cs typeface="Arial"/>
              </a:rPr>
              <a:t> </a:t>
            </a:r>
            <a:r>
              <a:rPr sz="1425" b="0" dirty="0" err="1">
                <a:solidFill>
                  <a:srgbClr val="2D3F4B"/>
                </a:solidFill>
                <a:latin typeface="Arial"/>
                <a:ea typeface="Arial"/>
                <a:cs typeface="Arial"/>
              </a:rPr>
              <a:t>testen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Graph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Token-Trade-off </a:t>
            </a:r>
            <a:r>
              <a:rPr sz="1425" b="0" dirty="0" err="1">
                <a:solidFill>
                  <a:srgbClr val="2D3F4B"/>
                </a:solidFill>
                <a:latin typeface="Arial"/>
                <a:ea typeface="Arial"/>
                <a:cs typeface="Arial"/>
              </a:rPr>
              <a:t>erklären</a:t>
            </a:r>
            <a:endParaRPr sz="1425" b="0" dirty="0">
              <a:solidFill>
                <a:srgbClr val="2D3F4B"/>
              </a:solidFill>
              <a:latin typeface="Arial"/>
              <a:ea typeface="Arial"/>
              <a:cs typeface="Arial"/>
            </a:endParaRPr>
          </a:p>
        </p:txBody>
      </p:sp>
      <p:sp>
        <p:nvSpPr>
          <p:cNvPr id="25" name="group-output">
            <a:extLst>
              <a:ext uri="{FF2B5EF4-FFF2-40B4-BE49-F238E27FC236}">
                <a16:creationId xmlns:a16="http://schemas.microsoft.com/office/drawing/2014/main" id="{52A6162D-5932-436E-A042-07A49271FBD3}"/>
              </a:ext>
            </a:extLst>
          </p:cNvPr>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nchor="ctr" anchorCtr="1"/>
          <a:lstStyle/>
          <a:p>
            <a:r>
              <a:rPr lang="de-DE" b="1" dirty="0">
                <a:solidFill>
                  <a:srgbClr val="FFFFFF"/>
                </a:solidFil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p:nvPr/>
        </p:nvSpPr>
        <p:spPr>
          <a:xfrm>
            <a:off x="1800001" y="5533350"/>
            <a:ext cx="8191500" cy="719999"/>
          </a:xfrm>
          <a:prstGeom prst="roundRect">
            <a:avLst>
              <a:gd name="adj" fmla="val 28571"/>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Entscheidend: Datenresidenz · Berechtigungen · </a:t>
            </a:r>
            <a:r>
              <a:rPr lang="de-DE" sz="1600" b="1" dirty="0" err="1">
                <a:solidFill>
                  <a:srgbClr val="FFFFFF"/>
                </a:solidFill>
                <a:ea typeface="Arial"/>
                <a:cs typeface="Arial"/>
              </a:rPr>
              <a:t>Observability</a:t>
            </a:r>
            <a:r>
              <a:rPr lang="de-DE" sz="1600" b="1" dirty="0">
                <a:solidFill>
                  <a:srgbClr val="FFFFFF"/>
                </a:solidFill>
                <a:ea typeface="Arial"/>
                <a:cs typeface="Arial"/>
              </a:rPr>
              <a:t> · Lock-in</a:t>
            </a:r>
          </a:p>
        </p:txBody>
      </p:sp>
    </p:spTree>
    <p:extLst>
      <p:ext uri="{BB962C8B-B14F-4D97-AF65-F5344CB8AC3E}">
        <p14:creationId xmlns:p14="http://schemas.microsoft.com/office/powerpoint/2010/main" val="11416475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grpSp>
        <p:nvGrpSpPr>
          <p:cNvPr id="2" name="Gruppieren 1">
            <a:extLst>
              <a:ext uri="{FF2B5EF4-FFF2-40B4-BE49-F238E27FC236}">
                <a16:creationId xmlns:a16="http://schemas.microsoft.com/office/drawing/2014/main" id="{53B90B8E-45DE-9CFD-5FCF-78CD43ED40F5}"/>
              </a:ext>
            </a:extLst>
          </p:cNvPr>
          <p:cNvGrpSpPr/>
          <p:nvPr/>
        </p:nvGrpSpPr>
        <p:grpSpPr>
          <a:xfrm>
            <a:off x="900000" y="2159999"/>
            <a:ext cx="10260000" cy="720000"/>
            <a:chOff x="900000" y="2159999"/>
            <a:chExt cx="10260000" cy="720000"/>
          </a:xfrm>
        </p:grpSpPr>
        <p:sp>
          <p:nvSpPr>
            <p:cNvPr id="7" name="principle-01">
              <a:extLst>
                <a:ext uri="{FF2B5EF4-FFF2-40B4-BE49-F238E27FC236}">
                  <a16:creationId xmlns:a16="http://schemas.microsoft.com/office/drawing/2014/main" id="{3EED0ECA-81FE-4E51-99F3-B997FDAEEA1E}"/>
                </a:ext>
              </a:extLst>
            </p:cNvPr>
            <p:cNvSpPr/>
            <p:nvPr/>
          </p:nvSpPr>
          <p:spPr>
            <a:xfrm>
              <a:off x="900000" y="2159999"/>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p:nvPr/>
          </p:nvSpPr>
          <p:spPr>
            <a:xfrm>
              <a:off x="1800000" y="2249999"/>
              <a:ext cx="3429000" cy="540000"/>
            </a:xfrm>
            <a:prstGeom prst="rect">
              <a:avLst/>
            </a:prstGeom>
            <a:noFill/>
            <a:ln w="0">
              <a:noFill/>
              <a:prstDash val="solid"/>
            </a:ln>
          </p:spPr>
          <p:txBody>
            <a:bodyPr anchor="ctr"/>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p:nvPr/>
          </p:nvSpPr>
          <p:spPr>
            <a:xfrm>
              <a:off x="5400000" y="2249999"/>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grpSp>
      <p:sp>
        <p:nvSpPr>
          <p:cNvPr id="10" name="principle-01-rule">
            <a:extLst>
              <a:ext uri="{FF2B5EF4-FFF2-40B4-BE49-F238E27FC236}">
                <a16:creationId xmlns:a16="http://schemas.microsoft.com/office/drawing/2014/main" id="{7B19927C-95BE-44B9-8D53-780E0D4D9AC6}"/>
              </a:ext>
            </a:extLst>
          </p:cNvPr>
          <p:cNvSpPr/>
          <p:nvPr/>
        </p:nvSpPr>
        <p:spPr>
          <a:xfrm>
            <a:off x="1800000" y="3059999"/>
            <a:ext cx="9286875" cy="0"/>
          </a:xfrm>
          <a:prstGeom prst="line">
            <a:avLst/>
          </a:prstGeom>
          <a:ln w="11430">
            <a:solidFill>
              <a:srgbClr val="C3BBB2"/>
            </a:solidFill>
            <a:prstDash val="solid"/>
          </a:ln>
        </p:spPr>
        <p:txBody>
          <a:bodyPr anchor="ctr"/>
          <a:lstStyle/>
          <a:p>
            <a:endParaRPr lang="de-DE" noProof="0" dirty="0"/>
          </a:p>
        </p:txBody>
      </p:sp>
      <p:grpSp>
        <p:nvGrpSpPr>
          <p:cNvPr id="22" name="Gruppieren 21">
            <a:extLst>
              <a:ext uri="{FF2B5EF4-FFF2-40B4-BE49-F238E27FC236}">
                <a16:creationId xmlns:a16="http://schemas.microsoft.com/office/drawing/2014/main" id="{031BB3C6-350F-3635-53C2-692F2B0AF8C4}"/>
              </a:ext>
            </a:extLst>
          </p:cNvPr>
          <p:cNvGrpSpPr/>
          <p:nvPr/>
        </p:nvGrpSpPr>
        <p:grpSpPr>
          <a:xfrm>
            <a:off x="900000" y="3239999"/>
            <a:ext cx="10260000" cy="720000"/>
            <a:chOff x="900000" y="3300000"/>
            <a:chExt cx="10260000" cy="720000"/>
          </a:xfrm>
        </p:grpSpPr>
        <p:sp>
          <p:nvSpPr>
            <p:cNvPr id="11" name="principle-02">
              <a:extLst>
                <a:ext uri="{FF2B5EF4-FFF2-40B4-BE49-F238E27FC236}">
                  <a16:creationId xmlns:a16="http://schemas.microsoft.com/office/drawing/2014/main" id="{D9957B7D-2649-421E-B490-97CC2C34C027}"/>
                </a:ext>
              </a:extLst>
            </p:cNvPr>
            <p:cNvSpPr/>
            <p:nvPr/>
          </p:nvSpPr>
          <p:spPr>
            <a:xfrm>
              <a:off x="900000" y="330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p:nvPr/>
          </p:nvSpPr>
          <p:spPr>
            <a:xfrm>
              <a:off x="1800000" y="3318077"/>
              <a:ext cx="3429000" cy="683846"/>
            </a:xfrm>
            <a:prstGeom prst="rect">
              <a:avLst/>
            </a:prstGeom>
            <a:noFill/>
            <a:ln w="0">
              <a:noFill/>
              <a:prstDash val="solid"/>
            </a:ln>
          </p:spPr>
          <p:txBody>
            <a:bodyPr anchor="ctr"/>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p:nvPr/>
          </p:nvSpPr>
          <p:spPr>
            <a:xfrm>
              <a:off x="5400000" y="3318075"/>
              <a:ext cx="5760000" cy="6838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grpSp>
      <p:sp>
        <p:nvSpPr>
          <p:cNvPr id="14" name="principle-02-rule">
            <a:extLst>
              <a:ext uri="{FF2B5EF4-FFF2-40B4-BE49-F238E27FC236}">
                <a16:creationId xmlns:a16="http://schemas.microsoft.com/office/drawing/2014/main" id="{E4AB6B7C-6D4F-472D-9948-E031B026F578}"/>
              </a:ext>
            </a:extLst>
          </p:cNvPr>
          <p:cNvSpPr/>
          <p:nvPr/>
        </p:nvSpPr>
        <p:spPr>
          <a:xfrm>
            <a:off x="1800000" y="4139999"/>
            <a:ext cx="9286875" cy="0"/>
          </a:xfrm>
          <a:prstGeom prst="line">
            <a:avLst/>
          </a:prstGeom>
          <a:ln w="11430">
            <a:solidFill>
              <a:srgbClr val="C3BBB2"/>
            </a:solidFill>
            <a:prstDash val="solid"/>
          </a:ln>
        </p:spPr>
        <p:txBody>
          <a:bodyPr/>
          <a:lstStyle/>
          <a:p>
            <a:endParaRPr lang="de-DE" noProof="0" dirty="0"/>
          </a:p>
        </p:txBody>
      </p:sp>
      <p:grpSp>
        <p:nvGrpSpPr>
          <p:cNvPr id="21" name="Gruppieren 20">
            <a:extLst>
              <a:ext uri="{FF2B5EF4-FFF2-40B4-BE49-F238E27FC236}">
                <a16:creationId xmlns:a16="http://schemas.microsoft.com/office/drawing/2014/main" id="{38CEBDCC-5FFD-9EA2-124D-8B18895F8577}"/>
              </a:ext>
            </a:extLst>
          </p:cNvPr>
          <p:cNvGrpSpPr/>
          <p:nvPr/>
        </p:nvGrpSpPr>
        <p:grpSpPr>
          <a:xfrm>
            <a:off x="900000" y="4319999"/>
            <a:ext cx="10260000" cy="720001"/>
            <a:chOff x="900000" y="4319999"/>
            <a:chExt cx="10260000" cy="720001"/>
          </a:xfrm>
        </p:grpSpPr>
        <p:sp>
          <p:nvSpPr>
            <p:cNvPr id="15" name="principle-03">
              <a:extLst>
                <a:ext uri="{FF2B5EF4-FFF2-40B4-BE49-F238E27FC236}">
                  <a16:creationId xmlns:a16="http://schemas.microsoft.com/office/drawing/2014/main" id="{7AA5CCBE-8DB4-4B54-8173-B99501498DBB}"/>
                </a:ext>
              </a:extLst>
            </p:cNvPr>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p:nvPr/>
          </p:nvSpPr>
          <p:spPr>
            <a:xfrm>
              <a:off x="1800000" y="4319999"/>
              <a:ext cx="3429000" cy="683850"/>
            </a:xfrm>
            <a:prstGeom prst="rect">
              <a:avLst/>
            </a:prstGeom>
            <a:noFill/>
            <a:ln w="0">
              <a:noFill/>
              <a:prstDash val="solid"/>
            </a:ln>
          </p:spPr>
          <p:txBody>
            <a:bodyPr anchor="ctr"/>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a:t>
              </a:r>
              <a:r>
                <a:rPr lang="de-DE" sz="1875" b="1" noProof="0" dirty="0" err="1">
                  <a:solidFill>
                    <a:srgbClr val="C9960F"/>
                  </a:solidFill>
                  <a:latin typeface="Arial"/>
                  <a:ea typeface="Arial"/>
                  <a:cs typeface="Arial"/>
                </a:rPr>
                <a:t>Plausibilität</a:t>
              </a:r>
              <a:endParaRPr lang="de-DE" sz="1875" b="1" noProof="0" dirty="0">
                <a:solidFill>
                  <a:srgbClr val="C9960F"/>
                </a:solidFill>
                <a:latin typeface="Arial"/>
                <a:ea typeface="Arial"/>
                <a:cs typeface="Arial"/>
              </a:endParaRPr>
            </a:p>
          </p:txBody>
        </p:sp>
        <p:sp>
          <p:nvSpPr>
            <p:cNvPr id="17" name="principle-03-copy">
              <a:extLst>
                <a:ext uri="{FF2B5EF4-FFF2-40B4-BE49-F238E27FC236}">
                  <a16:creationId xmlns:a16="http://schemas.microsoft.com/office/drawing/2014/main" id="{04C09685-628F-4B34-8B46-295A5FC0DA6F}"/>
                </a:ext>
              </a:extLst>
            </p:cNvPr>
            <p:cNvSpPr/>
            <p:nvPr/>
          </p:nvSpPr>
          <p:spPr>
            <a:xfrm>
              <a:off x="5400000" y="4320004"/>
              <a:ext cx="5760000" cy="683841"/>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grpSp>
      <p:sp>
        <p:nvSpPr>
          <p:cNvPr id="18" name="final-path">
            <a:extLst>
              <a:ext uri="{FF2B5EF4-FFF2-40B4-BE49-F238E27FC236}">
                <a16:creationId xmlns:a16="http://schemas.microsoft.com/office/drawing/2014/main" id="{C394096E-41A1-4874-9DD0-A5B4CEA9B520}"/>
              </a:ext>
            </a:extLst>
          </p:cNvPr>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nchor="ctr"/>
          <a:lstStyle/>
          <a:p>
            <a:pPr algn="ctr"/>
            <a:r>
              <a:rPr lang="de-DE" b="1" dirty="0">
                <a:solidFill>
                  <a:srgbClr val="FFFFFF"/>
                </a:solidFil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500"/>
                                        <p:tgtEl>
                                          <p:spTgt spid="10"/>
                                        </p:tgtEl>
                                      </p:cBhvr>
                                    </p:animEffect>
                                  </p:childTnLst>
                                </p:cTn>
                              </p:par>
                              <p:par>
                                <p:cTn id="13" presetID="22" presetClass="entr" presetSubtype="1" fill="hold" nodeType="with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up)">
                                      <p:cBhvr>
                                        <p:cTn id="15" dur="500"/>
                                        <p:tgtEl>
                                          <p:spTgt spid="22"/>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wipe(up)">
                                      <p:cBhvr>
                                        <p:cTn id="20" dur="500"/>
                                        <p:tgtEl>
                                          <p:spTgt spid="14"/>
                                        </p:tgtEl>
                                      </p:cBhvr>
                                    </p:animEffect>
                                  </p:childTnLst>
                                </p:cTn>
                              </p:par>
                              <p:par>
                                <p:cTn id="21" presetID="22" presetClass="entr" presetSubtype="1"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wipe(up)">
                                      <p:cBhvr>
                                        <p:cTn id="23" dur="500"/>
                                        <p:tgtEl>
                                          <p:spTgt spid="21"/>
                                        </p:tgtEl>
                                      </p:cBhvr>
                                    </p:animEffec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4" grpId="0" animBg="1"/>
      <p:bldP spid="1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20.08.2026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28</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2.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4289</Words>
  <Application>Microsoft Office PowerPoint</Application>
  <PresentationFormat>Breitbild</PresentationFormat>
  <Paragraphs>696</Paragraphs>
  <Slides>28</Slides>
  <Notes>21</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28</vt:i4>
      </vt:variant>
    </vt:vector>
  </HeadingPairs>
  <TitlesOfParts>
    <vt:vector size="32" baseType="lpstr">
      <vt:lpstr>Arial</vt:lpstr>
      <vt:lpstr>Courier New</vt:lpstr>
      <vt:lpstr>AKROS</vt:lpstr>
      <vt:lpstr>think-cell Folie</vt:lpstr>
      <vt:lpstr>Retrieval-Augmented Generator (RAG)</vt:lpstr>
      <vt:lpstr>Agenda</vt:lpstr>
      <vt:lpstr>Was Ihr heute mitnehmen könnt</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Stufe 1 · Chat ohne RAG</vt:lpstr>
      <vt:lpstr>Vom Setup zur ersten belegbaren Antwort</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Hybrider GraphRAG verbindet mehrere Suchsignale</vt:lpstr>
      <vt:lpstr>Rerank &amp; GraphRAG: bester Recall</vt:lpstr>
      <vt:lpstr>Gutes Retrieval ist notwendig – aber Antwortqualität bleibt variabel</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65</cp:revision>
  <dcterms:created xsi:type="dcterms:W3CDTF">2026-08-04T12:09:36Z</dcterms:created>
  <dcterms:modified xsi:type="dcterms:W3CDTF">2026-08-20T19:08:55Z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