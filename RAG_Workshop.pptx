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2.svg" ContentType="image/svg+xml"/>
  <Override PartName="/ppt/media/image64.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9400"/>
    <a:srgbClr val="2D3F4B"/>
    <a:srgbClr val="81725E"/>
    <a:srgbClr val="C3BBB2"/>
    <a:srgbClr val="C60C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1" d="100"/>
          <a:sy n="101" d="100"/>
        </p:scale>
        <p:origin x="120" y="25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9.svg"/><Relationship Id="rId4" Type="http://schemas.openxmlformats.org/officeDocument/2006/relationships/image" Target="../media/image14.png"/><Relationship Id="rId5" Type="http://schemas.openxmlformats.org/officeDocument/2006/relationships/image" Target="../media/image47.svg"/><Relationship Id="rId6" Type="http://schemas.openxmlformats.org/officeDocument/2006/relationships/image" Target="../media/image13.png"/><Relationship Id="rId7" Type="http://schemas.openxmlformats.org/officeDocument/2006/relationships/image" Target="../media/image45.svg"/><Relationship Id="rId8" Type="http://schemas.openxmlformats.org/officeDocument/2006/relationships/image" Target="../media/image12.png"/><Relationship Id="rId9" Type="http://schemas.openxmlformats.org/officeDocument/2006/relationships/image" Target="../media/image43.svg"/><Relationship Id="rId10" Type="http://schemas.openxmlformats.org/officeDocument/2006/relationships/image" Target="../media/image11.png"/><Relationship Id="rId11" Type="http://schemas.openxmlformats.org/officeDocument/2006/relationships/image" Target="../media/image41.svg"/><Relationship Id="rId12" Type="http://schemas.openxmlformats.org/officeDocument/2006/relationships/image" Target="../media/image10.png"/><Relationship Id="rId13" Type="http://schemas.openxmlformats.org/officeDocument/2006/relationships/image" Target="../media/image39.svg"/><Relationship Id="rId14" Type="http://schemas.openxmlformats.org/officeDocument/2006/relationships/image" Target="../media/image9.png"/><Relationship Id="rId41" Type="http://schemas.openxmlformats.org/officeDocument/2006/relationships/image" Target="../media/image15.png"/><Relationship Id="rId42" Type="http://schemas.openxmlformats.org/officeDocument/2006/relationships/image" Target="../media/image52.svg"/><Relationship Id="rId43" Type="http://schemas.openxmlformats.org/officeDocument/2006/relationships/image" Target="../media/image16.png"/><Relationship Id="rId44" Type="http://schemas.openxmlformats.org/officeDocument/2006/relationships/image" Target="../media/image54.svg"/><Relationship Id="rId45" Type="http://schemas.openxmlformats.org/officeDocument/2006/relationships/image" Target="../media/image17.png"/><Relationship Id="rId46" Type="http://schemas.openxmlformats.org/officeDocument/2006/relationships/image" Target="../media/image56.svg"/><Relationship Id="rId47" Type="http://schemas.openxmlformats.org/officeDocument/2006/relationships/image" Target="../media/image18.png"/><Relationship Id="rId48" Type="http://schemas.openxmlformats.org/officeDocument/2006/relationships/image" Target="../media/image58.svg"/><Relationship Id="rId49" Type="http://schemas.openxmlformats.org/officeDocument/2006/relationships/image" Target="../media/image19.png"/><Relationship Id="rId50" Type="http://schemas.openxmlformats.org/officeDocument/2006/relationships/image" Target="../media/image60.svg"/><Relationship Id="rId51" Type="http://schemas.openxmlformats.org/officeDocument/2006/relationships/image" Target="../media/image20.png"/><Relationship Id="rId52" Type="http://schemas.openxmlformats.org/officeDocument/2006/relationships/image" Target="../media/image62.svg"/><Relationship Id="rId53" Type="http://schemas.openxmlformats.org/officeDocument/2006/relationships/image" Target="../media/image63.png"/><Relationship Id="rId54" Type="http://schemas.openxmlformats.org/officeDocument/2006/relationships/image" Target="../media/image6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3.jp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Raw Data Files</a:t>
              </a:r>
              <a:endParaRPr sz="10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4">
              <a:extLst>
                <a:ext uri="{96DAC541-7B7A-43D3-8B79-37D633B846F1}">
                  <ns0:svgBlip xmlns:ns0="http://schemas.microsoft.com/office/drawing/2016/SVG/main" r:embed="rId1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chemeClr val="accent1">
                <a:alpha val="5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Query</a:t>
              </a:r>
              <a:endParaRPr sz="10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2">
              <a:extLst>
                <a:ext uri="{96DAC541-7B7A-43D3-8B79-37D633B846F1}">
                  <ns1:svgBlip xmlns:ns1="http://schemas.microsoft.com/office/drawing/2016/SVG/main" r:embed="rId11"/>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chemeClr val="accent5">
                <a:alpha val="50000"/>
              </a:schemeClr>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Response</a:t>
              </a:r>
              <a:endParaRPr sz="10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0">
              <a:extLst>
                <a:ext uri="{96DAC541-7B7A-43D3-8B79-37D633B846F1}">
                  <ns2:svgBlip xmlns:ns2="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Information Extraction</a:t>
              </a:r>
              <a:endParaRPr sz="10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ns3:svgBlip xmlns:ns3="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1000"/>
            </a:p>
          </p:txBody>
        </p:sp>
      </p:grpSp>
      <p:grpSp>
        <p:nvGrpSpPr>
          <p:cNvPr id="50" name="Gruppieren 49">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a:solidFill>
                    <a:schemeClr val="bg2">
                      <a:lumMod val="10000"/>
                    </a:schemeClr>
                  </a:solidFill>
                </a:rPr>
                <a:t>Chunking</a:t>
              </a:r>
              <a:endParaRPr sz="10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6">
              <a:extLst>
                <a:ext uri="{96DAC541-7B7A-43D3-8B79-37D633B846F1}">
                  <ns4:svgBlip xmlns:ns4="http://schemas.microsoft.com/office/drawing/2016/SVG/main" r:embed="rId5"/>
                </a:ext>
              </a:extLst>
            </a:blip>
            <a:stretch>
              <a:fillRect/>
            </a:stretch>
          </p:blipFill>
          <p:spPr>
            <a:xfrm>
              <a:off x="1110215" y="3105504"/>
              <a:ext cx="468000" cy="468000"/>
            </a:xfrm>
            <a:prstGeom prst="rect">
              <a:avLst/>
            </a:prstGeom>
          </p:spPr>
        </p:pic>
      </p:grpSp>
      <p:grpSp>
        <p:nvGrpSpPr>
          <p:cNvPr id="151" name="Gruppe Embedding"/>
          <p:cNvGrpSpPr/>
          <p:nvPr/>
        </p:nvGrpSpPr>
        <p:grpSpPr>
          <a:xfrm>
            <a:off x="5940000" y="1454258"/>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err="1">
                  <a:solidFill>
                    <a:schemeClr val="bg2">
                      <a:lumMod val="10000"/>
                    </a:schemeClr>
                  </a:solidFill>
                </a:rPr>
                <a:t>Embeddings</a:t>
              </a:r>
              <a:endParaRPr sz="10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4">
              <a:extLst>
                <a:ext uri="{96DAC541-7B7A-43D3-8B79-37D633B846F1}">
                  <ns5:svgBlip xmlns:ns5="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Vector Database</a:t>
              </a:r>
              <a:endParaRPr sz="10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41">
              <a:extLst>
                <a:ext uri="{96DAC541-7B7A-43D3-8B79-37D633B846F1}">
                  <ns6:svgBlip xmlns:ns6="http://schemas.microsoft.com/office/drawing/2016/SVG/main" r:embed="rId4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Relevant Data</a:t>
              </a:r>
              <a:endParaRPr sz="10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43">
              <a:extLst>
                <a:ext uri="{96DAC541-7B7A-43D3-8B79-37D633B846F1}">
                  <ns7:svgBlip xmlns:ns7="http://schemas.microsoft.com/office/drawing/2016/SVG/main" r:embed="rId44"/>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45">
              <a:extLst>
                <a:ext uri="{96DAC541-7B7A-43D3-8B79-37D633B846F1}">
                  <ns8:svgBlip xmlns:ns8="http://schemas.microsoft.com/office/drawing/2016/SVG/main" r:embed="rId4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7" name="Gruppieren 26">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LLM</a:t>
              </a:r>
              <a:endParaRPr sz="10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47">
              <a:extLst>
                <a:ext uri="{96DAC541-7B7A-43D3-8B79-37D633B846F1}">
                  <ns9:svgBlip xmlns:ns9="http://schemas.microsoft.com/office/drawing/2016/SVG/main" r:embed="rId48"/>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p:cNvCxnSpPr>
          <p:nvPr/>
        </p:nvCxnSpPr>
        <p:spPr>
          <a:xfrm flipV="1">
            <a:off x="540000" y="2313687"/>
            <a:ext cx="1777931" cy="270516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cxnSpLocks/>
            <a:stCxn id="54" idx="3"/>
          </p:cNvCxnSpPr>
          <p:nvPr/>
        </p:nvCxnSpPr>
        <p:spPr>
          <a:xfrm flipH="1">
            <a:off x="6114751" y="1888058"/>
            <a:ext cx="1265249" cy="783787"/>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385158"/>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cxnSpLocks/>
            <a:stCxn id="93" idx="1"/>
          </p:cNvCxnSpPr>
          <p:nvPr/>
        </p:nvCxnSpPr>
        <p:spPr>
          <a:xfrm flipH="1">
            <a:off x="4099016" y="1881188"/>
            <a:ext cx="3499473" cy="7797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2787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cxnSpLocks/>
            <a:stCxn id="18" idx="1"/>
          </p:cNvCxnSpPr>
          <p:nvPr/>
        </p:nvCxnSpPr>
        <p:spPr>
          <a:xfrm flipH="1">
            <a:off x="8699090" y="1883739"/>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79887"/>
            <a:ext cx="360000" cy="887"/>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340000" y="1446087"/>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45">
              <a:extLst>
                <a:ext uri="{96DAC541-7B7A-43D3-8B79-37D633B846F1}">
                  <ns10:svgBlip xmlns:ns10="http://schemas.microsoft.com/office/drawing/2016/SVG/main" r:embed="rId4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3780000" y="1879887"/>
            <a:ext cx="2160000" cy="817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endCxn id="72" idx="0"/>
          </p:cNvCxnSpPr>
          <p:nvPr/>
        </p:nvCxnSpPr>
        <p:spPr>
          <a:xfrm>
            <a:off x="6647379" y="2321858"/>
            <a:ext cx="12621"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Chunks</a:t>
              </a:r>
              <a:endParaRPr sz="10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extLst>
                <a:ext uri="{96DAC541-7B7A-43D3-8B79-37D633B846F1}">
                  <ns11:svgBlip xmlns:ns11="http://schemas.microsoft.com/office/drawing/2016/SVG/main" r:embed="rId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39" name="Gruppieren 38">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err="1">
                  <a:solidFill>
                    <a:schemeClr val="bg2">
                      <a:lumMod val="10000"/>
                    </a:schemeClr>
                  </a:solidFill>
                </a:rPr>
                <a:t>Embeddings</a:t>
              </a:r>
              <a:endParaRPr sz="10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4">
              <a:extLst>
                <a:ext uri="{96DAC541-7B7A-43D3-8B79-37D633B846F1}">
                  <ns12:svgBlip xmlns:ns12="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3" name="Gruppe Embedding LLM">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Engine</a:t>
              </a:r>
              <a:endParaRPr sz="1000"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49">
              <a:extLst>
                <a:ext uri="{96DAC541-7B7A-43D3-8B79-37D633B846F1}">
                  <ns13:svgBlip xmlns:ns13="http://schemas.microsoft.com/office/drawing/2016/SVG/main" r:embed="rId5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2" name="Gruppe Vector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Database</a:t>
              </a:r>
              <a:endParaRPr sz="1000"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51">
              <a:extLst>
                <a:ext uri="{96DAC541-7B7A-43D3-8B79-37D633B846F1}">
                  <ns14:svgBlip xmlns:ns14="http://schemas.microsoft.com/office/drawing/2016/SVG/main" r:embed="rId52"/>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0" name="Gruppe Embedding LLM">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Ranking</a:t>
              </a:r>
              <a:endParaRPr sz="1000"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53">
              <a:extLst>
                <a:ext uri="{96DAC541-7B7A-43D3-8B79-37D633B846F1}">
                  <ns15:svgBlip xmlns:ns15="http://schemas.microsoft.com/office/drawing/2016/SVG/main" r:embed="rId54"/>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a:solidFill>
                <a:srgbClr val="FA940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40</cp:revision>
  <dcterms:created xsi:type="dcterms:W3CDTF">2026-08-04T12:09:36Z</dcterms:created>
  <dcterms:modified xsi:type="dcterms:W3CDTF">2026-08-07T16:52:06Z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