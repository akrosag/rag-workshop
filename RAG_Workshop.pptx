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ags/tag2.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32"/>
  </p:notesMasterIdLst>
  <p:handoutMasterIdLst>
    <p:handoutMasterId r:id="rId33"/>
  </p:handoutMasterIdLst>
  <p:sldIdLst>
    <p:sldId id="290" r:id="rId5"/>
    <p:sldId id="279" r:id="rId6"/>
    <p:sldId id="329" r:id="rId7"/>
    <p:sldId id="296" r:id="rId8"/>
    <p:sldId id="301" r:id="rId9"/>
    <p:sldId id="263" r:id="rId10"/>
    <p:sldId id="317" r:id="rId11"/>
    <p:sldId id="319" r:id="rId12"/>
    <p:sldId id="266" r:id="rId13"/>
    <p:sldId id="307" r:id="rId14"/>
    <p:sldId id="323" r:id="rId15"/>
    <p:sldId id="322" r:id="rId16"/>
    <p:sldId id="324" r:id="rId17"/>
    <p:sldId id="325" r:id="rId18"/>
    <p:sldId id="308" r:id="rId19"/>
    <p:sldId id="326" r:id="rId20"/>
    <p:sldId id="256" r:id="rId21"/>
    <p:sldId id="313" r:id="rId22"/>
    <p:sldId id="327" r:id="rId23"/>
    <p:sldId id="320" r:id="rId24"/>
    <p:sldId id="328" r:id="rId25"/>
    <p:sldId id="271" r:id="rId26"/>
    <p:sldId id="272" r:id="rId27"/>
    <p:sldId id="274" r:id="rId28"/>
    <p:sldId id="275" r:id="rId29"/>
    <p:sldId id="276" r:id="rId30"/>
    <p:sldId id="295" r:id="rId31"/>
  </p:sldIdLst>
  <p:sldSz cx="12192000" cy="6858000"/>
  <p:notesSz cx="6858000" cy="9144000"/>
  <p:custDataLst>
    <p:tags r:id="rId34"/>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tandardabschnitt" id="{6CF0866B-2EFC-4CA7-8393-D6AFEE97856F}">
          <p14:sldIdLst>
            <p14:sldId id="290"/>
            <p14:sldId id="279"/>
            <p14:sldId id="329"/>
            <p14:sldId id="296"/>
            <p14:sldId id="301"/>
            <p14:sldId id="263"/>
            <p14:sldId id="317"/>
            <p14:sldId id="319"/>
            <p14:sldId id="266"/>
            <p14:sldId id="307"/>
            <p14:sldId id="323"/>
            <p14:sldId id="322"/>
            <p14:sldId id="324"/>
            <p14:sldId id="325"/>
            <p14:sldId id="308"/>
            <p14:sldId id="326"/>
            <p14:sldId id="256"/>
            <p14:sldId id="313"/>
            <p14:sldId id="327"/>
            <p14:sldId id="320"/>
            <p14:sldId id="328"/>
            <p14:sldId id="271"/>
            <p14:sldId id="272"/>
            <p14:sldId id="274"/>
            <p14:sldId id="275"/>
            <p14:sldId id="276"/>
            <p14:sldId id="295"/>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8FCFC"/>
    <a:srgbClr val="43858A"/>
    <a:srgbClr val="C60C30"/>
    <a:srgbClr val="FA9400"/>
    <a:srgbClr val="2D3F4B"/>
    <a:srgbClr val="81725E"/>
    <a:srgbClr val="C3BBB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ittlere Formatvorlag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86331" autoAdjust="0"/>
  </p:normalViewPr>
  <p:slideViewPr>
    <p:cSldViewPr snapToGrid="0">
      <p:cViewPr varScale="1">
        <p:scale>
          <a:sx n="108" d="100"/>
          <a:sy n="108" d="100"/>
        </p:scale>
        <p:origin x="72" y="117"/>
      </p:cViewPr>
      <p:guideLst/>
    </p:cSldViewPr>
  </p:slid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121" d="100"/>
          <a:sy n="121" d="100"/>
        </p:scale>
        <p:origin x="6270" y="90"/>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21" Type="http://schemas.openxmlformats.org/officeDocument/2006/relationships/slide" Target="slides/slide17.xml"/><Relationship Id="rId34" Type="http://schemas.openxmlformats.org/officeDocument/2006/relationships/tags" Target="tags/tag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handoutMaster" Target="handoutMasters/handoutMaster1.xml"/><Relationship Id="rId38"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notesMaster" Target="notesMasters/notesMaster1.xml"/><Relationship Id="rId37"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presProps" Target="presProps.xml"/><Relationship Id="rId8" Type="http://schemas.openxmlformats.org/officeDocument/2006/relationships/slide" Target="slides/slide4.xml"/><Relationship Id="rId3"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a:extLst>
              <a:ext uri="{FF2B5EF4-FFF2-40B4-BE49-F238E27FC236}">
                <a16:creationId xmlns:a16="http://schemas.microsoft.com/office/drawing/2014/main" id="{306A69B8-F8BF-45E8-8E26-C1AD319FAF0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sz="1000"/>
          </a:p>
        </p:txBody>
      </p:sp>
      <p:sp>
        <p:nvSpPr>
          <p:cNvPr id="3" name="Datumsplatzhalter 2">
            <a:extLst>
              <a:ext uri="{FF2B5EF4-FFF2-40B4-BE49-F238E27FC236}">
                <a16:creationId xmlns:a16="http://schemas.microsoft.com/office/drawing/2014/main" id="{D9C8C891-3080-4C4A-9398-0E083D417F3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2E8011C-FE86-4EBC-8644-A1C19BB3B3D0}" type="datetimeFigureOut">
              <a:rPr lang="de-DE" sz="1000" smtClean="0"/>
              <a:t>13.08.2026</a:t>
            </a:fld>
            <a:endParaRPr lang="de-DE" sz="1000"/>
          </a:p>
        </p:txBody>
      </p:sp>
      <p:sp>
        <p:nvSpPr>
          <p:cNvPr id="4" name="Fußzeilenplatzhalter 3">
            <a:extLst>
              <a:ext uri="{FF2B5EF4-FFF2-40B4-BE49-F238E27FC236}">
                <a16:creationId xmlns:a16="http://schemas.microsoft.com/office/drawing/2014/main" id="{637B172A-3C37-4057-ACE2-175B96FA972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sz="1000"/>
          </a:p>
        </p:txBody>
      </p:sp>
      <p:sp>
        <p:nvSpPr>
          <p:cNvPr id="5" name="Foliennummernplatzhalter 4">
            <a:extLst>
              <a:ext uri="{FF2B5EF4-FFF2-40B4-BE49-F238E27FC236}">
                <a16:creationId xmlns:a16="http://schemas.microsoft.com/office/drawing/2014/main" id="{0B066941-C97F-43D0-BDF7-53041F85589E}"/>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40CC31A-7437-4AD4-BE25-A3E9DE772000}" type="slidenum">
              <a:rPr lang="de-DE" sz="1000" smtClean="0"/>
              <a:t>‹Nr.›</a:t>
            </a:fld>
            <a:endParaRPr lang="de-DE" sz="1000"/>
          </a:p>
        </p:txBody>
      </p:sp>
    </p:spTree>
    <p:extLst>
      <p:ext uri="{BB962C8B-B14F-4D97-AF65-F5344CB8AC3E}">
        <p14:creationId xmlns:p14="http://schemas.microsoft.com/office/powerpoint/2010/main" val="32502882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0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000"/>
            </a:lvl1pPr>
          </a:lstStyle>
          <a:p>
            <a:fld id="{ADD5FE3D-F70B-4796-8811-3B9EE273F98E}" type="datetimeFigureOut">
              <a:rPr lang="de-DE" smtClean="0"/>
              <a:pPr/>
              <a:t>13.08.2026</a:t>
            </a:fld>
            <a:endParaRPr lang="de-DE" dirty="0"/>
          </a:p>
        </p:txBody>
      </p:sp>
      <p:sp>
        <p:nvSpPr>
          <p:cNvPr id="4" name="Folienbildplatzhalter 3"/>
          <p:cNvSpPr>
            <a:spLocks noGrp="1" noRot="1" noChangeAspect="1"/>
          </p:cNvSpPr>
          <p:nvPr>
            <p:ph type="sldImg" idx="2"/>
          </p:nvPr>
        </p:nvSpPr>
        <p:spPr>
          <a:xfrm>
            <a:off x="1079938" y="616828"/>
            <a:ext cx="4698124" cy="2642694"/>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204952" y="3417562"/>
            <a:ext cx="6448096" cy="5109610"/>
          </a:xfrm>
          <a:prstGeom prst="rect">
            <a:avLst/>
          </a:prstGeom>
        </p:spPr>
        <p:txBody>
          <a:bodyPr vert="horz" lIns="0" tIns="0" rIns="0" bIns="0" rtlCol="0"/>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0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000"/>
            </a:lvl1pPr>
          </a:lstStyle>
          <a:p>
            <a:fld id="{042C5124-4C40-4574-A599-2A4750070F64}" type="slidenum">
              <a:rPr lang="de-DE" smtClean="0"/>
              <a:pPr/>
              <a:t>‹Nr.›</a:t>
            </a:fld>
            <a:endParaRPr lang="de-DE"/>
          </a:p>
        </p:txBody>
      </p:sp>
    </p:spTree>
    <p:extLst>
      <p:ext uri="{BB962C8B-B14F-4D97-AF65-F5344CB8AC3E}">
        <p14:creationId xmlns:p14="http://schemas.microsoft.com/office/powerpoint/2010/main" val="555562043"/>
      </p:ext>
    </p:extLst>
  </p:cSld>
  <p:clrMap bg1="lt1" tx1="dk1" bg2="lt2" tx2="dk2" accent1="accent1" accent2="accent2" accent3="accent3" accent4="accent4" accent5="accent5" accent6="accent6" hlink="hlink" folHlink="folHlink"/>
  <p:notesStyle>
    <a:lvl1pPr marL="216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1pPr>
    <a:lvl2pPr marL="432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2pPr>
    <a:lvl3pPr marL="648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3pPr>
    <a:lvl4pPr marL="864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4pPr>
    <a:lvl5pPr marL="1080000" indent="-216000" algn="l" defTabSz="914400" rtl="0" eaLnBrk="1" latinLnBrk="0" hangingPunct="1">
      <a:spcAft>
        <a:spcPts val="1000"/>
      </a:spcAft>
      <a:buFont typeface="Arial" panose="020B0604020202020204" pitchFamily="34" charset="0"/>
      <a:buChar char="•"/>
      <a:defRPr sz="18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Heute bauen wir nicht nur einen Chatbot, sondern verstehen die Mechanik eines belastbaren RAG-Systems.</a:t>
            </a:r>
          </a:p>
          <a:p>
            <a:endParaRPr/>
          </a:p>
          <a:p>
            <a:r>
              <a:t>Sprechtext: Willkommen zum RAG-Workshop. Als durchgängiges Beispiel verwenden wir Schweizer Gesetzestexte. Dadurch können wir sehr konkret prüfen, ob ein System den richtigen Erlass und den richtigen Artikel findet, ob es Quellen nennt und wie viel Kontext es dafür benötigt. Am Ende sollt ihr die wichtigsten Qualitätshebel – Chunking, Retrieval, Reranking und Evaluation – bewusst auswählen können.</a:t>
            </a:r>
          </a:p>
          <a:p>
            <a:endParaRPr/>
          </a:p>
          <a:p>
            <a:r>
              <a:t>Wichtig: Die Demo erklärt technische Konzepte und ist keine Rechtsberatung.</a:t>
            </a:r>
          </a:p>
          <a:p>
            <a:endParaRPr/>
          </a:p>
          <a:p>
            <a:r>
              <a:t>Übergang: Schauen wir zuerst auf den Ablauf und das Ziel der kommenden 90 Minuten.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Kernbotschaft: Wir entwickeln die Lösung schrittweise und messen nach jeder Verbesserung erneut.</a:t>
            </a:r>
          </a:p>
          <a:p>
            <a:endParaRPr/>
          </a:p>
          <a:p>
            <a:r>
              <a:t>Sprechtext: Zuerst klären wir, welches Problem RAG löst. Danach bauen wir eine einfache Pipeline, verbessern das Chunking, ergänzen Reranking und schließlich GraphRAG. Die Evaluation läuft nicht nur am Ende: Sie begleitet jede Stufe, damit wir sehen, welche Änderung tatsächlich einen messbaren Effekt hat.</a:t>
            </a:r>
          </a:p>
          <a:p>
            <a:endParaRPr/>
          </a:p>
          <a:p>
            <a:r>
              <a:t>Publikumsfrage: Wer hat bereits selbst ein RAG-System gebaut oder eine Vektordatenbank verwendet?</a:t>
            </a:r>
          </a:p>
          <a:p>
            <a:endParaRPr/>
          </a:p>
          <a:p>
            <a:r>
              <a:t>Übergang: Bevor wir RAG definieren, schauen wir auf die Grenzen eines reinen LLMs.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RAG ist eine Methode, dem Modell zur Laufzeit gezielt externes Wissen bereitzustellen.</a:t>
            </a:r>
          </a:p>
          <a:p>
            <a:endParaRPr/>
          </a:p>
          <a:p>
            <a:r>
              <a:t>Sprechtext: In diesem Abschnitt geht es zunächst um das Warum. Wir trennen dabei zwei Dinge: Das Sprachmodell formuliert die Antwort; das Retrieval entscheidet, welche Informationen es dafür überhaupt sieht.</a:t>
            </a:r>
          </a:p>
          <a:p>
            <a:endParaRPr/>
          </a:p>
          <a:p>
            <a:r>
              <a:t>Publikumsfrage: Was fehlt einem reinen LLM, wenn wir eine aktuelle oder intern belegbare Antwort erwarten?</a:t>
            </a:r>
          </a:p>
          <a:p>
            <a:endParaRPr/>
          </a:p>
          <a:p>
            <a:r>
              <a:t>Übergang: Drei typische blinde Flecken machen dieses Problem sichtbar.</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reines LLM kennt nicht automatisch unsere aktuellen Daten, liefert keine verlässlichen Belege und kann nicht beliebig viel Kontext effizient verarbeiten.</a:t>
            </a:r>
          </a:p>
          <a:p>
            <a:endParaRPr/>
          </a:p>
          <a:p>
            <a:r>
              <a:t>Sprechtext: Erstens endet das Wissen des Modells an seinen Trainingsdaten und umfasst keine vertraulichen Firmendokumente. Zweitens kann eine plausible Antwort sprachlich überzeugend, aber sachlich falsch oder nicht nachvollziehbar sein. Drittens ist „alles in den Prompt legen“ teuer und erzeugt Rauschen: Mehr Kontext ist nicht automatisch besserer Kontext.</a:t>
            </a:r>
          </a:p>
          <a:p>
            <a:endParaRPr/>
          </a:p>
          <a:p>
            <a:r>
              <a:t>RAG macht das Modell nicht intelligenter. RAG steuert, welche Evidenz das Modell für eine konkrete Frage erhält.</a:t>
            </a:r>
          </a:p>
          <a:p>
            <a:endParaRPr/>
          </a:p>
          <a:p>
            <a:r>
              <a:t>Übergang: Diese Steuerung kann man als drei grundlegende Kontextoperationen verstehen.</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LLM-Anwendungen erweitern, verdichten oder übersetzen Kontext – RAG ist besonders stark beim gezielten Verdichten.</a:t>
            </a:r>
          </a:p>
          <a:p>
            <a:endParaRPr/>
          </a:p>
          <a:p>
            <a:r>
              <a:t>Sprechtext: Expansion bedeutet, aus einer kurzen Eingabe umfangreichen Output zu erzeugen. Kompression bedeutet, aus vielen möglichen Informationen nur die relevanten Belege in den Prompt zu nehmen. Translation meint die Umwandlung zwischen Repräsentationen, etwa Text zu Embeddings oder Dokumente zu strukturierten Metadaten. Unsere RAG-Pipeline kombiniert alle drei, aber ihr eigentlicher Nutzen liegt in der kontrollierten Auswahl von Kontext.</a:t>
            </a:r>
          </a:p>
          <a:p>
            <a:endParaRPr/>
          </a:p>
          <a:p>
            <a:r>
              <a:t>Publikumsfrage: Welche dieser Operationen ist bei einer Frage wie „Was steht in Art. 1 OR?“ am wichtigsten?</a:t>
            </a:r>
          </a:p>
          <a:p>
            <a:endParaRPr/>
          </a:p>
          <a:p>
            <a:r>
              <a:t>Übergang: RAG ist damit ein Teilgebiet von Context Engineering – aber nicht die einzige Variante.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D76D84-ECD5-F1BE-9C42-65ABF6B80E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067005-E004-5FF5-8CCF-35C3192F10CA}"/>
              </a:ext>
            </a:extLst>
          </p:cNvPr>
          <p:cNvSpPr>
            <a:spLocks noGrp="1" noRot="1" noChangeAspect="1"/>
          </p:cNvSpPr>
          <p:nvPr>
            <p:ph type="sldImg"/>
          </p:nvPr>
        </p:nvSpPr>
        <p:spPr>
          <a:xfrm>
            <a:off x="1081088" y="617538"/>
            <a:ext cx="4695825" cy="2641600"/>
          </a:xfrm>
        </p:spPr>
      </p:sp>
      <p:sp>
        <p:nvSpPr>
          <p:cNvPr id="3" name="Notes Placeholder 2">
            <a:extLst>
              <a:ext uri="{FF2B5EF4-FFF2-40B4-BE49-F238E27FC236}">
                <a16:creationId xmlns:a16="http://schemas.microsoft.com/office/drawing/2014/main" id="{8525DEA0-FB50-0FB1-BD8F-3CC6A173B32B}"/>
              </a:ext>
            </a:extLst>
          </p:cNvPr>
          <p:cNvSpPr>
            <a:spLocks noGrp="1"/>
          </p:cNvSpPr>
          <p:nvPr>
            <p:ph type="body" idx="1"/>
          </p:nvPr>
        </p:nvSpPr>
        <p:spPr/>
        <p:txBody>
          <a:bodyPr/>
          <a:lstStyle/>
          <a:p>
            <a:r>
              <a:t>Kernbotschaft: RAG, MCP, Skills und große Kontextfenster lösen unterschiedliche Aufgaben im Context Engineering.</a:t>
            </a:r>
          </a:p>
          <a:p>
            <a:endParaRPr/>
          </a:p>
          <a:p>
            <a:r>
              <a:t>Sprechtext: RAG ruft relevante Dokument-Chunks bei Bedarf ab. MCP macht Datenquellen oder Aktionen über standardisierte Connectoren verfügbar. Skills bündeln spezialisierte Anweisungen und Arbeitsabläufe, die nur bei Bedarf geladen werden. Ein großes Kontextfenster kann viel Material direkt aufnehmen, ist aber häufig die teuerste und unpräziseste Brute-Force-Variante.</a:t>
            </a:r>
          </a:p>
          <a:p>
            <a:endParaRPr/>
          </a:p>
          <a:p>
            <a:r>
              <a:t>Wichtig: Ein Skill ist nicht einfach eine Wissensdatenbank. Er beschreibt vor allem, wie eine Aufgabe ausgeführt werden soll; RAG liefert dagegen die konkreten Dokumentinhalte.</a:t>
            </a:r>
          </a:p>
          <a:p>
            <a:endParaRPr/>
          </a:p>
          <a:p>
            <a:r>
              <a:t>Übergang: Auf der nächsten Folie trennen wir noch genauer zwischen Anweisung und bereitgestelltem Kontext.</a:t>
            </a:r>
          </a:p>
          <a:p>
            <a:endParaRPr/>
          </a:p>
          <a:p>
            <a:r>
              <a:t>Kernbotschaft: Der Systemprompt greift nicht selbst auf Dokumente zu – er legt Regeln fest, nach denen das Modell den bereitgestellten Kontext verwendet.</a:t>
            </a:r>
          </a:p>
          <a:p>
            <a:endParaRPr/>
          </a:p>
          <a:p>
            <a:r>
              <a:t>Sprechtext: Diese Folie eignet sich als Publikumsfrage: „Worauf greift der Systemprompt zu?“ Die präzise Antwort lautet: Er greift nicht aktiv zu. Der Systemprompt ist eine Anweisung, zum Beispiel „Antworte nur anhand des Kontexts und nenne Quellen“. Erst die Anwendung beziehungsweise das Retrieval lädt passende Gesetzes-Chunks und fügt sie als Kontext in den Modellaufruf ein.</a:t>
            </a:r>
          </a:p>
          <a:p>
            <a:endParaRPr/>
          </a:p>
          <a:p>
            <a:r>
              <a:t>Publikumsfrage: Was passiert, wenn der Systemprompt korrekt ist, aber Retrieval den falschen Artikel liefert?</a:t>
            </a:r>
          </a:p>
          <a:p>
            <a:endParaRPr/>
          </a:p>
          <a:p>
            <a:r>
              <a:t>Erwartete Antwort: Das Modell kann die korrekte Information nicht zuverlässig nutzen; Prompting ersetzt kein gutes Retrieval.</a:t>
            </a:r>
          </a:p>
          <a:p>
            <a:endParaRPr/>
          </a:p>
          <a:p>
            <a:r>
              <a:t>Übergang: Jetzt verfolgen wir den Datenfluss eines Vector RAGs von den Rohdaten bis zur Antwort.</a:t>
            </a:r>
          </a:p>
        </p:txBody>
      </p:sp>
      <p:sp>
        <p:nvSpPr>
          <p:cNvPr id="4" name="Slide Number Placeholder 3">
            <a:extLst>
              <a:ext uri="{FF2B5EF4-FFF2-40B4-BE49-F238E27FC236}">
                <a16:creationId xmlns:a16="http://schemas.microsoft.com/office/drawing/2014/main" id="{9ED937AB-F8F2-FF70-35EB-B9680596B5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10083300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Ein Vector RAG besteht aus einer vorbereitenden Ingest-Pipeline und einer Laufzeit-Pipeline für Fragen.</a:t>
            </a:r>
          </a:p>
          <a:p>
            <a:endParaRPr/>
          </a:p>
          <a:p>
            <a:r>
              <a:t>Sprechtext: Links läuft der Ingest: Rohdateien werden extrahiert, bereinigt, in Chunks geteilt, in Embeddings übersetzt und in ChromaDB gespeichert. Rechts läuft die Anfrage: Auch die Frage wird mit demselben Embedding-Modell in einen Vektor übersetzt. Die Datenbank sucht ähnliche Chunks; diese werden als relevanter Kontext zusammen mit der Frage an das Chat-LLM gegeben.</a:t>
            </a:r>
          </a:p>
          <a:p>
            <a:endParaRPr/>
          </a:p>
          <a:p>
            <a:r>
              <a:t>Wichtig: Embedding-LLM und Chat-LLM haben unterschiedliche Aufgaben. Das Embedding-Modell erzeugt vergleichbare Vektoren; das Chat-Modell formuliert die Antwort.</a:t>
            </a:r>
          </a:p>
          <a:p>
            <a:endParaRPr/>
          </a:p>
          <a:p>
            <a:r>
              <a:t>Übergang: Auf der nächsten Folie lesen wir denselben Ablauf als klar getrennten Offline- und Online-Prozess.</a:t>
            </a:r>
          </a:p>
          <a:p>
            <a:endParaRPr/>
          </a:p>
          <a:p>
            <a:r>
              <a:t>Kernbotschaft: Die aufwendige Dokumentverarbeitung geschieht offline; bei jeder Frage werden nur Query-Embedding, Suche und Generierung ausgeführt.</a:t>
            </a:r>
          </a:p>
          <a:p>
            <a:endParaRPr/>
          </a:p>
          <a:p>
            <a:r>
              <a:t>Sprechtext: Der obere beziehungsweise linke Pfad wird beim Aufbau oder Aktualisieren des Index ausgeführt. Der Anfragepfad beginnt bei der Query, erzeugt ein Query-Embedding, sucht in der Vector Database und übergibt nur die ausgewählten Chunks an das LLM. Genau diese „Relevant Data“ sind der abgefragte Dokumentkontext, den wir später in der Evaluation vermessen.</a:t>
            </a:r>
          </a:p>
          <a:p>
            <a:endParaRPr/>
          </a:p>
          <a:p>
            <a:r>
              <a:t>Publikumsfrage: An welchen Stellen kann trotz dieser Pipeline noch ein Fehler entstehen?</a:t>
            </a:r>
          </a:p>
          <a:p>
            <a:endParaRPr/>
          </a:p>
          <a:p>
            <a:r>
              <a:t>Mögliche Antworten: schlechte PDF-Extraktion, ungünstige Chunk-Grenzen, unpassende Embeddings, falsche Rangfolge oder eine fehlerhafte Nutzung des richtigen Kontexts durch das Chat-LLM.</a:t>
            </a:r>
          </a:p>
          <a:p>
            <a:endParaRPr/>
          </a:p>
          <a:p>
            <a:r>
              <a:t>Übergang: Diese Fehlerquellen bearbeiten wir im Repository in aufeinander aufbauenden Stufen.</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Jede Projektstufe ergänzt genau einen neuen Qualitätshebel – und die Evaluation macht den Effekt sichtbar.</a:t>
            </a:r>
          </a:p>
          <a:p>
            <a:endParaRPr/>
          </a:p>
          <a:p>
            <a:r>
              <a:t>Sprechtext: Stage 1 zeigt den reinen Modellaufruf ohne Retrieval. Stage 2 ergänzt Fixed-Size-Chunking und Vector Search. Stage 3 führt strukturorientiertes Chunking und anschließend Reranking ein. Stage 4 kombiniert semantische und lexikalische Suche mit Artikelauflösung und Graph-Nachbarn. evaluate.py kann die Methoden kumulativ ausführen, sodass nach jeder Verbesserung die bisherigen Varianten als Vergleich erhalten bleiben.</a:t>
            </a:r>
          </a:p>
          <a:p>
            <a:endParaRPr/>
          </a:p>
          <a:p>
            <a:r>
              <a:t>Hinweis für die Demo: Die Collections und Embeddings müssen vor dem jeweiligen Chat- oder Evaluationslauf aufgebaut sein. VPN, API-Key und die konfigurierte .env sind erforderlich.</a:t>
            </a:r>
          </a:p>
          <a:p>
            <a:endParaRPr/>
          </a:p>
          <a:p>
            <a:r>
              <a:t>Übergang: Nun wechseln wir vom Konzept in den praktischen Teil.</a:t>
            </a:r>
          </a:p>
          <a:p>
            <a:endParaRPr/>
          </a:p>
          <a:p>
            <a:r>
              <a:t>[Sources]</a:t>
            </a:r>
          </a:p>
          <a:p>
            <a:r>
              <a:t>- C:/Users/mehlst/Documents/RAG-Workshop/README.md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Im Hands-on bauen und testen wir die Pipeline selbst.</a:t>
            </a:r>
          </a:p>
          <a:p>
            <a:endParaRPr/>
          </a:p>
          <a:p>
            <a:r>
              <a:t>Sprechtext: Bitte öffnet das Repository und prüft, ob die virtuelle Umgebung aktiv ist. VPN und API-Key müssen funktionieren; Zugangsdaten gehören ausschließlich in die lokale .env und nicht ins Git-Repository. Die Gesetzestexte und vorbereiteten Fragen bilden unseren gemeinsamen Testbestand.</a:t>
            </a:r>
          </a:p>
          <a:p>
            <a:endParaRPr/>
          </a:p>
          <a:p>
            <a:r>
              <a:t>Publikumsfrage: Gibt es noch technische Blocker, bevor wir starten?</a:t>
            </a:r>
          </a:p>
          <a:p>
            <a:endParaRPr/>
          </a:p>
          <a:p>
            <a:r>
              <a:t>Übergang: Wir beginnen mit der einfachsten lauffähigen Variante und erhöhen die Qualität schrittweise.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Advanced RAG beginnt dort, wo wir Retrieval nicht mehr als einzelne Vektorsuche betrachten.</a:t>
            </a:r>
          </a:p>
          <a:p>
            <a:endParaRPr/>
          </a:p>
          <a:p>
            <a:r>
              <a:t>Sprechtext: Nach dem Baseline-RAG untersuchen wir drei Hebel: bessere Chunk-Grenzen, eine bessere Rangfolge vorhandener Kandidaten und zusätzliche lexikalische beziehungsweise graphbasierte Signale. Wichtig ist, jede zusätzliche Komplexität gegen dieselben Fragen und Metriken zu prüfen.</a:t>
            </a:r>
          </a:p>
          <a:p>
            <a:endParaRPr/>
          </a:p>
          <a:p>
            <a:r>
              <a:t>Übergang: Der erste und oft unterschätzte Hebel ist das Chunking.</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Chunking bestimmt, welche Bedeutungseinheiten später überhaupt als Treffer zurückkommen können.</a:t>
            </a:r>
          </a:p>
          <a:p>
            <a:endParaRPr/>
          </a:p>
          <a:p>
            <a:r>
              <a:t>Sprechtext: Links sehen wir Fixed-Size-Chunking mit einem starren Budget von 800 Zeichen. Die Grenze kann mitten in einem Satz oder direkt vor dem nächsten Artikel liegen. Dadurch verliert ein Treffer Kontext oder vermischt mehrere Artikel. Rechts orientiert sich unser verbessertes Verfahren primär an Markdown- und Artikelüberschriften. Übergroße Artikel werden zusätzlich an Satzgrenzen geteilt; kleine zusammengehörige Blöcke werden bis zum Budget verbunden.</a:t>
            </a:r>
          </a:p>
          <a:p>
            <a:endParaRPr/>
          </a:p>
          <a:p>
            <a:r>
              <a:t>Präzisierung: Unser Budget beträgt 800 Zeichen, nicht 800 Tokens. Das Verfahren ist deshalb besser als „strukturorientiertes Chunking“ beschrieben; es ist kein LLM-basiertes semantisches Chunking.</a:t>
            </a:r>
          </a:p>
          <a:p>
            <a:endParaRPr/>
          </a:p>
          <a:p>
            <a:r>
              <a:t>Zusätzlich entfernen wir typisches PDF-Rauschen wie Seitenmarker, Inhaltsverzeichnisse und isolierte Fundstellenblöcke. Quellen, die zum Gesetzesinhalt gehören, werden nicht pauschal gelöscht.</a:t>
            </a:r>
          </a:p>
          <a:p>
            <a:endParaRPr/>
          </a:p>
          <a:p>
            <a:r>
              <a:t>Publikumsfrage: Welche Seite würdet ihr für die Suche nach Art. 335b OR bevorzugen – und warum?</a:t>
            </a:r>
          </a:p>
          <a:p>
            <a:endParaRPr/>
          </a:p>
          <a:p>
            <a:r>
              <a:t>Übergang: Gute Chunks erzeugen bessere Kandidaten. Als Nächstes verbessern wir deren Reihenfolge.</a:t>
            </a:r>
          </a:p>
          <a:p>
            <a:endParaRPr/>
          </a:p>
          <a:p>
            <a:r>
              <a:t>[Sources]</a:t>
            </a:r>
          </a:p>
          <a:p>
            <a:r>
              <a:t>- C:/Users/mehlst/Documents/RAG-Workshop/rag-3a-ingest.py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Reranking sortiert gefundene Kandidaten neu; es kann keinen fehlenden Artikel herbeizaubern.</a:t>
            </a:r>
          </a:p>
          <a:p>
            <a:endParaRPr/>
          </a:p>
          <a:p>
            <a:r>
              <a:t>Sprechtext: Die Vektorsuche holt zunächst eine größere Kandidatenmenge. Unser Cross-Encoder BAAI/bge-reranker-v2-m3 liest Frage und Chunk gemeinsam und bewertet ihre Relevanz genauer als der reine Vektorabstand. Für die Evaluation bleiben nach dem Reranking sechs Chunks im gemeinsamen Kontextbudget; der interaktive Chat verwendet standardmäßig vier.</a:t>
            </a:r>
          </a:p>
          <a:p>
            <a:endParaRPr/>
          </a:p>
          <a:p>
            <a:r>
              <a:t>Der wichtigste Unterschied: Ein Bi-Encoder berechnet Dokument- und Query-Vektoren getrennt und ist schnell. Ein Cross-Encoder betrachtet beide Texte gemeinsam und ist präziser, aber langsamer. Deshalb wird er erst auf einer kleinen Kandidatenliste eingesetzt.</a:t>
            </a:r>
          </a:p>
          <a:p>
            <a:endParaRPr/>
          </a:p>
          <a:p>
            <a:r>
              <a:t>Publikumsfrage: Was passiert, wenn Art. 1 OR in den ersten Kandidaten überhaupt nicht enthalten ist?</a:t>
            </a:r>
          </a:p>
          <a:p>
            <a:endParaRPr/>
          </a:p>
          <a:p>
            <a:r>
              <a:t>Erwartete Antwort: Der Reranker kann ihn nicht auswählen; dafür brauchen wir besseren Recall im vorgelagerten Retrieval.</a:t>
            </a:r>
          </a:p>
          <a:p>
            <a:endParaRPr/>
          </a:p>
          <a:p>
            <a:r>
              <a:t>Übergang: Genau dort setzt die hybride und graphbasierte Suche an.</a:t>
            </a:r>
          </a:p>
          <a:p>
            <a:endParaRPr/>
          </a:p>
          <a:p>
            <a:r>
              <a:t>[Sources]</a:t>
            </a:r>
          </a:p>
          <a:p>
            <a:r>
              <a:t>- C:/Users/mehlst/Documents/RAG-Workshop/rag-3c-chat-rerank.py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kombiniert mehrere Suchsignale, damit explizite Artikelangaben und strukturelle Beziehungen nicht von semantischer Ähnlichkeit verdrängt werden.</a:t>
            </a:r>
          </a:p>
          <a:p>
            <a:endParaRPr/>
          </a:p>
          <a:p>
            <a:r>
              <a:t>Sprechtext: Zuerst holen wir semantische Vector-Treffer und lexikalische beziehungsweise BM25-Kandidaten. Reciprocal Rank Fusion führt beide Ranglisten robust zusammen, ohne die Rohscores direkt vergleichbar machen zu müssen. Explizite Referenzen wie „Art. 1 OR“ können zusätzlich auf eine konkrete Artikeldefinition aufgelöst werden. Danach ergänzen wir passende Graph-Nachbarn, etwa angrenzende Artikel oder erkannte Verweise.</a:t>
            </a:r>
          </a:p>
          <a:p>
            <a:endParaRPr/>
          </a:p>
          <a:p>
            <a:r>
              <a:t>Der Graph ersetzt die Suche nicht. Er erweitert gute Seed-Treffer um strukturell verwandten Kontext. Das hilft besonders bei Fragen, die mehrere Artikel oder Erlasse verbinden.</a:t>
            </a:r>
          </a:p>
          <a:p>
            <a:endParaRPr/>
          </a:p>
          <a:p>
            <a:r>
              <a:t>Publikumsfrage: Warum ist eine lexikalische Suche bei „Art. 1 OR“ oft zuverlässiger als reine semantische Ähnlichkeit?</a:t>
            </a:r>
          </a:p>
          <a:p>
            <a:endParaRPr/>
          </a:p>
          <a:p>
            <a:r>
              <a:t>Übergang: Jetzt prüfen wir, ob diese zusätzliche Logik tatsächlich Recall, Rangfolge und Kontextbedarf verbessert.</a:t>
            </a:r>
          </a:p>
          <a:p>
            <a:endParaRPr/>
          </a:p>
          <a:p>
            <a:r>
              <a:t>[Sources]</a:t>
            </a:r>
          </a:p>
          <a:p>
            <a:r>
              <a:t>- C:/Users/mehlst/Documents/RAG-Workshop/graph_retrieval.py</a:t>
            </a:r>
          </a:p>
          <a:p>
            <a:r>
              <a:t>- C:/Users/mehlst/Documents/RAG-Workshop/rag-4b-chat.py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GraphRAG findet in diesem Workshop-Test die meisten erwarteten Artikel und benötigt gleichzeitig den kleinsten Prompt-Kontext; der Reranker liefert die beste frühe Rangposition.</a:t>
            </a:r>
          </a:p>
          <a:p>
            <a:endParaRPr/>
          </a:p>
          <a:p>
            <a:r>
              <a:t>Sprechtext: Alle vier Methoden beantworten dieselben sechs Fragen mit demselben Kontextbudget von sechs Chunks. Article Recall@K misst, welcher Anteil aller erwarteten Artikel unter den K Treffern vorkommt. MRR – Mean Reciprocal Rank – belohnt eine frühe Position des ersten relevanten Artikels. Prompt-Kontext-Tokens zählen den tatsächlich in den Modellprompt eingefügten Dokumentkontext einschließlich Formatierung.</a:t>
            </a:r>
          </a:p>
          <a:p>
            <a:endParaRPr/>
          </a:p>
          <a:p>
            <a:r>
              <a:t>Die Werte: Fixed erreicht 54 Prozent Recall, 0,43 MRR und 1.289 Tokens. Semantic erreicht 33 Prozent, 0,25 und 892 Tokens. Reranking erreicht 71 Prozent, 0,68 und 923 Tokens. GraphRAG erreicht 88 Prozent Recall, 0,52 MRR und 802 Tokens.</a:t>
            </a:r>
          </a:p>
          <a:p>
            <a:endParaRPr/>
          </a:p>
          <a:p>
            <a:r>
              <a:t>Lesart: GraphRAG maximiert hier die Vollständigkeit bei kleinem Kontext. Reranking positioniert den ersten relevanten Treffer am besten. Diese sechs Fragen sind eine Workshop-Messung, keine allgemeine Benchmark.</a:t>
            </a:r>
          </a:p>
          <a:p>
            <a:endParaRPr/>
          </a:p>
          <a:p>
            <a:r>
              <a:t>Übergang: Ein guter Retrieval-Treffer ist notwendig – aber beantwortet noch nicht, ob das LLM daraus eine vollständige und korrekt belegte Antwort erzeugt.</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Retrieval-Qualität und Antwortqualität sind zwei getrennte Ebenen und müssen separat bewertet werden.</a:t>
            </a:r>
          </a:p>
          <a:p>
            <a:endParaRPr/>
          </a:p>
          <a:p>
            <a:r>
              <a:t>Sprechtext: Die dunkelblauen Balken zeigen die Faktenabdeckung – auf Englisch Fact Coverage. Sie misst, welcher Anteil der zuvor definierten erforderlichen Fakten in der generierten Antwort enthalten ist. Die hellblauen beziehungsweise türkisen Balken zeigen die Zitationsvollständigkeit – Citation Completeness. Sie misst, welcher Anteil der erwarteten Artikelbezeichnungen in der Antwort zitiert wird.</a:t>
            </a:r>
          </a:p>
          <a:p>
            <a:endParaRPr/>
          </a:p>
          <a:p>
            <a:r>
              <a:t>Im vollständigen Lauf erreicht GraphRAG 55,6 Prozent Faktenabdeckung und 66,7 Prozent Zitationsvollständigkeit. Fixed Vector erzielt trotz schwächerem Retrieval 61,1 Prozent Faktenabdeckung. Das ist kein Widerspruch: Das generierende LLM ist nicht vollständig deterministisch und kann vorhandenen Kontext unvollständig nutzen oder einen falschen Artikel nennen.</a:t>
            </a:r>
          </a:p>
          <a:p>
            <a:endParaRPr/>
          </a:p>
          <a:p>
            <a:r>
              <a:t>Wichtig: Faktenabdeckung bewertet das Vorhandensein erwarteter Inhalte, nicht automatisch juristische Korrektheit jeder Aussage. Zitationsvollständigkeit sagt, ob erwartete Quellen genannt wurden; sie sagt allein noch nicht, ob die jeweilige Quelle die Aussage tatsächlich belegt.</a:t>
            </a:r>
          </a:p>
          <a:p>
            <a:endParaRPr/>
          </a:p>
          <a:p>
            <a:r>
              <a:t>Übergang: Diese Ergebnisse bilden die Grundlage für die Gruppenarbeit: Wo würden wir als Nächstes investieren?</a:t>
            </a:r>
          </a:p>
          <a:p>
            <a:endParaRPr/>
          </a:p>
          <a:p>
            <a:r>
              <a:t>[Sources]</a:t>
            </a:r>
          </a:p>
          <a:p>
            <a:r>
              <a:t>- C:/Users/mehlst/Documents/RAG-Workshop/evaluation/report-graph.md</a:t>
            </a:r>
          </a:p>
          <a:p>
            <a:r>
              <a:t>- C:/Users/mehlst/Documents/RAG-Workshop/evaluate.py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Gruppen betrachten dieselbe Pipeline aus drei Perspektiven und müssen eine begründete Priorität formulieren.</a:t>
            </a:r>
          </a:p>
          <a:p>
            <a:endParaRPr/>
          </a:p>
          <a:p>
            <a:r>
              <a:t>Sprechtext: Jede Gruppe bearbeitet ihr Wahlmodul anhand der bereitgestellten Fragen und Ergebnisse. Entscheidend ist nicht, möglichst viele Ideen zu sammeln, sondern eine konkrete Verbesserung mit erwarteter Wirkung, möglichem Nachteil und einer passenden Messgröße zu benennen.</a:t>
            </a:r>
          </a:p>
          <a:p>
            <a:endParaRPr/>
          </a:p>
          <a:p>
            <a:r>
              <a:t>Für die Kurzpräsentation helfen drei Fragen: Welches Problem lösen wir? Welche Änderung schlagen wir vor? Woran erkennen wir, dass sie besser ist? Die Ergebnisvorstellung dauert maximal zwei Minuten pro Gruppe; die Arbeitszeit kann je nach Workshop-Zeitplan angepasst werden.</a:t>
            </a:r>
          </a:p>
          <a:p>
            <a:endParaRPr/>
          </a:p>
          <a:p>
            <a:r>
              <a:t>Hinweis: Achtet darauf, Retrieval und Generierung nicht zu vermischen. Eine Maßnahme kann Recall verbessern, ohne die Antwortqualität automatisch im gleichen Maß zu erhöhen.</a:t>
            </a:r>
          </a:p>
          <a:p>
            <a:endParaRPr/>
          </a:p>
          <a:p>
            <a:r>
              <a:t>Übergang: Neben Algorithmen beeinflusst auch die Frameworkwahl, wie schnell und kontrolliert wir solche Änderungen umsetzen können.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Die Frameworkwahl ist keine reine Featurefrage, sondern eine Entscheidung über Kontrolle, Transparenz und Betriebsaufwand.</a:t>
            </a:r>
          </a:p>
          <a:p>
            <a:endParaRPr/>
          </a:p>
          <a:p>
            <a:r>
              <a:t>Sprechtext: Unser Workshop-Code ist bewusst weitgehend framework-frei: OpenAI-kompatibler Client, ChromaDB und klar sichtbare Python-Funktionen. Das erhöht den Lernwert und macht jeden Verarbeitungsschritt nachvollziehbar. Frameworks wie LangChain oder LlamaIndex beschleunigen Standardintegrationen, bringen aber zusätzliche Abstraktionen und Versionsabhängigkeiten. Graph-orientierte Orchestrierung lohnt sich vor allem bei verzweigten, zustandsbehafteten Abläufen. Managed Services reduzieren Betriebsaufwand, erhöhen aber Kosten und Anbieterbindung.</a:t>
            </a:r>
          </a:p>
          <a:p>
            <a:endParaRPr/>
          </a:p>
          <a:p>
            <a:r>
              <a:t>Leitfrage: Welche Anforderungen dominieren im echten Projekt – schnelle Entwicklung, maximale Transparenz, komplexe Orchestrierung oder geringer Betrieb?</a:t>
            </a:r>
          </a:p>
          <a:p>
            <a:endParaRPr/>
          </a:p>
          <a:p>
            <a:r>
              <a:t>Übergang: Unabhängig vom Werkzeug bleiben drei Grundprinzipien bestehen.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081088" y="617538"/>
            <a:ext cx="4695825" cy="2641600"/>
          </a:xfrm>
        </p:spPr>
      </p:sp>
      <p:sp>
        <p:nvSpPr>
          <p:cNvPr id="3" name="Notes Placeholder 2"/>
          <p:cNvSpPr>
            <a:spLocks noGrp="1"/>
          </p:cNvSpPr>
          <p:nvPr>
            <p:ph type="body" idx="1"/>
          </p:nvPr>
        </p:nvSpPr>
        <p:spPr/>
        <p:txBody>
          <a:bodyPr/>
          <a:lstStyle/>
          <a:p>
            <a:r>
              <a:t>Kernbotschaft: Gutes RAG entsteht durch gezielten Kontext, getrennte Evaluation und nur so viel Komplexität wie messbar nötig.</a:t>
            </a:r>
          </a:p>
          <a:p>
            <a:endParaRPr/>
          </a:p>
          <a:p>
            <a:r>
              <a:t>Sprechtext: Erstens: RAG ist Context Engineering. Entscheidend ist nicht die maximale Menge, sondern die Relevanz des Kontexts. Zweitens: Retrieval und Antwort müssen getrennt gemessen werden – sonst wissen wir nicht, ob ein Fehler in der Suche oder in der Generierung liegt. Drittens: Chunking, Reranking, hybride Suche und Graphen sind Werkzeuge, keine Selbstzwecke. Wir ergänzen sie nur, wenn die Evaluation einen konkreten Nutzen zeigt.</a:t>
            </a:r>
          </a:p>
          <a:p>
            <a:endParaRPr/>
          </a:p>
          <a:p>
            <a:r>
              <a:t>Abschlussfrage: Welchen dieser Hebel würdet ihr in eurem eigenen Projekt als Erstes messen?</a:t>
            </a:r>
          </a:p>
          <a:p>
            <a:endParaRPr/>
          </a:p>
          <a:p>
            <a:r>
              <a:t>Übergang: Damit sind wir am Ende des Workshops – Zeit für Fragen und den Transfer in eure Anwendungsfälle.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1081088" y="617538"/>
            <a:ext cx="4695825" cy="2641600"/>
          </a:xfrm>
        </p:spPr>
      </p:sp>
      <p:sp>
        <p:nvSpPr>
          <p:cNvPr id="3" name="Notes Placeholder 2"/>
          <p:cNvSpPr>
            <a:spLocks noGrp="1"/>
          </p:cNvSpPr>
          <p:nvPr>
            <p:ph type="body" sz="quarter" idx="3"/>
          </p:nvPr>
        </p:nvSpPr>
        <p:spPr/>
        <p:txBody>
          <a:bodyPr/>
          <a:lstStyle/>
          <a:p>
            <a:r>
              <a:t>Kernbotschaft: Die Teilnehmenden sollen die Pipeline jetzt nicht nur ausführen, sondern ihre Qualitätsentscheidungen begründen können.</a:t>
            </a:r>
          </a:p>
          <a:p>
            <a:endParaRPr/>
          </a:p>
          <a:p>
            <a:r>
              <a:t>Sprechtext: Vielen Dank. Wir haben aus Schweizer Gesetzestexten eine nachvollziehbare RAG-Pipeline aufgebaut, mehrere Retrieval-Varianten verglichen und gesehen, warum gute Treffer noch keine perfekte Antwort garantieren. Die wichtigsten Artefakte sind der Code, die vorbereiteten Fragen und die Evaluationsberichte im Repository.</a:t>
            </a:r>
          </a:p>
          <a:p>
            <a:endParaRPr/>
          </a:p>
          <a:p>
            <a:r>
              <a:t>Mögliche Abschlussfragen an das Publikum: Wo würdet ihr RAG in eurem Umfeld einsetzen? Welche Daten- oder Compliance-Anforderungen wären dort kritisch? Welche Metrik fehlt euch für eine produktive Entscheidung?</a:t>
            </a:r>
          </a:p>
          <a:p>
            <a:endParaRPr/>
          </a:p>
          <a:p>
            <a:r>
              <a:t>Hinweis: Bei einer Live-Demo am Ende lieber eine bereits evaluierte Frage verwenden und gemeinsam Kontext, Quellen und Antwort vergleichen.</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6CB78C75-CA31-41AE-AEDE-620AE0B6A6FC}"/>
              </a:ext>
            </a:extLst>
          </p:cNvPr>
          <p:cNvSpPr>
            <a:spLocks noGrp="1"/>
          </p:cNvSpPr>
          <p:nvPr>
            <p:ph type="dt" sz="half" idx="10"/>
          </p:nvPr>
        </p:nvSpPr>
        <p:spPr>
          <a:xfrm>
            <a:off x="933451" y="6955077"/>
            <a:ext cx="616744" cy="15389"/>
          </a:xfrm>
        </p:spPr>
        <p:txBody>
          <a:bodyPr>
            <a:spAutoFit/>
          </a:bodyPr>
          <a:lstStyle>
            <a:lvl1pPr>
              <a:defRPr sz="100">
                <a:solidFill>
                  <a:schemeClr val="bg1">
                    <a:alpha val="0"/>
                  </a:schemeClr>
                </a:solidFill>
              </a:defRPr>
            </a:lvl1pPr>
          </a:lstStyle>
          <a:p>
            <a:fld id="{C0B5DAE3-E9C3-48BD-9F84-B39C87C1D4EA}" type="datetime1">
              <a:rPr lang="de-CH" smtClean="0"/>
              <a:t>13.08.2026</a:t>
            </a:fld>
            <a:endParaRPr lang="de-CH" dirty="0"/>
          </a:p>
        </p:txBody>
      </p:sp>
      <p:sp>
        <p:nvSpPr>
          <p:cNvPr id="6" name="Foliennummernplatzhalter 5">
            <a:extLst>
              <a:ext uri="{FF2B5EF4-FFF2-40B4-BE49-F238E27FC236}">
                <a16:creationId xmlns:a16="http://schemas.microsoft.com/office/drawing/2014/main" id="{7B0A3F16-FDB8-4953-A58C-2B60646BEADF}"/>
              </a:ext>
            </a:extLst>
          </p:cNvPr>
          <p:cNvSpPr>
            <a:spLocks noGrp="1"/>
          </p:cNvSpPr>
          <p:nvPr>
            <p:ph type="sldNum" sz="quarter" idx="12"/>
          </p:nvPr>
        </p:nvSpPr>
        <p:spPr>
          <a:xfrm>
            <a:off x="482461" y="6955077"/>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7" name="Titel 1">
            <a:extLst>
              <a:ext uri="{FF2B5EF4-FFF2-40B4-BE49-F238E27FC236}">
                <a16:creationId xmlns:a16="http://schemas.microsoft.com/office/drawing/2014/main" id="{EEF96BDF-1EFD-C687-37EA-26A9820E53A1}"/>
              </a:ext>
            </a:extLst>
          </p:cNvPr>
          <p:cNvSpPr>
            <a:spLocks noGrp="1"/>
          </p:cNvSpPr>
          <p:nvPr>
            <p:ph type="ctrTitle"/>
          </p:nvPr>
        </p:nvSpPr>
        <p:spPr>
          <a:xfrm>
            <a:off x="498765" y="681902"/>
            <a:ext cx="11213810" cy="2627953"/>
          </a:xfrm>
        </p:spPr>
        <p:txBody>
          <a:bodyPr anchor="b">
            <a:noAutofit/>
          </a:bodyPr>
          <a:lstStyle>
            <a:lvl1pPr algn="l">
              <a:defRPr sz="6400">
                <a:solidFill>
                  <a:srgbClr val="2D3F4B"/>
                </a:solidFill>
              </a:defRPr>
            </a:lvl1pPr>
          </a:lstStyle>
          <a:p>
            <a:r>
              <a:rPr lang="de-DE"/>
              <a:t>Mastertitelformat bearbeiten</a:t>
            </a:r>
            <a:endParaRPr lang="de-CH" dirty="0"/>
          </a:p>
        </p:txBody>
      </p:sp>
      <p:sp>
        <p:nvSpPr>
          <p:cNvPr id="8" name="Untertitel 2">
            <a:extLst>
              <a:ext uri="{FF2B5EF4-FFF2-40B4-BE49-F238E27FC236}">
                <a16:creationId xmlns:a16="http://schemas.microsoft.com/office/drawing/2014/main" id="{B9821CB4-4105-593A-8910-0631B1C4BEEF}"/>
              </a:ext>
            </a:extLst>
          </p:cNvPr>
          <p:cNvSpPr>
            <a:spLocks noGrp="1"/>
          </p:cNvSpPr>
          <p:nvPr>
            <p:ph type="subTitle" idx="1"/>
          </p:nvPr>
        </p:nvSpPr>
        <p:spPr>
          <a:xfrm>
            <a:off x="498765" y="3759402"/>
            <a:ext cx="6148215" cy="514351"/>
          </a:xfrm>
          <a:prstGeom prst="rect">
            <a:avLst/>
          </a:prstGeom>
        </p:spPr>
        <p:txBody>
          <a:bodyPr>
            <a:noAutofit/>
          </a:bodyPr>
          <a:lstStyle>
            <a:lvl1pPr marL="0" indent="0" algn="l">
              <a:buNone/>
              <a:defRPr sz="26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pic>
        <p:nvPicPr>
          <p:cNvPr id="9" name="Grafik 8" descr="Ein Bild, das Text, Schrift, Grafiken, Logo enthält.&#10;&#10;Automatisch generierte Beschreibung">
            <a:extLst>
              <a:ext uri="{FF2B5EF4-FFF2-40B4-BE49-F238E27FC236}">
                <a16:creationId xmlns:a16="http://schemas.microsoft.com/office/drawing/2014/main" id="{4EDD70EE-192C-2566-C8E2-2FA335FB8FD9}"/>
              </a:ext>
            </a:extLst>
          </p:cNvPr>
          <p:cNvPicPr>
            <a:picLocks noChangeAspect="1"/>
          </p:cNvPicPr>
          <p:nvPr userDrawn="1"/>
        </p:nvPicPr>
        <p:blipFill>
          <a:blip r:embed="rId2"/>
          <a:stretch>
            <a:fillRect/>
          </a:stretch>
        </p:blipFill>
        <p:spPr>
          <a:xfrm>
            <a:off x="9321801" y="5807997"/>
            <a:ext cx="2390774" cy="796924"/>
          </a:xfrm>
          <a:prstGeom prst="rect">
            <a:avLst/>
          </a:prstGeom>
        </p:spPr>
      </p:pic>
      <p:cxnSp>
        <p:nvCxnSpPr>
          <p:cNvPr id="10" name="Gerade Verbindung 9">
            <a:extLst>
              <a:ext uri="{FF2B5EF4-FFF2-40B4-BE49-F238E27FC236}">
                <a16:creationId xmlns:a16="http://schemas.microsoft.com/office/drawing/2014/main" id="{1ED41F76-2FD8-C695-9AAB-E13A38368370}"/>
              </a:ext>
            </a:extLst>
          </p:cNvPr>
          <p:cNvCxnSpPr/>
          <p:nvPr userDrawn="1"/>
        </p:nvCxnSpPr>
        <p:spPr>
          <a:xfrm>
            <a:off x="482461" y="3476438"/>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266545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mit Bild">
    <p:bg>
      <p:bgPr>
        <a:solidFill>
          <a:schemeClr val="bg1"/>
        </a:solidFill>
        <a:effectLst/>
      </p:bgPr>
    </p:bg>
    <p:spTree>
      <p:nvGrpSpPr>
        <p:cNvPr id="1" name=""/>
        <p:cNvGrpSpPr/>
        <p:nvPr/>
      </p:nvGrpSpPr>
      <p:grpSpPr>
        <a:xfrm>
          <a:off x="0" y="0"/>
          <a:ext cx="0" cy="0"/>
          <a:chOff x="0" y="0"/>
          <a:chExt cx="0" cy="0"/>
        </a:xfrm>
      </p:grpSpPr>
      <p:sp>
        <p:nvSpPr>
          <p:cNvPr id="4" name="Datumsplatzhalter 3">
            <a:extLst>
              <a:ext uri="{FF2B5EF4-FFF2-40B4-BE49-F238E27FC236}">
                <a16:creationId xmlns:a16="http://schemas.microsoft.com/office/drawing/2014/main" id="{C9CA178C-2C73-463F-9F14-7C3AB8FE20B8}"/>
              </a:ext>
            </a:extLst>
          </p:cNvPr>
          <p:cNvSpPr>
            <a:spLocks noGrp="1"/>
          </p:cNvSpPr>
          <p:nvPr>
            <p:ph type="dt" sz="half" idx="10"/>
          </p:nvPr>
        </p:nvSpPr>
        <p:spPr>
          <a:xfrm>
            <a:off x="933451" y="7004480"/>
            <a:ext cx="616744" cy="15389"/>
          </a:xfrm>
        </p:spPr>
        <p:txBody>
          <a:bodyPr>
            <a:spAutoFit/>
          </a:bodyPr>
          <a:lstStyle>
            <a:lvl1pPr>
              <a:defRPr sz="100">
                <a:solidFill>
                  <a:schemeClr val="bg1">
                    <a:alpha val="0"/>
                  </a:schemeClr>
                </a:solidFill>
              </a:defRPr>
            </a:lvl1pPr>
          </a:lstStyle>
          <a:p>
            <a:fld id="{CB295712-26CE-4B63-A766-0110588AF456}" type="datetime1">
              <a:rPr lang="de-CH" smtClean="0"/>
              <a:t>13.08.2026</a:t>
            </a:fld>
            <a:endParaRPr lang="de-CH" dirty="0"/>
          </a:p>
        </p:txBody>
      </p:sp>
      <p:sp>
        <p:nvSpPr>
          <p:cNvPr id="6" name="Foliennummernplatzhalter 5">
            <a:extLst>
              <a:ext uri="{FF2B5EF4-FFF2-40B4-BE49-F238E27FC236}">
                <a16:creationId xmlns:a16="http://schemas.microsoft.com/office/drawing/2014/main" id="{64B4CD4E-8DD8-480D-BACB-090CB38CCA5E}"/>
              </a:ext>
            </a:extLst>
          </p:cNvPr>
          <p:cNvSpPr>
            <a:spLocks noGrp="1"/>
          </p:cNvSpPr>
          <p:nvPr>
            <p:ph type="sldNum" sz="quarter" idx="12"/>
          </p:nvPr>
        </p:nvSpPr>
        <p:spPr>
          <a:xfrm>
            <a:off x="482461" y="7004480"/>
            <a:ext cx="415270" cy="15389"/>
          </a:xfrm>
        </p:spPr>
        <p:txBody>
          <a:bodyPr>
            <a:spAutoFit/>
          </a:bodyPr>
          <a:lstStyle>
            <a:lvl1pPr>
              <a:defRPr sz="100">
                <a:solidFill>
                  <a:schemeClr val="bg1">
                    <a:alpha val="0"/>
                  </a:schemeClr>
                </a:solidFill>
              </a:defRPr>
            </a:lvl1pPr>
          </a:lstStyle>
          <a:p>
            <a:fld id="{CE7E00E2-F08D-429A-AD9B-1ECBEC02F4DB}" type="slidenum">
              <a:rPr lang="de-CH" smtClean="0"/>
              <a:pPr/>
              <a:t>‹Nr.›</a:t>
            </a:fld>
            <a:endParaRPr lang="de-CH" dirty="0"/>
          </a:p>
        </p:txBody>
      </p:sp>
      <p:sp>
        <p:nvSpPr>
          <p:cNvPr id="10" name="Titel 1">
            <a:extLst>
              <a:ext uri="{FF2B5EF4-FFF2-40B4-BE49-F238E27FC236}">
                <a16:creationId xmlns:a16="http://schemas.microsoft.com/office/drawing/2014/main" id="{189A4928-6045-6BA7-0796-4C85DAD89B4A}"/>
              </a:ext>
            </a:extLst>
          </p:cNvPr>
          <p:cNvSpPr>
            <a:spLocks noGrp="1"/>
          </p:cNvSpPr>
          <p:nvPr>
            <p:ph type="ctrTitle"/>
          </p:nvPr>
        </p:nvSpPr>
        <p:spPr>
          <a:xfrm>
            <a:off x="498765" y="2503864"/>
            <a:ext cx="11213810" cy="2627953"/>
          </a:xfrm>
        </p:spPr>
        <p:txBody>
          <a:bodyPr anchor="b">
            <a:noAutofit/>
          </a:bodyPr>
          <a:lstStyle>
            <a:lvl1pPr algn="l">
              <a:defRPr sz="4800">
                <a:solidFill>
                  <a:srgbClr val="2D3F4B"/>
                </a:solidFill>
              </a:defRPr>
            </a:lvl1pPr>
          </a:lstStyle>
          <a:p>
            <a:r>
              <a:rPr lang="de-DE"/>
              <a:t>Mastertitelformat bearbeiten</a:t>
            </a:r>
            <a:endParaRPr lang="de-CH" dirty="0"/>
          </a:p>
        </p:txBody>
      </p:sp>
      <p:sp>
        <p:nvSpPr>
          <p:cNvPr id="13" name="Untertitel 2">
            <a:extLst>
              <a:ext uri="{FF2B5EF4-FFF2-40B4-BE49-F238E27FC236}">
                <a16:creationId xmlns:a16="http://schemas.microsoft.com/office/drawing/2014/main" id="{78CB770C-79C3-DDA1-7310-08E1E6209D43}"/>
              </a:ext>
            </a:extLst>
          </p:cNvPr>
          <p:cNvSpPr>
            <a:spLocks noGrp="1"/>
          </p:cNvSpPr>
          <p:nvPr>
            <p:ph type="subTitle" idx="1"/>
          </p:nvPr>
        </p:nvSpPr>
        <p:spPr>
          <a:xfrm>
            <a:off x="498765" y="5651499"/>
            <a:ext cx="6148215" cy="514351"/>
          </a:xfrm>
          <a:prstGeom prst="rect">
            <a:avLst/>
          </a:prstGeom>
        </p:spPr>
        <p:txBody>
          <a:bodyPr>
            <a:noAutofit/>
          </a:bodyPr>
          <a:lstStyle>
            <a:lvl1pPr marL="0" indent="0" algn="l">
              <a:buNone/>
              <a:defRPr sz="2000" b="0">
                <a:solidFill>
                  <a:srgbClr val="2D3F4B"/>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de-CH" dirty="0"/>
          </a:p>
        </p:txBody>
      </p:sp>
      <p:cxnSp>
        <p:nvCxnSpPr>
          <p:cNvPr id="15" name="Gerade Verbindung 14">
            <a:extLst>
              <a:ext uri="{FF2B5EF4-FFF2-40B4-BE49-F238E27FC236}">
                <a16:creationId xmlns:a16="http://schemas.microsoft.com/office/drawing/2014/main" id="{258E601A-84E1-B74E-C78F-566D5650845E}"/>
              </a:ext>
            </a:extLst>
          </p:cNvPr>
          <p:cNvCxnSpPr/>
          <p:nvPr userDrawn="1"/>
        </p:nvCxnSpPr>
        <p:spPr>
          <a:xfrm>
            <a:off x="482461" y="5365704"/>
            <a:ext cx="11709539" cy="0"/>
          </a:xfrm>
          <a:prstGeom prst="line">
            <a:avLst/>
          </a:prstGeom>
          <a:ln w="25400">
            <a:solidFill>
              <a:srgbClr val="C00000"/>
            </a:solidFill>
          </a:ln>
        </p:spPr>
        <p:style>
          <a:lnRef idx="1">
            <a:schemeClr val="accent1"/>
          </a:lnRef>
          <a:fillRef idx="0">
            <a:schemeClr val="accent1"/>
          </a:fillRef>
          <a:effectRef idx="0">
            <a:schemeClr val="accent1"/>
          </a:effectRef>
          <a:fontRef idx="minor">
            <a:schemeClr val="tx1"/>
          </a:fontRef>
        </p:style>
      </p:cxnSp>
      <p:pic>
        <p:nvPicPr>
          <p:cNvPr id="17" name="Grafik 16" descr="Ein Bild, das Person, Bürogebäude, Job, Im Haus enthält.&#10;&#10;Automatisch generierte Beschreibung">
            <a:extLst>
              <a:ext uri="{FF2B5EF4-FFF2-40B4-BE49-F238E27FC236}">
                <a16:creationId xmlns:a16="http://schemas.microsoft.com/office/drawing/2014/main" id="{E3597F30-0234-397C-2EA6-057ADD201C1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323"/>
            <a:ext cx="12218321" cy="3430323"/>
          </a:xfrm>
          <a:prstGeom prst="rect">
            <a:avLst/>
          </a:prstGeom>
        </p:spPr>
      </p:pic>
      <p:pic>
        <p:nvPicPr>
          <p:cNvPr id="18" name="Grafik 17" descr="Ein Bild, das Text, Schrift, Grafiken, Logo enthält.&#10;&#10;Automatisch generierte Beschreibung">
            <a:extLst>
              <a:ext uri="{FF2B5EF4-FFF2-40B4-BE49-F238E27FC236}">
                <a16:creationId xmlns:a16="http://schemas.microsoft.com/office/drawing/2014/main" id="{8CB349CA-52F4-2981-3073-1A216557DF9D}"/>
              </a:ext>
            </a:extLst>
          </p:cNvPr>
          <p:cNvPicPr>
            <a:picLocks noChangeAspect="1"/>
          </p:cNvPicPr>
          <p:nvPr userDrawn="1"/>
        </p:nvPicPr>
        <p:blipFill>
          <a:blip r:embed="rId3"/>
          <a:stretch>
            <a:fillRect/>
          </a:stretch>
        </p:blipFill>
        <p:spPr>
          <a:xfrm>
            <a:off x="9677413" y="5870578"/>
            <a:ext cx="2035162" cy="678387"/>
          </a:xfrm>
          <a:prstGeom prst="rect">
            <a:avLst/>
          </a:prstGeom>
        </p:spPr>
      </p:pic>
    </p:spTree>
    <p:extLst>
      <p:ext uri="{BB962C8B-B14F-4D97-AF65-F5344CB8AC3E}">
        <p14:creationId xmlns:p14="http://schemas.microsoft.com/office/powerpoint/2010/main" val="9843401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halt ein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BCFD17-B4B7-4718-A0B2-C6A29F34A1B6}"/>
              </a:ext>
            </a:extLst>
          </p:cNvPr>
          <p:cNvSpPr>
            <a:spLocks noGrp="1"/>
          </p:cNvSpPr>
          <p:nvPr>
            <p:ph type="title"/>
          </p:nvPr>
        </p:nvSpPr>
        <p:spPr/>
        <p:txBody>
          <a:bodyPr/>
          <a:lstStyle/>
          <a:p>
            <a:r>
              <a:rPr lang="de-DE"/>
              <a:t>Mastertitelformat bearbeiten</a:t>
            </a:r>
            <a:endParaRPr lang="de-CH" dirty="0"/>
          </a:p>
        </p:txBody>
      </p:sp>
      <p:sp>
        <p:nvSpPr>
          <p:cNvPr id="4" name="Datumsplatzhalter 3">
            <a:extLst>
              <a:ext uri="{FF2B5EF4-FFF2-40B4-BE49-F238E27FC236}">
                <a16:creationId xmlns:a16="http://schemas.microsoft.com/office/drawing/2014/main" id="{A6306F30-4A06-4848-889C-2B49A0310D61}"/>
              </a:ext>
            </a:extLst>
          </p:cNvPr>
          <p:cNvSpPr>
            <a:spLocks noGrp="1"/>
          </p:cNvSpPr>
          <p:nvPr>
            <p:ph type="dt" sz="half" idx="10"/>
          </p:nvPr>
        </p:nvSpPr>
        <p:spPr/>
        <p:txBody>
          <a:bodyPr/>
          <a:lstStyle/>
          <a:p>
            <a:fld id="{3B96E7C6-F2CE-4756-8C9C-414CDB636DDE}" type="datetime1">
              <a:rPr lang="de-CH" smtClean="0"/>
              <a:t>13.08.2026</a:t>
            </a:fld>
            <a:endParaRPr lang="de-CH" dirty="0"/>
          </a:p>
        </p:txBody>
      </p:sp>
      <p:sp>
        <p:nvSpPr>
          <p:cNvPr id="6" name="Foliennummernplatzhalter 5">
            <a:extLst>
              <a:ext uri="{FF2B5EF4-FFF2-40B4-BE49-F238E27FC236}">
                <a16:creationId xmlns:a16="http://schemas.microsoft.com/office/drawing/2014/main" id="{649D22D5-1327-4CC6-BC04-BBBA842D5ECF}"/>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0" name="Inhaltsplatzhalter 9">
            <a:extLst>
              <a:ext uri="{FF2B5EF4-FFF2-40B4-BE49-F238E27FC236}">
                <a16:creationId xmlns:a16="http://schemas.microsoft.com/office/drawing/2014/main" id="{9064667C-5F85-4F72-9F6B-BFF00F7DBD82}"/>
              </a:ext>
            </a:extLst>
          </p:cNvPr>
          <p:cNvSpPr>
            <a:spLocks noGrp="1"/>
          </p:cNvSpPr>
          <p:nvPr>
            <p:ph sz="quarter" idx="13"/>
          </p:nvPr>
        </p:nvSpPr>
        <p:spPr>
          <a:xfrm>
            <a:off x="482461" y="1412875"/>
            <a:ext cx="11230114" cy="4752975"/>
          </a:xfrm>
        </p:spPr>
        <p:txBody>
          <a:bodyPr/>
          <a:lstStyle>
            <a:lvl5pPr>
              <a:defRPr/>
            </a:lvl5pPr>
            <a:lvl6pPr>
              <a:defRPr/>
            </a:lvl6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15233516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Inhalt zweispalti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6FA376F-3B67-4495-9024-BFB364999B80}"/>
              </a:ext>
            </a:extLst>
          </p:cNvPr>
          <p:cNvSpPr>
            <a:spLocks noGrp="1"/>
          </p:cNvSpPr>
          <p:nvPr>
            <p:ph type="title"/>
          </p:nvPr>
        </p:nvSpPr>
        <p:spPr/>
        <p:txBody>
          <a:bodyPr/>
          <a:lstStyle/>
          <a:p>
            <a:r>
              <a:rPr lang="de-DE"/>
              <a:t>Mastertitelformat bearbeiten</a:t>
            </a:r>
            <a:endParaRPr lang="de-CH" dirty="0"/>
          </a:p>
        </p:txBody>
      </p:sp>
      <p:sp>
        <p:nvSpPr>
          <p:cNvPr id="5" name="Datumsplatzhalter 4">
            <a:extLst>
              <a:ext uri="{FF2B5EF4-FFF2-40B4-BE49-F238E27FC236}">
                <a16:creationId xmlns:a16="http://schemas.microsoft.com/office/drawing/2014/main" id="{6CA6E583-214B-4790-B49E-75E172B91650}"/>
              </a:ext>
            </a:extLst>
          </p:cNvPr>
          <p:cNvSpPr>
            <a:spLocks noGrp="1"/>
          </p:cNvSpPr>
          <p:nvPr>
            <p:ph type="dt" sz="half" idx="10"/>
          </p:nvPr>
        </p:nvSpPr>
        <p:spPr/>
        <p:txBody>
          <a:bodyPr/>
          <a:lstStyle/>
          <a:p>
            <a:fld id="{E2111384-F462-4D90-9803-E7B6DB23FD1B}" type="datetime1">
              <a:rPr lang="de-CH" smtClean="0"/>
              <a:t>13.08.2026</a:t>
            </a:fld>
            <a:endParaRPr lang="de-CH" dirty="0"/>
          </a:p>
        </p:txBody>
      </p:sp>
      <p:sp>
        <p:nvSpPr>
          <p:cNvPr id="7" name="Foliennummernplatzhalter 6">
            <a:extLst>
              <a:ext uri="{FF2B5EF4-FFF2-40B4-BE49-F238E27FC236}">
                <a16:creationId xmlns:a16="http://schemas.microsoft.com/office/drawing/2014/main" id="{8F71F9D4-799C-4023-A650-6ADDB366AA4C}"/>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11" name="Inhaltsplatzhalter 10">
            <a:extLst>
              <a:ext uri="{FF2B5EF4-FFF2-40B4-BE49-F238E27FC236}">
                <a16:creationId xmlns:a16="http://schemas.microsoft.com/office/drawing/2014/main" id="{AEE37E4F-CE4E-4777-9C17-53E5210C7DF5}"/>
              </a:ext>
            </a:extLst>
          </p:cNvPr>
          <p:cNvSpPr>
            <a:spLocks noGrp="1"/>
          </p:cNvSpPr>
          <p:nvPr>
            <p:ph sz="quarter" idx="13"/>
          </p:nvPr>
        </p:nvSpPr>
        <p:spPr>
          <a:xfrm>
            <a:off x="479425"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
        <p:nvSpPr>
          <p:cNvPr id="13" name="Inhaltsplatzhalter 12">
            <a:extLst>
              <a:ext uri="{FF2B5EF4-FFF2-40B4-BE49-F238E27FC236}">
                <a16:creationId xmlns:a16="http://schemas.microsoft.com/office/drawing/2014/main" id="{A818BD93-1DDD-412D-A871-6BC5B00BBC1E}"/>
              </a:ext>
            </a:extLst>
          </p:cNvPr>
          <p:cNvSpPr>
            <a:spLocks noGrp="1"/>
          </p:cNvSpPr>
          <p:nvPr>
            <p:ph sz="quarter" idx="14"/>
          </p:nvPr>
        </p:nvSpPr>
        <p:spPr>
          <a:xfrm>
            <a:off x="6203950" y="1412875"/>
            <a:ext cx="5508625" cy="4752975"/>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de-CH" dirty="0"/>
          </a:p>
        </p:txBody>
      </p:sp>
    </p:spTree>
    <p:extLst>
      <p:ext uri="{BB962C8B-B14F-4D97-AF65-F5344CB8AC3E}">
        <p14:creationId xmlns:p14="http://schemas.microsoft.com/office/powerpoint/2010/main" val="225074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rennfolie ohne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4359010-3833-46D1-85CE-E9F83B9A0CAB}"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28134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rennfolie ohne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0"/>
            <a:ext cx="12192000" cy="6057767"/>
          </a:xfrm>
          <a:prstGeom prst="rect">
            <a:avLst/>
          </a:prstGeom>
          <a:solidFill>
            <a:srgbClr val="C3BBB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A44B8AD2-0CB6-4686-BC54-BC8E97B87777}"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8" name="Titel 5">
            <a:extLst>
              <a:ext uri="{FF2B5EF4-FFF2-40B4-BE49-F238E27FC236}">
                <a16:creationId xmlns:a16="http://schemas.microsoft.com/office/drawing/2014/main" id="{3A643077-A9CA-F47F-0A9E-1AF380752739}"/>
              </a:ext>
            </a:extLst>
          </p:cNvPr>
          <p:cNvSpPr>
            <a:spLocks noGrp="1"/>
          </p:cNvSpPr>
          <p:nvPr>
            <p:ph type="title"/>
          </p:nvPr>
        </p:nvSpPr>
        <p:spPr>
          <a:xfrm>
            <a:off x="482461" y="0"/>
            <a:ext cx="11230114" cy="2038490"/>
          </a:xfrm>
        </p:spPr>
        <p:txBody>
          <a:bodyPr anchor="b" anchorCtr="0"/>
          <a:lstStyle>
            <a:lvl1pPr>
              <a:defRPr sz="4800">
                <a:solidFill>
                  <a:schemeClr val="bg1"/>
                </a:solidFill>
              </a:defRPr>
            </a:lvl1pPr>
          </a:lstStyle>
          <a:p>
            <a:r>
              <a:rPr lang="de-DE"/>
              <a:t>Mastertitelformat bearbeiten</a:t>
            </a:r>
            <a:endParaRPr lang="de-DE" dirty="0"/>
          </a:p>
        </p:txBody>
      </p:sp>
      <p:cxnSp>
        <p:nvCxnSpPr>
          <p:cNvPr id="9" name="Gerade Verbindung 8">
            <a:extLst>
              <a:ext uri="{FF2B5EF4-FFF2-40B4-BE49-F238E27FC236}">
                <a16:creationId xmlns:a16="http://schemas.microsoft.com/office/drawing/2014/main" id="{2A728F00-27F7-562C-219D-86F622B7FDD8}"/>
              </a:ext>
            </a:extLst>
          </p:cNvPr>
          <p:cNvCxnSpPr/>
          <p:nvPr userDrawn="1"/>
        </p:nvCxnSpPr>
        <p:spPr>
          <a:xfrm>
            <a:off x="482461" y="2289762"/>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0856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rennfolie mit Bild 1">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0557833-6AB4-4458-8CD6-D82947634C0B}"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5">
            <a:extLst>
              <a:ext uri="{FF2B5EF4-FFF2-40B4-BE49-F238E27FC236}">
                <a16:creationId xmlns:a16="http://schemas.microsoft.com/office/drawing/2014/main" id="{B7E1B35D-2558-4834-BED2-DCB957EFAA77}"/>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10" name="Grafik 9" descr="Ein Bild, das Kleidung, Person, Menschliches Gesicht, Wand enthält.&#10;&#10;Automatisch generierte Beschreibung">
            <a:extLst>
              <a:ext uri="{FF2B5EF4-FFF2-40B4-BE49-F238E27FC236}">
                <a16:creationId xmlns:a16="http://schemas.microsoft.com/office/drawing/2014/main" id="{B0B4ED09-54AD-0FA1-50C1-0D8D4FD22147}"/>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 y="-1"/>
            <a:ext cx="12194017" cy="4453467"/>
          </a:xfrm>
          <a:prstGeom prst="rect">
            <a:avLst/>
          </a:prstGeom>
        </p:spPr>
      </p:pic>
    </p:spTree>
    <p:extLst>
      <p:ext uri="{BB962C8B-B14F-4D97-AF65-F5344CB8AC3E}">
        <p14:creationId xmlns:p14="http://schemas.microsoft.com/office/powerpoint/2010/main" val="1821041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rennfolie mit Bild 2">
    <p:bg>
      <p:bgPr>
        <a:solidFill>
          <a:schemeClr val="bg1"/>
        </a:solidFill>
        <a:effectLst/>
      </p:bgPr>
    </p:bg>
    <p:spTree>
      <p:nvGrpSpPr>
        <p:cNvPr id="1" name=""/>
        <p:cNvGrpSpPr/>
        <p:nvPr/>
      </p:nvGrpSpPr>
      <p:grpSpPr>
        <a:xfrm>
          <a:off x="0" y="0"/>
          <a:ext cx="0" cy="0"/>
          <a:chOff x="0" y="0"/>
          <a:chExt cx="0" cy="0"/>
        </a:xfrm>
      </p:grpSpPr>
      <p:sp>
        <p:nvSpPr>
          <p:cNvPr id="2" name="Rechteck 1">
            <a:extLst>
              <a:ext uri="{FF2B5EF4-FFF2-40B4-BE49-F238E27FC236}">
                <a16:creationId xmlns:a16="http://schemas.microsoft.com/office/drawing/2014/main" id="{22B569FC-FE53-4146-618B-EFBC7A5A6A0E}"/>
              </a:ext>
            </a:extLst>
          </p:cNvPr>
          <p:cNvSpPr/>
          <p:nvPr userDrawn="1"/>
        </p:nvSpPr>
        <p:spPr>
          <a:xfrm>
            <a:off x="0" y="4453466"/>
            <a:ext cx="12192000" cy="1604301"/>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5885801D-3341-4DAA-8DB7-EA54BF0E83F6}"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cxnSp>
        <p:nvCxnSpPr>
          <p:cNvPr id="4" name="Gerade Verbindung 3">
            <a:extLst>
              <a:ext uri="{FF2B5EF4-FFF2-40B4-BE49-F238E27FC236}">
                <a16:creationId xmlns:a16="http://schemas.microsoft.com/office/drawing/2014/main" id="{CCF65D67-392D-94A6-A705-0356D6275D98}"/>
              </a:ext>
            </a:extLst>
          </p:cNvPr>
          <p:cNvCxnSpPr/>
          <p:nvPr userDrawn="1"/>
        </p:nvCxnSpPr>
        <p:spPr>
          <a:xfrm>
            <a:off x="482461" y="3089995"/>
            <a:ext cx="11709539"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8" name="Grafik 7" descr="Ein Bild, das Kleidung, Person, Job, Mann enthält.&#10;&#10;Automatisch generierte Beschreibung">
            <a:extLst>
              <a:ext uri="{FF2B5EF4-FFF2-40B4-BE49-F238E27FC236}">
                <a16:creationId xmlns:a16="http://schemas.microsoft.com/office/drawing/2014/main" id="{9B02C635-22D7-3C01-B31E-8BF39184E568}"/>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 y="0"/>
            <a:ext cx="12207274" cy="4453467"/>
          </a:xfrm>
          <a:prstGeom prst="rect">
            <a:avLst/>
          </a:prstGeom>
        </p:spPr>
      </p:pic>
      <p:sp>
        <p:nvSpPr>
          <p:cNvPr id="7" name="Titel 5">
            <a:extLst>
              <a:ext uri="{FF2B5EF4-FFF2-40B4-BE49-F238E27FC236}">
                <a16:creationId xmlns:a16="http://schemas.microsoft.com/office/drawing/2014/main" id="{2479842B-4F83-0530-611F-DABFE9C1BF2F}"/>
              </a:ext>
            </a:extLst>
          </p:cNvPr>
          <p:cNvSpPr>
            <a:spLocks noGrp="1"/>
          </p:cNvSpPr>
          <p:nvPr>
            <p:ph type="title"/>
          </p:nvPr>
        </p:nvSpPr>
        <p:spPr>
          <a:xfrm>
            <a:off x="482461" y="4453467"/>
            <a:ext cx="11230114" cy="1604300"/>
          </a:xfrm>
        </p:spPr>
        <p:txBody>
          <a:bodyPr anchor="ctr" anchorCtr="0"/>
          <a:lstStyle>
            <a:lvl1pPr>
              <a:defRPr sz="4000">
                <a:solidFill>
                  <a:schemeClr val="bg1"/>
                </a:solidFill>
              </a:defRPr>
            </a:lvl1pPr>
          </a:lstStyle>
          <a:p>
            <a:r>
              <a:rPr lang="de-DE"/>
              <a:t>Mastertitelformat bearbeiten</a:t>
            </a:r>
            <a:endParaRPr lang="de-DE" dirty="0"/>
          </a:p>
        </p:txBody>
      </p:sp>
    </p:spTree>
    <p:extLst>
      <p:ext uri="{BB962C8B-B14F-4D97-AF65-F5344CB8AC3E}">
        <p14:creationId xmlns:p14="http://schemas.microsoft.com/office/powerpoint/2010/main" val="33899588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D4335EF-45ED-4E9C-9C66-FA632E3C452F}"/>
              </a:ext>
            </a:extLst>
          </p:cNvPr>
          <p:cNvSpPr>
            <a:spLocks noGrp="1"/>
          </p:cNvSpPr>
          <p:nvPr>
            <p:ph type="title"/>
          </p:nvPr>
        </p:nvSpPr>
        <p:spPr/>
        <p:txBody>
          <a:bodyPr/>
          <a:lstStyle/>
          <a:p>
            <a:r>
              <a:rPr lang="de-DE"/>
              <a:t>Mastertitelformat bearbeiten</a:t>
            </a:r>
            <a:endParaRPr lang="de-CH" dirty="0"/>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B4FC1744-D639-45C4-8D62-63B8E6EA4645}"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Tree>
    <p:extLst>
      <p:ext uri="{BB962C8B-B14F-4D97-AF65-F5344CB8AC3E}">
        <p14:creationId xmlns:p14="http://schemas.microsoft.com/office/powerpoint/2010/main" val="32656618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Zitat">
    <p:spTree>
      <p:nvGrpSpPr>
        <p:cNvPr id="1" name=""/>
        <p:cNvGrpSpPr/>
        <p:nvPr/>
      </p:nvGrpSpPr>
      <p:grpSpPr>
        <a:xfrm>
          <a:off x="0" y="0"/>
          <a:ext cx="0" cy="0"/>
          <a:chOff x="0" y="0"/>
          <a:chExt cx="0" cy="0"/>
        </a:xfrm>
      </p:grpSpPr>
      <p:sp>
        <p:nvSpPr>
          <p:cNvPr id="4" name="Rechteck 3">
            <a:extLst>
              <a:ext uri="{FF2B5EF4-FFF2-40B4-BE49-F238E27FC236}">
                <a16:creationId xmlns:a16="http://schemas.microsoft.com/office/drawing/2014/main" id="{F68D4EDF-0B8A-EC57-FA1B-8F6B30C70DBD}"/>
              </a:ext>
            </a:extLst>
          </p:cNvPr>
          <p:cNvSpPr/>
          <p:nvPr userDrawn="1"/>
        </p:nvSpPr>
        <p:spPr>
          <a:xfrm>
            <a:off x="0" y="0"/>
            <a:ext cx="12192000" cy="5919537"/>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err="1">
              <a:solidFill>
                <a:schemeClr val="tx1"/>
              </a:solidFill>
            </a:endParaRPr>
          </a:p>
        </p:txBody>
      </p:sp>
      <p:sp>
        <p:nvSpPr>
          <p:cNvPr id="3" name="Datumsplatzhalter 2">
            <a:extLst>
              <a:ext uri="{FF2B5EF4-FFF2-40B4-BE49-F238E27FC236}">
                <a16:creationId xmlns:a16="http://schemas.microsoft.com/office/drawing/2014/main" id="{C8FAAB2D-A293-4D3D-9F4E-0FAB456D12CF}"/>
              </a:ext>
            </a:extLst>
          </p:cNvPr>
          <p:cNvSpPr>
            <a:spLocks noGrp="1"/>
          </p:cNvSpPr>
          <p:nvPr>
            <p:ph type="dt" sz="half" idx="10"/>
          </p:nvPr>
        </p:nvSpPr>
        <p:spPr/>
        <p:txBody>
          <a:bodyPr/>
          <a:lstStyle/>
          <a:p>
            <a:fld id="{C33DD234-259D-4F15-8408-EA64820F6397}" type="datetime1">
              <a:rPr lang="de-CH" smtClean="0"/>
              <a:t>13.08.2026</a:t>
            </a:fld>
            <a:endParaRPr lang="de-CH" dirty="0"/>
          </a:p>
        </p:txBody>
      </p:sp>
      <p:sp>
        <p:nvSpPr>
          <p:cNvPr id="5" name="Foliennummernplatzhalter 4">
            <a:extLst>
              <a:ext uri="{FF2B5EF4-FFF2-40B4-BE49-F238E27FC236}">
                <a16:creationId xmlns:a16="http://schemas.microsoft.com/office/drawing/2014/main" id="{F7690C60-FE02-43F5-B09D-31F22CBBD3A1}"/>
              </a:ext>
            </a:extLst>
          </p:cNvPr>
          <p:cNvSpPr>
            <a:spLocks noGrp="1"/>
          </p:cNvSpPr>
          <p:nvPr>
            <p:ph type="sldNum" sz="quarter" idx="12"/>
          </p:nvPr>
        </p:nvSpPr>
        <p:spPr/>
        <p:txBody>
          <a:bodyPr/>
          <a:lstStyle/>
          <a:p>
            <a:fld id="{CE7E00E2-F08D-429A-AD9B-1ECBEC02F4DB}" type="slidenum">
              <a:rPr lang="de-CH" smtClean="0"/>
              <a:t>‹Nr.›</a:t>
            </a:fld>
            <a:endParaRPr lang="de-CH" dirty="0"/>
          </a:p>
        </p:txBody>
      </p:sp>
      <p:sp>
        <p:nvSpPr>
          <p:cNvPr id="6" name="Titel 4">
            <a:extLst>
              <a:ext uri="{FF2B5EF4-FFF2-40B4-BE49-F238E27FC236}">
                <a16:creationId xmlns:a16="http://schemas.microsoft.com/office/drawing/2014/main" id="{0609E4E5-60AD-96A2-134A-7945378CC0B8}"/>
              </a:ext>
            </a:extLst>
          </p:cNvPr>
          <p:cNvSpPr>
            <a:spLocks noGrp="1"/>
          </p:cNvSpPr>
          <p:nvPr>
            <p:ph type="title"/>
          </p:nvPr>
        </p:nvSpPr>
        <p:spPr>
          <a:xfrm>
            <a:off x="482461" y="440575"/>
            <a:ext cx="11230114" cy="2901141"/>
          </a:xfrm>
        </p:spPr>
        <p:txBody>
          <a:bodyPr anchor="b" anchorCtr="0"/>
          <a:lstStyle>
            <a:lvl1pPr>
              <a:defRPr sz="4800">
                <a:solidFill>
                  <a:schemeClr val="tx1"/>
                </a:solidFill>
              </a:defRPr>
            </a:lvl1pPr>
          </a:lstStyle>
          <a:p>
            <a:r>
              <a:rPr lang="de-DE"/>
              <a:t>Mastertitelformat bearbeiten</a:t>
            </a:r>
            <a:endParaRPr lang="de-CH" dirty="0"/>
          </a:p>
        </p:txBody>
      </p:sp>
      <p:sp>
        <p:nvSpPr>
          <p:cNvPr id="7" name="Textplatzhalter 3">
            <a:extLst>
              <a:ext uri="{FF2B5EF4-FFF2-40B4-BE49-F238E27FC236}">
                <a16:creationId xmlns:a16="http://schemas.microsoft.com/office/drawing/2014/main" id="{7899FE9C-58B2-B080-35E1-68B9BECC2500}"/>
              </a:ext>
            </a:extLst>
          </p:cNvPr>
          <p:cNvSpPr>
            <a:spLocks noGrp="1"/>
          </p:cNvSpPr>
          <p:nvPr>
            <p:ph type="body" sz="half" idx="2"/>
          </p:nvPr>
        </p:nvSpPr>
        <p:spPr>
          <a:xfrm>
            <a:off x="482461" y="3483324"/>
            <a:ext cx="6168505" cy="464127"/>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Tree>
    <p:extLst>
      <p:ext uri="{BB962C8B-B14F-4D97-AF65-F5344CB8AC3E}">
        <p14:creationId xmlns:p14="http://schemas.microsoft.com/office/powerpoint/2010/main" val="2234154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oleObject" Target="../embeddings/oleObject1.bin"/><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ags" Target="../tags/tag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3" name="Objekt 2" hidden="1">
            <a:extLst>
              <a:ext uri="{FF2B5EF4-FFF2-40B4-BE49-F238E27FC236}">
                <a16:creationId xmlns:a16="http://schemas.microsoft.com/office/drawing/2014/main" id="{1E2B7DFD-A86C-4E70-8523-5C51C2182A54}"/>
              </a:ext>
            </a:extLst>
          </p:cNvPr>
          <p:cNvGraphicFramePr>
            <a:graphicFrameLocks noChangeAspect="1"/>
          </p:cNvGraphicFramePr>
          <p:nvPr userDrawn="1">
            <p:custDataLst>
              <p:tags r:id="rId12"/>
            </p:custDataLst>
            <p:extLst>
              <p:ext uri="{D42A27DB-BD31-4B8C-83A1-F6EECF244321}">
                <p14:modId xmlns:p14="http://schemas.microsoft.com/office/powerpoint/2010/main" val="673268082"/>
              </p:ext>
            </p:ext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 Folie" r:id="rId13" imgW="306" imgH="306" progId="TCLayout.ActiveDocument.1">
                  <p:embed/>
                </p:oleObj>
              </mc:Choice>
              <mc:Fallback>
                <p:oleObj name="think-cell Folie" r:id="rId13" imgW="306" imgH="306" progId="TCLayout.ActiveDocument.1">
                  <p:embed/>
                  <p:pic>
                    <p:nvPicPr>
                      <p:cNvPr id="0" name=""/>
                      <p:cNvPicPr/>
                      <p:nvPr/>
                    </p:nvPicPr>
                    <p:blipFill>
                      <a:blip r:embed="rId14"/>
                      <a:stretch>
                        <a:fillRect/>
                      </a:stretch>
                    </p:blipFill>
                    <p:spPr>
                      <a:xfrm>
                        <a:off x="1588" y="1588"/>
                        <a:ext cx="1588" cy="1588"/>
                      </a:xfrm>
                      <a:prstGeom prst="rect">
                        <a:avLst/>
                      </a:prstGeom>
                    </p:spPr>
                  </p:pic>
                </p:oleObj>
              </mc:Fallback>
            </mc:AlternateContent>
          </a:graphicData>
        </a:graphic>
      </p:graphicFrame>
      <p:sp>
        <p:nvSpPr>
          <p:cNvPr id="2" name="Titelplatzhalter 1">
            <a:extLst>
              <a:ext uri="{FF2B5EF4-FFF2-40B4-BE49-F238E27FC236}">
                <a16:creationId xmlns:a16="http://schemas.microsoft.com/office/drawing/2014/main" id="{1DD4019C-FA41-4DCB-805B-361EDF75614E}"/>
              </a:ext>
            </a:extLst>
          </p:cNvPr>
          <p:cNvSpPr>
            <a:spLocks noGrp="1"/>
          </p:cNvSpPr>
          <p:nvPr>
            <p:ph type="title"/>
          </p:nvPr>
        </p:nvSpPr>
        <p:spPr>
          <a:xfrm>
            <a:off x="482461" y="346633"/>
            <a:ext cx="11230114" cy="767605"/>
          </a:xfrm>
          <a:prstGeom prst="rect">
            <a:avLst/>
          </a:prstGeom>
        </p:spPr>
        <p:txBody>
          <a:bodyPr vert="horz" lIns="0" tIns="0" rIns="0" bIns="0" rtlCol="0" anchor="t">
            <a:noAutofit/>
          </a:bodyPr>
          <a:lstStyle/>
          <a:p>
            <a:endParaRPr lang="de-CH" dirty="0"/>
          </a:p>
        </p:txBody>
      </p:sp>
      <p:sp>
        <p:nvSpPr>
          <p:cNvPr id="4" name="Datumsplatzhalter 3">
            <a:extLst>
              <a:ext uri="{FF2B5EF4-FFF2-40B4-BE49-F238E27FC236}">
                <a16:creationId xmlns:a16="http://schemas.microsoft.com/office/drawing/2014/main" id="{272891B6-CDC1-4079-B1F7-551FF564F32D}"/>
              </a:ext>
            </a:extLst>
          </p:cNvPr>
          <p:cNvSpPr>
            <a:spLocks noGrp="1"/>
          </p:cNvSpPr>
          <p:nvPr>
            <p:ph type="dt" sz="half" idx="2"/>
          </p:nvPr>
        </p:nvSpPr>
        <p:spPr>
          <a:xfrm>
            <a:off x="933451" y="6359712"/>
            <a:ext cx="616744" cy="365125"/>
          </a:xfrm>
          <a:prstGeom prst="rect">
            <a:avLst/>
          </a:prstGeom>
        </p:spPr>
        <p:txBody>
          <a:bodyPr vert="horz" lIns="0" tIns="0" rIns="0" bIns="0" rtlCol="0" anchor="ctr"/>
          <a:lstStyle>
            <a:lvl1pPr algn="l">
              <a:defRPr sz="900">
                <a:solidFill>
                  <a:schemeClr val="tx1"/>
                </a:solidFill>
              </a:defRPr>
            </a:lvl1pPr>
          </a:lstStyle>
          <a:p>
            <a:fld id="{5F18E43C-E52F-48EA-B380-1F3AB6DC196F}" type="datetime1">
              <a:rPr lang="de-CH" smtClean="0"/>
              <a:t>13.08.2026</a:t>
            </a:fld>
            <a:endParaRPr lang="de-CH" dirty="0"/>
          </a:p>
        </p:txBody>
      </p:sp>
      <p:sp>
        <p:nvSpPr>
          <p:cNvPr id="6" name="Foliennummernplatzhalter 5">
            <a:extLst>
              <a:ext uri="{FF2B5EF4-FFF2-40B4-BE49-F238E27FC236}">
                <a16:creationId xmlns:a16="http://schemas.microsoft.com/office/drawing/2014/main" id="{53FED3B5-429C-4615-9F3E-01C199CD6560}"/>
              </a:ext>
            </a:extLst>
          </p:cNvPr>
          <p:cNvSpPr>
            <a:spLocks noGrp="1"/>
          </p:cNvSpPr>
          <p:nvPr>
            <p:ph type="sldNum" sz="quarter" idx="4"/>
          </p:nvPr>
        </p:nvSpPr>
        <p:spPr>
          <a:xfrm>
            <a:off x="482461" y="6359712"/>
            <a:ext cx="415270" cy="365125"/>
          </a:xfrm>
          <a:prstGeom prst="rect">
            <a:avLst/>
          </a:prstGeom>
        </p:spPr>
        <p:txBody>
          <a:bodyPr vert="horz" lIns="0" tIns="0" rIns="0" bIns="0" rtlCol="0" anchor="ctr"/>
          <a:lstStyle>
            <a:lvl1pPr algn="l">
              <a:defRPr sz="900" b="0">
                <a:solidFill>
                  <a:schemeClr val="tx1"/>
                </a:solidFill>
              </a:defRPr>
            </a:lvl1pPr>
          </a:lstStyle>
          <a:p>
            <a:fld id="{CE7E00E2-F08D-429A-AD9B-1ECBEC02F4DB}" type="slidenum">
              <a:rPr lang="de-CH" smtClean="0"/>
              <a:pPr/>
              <a:t>‹Nr.›</a:t>
            </a:fld>
            <a:endParaRPr lang="de-CH" dirty="0"/>
          </a:p>
        </p:txBody>
      </p:sp>
      <p:sp>
        <p:nvSpPr>
          <p:cNvPr id="12" name="Textplatzhalter 11">
            <a:extLst>
              <a:ext uri="{FF2B5EF4-FFF2-40B4-BE49-F238E27FC236}">
                <a16:creationId xmlns:a16="http://schemas.microsoft.com/office/drawing/2014/main" id="{550445BB-B4A0-4D52-8CFF-52C0C820921A}"/>
              </a:ext>
            </a:extLst>
          </p:cNvPr>
          <p:cNvSpPr>
            <a:spLocks noGrp="1"/>
          </p:cNvSpPr>
          <p:nvPr>
            <p:ph type="body" idx="1"/>
          </p:nvPr>
        </p:nvSpPr>
        <p:spPr>
          <a:xfrm>
            <a:off x="482461" y="1412875"/>
            <a:ext cx="11230114" cy="4752975"/>
          </a:xfrm>
          <a:prstGeom prst="rect">
            <a:avLst/>
          </a:prstGeom>
        </p:spPr>
        <p:txBody>
          <a:bodyPr vert="horz" lIns="0" tIns="0" rIns="0" bIns="0" rtlCol="0">
            <a:noAutofit/>
          </a:bodyPr>
          <a:lstStyle/>
          <a:p>
            <a:pPr lvl="0"/>
            <a:r>
              <a:rPr lang="de-CH" dirty="0"/>
              <a:t>Mastertextformat bearbeiten</a:t>
            </a:r>
          </a:p>
          <a:p>
            <a:pPr lvl="1"/>
            <a:r>
              <a:rPr lang="de-CH" dirty="0"/>
              <a:t>Zweite Ebene</a:t>
            </a:r>
          </a:p>
          <a:p>
            <a:pPr lvl="2"/>
            <a:r>
              <a:rPr lang="de-CH" dirty="0"/>
              <a:t>Dritte Ebene</a:t>
            </a:r>
          </a:p>
          <a:p>
            <a:pPr lvl="3"/>
            <a:r>
              <a:rPr lang="de-CH" dirty="0"/>
              <a:t>Vierte Ebene</a:t>
            </a:r>
          </a:p>
          <a:p>
            <a:pPr lvl="4"/>
            <a:r>
              <a:rPr lang="de-CH" dirty="0"/>
              <a:t>Fünfte Ebene</a:t>
            </a:r>
          </a:p>
          <a:p>
            <a:pPr lvl="5"/>
            <a:r>
              <a:rPr lang="de-CH" dirty="0"/>
              <a:t>Sechste Ebene</a:t>
            </a:r>
          </a:p>
          <a:p>
            <a:pPr lvl="6"/>
            <a:r>
              <a:rPr lang="de-CH" dirty="0"/>
              <a:t>Siebte Ebene</a:t>
            </a:r>
          </a:p>
          <a:p>
            <a:pPr lvl="7"/>
            <a:r>
              <a:rPr lang="de-CH" dirty="0"/>
              <a:t>Achte Ebene</a:t>
            </a:r>
          </a:p>
          <a:p>
            <a:pPr lvl="8"/>
            <a:r>
              <a:rPr lang="de-CH" dirty="0"/>
              <a:t>Neunte Ebene</a:t>
            </a:r>
          </a:p>
        </p:txBody>
      </p:sp>
      <p:pic>
        <p:nvPicPr>
          <p:cNvPr id="7" name="Grafik 6" descr="Ein Bild, das Text, Schrift, Grafiken, Logo enthält.&#10;&#10;Automatisch generierte Beschreibung">
            <a:extLst>
              <a:ext uri="{FF2B5EF4-FFF2-40B4-BE49-F238E27FC236}">
                <a16:creationId xmlns:a16="http://schemas.microsoft.com/office/drawing/2014/main" id="{634BCDEB-7373-351C-E4E2-551AB91F5BE0}"/>
              </a:ext>
            </a:extLst>
          </p:cNvPr>
          <p:cNvPicPr>
            <a:picLocks noChangeAspect="1"/>
          </p:cNvPicPr>
          <p:nvPr userDrawn="1"/>
        </p:nvPicPr>
        <p:blipFill>
          <a:blip r:embed="rId15"/>
          <a:stretch>
            <a:fillRect/>
          </a:stretch>
        </p:blipFill>
        <p:spPr>
          <a:xfrm>
            <a:off x="10509163" y="6232744"/>
            <a:ext cx="1213732" cy="404577"/>
          </a:xfrm>
          <a:prstGeom prst="rect">
            <a:avLst/>
          </a:prstGeom>
        </p:spPr>
      </p:pic>
      <p:cxnSp>
        <p:nvCxnSpPr>
          <p:cNvPr id="11" name="Gerade Verbindung 10">
            <a:extLst>
              <a:ext uri="{FF2B5EF4-FFF2-40B4-BE49-F238E27FC236}">
                <a16:creationId xmlns:a16="http://schemas.microsoft.com/office/drawing/2014/main" id="{8286FE18-28CD-A869-E5C9-DD9B69D00291}"/>
              </a:ext>
            </a:extLst>
          </p:cNvPr>
          <p:cNvCxnSpPr/>
          <p:nvPr userDrawn="1"/>
        </p:nvCxnSpPr>
        <p:spPr>
          <a:xfrm>
            <a:off x="482461" y="1130864"/>
            <a:ext cx="11709539"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A4311B1-BD77-70B6-72ED-8322B6F15FF4}"/>
              </a:ext>
            </a:extLst>
          </p:cNvPr>
          <p:cNvSpPr txBox="1"/>
          <p:nvPr userDrawn="1">
            <p:extLst>
              <p:ext uri="{1162E1C5-73C7-4A58-AE30-91384D911F3F}">
                <p184:classification xmlns:p184="http://schemas.microsoft.com/office/powerpoint/2018/4/main" val="ftr"/>
              </p:ext>
            </p:extLst>
          </p:nvPr>
        </p:nvSpPr>
        <p:spPr>
          <a:xfrm>
            <a:off x="63500" y="6687820"/>
            <a:ext cx="447675" cy="106680"/>
          </a:xfrm>
          <a:prstGeom prst="rect">
            <a:avLst/>
          </a:prstGeom>
        </p:spPr>
        <p:txBody>
          <a:bodyPr horzOverflow="overflow" lIns="0" tIns="0" rIns="0" bIns="0">
            <a:spAutoFit/>
          </a:bodyPr>
          <a:lstStyle/>
          <a:p>
            <a:pPr algn="l"/>
            <a:r>
              <a:rPr lang="de-CH" sz="700">
                <a:solidFill>
                  <a:srgbClr val="000000">
                    <a:alpha val="50000"/>
                  </a:srgbClr>
                </a:solidFill>
                <a:latin typeface="Arial" panose="020B0604020202020204" pitchFamily="34" charset="0"/>
                <a:cs typeface="Arial" panose="020B0604020202020204" pitchFamily="34" charset="0"/>
              </a:rPr>
              <a:t>C2 - Intern</a:t>
            </a:r>
          </a:p>
        </p:txBody>
      </p:sp>
    </p:spTree>
    <p:extLst>
      <p:ext uri="{BB962C8B-B14F-4D97-AF65-F5344CB8AC3E}">
        <p14:creationId xmlns:p14="http://schemas.microsoft.com/office/powerpoint/2010/main" val="3896673654"/>
      </p:ext>
    </p:extLst>
  </p:cSld>
  <p:clrMap bg1="lt1" tx1="dk1" bg2="lt2" tx2="dk2" accent1="accent1" accent2="accent2" accent3="accent3" accent4="accent4" accent5="accent5" accent6="accent6" hlink="hlink" folHlink="folHlink"/>
  <p:sldLayoutIdLst>
    <p:sldLayoutId id="2147483649" r:id="rId1"/>
    <p:sldLayoutId id="2147483660" r:id="rId2"/>
    <p:sldLayoutId id="2147483650" r:id="rId3"/>
    <p:sldLayoutId id="2147483652" r:id="rId4"/>
    <p:sldLayoutId id="2147483665" r:id="rId5"/>
    <p:sldLayoutId id="2147483664" r:id="rId6"/>
    <p:sldLayoutId id="2147483667" r:id="rId7"/>
    <p:sldLayoutId id="2147483668" r:id="rId8"/>
    <p:sldLayoutId id="2147483654" r:id="rId9"/>
    <p:sldLayoutId id="2147483666" r:id="rId10"/>
  </p:sldLayoutIdLst>
  <p:hf hdr="0" ftr="0"/>
  <p:txStyles>
    <p:titleStyle>
      <a:lvl1pPr algn="l" defTabSz="914400" rtl="0" eaLnBrk="1" latinLnBrk="0" hangingPunct="1">
        <a:lnSpc>
          <a:spcPct val="90000"/>
        </a:lnSpc>
        <a:spcBef>
          <a:spcPct val="0"/>
        </a:spcBef>
        <a:buNone/>
        <a:defRPr sz="4000" b="0" kern="1200">
          <a:solidFill>
            <a:schemeClr val="tx1"/>
          </a:solidFill>
          <a:latin typeface="+mj-lt"/>
          <a:ea typeface="+mj-ea"/>
          <a:cs typeface="+mj-cs"/>
        </a:defRPr>
      </a:lvl1pPr>
    </p:titleStyle>
    <p:body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3884" userDrawn="1">
          <p15:clr>
            <a:srgbClr val="F26B43"/>
          </p15:clr>
        </p15:guide>
        <p15:guide id="2" pos="7378" userDrawn="1">
          <p15:clr>
            <a:srgbClr val="F26B43"/>
          </p15:clr>
        </p15:guide>
        <p15:guide id="3" pos="302" userDrawn="1">
          <p15:clr>
            <a:srgbClr val="F26B43"/>
          </p15:clr>
        </p15:guide>
        <p15:guide id="4" orient="horz" pos="890" userDrawn="1">
          <p15:clr>
            <a:srgbClr val="F26B43"/>
          </p15:clr>
        </p15:guide>
        <p15:guide id="5" pos="3840" userDrawn="1">
          <p15:clr>
            <a:srgbClr val="F26B43"/>
          </p15:clr>
        </p15:guide>
        <p15:guide id="6" pos="3772" userDrawn="1">
          <p15:clr>
            <a:srgbClr val="F26B43"/>
          </p15:clr>
        </p15:guide>
        <p15:guide id="7" pos="3908" userDrawn="1">
          <p15:clr>
            <a:srgbClr val="F26B43"/>
          </p15:clr>
        </p15:guide>
        <p15:guide id="8" orient="horz" pos="2387"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notesSlide" Target="../notesSlides/notesSlide5.xml"/><Relationship Id="rId1" Type="http://schemas.openxmlformats.org/officeDocument/2006/relationships/slideLayout" Target="../slideLayouts/slideLayout4.xml"/><Relationship Id="rId5" Type="http://schemas.openxmlformats.org/officeDocument/2006/relationships/image" Target="../media/image8.svg"/><Relationship Id="rId4" Type="http://schemas.openxmlformats.org/officeDocument/2006/relationships/image" Target="../media/image7.sv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8" Type="http://schemas.openxmlformats.org/officeDocument/2006/relationships/image" Target="../media/image14.svg"/><Relationship Id="rId13" Type="http://schemas.openxmlformats.org/officeDocument/2006/relationships/image" Target="../media/image19.svg"/><Relationship Id="rId3" Type="http://schemas.openxmlformats.org/officeDocument/2006/relationships/image" Target="../media/image9.svg"/><Relationship Id="rId7" Type="http://schemas.openxmlformats.org/officeDocument/2006/relationships/image" Target="../media/image13.svg"/><Relationship Id="rId12" Type="http://schemas.openxmlformats.org/officeDocument/2006/relationships/image" Target="../media/image18.svg"/><Relationship Id="rId2" Type="http://schemas.openxmlformats.org/officeDocument/2006/relationships/notesSlide" Target="../notesSlides/notesSlide7.xml"/><Relationship Id="rId16" Type="http://schemas.openxmlformats.org/officeDocument/2006/relationships/image" Target="../media/image22.svg"/><Relationship Id="rId1" Type="http://schemas.openxmlformats.org/officeDocument/2006/relationships/slideLayout" Target="../slideLayouts/slideLayout3.xml"/><Relationship Id="rId6" Type="http://schemas.openxmlformats.org/officeDocument/2006/relationships/image" Target="../media/image12.svg"/><Relationship Id="rId11" Type="http://schemas.openxmlformats.org/officeDocument/2006/relationships/image" Target="../media/image17.svg"/><Relationship Id="rId5" Type="http://schemas.openxmlformats.org/officeDocument/2006/relationships/image" Target="../media/image11.svg"/><Relationship Id="rId15" Type="http://schemas.openxmlformats.org/officeDocument/2006/relationships/image" Target="../media/image21.svg"/><Relationship Id="rId10" Type="http://schemas.openxmlformats.org/officeDocument/2006/relationships/image" Target="../media/image16.svg"/><Relationship Id="rId4" Type="http://schemas.openxmlformats.org/officeDocument/2006/relationships/image" Target="../media/image10.svg"/><Relationship Id="rId9" Type="http://schemas.openxmlformats.org/officeDocument/2006/relationships/image" Target="../media/image15.svg"/><Relationship Id="rId14" Type="http://schemas.openxmlformats.org/officeDocument/2006/relationships/image" Target="../media/image20.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17.svg"/><Relationship Id="rId13" Type="http://schemas.openxmlformats.org/officeDocument/2006/relationships/image" Target="../media/image10.svg"/><Relationship Id="rId3" Type="http://schemas.openxmlformats.org/officeDocument/2006/relationships/image" Target="../media/image12.svg"/><Relationship Id="rId7" Type="http://schemas.openxmlformats.org/officeDocument/2006/relationships/image" Target="../media/image16.svg"/><Relationship Id="rId12" Type="http://schemas.openxmlformats.org/officeDocument/2006/relationships/image" Target="../media/image22.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5.svg"/><Relationship Id="rId11" Type="http://schemas.openxmlformats.org/officeDocument/2006/relationships/image" Target="../media/image21.svg"/><Relationship Id="rId5" Type="http://schemas.openxmlformats.org/officeDocument/2006/relationships/image" Target="../media/image14.svg"/><Relationship Id="rId15" Type="http://schemas.openxmlformats.org/officeDocument/2006/relationships/image" Target="../media/image18.svg"/><Relationship Id="rId10" Type="http://schemas.openxmlformats.org/officeDocument/2006/relationships/image" Target="../media/image20.svg"/><Relationship Id="rId4" Type="http://schemas.openxmlformats.org/officeDocument/2006/relationships/image" Target="../media/image13.svg"/><Relationship Id="rId9" Type="http://schemas.openxmlformats.org/officeDocument/2006/relationships/image" Target="../media/image19.svg"/><Relationship Id="rId14" Type="http://schemas.openxmlformats.org/officeDocument/2006/relationships/image" Target="../media/image11.svg"/></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krosAG/RAG-Workshop.git" TargetMode="Externa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8" Type="http://schemas.openxmlformats.org/officeDocument/2006/relationships/image" Target="../media/image9.svg"/><Relationship Id="rId13" Type="http://schemas.openxmlformats.org/officeDocument/2006/relationships/image" Target="../media/image15.svg"/><Relationship Id="rId3" Type="http://schemas.openxmlformats.org/officeDocument/2006/relationships/image" Target="../media/image17.svg"/><Relationship Id="rId7" Type="http://schemas.openxmlformats.org/officeDocument/2006/relationships/image" Target="../media/image22.svg"/><Relationship Id="rId12" Type="http://schemas.openxmlformats.org/officeDocument/2006/relationships/image" Target="../media/image13.svg"/><Relationship Id="rId2" Type="http://schemas.openxmlformats.org/officeDocument/2006/relationships/image" Target="../media/image16.svg"/><Relationship Id="rId1" Type="http://schemas.openxmlformats.org/officeDocument/2006/relationships/slideLayout" Target="../slideLayouts/slideLayout3.xml"/><Relationship Id="rId6" Type="http://schemas.openxmlformats.org/officeDocument/2006/relationships/image" Target="../media/image21.svg"/><Relationship Id="rId11" Type="http://schemas.openxmlformats.org/officeDocument/2006/relationships/image" Target="../media/image12.svg"/><Relationship Id="rId5" Type="http://schemas.openxmlformats.org/officeDocument/2006/relationships/image" Target="../media/image20.svg"/><Relationship Id="rId15" Type="http://schemas.openxmlformats.org/officeDocument/2006/relationships/image" Target="../media/image19.svg"/><Relationship Id="rId10" Type="http://schemas.openxmlformats.org/officeDocument/2006/relationships/image" Target="../media/image11.svg"/><Relationship Id="rId4" Type="http://schemas.openxmlformats.org/officeDocument/2006/relationships/image" Target="../media/image14.svg"/><Relationship Id="rId9" Type="http://schemas.openxmlformats.org/officeDocument/2006/relationships/image" Target="../media/image10.svg"/><Relationship Id="rId14" Type="http://schemas.openxmlformats.org/officeDocument/2006/relationships/image" Target="../media/image18.svg"/></Relationships>
</file>

<file path=ppt/slides/_rels/slide14.xml.rels><?xml version="1.0" encoding="UTF-8" standalone="yes"?>
<Relationships xmlns="http://schemas.openxmlformats.org/package/2006/relationships"><Relationship Id="rId8" Type="http://schemas.openxmlformats.org/officeDocument/2006/relationships/image" Target="../media/image20.svg"/><Relationship Id="rId13" Type="http://schemas.openxmlformats.org/officeDocument/2006/relationships/image" Target="../media/image16.svg"/><Relationship Id="rId3" Type="http://schemas.openxmlformats.org/officeDocument/2006/relationships/image" Target="../media/image12.svg"/><Relationship Id="rId7" Type="http://schemas.openxmlformats.org/officeDocument/2006/relationships/image" Target="../media/image19.svg"/><Relationship Id="rId12" Type="http://schemas.openxmlformats.org/officeDocument/2006/relationships/image" Target="../media/image15.svg"/><Relationship Id="rId2" Type="http://schemas.openxmlformats.org/officeDocument/2006/relationships/image" Target="../media/image9.svg"/><Relationship Id="rId1" Type="http://schemas.openxmlformats.org/officeDocument/2006/relationships/slideLayout" Target="../slideLayouts/slideLayout3.xml"/><Relationship Id="rId6" Type="http://schemas.openxmlformats.org/officeDocument/2006/relationships/image" Target="../media/image17.svg"/><Relationship Id="rId11" Type="http://schemas.openxmlformats.org/officeDocument/2006/relationships/image" Target="../media/image11.svg"/><Relationship Id="rId5" Type="http://schemas.openxmlformats.org/officeDocument/2006/relationships/image" Target="../media/image14.svg"/><Relationship Id="rId15" Type="http://schemas.openxmlformats.org/officeDocument/2006/relationships/image" Target="../media/image22.svg"/><Relationship Id="rId10" Type="http://schemas.openxmlformats.org/officeDocument/2006/relationships/image" Target="../media/image10.svg"/><Relationship Id="rId4" Type="http://schemas.openxmlformats.org/officeDocument/2006/relationships/image" Target="../media/image13.svg"/><Relationship Id="rId9" Type="http://schemas.openxmlformats.org/officeDocument/2006/relationships/image" Target="../media/image21.svg"/><Relationship Id="rId14" Type="http://schemas.openxmlformats.org/officeDocument/2006/relationships/image" Target="../media/image18.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8" Type="http://schemas.openxmlformats.org/officeDocument/2006/relationships/image" Target="../media/image13.svg"/><Relationship Id="rId13" Type="http://schemas.openxmlformats.org/officeDocument/2006/relationships/image" Target="../media/image18.svg"/><Relationship Id="rId3" Type="http://schemas.openxmlformats.org/officeDocument/2006/relationships/image" Target="../media/image21.svg"/><Relationship Id="rId7" Type="http://schemas.openxmlformats.org/officeDocument/2006/relationships/image" Target="../media/image12.svg"/><Relationship Id="rId12" Type="http://schemas.openxmlformats.org/officeDocument/2006/relationships/image" Target="../media/image17.svg"/><Relationship Id="rId2" Type="http://schemas.openxmlformats.org/officeDocument/2006/relationships/image" Target="../media/image20.svg"/><Relationship Id="rId1" Type="http://schemas.openxmlformats.org/officeDocument/2006/relationships/slideLayout" Target="../slideLayouts/slideLayout3.xml"/><Relationship Id="rId6" Type="http://schemas.openxmlformats.org/officeDocument/2006/relationships/image" Target="../media/image11.svg"/><Relationship Id="rId11" Type="http://schemas.openxmlformats.org/officeDocument/2006/relationships/image" Target="../media/image16.svg"/><Relationship Id="rId5" Type="http://schemas.openxmlformats.org/officeDocument/2006/relationships/image" Target="../media/image10.svg"/><Relationship Id="rId15" Type="http://schemas.openxmlformats.org/officeDocument/2006/relationships/image" Target="../media/image22.svg"/><Relationship Id="rId10" Type="http://schemas.openxmlformats.org/officeDocument/2006/relationships/image" Target="../media/image15.svg"/><Relationship Id="rId4" Type="http://schemas.openxmlformats.org/officeDocument/2006/relationships/image" Target="../media/image9.svg"/><Relationship Id="rId9" Type="http://schemas.openxmlformats.org/officeDocument/2006/relationships/image" Target="../media/image14.svg"/><Relationship Id="rId14" Type="http://schemas.openxmlformats.org/officeDocument/2006/relationships/image" Target="../media/image19.sv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8" Type="http://schemas.openxmlformats.org/officeDocument/2006/relationships/image" Target="../media/image10.svg"/><Relationship Id="rId13" Type="http://schemas.openxmlformats.org/officeDocument/2006/relationships/image" Target="../media/image20.svg"/><Relationship Id="rId3" Type="http://schemas.openxmlformats.org/officeDocument/2006/relationships/image" Target="../media/image14.svg"/><Relationship Id="rId7" Type="http://schemas.openxmlformats.org/officeDocument/2006/relationships/image" Target="../media/image9.svg"/><Relationship Id="rId12" Type="http://schemas.openxmlformats.org/officeDocument/2006/relationships/image" Target="../media/image18.svg"/><Relationship Id="rId2" Type="http://schemas.openxmlformats.org/officeDocument/2006/relationships/image" Target="../media/image13.svg"/><Relationship Id="rId1" Type="http://schemas.openxmlformats.org/officeDocument/2006/relationships/slideLayout" Target="../slideLayouts/slideLayout3.xml"/><Relationship Id="rId6" Type="http://schemas.openxmlformats.org/officeDocument/2006/relationships/image" Target="../media/image19.svg"/><Relationship Id="rId11" Type="http://schemas.openxmlformats.org/officeDocument/2006/relationships/image" Target="../media/image16.svg"/><Relationship Id="rId5" Type="http://schemas.openxmlformats.org/officeDocument/2006/relationships/image" Target="../media/image17.svg"/><Relationship Id="rId15" Type="http://schemas.openxmlformats.org/officeDocument/2006/relationships/image" Target="../media/image22.svg"/><Relationship Id="rId10" Type="http://schemas.openxmlformats.org/officeDocument/2006/relationships/image" Target="../media/image12.svg"/><Relationship Id="rId4" Type="http://schemas.openxmlformats.org/officeDocument/2006/relationships/image" Target="../media/image15.svg"/><Relationship Id="rId9" Type="http://schemas.openxmlformats.org/officeDocument/2006/relationships/image" Target="../media/image11.svg"/><Relationship Id="rId14" Type="http://schemas.openxmlformats.org/officeDocument/2006/relationships/image" Target="../media/image21.svg"/></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9.xml"/></Relationships>
</file>

<file path=ppt/slides/_rels/slide21.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20.svg"/><Relationship Id="rId7" Type="http://schemas.openxmlformats.org/officeDocument/2006/relationships/image" Target="../media/image24.svg"/><Relationship Id="rId2" Type="http://schemas.openxmlformats.org/officeDocument/2006/relationships/image" Target="../media/image15.svg"/><Relationship Id="rId1" Type="http://schemas.openxmlformats.org/officeDocument/2006/relationships/slideLayout" Target="../slideLayouts/slideLayout9.xml"/><Relationship Id="rId6" Type="http://schemas.openxmlformats.org/officeDocument/2006/relationships/image" Target="../media/image14.svg"/><Relationship Id="rId5" Type="http://schemas.openxmlformats.org/officeDocument/2006/relationships/image" Target="../media/image10.svg"/><Relationship Id="rId10" Type="http://schemas.openxmlformats.org/officeDocument/2006/relationships/image" Target="../media/image11.svg"/><Relationship Id="rId4" Type="http://schemas.openxmlformats.org/officeDocument/2006/relationships/image" Target="../media/image21.svg"/><Relationship Id="rId9" Type="http://schemas.openxmlformats.org/officeDocument/2006/relationships/image" Target="../media/image18.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6356A49E-A7FB-3248-E4BF-2359434FBE83}"/>
              </a:ext>
            </a:extLst>
          </p:cNvPr>
          <p:cNvSpPr>
            <a:spLocks noGrp="1"/>
          </p:cNvSpPr>
          <p:nvPr>
            <p:ph type="dt" sz="half" idx="10"/>
          </p:nvPr>
        </p:nvSpPr>
        <p:spPr/>
        <p:txBody>
          <a:bodyPr/>
          <a:lstStyle/>
          <a:p>
            <a:fld id="{63C4474F-84D2-49E0-A6C4-5163AC122E4E}" type="datetime1">
              <a:rPr lang="de-CH" smtClean="0"/>
              <a:t>13.08.2026</a:t>
            </a:fld>
            <a:endParaRPr lang="de-CH" dirty="0"/>
          </a:p>
        </p:txBody>
      </p:sp>
      <p:sp>
        <p:nvSpPr>
          <p:cNvPr id="3" name="Foliennummernplatzhalter 2">
            <a:extLst>
              <a:ext uri="{FF2B5EF4-FFF2-40B4-BE49-F238E27FC236}">
                <a16:creationId xmlns:a16="http://schemas.microsoft.com/office/drawing/2014/main" id="{E1209A0F-9C79-AE64-1D28-D08B52F48AD5}"/>
              </a:ext>
            </a:extLst>
          </p:cNvPr>
          <p:cNvSpPr>
            <a:spLocks noGrp="1"/>
          </p:cNvSpPr>
          <p:nvPr>
            <p:ph type="sldNum" sz="quarter" idx="12"/>
          </p:nvPr>
        </p:nvSpPr>
        <p:spPr/>
        <p:txBody>
          <a:bodyPr/>
          <a:lstStyle/>
          <a:p>
            <a:fld id="{CE7E00E2-F08D-429A-AD9B-1ECBEC02F4DB}" type="slidenum">
              <a:rPr lang="de-CH" smtClean="0"/>
              <a:pPr/>
              <a:t>1</a:t>
            </a:fld>
            <a:endParaRPr lang="de-CH" dirty="0"/>
          </a:p>
        </p:txBody>
      </p:sp>
      <p:sp>
        <p:nvSpPr>
          <p:cNvPr id="4" name="Titel 3">
            <a:extLst>
              <a:ext uri="{FF2B5EF4-FFF2-40B4-BE49-F238E27FC236}">
                <a16:creationId xmlns:a16="http://schemas.microsoft.com/office/drawing/2014/main" id="{78FAA1D1-324E-0EA2-765F-7F46098D755D}"/>
              </a:ext>
            </a:extLst>
          </p:cNvPr>
          <p:cNvSpPr>
            <a:spLocks noGrp="1"/>
          </p:cNvSpPr>
          <p:nvPr>
            <p:ph type="ctrTitle"/>
          </p:nvPr>
        </p:nvSpPr>
        <p:spPr/>
        <p:txBody>
          <a:bodyPr/>
          <a:lstStyle/>
          <a:p>
            <a:r>
              <a:rPr lang="de-DE" dirty="0"/>
              <a:t>Retrieval-</a:t>
            </a:r>
            <a:r>
              <a:rPr lang="de-DE" dirty="0" err="1"/>
              <a:t>Augmented</a:t>
            </a:r>
            <a:r>
              <a:rPr lang="de-DE" dirty="0"/>
              <a:t> Generator (RAG)</a:t>
            </a:r>
          </a:p>
        </p:txBody>
      </p:sp>
      <p:sp>
        <p:nvSpPr>
          <p:cNvPr id="5" name="Untertitel 4">
            <a:extLst>
              <a:ext uri="{FF2B5EF4-FFF2-40B4-BE49-F238E27FC236}">
                <a16:creationId xmlns:a16="http://schemas.microsoft.com/office/drawing/2014/main" id="{D69D0109-64FB-469A-21A2-18B28B22B835}"/>
              </a:ext>
            </a:extLst>
          </p:cNvPr>
          <p:cNvSpPr>
            <a:spLocks noGrp="1"/>
          </p:cNvSpPr>
          <p:nvPr>
            <p:ph type="subTitle" idx="1"/>
          </p:nvPr>
        </p:nvSpPr>
        <p:spPr>
          <a:xfrm>
            <a:off x="498765" y="5997777"/>
            <a:ext cx="6148215" cy="514351"/>
          </a:xfrm>
        </p:spPr>
        <p:txBody>
          <a:bodyPr/>
          <a:lstStyle/>
          <a:p>
            <a:r>
              <a:rPr lang="de-DE" dirty="0"/>
              <a:t>21.08.2026</a:t>
            </a:r>
          </a:p>
        </p:txBody>
      </p:sp>
      <p:sp>
        <p:nvSpPr>
          <p:cNvPr id="6" name="Untertitel 4">
            <a:extLst>
              <a:ext uri="{FF2B5EF4-FFF2-40B4-BE49-F238E27FC236}">
                <a16:creationId xmlns:a16="http://schemas.microsoft.com/office/drawing/2014/main" id="{959EF613-4379-565F-1217-D18241F1CE9A}"/>
              </a:ext>
            </a:extLst>
          </p:cNvPr>
          <p:cNvSpPr txBox="1">
            <a:spLocks/>
          </p:cNvSpPr>
          <p:nvPr/>
        </p:nvSpPr>
        <p:spPr>
          <a:xfrm>
            <a:off x="540000" y="3600000"/>
            <a:ext cx="6120000" cy="900000"/>
          </a:xfrm>
          <a:prstGeom prst="rect">
            <a:avLst/>
          </a:prstGeom>
        </p:spPr>
        <p:txBody>
          <a:bodyPr vert="horz" lIns="0" tIns="0" rIns="0" bIns="0" rtlCol="0">
            <a:noAutofit/>
          </a:bodyPr>
          <a:lstStyle>
            <a:lvl1pPr marL="0" indent="0" algn="l" defTabSz="914400" rtl="0" eaLnBrk="1" latinLnBrk="0" hangingPunct="1">
              <a:lnSpc>
                <a:spcPct val="100000"/>
              </a:lnSpc>
              <a:spcBef>
                <a:spcPts val="0"/>
              </a:spcBef>
              <a:spcAft>
                <a:spcPts val="1000"/>
              </a:spcAft>
              <a:buClr>
                <a:schemeClr val="accent1"/>
              </a:buClr>
              <a:buFont typeface="Arial" panose="020B0604020202020204" pitchFamily="34" charset="0"/>
              <a:buNone/>
              <a:defRPr sz="2600" b="0" kern="1200">
                <a:solidFill>
                  <a:srgbClr val="2D3F4B"/>
                </a:solidFill>
                <a:latin typeface="+mn-lt"/>
                <a:ea typeface="+mn-ea"/>
                <a:cs typeface="+mn-cs"/>
              </a:defRPr>
            </a:lvl1pPr>
            <a:lvl2pPr marL="457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100000"/>
              </a:lnSpc>
              <a:spcBef>
                <a:spcPts val="0"/>
              </a:spcBef>
              <a:spcAft>
                <a:spcPts val="1000"/>
              </a:spcAft>
              <a:buClr>
                <a:schemeClr val="accent1"/>
              </a:buClr>
              <a:buFont typeface="Arial" panose="020B0604020202020204" pitchFamily="34" charset="0"/>
              <a:buNone/>
              <a:defRPr sz="1600" kern="1200">
                <a:solidFill>
                  <a:schemeClr val="tx1"/>
                </a:solidFill>
                <a:latin typeface="+mn-lt"/>
                <a:ea typeface="+mn-ea"/>
                <a:cs typeface="+mn-cs"/>
              </a:defRPr>
            </a:lvl9pPr>
          </a:lstStyle>
          <a:p>
            <a:r>
              <a:rPr lang="de-DE" dirty="0"/>
              <a:t>Bau eines eigenen Knowledge-Workers</a:t>
            </a:r>
          </a:p>
          <a:p>
            <a:r>
              <a:rPr lang="de-DE" dirty="0"/>
              <a:t>Stephanie Mehltretter, Daniel Frey</a:t>
            </a:r>
          </a:p>
        </p:txBody>
      </p:sp>
    </p:spTree>
    <p:extLst>
      <p:ext uri="{BB962C8B-B14F-4D97-AF65-F5344CB8AC3E}">
        <p14:creationId xmlns:p14="http://schemas.microsoft.com/office/powerpoint/2010/main" val="108702742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9094C33-2981-40AC-B5F4-99FA7317951F}"/>
              </a:ext>
            </a:extLst>
          </p:cNvPr>
          <p:cNvSpPr>
            <a:spLocks noGrp="1"/>
          </p:cNvSpPr>
          <p:nvPr>
            <p:ph type="title"/>
          </p:nvPr>
        </p:nvSpPr>
        <p:spPr/>
        <p:txBody>
          <a:bodyPr/>
          <a:lstStyle/>
          <a:p>
            <a:r>
              <a:rPr lang="de-CH" dirty="0"/>
              <a:t>Agenda</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13.08.2026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a:t>
            </a:fld>
            <a:endParaRPr lang="de-CH" dirty="0"/>
          </a:p>
        </p:txBody>
      </p:sp>
      <p:sp>
        <p:nvSpPr>
          <p:cNvPr id="12" name="Inhaltsplatzhalter 11">
            <a:extLst>
              <a:ext uri="{FF2B5EF4-FFF2-40B4-BE49-F238E27FC236}">
                <a16:creationId xmlns:a16="http://schemas.microsoft.com/office/drawing/2014/main" id="{B71FC5D9-A85C-E390-34D7-E0121E3AA951}"/>
              </a:ext>
            </a:extLst>
          </p:cNvPr>
          <p:cNvSpPr>
            <a:spLocks noGrp="1"/>
          </p:cNvSpPr>
          <p:nvPr>
            <p:ph sz="quarter" idx="13"/>
          </p:nvPr>
        </p:nvSpPr>
        <p:spPr/>
        <p:txBody>
          <a:bodyPr/>
          <a:lstStyle/>
          <a:p>
            <a:r>
              <a:rPr lang="de-DE" dirty="0"/>
              <a:t>Warum RAG?</a:t>
            </a:r>
          </a:p>
          <a:p>
            <a:r>
              <a:rPr lang="de-DE" dirty="0"/>
              <a:t>Hands-on: Vom Setup zur ersten belegbaren Antwort</a:t>
            </a:r>
          </a:p>
          <a:p>
            <a:r>
              <a:rPr lang="de-DE" dirty="0" err="1"/>
              <a:t>Advanced</a:t>
            </a:r>
            <a:r>
              <a:rPr lang="de-DE" dirty="0"/>
              <a:t> RAG</a:t>
            </a:r>
          </a:p>
          <a:p>
            <a:pPr lvl="1"/>
            <a:r>
              <a:rPr lang="de-DE" dirty="0" err="1"/>
              <a:t>Semantic</a:t>
            </a:r>
            <a:r>
              <a:rPr lang="de-DE" dirty="0"/>
              <a:t> Chunking</a:t>
            </a:r>
          </a:p>
          <a:p>
            <a:pPr lvl="1"/>
            <a:r>
              <a:rPr lang="de-DE" dirty="0" err="1"/>
              <a:t>Reranking</a:t>
            </a:r>
            <a:endParaRPr lang="de-DE" dirty="0"/>
          </a:p>
          <a:p>
            <a:pPr lvl="1"/>
            <a:r>
              <a:rPr lang="de-DE" dirty="0"/>
              <a:t>Hybrid </a:t>
            </a:r>
            <a:r>
              <a:rPr lang="de-DE" dirty="0" err="1"/>
              <a:t>GraphRAG</a:t>
            </a:r>
            <a:endParaRPr lang="de-DE" dirty="0"/>
          </a:p>
        </p:txBody>
      </p:sp>
    </p:spTree>
    <p:extLst>
      <p:ext uri="{BB962C8B-B14F-4D97-AF65-F5344CB8AC3E}">
        <p14:creationId xmlns:p14="http://schemas.microsoft.com/office/powerpoint/2010/main" val="8089885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EA2CB40-4AA5-D7F7-B74C-FCE223109893}"/>
              </a:ext>
            </a:extLst>
          </p:cNvPr>
          <p:cNvSpPr>
            <a:spLocks noGrp="1"/>
          </p:cNvSpPr>
          <p:nvPr>
            <p:ph type="title"/>
          </p:nvPr>
        </p:nvSpPr>
        <p:spPr/>
        <p:txBody>
          <a:bodyPr/>
          <a:lstStyle/>
          <a:p>
            <a:r>
              <a:rPr lang="de-CH" dirty="0"/>
              <a:t>Was Ihr heute mitnehmen könnt</a:t>
            </a:r>
          </a:p>
        </p:txBody>
      </p:sp>
      <p:sp>
        <p:nvSpPr>
          <p:cNvPr id="3" name="Datumsplatzhalter 2">
            <a:extLst>
              <a:ext uri="{FF2B5EF4-FFF2-40B4-BE49-F238E27FC236}">
                <a16:creationId xmlns:a16="http://schemas.microsoft.com/office/drawing/2014/main" id="{2DA3CC93-C983-8492-6900-EF81C4EE1E1A}"/>
              </a:ext>
            </a:extLst>
          </p:cNvPr>
          <p:cNvSpPr>
            <a:spLocks noGrp="1"/>
          </p:cNvSpPr>
          <p:nvPr>
            <p:ph type="dt" sz="half" idx="10"/>
          </p:nvPr>
        </p:nvSpPr>
        <p:spPr/>
        <p:txBody>
          <a:bodyPr/>
          <a:lstStyle/>
          <a:p>
            <a:fld id="{3B96E7C6-F2CE-4756-8C9C-414CDB636DDE}" type="datetime1">
              <a:rPr lang="de-CH" smtClean="0"/>
              <a:t>13.08.2026</a:t>
            </a:fld>
            <a:endParaRPr lang="de-CH" dirty="0"/>
          </a:p>
        </p:txBody>
      </p:sp>
      <p:sp>
        <p:nvSpPr>
          <p:cNvPr id="4" name="Foliennummernplatzhalter 3">
            <a:extLst>
              <a:ext uri="{FF2B5EF4-FFF2-40B4-BE49-F238E27FC236}">
                <a16:creationId xmlns:a16="http://schemas.microsoft.com/office/drawing/2014/main" id="{9D321ECF-4452-34A1-FFA5-410A1D0BD724}"/>
              </a:ext>
            </a:extLst>
          </p:cNvPr>
          <p:cNvSpPr>
            <a:spLocks noGrp="1"/>
          </p:cNvSpPr>
          <p:nvPr>
            <p:ph type="sldNum" sz="quarter" idx="12"/>
          </p:nvPr>
        </p:nvSpPr>
        <p:spPr/>
        <p:txBody>
          <a:bodyPr/>
          <a:lstStyle/>
          <a:p>
            <a:fld id="{CE7E00E2-F08D-429A-AD9B-1ECBEC02F4DB}" type="slidenum">
              <a:rPr lang="de-CH" smtClean="0"/>
              <a:t>3</a:t>
            </a:fld>
            <a:endParaRPr lang="de-CH" dirty="0"/>
          </a:p>
        </p:txBody>
      </p:sp>
      <p:sp>
        <p:nvSpPr>
          <p:cNvPr id="5" name="Inhaltsplatzhalter 4">
            <a:extLst>
              <a:ext uri="{FF2B5EF4-FFF2-40B4-BE49-F238E27FC236}">
                <a16:creationId xmlns:a16="http://schemas.microsoft.com/office/drawing/2014/main" id="{B6185FCA-0204-7C49-ECBC-2383F8811DFB}"/>
              </a:ext>
            </a:extLst>
          </p:cNvPr>
          <p:cNvSpPr>
            <a:spLocks noGrp="1"/>
          </p:cNvSpPr>
          <p:nvPr>
            <p:ph sz="quarter" idx="13"/>
          </p:nvPr>
        </p:nvSpPr>
        <p:spPr/>
        <p:txBody>
          <a:bodyPr/>
          <a:lstStyle/>
          <a:p>
            <a:r>
              <a:rPr lang="de-DE" dirty="0"/>
              <a:t>Grenzen reiner LLMs erklären</a:t>
            </a:r>
          </a:p>
          <a:p>
            <a:r>
              <a:rPr lang="de-DE" dirty="0"/>
              <a:t>Die Bausteine einer RAG-Pipeline benennen und einordnen</a:t>
            </a:r>
          </a:p>
          <a:p>
            <a:r>
              <a:rPr lang="de-DE" dirty="0"/>
              <a:t>Selbst eine RAG-Pipeline in Betrieb nehmen</a:t>
            </a:r>
          </a:p>
          <a:p>
            <a:r>
              <a:rPr lang="de-DE" dirty="0"/>
              <a:t>Stellschrauben der Antwortqualität kennen</a:t>
            </a:r>
          </a:p>
          <a:p>
            <a:r>
              <a:rPr lang="de-DE" dirty="0"/>
              <a:t>Qualität messen statt vermuten</a:t>
            </a:r>
          </a:p>
          <a:p>
            <a:r>
              <a:rPr lang="de-DE" dirty="0"/>
              <a:t>Fundierte Architektur-Entscheide treffen</a:t>
            </a:r>
            <a:endParaRPr lang="de-CH" dirty="0"/>
          </a:p>
        </p:txBody>
      </p:sp>
    </p:spTree>
    <p:extLst>
      <p:ext uri="{BB962C8B-B14F-4D97-AF65-F5344CB8AC3E}">
        <p14:creationId xmlns:p14="http://schemas.microsoft.com/office/powerpoint/2010/main" val="20652140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03D878DE-8F63-0475-B197-61BD6F2D91FF}"/>
              </a:ext>
            </a:extLst>
          </p:cNvPr>
          <p:cNvSpPr>
            <a:spLocks noGrp="1"/>
          </p:cNvSpPr>
          <p:nvPr>
            <p:ph type="dt" sz="half" idx="10"/>
          </p:nvPr>
        </p:nvSpPr>
        <p:spPr/>
        <p:txBody>
          <a:bodyPr/>
          <a:lstStyle/>
          <a:p>
            <a:fld id="{E668D7D0-CB17-47D3-88E8-EDADFD5EAF7A}" type="datetime1">
              <a:rPr lang="de-CH" smtClean="0"/>
              <a:t>13.08.2026</a:t>
            </a:fld>
            <a:endParaRPr lang="de-CH" dirty="0"/>
          </a:p>
        </p:txBody>
      </p:sp>
      <p:sp>
        <p:nvSpPr>
          <p:cNvPr id="3" name="Foliennummernplatzhalter 2">
            <a:extLst>
              <a:ext uri="{FF2B5EF4-FFF2-40B4-BE49-F238E27FC236}">
                <a16:creationId xmlns:a16="http://schemas.microsoft.com/office/drawing/2014/main" id="{F9F7C252-816A-D980-DB84-88CB5D5B36BA}"/>
              </a:ext>
            </a:extLst>
          </p:cNvPr>
          <p:cNvSpPr>
            <a:spLocks noGrp="1"/>
          </p:cNvSpPr>
          <p:nvPr>
            <p:ph type="sldNum" sz="quarter" idx="12"/>
          </p:nvPr>
        </p:nvSpPr>
        <p:spPr/>
        <p:txBody>
          <a:bodyPr/>
          <a:lstStyle/>
          <a:p>
            <a:fld id="{CE7E00E2-F08D-429A-AD9B-1ECBEC02F4DB}" type="slidenum">
              <a:rPr lang="de-CH" smtClean="0"/>
              <a:t>4</a:t>
            </a:fld>
            <a:endParaRPr lang="de-CH" dirty="0"/>
          </a:p>
        </p:txBody>
      </p:sp>
      <p:sp>
        <p:nvSpPr>
          <p:cNvPr id="4" name="Titel 3">
            <a:extLst>
              <a:ext uri="{FF2B5EF4-FFF2-40B4-BE49-F238E27FC236}">
                <a16:creationId xmlns:a16="http://schemas.microsoft.com/office/drawing/2014/main" id="{A6314273-9D22-3EB7-A282-5FB7F42EB6BE}"/>
              </a:ext>
            </a:extLst>
          </p:cNvPr>
          <p:cNvSpPr>
            <a:spLocks noGrp="1"/>
          </p:cNvSpPr>
          <p:nvPr>
            <p:ph type="title"/>
          </p:nvPr>
        </p:nvSpPr>
        <p:spPr/>
        <p:txBody>
          <a:bodyPr/>
          <a:lstStyle/>
          <a:p>
            <a:r>
              <a:rPr lang="de-DE" dirty="0"/>
              <a:t>Was ist RAG?</a:t>
            </a:r>
          </a:p>
        </p:txBody>
      </p:sp>
    </p:spTree>
    <p:extLst>
      <p:ext uri="{BB962C8B-B14F-4D97-AF65-F5344CB8AC3E}">
        <p14:creationId xmlns:p14="http://schemas.microsoft.com/office/powerpoint/2010/main" val="132442821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F52070-1662-6927-D2DA-52FF2044003A}"/>
              </a:ext>
            </a:extLst>
          </p:cNvPr>
          <p:cNvSpPr>
            <a:spLocks noGrp="1"/>
          </p:cNvSpPr>
          <p:nvPr>
            <p:ph type="title"/>
          </p:nvPr>
        </p:nvSpPr>
        <p:spPr/>
        <p:txBody>
          <a:bodyPr/>
          <a:lstStyle/>
          <a:p>
            <a:r>
              <a:rPr lang="de-DE" dirty="0"/>
              <a:t>Reine LLMs haben drei blinde Flecken</a:t>
            </a:r>
            <a:endParaRPr lang="de-CH" dirty="0"/>
          </a:p>
        </p:txBody>
      </p:sp>
      <p:sp>
        <p:nvSpPr>
          <p:cNvPr id="3" name="Datumsplatzhalter 2">
            <a:extLst>
              <a:ext uri="{FF2B5EF4-FFF2-40B4-BE49-F238E27FC236}">
                <a16:creationId xmlns:a16="http://schemas.microsoft.com/office/drawing/2014/main" id="{4714DF5E-5D96-422E-FDA3-998AF93BFBB2}"/>
              </a:ext>
            </a:extLst>
          </p:cNvPr>
          <p:cNvSpPr>
            <a:spLocks noGrp="1"/>
          </p:cNvSpPr>
          <p:nvPr>
            <p:ph type="dt" sz="half" idx="10"/>
          </p:nvPr>
        </p:nvSpPr>
        <p:spPr/>
        <p:txBody>
          <a:bodyPr/>
          <a:lstStyle/>
          <a:p>
            <a:fld id="{3B96E7C6-F2CE-4756-8C9C-414CDB636DDE}" type="datetime1">
              <a:rPr lang="de-CH" smtClean="0"/>
              <a:t>13.08.2026</a:t>
            </a:fld>
            <a:endParaRPr lang="de-CH" dirty="0"/>
          </a:p>
        </p:txBody>
      </p:sp>
      <p:sp>
        <p:nvSpPr>
          <p:cNvPr id="4" name="Foliennummernplatzhalter 3">
            <a:extLst>
              <a:ext uri="{FF2B5EF4-FFF2-40B4-BE49-F238E27FC236}">
                <a16:creationId xmlns:a16="http://schemas.microsoft.com/office/drawing/2014/main" id="{B0D2CD25-C80B-A392-B1FA-5D751401F2D6}"/>
              </a:ext>
            </a:extLst>
          </p:cNvPr>
          <p:cNvSpPr>
            <a:spLocks noGrp="1"/>
          </p:cNvSpPr>
          <p:nvPr>
            <p:ph type="sldNum" sz="quarter" idx="12"/>
          </p:nvPr>
        </p:nvSpPr>
        <p:spPr/>
        <p:txBody>
          <a:bodyPr/>
          <a:lstStyle/>
          <a:p>
            <a:fld id="{CE7E00E2-F08D-429A-AD9B-1ECBEC02F4DB}" type="slidenum">
              <a:rPr lang="de-CH" smtClean="0"/>
              <a:t>5</a:t>
            </a:fld>
            <a:endParaRPr lang="de-CH" dirty="0"/>
          </a:p>
        </p:txBody>
      </p:sp>
      <p:grpSp>
        <p:nvGrpSpPr>
          <p:cNvPr id="47" name="Gruppieren 46">
            <a:extLst>
              <a:ext uri="{FF2B5EF4-FFF2-40B4-BE49-F238E27FC236}">
                <a16:creationId xmlns:a16="http://schemas.microsoft.com/office/drawing/2014/main" id="{527571CB-2DD5-0498-7302-0365A92A1E3C}"/>
              </a:ext>
            </a:extLst>
          </p:cNvPr>
          <p:cNvGrpSpPr/>
          <p:nvPr/>
        </p:nvGrpSpPr>
        <p:grpSpPr>
          <a:xfrm>
            <a:off x="540000" y="3780000"/>
            <a:ext cx="11329274" cy="1809720"/>
            <a:chOff x="380265" y="3161590"/>
            <a:chExt cx="11329274" cy="1809720"/>
          </a:xfrm>
        </p:grpSpPr>
        <p:grpSp>
          <p:nvGrpSpPr>
            <p:cNvPr id="36" name="Gruppieren 35">
              <a:extLst>
                <a:ext uri="{FF2B5EF4-FFF2-40B4-BE49-F238E27FC236}">
                  <a16:creationId xmlns:a16="http://schemas.microsoft.com/office/drawing/2014/main" id="{D9D51EAC-3214-A698-D66B-C588C31B3090}"/>
                </a:ext>
              </a:extLst>
            </p:cNvPr>
            <p:cNvGrpSpPr/>
            <p:nvPr/>
          </p:nvGrpSpPr>
          <p:grpSpPr>
            <a:xfrm>
              <a:off x="380265" y="3161590"/>
              <a:ext cx="3419477" cy="1787082"/>
              <a:chOff x="482461" y="2024429"/>
              <a:chExt cx="3419477" cy="1787082"/>
            </a:xfrm>
          </p:grpSpPr>
          <p:sp>
            <p:nvSpPr>
              <p:cNvPr id="13" name="Rechteck: abgerundete Ecken 12">
                <a:extLst>
                  <a:ext uri="{FF2B5EF4-FFF2-40B4-BE49-F238E27FC236}">
                    <a16:creationId xmlns:a16="http://schemas.microsoft.com/office/drawing/2014/main" id="{797F4028-9E88-DFF8-59A3-4989C742CFEE}"/>
                  </a:ext>
                </a:extLst>
              </p:cNvPr>
              <p:cNvSpPr/>
              <p:nvPr/>
            </p:nvSpPr>
            <p:spPr>
              <a:xfrm>
                <a:off x="482462" y="2024429"/>
                <a:ext cx="3419475" cy="1787082"/>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19" name="Freihandform: Form 18">
                <a:extLst>
                  <a:ext uri="{FF2B5EF4-FFF2-40B4-BE49-F238E27FC236}">
                    <a16:creationId xmlns:a16="http://schemas.microsoft.com/office/drawing/2014/main" id="{FDD353A0-3876-6DEA-BAAF-6DC9B0A930D7}"/>
                  </a:ext>
                </a:extLst>
              </p:cNvPr>
              <p:cNvSpPr/>
              <p:nvPr/>
            </p:nvSpPr>
            <p:spPr>
              <a:xfrm>
                <a:off x="854672" y="2277012"/>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0" name="Freihandform: Form 19">
                <a:extLst>
                  <a:ext uri="{FF2B5EF4-FFF2-40B4-BE49-F238E27FC236}">
                    <a16:creationId xmlns:a16="http://schemas.microsoft.com/office/drawing/2014/main" id="{A18E493B-39B2-29A4-66E9-31F0F1B9F430}"/>
                  </a:ext>
                </a:extLst>
              </p:cNvPr>
              <p:cNvSpPr/>
              <p:nvPr/>
            </p:nvSpPr>
            <p:spPr>
              <a:xfrm>
                <a:off x="745010" y="2290171"/>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14" name="Textfeld 13">
                <a:extLst>
                  <a:ext uri="{FF2B5EF4-FFF2-40B4-BE49-F238E27FC236}">
                    <a16:creationId xmlns:a16="http://schemas.microsoft.com/office/drawing/2014/main" id="{E93D2C4F-4FC9-C777-EA35-D3E134919806}"/>
                  </a:ext>
                </a:extLst>
              </p:cNvPr>
              <p:cNvSpPr txBox="1"/>
              <p:nvPr/>
            </p:nvSpPr>
            <p:spPr>
              <a:xfrm>
                <a:off x="482461" y="2218316"/>
                <a:ext cx="3419476" cy="307777"/>
              </a:xfrm>
              <a:prstGeom prst="rect">
                <a:avLst/>
              </a:prstGeom>
              <a:noFill/>
            </p:spPr>
            <p:txBody>
              <a:bodyPr wrap="square" lIns="0" tIns="0" rIns="0" bIns="0" rtlCol="0">
                <a:spAutoFit/>
              </a:bodyPr>
              <a:lstStyle/>
              <a:p>
                <a:pPr algn="ctr"/>
                <a:r>
                  <a:rPr lang="de-DE" sz="2000" dirty="0"/>
                  <a:t>Wissensgrenze</a:t>
                </a:r>
                <a:endParaRPr lang="de-CH" sz="2000" dirty="0" err="1"/>
              </a:p>
            </p:txBody>
          </p:sp>
          <p:cxnSp>
            <p:nvCxnSpPr>
              <p:cNvPr id="16" name="Gerader Verbinder 15">
                <a:extLst>
                  <a:ext uri="{FF2B5EF4-FFF2-40B4-BE49-F238E27FC236}">
                    <a16:creationId xmlns:a16="http://schemas.microsoft.com/office/drawing/2014/main" id="{5BC1E0DC-0478-FC3B-DBCE-5898909C4AC9}"/>
                  </a:ext>
                </a:extLst>
              </p:cNvPr>
              <p:cNvCxnSpPr/>
              <p:nvPr/>
            </p:nvCxnSpPr>
            <p:spPr>
              <a:xfrm>
                <a:off x="482463" y="2676415"/>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Textfeld 16">
                <a:extLst>
                  <a:ext uri="{FF2B5EF4-FFF2-40B4-BE49-F238E27FC236}">
                    <a16:creationId xmlns:a16="http://schemas.microsoft.com/office/drawing/2014/main" id="{973C73B1-AAB1-044D-EB26-5B52AC2FC68A}"/>
                  </a:ext>
                </a:extLst>
              </p:cNvPr>
              <p:cNvSpPr txBox="1"/>
              <p:nvPr/>
            </p:nvSpPr>
            <p:spPr>
              <a:xfrm>
                <a:off x="709919" y="2814291"/>
                <a:ext cx="3077719" cy="553998"/>
              </a:xfrm>
              <a:prstGeom prst="rect">
                <a:avLst/>
              </a:prstGeom>
              <a:noFill/>
            </p:spPr>
            <p:txBody>
              <a:bodyPr wrap="square" lIns="0" tIns="0" rIns="0" bIns="0" rtlCol="0">
                <a:spAutoFit/>
              </a:bodyPr>
              <a:lstStyle/>
              <a:p>
                <a:pPr algn="l"/>
                <a:r>
                  <a:rPr lang="de-DE" dirty="0"/>
                  <a:t>Kein aktuelles Firmen- oder Domänenwissen im Modell</a:t>
                </a:r>
                <a:endParaRPr lang="de-CH" dirty="0" err="1"/>
              </a:p>
            </p:txBody>
          </p:sp>
        </p:grpSp>
        <p:grpSp>
          <p:nvGrpSpPr>
            <p:cNvPr id="37" name="Gruppieren 36">
              <a:extLst>
                <a:ext uri="{FF2B5EF4-FFF2-40B4-BE49-F238E27FC236}">
                  <a16:creationId xmlns:a16="http://schemas.microsoft.com/office/drawing/2014/main" id="{7D60600A-7435-2B89-AAA2-9047A9DBEE40}"/>
                </a:ext>
              </a:extLst>
            </p:cNvPr>
            <p:cNvGrpSpPr/>
            <p:nvPr/>
          </p:nvGrpSpPr>
          <p:grpSpPr>
            <a:xfrm>
              <a:off x="4335163" y="3184227"/>
              <a:ext cx="3419477" cy="1787083"/>
              <a:chOff x="4714872" y="2003861"/>
              <a:chExt cx="3419477" cy="1787083"/>
            </a:xfrm>
          </p:grpSpPr>
          <p:sp>
            <p:nvSpPr>
              <p:cNvPr id="23" name="Rechteck: abgerundete Ecken 22">
                <a:extLst>
                  <a:ext uri="{FF2B5EF4-FFF2-40B4-BE49-F238E27FC236}">
                    <a16:creationId xmlns:a16="http://schemas.microsoft.com/office/drawing/2014/main" id="{599277A3-F665-EF16-50EE-CA8F212E393E}"/>
                  </a:ext>
                </a:extLst>
              </p:cNvPr>
              <p:cNvSpPr/>
              <p:nvPr/>
            </p:nvSpPr>
            <p:spPr>
              <a:xfrm>
                <a:off x="4714873" y="2003861"/>
                <a:ext cx="3419475" cy="1787083"/>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24" name="Freihandform: Form 23">
                <a:extLst>
                  <a:ext uri="{FF2B5EF4-FFF2-40B4-BE49-F238E27FC236}">
                    <a16:creationId xmlns:a16="http://schemas.microsoft.com/office/drawing/2014/main" id="{EDE60C2D-EF20-45EA-1582-841DC5872000}"/>
                  </a:ext>
                </a:extLst>
              </p:cNvPr>
              <p:cNvSpPr/>
              <p:nvPr/>
            </p:nvSpPr>
            <p:spPr>
              <a:xfrm>
                <a:off x="5087083"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25" name="Freihandform: Form 24">
                <a:extLst>
                  <a:ext uri="{FF2B5EF4-FFF2-40B4-BE49-F238E27FC236}">
                    <a16:creationId xmlns:a16="http://schemas.microsoft.com/office/drawing/2014/main" id="{59487533-4732-311E-C84E-A898BE247736}"/>
                  </a:ext>
                </a:extLst>
              </p:cNvPr>
              <p:cNvSpPr/>
              <p:nvPr/>
            </p:nvSpPr>
            <p:spPr>
              <a:xfrm>
                <a:off x="4977421"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26" name="Textfeld 25">
                <a:extLst>
                  <a:ext uri="{FF2B5EF4-FFF2-40B4-BE49-F238E27FC236}">
                    <a16:creationId xmlns:a16="http://schemas.microsoft.com/office/drawing/2014/main" id="{33A179D0-D1FE-9237-BE5B-5A8A8DCE8F0E}"/>
                  </a:ext>
                </a:extLst>
              </p:cNvPr>
              <p:cNvSpPr txBox="1"/>
              <p:nvPr/>
            </p:nvSpPr>
            <p:spPr>
              <a:xfrm>
                <a:off x="4714872" y="2197748"/>
                <a:ext cx="3419476" cy="307777"/>
              </a:xfrm>
              <a:prstGeom prst="rect">
                <a:avLst/>
              </a:prstGeom>
              <a:noFill/>
            </p:spPr>
            <p:txBody>
              <a:bodyPr wrap="square" lIns="0" tIns="0" rIns="0" bIns="0" rtlCol="0">
                <a:spAutoFit/>
              </a:bodyPr>
              <a:lstStyle/>
              <a:p>
                <a:pPr algn="ctr"/>
                <a:r>
                  <a:rPr lang="de-DE" sz="2000" dirty="0"/>
                  <a:t>Keine Belege</a:t>
                </a:r>
                <a:endParaRPr lang="de-CH" sz="2000" dirty="0" err="1"/>
              </a:p>
            </p:txBody>
          </p:sp>
          <p:cxnSp>
            <p:nvCxnSpPr>
              <p:cNvPr id="27" name="Gerader Verbinder 26">
                <a:extLst>
                  <a:ext uri="{FF2B5EF4-FFF2-40B4-BE49-F238E27FC236}">
                    <a16:creationId xmlns:a16="http://schemas.microsoft.com/office/drawing/2014/main" id="{33BC70EF-058A-6C10-3665-947B33B0C084}"/>
                  </a:ext>
                </a:extLst>
              </p:cNvPr>
              <p:cNvCxnSpPr/>
              <p:nvPr/>
            </p:nvCxnSpPr>
            <p:spPr>
              <a:xfrm>
                <a:off x="4714874"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16D1DAAA-637A-BB8C-F7A8-409F2D14CCDB}"/>
                  </a:ext>
                </a:extLst>
              </p:cNvPr>
              <p:cNvSpPr txBox="1"/>
              <p:nvPr/>
            </p:nvSpPr>
            <p:spPr>
              <a:xfrm>
                <a:off x="4942330" y="2793723"/>
                <a:ext cx="3077719" cy="830997"/>
              </a:xfrm>
              <a:prstGeom prst="rect">
                <a:avLst/>
              </a:prstGeom>
              <a:noFill/>
            </p:spPr>
            <p:txBody>
              <a:bodyPr wrap="square" lIns="0" tIns="0" rIns="0" bIns="0" rtlCol="0">
                <a:spAutoFit/>
              </a:bodyPr>
              <a:lstStyle/>
              <a:p>
                <a:pPr algn="l"/>
                <a:r>
                  <a:rPr lang="de-DE" dirty="0"/>
                  <a:t>Eine plausible Antwort ist noch keine nachvollziehbare Antwort</a:t>
                </a:r>
                <a:endParaRPr lang="de-CH" dirty="0" err="1"/>
              </a:p>
            </p:txBody>
          </p:sp>
        </p:grpSp>
        <p:grpSp>
          <p:nvGrpSpPr>
            <p:cNvPr id="38" name="Gruppieren 37">
              <a:extLst>
                <a:ext uri="{FF2B5EF4-FFF2-40B4-BE49-F238E27FC236}">
                  <a16:creationId xmlns:a16="http://schemas.microsoft.com/office/drawing/2014/main" id="{8F9CF332-03ED-CE00-DF95-AB864622395D}"/>
                </a:ext>
              </a:extLst>
            </p:cNvPr>
            <p:cNvGrpSpPr/>
            <p:nvPr/>
          </p:nvGrpSpPr>
          <p:grpSpPr>
            <a:xfrm>
              <a:off x="8290062" y="3184222"/>
              <a:ext cx="3419477" cy="1787088"/>
              <a:chOff x="8506558" y="2003861"/>
              <a:chExt cx="3419477" cy="1787088"/>
            </a:xfrm>
          </p:grpSpPr>
          <p:sp>
            <p:nvSpPr>
              <p:cNvPr id="30" name="Rechteck: abgerundete Ecken 29">
                <a:extLst>
                  <a:ext uri="{FF2B5EF4-FFF2-40B4-BE49-F238E27FC236}">
                    <a16:creationId xmlns:a16="http://schemas.microsoft.com/office/drawing/2014/main" id="{724D7EF4-11F2-79E9-1EF6-257A40A5D7FD}"/>
                  </a:ext>
                </a:extLst>
              </p:cNvPr>
              <p:cNvSpPr/>
              <p:nvPr/>
            </p:nvSpPr>
            <p:spPr>
              <a:xfrm>
                <a:off x="8506559" y="2003861"/>
                <a:ext cx="3419475" cy="1787088"/>
              </a:xfrm>
              <a:prstGeom prst="roundRect">
                <a:avLst/>
              </a:prstGeom>
              <a:solidFill>
                <a:schemeClr val="bg2"/>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CH" dirty="0" err="1">
                  <a:solidFill>
                    <a:schemeClr val="tx1"/>
                  </a:solidFill>
                </a:endParaRPr>
              </a:p>
            </p:txBody>
          </p:sp>
          <p:sp>
            <p:nvSpPr>
              <p:cNvPr id="31" name="Freihandform: Form 30">
                <a:extLst>
                  <a:ext uri="{FF2B5EF4-FFF2-40B4-BE49-F238E27FC236}">
                    <a16:creationId xmlns:a16="http://schemas.microsoft.com/office/drawing/2014/main" id="{AA1F0D67-C756-CDF3-5C49-4A51A8EBD763}"/>
                  </a:ext>
                </a:extLst>
              </p:cNvPr>
              <p:cNvSpPr/>
              <p:nvPr/>
            </p:nvSpPr>
            <p:spPr>
              <a:xfrm>
                <a:off x="8878769" y="2256444"/>
                <a:ext cx="241258" cy="307053"/>
              </a:xfrm>
              <a:custGeom>
                <a:avLst/>
                <a:gdLst>
                  <a:gd name="connsiteX0" fmla="*/ 241256 w 241258"/>
                  <a:gd name="connsiteY0" fmla="*/ 157913 h 307053"/>
                  <a:gd name="connsiteX1" fmla="*/ 214937 w 241258"/>
                  <a:gd name="connsiteY1" fmla="*/ 184232 h 307053"/>
                  <a:gd name="connsiteX2" fmla="*/ 131594 w 241258"/>
                  <a:gd name="connsiteY2" fmla="*/ 184232 h 307053"/>
                  <a:gd name="connsiteX3" fmla="*/ 118435 w 241258"/>
                  <a:gd name="connsiteY3" fmla="*/ 196953 h 307053"/>
                  <a:gd name="connsiteX4" fmla="*/ 131594 w 241258"/>
                  <a:gd name="connsiteY4" fmla="*/ 280735 h 307053"/>
                  <a:gd name="connsiteX5" fmla="*/ 105276 w 241258"/>
                  <a:gd name="connsiteY5" fmla="*/ 307054 h 307053"/>
                  <a:gd name="connsiteX6" fmla="*/ 78957 w 241258"/>
                  <a:gd name="connsiteY6" fmla="*/ 280735 h 307053"/>
                  <a:gd name="connsiteX7" fmla="*/ 0 w 241258"/>
                  <a:gd name="connsiteY7" fmla="*/ 175459 h 307053"/>
                  <a:gd name="connsiteX8" fmla="*/ 0 w 241258"/>
                  <a:gd name="connsiteY8" fmla="*/ 35092 h 307053"/>
                  <a:gd name="connsiteX9" fmla="*/ 92116 w 241258"/>
                  <a:gd name="connsiteY9" fmla="*/ 0 h 307053"/>
                  <a:gd name="connsiteX10" fmla="*/ 171073 w 241258"/>
                  <a:gd name="connsiteY10" fmla="*/ 0 h 307053"/>
                  <a:gd name="connsiteX11" fmla="*/ 197392 w 241258"/>
                  <a:gd name="connsiteY11" fmla="*/ 26319 h 307053"/>
                  <a:gd name="connsiteX12" fmla="*/ 190373 w 241258"/>
                  <a:gd name="connsiteY12" fmla="*/ 43865 h 307053"/>
                  <a:gd name="connsiteX13" fmla="*/ 193005 w 241258"/>
                  <a:gd name="connsiteY13" fmla="*/ 43865 h 307053"/>
                  <a:gd name="connsiteX14" fmla="*/ 219324 w 241258"/>
                  <a:gd name="connsiteY14" fmla="*/ 70184 h 307053"/>
                  <a:gd name="connsiteX15" fmla="*/ 211867 w 241258"/>
                  <a:gd name="connsiteY15" fmla="*/ 88607 h 307053"/>
                  <a:gd name="connsiteX16" fmla="*/ 231886 w 241258"/>
                  <a:gd name="connsiteY16" fmla="*/ 119757 h 307053"/>
                  <a:gd name="connsiteX17" fmla="*/ 224149 w 241258"/>
                  <a:gd name="connsiteY17" fmla="*/ 133349 h 307053"/>
                  <a:gd name="connsiteX18" fmla="*/ 241256 w 241258"/>
                  <a:gd name="connsiteY18" fmla="*/ 157913 h 3070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241258" h="307053">
                    <a:moveTo>
                      <a:pt x="241256" y="157913"/>
                    </a:moveTo>
                    <a:cubicBezTo>
                      <a:pt x="241213" y="172431"/>
                      <a:pt x="229455" y="184189"/>
                      <a:pt x="214937" y="184232"/>
                    </a:cubicBezTo>
                    <a:lnTo>
                      <a:pt x="131594" y="184232"/>
                    </a:lnTo>
                    <a:cubicBezTo>
                      <a:pt x="124547" y="184356"/>
                      <a:pt x="118798" y="189914"/>
                      <a:pt x="118435" y="196953"/>
                    </a:cubicBezTo>
                    <a:cubicBezTo>
                      <a:pt x="118874" y="204849"/>
                      <a:pt x="131594" y="220640"/>
                      <a:pt x="131594" y="280735"/>
                    </a:cubicBezTo>
                    <a:cubicBezTo>
                      <a:pt x="131594" y="295270"/>
                      <a:pt x="119811" y="307054"/>
                      <a:pt x="105276" y="307054"/>
                    </a:cubicBezTo>
                    <a:cubicBezTo>
                      <a:pt x="90740" y="307054"/>
                      <a:pt x="78957" y="295270"/>
                      <a:pt x="78957" y="280735"/>
                    </a:cubicBezTo>
                    <a:cubicBezTo>
                      <a:pt x="78957" y="214060"/>
                      <a:pt x="1316" y="176336"/>
                      <a:pt x="0" y="175459"/>
                    </a:cubicBezTo>
                    <a:lnTo>
                      <a:pt x="0" y="35092"/>
                    </a:lnTo>
                    <a:cubicBezTo>
                      <a:pt x="31144" y="35092"/>
                      <a:pt x="33337" y="0"/>
                      <a:pt x="92116" y="0"/>
                    </a:cubicBezTo>
                    <a:lnTo>
                      <a:pt x="171073" y="0"/>
                    </a:lnTo>
                    <a:cubicBezTo>
                      <a:pt x="185590" y="43"/>
                      <a:pt x="197348" y="11801"/>
                      <a:pt x="197392" y="26319"/>
                    </a:cubicBezTo>
                    <a:cubicBezTo>
                      <a:pt x="197493" y="32871"/>
                      <a:pt x="194965" y="39191"/>
                      <a:pt x="190373" y="43865"/>
                    </a:cubicBezTo>
                    <a:lnTo>
                      <a:pt x="193005" y="43865"/>
                    </a:lnTo>
                    <a:cubicBezTo>
                      <a:pt x="207523" y="43908"/>
                      <a:pt x="219281" y="55666"/>
                      <a:pt x="219324" y="70184"/>
                    </a:cubicBezTo>
                    <a:cubicBezTo>
                      <a:pt x="219389" y="77073"/>
                      <a:pt x="216706" y="83703"/>
                      <a:pt x="211867" y="88607"/>
                    </a:cubicBezTo>
                    <a:cubicBezTo>
                      <a:pt x="225997" y="91680"/>
                      <a:pt x="234960" y="105627"/>
                      <a:pt x="231886" y="119757"/>
                    </a:cubicBezTo>
                    <a:cubicBezTo>
                      <a:pt x="230752" y="124970"/>
                      <a:pt x="228053" y="129712"/>
                      <a:pt x="224149" y="133349"/>
                    </a:cubicBezTo>
                    <a:cubicBezTo>
                      <a:pt x="234515" y="137040"/>
                      <a:pt x="241389" y="146911"/>
                      <a:pt x="241256" y="157913"/>
                    </a:cubicBezTo>
                    <a:close/>
                  </a:path>
                </a:pathLst>
              </a:custGeom>
              <a:solidFill>
                <a:schemeClr val="accent1"/>
              </a:solidFill>
              <a:ln w="4366" cap="flat">
                <a:noFill/>
                <a:prstDash val="solid"/>
                <a:miter/>
              </a:ln>
            </p:spPr>
            <p:txBody>
              <a:bodyPr rtlCol="0" anchor="ctr"/>
              <a:lstStyle/>
              <a:p>
                <a:endParaRPr lang="de-CH"/>
              </a:p>
            </p:txBody>
          </p:sp>
          <p:sp>
            <p:nvSpPr>
              <p:cNvPr id="32" name="Freihandform: Form 31">
                <a:extLst>
                  <a:ext uri="{FF2B5EF4-FFF2-40B4-BE49-F238E27FC236}">
                    <a16:creationId xmlns:a16="http://schemas.microsoft.com/office/drawing/2014/main" id="{DC08623F-3B0E-64B7-6BF2-25B709623F14}"/>
                  </a:ext>
                </a:extLst>
              </p:cNvPr>
              <p:cNvSpPr/>
              <p:nvPr/>
            </p:nvSpPr>
            <p:spPr>
              <a:xfrm>
                <a:off x="8769107" y="2269603"/>
                <a:ext cx="83343" cy="184232"/>
              </a:xfrm>
              <a:custGeom>
                <a:avLst/>
                <a:gdLst>
                  <a:gd name="connsiteX0" fmla="*/ 65797 w 83343"/>
                  <a:gd name="connsiteY0" fmla="*/ 184232 h 184232"/>
                  <a:gd name="connsiteX1" fmla="*/ 0 w 83343"/>
                  <a:gd name="connsiteY1" fmla="*/ 184232 h 184232"/>
                  <a:gd name="connsiteX2" fmla="*/ 0 w 83343"/>
                  <a:gd name="connsiteY2" fmla="*/ 0 h 184232"/>
                  <a:gd name="connsiteX3" fmla="*/ 65797 w 83343"/>
                  <a:gd name="connsiteY3" fmla="*/ 0 h 184232"/>
                  <a:gd name="connsiteX4" fmla="*/ 83343 w 83343"/>
                  <a:gd name="connsiteY4" fmla="*/ 17546 h 184232"/>
                  <a:gd name="connsiteX5" fmla="*/ 83343 w 83343"/>
                  <a:gd name="connsiteY5" fmla="*/ 166686 h 184232"/>
                  <a:gd name="connsiteX6" fmla="*/ 65797 w 83343"/>
                  <a:gd name="connsiteY6" fmla="*/ 184232 h 1842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83343" h="184232">
                    <a:moveTo>
                      <a:pt x="65797" y="184232"/>
                    </a:moveTo>
                    <a:lnTo>
                      <a:pt x="0" y="184232"/>
                    </a:lnTo>
                    <a:lnTo>
                      <a:pt x="0" y="0"/>
                    </a:lnTo>
                    <a:lnTo>
                      <a:pt x="65797" y="0"/>
                    </a:lnTo>
                    <a:cubicBezTo>
                      <a:pt x="75476" y="29"/>
                      <a:pt x="83314" y="7868"/>
                      <a:pt x="83343" y="17546"/>
                    </a:cubicBezTo>
                    <a:lnTo>
                      <a:pt x="83343" y="166686"/>
                    </a:lnTo>
                    <a:cubicBezTo>
                      <a:pt x="83314" y="176365"/>
                      <a:pt x="75476" y="184203"/>
                      <a:pt x="65797" y="184232"/>
                    </a:cubicBezTo>
                    <a:close/>
                  </a:path>
                </a:pathLst>
              </a:custGeom>
              <a:solidFill>
                <a:schemeClr val="accent1"/>
              </a:solidFill>
              <a:ln w="4366" cap="flat">
                <a:noFill/>
                <a:prstDash val="solid"/>
                <a:miter/>
              </a:ln>
            </p:spPr>
            <p:txBody>
              <a:bodyPr rtlCol="0" anchor="ctr"/>
              <a:lstStyle/>
              <a:p>
                <a:endParaRPr lang="de-CH"/>
              </a:p>
            </p:txBody>
          </p:sp>
          <p:sp>
            <p:nvSpPr>
              <p:cNvPr id="33" name="Textfeld 32">
                <a:extLst>
                  <a:ext uri="{FF2B5EF4-FFF2-40B4-BE49-F238E27FC236}">
                    <a16:creationId xmlns:a16="http://schemas.microsoft.com/office/drawing/2014/main" id="{34E91368-CF64-B592-C65E-2D3CACE3AAE8}"/>
                  </a:ext>
                </a:extLst>
              </p:cNvPr>
              <p:cNvSpPr txBox="1"/>
              <p:nvPr/>
            </p:nvSpPr>
            <p:spPr>
              <a:xfrm>
                <a:off x="8506558" y="2197748"/>
                <a:ext cx="3419476" cy="307777"/>
              </a:xfrm>
              <a:prstGeom prst="rect">
                <a:avLst/>
              </a:prstGeom>
              <a:noFill/>
            </p:spPr>
            <p:txBody>
              <a:bodyPr wrap="square" lIns="0" tIns="0" rIns="0" bIns="0" rtlCol="0">
                <a:spAutoFit/>
              </a:bodyPr>
              <a:lstStyle/>
              <a:p>
                <a:pPr algn="ctr"/>
                <a:r>
                  <a:rPr lang="de-DE" sz="2000" dirty="0"/>
                  <a:t>Kontext kostet</a:t>
                </a:r>
                <a:endParaRPr lang="de-CH" sz="2000" dirty="0" err="1"/>
              </a:p>
            </p:txBody>
          </p:sp>
          <p:cxnSp>
            <p:nvCxnSpPr>
              <p:cNvPr id="34" name="Gerader Verbinder 33">
                <a:extLst>
                  <a:ext uri="{FF2B5EF4-FFF2-40B4-BE49-F238E27FC236}">
                    <a16:creationId xmlns:a16="http://schemas.microsoft.com/office/drawing/2014/main" id="{D4E0F550-A964-FFFF-992E-B44F9DF27FAF}"/>
                  </a:ext>
                </a:extLst>
              </p:cNvPr>
              <p:cNvCxnSpPr/>
              <p:nvPr/>
            </p:nvCxnSpPr>
            <p:spPr>
              <a:xfrm>
                <a:off x="8506560" y="2655847"/>
                <a:ext cx="3419475"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5" name="Textfeld 34">
                <a:extLst>
                  <a:ext uri="{FF2B5EF4-FFF2-40B4-BE49-F238E27FC236}">
                    <a16:creationId xmlns:a16="http://schemas.microsoft.com/office/drawing/2014/main" id="{BEFAA6EB-FC8F-6D67-BF68-109EFCE69CC5}"/>
                  </a:ext>
                </a:extLst>
              </p:cNvPr>
              <p:cNvSpPr txBox="1"/>
              <p:nvPr/>
            </p:nvSpPr>
            <p:spPr>
              <a:xfrm>
                <a:off x="8734016" y="2793723"/>
                <a:ext cx="3077719" cy="830997"/>
              </a:xfrm>
              <a:prstGeom prst="rect">
                <a:avLst/>
              </a:prstGeom>
              <a:noFill/>
            </p:spPr>
            <p:txBody>
              <a:bodyPr wrap="square" lIns="0" tIns="0" rIns="0" bIns="0" rtlCol="0">
                <a:spAutoFit/>
              </a:bodyPr>
              <a:lstStyle/>
              <a:p>
                <a:pPr algn="l"/>
                <a:r>
                  <a:rPr lang="de-DE" dirty="0"/>
                  <a:t>Alles in den Prompt zu legen, skaliert weder bei Tokens noch bei Relevanz.</a:t>
                </a:r>
                <a:endParaRPr lang="de-CH" dirty="0" err="1"/>
              </a:p>
            </p:txBody>
          </p:sp>
        </p:grpSp>
      </p:grpSp>
      <p:sp>
        <p:nvSpPr>
          <p:cNvPr id="39" name="Inhaltsplatzhalter 11">
            <a:extLst>
              <a:ext uri="{FF2B5EF4-FFF2-40B4-BE49-F238E27FC236}">
                <a16:creationId xmlns:a16="http://schemas.microsoft.com/office/drawing/2014/main" id="{327A31D1-09DD-92CD-F2F9-472BC6FFF340}"/>
              </a:ext>
            </a:extLst>
          </p:cNvPr>
          <p:cNvSpPr>
            <a:spLocks noGrp="1"/>
          </p:cNvSpPr>
          <p:nvPr>
            <p:ph sz="quarter" idx="13"/>
          </p:nvPr>
        </p:nvSpPr>
        <p:spPr>
          <a:xfrm>
            <a:off x="482461" y="1412875"/>
            <a:ext cx="11230114" cy="4752975"/>
          </a:xfrm>
        </p:spPr>
        <p:txBody>
          <a:bodyPr/>
          <a:lstStyle/>
          <a:p>
            <a:pPr marL="12600" indent="0">
              <a:buNone/>
            </a:pPr>
            <a:r>
              <a:rPr lang="de-DE" dirty="0"/>
              <a:t>Ohne bereitgestellten Kontext klingt das Modell oft sicherer als es ist.</a:t>
            </a:r>
          </a:p>
        </p:txBody>
      </p:sp>
      <p:sp>
        <p:nvSpPr>
          <p:cNvPr id="41" name="accent-[object Object]">
            <a:extLst>
              <a:ext uri="{FF2B5EF4-FFF2-40B4-BE49-F238E27FC236}">
                <a16:creationId xmlns:a16="http://schemas.microsoft.com/office/drawing/2014/main" id="{DDCFABE7-C1EC-17A8-B4E4-3AEBC5C842CC}"/>
              </a:ext>
            </a:extLst>
          </p:cNvPr>
          <p:cNvSpPr/>
          <p:nvPr/>
        </p:nvSpPr>
        <p:spPr>
          <a:xfrm>
            <a:off x="540000" y="2700000"/>
            <a:ext cx="3419470" cy="45719"/>
          </a:xfrm>
          <a:prstGeom prst="rect">
            <a:avLst/>
          </a:prstGeom>
          <a:solidFill>
            <a:schemeClr val="tx1"/>
          </a:solidFill>
          <a:ln>
            <a:solidFill>
              <a:schemeClr val="tx1"/>
            </a:solidFill>
          </a:ln>
        </p:spPr>
        <p:txBody>
          <a:bodyPr/>
          <a:lstStyle/>
          <a:p>
            <a:endParaRPr lang="de-CH">
              <a:ln>
                <a:solidFill>
                  <a:schemeClr val="accent2"/>
                </a:solidFill>
              </a:ln>
              <a:solidFill>
                <a:schemeClr val="accent2"/>
              </a:solidFill>
            </a:endParaRPr>
          </a:p>
        </p:txBody>
      </p:sp>
      <p:sp>
        <p:nvSpPr>
          <p:cNvPr id="43" name="accent-[object Object]">
            <a:extLst>
              <a:ext uri="{FF2B5EF4-FFF2-40B4-BE49-F238E27FC236}">
                <a16:creationId xmlns:a16="http://schemas.microsoft.com/office/drawing/2014/main" id="{8E68E771-940E-29C9-2632-4F2A477FD8E2}"/>
              </a:ext>
            </a:extLst>
          </p:cNvPr>
          <p:cNvSpPr/>
          <p:nvPr/>
        </p:nvSpPr>
        <p:spPr>
          <a:xfrm>
            <a:off x="4500000" y="2700000"/>
            <a:ext cx="3419473" cy="45719"/>
          </a:xfrm>
          <a:prstGeom prst="rect">
            <a:avLst/>
          </a:prstGeom>
          <a:solidFill>
            <a:srgbClr val="C9960F"/>
          </a:solidFill>
        </p:spPr>
        <p:txBody>
          <a:bodyPr/>
          <a:lstStyle/>
          <a:p>
            <a:endParaRPr lang="de-CH"/>
          </a:p>
        </p:txBody>
      </p:sp>
      <p:sp>
        <p:nvSpPr>
          <p:cNvPr id="45" name="accent-[object Object]">
            <a:extLst>
              <a:ext uri="{FF2B5EF4-FFF2-40B4-BE49-F238E27FC236}">
                <a16:creationId xmlns:a16="http://schemas.microsoft.com/office/drawing/2014/main" id="{E71E380B-42FA-3816-68E3-D8948006A15A}"/>
              </a:ext>
            </a:extLst>
          </p:cNvPr>
          <p:cNvSpPr/>
          <p:nvPr/>
        </p:nvSpPr>
        <p:spPr>
          <a:xfrm>
            <a:off x="8460000" y="2700000"/>
            <a:ext cx="3419474" cy="47624"/>
          </a:xfrm>
          <a:prstGeom prst="rect">
            <a:avLst/>
          </a:prstGeom>
          <a:solidFill>
            <a:srgbClr val="C60C30"/>
          </a:solidFill>
        </p:spPr>
        <p:txBody>
          <a:bodyPr/>
          <a:lstStyle/>
          <a:p>
            <a:endParaRPr lang="de-CH"/>
          </a:p>
        </p:txBody>
      </p:sp>
      <p:sp>
        <p:nvSpPr>
          <p:cNvPr id="5" name="Textfeld 4">
            <a:extLst>
              <a:ext uri="{FF2B5EF4-FFF2-40B4-BE49-F238E27FC236}">
                <a16:creationId xmlns:a16="http://schemas.microsoft.com/office/drawing/2014/main" id="{33505DC0-D82B-44D0-6AEA-A9862F4F8E7D}"/>
              </a:ext>
            </a:extLst>
          </p:cNvPr>
          <p:cNvSpPr txBox="1"/>
          <p:nvPr/>
        </p:nvSpPr>
        <p:spPr>
          <a:xfrm>
            <a:off x="540000" y="2880000"/>
            <a:ext cx="474453" cy="276999"/>
          </a:xfrm>
          <a:prstGeom prst="rect">
            <a:avLst/>
          </a:prstGeom>
          <a:noFill/>
        </p:spPr>
        <p:txBody>
          <a:bodyPr wrap="square" lIns="0" tIns="0" rIns="0" bIns="0" rtlCol="0">
            <a:spAutoFit/>
          </a:bodyPr>
          <a:lstStyle/>
          <a:p>
            <a:pPr algn="l"/>
            <a:r>
              <a:rPr lang="de-DE" b="1" dirty="0"/>
              <a:t>01</a:t>
            </a:r>
            <a:endParaRPr lang="de-CH" b="1" dirty="0" err="1"/>
          </a:p>
        </p:txBody>
      </p:sp>
      <p:sp>
        <p:nvSpPr>
          <p:cNvPr id="6" name="Textfeld 5">
            <a:extLst>
              <a:ext uri="{FF2B5EF4-FFF2-40B4-BE49-F238E27FC236}">
                <a16:creationId xmlns:a16="http://schemas.microsoft.com/office/drawing/2014/main" id="{DBD1AB6D-1105-5D82-C860-2E6AFD7F8C71}"/>
              </a:ext>
            </a:extLst>
          </p:cNvPr>
          <p:cNvSpPr txBox="1"/>
          <p:nvPr/>
        </p:nvSpPr>
        <p:spPr>
          <a:xfrm>
            <a:off x="4500000" y="2880000"/>
            <a:ext cx="474453" cy="276999"/>
          </a:xfrm>
          <a:prstGeom prst="rect">
            <a:avLst/>
          </a:prstGeom>
          <a:noFill/>
        </p:spPr>
        <p:txBody>
          <a:bodyPr wrap="square" lIns="0" tIns="0" rIns="0" bIns="0" rtlCol="0">
            <a:spAutoFit/>
          </a:bodyPr>
          <a:lstStyle/>
          <a:p>
            <a:pPr algn="l"/>
            <a:r>
              <a:rPr lang="de-DE" b="1" dirty="0">
                <a:solidFill>
                  <a:schemeClr val="accent6"/>
                </a:solidFill>
              </a:rPr>
              <a:t>02</a:t>
            </a:r>
            <a:endParaRPr lang="de-CH" b="1" dirty="0" err="1">
              <a:solidFill>
                <a:schemeClr val="accent6"/>
              </a:solidFill>
            </a:endParaRPr>
          </a:p>
        </p:txBody>
      </p:sp>
      <p:sp>
        <p:nvSpPr>
          <p:cNvPr id="7" name="Textfeld 6">
            <a:extLst>
              <a:ext uri="{FF2B5EF4-FFF2-40B4-BE49-F238E27FC236}">
                <a16:creationId xmlns:a16="http://schemas.microsoft.com/office/drawing/2014/main" id="{ED3E2D33-CD9F-9D3E-9257-0792B12F5112}"/>
              </a:ext>
            </a:extLst>
          </p:cNvPr>
          <p:cNvSpPr txBox="1"/>
          <p:nvPr/>
        </p:nvSpPr>
        <p:spPr>
          <a:xfrm>
            <a:off x="8460000" y="2880000"/>
            <a:ext cx="474453" cy="276999"/>
          </a:xfrm>
          <a:prstGeom prst="rect">
            <a:avLst/>
          </a:prstGeom>
          <a:noFill/>
        </p:spPr>
        <p:txBody>
          <a:bodyPr wrap="square" lIns="0" tIns="0" rIns="0" bIns="0" rtlCol="0">
            <a:spAutoFit/>
          </a:bodyPr>
          <a:lstStyle/>
          <a:p>
            <a:pPr algn="l"/>
            <a:r>
              <a:rPr lang="de-DE" b="1" dirty="0">
                <a:solidFill>
                  <a:schemeClr val="accent1"/>
                </a:solidFill>
              </a:rPr>
              <a:t>03</a:t>
            </a:r>
            <a:endParaRPr lang="de-CH" b="1" dirty="0" err="1">
              <a:solidFill>
                <a:schemeClr val="accent1"/>
              </a:solidFill>
            </a:endParaRPr>
          </a:p>
        </p:txBody>
      </p:sp>
    </p:spTree>
    <p:extLst>
      <p:ext uri="{BB962C8B-B14F-4D97-AF65-F5344CB8AC3E}">
        <p14:creationId xmlns:p14="http://schemas.microsoft.com/office/powerpoint/2010/main" val="214755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Freihandform: Form 49">
            <a:extLst>
              <a:ext uri="{FF2B5EF4-FFF2-40B4-BE49-F238E27FC236}">
                <a16:creationId xmlns:a16="http://schemas.microsoft.com/office/drawing/2014/main" id="{CA51A4E4-03BB-B78F-9B8D-BCFDC7D284BD}"/>
              </a:ext>
            </a:extLst>
          </p:cNvPr>
          <p:cNvSpPr/>
          <p:nvPr/>
        </p:nvSpPr>
        <p:spPr>
          <a:xfrm>
            <a:off x="540000" y="4860000"/>
            <a:ext cx="10980000" cy="1080000"/>
          </a:xfrm>
          <a:custGeom>
            <a:avLst/>
            <a:gdLst>
              <a:gd name="connsiteX0" fmla="*/ 0 w 11042789"/>
              <a:gd name="connsiteY0" fmla="*/ 0 h 1028700"/>
              <a:gd name="connsiteX1" fmla="*/ 184289 w 11042789"/>
              <a:gd name="connsiteY1" fmla="*/ 0 h 1028700"/>
              <a:gd name="connsiteX2" fmla="*/ 184289 w 11042789"/>
              <a:gd name="connsiteY2" fmla="*/ 39118 h 1028700"/>
              <a:gd name="connsiteX3" fmla="*/ 222325 w 11042789"/>
              <a:gd name="connsiteY3" fmla="*/ 13474 h 1028700"/>
              <a:gd name="connsiteX4" fmla="*/ 289062 w 11042789"/>
              <a:gd name="connsiteY4" fmla="*/ 0 h 1028700"/>
              <a:gd name="connsiteX5" fmla="*/ 10871336 w 11042789"/>
              <a:gd name="connsiteY5" fmla="*/ 0 h 1028700"/>
              <a:gd name="connsiteX6" fmla="*/ 11042789 w 11042789"/>
              <a:gd name="connsiteY6" fmla="*/ 171453 h 1028700"/>
              <a:gd name="connsiteX7" fmla="*/ 11042789 w 11042789"/>
              <a:gd name="connsiteY7" fmla="*/ 857247 h 1028700"/>
              <a:gd name="connsiteX8" fmla="*/ 10871336 w 11042789"/>
              <a:gd name="connsiteY8" fmla="*/ 1028700 h 1028700"/>
              <a:gd name="connsiteX9" fmla="*/ 289062 w 11042789"/>
              <a:gd name="connsiteY9" fmla="*/ 1028700 h 1028700"/>
              <a:gd name="connsiteX10" fmla="*/ 222325 w 11042789"/>
              <a:gd name="connsiteY10" fmla="*/ 1015227 h 1028700"/>
              <a:gd name="connsiteX11" fmla="*/ 184289 w 11042789"/>
              <a:gd name="connsiteY11" fmla="*/ 989582 h 1028700"/>
              <a:gd name="connsiteX12" fmla="*/ 184289 w 11042789"/>
              <a:gd name="connsiteY12" fmla="*/ 1028700 h 1028700"/>
              <a:gd name="connsiteX13" fmla="*/ 0 w 11042789"/>
              <a:gd name="connsiteY13" fmla="*/ 1028700 h 1028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1042789" h="1028700">
                <a:moveTo>
                  <a:pt x="0" y="0"/>
                </a:moveTo>
                <a:lnTo>
                  <a:pt x="184289" y="0"/>
                </a:lnTo>
                <a:lnTo>
                  <a:pt x="184289" y="39118"/>
                </a:lnTo>
                <a:lnTo>
                  <a:pt x="222325" y="13474"/>
                </a:lnTo>
                <a:cubicBezTo>
                  <a:pt x="242837" y="4798"/>
                  <a:pt x="265389" y="0"/>
                  <a:pt x="289062" y="0"/>
                </a:cubicBezTo>
                <a:lnTo>
                  <a:pt x="10871336" y="0"/>
                </a:lnTo>
                <a:cubicBezTo>
                  <a:pt x="10966027" y="0"/>
                  <a:pt x="11042789" y="76762"/>
                  <a:pt x="11042789" y="171453"/>
                </a:cubicBezTo>
                <a:lnTo>
                  <a:pt x="11042789" y="857247"/>
                </a:lnTo>
                <a:cubicBezTo>
                  <a:pt x="11042789" y="951938"/>
                  <a:pt x="10966027" y="1028700"/>
                  <a:pt x="10871336" y="1028700"/>
                </a:cubicBezTo>
                <a:lnTo>
                  <a:pt x="289062" y="1028700"/>
                </a:lnTo>
                <a:cubicBezTo>
                  <a:pt x="265389" y="1028700"/>
                  <a:pt x="242837" y="1023903"/>
                  <a:pt x="222325" y="1015227"/>
                </a:cubicBezTo>
                <a:lnTo>
                  <a:pt x="184289" y="989582"/>
                </a:lnTo>
                <a:lnTo>
                  <a:pt x="184289" y="1028700"/>
                </a:lnTo>
                <a:lnTo>
                  <a:pt x="0" y="10287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8" name="Freihandform: Form 47">
            <a:extLst>
              <a:ext uri="{FF2B5EF4-FFF2-40B4-BE49-F238E27FC236}">
                <a16:creationId xmlns:a16="http://schemas.microsoft.com/office/drawing/2014/main" id="{79AFE289-F62E-1A85-646A-3802D4AA0C03}"/>
              </a:ext>
            </a:extLst>
          </p:cNvPr>
          <p:cNvSpPr/>
          <p:nvPr/>
        </p:nvSpPr>
        <p:spPr>
          <a:xfrm>
            <a:off x="720000" y="1620000"/>
            <a:ext cx="4500000" cy="2880000"/>
          </a:xfrm>
          <a:custGeom>
            <a:avLst/>
            <a:gdLst>
              <a:gd name="connsiteX0" fmla="*/ 0 w 4572000"/>
              <a:gd name="connsiteY0" fmla="*/ 0 h 2818746"/>
              <a:gd name="connsiteX1" fmla="*/ 4572000 w 4572000"/>
              <a:gd name="connsiteY1" fmla="*/ 0 h 2818746"/>
              <a:gd name="connsiteX2" fmla="*/ 4572000 w 4572000"/>
              <a:gd name="connsiteY2" fmla="*/ 527766 h 2818746"/>
              <a:gd name="connsiteX3" fmla="*/ 4572000 w 4572000"/>
              <a:gd name="connsiteY3" fmla="*/ 650584 h 2818746"/>
              <a:gd name="connsiteX4" fmla="*/ 4572000 w 4572000"/>
              <a:gd name="connsiteY4" fmla="*/ 2360539 h 2818746"/>
              <a:gd name="connsiteX5" fmla="*/ 4113793 w 4572000"/>
              <a:gd name="connsiteY5" fmla="*/ 2818746 h 2818746"/>
              <a:gd name="connsiteX6" fmla="*/ 458207 w 4572000"/>
              <a:gd name="connsiteY6" fmla="*/ 2818746 h 2818746"/>
              <a:gd name="connsiteX7" fmla="*/ 0 w 4572000"/>
              <a:gd name="connsiteY7" fmla="*/ 2360539 h 2818746"/>
              <a:gd name="connsiteX8" fmla="*/ 0 w 4572000"/>
              <a:gd name="connsiteY8" fmla="*/ 650584 h 2818746"/>
              <a:gd name="connsiteX9" fmla="*/ 0 w 4572000"/>
              <a:gd name="connsiteY9" fmla="*/ 527766 h 28187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572000" h="2818746">
                <a:moveTo>
                  <a:pt x="0" y="0"/>
                </a:moveTo>
                <a:lnTo>
                  <a:pt x="4572000" y="0"/>
                </a:lnTo>
                <a:lnTo>
                  <a:pt x="4572000" y="527766"/>
                </a:lnTo>
                <a:lnTo>
                  <a:pt x="4572000" y="650584"/>
                </a:lnTo>
                <a:lnTo>
                  <a:pt x="4572000" y="2360539"/>
                </a:lnTo>
                <a:cubicBezTo>
                  <a:pt x="4572000" y="2613600"/>
                  <a:pt x="4366854" y="2818746"/>
                  <a:pt x="4113793" y="2818746"/>
                </a:cubicBezTo>
                <a:lnTo>
                  <a:pt x="458207" y="2818746"/>
                </a:lnTo>
                <a:cubicBezTo>
                  <a:pt x="205146" y="2818746"/>
                  <a:pt x="0" y="2613600"/>
                  <a:pt x="0" y="2360539"/>
                </a:cubicBezTo>
                <a:lnTo>
                  <a:pt x="0" y="650584"/>
                </a:lnTo>
                <a:lnTo>
                  <a:pt x="0" y="527766"/>
                </a:lnTo>
                <a:close/>
              </a:path>
            </a:pathLst>
          </a:cu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49" name="Freihandform: Form 48">
            <a:extLst>
              <a:ext uri="{FF2B5EF4-FFF2-40B4-BE49-F238E27FC236}">
                <a16:creationId xmlns:a16="http://schemas.microsoft.com/office/drawing/2014/main" id="{15C389C4-6C9F-840E-1254-A5E54E59A740}"/>
              </a:ext>
            </a:extLst>
          </p:cNvPr>
          <p:cNvSpPr/>
          <p:nvPr/>
        </p:nvSpPr>
        <p:spPr>
          <a:xfrm>
            <a:off x="7020000" y="1620000"/>
            <a:ext cx="4500000" cy="2880000"/>
          </a:xfrm>
          <a:custGeom>
            <a:avLst/>
            <a:gdLst>
              <a:gd name="connsiteX0" fmla="*/ 0 w 4572001"/>
              <a:gd name="connsiteY0" fmla="*/ 0 h 2971255"/>
              <a:gd name="connsiteX1" fmla="*/ 4572001 w 4572001"/>
              <a:gd name="connsiteY1" fmla="*/ 0 h 2971255"/>
              <a:gd name="connsiteX2" fmla="*/ 4572001 w 4572001"/>
              <a:gd name="connsiteY2" fmla="*/ 625112 h 2971255"/>
              <a:gd name="connsiteX3" fmla="*/ 4566439 w 4572001"/>
              <a:gd name="connsiteY3" fmla="*/ 625112 h 2971255"/>
              <a:gd name="connsiteX4" fmla="*/ 4572000 w 4572001"/>
              <a:gd name="connsiteY4" fmla="*/ 680275 h 2971255"/>
              <a:gd name="connsiteX5" fmla="*/ 4572000 w 4572001"/>
              <a:gd name="connsiteY5" fmla="*/ 2513048 h 2971255"/>
              <a:gd name="connsiteX6" fmla="*/ 4113793 w 4572001"/>
              <a:gd name="connsiteY6" fmla="*/ 2971255 h 2971255"/>
              <a:gd name="connsiteX7" fmla="*/ 458207 w 4572001"/>
              <a:gd name="connsiteY7" fmla="*/ 2971255 h 2971255"/>
              <a:gd name="connsiteX8" fmla="*/ 0 w 4572001"/>
              <a:gd name="connsiteY8" fmla="*/ 2513048 h 2971255"/>
              <a:gd name="connsiteX9" fmla="*/ 0 w 4572001"/>
              <a:gd name="connsiteY9" fmla="*/ 680275 h 2971255"/>
              <a:gd name="connsiteX10" fmla="*/ 5561 w 4572001"/>
              <a:gd name="connsiteY10" fmla="*/ 625112 h 2971255"/>
              <a:gd name="connsiteX11" fmla="*/ 0 w 4572001"/>
              <a:gd name="connsiteY11" fmla="*/ 625112 h 2971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4572001" h="2971255">
                <a:moveTo>
                  <a:pt x="0" y="0"/>
                </a:moveTo>
                <a:lnTo>
                  <a:pt x="4572001" y="0"/>
                </a:lnTo>
                <a:lnTo>
                  <a:pt x="4572001" y="625112"/>
                </a:lnTo>
                <a:lnTo>
                  <a:pt x="4566439" y="625112"/>
                </a:lnTo>
                <a:lnTo>
                  <a:pt x="4572000" y="680275"/>
                </a:lnTo>
                <a:lnTo>
                  <a:pt x="4572000" y="2513048"/>
                </a:lnTo>
                <a:cubicBezTo>
                  <a:pt x="4572000" y="2766109"/>
                  <a:pt x="4366854" y="2971255"/>
                  <a:pt x="4113793" y="2971255"/>
                </a:cubicBezTo>
                <a:lnTo>
                  <a:pt x="458207" y="2971255"/>
                </a:lnTo>
                <a:cubicBezTo>
                  <a:pt x="205146" y="2971255"/>
                  <a:pt x="0" y="2766109"/>
                  <a:pt x="0" y="2513048"/>
                </a:cubicBezTo>
                <a:lnTo>
                  <a:pt x="0" y="680275"/>
                </a:lnTo>
                <a:lnTo>
                  <a:pt x="5561" y="625112"/>
                </a:lnTo>
                <a:lnTo>
                  <a:pt x="0" y="625112"/>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de-CH" dirty="0" err="1">
              <a:solidFill>
                <a:schemeClr val="tx1"/>
              </a:solidFill>
            </a:endParaRPr>
          </a:p>
        </p:txBody>
      </p:sp>
      <p:sp>
        <p:nvSpPr>
          <p:cNvPr id="2" name="Titel 1">
            <a:extLst>
              <a:ext uri="{FF2B5EF4-FFF2-40B4-BE49-F238E27FC236}">
                <a16:creationId xmlns:a16="http://schemas.microsoft.com/office/drawing/2014/main" id="{25FDE1F3-E634-462D-8A72-4C4BB1E9445E}"/>
              </a:ext>
            </a:extLst>
          </p:cNvPr>
          <p:cNvSpPr>
            <a:spLocks noGrp="1"/>
          </p:cNvSpPr>
          <p:nvPr>
            <p:ph type="title"/>
          </p:nvPr>
        </p:nvSpPr>
        <p:spPr/>
        <p:txBody>
          <a:bodyPr/>
          <a:lstStyle/>
          <a:p>
            <a:r>
              <a:t>RAG verschiebt die Aufgabe</a:t>
            </a:r>
          </a:p>
        </p:txBody>
      </p:sp>
      <p:sp>
        <p:nvSpPr>
          <p:cNvPr id="3" name="Datumsplatzhalter 2">
            <a:extLst>
              <a:ext uri="{FF2B5EF4-FFF2-40B4-BE49-F238E27FC236}">
                <a16:creationId xmlns:a16="http://schemas.microsoft.com/office/drawing/2014/main" id="{5E33AFB8-9B8A-46BF-A01C-1911AB76C8F7}"/>
              </a:ext>
            </a:extLst>
          </p:cNvPr>
          <p:cNvSpPr>
            <a:spLocks noGrp="1"/>
          </p:cNvSpPr>
          <p:nvPr>
            <p:ph type="dt" idx="10"/>
          </p:nvPr>
        </p:nvSpPr>
        <p:spPr/>
        <p:txBody>
          <a:bodyPr/>
          <a:lstStyle/>
          <a:p>
            <a:fld id="{1EB7C1D4-D1F3-40CB-8780-B2B6A9133392}" type="datetime1">
              <a:rPr lang="de-DE"/>
              <a:t>13.08.2026</a:t>
            </a:fld>
            <a:endParaRPr/>
          </a:p>
        </p:txBody>
      </p:sp>
      <p:sp>
        <p:nvSpPr>
          <p:cNvPr id="5" name="Foliennummernplatzhalter 4">
            <a:extLst>
              <a:ext uri="{FF2B5EF4-FFF2-40B4-BE49-F238E27FC236}">
                <a16:creationId xmlns:a16="http://schemas.microsoft.com/office/drawing/2014/main" id="{AEE4ED00-7406-465D-AB2A-450FABED5FFB}"/>
              </a:ext>
            </a:extLst>
          </p:cNvPr>
          <p:cNvSpPr>
            <a:spLocks noGrp="1"/>
          </p:cNvSpPr>
          <p:nvPr>
            <p:ph type="sldNum" idx="12"/>
          </p:nvPr>
        </p:nvSpPr>
        <p:spPr/>
        <p:txBody>
          <a:bodyPr/>
          <a:lstStyle/>
          <a:p>
            <a:fld id="{CE7E00E2-F08D-429A-AD9B-1ECBEC02F4DB}" type="slidenum">
              <a:rPr/>
              <a:t>6</a:t>
            </a:fld>
            <a:endParaRPr/>
          </a:p>
        </p:txBody>
      </p:sp>
      <p:sp>
        <p:nvSpPr>
          <p:cNvPr id="7" name="Expandieren-accent">
            <a:extLst>
              <a:ext uri="{FF2B5EF4-FFF2-40B4-BE49-F238E27FC236}">
                <a16:creationId xmlns:a16="http://schemas.microsoft.com/office/drawing/2014/main" id="{F3B72224-B9DE-495C-9796-06F07B8ACE36}"/>
              </a:ext>
            </a:extLst>
          </p:cNvPr>
          <p:cNvSpPr/>
          <p:nvPr/>
        </p:nvSpPr>
        <p:spPr>
          <a:xfrm>
            <a:off x="720000" y="1620000"/>
            <a:ext cx="4500000" cy="76200"/>
          </a:xfrm>
          <a:prstGeom prst="rect">
            <a:avLst/>
          </a:prstGeom>
          <a:solidFill>
            <a:srgbClr val="C60C30"/>
          </a:solidFill>
          <a:ln w="0">
            <a:solidFill>
              <a:srgbClr val="C60C30"/>
            </a:solidFill>
            <a:prstDash val="solid"/>
          </a:ln>
        </p:spPr>
        <p:txBody>
          <a:bodyPr/>
          <a:lstStyle/>
          <a:p>
            <a:endParaRPr lang="de-CH"/>
          </a:p>
        </p:txBody>
      </p:sp>
      <p:sp>
        <p:nvSpPr>
          <p:cNvPr id="14" name="Komprimieren-accent">
            <a:extLst>
              <a:ext uri="{FF2B5EF4-FFF2-40B4-BE49-F238E27FC236}">
                <a16:creationId xmlns:a16="http://schemas.microsoft.com/office/drawing/2014/main" id="{168EAD43-9CC5-450A-8180-1ECA98A93301}"/>
              </a:ext>
            </a:extLst>
          </p:cNvPr>
          <p:cNvSpPr/>
          <p:nvPr/>
        </p:nvSpPr>
        <p:spPr>
          <a:xfrm>
            <a:off x="7020000" y="1620000"/>
            <a:ext cx="4500000" cy="76200"/>
          </a:xfrm>
          <a:prstGeom prst="rect">
            <a:avLst/>
          </a:prstGeom>
          <a:solidFill>
            <a:srgbClr val="9BC7EE"/>
          </a:solidFill>
          <a:ln w="0">
            <a:solidFill>
              <a:srgbClr val="9BC7EE"/>
            </a:solidFill>
            <a:prstDash val="solid"/>
          </a:ln>
        </p:spPr>
        <p:txBody>
          <a:bodyPr/>
          <a:lstStyle/>
          <a:p>
            <a:endParaRPr lang="de-CH">
              <a:solidFill>
                <a:schemeClr val="accent2"/>
              </a:solidFill>
            </a:endParaRPr>
          </a:p>
        </p:txBody>
      </p:sp>
      <p:sp>
        <p:nvSpPr>
          <p:cNvPr id="20" name="rag-shift-arrow">
            <a:extLst>
              <a:ext uri="{FF2B5EF4-FFF2-40B4-BE49-F238E27FC236}">
                <a16:creationId xmlns:a16="http://schemas.microsoft.com/office/drawing/2014/main" id="{F10ED05B-B03A-4BBC-BD82-A3CD68556B70}"/>
              </a:ext>
            </a:extLst>
          </p:cNvPr>
          <p:cNvSpPr/>
          <p:nvPr/>
        </p:nvSpPr>
        <p:spPr>
          <a:xfrm>
            <a:off x="5490000" y="2700000"/>
            <a:ext cx="1260000" cy="720000"/>
          </a:xfrm>
          <a:prstGeom prst="rightArrow">
            <a:avLst/>
          </a:prstGeom>
          <a:solidFill>
            <a:srgbClr val="C60C30"/>
          </a:solidFill>
          <a:ln w="0">
            <a:solidFill>
              <a:srgbClr val="C60C30"/>
            </a:solidFill>
            <a:prstDash val="solid"/>
          </a:ln>
        </p:spPr>
        <p:txBody>
          <a:bodyPr/>
          <a:lstStyle/>
          <a:p>
            <a:endParaRPr lang="de-CH"/>
          </a:p>
        </p:txBody>
      </p:sp>
      <p:sp>
        <p:nvSpPr>
          <p:cNvPr id="22" name="translation-accent">
            <a:extLst>
              <a:ext uri="{FF2B5EF4-FFF2-40B4-BE49-F238E27FC236}">
                <a16:creationId xmlns:a16="http://schemas.microsoft.com/office/drawing/2014/main" id="{1F38C1C1-F6DB-4E99-98AF-B6EF9C59CAA6}"/>
              </a:ext>
            </a:extLst>
          </p:cNvPr>
          <p:cNvSpPr/>
          <p:nvPr/>
        </p:nvSpPr>
        <p:spPr>
          <a:xfrm>
            <a:off x="720000" y="4860000"/>
            <a:ext cx="85725" cy="1028700"/>
          </a:xfrm>
          <a:prstGeom prst="rect">
            <a:avLst/>
          </a:prstGeom>
          <a:solidFill>
            <a:srgbClr val="C9960F"/>
          </a:solidFill>
          <a:ln w="0">
            <a:solidFill>
              <a:srgbClr val="C9960F"/>
            </a:solidFill>
            <a:prstDash val="solid"/>
          </a:ln>
        </p:spPr>
        <p:txBody>
          <a:bodyPr/>
          <a:lstStyle/>
          <a:p>
            <a:endParaRPr lang="de-CH"/>
          </a:p>
        </p:txBody>
      </p:sp>
      <p:pic>
        <p:nvPicPr>
          <p:cNvPr id="27" name="Icon Komprimiere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00000" y="1980000"/>
            <a:ext cx="1080000" cy="1080000"/>
          </a:xfrm>
          <a:prstGeom prst="rect">
            <a:avLst/>
          </a:prstGeom>
        </p:spPr>
      </p:pic>
      <p:sp>
        <p:nvSpPr>
          <p:cNvPr id="28" name="Rechteck 27">
            <a:extLst>
              <a:ext uri="{FF2B5EF4-FFF2-40B4-BE49-F238E27FC236}">
                <a16:creationId xmlns:a16="http://schemas.microsoft.com/office/drawing/2014/main" id="{EEACB154-8F23-4F3B-90DA-78C963ADE415}"/>
              </a:ext>
            </a:extLst>
          </p:cNvPr>
          <p:cNvSpPr/>
          <p:nvPr/>
        </p:nvSpPr>
        <p:spPr>
          <a:xfrm>
            <a:off x="8460000" y="1980000"/>
            <a:ext cx="2667000" cy="266700"/>
          </a:xfrm>
          <a:prstGeom prst="rect">
            <a:avLst/>
          </a:prstGeom>
          <a:noFill/>
          <a:ln w="0">
            <a:noFill/>
            <a:prstDash val="solid"/>
          </a:ln>
        </p:spPr>
        <p:txBody>
          <a:bodyPr anchor="t"/>
          <a:lstStyle/>
          <a:p>
            <a:pPr>
              <a:defRPr sz="1125" b="1">
                <a:solidFill>
                  <a:srgbClr val="9BC7EE"/>
                </a:solidFill>
                <a:latin typeface="Arial"/>
                <a:ea typeface="Arial"/>
                <a:cs typeface="Arial"/>
              </a:defRPr>
            </a:pPr>
            <a:r>
              <a:rPr sz="1125" b="1">
                <a:solidFill>
                  <a:srgbClr val="9BC7EE"/>
                </a:solidFill>
                <a:latin typeface="Arial"/>
                <a:ea typeface="Arial"/>
                <a:cs typeface="Arial"/>
              </a:rPr>
              <a:t>MIT RAG-KONTEXT</a:t>
            </a:r>
          </a:p>
        </p:txBody>
      </p:sp>
      <p:sp>
        <p:nvSpPr>
          <p:cNvPr id="29" name="Rechteck 28">
            <a:extLst>
              <a:ext uri="{FF2B5EF4-FFF2-40B4-BE49-F238E27FC236}">
                <a16:creationId xmlns:a16="http://schemas.microsoft.com/office/drawing/2014/main" id="{84099B9B-B636-41F1-803E-AB0CBB22CE1F}"/>
              </a:ext>
            </a:extLst>
          </p:cNvPr>
          <p:cNvSpPr/>
          <p:nvPr/>
        </p:nvSpPr>
        <p:spPr>
          <a:xfrm>
            <a:off x="8460000" y="2340000"/>
            <a:ext cx="2667000" cy="495300"/>
          </a:xfrm>
          <a:prstGeom prst="rect">
            <a:avLst/>
          </a:prstGeom>
          <a:noFill/>
          <a:ln w="0">
            <a:noFill/>
            <a:prstDash val="solid"/>
          </a:ln>
        </p:spPr>
        <p:txBody>
          <a:bodyPr anchor="t"/>
          <a:lstStyle/>
          <a:p>
            <a:pPr>
              <a:defRPr sz="2550" b="1">
                <a:solidFill>
                  <a:srgbClr val="FFFFFF"/>
                </a:solidFill>
                <a:latin typeface="Arial"/>
                <a:ea typeface="Arial"/>
                <a:cs typeface="Arial"/>
              </a:defRPr>
            </a:pPr>
            <a:r>
              <a:rPr sz="2550" b="1">
                <a:solidFill>
                  <a:srgbClr val="FFFFFF"/>
                </a:solidFill>
                <a:latin typeface="Arial"/>
                <a:ea typeface="Arial"/>
                <a:cs typeface="Arial"/>
              </a:rPr>
              <a:t>Komprimieren</a:t>
            </a:r>
          </a:p>
        </p:txBody>
      </p:sp>
      <p:sp>
        <p:nvSpPr>
          <p:cNvPr id="30" name="Rechteck 29">
            <a:extLst>
              <a:ext uri="{FF2B5EF4-FFF2-40B4-BE49-F238E27FC236}">
                <a16:creationId xmlns:a16="http://schemas.microsoft.com/office/drawing/2014/main" id="{F6C8F6E1-B7C7-47EB-B6D5-6AE2F31EE6C0}"/>
              </a:ext>
            </a:extLst>
          </p:cNvPr>
          <p:cNvSpPr/>
          <p:nvPr/>
        </p:nvSpPr>
        <p:spPr>
          <a:xfrm>
            <a:off x="7200000" y="3240000"/>
            <a:ext cx="3960000" cy="900000"/>
          </a:xfrm>
          <a:prstGeom prst="rect">
            <a:avLst/>
          </a:prstGeom>
          <a:noFill/>
          <a:ln w="0">
            <a:noFill/>
            <a:prstDash val="solid"/>
          </a:ln>
        </p:spPr>
        <p:txBody>
          <a:bodyPr anchor="t"/>
          <a:lstStyle/>
          <a:p>
            <a:pPr>
              <a:defRPr sz="1725">
                <a:solidFill>
                  <a:srgbClr val="FFFFFF"/>
                </a:solidFill>
                <a:latin typeface="Arial"/>
                <a:ea typeface="Arial"/>
                <a:cs typeface="Arial"/>
              </a:defRPr>
            </a:pPr>
            <a:r>
              <a:rPr sz="1725" dirty="0">
                <a:solidFill>
                  <a:srgbClr val="FFFFFF"/>
                </a:solidFill>
                <a:latin typeface="Arial"/>
                <a:ea typeface="Arial"/>
                <a:cs typeface="Arial"/>
              </a:rPr>
              <a:t>Viel </a:t>
            </a:r>
            <a:r>
              <a:rPr sz="1725" dirty="0" err="1">
                <a:solidFill>
                  <a:srgbClr val="FFFFFF"/>
                </a:solidFill>
                <a:latin typeface="Arial"/>
                <a:ea typeface="Arial"/>
                <a:cs typeface="Arial"/>
              </a:rPr>
              <a:t>relevanter</a:t>
            </a:r>
            <a:r>
              <a:rPr sz="1725" dirty="0">
                <a:solidFill>
                  <a:srgbClr val="FFFFFF"/>
                </a:solidFill>
                <a:latin typeface="Arial"/>
                <a:ea typeface="Arial"/>
                <a:cs typeface="Arial"/>
              </a:rPr>
              <a:t> Input →</a:t>
            </a:r>
          </a:p>
          <a:p>
            <a:pPr>
              <a:defRPr sz="1725">
                <a:solidFill>
                  <a:srgbClr val="FFFFFF"/>
                </a:solidFill>
                <a:latin typeface="Arial"/>
                <a:ea typeface="Arial"/>
                <a:cs typeface="Arial"/>
              </a:defRPr>
            </a:pPr>
            <a:r>
              <a:rPr sz="1725" dirty="0" err="1">
                <a:solidFill>
                  <a:srgbClr val="FFFFFF"/>
                </a:solidFill>
                <a:latin typeface="Arial"/>
                <a:ea typeface="Arial"/>
                <a:cs typeface="Arial"/>
              </a:rPr>
              <a:t>verdichtete</a:t>
            </a:r>
            <a:r>
              <a:rPr sz="1725" dirty="0">
                <a:solidFill>
                  <a:srgbClr val="FFFFFF"/>
                </a:solidFill>
                <a:latin typeface="Arial"/>
                <a:ea typeface="Arial"/>
                <a:cs typeface="Arial"/>
              </a:rPr>
              <a:t>, </a:t>
            </a:r>
            <a:r>
              <a:rPr sz="1725" dirty="0" err="1">
                <a:solidFill>
                  <a:srgbClr val="FFFFFF"/>
                </a:solidFill>
                <a:latin typeface="Arial"/>
                <a:ea typeface="Arial"/>
                <a:cs typeface="Arial"/>
              </a:rPr>
              <a:t>belegbare</a:t>
            </a:r>
            <a:r>
              <a:rPr sz="1725" dirty="0">
                <a:solidFill>
                  <a:srgbClr val="FFFFFF"/>
                </a:solidFill>
                <a:latin typeface="Arial"/>
                <a:ea typeface="Arial"/>
                <a:cs typeface="Arial"/>
              </a:rPr>
              <a:t> </a:t>
            </a:r>
            <a:r>
              <a:rPr sz="1725" dirty="0" err="1">
                <a:solidFill>
                  <a:srgbClr val="FFFFFF"/>
                </a:solidFill>
                <a:latin typeface="Arial"/>
                <a:ea typeface="Arial"/>
                <a:cs typeface="Arial"/>
              </a:rPr>
              <a:t>Antwort</a:t>
            </a:r>
            <a:r>
              <a:rPr sz="1725" dirty="0">
                <a:solidFill>
                  <a:srgbClr val="FFFFFF"/>
                </a:solidFill>
                <a:latin typeface="Arial"/>
                <a:ea typeface="Arial"/>
                <a:cs typeface="Arial"/>
              </a:rPr>
              <a:t>.</a:t>
            </a:r>
          </a:p>
        </p:txBody>
      </p:sp>
      <p:pic>
        <p:nvPicPr>
          <p:cNvPr id="35" name="Icon Expandiere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80000" y="1980000"/>
            <a:ext cx="1080000" cy="1080000"/>
          </a:xfrm>
          <a:prstGeom prst="rect">
            <a:avLst/>
          </a:prstGeom>
        </p:spPr>
      </p:pic>
      <p:sp>
        <p:nvSpPr>
          <p:cNvPr id="36" name="Rechteck 35">
            <a:extLst>
              <a:ext uri="{FF2B5EF4-FFF2-40B4-BE49-F238E27FC236}">
                <a16:creationId xmlns:a16="http://schemas.microsoft.com/office/drawing/2014/main" id="{9C059803-0FCD-4255-82D1-E5486EDB1ABE}"/>
              </a:ext>
            </a:extLst>
          </p:cNvPr>
          <p:cNvSpPr/>
          <p:nvPr/>
        </p:nvSpPr>
        <p:spPr>
          <a:xfrm>
            <a:off x="2160000" y="1980000"/>
            <a:ext cx="2667000" cy="266700"/>
          </a:xfrm>
          <a:prstGeom prst="rect">
            <a:avLst/>
          </a:prstGeom>
          <a:noFill/>
          <a:ln w="0">
            <a:noFill/>
            <a:prstDash val="solid"/>
          </a:ln>
        </p:spPr>
        <p:txBody>
          <a:bodyPr anchor="t"/>
          <a:lstStyle/>
          <a:p>
            <a:pPr>
              <a:defRPr sz="1125" b="1">
                <a:solidFill>
                  <a:srgbClr val="C60C30"/>
                </a:solidFill>
                <a:latin typeface="Arial"/>
                <a:ea typeface="Arial"/>
                <a:cs typeface="Arial"/>
              </a:defRPr>
            </a:pPr>
            <a:r>
              <a:rPr sz="1125" b="1">
                <a:solidFill>
                  <a:srgbClr val="C60C30"/>
                </a:solidFill>
                <a:latin typeface="Arial"/>
                <a:ea typeface="Arial"/>
                <a:cs typeface="Arial"/>
              </a:rPr>
              <a:t>OHNE RELEVANTEN KONTEXT</a:t>
            </a:r>
          </a:p>
        </p:txBody>
      </p:sp>
      <p:sp>
        <p:nvSpPr>
          <p:cNvPr id="37" name="Rechteck 36">
            <a:extLst>
              <a:ext uri="{FF2B5EF4-FFF2-40B4-BE49-F238E27FC236}">
                <a16:creationId xmlns:a16="http://schemas.microsoft.com/office/drawing/2014/main" id="{594D16D1-F8B3-4450-AF41-769106FF954D}"/>
              </a:ext>
            </a:extLst>
          </p:cNvPr>
          <p:cNvSpPr/>
          <p:nvPr/>
        </p:nvSpPr>
        <p:spPr>
          <a:xfrm>
            <a:off x="2160000" y="2340000"/>
            <a:ext cx="2667000" cy="495300"/>
          </a:xfrm>
          <a:prstGeom prst="rect">
            <a:avLst/>
          </a:prstGeom>
          <a:noFill/>
          <a:ln w="0">
            <a:noFill/>
            <a:prstDash val="solid"/>
          </a:ln>
        </p:spPr>
        <p:txBody>
          <a:bodyPr anchor="t"/>
          <a:lstStyle/>
          <a:p>
            <a:pPr>
              <a:defRPr sz="2550" b="1">
                <a:solidFill>
                  <a:srgbClr val="2D3F4B"/>
                </a:solidFill>
                <a:latin typeface="Arial"/>
                <a:ea typeface="Arial"/>
                <a:cs typeface="Arial"/>
              </a:defRPr>
            </a:pPr>
            <a:r>
              <a:rPr sz="2550" b="1" dirty="0" err="1">
                <a:solidFill>
                  <a:srgbClr val="2D3F4B"/>
                </a:solidFill>
                <a:latin typeface="Arial"/>
                <a:ea typeface="Arial"/>
                <a:cs typeface="Arial"/>
              </a:rPr>
              <a:t>Expandieren</a:t>
            </a:r>
            <a:endParaRPr sz="2550" b="1" dirty="0">
              <a:solidFill>
                <a:srgbClr val="2D3F4B"/>
              </a:solidFill>
              <a:latin typeface="Arial"/>
              <a:ea typeface="Arial"/>
              <a:cs typeface="Arial"/>
            </a:endParaRPr>
          </a:p>
        </p:txBody>
      </p:sp>
      <p:sp>
        <p:nvSpPr>
          <p:cNvPr id="38" name="Rechteck 37">
            <a:extLst>
              <a:ext uri="{FF2B5EF4-FFF2-40B4-BE49-F238E27FC236}">
                <a16:creationId xmlns:a16="http://schemas.microsoft.com/office/drawing/2014/main" id="{ACFCC35B-9CB1-45B1-9CAA-5FC9371705C0}"/>
              </a:ext>
            </a:extLst>
          </p:cNvPr>
          <p:cNvSpPr/>
          <p:nvPr/>
        </p:nvSpPr>
        <p:spPr>
          <a:xfrm>
            <a:off x="1080000" y="3240000"/>
            <a:ext cx="3960000" cy="900000"/>
          </a:xfrm>
          <a:prstGeom prst="rect">
            <a:avLst/>
          </a:prstGeom>
          <a:noFill/>
          <a:ln w="0">
            <a:noFill/>
            <a:prstDash val="solid"/>
          </a:ln>
        </p:spPr>
        <p:txBody>
          <a:bodyPr anchor="t"/>
          <a:lstStyle/>
          <a:p>
            <a:pPr>
              <a:defRPr sz="1725">
                <a:solidFill>
                  <a:srgbClr val="2D3F4B"/>
                </a:solidFill>
                <a:latin typeface="Arial"/>
                <a:ea typeface="Arial"/>
                <a:cs typeface="Arial"/>
              </a:defRPr>
            </a:pPr>
            <a:r>
              <a:rPr sz="1725" dirty="0">
                <a:solidFill>
                  <a:srgbClr val="2D3F4B"/>
                </a:solidFill>
                <a:latin typeface="Arial"/>
                <a:ea typeface="Arial"/>
                <a:cs typeface="Arial"/>
              </a:rPr>
              <a:t>Wenig Input → </a:t>
            </a:r>
            <a:r>
              <a:rPr sz="1725" dirty="0" err="1">
                <a:solidFill>
                  <a:srgbClr val="2D3F4B"/>
                </a:solidFill>
                <a:latin typeface="Arial"/>
                <a:ea typeface="Arial"/>
                <a:cs typeface="Arial"/>
              </a:rPr>
              <a:t>viel</a:t>
            </a:r>
            <a:r>
              <a:rPr sz="1725" dirty="0">
                <a:solidFill>
                  <a:srgbClr val="2D3F4B"/>
                </a:solidFill>
                <a:latin typeface="Arial"/>
                <a:ea typeface="Arial"/>
                <a:cs typeface="Arial"/>
              </a:rPr>
              <a:t> Output</a:t>
            </a:r>
          </a:p>
          <a:p>
            <a:pPr>
              <a:defRPr sz="1725">
                <a:solidFill>
                  <a:srgbClr val="2D3F4B"/>
                </a:solidFill>
                <a:latin typeface="Arial"/>
                <a:ea typeface="Arial"/>
                <a:cs typeface="Arial"/>
              </a:defRPr>
            </a:pPr>
            <a:r>
              <a:rPr sz="1725" dirty="0">
                <a:solidFill>
                  <a:srgbClr val="2D3F4B"/>
                </a:solidFill>
                <a:latin typeface="Arial"/>
                <a:ea typeface="Arial"/>
                <a:cs typeface="Arial"/>
              </a:rPr>
              <a:t>Das Modell muss </a:t>
            </a:r>
            <a:r>
              <a:rPr sz="1725" dirty="0" err="1">
                <a:solidFill>
                  <a:srgbClr val="2D3F4B"/>
                </a:solidFill>
                <a:latin typeface="Arial"/>
                <a:ea typeface="Arial"/>
                <a:cs typeface="Arial"/>
              </a:rPr>
              <a:t>Wissenslücken</a:t>
            </a:r>
            <a:r>
              <a:rPr sz="1725" dirty="0">
                <a:solidFill>
                  <a:srgbClr val="2D3F4B"/>
                </a:solidFill>
                <a:latin typeface="Arial"/>
                <a:ea typeface="Arial"/>
                <a:cs typeface="Arial"/>
              </a:rPr>
              <a:t> </a:t>
            </a:r>
            <a:r>
              <a:rPr sz="1725" dirty="0" err="1">
                <a:solidFill>
                  <a:srgbClr val="2D3F4B"/>
                </a:solidFill>
                <a:latin typeface="Arial"/>
                <a:ea typeface="Arial"/>
                <a:cs typeface="Arial"/>
              </a:rPr>
              <a:t>füllen</a:t>
            </a:r>
            <a:r>
              <a:rPr sz="1725" dirty="0">
                <a:solidFill>
                  <a:srgbClr val="2D3F4B"/>
                </a:solidFill>
                <a:latin typeface="Arial"/>
                <a:ea typeface="Arial"/>
                <a:cs typeface="Arial"/>
              </a:rPr>
              <a:t>.</a:t>
            </a:r>
          </a:p>
        </p:txBody>
      </p:sp>
      <p:pic>
        <p:nvPicPr>
          <p:cNvPr id="41" name="Icon Translatieren"/>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00000" y="4854216"/>
            <a:ext cx="1034484" cy="1034484"/>
          </a:xfrm>
          <a:prstGeom prst="rect">
            <a:avLst/>
          </a:prstGeom>
        </p:spPr>
      </p:pic>
      <p:sp>
        <p:nvSpPr>
          <p:cNvPr id="42" name="Rechteck 41">
            <a:extLst>
              <a:ext uri="{FF2B5EF4-FFF2-40B4-BE49-F238E27FC236}">
                <a16:creationId xmlns:a16="http://schemas.microsoft.com/office/drawing/2014/main" id="{D3F77ACE-A9C1-407A-8F7A-E075BA0C63A1}"/>
              </a:ext>
            </a:extLst>
          </p:cNvPr>
          <p:cNvSpPr/>
          <p:nvPr/>
        </p:nvSpPr>
        <p:spPr>
          <a:xfrm>
            <a:off x="1934484" y="4874580"/>
            <a:ext cx="2246766" cy="525420"/>
          </a:xfrm>
          <a:prstGeom prst="rect">
            <a:avLst/>
          </a:prstGeom>
          <a:noFill/>
          <a:ln w="0">
            <a:noFill/>
            <a:prstDash val="solid"/>
          </a:ln>
        </p:spPr>
        <p:txBody>
          <a:bodyPr anchor="t"/>
          <a:lstStyle/>
          <a:p>
            <a:pPr>
              <a:defRPr sz="2025" b="1">
                <a:solidFill>
                  <a:srgbClr val="2D3F4B"/>
                </a:solidFill>
                <a:latin typeface="Arial"/>
                <a:ea typeface="Arial"/>
                <a:cs typeface="Arial"/>
              </a:defRPr>
            </a:pPr>
            <a:r>
              <a:rPr sz="2550" b="1" dirty="0" err="1">
                <a:solidFill>
                  <a:srgbClr val="2D3F4B"/>
                </a:solidFill>
                <a:latin typeface="Arial"/>
                <a:ea typeface="Arial"/>
                <a:cs typeface="Arial"/>
              </a:rPr>
              <a:t>Translatieren</a:t>
            </a:r>
            <a:endParaRPr sz="2550" b="1" dirty="0">
              <a:solidFill>
                <a:srgbClr val="2D3F4B"/>
              </a:solidFill>
              <a:latin typeface="Arial"/>
              <a:ea typeface="Arial"/>
              <a:cs typeface="Arial"/>
            </a:endParaRPr>
          </a:p>
        </p:txBody>
      </p:sp>
      <p:sp>
        <p:nvSpPr>
          <p:cNvPr id="43" name="Rechteck 42">
            <a:extLst>
              <a:ext uri="{FF2B5EF4-FFF2-40B4-BE49-F238E27FC236}">
                <a16:creationId xmlns:a16="http://schemas.microsoft.com/office/drawing/2014/main" id="{B27AE8EE-C7C8-4154-8745-7262D7CA5FF3}"/>
              </a:ext>
            </a:extLst>
          </p:cNvPr>
          <p:cNvSpPr/>
          <p:nvPr/>
        </p:nvSpPr>
        <p:spPr>
          <a:xfrm>
            <a:off x="1934484" y="5400000"/>
            <a:ext cx="9415104" cy="361950"/>
          </a:xfrm>
          <a:prstGeom prst="rect">
            <a:avLst/>
          </a:prstGeom>
          <a:noFill/>
          <a:ln w="0">
            <a:noFill/>
            <a:prstDash val="solid"/>
          </a:ln>
        </p:spPr>
        <p:txBody>
          <a:bodyPr anchor="t"/>
          <a:lstStyle/>
          <a:p>
            <a:pPr>
              <a:defRPr sz="1500">
                <a:solidFill>
                  <a:srgbClr val="2D3F4B"/>
                </a:solidFill>
                <a:latin typeface="Arial"/>
                <a:ea typeface="Arial"/>
                <a:cs typeface="Arial"/>
              </a:defRPr>
            </a:pPr>
            <a:r>
              <a:rPr sz="1730" dirty="0">
                <a:solidFill>
                  <a:srgbClr val="2D3F4B"/>
                </a:solidFill>
                <a:latin typeface="Arial"/>
                <a:ea typeface="Arial"/>
                <a:cs typeface="Arial"/>
              </a:rPr>
              <a:t>Gleicher </a:t>
            </a:r>
            <a:r>
              <a:rPr sz="1730" dirty="0" err="1">
                <a:solidFill>
                  <a:srgbClr val="2D3F4B"/>
                </a:solidFill>
                <a:latin typeface="Arial"/>
                <a:ea typeface="Arial"/>
                <a:cs typeface="Arial"/>
              </a:rPr>
              <a:t>Inhalt</a:t>
            </a:r>
            <a:r>
              <a:rPr sz="1730" dirty="0">
                <a:solidFill>
                  <a:srgbClr val="2D3F4B"/>
                </a:solidFill>
                <a:latin typeface="Arial"/>
                <a:ea typeface="Arial"/>
                <a:cs typeface="Arial"/>
              </a:rPr>
              <a:t> → </a:t>
            </a:r>
            <a:r>
              <a:rPr sz="1730" dirty="0" err="1">
                <a:solidFill>
                  <a:srgbClr val="2D3F4B"/>
                </a:solidFill>
                <a:latin typeface="Arial"/>
                <a:ea typeface="Arial"/>
                <a:cs typeface="Arial"/>
              </a:rPr>
              <a:t>andere</a:t>
            </a:r>
            <a:r>
              <a:rPr sz="1730" dirty="0">
                <a:solidFill>
                  <a:srgbClr val="2D3F4B"/>
                </a:solidFill>
                <a:latin typeface="Arial"/>
                <a:ea typeface="Arial"/>
                <a:cs typeface="Arial"/>
              </a:rPr>
              <a:t> </a:t>
            </a:r>
            <a:r>
              <a:rPr sz="1730" dirty="0" err="1">
                <a:solidFill>
                  <a:srgbClr val="2D3F4B"/>
                </a:solidFill>
                <a:latin typeface="Arial"/>
                <a:ea typeface="Arial"/>
                <a:cs typeface="Arial"/>
              </a:rPr>
              <a:t>Sprache</a:t>
            </a:r>
            <a:r>
              <a:rPr sz="1730" dirty="0">
                <a:solidFill>
                  <a:srgbClr val="2D3F4B"/>
                </a:solidFill>
                <a:latin typeface="Arial"/>
                <a:ea typeface="Arial"/>
                <a:cs typeface="Arial"/>
              </a:rPr>
              <a:t>, Form </a:t>
            </a:r>
            <a:r>
              <a:rPr sz="1730" dirty="0" err="1">
                <a:solidFill>
                  <a:srgbClr val="2D3F4B"/>
                </a:solidFill>
                <a:latin typeface="Arial"/>
                <a:ea typeface="Arial"/>
                <a:cs typeface="Arial"/>
              </a:rPr>
              <a:t>oder</a:t>
            </a:r>
            <a:r>
              <a:rPr sz="1730" dirty="0">
                <a:solidFill>
                  <a:srgbClr val="2D3F4B"/>
                </a:solidFill>
                <a:latin typeface="Arial"/>
                <a:ea typeface="Arial"/>
                <a:cs typeface="Arial"/>
              </a:rPr>
              <a:t> </a:t>
            </a:r>
            <a:r>
              <a:rPr sz="1730" dirty="0" err="1">
                <a:solidFill>
                  <a:srgbClr val="2D3F4B"/>
                </a:solidFill>
                <a:latin typeface="Arial"/>
                <a:ea typeface="Arial"/>
                <a:cs typeface="Arial"/>
              </a:rPr>
              <a:t>Struktur</a:t>
            </a:r>
            <a:r>
              <a:rPr sz="1730" dirty="0">
                <a:solidFill>
                  <a:srgbClr val="2D3F4B"/>
                </a:solidFill>
                <a:latin typeface="Arial"/>
                <a:ea typeface="Arial"/>
                <a:cs typeface="Arial"/>
              </a:rPr>
              <a:t>. RAG </a:t>
            </a:r>
            <a:r>
              <a:rPr sz="1730" dirty="0" err="1">
                <a:solidFill>
                  <a:srgbClr val="2D3F4B"/>
                </a:solidFill>
                <a:latin typeface="Arial"/>
                <a:ea typeface="Arial"/>
                <a:cs typeface="Arial"/>
              </a:rPr>
              <a:t>ist</a:t>
            </a:r>
            <a:r>
              <a:rPr sz="1730" dirty="0">
                <a:solidFill>
                  <a:srgbClr val="2D3F4B"/>
                </a:solidFill>
                <a:latin typeface="Arial"/>
                <a:ea typeface="Arial"/>
                <a:cs typeface="Arial"/>
              </a:rPr>
              <a:t> </a:t>
            </a:r>
            <a:r>
              <a:rPr sz="1730" dirty="0" err="1">
                <a:solidFill>
                  <a:srgbClr val="2D3F4B"/>
                </a:solidFill>
                <a:latin typeface="Arial"/>
                <a:ea typeface="Arial"/>
                <a:cs typeface="Arial"/>
              </a:rPr>
              <a:t>dafür</a:t>
            </a:r>
            <a:r>
              <a:rPr sz="1730" dirty="0">
                <a:solidFill>
                  <a:srgbClr val="2D3F4B"/>
                </a:solidFill>
                <a:latin typeface="Arial"/>
                <a:ea typeface="Arial"/>
                <a:cs typeface="Arial"/>
              </a:rPr>
              <a:t> nicht </a:t>
            </a:r>
            <a:r>
              <a:rPr sz="1730" dirty="0" err="1">
                <a:solidFill>
                  <a:srgbClr val="2D3F4B"/>
                </a:solidFill>
                <a:latin typeface="Arial"/>
                <a:ea typeface="Arial"/>
                <a:cs typeface="Arial"/>
              </a:rPr>
              <a:t>zwingend</a:t>
            </a:r>
            <a:r>
              <a:rPr sz="1730" dirty="0">
                <a:solidFill>
                  <a:srgbClr val="2D3F4B"/>
                </a:solidFill>
                <a:latin typeface="Arial"/>
                <a:ea typeface="Arial"/>
                <a:cs typeface="Arial"/>
              </a:rPr>
              <a:t> </a:t>
            </a:r>
            <a:r>
              <a:rPr sz="1730" dirty="0" err="1">
                <a:solidFill>
                  <a:srgbClr val="2D3F4B"/>
                </a:solidFill>
                <a:latin typeface="Arial"/>
                <a:ea typeface="Arial"/>
                <a:cs typeface="Arial"/>
              </a:rPr>
              <a:t>nötig</a:t>
            </a:r>
            <a:r>
              <a:rPr sz="1730" dirty="0">
                <a:solidFill>
                  <a:srgbClr val="2D3F4B"/>
                </a:solidFill>
                <a:latin typeface="Arial"/>
                <a:ea typeface="Arial"/>
                <a:cs typeface="Arial"/>
              </a:rPr>
              <a:t>.</a:t>
            </a:r>
          </a:p>
        </p:txBody>
      </p:sp>
    </p:spTree>
    <p:extLst>
      <p:ext uri="{BB962C8B-B14F-4D97-AF65-F5344CB8AC3E}">
        <p14:creationId xmlns:p14="http://schemas.microsoft.com/office/powerpoint/2010/main" val="13265509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AD7AF5-5D8C-DE2C-15C8-50C264DCB822}"/>
            </a:ext>
          </a:extLst>
        </p:cNvPr>
        <p:cNvGrpSpPr/>
        <p:nvPr/>
      </p:nvGrpSpPr>
      <p:grpSpPr>
        <a:xfrm>
          <a:off x="0" y="0"/>
          <a:ext cx="0" cy="0"/>
          <a:chOff x="0" y="0"/>
          <a:chExt cx="0" cy="0"/>
        </a:xfrm>
      </p:grpSpPr>
      <p:sp>
        <p:nvSpPr>
          <p:cNvPr id="19" name="Freihandform: Form 18">
            <a:extLst>
              <a:ext uri="{FF2B5EF4-FFF2-40B4-BE49-F238E27FC236}">
                <a16:creationId xmlns:a16="http://schemas.microsoft.com/office/drawing/2014/main" id="{E583B8C8-DDFA-5ABB-5C86-11A1DE9958E3}"/>
              </a:ext>
            </a:extLst>
          </p:cNvPr>
          <p:cNvSpPr/>
          <p:nvPr/>
        </p:nvSpPr>
        <p:spPr>
          <a:xfrm>
            <a:off x="936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4" name="Freihandform: Form 13">
            <a:extLst>
              <a:ext uri="{FF2B5EF4-FFF2-40B4-BE49-F238E27FC236}">
                <a16:creationId xmlns:a16="http://schemas.microsoft.com/office/drawing/2014/main" id="{740B085B-1A94-907B-A82C-4FA1C6A29294}"/>
              </a:ext>
            </a:extLst>
          </p:cNvPr>
          <p:cNvSpPr/>
          <p:nvPr/>
        </p:nvSpPr>
        <p:spPr>
          <a:xfrm>
            <a:off x="648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1" name="Freihandform: Form 10">
            <a:extLst>
              <a:ext uri="{FF2B5EF4-FFF2-40B4-BE49-F238E27FC236}">
                <a16:creationId xmlns:a16="http://schemas.microsoft.com/office/drawing/2014/main" id="{4FAA2538-3C68-D13F-331B-F04F06B13F48}"/>
              </a:ext>
            </a:extLst>
          </p:cNvPr>
          <p:cNvSpPr/>
          <p:nvPr/>
        </p:nvSpPr>
        <p:spPr>
          <a:xfrm>
            <a:off x="360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10" name="Freihandform: Form 9">
            <a:extLst>
              <a:ext uri="{FF2B5EF4-FFF2-40B4-BE49-F238E27FC236}">
                <a16:creationId xmlns:a16="http://schemas.microsoft.com/office/drawing/2014/main" id="{CD6D715C-282D-BF98-3470-59427B5AB909}"/>
              </a:ext>
            </a:extLst>
          </p:cNvPr>
          <p:cNvSpPr/>
          <p:nvPr/>
        </p:nvSpPr>
        <p:spPr>
          <a:xfrm>
            <a:off x="720000" y="4140000"/>
            <a:ext cx="2520000" cy="1440000"/>
          </a:xfrm>
          <a:custGeom>
            <a:avLst/>
            <a:gdLst>
              <a:gd name="connsiteX0" fmla="*/ 0 w 2441633"/>
              <a:gd name="connsiteY0" fmla="*/ 0 h 1518578"/>
              <a:gd name="connsiteX1" fmla="*/ 2441543 w 2441633"/>
              <a:gd name="connsiteY1" fmla="*/ 0 h 1518578"/>
              <a:gd name="connsiteX2" fmla="*/ 2441543 w 2441633"/>
              <a:gd name="connsiteY2" fmla="*/ 177511 h 1518578"/>
              <a:gd name="connsiteX3" fmla="*/ 2441633 w 2441633"/>
              <a:gd name="connsiteY3" fmla="*/ 177957 h 1518578"/>
              <a:gd name="connsiteX4" fmla="*/ 2441633 w 2441633"/>
              <a:gd name="connsiteY4" fmla="*/ 1347124 h 1518578"/>
              <a:gd name="connsiteX5" fmla="*/ 2270179 w 2441633"/>
              <a:gd name="connsiteY5" fmla="*/ 1518578 h 1518578"/>
              <a:gd name="connsiteX6" fmla="*/ 171516 w 2441633"/>
              <a:gd name="connsiteY6" fmla="*/ 1518578 h 1518578"/>
              <a:gd name="connsiteX7" fmla="*/ 62 w 2441633"/>
              <a:gd name="connsiteY7" fmla="*/ 1347124 h 1518578"/>
              <a:gd name="connsiteX8" fmla="*/ 62 w 2441633"/>
              <a:gd name="connsiteY8" fmla="*/ 590550 h 1518578"/>
              <a:gd name="connsiteX9" fmla="*/ 0 w 2441633"/>
              <a:gd name="connsiteY9" fmla="*/ 590550 h 15185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441633" h="1518578">
                <a:moveTo>
                  <a:pt x="0" y="0"/>
                </a:moveTo>
                <a:lnTo>
                  <a:pt x="2441543" y="0"/>
                </a:lnTo>
                <a:lnTo>
                  <a:pt x="2441543" y="177511"/>
                </a:lnTo>
                <a:lnTo>
                  <a:pt x="2441633" y="177957"/>
                </a:lnTo>
                <a:lnTo>
                  <a:pt x="2441633" y="1347124"/>
                </a:lnTo>
                <a:cubicBezTo>
                  <a:pt x="2441633" y="1441815"/>
                  <a:pt x="2364870" y="1518578"/>
                  <a:pt x="2270179" y="1518578"/>
                </a:cubicBezTo>
                <a:lnTo>
                  <a:pt x="171516" y="1518578"/>
                </a:lnTo>
                <a:cubicBezTo>
                  <a:pt x="76825" y="1518578"/>
                  <a:pt x="62" y="1441815"/>
                  <a:pt x="62" y="1347124"/>
                </a:cubicBezTo>
                <a:lnTo>
                  <a:pt x="62" y="590550"/>
                </a:lnTo>
                <a:lnTo>
                  <a:pt x="0" y="590550"/>
                </a:lnTo>
                <a:close/>
              </a:path>
            </a:pathLst>
          </a:custGeom>
          <a:solidFill>
            <a:schemeClr val="bg2"/>
          </a:solidFill>
          <a:ln>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de-CH"/>
          </a:p>
        </p:txBody>
      </p:sp>
      <p:sp>
        <p:nvSpPr>
          <p:cNvPr id="2" name="Titel 1">
            <a:extLst>
              <a:ext uri="{FF2B5EF4-FFF2-40B4-BE49-F238E27FC236}">
                <a16:creationId xmlns:a16="http://schemas.microsoft.com/office/drawing/2014/main" id="{7F2941B4-99B2-B1E6-EEC3-994303920E45}"/>
              </a:ext>
            </a:extLst>
          </p:cNvPr>
          <p:cNvSpPr>
            <a:spLocks noGrp="1"/>
          </p:cNvSpPr>
          <p:nvPr>
            <p:ph type="title"/>
          </p:nvPr>
        </p:nvSpPr>
        <p:spPr/>
        <p:txBody>
          <a:bodyPr/>
          <a:lstStyle/>
          <a:p>
            <a:r>
              <a:t>Vier Bausteine formen den LLM-Kontext</a:t>
            </a:r>
          </a:p>
        </p:txBody>
      </p:sp>
      <p:sp>
        <p:nvSpPr>
          <p:cNvPr id="3" name="Datumsplatzhalter 2">
            <a:extLst>
              <a:ext uri="{FF2B5EF4-FFF2-40B4-BE49-F238E27FC236}">
                <a16:creationId xmlns:a16="http://schemas.microsoft.com/office/drawing/2014/main" id="{D7A223C7-C588-4E61-CA6D-DC4757B078FE}"/>
              </a:ext>
            </a:extLst>
          </p:cNvPr>
          <p:cNvSpPr>
            <a:spLocks noGrp="1"/>
          </p:cNvSpPr>
          <p:nvPr>
            <p:ph type="dt" idx="10"/>
          </p:nvPr>
        </p:nvSpPr>
        <p:spPr/>
        <p:txBody>
          <a:bodyPr/>
          <a:lstStyle/>
          <a:p>
            <a:fld id="{E2111384-F462-4D90-9803-E7B6DB23FD1B}" type="datetime1">
              <a:rPr lang="de-DE"/>
              <a:t>13.08.2026</a:t>
            </a:fld>
            <a:endParaRPr/>
          </a:p>
        </p:txBody>
      </p:sp>
      <p:sp>
        <p:nvSpPr>
          <p:cNvPr id="4" name="Foliennummernplatzhalter 3">
            <a:extLst>
              <a:ext uri="{FF2B5EF4-FFF2-40B4-BE49-F238E27FC236}">
                <a16:creationId xmlns:a16="http://schemas.microsoft.com/office/drawing/2014/main" id="{D927E662-D3F8-7D1F-0099-EB4C8862FA85}"/>
              </a:ext>
            </a:extLst>
          </p:cNvPr>
          <p:cNvSpPr>
            <a:spLocks noGrp="1"/>
          </p:cNvSpPr>
          <p:nvPr>
            <p:ph type="sldNum" idx="12"/>
          </p:nvPr>
        </p:nvSpPr>
        <p:spPr/>
        <p:txBody>
          <a:bodyPr/>
          <a:lstStyle/>
          <a:p>
            <a:fld id="{CE7E00E2-F08D-429A-AD9B-1ECBEC02F4DB}" type="slidenum">
              <a:rPr/>
              <a:t>7</a:t>
            </a:fld>
            <a:endParaRPr/>
          </a:p>
        </p:txBody>
      </p:sp>
      <p:sp>
        <p:nvSpPr>
          <p:cNvPr id="7" name="Inhaltsplatzhalter 6">
            <a:extLst>
              <a:ext uri="{FF2B5EF4-FFF2-40B4-BE49-F238E27FC236}">
                <a16:creationId xmlns:a16="http://schemas.microsoft.com/office/drawing/2014/main" id="{377ADAB9-0DAD-695B-CC11-F49EDF84EBFF}"/>
              </a:ext>
            </a:extLst>
          </p:cNvPr>
          <p:cNvSpPr>
            <a:spLocks noGrp="1"/>
          </p:cNvSpPr>
          <p:nvPr>
            <p:ph idx="13"/>
          </p:nvPr>
        </p:nvSpPr>
        <p:spPr>
          <a:xfrm>
            <a:off x="666750" y="1476375"/>
            <a:ext cx="10668000" cy="590550"/>
          </a:xfrm>
        </p:spPr>
        <p:txBody>
          <a:bodyPr anchor="ctr"/>
          <a:lstStyle/>
          <a:p>
            <a:pPr algn="l">
              <a:defRPr sz="1950" b="0">
                <a:solidFill>
                  <a:srgbClr val="2D3F4B"/>
                </a:solidFill>
                <a:latin typeface="Arial"/>
                <a:ea typeface="Arial"/>
                <a:cs typeface="Arial"/>
              </a:defRPr>
            </a:pPr>
            <a:r>
              <a:rPr sz="1950" b="0" dirty="0">
                <a:solidFill>
                  <a:srgbClr val="2D3F4B"/>
                </a:solidFill>
                <a:latin typeface="Arial"/>
                <a:ea typeface="Arial"/>
                <a:cs typeface="Arial"/>
              </a:rPr>
              <a:t>Context Engineering </a:t>
            </a:r>
            <a:r>
              <a:rPr sz="1950" b="0" dirty="0" err="1">
                <a:solidFill>
                  <a:srgbClr val="2D3F4B"/>
                </a:solidFill>
                <a:latin typeface="Arial"/>
                <a:ea typeface="Arial"/>
                <a:cs typeface="Arial"/>
              </a:rPr>
              <a:t>entscheidet</a:t>
            </a:r>
            <a:r>
              <a:rPr sz="1950" b="0" dirty="0">
                <a:solidFill>
                  <a:srgbClr val="2D3F4B"/>
                </a:solidFill>
                <a:latin typeface="Arial"/>
                <a:ea typeface="Arial"/>
                <a:cs typeface="Arial"/>
              </a:rPr>
              <a:t>, </a:t>
            </a:r>
            <a:r>
              <a:rPr sz="1950" b="0" dirty="0" err="1">
                <a:solidFill>
                  <a:srgbClr val="2D3F4B"/>
                </a:solidFill>
                <a:latin typeface="Arial"/>
                <a:ea typeface="Arial"/>
                <a:cs typeface="Arial"/>
              </a:rPr>
              <a:t>welche</a:t>
            </a:r>
            <a:r>
              <a:rPr sz="1950" b="0" dirty="0">
                <a:solidFill>
                  <a:srgbClr val="2D3F4B"/>
                </a:solidFill>
                <a:latin typeface="Arial"/>
                <a:ea typeface="Arial"/>
                <a:cs typeface="Arial"/>
              </a:rPr>
              <a:t> </a:t>
            </a:r>
            <a:r>
              <a:rPr sz="1950" b="0" dirty="0" err="1">
                <a:solidFill>
                  <a:srgbClr val="2D3F4B"/>
                </a:solidFill>
                <a:latin typeface="Arial"/>
                <a:ea typeface="Arial"/>
                <a:cs typeface="Arial"/>
              </a:rPr>
              <a:t>Informationen</a:t>
            </a:r>
            <a:r>
              <a:rPr sz="1950" b="0" dirty="0">
                <a:solidFill>
                  <a:srgbClr val="2D3F4B"/>
                </a:solidFill>
                <a:latin typeface="Arial"/>
                <a:ea typeface="Arial"/>
                <a:cs typeface="Arial"/>
              </a:rPr>
              <a:t> das Modell für die </a:t>
            </a:r>
            <a:r>
              <a:rPr sz="1950" b="0" dirty="0" err="1">
                <a:solidFill>
                  <a:srgbClr val="2D3F4B"/>
                </a:solidFill>
                <a:latin typeface="Arial"/>
                <a:ea typeface="Arial"/>
                <a:cs typeface="Arial"/>
              </a:rPr>
              <a:t>aktuelle</a:t>
            </a:r>
            <a:r>
              <a:rPr sz="1950" b="0" dirty="0">
                <a:solidFill>
                  <a:srgbClr val="2D3F4B"/>
                </a:solidFill>
                <a:latin typeface="Arial"/>
                <a:ea typeface="Arial"/>
                <a:cs typeface="Arial"/>
              </a:rPr>
              <a:t> Aufgabe </a:t>
            </a:r>
            <a:r>
              <a:rPr sz="1950" b="0" dirty="0" err="1">
                <a:solidFill>
                  <a:srgbClr val="2D3F4B"/>
                </a:solidFill>
                <a:latin typeface="Arial"/>
                <a:ea typeface="Arial"/>
                <a:cs typeface="Arial"/>
              </a:rPr>
              <a:t>tatsächlich</a:t>
            </a:r>
            <a:r>
              <a:rPr sz="1950" b="0" dirty="0">
                <a:solidFill>
                  <a:srgbClr val="2D3F4B"/>
                </a:solidFill>
                <a:latin typeface="Arial"/>
                <a:ea typeface="Arial"/>
                <a:cs typeface="Arial"/>
              </a:rPr>
              <a:t> </a:t>
            </a:r>
            <a:r>
              <a:rPr sz="1950" b="0" dirty="0" err="1">
                <a:solidFill>
                  <a:srgbClr val="2D3F4B"/>
                </a:solidFill>
                <a:latin typeface="Arial"/>
                <a:ea typeface="Arial"/>
                <a:cs typeface="Arial"/>
              </a:rPr>
              <a:t>sieht</a:t>
            </a:r>
            <a:r>
              <a:rPr sz="1950" b="0" dirty="0">
                <a:solidFill>
                  <a:srgbClr val="2D3F4B"/>
                </a:solidFill>
                <a:latin typeface="Arial"/>
                <a:ea typeface="Arial"/>
                <a:cs typeface="Arial"/>
              </a:rPr>
              <a:t>.</a:t>
            </a:r>
          </a:p>
        </p:txBody>
      </p:sp>
      <p:sp>
        <p:nvSpPr>
          <p:cNvPr id="9" name="Gerader Verbinder 8">
            <a:extLst>
              <a:ext uri="{FF2B5EF4-FFF2-40B4-BE49-F238E27FC236}">
                <a16:creationId xmlns:a16="http://schemas.microsoft.com/office/drawing/2014/main" id="{54E8B81A-4CE4-CC57-A79A-DE5951DBC93F}"/>
              </a:ext>
            </a:extLst>
          </p:cNvPr>
          <p:cNvSpPr/>
          <p:nvPr/>
        </p:nvSpPr>
        <p:spPr>
          <a:xfrm>
            <a:off x="719999" y="4680000"/>
            <a:ext cx="2520000" cy="0"/>
          </a:xfrm>
          <a:prstGeom prst="line">
            <a:avLst/>
          </a:prstGeom>
          <a:ln w="28575">
            <a:solidFill>
              <a:srgbClr val="C60C30"/>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12" name="Textfeld 11">
            <a:extLst>
              <a:ext uri="{FF2B5EF4-FFF2-40B4-BE49-F238E27FC236}">
                <a16:creationId xmlns:a16="http://schemas.microsoft.com/office/drawing/2014/main" id="{B2A9DCD7-4579-60D2-FBD3-40373BDFC2AB}"/>
              </a:ext>
            </a:extLst>
          </p:cNvPr>
          <p:cNvSpPr/>
          <p:nvPr/>
        </p:nvSpPr>
        <p:spPr>
          <a:xfrm>
            <a:off x="72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RAG</a:t>
            </a:r>
          </a:p>
        </p:txBody>
      </p:sp>
      <p:sp>
        <p:nvSpPr>
          <p:cNvPr id="13" name="Textfeld 12">
            <a:extLst>
              <a:ext uri="{FF2B5EF4-FFF2-40B4-BE49-F238E27FC236}">
                <a16:creationId xmlns:a16="http://schemas.microsoft.com/office/drawing/2014/main" id="{07D3177A-77C8-0D63-7CD7-96EA20AA1D11}"/>
              </a:ext>
            </a:extLst>
          </p:cNvPr>
          <p:cNvSpPr/>
          <p:nvPr/>
        </p:nvSpPr>
        <p:spPr>
          <a:xfrm>
            <a:off x="720000" y="4680000"/>
            <a:ext cx="2520000" cy="900000"/>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relevante</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Dokument</a:t>
            </a:r>
            <a:r>
              <a:rPr sz="1650" dirty="0">
                <a:solidFill>
                  <a:srgbClr val="2D3F4B"/>
                </a:solidFill>
                <a:latin typeface="Arial"/>
                <a:ea typeface="Arial"/>
                <a:cs typeface="Arial"/>
              </a:rPr>
              <a:t>-Chunks</a:t>
            </a:r>
          </a:p>
        </p:txBody>
      </p:sp>
      <p:sp>
        <p:nvSpPr>
          <p:cNvPr id="17" name="Textfeld 16">
            <a:extLst>
              <a:ext uri="{FF2B5EF4-FFF2-40B4-BE49-F238E27FC236}">
                <a16:creationId xmlns:a16="http://schemas.microsoft.com/office/drawing/2014/main" id="{A9746E1B-7AD9-7F91-C37F-C799323B9FE0}"/>
              </a:ext>
            </a:extLst>
          </p:cNvPr>
          <p:cNvSpPr/>
          <p:nvPr/>
        </p:nvSpPr>
        <p:spPr>
          <a:xfrm>
            <a:off x="3599999" y="4245340"/>
            <a:ext cx="2520000" cy="433898"/>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MCP-Tools</a:t>
            </a:r>
          </a:p>
        </p:txBody>
      </p:sp>
      <p:sp>
        <p:nvSpPr>
          <p:cNvPr id="18" name="Textfeld 17">
            <a:extLst>
              <a:ext uri="{FF2B5EF4-FFF2-40B4-BE49-F238E27FC236}">
                <a16:creationId xmlns:a16="http://schemas.microsoft.com/office/drawing/2014/main" id="{075B269E-CD0F-D176-B3CD-4D1C663AA76B}"/>
              </a:ext>
            </a:extLst>
          </p:cNvPr>
          <p:cNvSpPr/>
          <p:nvPr/>
        </p:nvSpPr>
        <p:spPr>
          <a:xfrm>
            <a:off x="360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aktuelle</a:t>
            </a:r>
            <a:r>
              <a:rPr sz="1650" dirty="0">
                <a:solidFill>
                  <a:srgbClr val="2D3F4B"/>
                </a:solidFill>
                <a:latin typeface="Arial"/>
                <a:ea typeface="Arial"/>
                <a:cs typeface="Arial"/>
              </a:rPr>
              <a:t> Daten</a:t>
            </a: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Aktionen</a:t>
            </a:r>
            <a:endParaRPr sz="1650" dirty="0">
              <a:solidFill>
                <a:srgbClr val="2D3F4B"/>
              </a:solidFill>
              <a:latin typeface="Arial"/>
              <a:ea typeface="Arial"/>
              <a:cs typeface="Arial"/>
            </a:endParaRPr>
          </a:p>
        </p:txBody>
      </p:sp>
      <p:sp>
        <p:nvSpPr>
          <p:cNvPr id="26" name="Gerader Verbinder 25">
            <a:extLst>
              <a:ext uri="{FF2B5EF4-FFF2-40B4-BE49-F238E27FC236}">
                <a16:creationId xmlns:a16="http://schemas.microsoft.com/office/drawing/2014/main" id="{FDB30261-953C-A5DC-B082-745AC9E28867}"/>
              </a:ext>
            </a:extLst>
          </p:cNvPr>
          <p:cNvSpPr/>
          <p:nvPr/>
        </p:nvSpPr>
        <p:spPr>
          <a:xfrm>
            <a:off x="6480000" y="4680000"/>
            <a:ext cx="2520000" cy="0"/>
          </a:xfrm>
          <a:prstGeom prst="line">
            <a:avLst/>
          </a:prstGeom>
          <a:ln w="28575">
            <a:solidFill>
              <a:srgbClr val="43858A"/>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21" name="Textfeld 20">
            <a:extLst>
              <a:ext uri="{FF2B5EF4-FFF2-40B4-BE49-F238E27FC236}">
                <a16:creationId xmlns:a16="http://schemas.microsoft.com/office/drawing/2014/main" id="{4B0BA690-07FA-225E-23FA-08E793BA6C2E}"/>
              </a:ext>
            </a:extLst>
          </p:cNvPr>
          <p:cNvSpPr/>
          <p:nvPr/>
        </p:nvSpPr>
        <p:spPr>
          <a:xfrm>
            <a:off x="6480000" y="4215465"/>
            <a:ext cx="2520000" cy="46377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Skills</a:t>
            </a:r>
          </a:p>
        </p:txBody>
      </p:sp>
      <p:sp>
        <p:nvSpPr>
          <p:cNvPr id="22" name="Textfeld 21">
            <a:extLst>
              <a:ext uri="{FF2B5EF4-FFF2-40B4-BE49-F238E27FC236}">
                <a16:creationId xmlns:a16="http://schemas.microsoft.com/office/drawing/2014/main" id="{B8B16934-007A-F4FA-4D5A-1D97DA8CAA33}"/>
              </a:ext>
            </a:extLst>
          </p:cNvPr>
          <p:cNvSpPr/>
          <p:nvPr/>
        </p:nvSpPr>
        <p:spPr>
          <a:xfrm>
            <a:off x="6480000" y="4679241"/>
            <a:ext cx="2520000" cy="900759"/>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err="1">
                <a:solidFill>
                  <a:srgbClr val="2D3F4B"/>
                </a:solidFill>
                <a:latin typeface="Arial"/>
                <a:ea typeface="Arial"/>
                <a:cs typeface="Arial"/>
              </a:rPr>
              <a:t>Anweisungen</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Workflows</a:t>
            </a:r>
          </a:p>
        </p:txBody>
      </p:sp>
      <p:sp>
        <p:nvSpPr>
          <p:cNvPr id="29" name="Gerader Verbinder 28">
            <a:extLst>
              <a:ext uri="{FF2B5EF4-FFF2-40B4-BE49-F238E27FC236}">
                <a16:creationId xmlns:a16="http://schemas.microsoft.com/office/drawing/2014/main" id="{CFAAF0F9-D6BF-E188-0C95-C63C1067D69F}"/>
              </a:ext>
            </a:extLst>
          </p:cNvPr>
          <p:cNvSpPr/>
          <p:nvPr/>
        </p:nvSpPr>
        <p:spPr>
          <a:xfrm>
            <a:off x="9359999" y="4680000"/>
            <a:ext cx="2520000" cy="0"/>
          </a:xfrm>
          <a:prstGeom prst="line">
            <a:avLst/>
          </a:prstGeom>
          <a:ln w="28575">
            <a:solidFill>
              <a:srgbClr val="C9960F"/>
            </a:solidFill>
            <a:prstDash val="solid"/>
          </a:ln>
        </p:spPr>
        <p:style>
          <a:lnRef idx="1">
            <a:schemeClr val="accent1"/>
          </a:lnRef>
          <a:fillRef idx="0">
            <a:schemeClr val="accent1"/>
          </a:fillRef>
          <a:effectRef idx="0">
            <a:schemeClr val="accent1"/>
          </a:effectRef>
          <a:fontRef idx="minor">
            <a:schemeClr val="tx1"/>
          </a:fontRef>
        </p:style>
        <p:txBody>
          <a:bodyPr/>
          <a:lstStyle/>
          <a:p>
            <a:endParaRPr lang="de-CH"/>
          </a:p>
        </p:txBody>
      </p:sp>
      <p:sp>
        <p:nvSpPr>
          <p:cNvPr id="30" name="Textfeld 29">
            <a:extLst>
              <a:ext uri="{FF2B5EF4-FFF2-40B4-BE49-F238E27FC236}">
                <a16:creationId xmlns:a16="http://schemas.microsoft.com/office/drawing/2014/main" id="{E6841F9A-B1E5-B90F-3279-A3597021D24E}"/>
              </a:ext>
            </a:extLst>
          </p:cNvPr>
          <p:cNvSpPr/>
          <p:nvPr/>
        </p:nvSpPr>
        <p:spPr>
          <a:xfrm>
            <a:off x="9360000" y="4233355"/>
            <a:ext cx="2520000" cy="445883"/>
          </a:xfrm>
          <a:prstGeom prst="rect">
            <a:avLst/>
          </a:prstGeom>
          <a:noFill/>
        </p:spPr>
        <p:txBody>
          <a:bodyPr wrap="square" lIns="0" tIns="0" rIns="0" bIns="0" anchor="ctr">
            <a:noAutofit/>
          </a:bodyPr>
          <a:lstStyle/>
          <a:p>
            <a:pPr algn="ctr">
              <a:buNone/>
              <a:defRPr sz="1800" b="1">
                <a:solidFill>
                  <a:srgbClr val="2D3F4B"/>
                </a:solidFill>
                <a:latin typeface="Arial"/>
                <a:ea typeface="Arial"/>
                <a:cs typeface="Arial"/>
              </a:defRPr>
            </a:pPr>
            <a:r>
              <a:rPr sz="1800" b="1" dirty="0" err="1">
                <a:solidFill>
                  <a:srgbClr val="2D3F4B"/>
                </a:solidFill>
                <a:latin typeface="Arial"/>
                <a:ea typeface="Arial"/>
                <a:cs typeface="Arial"/>
              </a:rPr>
              <a:t>Kontextfenster</a:t>
            </a:r>
            <a:endParaRPr sz="1800" b="1" dirty="0">
              <a:solidFill>
                <a:srgbClr val="2D3F4B"/>
              </a:solidFill>
              <a:latin typeface="Arial"/>
              <a:ea typeface="Arial"/>
              <a:cs typeface="Arial"/>
            </a:endParaRPr>
          </a:p>
        </p:txBody>
      </p:sp>
      <p:sp>
        <p:nvSpPr>
          <p:cNvPr id="31" name="Textfeld 30">
            <a:extLst>
              <a:ext uri="{FF2B5EF4-FFF2-40B4-BE49-F238E27FC236}">
                <a16:creationId xmlns:a16="http://schemas.microsoft.com/office/drawing/2014/main" id="{ACB039CC-F485-C051-649D-630116902526}"/>
              </a:ext>
            </a:extLst>
          </p:cNvPr>
          <p:cNvSpPr/>
          <p:nvPr/>
        </p:nvSpPr>
        <p:spPr>
          <a:xfrm>
            <a:off x="9359999" y="4671659"/>
            <a:ext cx="2520000" cy="908341"/>
          </a:xfrm>
          <a:prstGeom prst="rect">
            <a:avLst/>
          </a:prstGeom>
          <a:noFill/>
        </p:spPr>
        <p:txBody>
          <a:bodyPr wrap="square" lIns="0" tIns="0" rIns="0" bIns="0" anchor="ctr">
            <a:noAutofit/>
          </a:bodyPr>
          <a:lstStyle/>
          <a:p>
            <a:pPr algn="ctr">
              <a:buNone/>
              <a:defRPr sz="1650">
                <a:solidFill>
                  <a:srgbClr val="2D3F4B"/>
                </a:solidFill>
                <a:latin typeface="Arial"/>
                <a:ea typeface="Arial"/>
                <a:cs typeface="Arial"/>
              </a:defRPr>
            </a:pPr>
            <a:r>
              <a:rPr sz="1650" dirty="0">
                <a:solidFill>
                  <a:srgbClr val="2D3F4B"/>
                </a:solidFill>
                <a:latin typeface="Arial"/>
                <a:ea typeface="Arial"/>
                <a:cs typeface="Arial"/>
              </a:rPr>
              <a:t>Frage, </a:t>
            </a:r>
            <a:r>
              <a:rPr sz="1650" dirty="0" err="1">
                <a:solidFill>
                  <a:srgbClr val="2D3F4B"/>
                </a:solidFill>
                <a:latin typeface="Arial"/>
                <a:ea typeface="Arial"/>
                <a:cs typeface="Arial"/>
              </a:rPr>
              <a:t>Verlauf</a:t>
            </a:r>
            <a:endParaRPr sz="1650" dirty="0">
              <a:solidFill>
                <a:srgbClr val="2D3F4B"/>
              </a:solidFill>
              <a:latin typeface="Arial"/>
              <a:ea typeface="Arial"/>
              <a:cs typeface="Arial"/>
            </a:endParaRPr>
          </a:p>
          <a:p>
            <a:pPr algn="ctr">
              <a:buNone/>
              <a:defRPr sz="1650">
                <a:solidFill>
                  <a:srgbClr val="2D3F4B"/>
                </a:solidFill>
                <a:latin typeface="Arial"/>
                <a:ea typeface="Arial"/>
                <a:cs typeface="Arial"/>
              </a:defRPr>
            </a:pPr>
            <a:r>
              <a:rPr sz="1650" dirty="0">
                <a:solidFill>
                  <a:srgbClr val="2D3F4B"/>
                </a:solidFill>
                <a:latin typeface="Arial"/>
                <a:ea typeface="Arial"/>
                <a:cs typeface="Arial"/>
              </a:rPr>
              <a:t>und </a:t>
            </a:r>
            <a:r>
              <a:rPr sz="1650" dirty="0" err="1">
                <a:solidFill>
                  <a:srgbClr val="2D3F4B"/>
                </a:solidFill>
                <a:latin typeface="Arial"/>
                <a:ea typeface="Arial"/>
                <a:cs typeface="Arial"/>
              </a:rPr>
              <a:t>Inhalte</a:t>
            </a:r>
            <a:endParaRPr sz="1650" dirty="0">
              <a:solidFill>
                <a:srgbClr val="2D3F4B"/>
              </a:solidFill>
              <a:latin typeface="Arial"/>
              <a:ea typeface="Arial"/>
              <a:cs typeface="Arial"/>
            </a:endParaRPr>
          </a:p>
        </p:txBody>
      </p:sp>
      <p:sp>
        <p:nvSpPr>
          <p:cNvPr id="33" name="Rechteck: abgerundete Ecken 32">
            <a:extLst>
              <a:ext uri="{FF2B5EF4-FFF2-40B4-BE49-F238E27FC236}">
                <a16:creationId xmlns:a16="http://schemas.microsoft.com/office/drawing/2014/main" id="{5ADBEBE3-16B3-0919-7EBC-ADC5CFDD5D77}"/>
              </a:ext>
            </a:extLst>
          </p:cNvPr>
          <p:cNvSpPr/>
          <p:nvPr/>
        </p:nvSpPr>
        <p:spPr>
          <a:xfrm>
            <a:off x="4320000" y="2520000"/>
            <a:ext cx="3600000" cy="900000"/>
          </a:xfrm>
          <a:prstGeom prst="roundRect">
            <a:avLst>
              <a:gd name="adj" fmla="val 20930"/>
            </a:avLst>
          </a:prstGeom>
          <a:solidFill>
            <a:schemeClr val="bg2"/>
          </a:solidFill>
          <a:ln w="0">
            <a:solidFill>
              <a:schemeClr val="accent3"/>
            </a:solidFill>
            <a:prstDash val="solid"/>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r>
              <a:rPr lang="de-CH" b="1" dirty="0">
                <a:solidFill>
                  <a:srgbClr val="2D3F4B"/>
                </a:solidFill>
                <a:ea typeface="Arial"/>
                <a:cs typeface="Arial"/>
              </a:rPr>
              <a:t>LLM-KONTEXT</a:t>
            </a:r>
            <a:endParaRPr lang="de-CH" sz="2000" b="1" dirty="0">
              <a:solidFill>
                <a:srgbClr val="2D3F4B"/>
              </a:solidFill>
              <a:ea typeface="Arial"/>
              <a:cs typeface="Arial"/>
            </a:endParaRPr>
          </a:p>
        </p:txBody>
      </p:sp>
      <p:cxnSp>
        <p:nvCxnSpPr>
          <p:cNvPr id="81" name="Gerade Verbindung mit Pfeil 44">
            <a:extLst>
              <a:ext uri="{FF2B5EF4-FFF2-40B4-BE49-F238E27FC236}">
                <a16:creationId xmlns:a16="http://schemas.microsoft.com/office/drawing/2014/main" id="{E71C313A-5F10-F547-4033-7B034662BEE4}"/>
              </a:ext>
            </a:extLst>
          </p:cNvPr>
          <p:cNvCxnSpPr>
            <a:cxnSpLocks/>
            <a:stCxn id="54" idx="0"/>
            <a:endCxn id="33" idx="1"/>
          </p:cNvCxnSpPr>
          <p:nvPr/>
        </p:nvCxnSpPr>
        <p:spPr>
          <a:xfrm flipV="1">
            <a:off x="1979999" y="2970000"/>
            <a:ext cx="2340001" cy="1170000"/>
          </a:xfrm>
          <a:prstGeom prst="straightConnector1">
            <a:avLst/>
          </a:prstGeom>
          <a:ln w="50800" cap="rnd">
            <a:solidFill>
              <a:srgbClr val="C60C30"/>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2" name="Gerade Verbindung mit Pfeil 48">
            <a:extLst>
              <a:ext uri="{FF2B5EF4-FFF2-40B4-BE49-F238E27FC236}">
                <a16:creationId xmlns:a16="http://schemas.microsoft.com/office/drawing/2014/main" id="{1FF41BAB-CC52-3287-8564-58B07F922D32}"/>
              </a:ext>
            </a:extLst>
          </p:cNvPr>
          <p:cNvCxnSpPr>
            <a:cxnSpLocks/>
            <a:stCxn id="55" idx="0"/>
          </p:cNvCxnSpPr>
          <p:nvPr/>
        </p:nvCxnSpPr>
        <p:spPr>
          <a:xfrm flipV="1">
            <a:off x="4859999" y="3420000"/>
            <a:ext cx="543691" cy="720000"/>
          </a:xfrm>
          <a:prstGeom prst="straightConnector1">
            <a:avLst/>
          </a:prstGeom>
          <a:ln w="50800" cap="rnd">
            <a:solidFill>
              <a:srgbClr val="9BC7EE"/>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3" name="Gerade Verbindung mit Pfeil 50">
            <a:extLst>
              <a:ext uri="{FF2B5EF4-FFF2-40B4-BE49-F238E27FC236}">
                <a16:creationId xmlns:a16="http://schemas.microsoft.com/office/drawing/2014/main" id="{E2F10FA4-5D75-5FCA-FB55-58586324C399}"/>
              </a:ext>
            </a:extLst>
          </p:cNvPr>
          <p:cNvCxnSpPr>
            <a:cxnSpLocks/>
            <a:stCxn id="56" idx="0"/>
          </p:cNvCxnSpPr>
          <p:nvPr/>
        </p:nvCxnSpPr>
        <p:spPr>
          <a:xfrm flipH="1" flipV="1">
            <a:off x="7131401" y="3420000"/>
            <a:ext cx="608598" cy="720000"/>
          </a:xfrm>
          <a:prstGeom prst="straightConnector1">
            <a:avLst/>
          </a:prstGeom>
          <a:ln w="50800" cap="rnd">
            <a:solidFill>
              <a:srgbClr val="43858A"/>
            </a:solidFill>
            <a:prstDash val="solid"/>
            <a:round/>
            <a:tailEnd type="triangle"/>
          </a:ln>
        </p:spPr>
        <p:style>
          <a:lnRef idx="1">
            <a:schemeClr val="accent1"/>
          </a:lnRef>
          <a:fillRef idx="0">
            <a:schemeClr val="accent1"/>
          </a:fillRef>
          <a:effectRef idx="0">
            <a:schemeClr val="accent1"/>
          </a:effectRef>
          <a:fontRef idx="minor">
            <a:schemeClr val="tx1"/>
          </a:fontRef>
        </p:style>
      </p:cxnSp>
      <p:cxnSp>
        <p:nvCxnSpPr>
          <p:cNvPr id="84" name="Gerade Verbindung mit Pfeil 52">
            <a:extLst>
              <a:ext uri="{FF2B5EF4-FFF2-40B4-BE49-F238E27FC236}">
                <a16:creationId xmlns:a16="http://schemas.microsoft.com/office/drawing/2014/main" id="{CE58EC71-244B-65C4-E0E0-DAEE19E2349E}"/>
              </a:ext>
            </a:extLst>
          </p:cNvPr>
          <p:cNvCxnSpPr>
            <a:cxnSpLocks/>
            <a:stCxn id="57" idx="0"/>
            <a:endCxn id="33" idx="3"/>
          </p:cNvCxnSpPr>
          <p:nvPr/>
        </p:nvCxnSpPr>
        <p:spPr>
          <a:xfrm flipH="1" flipV="1">
            <a:off x="7920000" y="2970000"/>
            <a:ext cx="2699999" cy="1170000"/>
          </a:xfrm>
          <a:prstGeom prst="straightConnector1">
            <a:avLst/>
          </a:prstGeom>
          <a:ln w="50800" cap="rnd">
            <a:solidFill>
              <a:srgbClr val="C9960F"/>
            </a:solidFill>
            <a:prstDash val="solid"/>
            <a:round/>
            <a:tailEnd type="triangle"/>
          </a:ln>
        </p:spPr>
        <p:style>
          <a:lnRef idx="1">
            <a:schemeClr val="accent1"/>
          </a:lnRef>
          <a:fillRef idx="0">
            <a:schemeClr val="accent1"/>
          </a:fillRef>
          <a:effectRef idx="0">
            <a:schemeClr val="accent1"/>
          </a:effectRef>
          <a:fontRef idx="minor">
            <a:schemeClr val="tx1"/>
          </a:fontRef>
        </p:style>
      </p:cxnSp>
      <p:sp>
        <p:nvSpPr>
          <p:cNvPr id="54" name="RAG-accent-bar">
            <a:extLst>
              <a:ext uri="{FF2B5EF4-FFF2-40B4-BE49-F238E27FC236}">
                <a16:creationId xmlns:a16="http://schemas.microsoft.com/office/drawing/2014/main" id="{ED1A5968-0190-B134-9FA9-652D25DA2B5D}"/>
              </a:ext>
            </a:extLst>
          </p:cNvPr>
          <p:cNvSpPr/>
          <p:nvPr/>
        </p:nvSpPr>
        <p:spPr>
          <a:xfrm>
            <a:off x="719999" y="4140000"/>
            <a:ext cx="2520000" cy="93355"/>
          </a:xfrm>
          <a:prstGeom prst="rect">
            <a:avLst/>
          </a:prstGeom>
          <a:solidFill>
            <a:srgbClr val="C60C30"/>
          </a:solidFill>
          <a:ln w="0">
            <a:solidFill>
              <a:srgbClr val="C60C30"/>
            </a:solidFill>
            <a:prstDash val="solid"/>
          </a:ln>
        </p:spPr>
        <p:txBody>
          <a:bodyPr/>
          <a:lstStyle/>
          <a:p>
            <a:endParaRPr lang="de-CH"/>
          </a:p>
        </p:txBody>
      </p:sp>
      <p:sp>
        <p:nvSpPr>
          <p:cNvPr id="55" name="MCP-Tools-accent-bar">
            <a:extLst>
              <a:ext uri="{FF2B5EF4-FFF2-40B4-BE49-F238E27FC236}">
                <a16:creationId xmlns:a16="http://schemas.microsoft.com/office/drawing/2014/main" id="{6BEDFBE6-D4AB-9780-6C6D-50F89933E3B9}"/>
              </a:ext>
            </a:extLst>
          </p:cNvPr>
          <p:cNvSpPr/>
          <p:nvPr/>
        </p:nvSpPr>
        <p:spPr>
          <a:xfrm>
            <a:off x="3599999" y="4140000"/>
            <a:ext cx="2520000" cy="97758"/>
          </a:xfrm>
          <a:prstGeom prst="rect">
            <a:avLst/>
          </a:prstGeom>
          <a:solidFill>
            <a:srgbClr val="9BC7EE"/>
          </a:solidFill>
          <a:ln w="12700">
            <a:solidFill>
              <a:srgbClr val="9BC7EE"/>
            </a:solidFill>
            <a:prstDash val="solid"/>
          </a:ln>
        </p:spPr>
        <p:txBody>
          <a:bodyPr/>
          <a:lstStyle/>
          <a:p>
            <a:endParaRPr lang="de-CH"/>
          </a:p>
        </p:txBody>
      </p:sp>
      <p:sp>
        <p:nvSpPr>
          <p:cNvPr id="56" name="Skills-accent-bar">
            <a:extLst>
              <a:ext uri="{FF2B5EF4-FFF2-40B4-BE49-F238E27FC236}">
                <a16:creationId xmlns:a16="http://schemas.microsoft.com/office/drawing/2014/main" id="{775EBC39-5068-AE3D-DA3F-616274FDB460}"/>
              </a:ext>
            </a:extLst>
          </p:cNvPr>
          <p:cNvSpPr/>
          <p:nvPr/>
        </p:nvSpPr>
        <p:spPr>
          <a:xfrm>
            <a:off x="6479999" y="4140000"/>
            <a:ext cx="2520000" cy="97169"/>
          </a:xfrm>
          <a:prstGeom prst="rect">
            <a:avLst/>
          </a:prstGeom>
          <a:solidFill>
            <a:srgbClr val="43858A"/>
          </a:solidFill>
          <a:ln w="0">
            <a:solidFill>
              <a:srgbClr val="43858A"/>
            </a:solidFill>
            <a:prstDash val="solid"/>
          </a:ln>
        </p:spPr>
        <p:txBody>
          <a:bodyPr/>
          <a:lstStyle/>
          <a:p>
            <a:endParaRPr lang="de-CH"/>
          </a:p>
        </p:txBody>
      </p:sp>
      <p:sp>
        <p:nvSpPr>
          <p:cNvPr id="57" name="Kontextfenster-accent-bar">
            <a:extLst>
              <a:ext uri="{FF2B5EF4-FFF2-40B4-BE49-F238E27FC236}">
                <a16:creationId xmlns:a16="http://schemas.microsoft.com/office/drawing/2014/main" id="{B58DE454-F909-35E9-2DC9-A5B73496DBDA}"/>
              </a:ext>
            </a:extLst>
          </p:cNvPr>
          <p:cNvSpPr/>
          <p:nvPr/>
        </p:nvSpPr>
        <p:spPr>
          <a:xfrm>
            <a:off x="9359999" y="4140000"/>
            <a:ext cx="2520000" cy="105340"/>
          </a:xfrm>
          <a:prstGeom prst="rect">
            <a:avLst/>
          </a:prstGeom>
          <a:solidFill>
            <a:srgbClr val="C9960F"/>
          </a:solidFill>
          <a:ln w="0">
            <a:solidFill>
              <a:srgbClr val="C9960F"/>
            </a:solidFill>
            <a:prstDash val="solid"/>
          </a:ln>
        </p:spPr>
        <p:txBody>
          <a:bodyPr/>
          <a:lstStyle/>
          <a:p>
            <a:endParaRPr lang="de-CH"/>
          </a:p>
        </p:txBody>
      </p:sp>
      <p:sp>
        <p:nvSpPr>
          <p:cNvPr id="58" name="llm-context-caption">
            <a:extLst>
              <a:ext uri="{FF2B5EF4-FFF2-40B4-BE49-F238E27FC236}">
                <a16:creationId xmlns:a16="http://schemas.microsoft.com/office/drawing/2014/main" id="{7B51C021-27B6-90C5-89CC-1CFAC59448BB}"/>
              </a:ext>
            </a:extLst>
          </p:cNvPr>
          <p:cNvSpPr/>
          <p:nvPr/>
        </p:nvSpPr>
        <p:spPr>
          <a:xfrm>
            <a:off x="4320000" y="1980000"/>
            <a:ext cx="3619500" cy="472727"/>
          </a:xfrm>
          <a:prstGeom prst="rect">
            <a:avLst/>
          </a:prstGeom>
          <a:noFill/>
          <a:ln w="0">
            <a:noFill/>
            <a:prstDash val="solid"/>
          </a:ln>
        </p:spPr>
        <p:txBody>
          <a:bodyPr anchor="ctr"/>
          <a:lstStyle/>
          <a:p>
            <a:pPr algn="ctr">
              <a:defRPr sz="1275">
                <a:solidFill>
                  <a:srgbClr val="81725E"/>
                </a:solidFill>
                <a:latin typeface="Arial"/>
                <a:ea typeface="Arial"/>
                <a:cs typeface="Arial"/>
              </a:defRPr>
            </a:pPr>
            <a:r>
              <a:rPr sz="1200" dirty="0">
                <a:latin typeface="Arial"/>
                <a:ea typeface="Arial"/>
                <a:cs typeface="Arial"/>
              </a:rPr>
              <a:t>Das Modell </a:t>
            </a:r>
            <a:r>
              <a:rPr sz="1200" dirty="0" err="1">
                <a:latin typeface="Arial"/>
                <a:ea typeface="Arial"/>
                <a:cs typeface="Arial"/>
              </a:rPr>
              <a:t>kann</a:t>
            </a:r>
            <a:r>
              <a:rPr sz="1200" dirty="0">
                <a:latin typeface="Arial"/>
                <a:ea typeface="Arial"/>
                <a:cs typeface="Arial"/>
              </a:rPr>
              <a:t> </a:t>
            </a:r>
            <a:r>
              <a:rPr sz="1200" dirty="0" err="1">
                <a:latin typeface="Arial"/>
                <a:ea typeface="Arial"/>
                <a:cs typeface="Arial"/>
              </a:rPr>
              <a:t>nur</a:t>
            </a:r>
            <a:r>
              <a:rPr sz="1200" dirty="0">
                <a:latin typeface="Arial"/>
                <a:ea typeface="Arial"/>
                <a:cs typeface="Arial"/>
              </a:rPr>
              <a:t> den </a:t>
            </a:r>
            <a:r>
              <a:rPr sz="1200" dirty="0" err="1">
                <a:latin typeface="Arial"/>
                <a:ea typeface="Arial"/>
                <a:cs typeface="Arial"/>
              </a:rPr>
              <a:t>zusammengestellten</a:t>
            </a:r>
            <a:r>
              <a:rPr sz="1200" dirty="0">
                <a:latin typeface="Arial"/>
                <a:ea typeface="Arial"/>
                <a:cs typeface="Arial"/>
              </a:rPr>
              <a:t> K</a:t>
            </a:r>
            <a:r>
              <a:rPr lang="de-DE" sz="1200" dirty="0">
                <a:latin typeface="Arial"/>
                <a:ea typeface="Arial"/>
                <a:cs typeface="Arial"/>
              </a:rPr>
              <a:t>o</a:t>
            </a:r>
            <a:r>
              <a:rPr sz="1200" dirty="0" err="1">
                <a:latin typeface="Arial"/>
                <a:ea typeface="Arial"/>
                <a:cs typeface="Arial"/>
              </a:rPr>
              <a:t>ntext</a:t>
            </a:r>
            <a:r>
              <a:rPr sz="1200" dirty="0">
                <a:latin typeface="Arial"/>
                <a:ea typeface="Arial"/>
                <a:cs typeface="Arial"/>
              </a:rPr>
              <a:t> </a:t>
            </a:r>
            <a:r>
              <a:rPr sz="1200" dirty="0" err="1">
                <a:latin typeface="Arial"/>
                <a:ea typeface="Arial"/>
                <a:cs typeface="Arial"/>
              </a:rPr>
              <a:t>nutzen</a:t>
            </a:r>
            <a:r>
              <a:rPr sz="1200" dirty="0">
                <a:latin typeface="Arial"/>
                <a:ea typeface="Arial"/>
                <a:cs typeface="Arial"/>
              </a:rPr>
              <a:t>.</a:t>
            </a:r>
          </a:p>
        </p:txBody>
      </p:sp>
      <p:sp>
        <p:nvSpPr>
          <p:cNvPr id="6" name="Gerader Verbinder 5">
            <a:extLst>
              <a:ext uri="{FF2B5EF4-FFF2-40B4-BE49-F238E27FC236}">
                <a16:creationId xmlns:a16="http://schemas.microsoft.com/office/drawing/2014/main" id="{A38B96F3-3210-7178-0D60-5D63C5B82232}"/>
              </a:ext>
            </a:extLst>
          </p:cNvPr>
          <p:cNvSpPr/>
          <p:nvPr/>
        </p:nvSpPr>
        <p:spPr>
          <a:xfrm>
            <a:off x="3600000" y="4680000"/>
            <a:ext cx="2520000" cy="0"/>
          </a:xfrm>
          <a:prstGeom prst="line">
            <a:avLst/>
          </a:prstGeom>
          <a:solidFill>
            <a:srgbClr val="9BC7EE"/>
          </a:solidFill>
          <a:ln w="28575">
            <a:solidFill>
              <a:srgbClr val="9BC7EE"/>
            </a:solidFill>
            <a:prstDash val="solid"/>
          </a:ln>
        </p:spPr>
        <p:txBody>
          <a:bodyPr/>
          <a:lstStyle/>
          <a:p>
            <a:endParaRPr lang="de-CH"/>
          </a:p>
        </p:txBody>
      </p:sp>
    </p:spTree>
    <p:extLst>
      <p:ext uri="{BB962C8B-B14F-4D97-AF65-F5344CB8AC3E}">
        <p14:creationId xmlns:p14="http://schemas.microsoft.com/office/powerpoint/2010/main" val="40068725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Aufbau eines Full RAGs</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8</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6"/>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412942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48B97D5-E46C-61C6-EDDA-17B673B59B33}"/>
              </a:ext>
            </a:extLst>
          </p:cNvPr>
          <p:cNvSpPr>
            <a:spLocks noGrp="1"/>
          </p:cNvSpPr>
          <p:nvPr>
            <p:ph type="title"/>
          </p:nvPr>
        </p:nvSpPr>
        <p:spPr>
          <a:xfrm>
            <a:off x="482461" y="346633"/>
            <a:ext cx="11230114" cy="767605"/>
          </a:xfrm>
        </p:spPr>
        <p:txBody>
          <a:bodyPr anchor="ctr"/>
          <a:lstStyle/>
          <a:p>
            <a:r>
              <a:rPr lang="de-DE" dirty="0" err="1"/>
              <a:t>Vom</a:t>
            </a:r>
            <a:r>
              <a:rPr lang="de-DE" dirty="0"/>
              <a:t> </a:t>
            </a:r>
            <a:r>
              <a:rPr lang="de-DE" dirty="0" err="1"/>
              <a:t>Modellaufruf</a:t>
            </a:r>
            <a:r>
              <a:rPr lang="de-DE" dirty="0"/>
              <a:t> </a:t>
            </a:r>
            <a:r>
              <a:rPr lang="de-DE" dirty="0" err="1"/>
              <a:t>zum</a:t>
            </a:r>
            <a:r>
              <a:rPr lang="de-DE" dirty="0"/>
              <a:t> </a:t>
            </a:r>
            <a:r>
              <a:rPr lang="de-DE" dirty="0" err="1"/>
              <a:t>messbaren</a:t>
            </a:r>
            <a:r>
              <a:rPr lang="de-DE" dirty="0"/>
              <a:t> RAG</a:t>
            </a:r>
          </a:p>
        </p:txBody>
      </p:sp>
      <p:sp>
        <p:nvSpPr>
          <p:cNvPr id="3" name="Datumsplatzhalter 2">
            <a:extLst>
              <a:ext uri="{FF2B5EF4-FFF2-40B4-BE49-F238E27FC236}">
                <a16:creationId xmlns:a16="http://schemas.microsoft.com/office/drawing/2014/main" id="{C7F060E5-C806-3F49-3C90-A280AC01524B}"/>
              </a:ext>
            </a:extLst>
          </p:cNvPr>
          <p:cNvSpPr>
            <a:spLocks noGrp="1"/>
          </p:cNvSpPr>
          <p:nvPr>
            <p:ph type="dt" sz="half" idx="10"/>
          </p:nvPr>
        </p:nvSpPr>
        <p:spPr>
          <a:xfrm>
            <a:off x="933451" y="6359712"/>
            <a:ext cx="616744" cy="365125"/>
          </a:xfrm>
        </p:spPr>
        <p:txBody>
          <a:bodyPr/>
          <a:lstStyle/>
          <a:p>
            <a:fld id="{1EB7C1D4-D1F3-40CB-8780-B2B6A9133392}" type="datetime1">
              <a:rPr lang="de-DE"/>
              <a:pPr/>
              <a:t>13.08.2026</a:t>
            </a:fld>
            <a:endParaRPr lang="de-DE" dirty="0"/>
          </a:p>
        </p:txBody>
      </p:sp>
      <p:sp>
        <p:nvSpPr>
          <p:cNvPr id="5" name="Foliennummernplatzhalter 4">
            <a:extLst>
              <a:ext uri="{FF2B5EF4-FFF2-40B4-BE49-F238E27FC236}">
                <a16:creationId xmlns:a16="http://schemas.microsoft.com/office/drawing/2014/main" id="{90F59528-3998-6C6F-3FE4-9579802AB2E3}"/>
              </a:ext>
            </a:extLst>
          </p:cNvPr>
          <p:cNvSpPr>
            <a:spLocks noGrp="1"/>
          </p:cNvSpPr>
          <p:nvPr>
            <p:ph type="sldNum" sz="quarter" idx="12"/>
          </p:nvPr>
        </p:nvSpPr>
        <p:spPr>
          <a:xfrm>
            <a:off x="482461" y="6359712"/>
            <a:ext cx="415270" cy="365125"/>
          </a:xfrm>
        </p:spPr>
        <p:txBody>
          <a:bodyPr/>
          <a:lstStyle/>
          <a:p>
            <a:fld id="{CE7E00E2-F08D-429A-AD9B-1ECBEC02F4DB}" type="slidenum">
              <a:rPr lang="de-CH"/>
              <a:pPr/>
              <a:t>9</a:t>
            </a:fld>
            <a:endParaRPr lang="de-CH"/>
          </a:p>
        </p:txBody>
      </p:sp>
      <p:sp>
        <p:nvSpPr>
          <p:cNvPr id="11" name="repo-progression-subtitle">
            <a:extLst>
              <a:ext uri="{FF2B5EF4-FFF2-40B4-BE49-F238E27FC236}">
                <a16:creationId xmlns:a16="http://schemas.microsoft.com/office/drawing/2014/main" id="{93070F9C-1D73-491A-AA83-B0CD1488E27D}"/>
              </a:ext>
            </a:extLst>
          </p:cNvPr>
          <p:cNvSpPr/>
          <p:nvPr/>
        </p:nvSpPr>
        <p:spPr>
          <a:xfrm>
            <a:off x="540000" y="1440000"/>
            <a:ext cx="10668000" cy="361950"/>
          </a:xfrm>
          <a:prstGeom prst="rect">
            <a:avLst/>
          </a:prstGeom>
          <a:noFill/>
          <a:ln w="0">
            <a:noFill/>
            <a:prstDash val="solid"/>
          </a:ln>
        </p:spPr>
        <p:txBody>
          <a:bodyPr anchor="ctr"/>
          <a:lstStyle/>
          <a:p>
            <a:pPr algn="l">
              <a:buNone/>
              <a:defRPr sz="1725">
                <a:solidFill>
                  <a:srgbClr val="81725E"/>
                </a:solidFill>
                <a:latin typeface="Arial"/>
                <a:ea typeface="Arial"/>
                <a:cs typeface="Arial"/>
              </a:defRPr>
            </a:pPr>
            <a:r>
              <a:rPr sz="1725">
                <a:solidFill>
                  <a:srgbClr val="81725E"/>
                </a:solidFill>
                <a:latin typeface="Arial"/>
                <a:ea typeface="Arial"/>
                <a:cs typeface="Arial"/>
              </a:rPr>
              <a:t>Jede Stufe ergänzt genau einen Qualitätshebel – die Mechanik bleibt sichtbar.</a:t>
            </a:r>
          </a:p>
        </p:txBody>
      </p:sp>
      <p:sp>
        <p:nvSpPr>
          <p:cNvPr id="12" name="repository-roadmap-line">
            <a:extLst>
              <a:ext uri="{FF2B5EF4-FFF2-40B4-BE49-F238E27FC236}">
                <a16:creationId xmlns:a16="http://schemas.microsoft.com/office/drawing/2014/main" id="{113159C1-4C49-4EF7-A235-E5D8BEDE8FFF}"/>
              </a:ext>
            </a:extLst>
          </p:cNvPr>
          <p:cNvSpPr/>
          <p:nvPr/>
        </p:nvSpPr>
        <p:spPr>
          <a:xfrm>
            <a:off x="1259999" y="2502900"/>
            <a:ext cx="9432508" cy="0"/>
          </a:xfrm>
          <a:prstGeom prst="line">
            <a:avLst/>
          </a:prstGeom>
          <a:ln w="38100">
            <a:solidFill>
              <a:srgbClr val="C3BBB2"/>
            </a:solidFill>
            <a:prstDash val="solid"/>
          </a:ln>
        </p:spPr>
        <p:txBody>
          <a:bodyPr/>
          <a:lstStyle/>
          <a:p>
            <a:endParaRPr lang="de-CH"/>
          </a:p>
        </p:txBody>
      </p:sp>
      <p:sp>
        <p:nvSpPr>
          <p:cNvPr id="13" name="stage-1-circle">
            <a:extLst>
              <a:ext uri="{FF2B5EF4-FFF2-40B4-BE49-F238E27FC236}">
                <a16:creationId xmlns:a16="http://schemas.microsoft.com/office/drawing/2014/main" id="{52B48B9A-DC91-41F6-89F5-6E36E929DB59}"/>
              </a:ext>
            </a:extLst>
          </p:cNvPr>
          <p:cNvSpPr/>
          <p:nvPr/>
        </p:nvSpPr>
        <p:spPr>
          <a:xfrm>
            <a:off x="1440000" y="2160000"/>
            <a:ext cx="720000" cy="720000"/>
          </a:xfrm>
          <a:prstGeom prst="ellipse">
            <a:avLst/>
          </a:prstGeom>
          <a:solidFill>
            <a:srgbClr val="81725E"/>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1</a:t>
            </a:r>
          </a:p>
        </p:txBody>
      </p:sp>
      <p:sp>
        <p:nvSpPr>
          <p:cNvPr id="14" name="stage-1-file">
            <a:extLst>
              <a:ext uri="{FF2B5EF4-FFF2-40B4-BE49-F238E27FC236}">
                <a16:creationId xmlns:a16="http://schemas.microsoft.com/office/drawing/2014/main" id="{3EB57122-6118-4F7C-9B6B-5B0F378209C4}"/>
              </a:ext>
            </a:extLst>
          </p:cNvPr>
          <p:cNvSpPr/>
          <p:nvPr/>
        </p:nvSpPr>
        <p:spPr>
          <a:xfrm>
            <a:off x="720000" y="3060000"/>
            <a:ext cx="2160000" cy="361950"/>
          </a:xfrm>
          <a:prstGeom prst="roundRect">
            <a:avLst>
              <a:gd name="adj" fmla="val 31579"/>
            </a:avLst>
          </a:prstGeom>
          <a:solidFill>
            <a:srgbClr val="81725E"/>
          </a:solidFill>
          <a:ln w="0">
            <a:solidFill>
              <a:srgbClr val="81725E"/>
            </a:solidFill>
            <a:prstDash val="solid"/>
          </a:ln>
        </p:spPr>
        <p:txBody>
          <a:bodyPr anchor="ctr"/>
          <a:lstStyle/>
          <a:p>
            <a:pPr algn="ctr">
              <a:buNone/>
              <a:defRPr sz="1200" b="1">
                <a:solidFill>
                  <a:srgbClr val="FFFFFF"/>
                </a:solidFill>
                <a:latin typeface="Arial"/>
                <a:ea typeface="Arial"/>
                <a:cs typeface="Arial"/>
              </a:defRPr>
            </a:pPr>
            <a:r>
              <a:rPr lang="de-CH" sz="1200" b="1" dirty="0">
                <a:solidFill>
                  <a:srgbClr val="FFFFFF"/>
                </a:solidFill>
                <a:latin typeface="Arial"/>
                <a:ea typeface="Arial"/>
                <a:cs typeface="Arial"/>
              </a:rPr>
              <a:t>rag-1-chat.py</a:t>
            </a:r>
          </a:p>
        </p:txBody>
      </p:sp>
      <p:sp>
        <p:nvSpPr>
          <p:cNvPr id="15" name="stage-1-name">
            <a:extLst>
              <a:ext uri="{FF2B5EF4-FFF2-40B4-BE49-F238E27FC236}">
                <a16:creationId xmlns:a16="http://schemas.microsoft.com/office/drawing/2014/main" id="{52ACBB54-155D-421C-8D78-2A9B1E04230A}"/>
              </a:ext>
            </a:extLst>
          </p:cNvPr>
          <p:cNvSpPr/>
          <p:nvPr/>
        </p:nvSpPr>
        <p:spPr>
          <a:xfrm>
            <a:off x="7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LLM-</a:t>
            </a:r>
            <a:r>
              <a:rPr sz="1800" b="1" dirty="0" err="1">
                <a:solidFill>
                  <a:srgbClr val="2D3F4B"/>
                </a:solidFill>
                <a:latin typeface="Arial"/>
                <a:ea typeface="Arial"/>
                <a:cs typeface="Arial"/>
              </a:rPr>
              <a:t>Aufruf</a:t>
            </a:r>
            <a:endParaRPr sz="1800" b="1" dirty="0">
              <a:solidFill>
                <a:srgbClr val="2D3F4B"/>
              </a:solidFill>
              <a:latin typeface="Arial"/>
              <a:ea typeface="Arial"/>
              <a:cs typeface="Arial"/>
            </a:endParaRPr>
          </a:p>
        </p:txBody>
      </p:sp>
      <p:sp>
        <p:nvSpPr>
          <p:cNvPr id="16" name="stage-1-copy">
            <a:extLst>
              <a:ext uri="{FF2B5EF4-FFF2-40B4-BE49-F238E27FC236}">
                <a16:creationId xmlns:a16="http://schemas.microsoft.com/office/drawing/2014/main" id="{C5B9BC2D-8807-4358-9EC7-F52D82CC6BF4}"/>
              </a:ext>
            </a:extLst>
          </p:cNvPr>
          <p:cNvSpPr/>
          <p:nvPr/>
        </p:nvSpPr>
        <p:spPr>
          <a:xfrm>
            <a:off x="7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Prompt </a:t>
            </a:r>
            <a:r>
              <a:rPr sz="1500" dirty="0" err="1">
                <a:solidFill>
                  <a:srgbClr val="2D3F4B"/>
                </a:solidFill>
                <a:latin typeface="Arial"/>
                <a:ea typeface="Arial"/>
                <a:cs typeface="Arial"/>
              </a:rPr>
              <a:t>senden</a:t>
            </a:r>
            <a:endParaRPr sz="1500" dirty="0">
              <a:solidFill>
                <a:srgbClr val="2D3F4B"/>
              </a:solidFill>
              <a:latin typeface="Arial"/>
              <a:ea typeface="Arial"/>
              <a:cs typeface="Arial"/>
            </a:endParaRP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Antwort</a:t>
            </a:r>
            <a:r>
              <a:rPr sz="1500" dirty="0">
                <a:solidFill>
                  <a:srgbClr val="2D3F4B"/>
                </a:solidFill>
                <a:latin typeface="Arial"/>
                <a:ea typeface="Arial"/>
                <a:cs typeface="Arial"/>
              </a:rPr>
              <a:t> </a:t>
            </a:r>
            <a:r>
              <a:rPr sz="1500" dirty="0" err="1">
                <a:solidFill>
                  <a:srgbClr val="2D3F4B"/>
                </a:solidFill>
                <a:latin typeface="Arial"/>
                <a:ea typeface="Arial"/>
                <a:cs typeface="Arial"/>
              </a:rPr>
              <a:t>erhalten</a:t>
            </a:r>
            <a:endParaRPr sz="1500" dirty="0">
              <a:solidFill>
                <a:srgbClr val="2D3F4B"/>
              </a:solidFill>
              <a:latin typeface="Arial"/>
              <a:ea typeface="Arial"/>
              <a:cs typeface="Arial"/>
            </a:endParaRPr>
          </a:p>
        </p:txBody>
      </p:sp>
      <p:sp>
        <p:nvSpPr>
          <p:cNvPr id="17" name="stage-2-circle">
            <a:extLst>
              <a:ext uri="{FF2B5EF4-FFF2-40B4-BE49-F238E27FC236}">
                <a16:creationId xmlns:a16="http://schemas.microsoft.com/office/drawing/2014/main" id="{788267D1-787C-48BB-921D-457EA3D4064D}"/>
              </a:ext>
            </a:extLst>
          </p:cNvPr>
          <p:cNvSpPr/>
          <p:nvPr/>
        </p:nvSpPr>
        <p:spPr>
          <a:xfrm>
            <a:off x="4230000" y="2160000"/>
            <a:ext cx="720000" cy="720000"/>
          </a:xfrm>
          <a:prstGeom prst="ellipse">
            <a:avLst/>
          </a:prstGeom>
          <a:solidFill>
            <a:srgbClr val="C60C30"/>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2</a:t>
            </a:r>
          </a:p>
        </p:txBody>
      </p:sp>
      <p:sp>
        <p:nvSpPr>
          <p:cNvPr id="18" name="stage-2-file">
            <a:extLst>
              <a:ext uri="{FF2B5EF4-FFF2-40B4-BE49-F238E27FC236}">
                <a16:creationId xmlns:a16="http://schemas.microsoft.com/office/drawing/2014/main" id="{8C26F65F-2ECF-4A21-A417-40D5E379E2AE}"/>
              </a:ext>
            </a:extLst>
          </p:cNvPr>
          <p:cNvSpPr/>
          <p:nvPr/>
        </p:nvSpPr>
        <p:spPr>
          <a:xfrm>
            <a:off x="3480000" y="3060000"/>
            <a:ext cx="2160000" cy="361950"/>
          </a:xfrm>
          <a:prstGeom prst="roundRect">
            <a:avLst>
              <a:gd name="adj" fmla="val 31579"/>
            </a:avLst>
          </a:prstGeom>
          <a:solidFill>
            <a:srgbClr val="C60C30"/>
          </a:solidFill>
          <a:ln w="0">
            <a:solidFill>
              <a:srgbClr val="C60C30"/>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rag-2a / 2b</a:t>
            </a:r>
          </a:p>
        </p:txBody>
      </p:sp>
      <p:sp>
        <p:nvSpPr>
          <p:cNvPr id="19" name="stage-2-name">
            <a:extLst>
              <a:ext uri="{FF2B5EF4-FFF2-40B4-BE49-F238E27FC236}">
                <a16:creationId xmlns:a16="http://schemas.microsoft.com/office/drawing/2014/main" id="{F8EB69B8-6AE9-4EC1-A037-C8CCE87E4765}"/>
              </a:ext>
            </a:extLst>
          </p:cNvPr>
          <p:cNvSpPr/>
          <p:nvPr/>
        </p:nvSpPr>
        <p:spPr>
          <a:xfrm>
            <a:off x="342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a:solidFill>
                  <a:srgbClr val="2D3F4B"/>
                </a:solidFill>
                <a:latin typeface="Arial"/>
                <a:ea typeface="Arial"/>
                <a:cs typeface="Arial"/>
              </a:rPr>
              <a:t>Fixed</a:t>
            </a:r>
            <a:r>
              <a:rPr sz="1800" b="1" dirty="0">
                <a:solidFill>
                  <a:srgbClr val="2D3F4B"/>
                </a:solidFill>
                <a:latin typeface="Arial"/>
                <a:ea typeface="Arial"/>
                <a:cs typeface="Arial"/>
              </a:rPr>
              <a:t> RAG</a:t>
            </a:r>
          </a:p>
        </p:txBody>
      </p:sp>
      <p:sp>
        <p:nvSpPr>
          <p:cNvPr id="20" name="stage-2-copy">
            <a:extLst>
              <a:ext uri="{FF2B5EF4-FFF2-40B4-BE49-F238E27FC236}">
                <a16:creationId xmlns:a16="http://schemas.microsoft.com/office/drawing/2014/main" id="{179D756A-3121-4EF0-9DFD-58636AE38D0F}"/>
              </a:ext>
            </a:extLst>
          </p:cNvPr>
          <p:cNvSpPr/>
          <p:nvPr/>
        </p:nvSpPr>
        <p:spPr>
          <a:xfrm>
            <a:off x="342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Fixed-Size-Chunks</a:t>
            </a:r>
          </a:p>
          <a:p>
            <a:pPr algn="ctr">
              <a:buNone/>
              <a:defRPr sz="1500">
                <a:solidFill>
                  <a:srgbClr val="2D3F4B"/>
                </a:solidFill>
                <a:latin typeface="Arial"/>
                <a:ea typeface="Arial"/>
                <a:cs typeface="Arial"/>
              </a:defRPr>
            </a:pPr>
            <a:r>
              <a:rPr sz="1500">
                <a:solidFill>
                  <a:srgbClr val="2D3F4B"/>
                </a:solidFill>
                <a:latin typeface="Arial"/>
                <a:ea typeface="Arial"/>
                <a:cs typeface="Arial"/>
              </a:rPr>
              <a:t>Chroma + Retrieval</a:t>
            </a:r>
          </a:p>
        </p:txBody>
      </p:sp>
      <p:sp>
        <p:nvSpPr>
          <p:cNvPr id="21" name="stage-3-circle">
            <a:extLst>
              <a:ext uri="{FF2B5EF4-FFF2-40B4-BE49-F238E27FC236}">
                <a16:creationId xmlns:a16="http://schemas.microsoft.com/office/drawing/2014/main" id="{CE3395D3-8C9C-44E3-85DF-C54A27D75D43}"/>
              </a:ext>
            </a:extLst>
          </p:cNvPr>
          <p:cNvSpPr/>
          <p:nvPr/>
        </p:nvSpPr>
        <p:spPr>
          <a:xfrm>
            <a:off x="7020000" y="2160000"/>
            <a:ext cx="720000" cy="720000"/>
          </a:xfrm>
          <a:prstGeom prst="ellipse">
            <a:avLst/>
          </a:prstGeom>
          <a:solidFill>
            <a:srgbClr val="43858A"/>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dirty="0">
                <a:solidFill>
                  <a:srgbClr val="FFFFFF"/>
                </a:solidFill>
                <a:latin typeface="Arial"/>
                <a:ea typeface="Arial"/>
                <a:cs typeface="Arial"/>
              </a:rPr>
              <a:t>3</a:t>
            </a:r>
          </a:p>
        </p:txBody>
      </p:sp>
      <p:sp>
        <p:nvSpPr>
          <p:cNvPr id="22" name="stage-3-file">
            <a:extLst>
              <a:ext uri="{FF2B5EF4-FFF2-40B4-BE49-F238E27FC236}">
                <a16:creationId xmlns:a16="http://schemas.microsoft.com/office/drawing/2014/main" id="{DE729240-D156-4928-B439-FF7E32D5CE4C}"/>
              </a:ext>
            </a:extLst>
          </p:cNvPr>
          <p:cNvSpPr/>
          <p:nvPr/>
        </p:nvSpPr>
        <p:spPr>
          <a:xfrm>
            <a:off x="6240000" y="3060000"/>
            <a:ext cx="2160000" cy="361950"/>
          </a:xfrm>
          <a:prstGeom prst="roundRect">
            <a:avLst>
              <a:gd name="adj" fmla="val 31579"/>
            </a:avLst>
          </a:prstGeom>
          <a:solidFill>
            <a:srgbClr val="43858A"/>
          </a:solidFill>
          <a:ln w="0">
            <a:solidFill>
              <a:srgbClr val="43858A"/>
            </a:solidFill>
            <a:prstDash val="solid"/>
          </a:ln>
        </p:spPr>
        <p:txBody>
          <a:bodyPr anchor="ctr"/>
          <a:lstStyle/>
          <a:p>
            <a:pPr algn="ctr">
              <a:buNone/>
              <a:defRPr sz="1200" b="1">
                <a:solidFill>
                  <a:srgbClr val="FFFFFF"/>
                </a:solidFill>
                <a:latin typeface="Arial"/>
                <a:ea typeface="Arial"/>
                <a:cs typeface="Arial"/>
              </a:defRPr>
            </a:pPr>
            <a:r>
              <a:rPr sz="1200" b="1">
                <a:solidFill>
                  <a:srgbClr val="FFFFFF"/>
                </a:solidFill>
                <a:latin typeface="Arial"/>
                <a:ea typeface="Arial"/>
                <a:cs typeface="Arial"/>
              </a:rPr>
              <a:t>rag-3a / 3b / 3c</a:t>
            </a:r>
          </a:p>
        </p:txBody>
      </p:sp>
      <p:sp>
        <p:nvSpPr>
          <p:cNvPr id="23" name="stage-3-name">
            <a:extLst>
              <a:ext uri="{FF2B5EF4-FFF2-40B4-BE49-F238E27FC236}">
                <a16:creationId xmlns:a16="http://schemas.microsoft.com/office/drawing/2014/main" id="{478F34F7-57B8-453F-87C1-F88F3E863F21}"/>
              </a:ext>
            </a:extLst>
          </p:cNvPr>
          <p:cNvSpPr/>
          <p:nvPr/>
        </p:nvSpPr>
        <p:spPr>
          <a:xfrm>
            <a:off x="63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lang="de-CH" sz="1800" b="1" dirty="0" err="1">
                <a:solidFill>
                  <a:srgbClr val="2D3F4B"/>
                </a:solidFill>
                <a:latin typeface="Arial"/>
                <a:ea typeface="Arial"/>
                <a:cs typeface="Arial"/>
              </a:rPr>
              <a:t>Semantic</a:t>
            </a:r>
            <a:r>
              <a:rPr sz="1800" b="1" dirty="0">
                <a:solidFill>
                  <a:srgbClr val="2D3F4B"/>
                </a:solidFill>
                <a:latin typeface="Arial"/>
                <a:ea typeface="Arial"/>
                <a:cs typeface="Arial"/>
              </a:rPr>
              <a:t> RAG</a:t>
            </a:r>
          </a:p>
        </p:txBody>
      </p:sp>
      <p:sp>
        <p:nvSpPr>
          <p:cNvPr id="24" name="stage-3-copy">
            <a:extLst>
              <a:ext uri="{FF2B5EF4-FFF2-40B4-BE49-F238E27FC236}">
                <a16:creationId xmlns:a16="http://schemas.microsoft.com/office/drawing/2014/main" id="{F9D44831-07E5-43FE-8D5B-DED4A73784E8}"/>
              </a:ext>
            </a:extLst>
          </p:cNvPr>
          <p:cNvSpPr/>
          <p:nvPr/>
        </p:nvSpPr>
        <p:spPr>
          <a:xfrm>
            <a:off x="63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dirty="0">
                <a:solidFill>
                  <a:srgbClr val="2D3F4B"/>
                </a:solidFill>
                <a:latin typeface="Arial"/>
                <a:ea typeface="Arial"/>
                <a:cs typeface="Arial"/>
              </a:rPr>
              <a:t>Artikel-Chunking</a:t>
            </a:r>
          </a:p>
          <a:p>
            <a:pPr algn="ctr">
              <a:buNone/>
              <a:defRPr sz="1500">
                <a:solidFill>
                  <a:srgbClr val="2D3F4B"/>
                </a:solidFill>
                <a:latin typeface="Arial"/>
                <a:ea typeface="Arial"/>
                <a:cs typeface="Arial"/>
              </a:defRPr>
            </a:pPr>
            <a:r>
              <a:rPr sz="1500" dirty="0" err="1">
                <a:solidFill>
                  <a:srgbClr val="2D3F4B"/>
                </a:solidFill>
                <a:latin typeface="Arial"/>
                <a:ea typeface="Arial"/>
                <a:cs typeface="Arial"/>
              </a:rPr>
              <a:t>Suche</a:t>
            </a:r>
            <a:r>
              <a:rPr sz="1500" dirty="0">
                <a:solidFill>
                  <a:srgbClr val="2D3F4B"/>
                </a:solidFill>
                <a:latin typeface="Arial"/>
                <a:ea typeface="Arial"/>
                <a:cs typeface="Arial"/>
              </a:rPr>
              <a:t> + Reranking</a:t>
            </a:r>
          </a:p>
        </p:txBody>
      </p:sp>
      <p:sp>
        <p:nvSpPr>
          <p:cNvPr id="25" name="stage-4-circle">
            <a:extLst>
              <a:ext uri="{FF2B5EF4-FFF2-40B4-BE49-F238E27FC236}">
                <a16:creationId xmlns:a16="http://schemas.microsoft.com/office/drawing/2014/main" id="{1D3AC8DC-9B1D-4449-B0CF-7DCD74368364}"/>
              </a:ext>
            </a:extLst>
          </p:cNvPr>
          <p:cNvSpPr/>
          <p:nvPr/>
        </p:nvSpPr>
        <p:spPr>
          <a:xfrm>
            <a:off x="9720000" y="2160000"/>
            <a:ext cx="720000" cy="720000"/>
          </a:xfrm>
          <a:prstGeom prst="ellipse">
            <a:avLst/>
          </a:prstGeom>
          <a:solidFill>
            <a:srgbClr val="C9960F"/>
          </a:solidFill>
          <a:ln w="28575">
            <a:solidFill>
              <a:srgbClr val="FFFFFF"/>
            </a:solidFill>
            <a:prstDash val="solid"/>
          </a:ln>
        </p:spPr>
        <p:txBody>
          <a:bodyPr anchor="ct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4</a:t>
            </a:r>
          </a:p>
        </p:txBody>
      </p:sp>
      <p:sp>
        <p:nvSpPr>
          <p:cNvPr id="26" name="stage-4-file">
            <a:extLst>
              <a:ext uri="{FF2B5EF4-FFF2-40B4-BE49-F238E27FC236}">
                <a16:creationId xmlns:a16="http://schemas.microsoft.com/office/drawing/2014/main" id="{78B85A8F-F81F-4260-AA85-994D32F0AF17}"/>
              </a:ext>
            </a:extLst>
          </p:cNvPr>
          <p:cNvSpPr/>
          <p:nvPr/>
        </p:nvSpPr>
        <p:spPr>
          <a:xfrm>
            <a:off x="9000000" y="3060000"/>
            <a:ext cx="2160000" cy="360000"/>
          </a:xfrm>
          <a:prstGeom prst="roundRect">
            <a:avLst>
              <a:gd name="adj" fmla="val 31579"/>
            </a:avLst>
          </a:prstGeom>
          <a:solidFill>
            <a:srgbClr val="C9960F"/>
          </a:solidFill>
          <a:ln w="0">
            <a:solidFill>
              <a:srgbClr val="C9960F"/>
            </a:solidFill>
            <a:prstDash val="solid"/>
          </a:ln>
        </p:spPr>
        <p:txBody>
          <a:bodyPr anchor="ctr"/>
          <a:lstStyle/>
          <a:p>
            <a:pPr algn="ctr">
              <a:buNone/>
              <a:defRPr sz="1200" b="1">
                <a:solidFill>
                  <a:srgbClr val="FFFFFF"/>
                </a:solidFill>
                <a:latin typeface="Arial"/>
                <a:ea typeface="Arial"/>
                <a:cs typeface="Arial"/>
              </a:defRPr>
            </a:pPr>
            <a:r>
              <a:rPr sz="1200" b="1" dirty="0">
                <a:solidFill>
                  <a:srgbClr val="FFFFFF"/>
                </a:solidFill>
                <a:latin typeface="Arial"/>
                <a:ea typeface="Arial"/>
                <a:cs typeface="Arial"/>
              </a:rPr>
              <a:t>rag-4a / 4b</a:t>
            </a:r>
          </a:p>
        </p:txBody>
      </p:sp>
      <p:sp>
        <p:nvSpPr>
          <p:cNvPr id="27" name="stage-4-name">
            <a:extLst>
              <a:ext uri="{FF2B5EF4-FFF2-40B4-BE49-F238E27FC236}">
                <a16:creationId xmlns:a16="http://schemas.microsoft.com/office/drawing/2014/main" id="{4B1C7D9D-F0FC-4003-8650-E0E750D0AFC0}"/>
              </a:ext>
            </a:extLst>
          </p:cNvPr>
          <p:cNvSpPr/>
          <p:nvPr/>
        </p:nvSpPr>
        <p:spPr>
          <a:xfrm>
            <a:off x="9000000" y="3600000"/>
            <a:ext cx="2238375" cy="342900"/>
          </a:xfrm>
          <a:prstGeom prst="rect">
            <a:avLst/>
          </a:prstGeom>
          <a:noFill/>
          <a:ln w="0">
            <a:noFill/>
            <a:prstDash val="solid"/>
          </a:ln>
        </p:spPr>
        <p:txBody>
          <a:bodyPr anchor="ctr"/>
          <a:lstStyle/>
          <a:p>
            <a:pPr algn="ctr">
              <a:buNone/>
              <a:defRPr sz="1800" b="1">
                <a:solidFill>
                  <a:srgbClr val="2D3F4B"/>
                </a:solidFill>
                <a:latin typeface="Arial"/>
                <a:ea typeface="Arial"/>
                <a:cs typeface="Arial"/>
              </a:defRPr>
            </a:pPr>
            <a:r>
              <a:rPr sz="1800" b="1" dirty="0">
                <a:solidFill>
                  <a:srgbClr val="2D3F4B"/>
                </a:solidFill>
                <a:latin typeface="Arial"/>
                <a:ea typeface="Arial"/>
                <a:cs typeface="Arial"/>
              </a:rPr>
              <a:t>Graph</a:t>
            </a:r>
            <a:r>
              <a:rPr lang="de-CH" sz="1800" b="1" dirty="0">
                <a:solidFill>
                  <a:srgbClr val="2D3F4B"/>
                </a:solidFill>
                <a:latin typeface="Arial"/>
                <a:ea typeface="Arial"/>
                <a:cs typeface="Arial"/>
              </a:rPr>
              <a:t> </a:t>
            </a:r>
            <a:r>
              <a:rPr sz="1800" b="1" dirty="0">
                <a:solidFill>
                  <a:srgbClr val="2D3F4B"/>
                </a:solidFill>
                <a:latin typeface="Arial"/>
                <a:ea typeface="Arial"/>
                <a:cs typeface="Arial"/>
              </a:rPr>
              <a:t>RAG</a:t>
            </a:r>
          </a:p>
        </p:txBody>
      </p:sp>
      <p:sp>
        <p:nvSpPr>
          <p:cNvPr id="28" name="stage-4-copy">
            <a:extLst>
              <a:ext uri="{FF2B5EF4-FFF2-40B4-BE49-F238E27FC236}">
                <a16:creationId xmlns:a16="http://schemas.microsoft.com/office/drawing/2014/main" id="{6FF35210-BEF0-43AF-BD6A-294915AA4A8A}"/>
              </a:ext>
            </a:extLst>
          </p:cNvPr>
          <p:cNvSpPr/>
          <p:nvPr/>
        </p:nvSpPr>
        <p:spPr>
          <a:xfrm>
            <a:off x="9000000" y="3960000"/>
            <a:ext cx="2160000" cy="720000"/>
          </a:xfrm>
          <a:prstGeom prst="rect">
            <a:avLst/>
          </a:prstGeom>
          <a:noFill/>
          <a:ln w="0">
            <a:noFill/>
            <a:prstDash val="solid"/>
          </a:ln>
        </p:spPr>
        <p:txBody>
          <a:bodyPr anchor="t"/>
          <a:lstStyle/>
          <a:p>
            <a:pPr algn="ctr">
              <a:buNone/>
              <a:defRPr sz="1500">
                <a:solidFill>
                  <a:srgbClr val="2D3F4B"/>
                </a:solidFill>
                <a:latin typeface="Arial"/>
                <a:ea typeface="Arial"/>
                <a:cs typeface="Arial"/>
              </a:defRPr>
            </a:pPr>
            <a:r>
              <a:rPr sz="1500">
                <a:solidFill>
                  <a:srgbClr val="2D3F4B"/>
                </a:solidFill>
                <a:latin typeface="Arial"/>
                <a:ea typeface="Arial"/>
                <a:cs typeface="Arial"/>
              </a:rPr>
              <a:t>Hybrid Retrieval</a:t>
            </a:r>
          </a:p>
          <a:p>
            <a:pPr algn="ctr">
              <a:buNone/>
              <a:defRPr sz="1500">
                <a:solidFill>
                  <a:srgbClr val="2D3F4B"/>
                </a:solidFill>
                <a:latin typeface="Arial"/>
                <a:ea typeface="Arial"/>
                <a:cs typeface="Arial"/>
              </a:defRPr>
            </a:pPr>
            <a:r>
              <a:rPr sz="1500">
                <a:solidFill>
                  <a:srgbClr val="2D3F4B"/>
                </a:solidFill>
                <a:latin typeface="Arial"/>
                <a:ea typeface="Arial"/>
                <a:cs typeface="Arial"/>
              </a:rPr>
              <a:t>Graph-Nachbarn</a:t>
            </a:r>
          </a:p>
        </p:txBody>
      </p:sp>
      <p:sp>
        <p:nvSpPr>
          <p:cNvPr id="29" name="evaluation-band">
            <a:extLst>
              <a:ext uri="{FF2B5EF4-FFF2-40B4-BE49-F238E27FC236}">
                <a16:creationId xmlns:a16="http://schemas.microsoft.com/office/drawing/2014/main" id="{4FF28CE3-F8C9-41D8-8B5E-5BE02DCF9A75}"/>
              </a:ext>
            </a:extLst>
          </p:cNvPr>
          <p:cNvSpPr/>
          <p:nvPr/>
        </p:nvSpPr>
        <p:spPr>
          <a:xfrm>
            <a:off x="1260000" y="5040000"/>
            <a:ext cx="9900000" cy="720000"/>
          </a:xfrm>
          <a:prstGeom prst="roundRect">
            <a:avLst>
              <a:gd name="adj" fmla="val 19512"/>
            </a:avLst>
          </a:prstGeom>
          <a:solidFill>
            <a:srgbClr val="2D3F4B"/>
          </a:solidFill>
          <a:ln w="0">
            <a:solidFill>
              <a:srgbClr val="2D3F4B"/>
            </a:solidFill>
            <a:prstDash val="solid"/>
          </a:ln>
        </p:spPr>
        <p:txBody>
          <a:bodyPr anchor="ctr"/>
          <a:lstStyle/>
          <a:p>
            <a:pPr algn="ctr">
              <a:buNone/>
              <a:defRPr sz="1650" b="1">
                <a:solidFill>
                  <a:srgbClr val="FFFFFF"/>
                </a:solidFill>
                <a:latin typeface="Arial"/>
                <a:ea typeface="Arial"/>
                <a:cs typeface="Arial"/>
              </a:defRPr>
            </a:pPr>
            <a:r>
              <a:rPr sz="1650" b="1" dirty="0">
                <a:solidFill>
                  <a:srgbClr val="FFFFFF"/>
                </a:solidFill>
                <a:latin typeface="Arial"/>
                <a:ea typeface="Arial"/>
                <a:cs typeface="Arial"/>
              </a:rPr>
              <a:t>evaluate.py   →   Retrieval </a:t>
            </a:r>
            <a:r>
              <a:rPr sz="1650" b="1" dirty="0" err="1">
                <a:solidFill>
                  <a:srgbClr val="FFFFFF"/>
                </a:solidFill>
                <a:latin typeface="Arial"/>
                <a:ea typeface="Arial"/>
                <a:cs typeface="Arial"/>
              </a:rPr>
              <a:t>prüfen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Antworten</a:t>
            </a:r>
            <a:r>
              <a:rPr sz="1650" b="1" dirty="0">
                <a:solidFill>
                  <a:srgbClr val="FFFFFF"/>
                </a:solidFill>
                <a:latin typeface="Arial"/>
                <a:ea typeface="Arial"/>
                <a:cs typeface="Arial"/>
              </a:rPr>
              <a:t> </a:t>
            </a:r>
            <a:r>
              <a:rPr sz="1650" b="1" dirty="0" err="1">
                <a:solidFill>
                  <a:srgbClr val="FFFFFF"/>
                </a:solidFill>
                <a:latin typeface="Arial"/>
                <a:ea typeface="Arial"/>
                <a:cs typeface="Arial"/>
              </a:rPr>
              <a:t>bewerten</a:t>
            </a:r>
            <a:r>
              <a:rPr sz="1650" b="1" dirty="0">
                <a:solidFill>
                  <a:srgbClr val="FFFFFF"/>
                </a:solidFill>
                <a:latin typeface="Arial"/>
                <a:ea typeface="Arial"/>
                <a:cs typeface="Arial"/>
              </a:rPr>
              <a:t>   •   </a:t>
            </a:r>
            <a:r>
              <a:rPr sz="1650" b="1" dirty="0" err="1">
                <a:solidFill>
                  <a:srgbClr val="FFFFFF"/>
                </a:solidFill>
                <a:latin typeface="Arial"/>
                <a:ea typeface="Arial"/>
                <a:cs typeface="Arial"/>
              </a:rPr>
              <a:t>Kontext</a:t>
            </a:r>
            <a:r>
              <a:rPr sz="1650" b="1" dirty="0">
                <a:solidFill>
                  <a:srgbClr val="FFFFFF"/>
                </a:solidFill>
                <a:latin typeface="Arial"/>
                <a:ea typeface="Arial"/>
                <a:cs typeface="Arial"/>
              </a:rPr>
              <a:t>-Tokens </a:t>
            </a:r>
            <a:r>
              <a:rPr sz="1650" b="1" dirty="0" err="1">
                <a:solidFill>
                  <a:srgbClr val="FFFFFF"/>
                </a:solidFill>
                <a:latin typeface="Arial"/>
                <a:ea typeface="Arial"/>
                <a:cs typeface="Arial"/>
              </a:rPr>
              <a:t>vergleichen</a:t>
            </a:r>
            <a:endParaRPr sz="1650" b="1" dirty="0">
              <a:solidFill>
                <a:srgbClr val="FFFFFF"/>
              </a:solidFill>
              <a:latin typeface="Arial"/>
              <a:ea typeface="Arial"/>
              <a:cs typeface="Arial"/>
            </a:endParaRPr>
          </a:p>
        </p:txBody>
      </p:sp>
    </p:spTree>
    <p:extLst>
      <p:ext uri="{BB962C8B-B14F-4D97-AF65-F5344CB8AC3E}">
        <p14:creationId xmlns:p14="http://schemas.microsoft.com/office/powerpoint/2010/main" val="16202152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6DFEC-8442-4406-6653-100056B58FD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715EDE93-AFC6-46FA-738D-7BCE74290D66}"/>
              </a:ext>
            </a:extLst>
          </p:cNvPr>
          <p:cNvSpPr>
            <a:spLocks noGrp="1"/>
          </p:cNvSpPr>
          <p:nvPr>
            <p:ph type="dt" sz="half" idx="10"/>
          </p:nvPr>
        </p:nvSpPr>
        <p:spPr/>
        <p:txBody>
          <a:bodyPr/>
          <a:lstStyle/>
          <a:p>
            <a:fld id="{E668D7D0-CB17-47D3-88E8-EDADFD5EAF7A}" type="datetime1">
              <a:rPr lang="de-CH" smtClean="0"/>
              <a:t>13.08.2026</a:t>
            </a:fld>
            <a:endParaRPr lang="de-CH" dirty="0"/>
          </a:p>
        </p:txBody>
      </p:sp>
      <p:sp>
        <p:nvSpPr>
          <p:cNvPr id="3" name="Foliennummernplatzhalter 2">
            <a:extLst>
              <a:ext uri="{FF2B5EF4-FFF2-40B4-BE49-F238E27FC236}">
                <a16:creationId xmlns:a16="http://schemas.microsoft.com/office/drawing/2014/main" id="{99024263-AE3A-A8B5-B2BA-A0D46E0EC355}"/>
              </a:ext>
            </a:extLst>
          </p:cNvPr>
          <p:cNvSpPr>
            <a:spLocks noGrp="1"/>
          </p:cNvSpPr>
          <p:nvPr>
            <p:ph type="sldNum" sz="quarter" idx="12"/>
          </p:nvPr>
        </p:nvSpPr>
        <p:spPr/>
        <p:txBody>
          <a:bodyPr/>
          <a:lstStyle/>
          <a:p>
            <a:fld id="{CE7E00E2-F08D-429A-AD9B-1ECBEC02F4DB}" type="slidenum">
              <a:rPr lang="de-CH" smtClean="0"/>
              <a:t>10</a:t>
            </a:fld>
            <a:endParaRPr lang="de-CH" dirty="0"/>
          </a:p>
        </p:txBody>
      </p:sp>
      <p:sp>
        <p:nvSpPr>
          <p:cNvPr id="4" name="Titel 3">
            <a:extLst>
              <a:ext uri="{FF2B5EF4-FFF2-40B4-BE49-F238E27FC236}">
                <a16:creationId xmlns:a16="http://schemas.microsoft.com/office/drawing/2014/main" id="{412194A2-AF5A-AE85-9D12-61716E519CAE}"/>
              </a:ext>
            </a:extLst>
          </p:cNvPr>
          <p:cNvSpPr>
            <a:spLocks noGrp="1"/>
          </p:cNvSpPr>
          <p:nvPr>
            <p:ph type="title"/>
          </p:nvPr>
        </p:nvSpPr>
        <p:spPr/>
        <p:txBody>
          <a:bodyPr/>
          <a:lstStyle/>
          <a:p>
            <a:r>
              <a:rPr lang="de-DE" dirty="0"/>
              <a:t>Hands-on</a:t>
            </a:r>
          </a:p>
        </p:txBody>
      </p:sp>
    </p:spTree>
    <p:extLst>
      <p:ext uri="{BB962C8B-B14F-4D97-AF65-F5344CB8AC3E}">
        <p14:creationId xmlns:p14="http://schemas.microsoft.com/office/powerpoint/2010/main" val="9410258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1 · Chat ohne 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11</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4575600"/>
          </a:xfrm>
          <a:prstGeom prst="rect">
            <a:avLst/>
          </a:prstGeom>
          <a:solidFill>
            <a:srgbClr val="FFFFFF">
              <a:alpha val="70000"/>
            </a:srgbClr>
          </a:solidFill>
          <a:ln>
            <a:noFill/>
          </a:ln>
        </p:spPr>
        <p:txBody>
          <a:bodyPr/>
          <a:lstStyle/>
          <a:p>
            <a:endParaRPr/>
          </a:p>
        </p:txBody>
      </p: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LLM"/>
          <p:cNvSpPr/>
          <p:nvPr/>
        </p:nvSpPr>
        <p:spPr>
          <a:xfrm>
            <a:off x="7696800" y="4996800"/>
            <a:ext cx="1526400" cy="954000"/>
          </a:xfrm>
          <a:prstGeom prst="roundRect">
            <a:avLst/>
          </a:prstGeom>
          <a:noFill/>
          <a:ln w="28575">
            <a:solidFill>
              <a:srgbClr val="C60C30"/>
            </a:solidFill>
            <a:prstDash val="dash"/>
          </a:ln>
        </p:spPr>
        <p:txBody>
          <a:bodyPr/>
          <a:lstStyle/>
          <a:p>
            <a:endParaRPr/>
          </a:p>
        </p:txBody>
      </p:sp>
      <p:sp>
        <p:nvSpPr>
          <p:cNvPr id="2001" name="Marker Query"/>
          <p:cNvSpPr/>
          <p:nvPr/>
        </p:nvSpPr>
        <p:spPr>
          <a:xfrm>
            <a:off x="9496800" y="1396800"/>
            <a:ext cx="1526400" cy="954000"/>
          </a:xfrm>
          <a:prstGeom prst="roundRect">
            <a:avLst/>
          </a:prstGeom>
          <a:noFill/>
          <a:ln w="28575">
            <a:solidFill>
              <a:srgbClr val="C60C30"/>
            </a:solidFill>
            <a:prstDash val="dash"/>
          </a:ln>
        </p:spPr>
        <p:txBody>
          <a:bodyPr/>
          <a:lstStyle/>
          <a:p>
            <a:endParaRPr/>
          </a:p>
        </p:txBody>
      </p:sp>
      <p:sp>
        <p:nvSpPr>
          <p:cNvPr id="2002" name="Marker Response"/>
          <p:cNvSpPr/>
          <p:nvPr/>
        </p:nvSpPr>
        <p:spPr>
          <a:xfrm>
            <a:off x="94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512EEE78-D8E9-2234-8818-ED4484AEA418}"/>
              </a:ext>
            </a:extLst>
          </p:cNvPr>
          <p:cNvSpPr>
            <a:spLocks noGrp="1"/>
          </p:cNvSpPr>
          <p:nvPr>
            <p:ph type="title"/>
          </p:nvPr>
        </p:nvSpPr>
        <p:spPr/>
        <p:txBody>
          <a:bodyPr/>
          <a:lstStyle/>
          <a:p>
            <a:r>
              <a:rPr lang="de-CH" dirty="0"/>
              <a:t>Vom Setup zur ersten belegbaren Antwort</a:t>
            </a:r>
          </a:p>
        </p:txBody>
      </p:sp>
      <p:sp>
        <p:nvSpPr>
          <p:cNvPr id="2" name="Datumsplatzhalter 1">
            <a:extLst>
              <a:ext uri="{FF2B5EF4-FFF2-40B4-BE49-F238E27FC236}">
                <a16:creationId xmlns:a16="http://schemas.microsoft.com/office/drawing/2014/main" id="{90264FA6-9B8E-CA73-F986-B232BA09701E}"/>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44B8AD2-0CB6-4686-BC54-BC8E97B87777}" type="datetime1">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13.08.2026</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3" name="Foliennummernplatzhalter 2">
            <a:extLst>
              <a:ext uri="{FF2B5EF4-FFF2-40B4-BE49-F238E27FC236}">
                <a16:creationId xmlns:a16="http://schemas.microsoft.com/office/drawing/2014/main" id="{2637EEF0-ACEF-BD7B-14A7-2692278CC978}"/>
              </a:ext>
            </a:extLst>
          </p:cNvPr>
          <p:cNvSpPr>
            <a:spLocks noGrp="1"/>
          </p:cNvSpPr>
          <p:nvPr>
            <p:ph type="sldNum" sz="quarter" idx="12"/>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E7E00E2-F08D-429A-AD9B-1ECBEC02F4DB}" type="slidenum">
              <a:rPr kumimoji="0" lang="de-CH" sz="900" b="0" i="0" u="none" strike="noStrike" kern="1200" cap="none" spc="0" normalizeH="0" baseline="0" noProof="0" smtClean="0">
                <a:ln>
                  <a:noFill/>
                </a:ln>
                <a:solidFill>
                  <a:srgbClr val="2D3F4B"/>
                </a:solidFill>
                <a:effectLst/>
                <a:uLnTx/>
                <a:uFillTx/>
                <a:latin typeface="Arial" panose="020B06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12</a:t>
            </a:fld>
            <a:endParaRPr kumimoji="0" lang="de-CH" sz="900" b="0" i="0" u="none" strike="noStrike" kern="1200" cap="none" spc="0" normalizeH="0" baseline="0" noProof="0" dirty="0">
              <a:ln>
                <a:noFill/>
              </a:ln>
              <a:solidFill>
                <a:srgbClr val="2D3F4B"/>
              </a:solidFill>
              <a:effectLst/>
              <a:uLnTx/>
              <a:uFillTx/>
              <a:latin typeface="Arial" panose="020B0604020202020204"/>
              <a:ea typeface="+mn-ea"/>
              <a:cs typeface="+mn-cs"/>
            </a:endParaRPr>
          </a:p>
        </p:txBody>
      </p:sp>
      <p:sp>
        <p:nvSpPr>
          <p:cNvPr id="6" name="Inhaltsplatzhalter 5">
            <a:extLst>
              <a:ext uri="{FF2B5EF4-FFF2-40B4-BE49-F238E27FC236}">
                <a16:creationId xmlns:a16="http://schemas.microsoft.com/office/drawing/2014/main" id="{4E3518F1-07ED-B296-F51D-530F0DB3619F}"/>
              </a:ext>
            </a:extLst>
          </p:cNvPr>
          <p:cNvSpPr>
            <a:spLocks noGrp="1"/>
          </p:cNvSpPr>
          <p:nvPr>
            <p:ph sz="quarter" idx="13"/>
          </p:nvPr>
        </p:nvSpPr>
        <p:spPr/>
        <p:txBody>
          <a:bodyPr/>
          <a:lstStyle/>
          <a:p>
            <a:r>
              <a:rPr lang="de-CH" dirty="0" err="1">
                <a:latin typeface="Courier New" panose="02070309020205020404" pitchFamily="49" charset="0"/>
                <a:cs typeface="Courier New" panose="02070309020205020404" pitchFamily="49" charset="0"/>
              </a:rPr>
              <a:t>git</a:t>
            </a:r>
            <a:r>
              <a:rPr lang="de-CH" dirty="0">
                <a:latin typeface="Courier New" panose="02070309020205020404" pitchFamily="49" charset="0"/>
                <a:cs typeface="Courier New" panose="02070309020205020404" pitchFamily="49" charset="0"/>
              </a:rPr>
              <a:t> </a:t>
            </a:r>
            <a:r>
              <a:rPr lang="de-CH" dirty="0" err="1">
                <a:latin typeface="Courier New" panose="02070309020205020404" pitchFamily="49" charset="0"/>
                <a:cs typeface="Courier New" panose="02070309020205020404" pitchFamily="49" charset="0"/>
              </a:rPr>
              <a:t>clone</a:t>
            </a:r>
            <a:r>
              <a:rPr lang="de-CH" dirty="0">
                <a:latin typeface="Courier New" panose="02070309020205020404" pitchFamily="49" charset="0"/>
                <a:cs typeface="Courier New" panose="02070309020205020404" pitchFamily="49" charset="0"/>
              </a:rPr>
              <a:t> </a:t>
            </a:r>
            <a:r>
              <a:rPr lang="de-CH" dirty="0">
                <a:latin typeface="Courier New" panose="02070309020205020404" pitchFamily="49" charset="0"/>
                <a:cs typeface="Courier New" panose="02070309020205020404" pitchFamily="49" charset="0"/>
                <a:hlinkClick r:id="rId2"/>
              </a:rPr>
              <a:t>https://github.com/AkrosAG/RAG-Workshop.git</a:t>
            </a:r>
            <a:endParaRPr lang="de-CH" dirty="0">
              <a:latin typeface="Courier New" panose="02070309020205020404" pitchFamily="49" charset="0"/>
              <a:cs typeface="Courier New" panose="02070309020205020404" pitchFamily="49" charset="0"/>
            </a:endParaRPr>
          </a:p>
          <a:p>
            <a:r>
              <a:rPr lang="de-CH" dirty="0"/>
              <a:t>Anleitung in Kapitel «Schnellstart» im README.md</a:t>
            </a:r>
          </a:p>
        </p:txBody>
      </p:sp>
    </p:spTree>
    <p:extLst>
      <p:ext uri="{BB962C8B-B14F-4D97-AF65-F5344CB8AC3E}">
        <p14:creationId xmlns:p14="http://schemas.microsoft.com/office/powerpoint/2010/main" val="12452214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2a · Ingest</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13</a:t>
            </a:fld>
            <a:endParaRPr lang="de-CH"/>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1386000"/>
            <a:ext cx="7668000" cy="45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Chunks"/>
          <p:cNvSpPr/>
          <p:nvPr/>
        </p:nvSpPr>
        <p:spPr>
          <a:xfrm>
            <a:off x="496800" y="1396800"/>
            <a:ext cx="1526400" cy="954000"/>
          </a:xfrm>
          <a:prstGeom prst="roundRect">
            <a:avLst/>
          </a:prstGeom>
          <a:noFill/>
          <a:ln w="28575">
            <a:solidFill>
              <a:srgbClr val="C60C30"/>
            </a:solidFill>
            <a:prstDash val="dash"/>
          </a:ln>
        </p:spPr>
        <p:txBody>
          <a:bodyPr/>
          <a:lstStyle/>
          <a:p>
            <a:endParaRPr/>
          </a:p>
        </p:txBody>
      </p:sp>
      <p:sp>
        <p:nvSpPr>
          <p:cNvPr id="2002" name="Marker Embedding LLM@4140000"/>
          <p:cNvSpPr/>
          <p:nvPr/>
        </p:nvSpPr>
        <p:spPr>
          <a:xfrm>
            <a:off x="4096800" y="1396800"/>
            <a:ext cx="1526400" cy="954000"/>
          </a:xfrm>
          <a:prstGeom prst="roundRect">
            <a:avLst/>
          </a:prstGeom>
          <a:noFill/>
          <a:ln w="28575">
            <a:solidFill>
              <a:srgbClr val="C60C30"/>
            </a:solidFill>
            <a:prstDash val="dash"/>
          </a:ln>
        </p:spPr>
        <p:txBody>
          <a:bodyPr/>
          <a:lstStyle/>
          <a:p>
            <a:endParaRPr/>
          </a:p>
        </p:txBody>
      </p:sp>
      <p:sp>
        <p:nvSpPr>
          <p:cNvPr id="2003" name="Marker Embeddings@4140000"/>
          <p:cNvSpPr/>
          <p:nvPr/>
        </p:nvSpPr>
        <p:spPr>
          <a:xfrm>
            <a:off x="4096800" y="2656800"/>
            <a:ext cx="1526400" cy="954000"/>
          </a:xfrm>
          <a:prstGeom prst="roundRect">
            <a:avLst/>
          </a:prstGeom>
          <a:noFill/>
          <a:ln w="28575">
            <a:solidFill>
              <a:srgbClr val="C60C30"/>
            </a:solidFill>
            <a:prstDash val="dash"/>
          </a:ln>
        </p:spPr>
        <p:txBody>
          <a:bodyPr/>
          <a:lstStyle/>
          <a:p>
            <a:endParaRPr/>
          </a:p>
        </p:txBody>
      </p:sp>
      <p:sp>
        <p:nvSpPr>
          <p:cNvPr id="2004" name="Marker Information Extraction"/>
          <p:cNvSpPr/>
          <p:nvPr/>
        </p:nvSpPr>
        <p:spPr>
          <a:xfrm>
            <a:off x="496800" y="3736800"/>
            <a:ext cx="1526400" cy="954000"/>
          </a:xfrm>
          <a:prstGeom prst="roundRect">
            <a:avLst/>
          </a:prstGeom>
          <a:noFill/>
          <a:ln w="28575">
            <a:solidFill>
              <a:srgbClr val="C60C30"/>
            </a:solidFill>
            <a:prstDash val="dash"/>
          </a:ln>
        </p:spPr>
        <p:txBody>
          <a:bodyPr/>
          <a:lstStyle/>
          <a:p>
            <a:endParaRPr/>
          </a:p>
        </p:txBody>
      </p:sp>
      <p:sp>
        <p:nvSpPr>
          <p:cNvPr id="2005" name="Marker Raw Data Files"/>
          <p:cNvSpPr/>
          <p:nvPr/>
        </p:nvSpPr>
        <p:spPr>
          <a:xfrm>
            <a:off x="496800" y="4996800"/>
            <a:ext cx="1526400" cy="954000"/>
          </a:xfrm>
          <a:prstGeom prst="roundRect">
            <a:avLst/>
          </a:prstGeom>
          <a:noFill/>
          <a:ln w="28575">
            <a:solidFill>
              <a:srgbClr val="C60C30"/>
            </a:solidFill>
            <a:prstDash val="dash"/>
          </a:ln>
        </p:spPr>
        <p:txBody>
          <a:bodyPr/>
          <a:lstStyle/>
          <a:p>
            <a:endParaRPr/>
          </a:p>
        </p:txBody>
      </p:sp>
      <p:sp>
        <p:nvSpPr>
          <p:cNvPr id="2006" name="Marker Vector Database"/>
          <p:cNvSpPr/>
          <p:nvPr/>
        </p:nvSpPr>
        <p:spPr>
          <a:xfrm>
            <a:off x="5896800" y="265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2b · Retrieval</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14</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5486754"/>
              <a:ext cx="468000" cy="468000"/>
            </a:xfrm>
            <a:prstGeom prst="rect">
              <a:avLst/>
            </a:prstGeom>
          </p:spPr>
        </p:pic>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5508000" cy="45756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Embedding LLM@7740000"/>
          <p:cNvSpPr/>
          <p:nvPr/>
        </p:nvSpPr>
        <p:spPr>
          <a:xfrm>
            <a:off x="7696800" y="1396800"/>
            <a:ext cx="1526400" cy="954000"/>
          </a:xfrm>
          <a:prstGeom prst="roundRect">
            <a:avLst/>
          </a:prstGeom>
          <a:noFill/>
          <a:ln w="28575">
            <a:solidFill>
              <a:srgbClr val="C60C30"/>
            </a:solidFill>
            <a:prstDash val="dash"/>
          </a:ln>
        </p:spPr>
        <p:txBody>
          <a:bodyPr/>
          <a:lstStyle/>
          <a:p>
            <a:endParaRPr/>
          </a:p>
        </p:txBody>
      </p:sp>
      <p:sp>
        <p:nvSpPr>
          <p:cNvPr id="2001" name="Marker Embeddings@7740000"/>
          <p:cNvSpPr/>
          <p:nvPr/>
        </p:nvSpPr>
        <p:spPr>
          <a:xfrm>
            <a:off x="7696800" y="2656800"/>
            <a:ext cx="1526400" cy="954000"/>
          </a:xfrm>
          <a:prstGeom prst="roundRect">
            <a:avLst/>
          </a:prstGeom>
          <a:noFill/>
          <a:ln w="28575">
            <a:solidFill>
              <a:srgbClr val="C60C30"/>
            </a:solidFill>
            <a:prstDash val="dash"/>
          </a:ln>
        </p:spPr>
        <p:txBody>
          <a:bodyPr/>
          <a:lstStyle/>
          <a:p>
            <a:endParaRPr/>
          </a:p>
        </p:txBody>
      </p:sp>
      <p:sp>
        <p:nvSpPr>
          <p:cNvPr id="2002"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
        <p:nvSpPr>
          <p:cNvPr id="2003" name="Marker Relevant Data"/>
          <p:cNvSpPr/>
          <p:nvPr/>
        </p:nvSpPr>
        <p:spPr>
          <a:xfrm>
            <a:off x="5896800" y="499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17555-465C-EF5C-61B4-A0C70FF637F7}"/>
            </a:ext>
          </a:extLst>
        </p:cNvPr>
        <p:cNvGrpSpPr/>
        <p:nvPr/>
      </p:nvGrpSpPr>
      <p:grpSpPr>
        <a:xfrm>
          <a:off x="0" y="0"/>
          <a:ext cx="0" cy="0"/>
          <a:chOff x="0" y="0"/>
          <a:chExt cx="0" cy="0"/>
        </a:xfrm>
      </p:grpSpPr>
      <p:sp>
        <p:nvSpPr>
          <p:cNvPr id="2" name="Datumsplatzhalter 1">
            <a:extLst>
              <a:ext uri="{FF2B5EF4-FFF2-40B4-BE49-F238E27FC236}">
                <a16:creationId xmlns:a16="http://schemas.microsoft.com/office/drawing/2014/main" id="{0201CE27-89A5-6453-2171-001915AA8F89}"/>
              </a:ext>
            </a:extLst>
          </p:cNvPr>
          <p:cNvSpPr>
            <a:spLocks noGrp="1"/>
          </p:cNvSpPr>
          <p:nvPr>
            <p:ph type="dt" sz="half" idx="10"/>
          </p:nvPr>
        </p:nvSpPr>
        <p:spPr/>
        <p:txBody>
          <a:bodyPr/>
          <a:lstStyle/>
          <a:p>
            <a:fld id="{E668D7D0-CB17-47D3-88E8-EDADFD5EAF7A}" type="datetime1">
              <a:rPr lang="de-CH" smtClean="0"/>
              <a:t>13.08.2026</a:t>
            </a:fld>
            <a:endParaRPr lang="de-CH" dirty="0"/>
          </a:p>
        </p:txBody>
      </p:sp>
      <p:sp>
        <p:nvSpPr>
          <p:cNvPr id="3" name="Foliennummernplatzhalter 2">
            <a:extLst>
              <a:ext uri="{FF2B5EF4-FFF2-40B4-BE49-F238E27FC236}">
                <a16:creationId xmlns:a16="http://schemas.microsoft.com/office/drawing/2014/main" id="{4D8E00F8-31F3-9399-E9FB-52882D9E1323}"/>
              </a:ext>
            </a:extLst>
          </p:cNvPr>
          <p:cNvSpPr>
            <a:spLocks noGrp="1"/>
          </p:cNvSpPr>
          <p:nvPr>
            <p:ph type="sldNum" sz="quarter" idx="12"/>
          </p:nvPr>
        </p:nvSpPr>
        <p:spPr/>
        <p:txBody>
          <a:bodyPr/>
          <a:lstStyle/>
          <a:p>
            <a:fld id="{CE7E00E2-F08D-429A-AD9B-1ECBEC02F4DB}" type="slidenum">
              <a:rPr lang="de-CH" smtClean="0"/>
              <a:t>15</a:t>
            </a:fld>
            <a:endParaRPr lang="de-CH" dirty="0"/>
          </a:p>
        </p:txBody>
      </p:sp>
      <p:sp>
        <p:nvSpPr>
          <p:cNvPr id="4" name="Titel 3">
            <a:extLst>
              <a:ext uri="{FF2B5EF4-FFF2-40B4-BE49-F238E27FC236}">
                <a16:creationId xmlns:a16="http://schemas.microsoft.com/office/drawing/2014/main" id="{6E166BED-9F3E-7DA4-BF12-B97C74EBD98F}"/>
              </a:ext>
            </a:extLst>
          </p:cNvPr>
          <p:cNvSpPr>
            <a:spLocks noGrp="1"/>
          </p:cNvSpPr>
          <p:nvPr>
            <p:ph type="title"/>
          </p:nvPr>
        </p:nvSpPr>
        <p:spPr/>
        <p:txBody>
          <a:bodyPr/>
          <a:lstStyle/>
          <a:p>
            <a:r>
              <a:rPr lang="de-DE" dirty="0" err="1"/>
              <a:t>Advanced</a:t>
            </a:r>
            <a:r>
              <a:rPr lang="de-DE" dirty="0"/>
              <a:t> RAG</a:t>
            </a:r>
          </a:p>
        </p:txBody>
      </p:sp>
    </p:spTree>
    <p:extLst>
      <p:ext uri="{BB962C8B-B14F-4D97-AF65-F5344CB8AC3E}">
        <p14:creationId xmlns:p14="http://schemas.microsoft.com/office/powerpoint/2010/main" val="43559017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3 · Chunking und Reranking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16</a:t>
            </a:fld>
            <a:endParaRPr lang="de-CH"/>
          </a:p>
        </p:txBody>
      </p: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1926000" y="3726000"/>
            <a:ext cx="4068000" cy="975600"/>
          </a:xfrm>
          <a:prstGeom prst="rect">
            <a:avLst/>
          </a:prstGeom>
          <a:solidFill>
            <a:srgbClr val="FFFFFF">
              <a:alpha val="70000"/>
            </a:srgbClr>
          </a:solidFill>
          <a:ln>
            <a:noFill/>
          </a:ln>
        </p:spPr>
        <p:txBody>
          <a:bodyPr/>
          <a:lstStyle/>
          <a:p>
            <a:endParaRPr/>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Chunking"/>
          <p:cNvSpPr/>
          <p:nvPr/>
        </p:nvSpPr>
        <p:spPr>
          <a:xfrm>
            <a:off x="496800" y="2656800"/>
            <a:ext cx="1526400" cy="954000"/>
          </a:xfrm>
          <a:prstGeom prst="roundRect">
            <a:avLst/>
          </a:prstGeom>
          <a:noFill/>
          <a:ln w="28575">
            <a:solidFill>
              <a:srgbClr val="C60C30"/>
            </a:solidFill>
            <a:prstDash val="dash"/>
          </a:ln>
        </p:spPr>
        <p:txBody>
          <a:bodyPr/>
          <a:lstStyle/>
          <a:p>
            <a:endParaRPr/>
          </a:p>
        </p:txBody>
      </p:sp>
      <p:sp>
        <p:nvSpPr>
          <p:cNvPr id="2001" name="Marker Ranking"/>
          <p:cNvSpPr/>
          <p:nvPr/>
        </p:nvSpPr>
        <p:spPr>
          <a:xfrm>
            <a:off x="58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EE0CD576-FFC5-4ACC-84A6-314F98D3D3F9}"/>
              </a:ext>
            </a:extLst>
          </p:cNvPr>
          <p:cNvSpPr/>
          <p:nvPr/>
        </p:nvSpPr>
        <p:spPr>
          <a:xfrm>
            <a:off x="540000" y="1260000"/>
            <a:ext cx="8096250" cy="304800"/>
          </a:xfrm>
          <a:prstGeom prst="rect">
            <a:avLst/>
          </a:prstGeom>
          <a:noFill/>
          <a:ln w="0">
            <a:noFill/>
            <a:prstDash val="solid"/>
          </a:ln>
        </p:spPr>
        <p:txBody>
          <a:bodyPr anchor="ctr"/>
          <a:lstStyle/>
          <a:p>
            <a:pPr algn="l">
              <a:defRPr sz="1500" b="0">
                <a:solidFill>
                  <a:srgbClr val="746B5F"/>
                </a:solidFill>
              </a:defRPr>
            </a:pPr>
            <a:r>
              <a:rPr sz="1500" b="0" dirty="0">
                <a:solidFill>
                  <a:srgbClr val="746B5F"/>
                </a:solidFill>
              </a:rPr>
              <a:t>Gleicher </a:t>
            </a:r>
            <a:r>
              <a:rPr sz="1500" b="0" dirty="0" err="1">
                <a:solidFill>
                  <a:srgbClr val="746B5F"/>
                </a:solidFill>
              </a:rPr>
              <a:t>Inhalt</a:t>
            </a:r>
            <a:r>
              <a:rPr sz="1500" b="0" dirty="0">
                <a:solidFill>
                  <a:srgbClr val="746B5F"/>
                </a:solidFill>
              </a:rPr>
              <a:t>. Andere </a:t>
            </a:r>
            <a:r>
              <a:rPr sz="1500" b="0" dirty="0" err="1">
                <a:solidFill>
                  <a:srgbClr val="746B5F"/>
                </a:solidFill>
              </a:rPr>
              <a:t>Grenzen</a:t>
            </a:r>
            <a:r>
              <a:rPr sz="1500" b="0" dirty="0">
                <a:solidFill>
                  <a:srgbClr val="746B5F"/>
                </a:solidFill>
              </a:rPr>
              <a:t>. Andere Treffer.</a:t>
            </a:r>
          </a:p>
        </p:txBody>
      </p:sp>
      <p:sp>
        <p:nvSpPr>
          <p:cNvPr id="25" name="takeaway">
            <a:extLst>
              <a:ext uri="{FF2B5EF4-FFF2-40B4-BE49-F238E27FC236}">
                <a16:creationId xmlns:a16="http://schemas.microsoft.com/office/drawing/2014/main" id="{18B3756D-9BFF-41E2-AA7E-61B134B1E097}"/>
              </a:ext>
            </a:extLst>
          </p:cNvPr>
          <p:cNvSpPr/>
          <p:nvPr/>
        </p:nvSpPr>
        <p:spPr>
          <a:xfrm>
            <a:off x="2160000" y="5400000"/>
            <a:ext cx="7920000" cy="720000"/>
          </a:xfrm>
          <a:prstGeom prst="roundRect">
            <a:avLst>
              <a:gd name="adj" fmla="val 17647"/>
            </a:avLst>
          </a:prstGeom>
          <a:solidFill>
            <a:srgbClr val="304452"/>
          </a:solidFill>
          <a:ln w="0">
            <a:solidFill>
              <a:srgbClr val="304452"/>
            </a:solidFill>
            <a:prstDash val="solid"/>
          </a:ln>
        </p:spPr>
        <p:txBody>
          <a:bodyPr anchor="ctr"/>
          <a:lstStyle/>
          <a:p>
            <a:pPr algn="ctr"/>
            <a:r>
              <a:rPr lang="de-DE" b="1" dirty="0">
                <a:solidFill>
                  <a:srgbClr val="FFFFFF"/>
                </a:solidFill>
              </a:rPr>
              <a:t>Ziel: Token-Budget einhalten, ohne Bedeutung zu </a:t>
            </a:r>
            <a:r>
              <a:rPr lang="de-DE" b="1" dirty="0" err="1">
                <a:solidFill>
                  <a:srgbClr val="FFFFFF"/>
                </a:solidFill>
              </a:rPr>
              <a:t>zerreissen</a:t>
            </a:r>
            <a:r>
              <a:rPr lang="de-DE" b="1" dirty="0">
                <a:solidFill>
                  <a:srgbClr val="FFFFFF"/>
                </a:solidFill>
              </a:rPr>
              <a:t>.</a:t>
            </a:r>
          </a:p>
        </p:txBody>
      </p:sp>
      <p:sp>
        <p:nvSpPr>
          <p:cNvPr id="27" name="page">
            <a:extLst>
              <a:ext uri="{FF2B5EF4-FFF2-40B4-BE49-F238E27FC236}">
                <a16:creationId xmlns:a16="http://schemas.microsoft.com/office/drawing/2014/main" id="{A2F7BA51-B5C1-4387-8006-3CDB0BB160DA}"/>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14</a:t>
            </a:r>
          </a:p>
        </p:txBody>
      </p:sp>
      <p:sp>
        <p:nvSpPr>
          <p:cNvPr id="28" name="date">
            <a:extLst>
              <a:ext uri="{FF2B5EF4-FFF2-40B4-BE49-F238E27FC236}">
                <a16:creationId xmlns:a16="http://schemas.microsoft.com/office/drawing/2014/main" id="{EEB93467-AB60-4E30-BC91-279117FB7BE7}"/>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4" name="Titel 1"/>
          <p:cNvSpPr>
            <a:spLocks noGrp="1"/>
          </p:cNvSpPr>
          <p:nvPr>
            <p:ph type="title"/>
          </p:nvPr>
        </p:nvSpPr>
        <p:spPr>
          <a:xfrm>
            <a:off x="482461" y="346633"/>
            <a:ext cx="11230114" cy="767605"/>
          </a:xfrm>
        </p:spPr>
        <p:txBody>
          <a:bodyPr/>
          <a:lstStyle/>
          <a:p>
            <a:r>
              <a:rPr lang="de-CH" sz="3600" dirty="0"/>
              <a:t>Chunking entscheidet, was auffindbar bleibt</a:t>
            </a:r>
          </a:p>
        </p:txBody>
      </p:sp>
      <p:grpSp>
        <p:nvGrpSpPr>
          <p:cNvPr id="20" name="Gruppieren 19">
            <a:extLst>
              <a:ext uri="{FF2B5EF4-FFF2-40B4-BE49-F238E27FC236}">
                <a16:creationId xmlns:a16="http://schemas.microsoft.com/office/drawing/2014/main" id="{6E7F57EA-6473-2616-6907-ECF4281B3731}"/>
              </a:ext>
            </a:extLst>
          </p:cNvPr>
          <p:cNvGrpSpPr/>
          <p:nvPr/>
        </p:nvGrpSpPr>
        <p:grpSpPr>
          <a:xfrm>
            <a:off x="540000" y="1800000"/>
            <a:ext cx="5220000" cy="3420000"/>
            <a:chOff x="540000" y="1800000"/>
            <a:chExt cx="5220000" cy="3420000"/>
          </a:xfrm>
        </p:grpSpPr>
        <p:sp>
          <p:nvSpPr>
            <p:cNvPr id="4" name="left-label">
              <a:extLst>
                <a:ext uri="{FF2B5EF4-FFF2-40B4-BE49-F238E27FC236}">
                  <a16:creationId xmlns:a16="http://schemas.microsoft.com/office/drawing/2014/main" id="{96E00807-7B9E-444E-8FBC-3FE42823E616}"/>
                </a:ext>
              </a:extLst>
            </p:cNvPr>
            <p:cNvSpPr/>
            <p:nvPr/>
          </p:nvSpPr>
          <p:spPr>
            <a:xfrm>
              <a:off x="540000" y="1800000"/>
              <a:ext cx="2667000" cy="266700"/>
            </a:xfrm>
            <a:prstGeom prst="rect">
              <a:avLst/>
            </a:prstGeom>
            <a:noFill/>
            <a:ln w="0">
              <a:noFill/>
              <a:prstDash val="solid"/>
            </a:ln>
          </p:spPr>
          <p:txBody>
            <a:bodyPr anchor="ctr"/>
            <a:lstStyle/>
            <a:p>
              <a:pPr algn="l">
                <a:defRPr sz="1275" b="1">
                  <a:solidFill>
                    <a:srgbClr val="D20A32"/>
                  </a:solidFill>
                </a:defRPr>
              </a:pPr>
              <a:r>
                <a:rPr sz="1275" b="1" dirty="0">
                  <a:solidFill>
                    <a:srgbClr val="D20A32"/>
                  </a:solidFill>
                </a:rPr>
                <a:t>FIXE LÄNGE</a:t>
              </a:r>
            </a:p>
          </p:txBody>
        </p:sp>
        <p:sp>
          <p:nvSpPr>
            <p:cNvPr id="5" name="left-meta">
              <a:extLst>
                <a:ext uri="{FF2B5EF4-FFF2-40B4-BE49-F238E27FC236}">
                  <a16:creationId xmlns:a16="http://schemas.microsoft.com/office/drawing/2014/main" id="{A488A309-CD87-4A3F-8097-759929D7C003}"/>
                </a:ext>
              </a:extLst>
            </p:cNvPr>
            <p:cNvSpPr/>
            <p:nvPr/>
          </p:nvSpPr>
          <p:spPr>
            <a:xfrm>
              <a:off x="540000" y="1980000"/>
              <a:ext cx="2667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800 </a:t>
              </a:r>
              <a:r>
                <a:rPr sz="1050" b="0" dirty="0" err="1">
                  <a:solidFill>
                    <a:srgbClr val="746B5F"/>
                  </a:solidFill>
                </a:rPr>
                <a:t>Zeichen</a:t>
              </a:r>
              <a:endParaRPr sz="1050" b="0" dirty="0">
                <a:solidFill>
                  <a:srgbClr val="746B5F"/>
                </a:solidFill>
              </a:endParaRPr>
            </a:p>
          </p:txBody>
        </p:sp>
        <p:sp>
          <p:nvSpPr>
            <p:cNvPr id="8" name="left-panel">
              <a:extLst>
                <a:ext uri="{FF2B5EF4-FFF2-40B4-BE49-F238E27FC236}">
                  <a16:creationId xmlns:a16="http://schemas.microsoft.com/office/drawing/2014/main" id="{50BE4D10-4DF3-4DFF-88A5-9A613FD983A1}"/>
                </a:ext>
              </a:extLst>
            </p:cNvPr>
            <p:cNvSpPr/>
            <p:nvPr/>
          </p:nvSpPr>
          <p:spPr>
            <a:xfrm>
              <a:off x="540000" y="2340000"/>
              <a:ext cx="5220000" cy="2880000"/>
            </a:xfrm>
            <a:prstGeom prst="roundRect">
              <a:avLst>
                <a:gd name="adj" fmla="val 4000"/>
              </a:avLst>
            </a:prstGeom>
            <a:solidFill>
              <a:srgbClr val="FFF9FA"/>
            </a:solidFill>
            <a:ln w="9525">
              <a:solidFill>
                <a:srgbClr val="E3BFC7"/>
              </a:solidFill>
              <a:prstDash val="solid"/>
            </a:ln>
          </p:spPr>
          <p:txBody>
            <a:bodyPr/>
            <a:lstStyle/>
            <a:p>
              <a:endParaRPr lang="de-CH"/>
            </a:p>
          </p:txBody>
        </p:sp>
        <p:sp>
          <p:nvSpPr>
            <p:cNvPr id="10" name="chunk17">
              <a:extLst>
                <a:ext uri="{FF2B5EF4-FFF2-40B4-BE49-F238E27FC236}">
                  <a16:creationId xmlns:a16="http://schemas.microsoft.com/office/drawing/2014/main" id="{F84911CE-A8DD-4649-9F91-F9760D366E07}"/>
                </a:ext>
              </a:extLst>
            </p:cNvPr>
            <p:cNvSpPr/>
            <p:nvPr/>
          </p:nvSpPr>
          <p:spPr>
            <a:xfrm>
              <a:off x="7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17</a:t>
              </a:r>
            </a:p>
          </p:txBody>
        </p:sp>
        <p:sp>
          <p:nvSpPr>
            <p:cNvPr id="11" name="left-text-a">
              <a:extLst>
                <a:ext uri="{FF2B5EF4-FFF2-40B4-BE49-F238E27FC236}">
                  <a16:creationId xmlns:a16="http://schemas.microsoft.com/office/drawing/2014/main" id="{50D7ACCC-C8F1-43FB-8A0C-1E90083A7A68}"/>
                </a:ext>
              </a:extLst>
            </p:cNvPr>
            <p:cNvSpPr/>
            <p:nvPr/>
          </p:nvSpPr>
          <p:spPr>
            <a:xfrm>
              <a:off x="720000" y="2880000"/>
              <a:ext cx="2160000" cy="1440000"/>
            </a:xfrm>
            <a:prstGeom prst="rect">
              <a:avLst/>
            </a:prstGeom>
            <a:noFill/>
            <a:ln w="0">
              <a:noFill/>
              <a:prstDash val="solid"/>
            </a:ln>
          </p:spPr>
          <p:txBody>
            <a:bodyPr anchor="ctr"/>
            <a:lstStyle/>
            <a:p>
              <a:pPr algn="l">
                <a:defRPr sz="1350" b="0">
                  <a:solidFill>
                    <a:srgbClr val="304452"/>
                  </a:solidFill>
                </a:defRPr>
              </a:pPr>
              <a:r>
                <a:rPr sz="1350" b="0" dirty="0">
                  <a:solidFill>
                    <a:srgbClr val="304452"/>
                  </a:solidFill>
                </a:rPr>
                <a:t>Art. 335b · </a:t>
              </a:r>
              <a:r>
                <a:rPr sz="1350" b="0" dirty="0" err="1">
                  <a:solidFill>
                    <a:srgbClr val="304452"/>
                  </a:solidFill>
                </a:rPr>
                <a:t>Probezeit</a:t>
              </a:r>
              <a:endParaRPr sz="1350" b="0" dirty="0">
                <a:solidFill>
                  <a:srgbClr val="304452"/>
                </a:solidFill>
              </a:endParaRPr>
            </a:p>
            <a:p>
              <a:pPr algn="l">
                <a:defRPr sz="1350" b="0">
                  <a:solidFill>
                    <a:srgbClr val="304452"/>
                  </a:solidFill>
                </a:defRPr>
              </a:pPr>
              <a:r>
                <a:rPr sz="1350" b="0" dirty="0">
                  <a:solidFill>
                    <a:srgbClr val="304452"/>
                  </a:solidFill>
                </a:rPr>
                <a:t>Die </a:t>
              </a:r>
              <a:r>
                <a:rPr sz="1350" b="0" dirty="0" err="1">
                  <a:solidFill>
                    <a:srgbClr val="304452"/>
                  </a:solidFill>
                </a:rPr>
                <a:t>Probezeit</a:t>
              </a:r>
              <a:r>
                <a:rPr sz="1350" b="0" dirty="0">
                  <a:solidFill>
                    <a:srgbClr val="304452"/>
                  </a:solidFill>
                </a:rPr>
                <a:t> </a:t>
              </a:r>
              <a:r>
                <a:rPr sz="1350" b="0" dirty="0" err="1">
                  <a:solidFill>
                    <a:srgbClr val="304452"/>
                  </a:solidFill>
                </a:rPr>
                <a:t>beträgt</a:t>
              </a:r>
              <a:r>
                <a:rPr sz="1350" b="0" dirty="0">
                  <a:solidFill>
                    <a:srgbClr val="304452"/>
                  </a:solidFill>
                </a:rPr>
                <a:t> </a:t>
              </a:r>
              <a:r>
                <a:rPr sz="1350" b="0" dirty="0" err="1">
                  <a:solidFill>
                    <a:srgbClr val="304452"/>
                  </a:solidFill>
                </a:rPr>
                <a:t>grundsätzlich</a:t>
              </a:r>
              <a:r>
                <a:rPr sz="1350" b="0" dirty="0">
                  <a:solidFill>
                    <a:srgbClr val="304452"/>
                  </a:solidFill>
                </a:rPr>
                <a:t> den </a:t>
              </a:r>
              <a:r>
                <a:rPr sz="1350" b="0" dirty="0" err="1">
                  <a:solidFill>
                    <a:srgbClr val="304452"/>
                  </a:solidFill>
                </a:rPr>
                <a:t>ersten</a:t>
              </a:r>
              <a:r>
                <a:rPr sz="1350" b="0" dirty="0">
                  <a:solidFill>
                    <a:srgbClr val="304452"/>
                  </a:solidFill>
                </a:rPr>
                <a:t> Monat. Sie </a:t>
              </a:r>
              <a:r>
                <a:rPr sz="1350" b="0" dirty="0" err="1">
                  <a:solidFill>
                    <a:srgbClr val="304452"/>
                  </a:solidFill>
                </a:rPr>
                <a:t>kann</a:t>
              </a:r>
              <a:r>
                <a:rPr sz="1350" b="0" dirty="0">
                  <a:solidFill>
                    <a:srgbClr val="304452"/>
                  </a:solidFill>
                </a:rPr>
                <a:t> auf </a:t>
              </a:r>
              <a:r>
                <a:rPr sz="1350" b="0" dirty="0" err="1">
                  <a:solidFill>
                    <a:srgbClr val="304452"/>
                  </a:solidFill>
                </a:rPr>
                <a:t>höchstens</a:t>
              </a:r>
              <a:r>
                <a:rPr sz="1350" b="0" dirty="0">
                  <a:solidFill>
                    <a:srgbClr val="304452"/>
                  </a:solidFill>
                </a:rPr>
                <a:t> </a:t>
              </a:r>
              <a:r>
                <a:rPr sz="1350" b="0" dirty="0" err="1">
                  <a:solidFill>
                    <a:srgbClr val="304452"/>
                  </a:solidFill>
                </a:rPr>
                <a:t>drei</a:t>
              </a:r>
              <a:r>
                <a:rPr sz="1350" b="0" dirty="0">
                  <a:solidFill>
                    <a:srgbClr val="304452"/>
                  </a:solidFill>
                </a:rPr>
                <a:t> </a:t>
              </a:r>
              <a:r>
                <a:rPr sz="1350" b="0" dirty="0" err="1">
                  <a:solidFill>
                    <a:srgbClr val="304452"/>
                  </a:solidFill>
                </a:rPr>
                <a:t>Monate</a:t>
              </a:r>
              <a:r>
                <a:rPr sz="1350" b="0" dirty="0">
                  <a:solidFill>
                    <a:srgbClr val="304452"/>
                  </a:solidFill>
                </a:rPr>
                <a:t> </a:t>
              </a:r>
              <a:r>
                <a:rPr sz="1350" b="0" dirty="0" err="1">
                  <a:solidFill>
                    <a:srgbClr val="304452"/>
                  </a:solidFill>
                </a:rPr>
                <a:t>verlän</a:t>
              </a:r>
              <a:r>
                <a:rPr sz="1350" b="0" dirty="0">
                  <a:solidFill>
                    <a:srgbClr val="304452"/>
                  </a:solidFill>
                </a:rPr>
                <a:t>-</a:t>
              </a:r>
            </a:p>
          </p:txBody>
        </p:sp>
        <p:sp>
          <p:nvSpPr>
            <p:cNvPr id="12" name="chunk18">
              <a:extLst>
                <a:ext uri="{FF2B5EF4-FFF2-40B4-BE49-F238E27FC236}">
                  <a16:creationId xmlns:a16="http://schemas.microsoft.com/office/drawing/2014/main" id="{F7A34B1E-6B6D-4093-A46C-5EE5D8C2BE3A}"/>
                </a:ext>
              </a:extLst>
            </p:cNvPr>
            <p:cNvSpPr/>
            <p:nvPr/>
          </p:nvSpPr>
          <p:spPr>
            <a:xfrm>
              <a:off x="3420000" y="2520000"/>
              <a:ext cx="1143000" cy="209550"/>
            </a:xfrm>
            <a:prstGeom prst="rect">
              <a:avLst/>
            </a:prstGeom>
            <a:noFill/>
            <a:ln w="0">
              <a:noFill/>
              <a:prstDash val="solid"/>
            </a:ln>
          </p:spPr>
          <p:txBody>
            <a:bodyPr anchor="ctr"/>
            <a:lstStyle/>
            <a:p>
              <a:pPr algn="l">
                <a:defRPr sz="975" b="1">
                  <a:solidFill>
                    <a:srgbClr val="D20A32"/>
                  </a:solidFill>
                </a:defRPr>
              </a:pPr>
              <a:r>
                <a:rPr sz="975" b="1">
                  <a:solidFill>
                    <a:srgbClr val="D20A32"/>
                  </a:solidFill>
                </a:rPr>
                <a:t>CHUNK 18</a:t>
              </a:r>
            </a:p>
          </p:txBody>
        </p:sp>
        <p:sp>
          <p:nvSpPr>
            <p:cNvPr id="13" name="left-text-b">
              <a:extLst>
                <a:ext uri="{FF2B5EF4-FFF2-40B4-BE49-F238E27FC236}">
                  <a16:creationId xmlns:a16="http://schemas.microsoft.com/office/drawing/2014/main" id="{66288B83-6315-4E2A-92E5-9D202B19C8EF}"/>
                </a:ext>
              </a:extLst>
            </p:cNvPr>
            <p:cNvSpPr/>
            <p:nvPr/>
          </p:nvSpPr>
          <p:spPr>
            <a:xfrm>
              <a:off x="3420000" y="2880000"/>
              <a:ext cx="1980000" cy="1440000"/>
            </a:xfrm>
            <a:prstGeom prst="rect">
              <a:avLst/>
            </a:prstGeom>
            <a:noFill/>
            <a:ln w="0">
              <a:noFill/>
              <a:prstDash val="solid"/>
            </a:ln>
          </p:spPr>
          <p:txBody>
            <a:bodyPr anchor="ctr"/>
            <a:lstStyle/>
            <a:p>
              <a:pPr algn="l">
                <a:defRPr sz="1350" b="0">
                  <a:solidFill>
                    <a:srgbClr val="304452"/>
                  </a:solidFill>
                </a:defRPr>
              </a:pPr>
              <a:r>
                <a:rPr sz="1350" b="0" dirty="0" err="1">
                  <a:solidFill>
                    <a:srgbClr val="304452"/>
                  </a:solidFill>
                </a:rPr>
                <a:t>gert</a:t>
              </a:r>
              <a:r>
                <a:rPr sz="1350" b="0" dirty="0">
                  <a:solidFill>
                    <a:srgbClr val="304452"/>
                  </a:solidFill>
                </a:rPr>
                <a:t> </a:t>
              </a:r>
              <a:r>
                <a:rPr sz="1350" b="0" dirty="0" err="1">
                  <a:solidFill>
                    <a:srgbClr val="304452"/>
                  </a:solidFill>
                </a:rPr>
                <a:t>werden</a:t>
              </a:r>
              <a:r>
                <a:rPr sz="1350" b="0" dirty="0">
                  <a:solidFill>
                    <a:srgbClr val="304452"/>
                  </a:solidFill>
                </a:rPr>
                <a:t>. Bei </a:t>
              </a:r>
              <a:r>
                <a:rPr sz="1350" b="0" dirty="0" err="1">
                  <a:solidFill>
                    <a:srgbClr val="304452"/>
                  </a:solidFill>
                </a:rPr>
                <a:t>Krankheit</a:t>
              </a:r>
              <a:r>
                <a:rPr sz="1350" b="0" dirty="0">
                  <a:solidFill>
                    <a:srgbClr val="304452"/>
                  </a:solidFill>
                </a:rPr>
                <a:t> …</a:t>
              </a:r>
            </a:p>
            <a:p>
              <a:endParaRPr sz="1350" b="0" dirty="0">
                <a:solidFill>
                  <a:srgbClr val="304452"/>
                </a:solidFill>
              </a:endParaRPr>
            </a:p>
            <a:p>
              <a:pPr algn="l">
                <a:defRPr sz="1350" b="0">
                  <a:solidFill>
                    <a:srgbClr val="304452"/>
                  </a:solidFill>
                </a:defRPr>
              </a:pPr>
              <a:r>
                <a:rPr sz="1350" b="0" dirty="0">
                  <a:solidFill>
                    <a:srgbClr val="304452"/>
                  </a:solidFill>
                </a:rPr>
                <a:t>Art. 335c</a:t>
              </a:r>
            </a:p>
            <a:p>
              <a:pPr algn="l">
                <a:defRPr sz="1350" b="0">
                  <a:solidFill>
                    <a:srgbClr val="304452"/>
                  </a:solidFill>
                </a:defRPr>
              </a:pPr>
              <a:r>
                <a:rPr sz="1350" b="0" dirty="0" err="1">
                  <a:solidFill>
                    <a:srgbClr val="304452"/>
                  </a:solidFill>
                </a:rPr>
                <a:t>Kündigungsfristen</a:t>
              </a:r>
              <a:r>
                <a:rPr sz="1350" b="0" dirty="0">
                  <a:solidFill>
                    <a:srgbClr val="304452"/>
                  </a:solidFill>
                </a:rPr>
                <a:t> …</a:t>
              </a:r>
            </a:p>
          </p:txBody>
        </p:sp>
        <p:sp>
          <p:nvSpPr>
            <p:cNvPr id="14" name="hard-boundary">
              <a:extLst>
                <a:ext uri="{FF2B5EF4-FFF2-40B4-BE49-F238E27FC236}">
                  <a16:creationId xmlns:a16="http://schemas.microsoft.com/office/drawing/2014/main" id="{3A8DD313-725B-4E1C-9433-3901D5DAF639}"/>
                </a:ext>
              </a:extLst>
            </p:cNvPr>
            <p:cNvSpPr/>
            <p:nvPr/>
          </p:nvSpPr>
          <p:spPr>
            <a:xfrm>
              <a:off x="3150000" y="2520000"/>
              <a:ext cx="0" cy="1790700"/>
            </a:xfrm>
            <a:prstGeom prst="line">
              <a:avLst/>
            </a:prstGeom>
            <a:noFill/>
            <a:ln w="38100">
              <a:solidFill>
                <a:srgbClr val="D20A32"/>
              </a:solidFill>
              <a:prstDash val="solid"/>
            </a:ln>
          </p:spPr>
          <p:txBody>
            <a:bodyPr/>
            <a:lstStyle/>
            <a:p>
              <a:endParaRPr lang="de-CH"/>
            </a:p>
          </p:txBody>
        </p:sp>
        <p:sp>
          <p:nvSpPr>
            <p:cNvPr id="15" name="cut-label">
              <a:extLst>
                <a:ext uri="{FF2B5EF4-FFF2-40B4-BE49-F238E27FC236}">
                  <a16:creationId xmlns:a16="http://schemas.microsoft.com/office/drawing/2014/main" id="{72425464-5B7E-4198-BD2D-042E360C98CF}"/>
                </a:ext>
              </a:extLst>
            </p:cNvPr>
            <p:cNvSpPr/>
            <p:nvPr/>
          </p:nvSpPr>
          <p:spPr>
            <a:xfrm>
              <a:off x="2721375" y="4320000"/>
              <a:ext cx="857250" cy="400050"/>
            </a:xfrm>
            <a:prstGeom prst="rect">
              <a:avLst/>
            </a:prstGeom>
            <a:noFill/>
            <a:ln w="0">
              <a:noFill/>
              <a:prstDash val="solid"/>
            </a:ln>
          </p:spPr>
          <p:txBody>
            <a:bodyPr anchor="ctr"/>
            <a:lstStyle/>
            <a:p>
              <a:pPr algn="ctr">
                <a:defRPr sz="825" b="1">
                  <a:solidFill>
                    <a:srgbClr val="D20A32"/>
                  </a:solidFill>
                </a:defRPr>
              </a:pPr>
              <a:r>
                <a:rPr sz="825" b="1" dirty="0">
                  <a:solidFill>
                    <a:srgbClr val="D20A32"/>
                  </a:solidFill>
                </a:rPr>
                <a:t>STARRE</a:t>
              </a:r>
            </a:p>
            <a:p>
              <a:pPr algn="ctr">
                <a:defRPr sz="825" b="1">
                  <a:solidFill>
                    <a:srgbClr val="D20A32"/>
                  </a:solidFill>
                </a:defRPr>
              </a:pPr>
              <a:r>
                <a:rPr sz="825" b="1" dirty="0">
                  <a:solidFill>
                    <a:srgbClr val="D20A32"/>
                  </a:solidFill>
                </a:rPr>
                <a:t>GRENZE</a:t>
              </a:r>
            </a:p>
          </p:txBody>
        </p:sp>
        <p:sp>
          <p:nvSpPr>
            <p:cNvPr id="16" name="left-result">
              <a:extLst>
                <a:ext uri="{FF2B5EF4-FFF2-40B4-BE49-F238E27FC236}">
                  <a16:creationId xmlns:a16="http://schemas.microsoft.com/office/drawing/2014/main" id="{2040694A-C9FB-4616-9192-7EA5BE6D57DE}"/>
                </a:ext>
              </a:extLst>
            </p:cNvPr>
            <p:cNvSpPr/>
            <p:nvPr/>
          </p:nvSpPr>
          <p:spPr>
            <a:xfrm>
              <a:off x="883050" y="4680000"/>
              <a:ext cx="4533900" cy="247650"/>
            </a:xfrm>
            <a:prstGeom prst="rect">
              <a:avLst/>
            </a:prstGeom>
            <a:noFill/>
            <a:ln w="0">
              <a:noFill/>
              <a:prstDash val="solid"/>
            </a:ln>
          </p:spPr>
          <p:txBody>
            <a:bodyPr anchor="ctr"/>
            <a:lstStyle/>
            <a:p>
              <a:pPr algn="ctr">
                <a:defRPr sz="1050" b="1">
                  <a:solidFill>
                    <a:srgbClr val="D20A32"/>
                  </a:solidFill>
                </a:defRPr>
              </a:pPr>
              <a:r>
                <a:rPr sz="1050" b="1">
                  <a:solidFill>
                    <a:srgbClr val="D20A32"/>
                  </a:solidFill>
                </a:rPr>
                <a:t>SATZ GETRENNT  •  ARTIKEL VERMISCHT</a:t>
              </a:r>
            </a:p>
          </p:txBody>
        </p:sp>
        <p:grpSp>
          <p:nvGrpSpPr>
            <p:cNvPr id="42" name="Gruppieren 41">
              <a:extLst>
                <a:ext uri="{FF2B5EF4-FFF2-40B4-BE49-F238E27FC236}">
                  <a16:creationId xmlns:a16="http://schemas.microsoft.com/office/drawing/2014/main" id="{716260B3-37AA-9FCF-B496-734C53380A99}"/>
                </a:ext>
              </a:extLst>
            </p:cNvPr>
            <p:cNvGrpSpPr/>
            <p:nvPr/>
          </p:nvGrpSpPr>
          <p:grpSpPr>
            <a:xfrm>
              <a:off x="791735" y="3989550"/>
              <a:ext cx="576530" cy="276225"/>
              <a:chOff x="885825" y="3992773"/>
              <a:chExt cx="576530" cy="276225"/>
            </a:xfrm>
          </p:grpSpPr>
          <p:cxnSp>
            <p:nvCxnSpPr>
              <p:cNvPr id="34" name="Gerader Verbinder 33">
                <a:extLst>
                  <a:ext uri="{FF2B5EF4-FFF2-40B4-BE49-F238E27FC236}">
                    <a16:creationId xmlns:a16="http://schemas.microsoft.com/office/drawing/2014/main" id="{F6A265CF-999D-6192-7E26-EA4059CBCF28}"/>
                  </a:ext>
                </a:extLst>
              </p:cNvPr>
              <p:cNvCxnSpPr>
                <a:cxnSpLocks/>
              </p:cNvCxnSpPr>
              <p:nvPr/>
            </p:nvCxnSpPr>
            <p:spPr>
              <a:xfrm>
                <a:off x="885825" y="4257675"/>
                <a:ext cx="57653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Gerader Verbinder 35">
                <a:extLst>
                  <a:ext uri="{FF2B5EF4-FFF2-40B4-BE49-F238E27FC236}">
                    <a16:creationId xmlns:a16="http://schemas.microsoft.com/office/drawing/2014/main" id="{0D1853DB-1007-24EE-123D-C24B60B6A194}"/>
                  </a:ext>
                </a:extLst>
              </p:cNvPr>
              <p:cNvCxnSpPr/>
              <p:nvPr/>
            </p:nvCxnSpPr>
            <p:spPr>
              <a:xfrm>
                <a:off x="1462355" y="3992773"/>
                <a:ext cx="0" cy="276225"/>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nvGrpSpPr>
            <p:cNvPr id="43" name="Gruppieren 42">
              <a:extLst>
                <a:ext uri="{FF2B5EF4-FFF2-40B4-BE49-F238E27FC236}">
                  <a16:creationId xmlns:a16="http://schemas.microsoft.com/office/drawing/2014/main" id="{B6542EE7-A9C5-6AD3-B1B4-5F5C027D9909}"/>
                </a:ext>
              </a:extLst>
            </p:cNvPr>
            <p:cNvGrpSpPr/>
            <p:nvPr/>
          </p:nvGrpSpPr>
          <p:grpSpPr>
            <a:xfrm>
              <a:off x="3473340" y="3106154"/>
              <a:ext cx="350628" cy="209912"/>
              <a:chOff x="3453621" y="3019245"/>
              <a:chExt cx="350628" cy="209912"/>
            </a:xfrm>
          </p:grpSpPr>
          <p:cxnSp>
            <p:nvCxnSpPr>
              <p:cNvPr id="38" name="Gerader Verbinder 37">
                <a:extLst>
                  <a:ext uri="{FF2B5EF4-FFF2-40B4-BE49-F238E27FC236}">
                    <a16:creationId xmlns:a16="http://schemas.microsoft.com/office/drawing/2014/main" id="{4112870C-6CBD-0459-5CE9-33FA1C19510B}"/>
                  </a:ext>
                </a:extLst>
              </p:cNvPr>
              <p:cNvCxnSpPr>
                <a:cxnSpLocks/>
              </p:cNvCxnSpPr>
              <p:nvPr/>
            </p:nvCxnSpPr>
            <p:spPr>
              <a:xfrm>
                <a:off x="3453621" y="3229157"/>
                <a:ext cx="350628"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Gerader Verbinder 38">
                <a:extLst>
                  <a:ext uri="{FF2B5EF4-FFF2-40B4-BE49-F238E27FC236}">
                    <a16:creationId xmlns:a16="http://schemas.microsoft.com/office/drawing/2014/main" id="{36131DFE-8347-B919-1E9F-15E874E66CFF}"/>
                  </a:ext>
                </a:extLst>
              </p:cNvPr>
              <p:cNvCxnSpPr>
                <a:cxnSpLocks/>
              </p:cNvCxnSpPr>
              <p:nvPr/>
            </p:nvCxnSpPr>
            <p:spPr>
              <a:xfrm>
                <a:off x="3455235" y="3019245"/>
                <a:ext cx="0" cy="202724"/>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grpSp>
      </p:grpSp>
      <p:grpSp>
        <p:nvGrpSpPr>
          <p:cNvPr id="2" name="Gruppieren 1">
            <a:extLst>
              <a:ext uri="{FF2B5EF4-FFF2-40B4-BE49-F238E27FC236}">
                <a16:creationId xmlns:a16="http://schemas.microsoft.com/office/drawing/2014/main" id="{3102124E-B7F1-FA1F-1909-1922D4F6CF27}"/>
              </a:ext>
            </a:extLst>
          </p:cNvPr>
          <p:cNvGrpSpPr/>
          <p:nvPr/>
        </p:nvGrpSpPr>
        <p:grpSpPr>
          <a:xfrm>
            <a:off x="6300000" y="1800000"/>
            <a:ext cx="5400000" cy="3420000"/>
            <a:chOff x="6300000" y="1800000"/>
            <a:chExt cx="5400000" cy="3420000"/>
          </a:xfrm>
        </p:grpSpPr>
        <p:sp>
          <p:nvSpPr>
            <p:cNvPr id="6" name="right-label">
              <a:extLst>
                <a:ext uri="{FF2B5EF4-FFF2-40B4-BE49-F238E27FC236}">
                  <a16:creationId xmlns:a16="http://schemas.microsoft.com/office/drawing/2014/main" id="{BDBC1CCC-6D90-4093-98EC-043DDC5B637F}"/>
                </a:ext>
              </a:extLst>
            </p:cNvPr>
            <p:cNvSpPr/>
            <p:nvPr/>
          </p:nvSpPr>
          <p:spPr>
            <a:xfrm>
              <a:off x="6300000" y="1800000"/>
              <a:ext cx="3238500" cy="266700"/>
            </a:xfrm>
            <a:prstGeom prst="rect">
              <a:avLst/>
            </a:prstGeom>
            <a:noFill/>
            <a:ln w="0">
              <a:noFill/>
              <a:prstDash val="solid"/>
            </a:ln>
          </p:spPr>
          <p:txBody>
            <a:bodyPr anchor="ctr"/>
            <a:lstStyle/>
            <a:p>
              <a:pPr algn="l">
                <a:defRPr sz="1275" b="1">
                  <a:solidFill>
                    <a:srgbClr val="307F87"/>
                  </a:solidFill>
                </a:defRPr>
              </a:pPr>
              <a:r>
                <a:rPr sz="1275" b="1" dirty="0">
                  <a:solidFill>
                    <a:srgbClr val="307F87"/>
                  </a:solidFill>
                </a:rPr>
                <a:t>STRUKTURORIENTIERT</a:t>
              </a:r>
            </a:p>
          </p:txBody>
        </p:sp>
        <p:sp>
          <p:nvSpPr>
            <p:cNvPr id="7" name="right-meta">
              <a:extLst>
                <a:ext uri="{FF2B5EF4-FFF2-40B4-BE49-F238E27FC236}">
                  <a16:creationId xmlns:a16="http://schemas.microsoft.com/office/drawing/2014/main" id="{0ED064EB-1AE7-4C0E-8859-467CF198E346}"/>
                </a:ext>
              </a:extLst>
            </p:cNvPr>
            <p:cNvSpPr/>
            <p:nvPr/>
          </p:nvSpPr>
          <p:spPr>
            <a:xfrm>
              <a:off x="6300000" y="1980000"/>
              <a:ext cx="4572000" cy="228600"/>
            </a:xfrm>
            <a:prstGeom prst="rect">
              <a:avLst/>
            </a:prstGeom>
            <a:noFill/>
            <a:ln w="0">
              <a:noFill/>
              <a:prstDash val="solid"/>
            </a:ln>
          </p:spPr>
          <p:txBody>
            <a:bodyPr anchor="ctr"/>
            <a:lstStyle/>
            <a:p>
              <a:pPr algn="l">
                <a:defRPr sz="1050" b="0">
                  <a:solidFill>
                    <a:srgbClr val="746B5F"/>
                  </a:solidFill>
                </a:defRPr>
              </a:pPr>
              <a:r>
                <a:rPr sz="1050" b="0" dirty="0">
                  <a:solidFill>
                    <a:srgbClr val="746B5F"/>
                  </a:solidFill>
                </a:rPr>
                <a:t>Artikel </a:t>
              </a:r>
              <a:r>
                <a:rPr sz="1050" b="0" dirty="0" err="1">
                  <a:solidFill>
                    <a:srgbClr val="746B5F"/>
                  </a:solidFill>
                </a:rPr>
                <a:t>zuerst</a:t>
              </a:r>
              <a:r>
                <a:rPr sz="1050" b="0" dirty="0">
                  <a:solidFill>
                    <a:srgbClr val="746B5F"/>
                  </a:solidFill>
                </a:rPr>
                <a:t>, </a:t>
              </a:r>
              <a:r>
                <a:rPr sz="1050" b="0" dirty="0" err="1">
                  <a:solidFill>
                    <a:srgbClr val="746B5F"/>
                  </a:solidFill>
                </a:rPr>
                <a:t>Sätze</a:t>
              </a:r>
              <a:r>
                <a:rPr sz="1050" b="0" dirty="0">
                  <a:solidFill>
                    <a:srgbClr val="746B5F"/>
                  </a:solidFill>
                </a:rPr>
                <a:t> </a:t>
              </a:r>
              <a:r>
                <a:rPr sz="1050" b="0" dirty="0" err="1">
                  <a:solidFill>
                    <a:srgbClr val="746B5F"/>
                  </a:solidFill>
                </a:rPr>
                <a:t>nur</a:t>
              </a:r>
              <a:r>
                <a:rPr sz="1050" b="0" dirty="0">
                  <a:solidFill>
                    <a:srgbClr val="746B5F"/>
                  </a:solidFill>
                </a:rPr>
                <a:t> </a:t>
              </a:r>
              <a:r>
                <a:rPr sz="1050" b="0" dirty="0" err="1">
                  <a:solidFill>
                    <a:srgbClr val="746B5F"/>
                  </a:solidFill>
                </a:rPr>
                <a:t>bei</a:t>
              </a:r>
              <a:r>
                <a:rPr sz="1050" b="0" dirty="0">
                  <a:solidFill>
                    <a:srgbClr val="746B5F"/>
                  </a:solidFill>
                </a:rPr>
                <a:t> </a:t>
              </a:r>
              <a:r>
                <a:rPr sz="1050" b="0" dirty="0" err="1">
                  <a:solidFill>
                    <a:srgbClr val="746B5F"/>
                  </a:solidFill>
                </a:rPr>
                <a:t>Bedarf</a:t>
              </a:r>
              <a:endParaRPr sz="1050" b="0" dirty="0">
                <a:solidFill>
                  <a:srgbClr val="746B5F"/>
                </a:solidFill>
              </a:endParaRPr>
            </a:p>
          </p:txBody>
        </p:sp>
        <p:sp>
          <p:nvSpPr>
            <p:cNvPr id="9" name="right-panel">
              <a:extLst>
                <a:ext uri="{FF2B5EF4-FFF2-40B4-BE49-F238E27FC236}">
                  <a16:creationId xmlns:a16="http://schemas.microsoft.com/office/drawing/2014/main" id="{D3A58C4A-9B3B-4FF2-900F-FC58DEF37FFA}"/>
                </a:ext>
              </a:extLst>
            </p:cNvPr>
            <p:cNvSpPr/>
            <p:nvPr/>
          </p:nvSpPr>
          <p:spPr>
            <a:xfrm>
              <a:off x="6300000" y="2340000"/>
              <a:ext cx="5400000" cy="2880000"/>
            </a:xfrm>
            <a:prstGeom prst="roundRect">
              <a:avLst>
                <a:gd name="adj" fmla="val 4000"/>
              </a:avLst>
            </a:prstGeom>
            <a:solidFill>
              <a:srgbClr val="F8FCFC"/>
            </a:solidFill>
            <a:ln w="9525">
              <a:solidFill>
                <a:srgbClr val="B9D4D6"/>
              </a:solidFill>
              <a:prstDash val="solid"/>
            </a:ln>
          </p:spPr>
          <p:txBody>
            <a:bodyPr/>
            <a:lstStyle/>
            <a:p>
              <a:endParaRPr lang="de-CH"/>
            </a:p>
          </p:txBody>
        </p:sp>
        <p:sp>
          <p:nvSpPr>
            <p:cNvPr id="17" name="article-block">
              <a:extLst>
                <a:ext uri="{FF2B5EF4-FFF2-40B4-BE49-F238E27FC236}">
                  <a16:creationId xmlns:a16="http://schemas.microsoft.com/office/drawing/2014/main" id="{8FC7FE77-AF45-4BCF-8735-F19FD4F129D3}"/>
                </a:ext>
              </a:extLst>
            </p:cNvPr>
            <p:cNvSpPr/>
            <p:nvPr/>
          </p:nvSpPr>
          <p:spPr>
            <a:xfrm>
              <a:off x="6660000" y="2520000"/>
              <a:ext cx="4680000" cy="1080000"/>
            </a:xfrm>
            <a:prstGeom prst="roundRect">
              <a:avLst>
                <a:gd name="adj" fmla="val 7273"/>
              </a:avLst>
            </a:prstGeom>
            <a:solidFill>
              <a:srgbClr val="FFFFFF"/>
            </a:solidFill>
            <a:ln w="12700">
              <a:solidFill>
                <a:srgbClr val="307F87"/>
              </a:solidFill>
              <a:prstDash val="solid"/>
            </a:ln>
          </p:spPr>
          <p:txBody>
            <a:bodyPr/>
            <a:lstStyle/>
            <a:p>
              <a:endParaRPr lang="de-CH"/>
            </a:p>
          </p:txBody>
        </p:sp>
        <p:sp>
          <p:nvSpPr>
            <p:cNvPr id="18" name="article-tag">
              <a:extLst>
                <a:ext uri="{FF2B5EF4-FFF2-40B4-BE49-F238E27FC236}">
                  <a16:creationId xmlns:a16="http://schemas.microsoft.com/office/drawing/2014/main" id="{72724757-D384-4B76-ADE0-C86756F3A085}"/>
                </a:ext>
              </a:extLst>
            </p:cNvPr>
            <p:cNvSpPr/>
            <p:nvPr/>
          </p:nvSpPr>
          <p:spPr>
            <a:xfrm>
              <a:off x="6840000" y="2700000"/>
              <a:ext cx="1524000" cy="209550"/>
            </a:xfrm>
            <a:prstGeom prst="rect">
              <a:avLst/>
            </a:prstGeom>
            <a:noFill/>
            <a:ln w="0">
              <a:noFill/>
              <a:prstDash val="solid"/>
            </a:ln>
          </p:spPr>
          <p:txBody>
            <a:bodyPr anchor="ctr"/>
            <a:lstStyle/>
            <a:p>
              <a:pPr algn="l">
                <a:defRPr sz="900" b="1">
                  <a:solidFill>
                    <a:srgbClr val="307F87"/>
                  </a:solidFill>
                </a:defRPr>
              </a:pPr>
              <a:r>
                <a:rPr sz="900" b="1">
                  <a:solidFill>
                    <a:srgbClr val="307F87"/>
                  </a:solidFill>
                </a:rPr>
                <a:t>ARTIKEL 335b</a:t>
              </a:r>
            </a:p>
          </p:txBody>
        </p:sp>
        <p:sp>
          <p:nvSpPr>
            <p:cNvPr id="19" name="article-text">
              <a:extLst>
                <a:ext uri="{FF2B5EF4-FFF2-40B4-BE49-F238E27FC236}">
                  <a16:creationId xmlns:a16="http://schemas.microsoft.com/office/drawing/2014/main" id="{6DCA5135-CD73-404C-8099-498AFA8AE390}"/>
                </a:ext>
              </a:extLst>
            </p:cNvPr>
            <p:cNvSpPr/>
            <p:nvPr/>
          </p:nvSpPr>
          <p:spPr>
            <a:xfrm>
              <a:off x="6840000" y="2880000"/>
              <a:ext cx="4095750" cy="514350"/>
            </a:xfrm>
            <a:prstGeom prst="rect">
              <a:avLst/>
            </a:prstGeom>
            <a:noFill/>
            <a:ln w="0">
              <a:noFill/>
              <a:prstDash val="solid"/>
            </a:ln>
          </p:spPr>
          <p:txBody>
            <a:bodyPr anchor="ctr"/>
            <a:lstStyle/>
            <a:p>
              <a:pPr algn="l">
                <a:defRPr sz="1350" b="1">
                  <a:solidFill>
                    <a:srgbClr val="304452"/>
                  </a:solidFill>
                </a:defRPr>
              </a:pPr>
              <a:r>
                <a:rPr sz="1350" b="1" dirty="0" err="1">
                  <a:solidFill>
                    <a:srgbClr val="304452"/>
                  </a:solidFill>
                </a:rPr>
                <a:t>Probezeit</a:t>
              </a:r>
              <a:r>
                <a:rPr lang="de-CH" sz="1350" b="1" dirty="0">
                  <a:solidFill>
                    <a:srgbClr val="304452"/>
                  </a:solidFill>
                </a:rPr>
                <a:t> </a:t>
              </a:r>
              <a:r>
                <a:rPr sz="1350" b="1" dirty="0" err="1">
                  <a:solidFill>
                    <a:srgbClr val="304452"/>
                  </a:solidFill>
                </a:rPr>
                <a:t>Absätze</a:t>
              </a:r>
              <a:r>
                <a:rPr sz="1350" b="1" dirty="0">
                  <a:solidFill>
                    <a:srgbClr val="304452"/>
                  </a:solidFill>
                </a:rPr>
                <a:t> </a:t>
              </a:r>
              <a:r>
                <a:rPr sz="1350" b="1" dirty="0" err="1">
                  <a:solidFill>
                    <a:srgbClr val="304452"/>
                  </a:solidFill>
                </a:rPr>
                <a:t>bleiben</a:t>
              </a:r>
              <a:r>
                <a:rPr sz="1350" b="1" dirty="0">
                  <a:solidFill>
                    <a:srgbClr val="304452"/>
                  </a:solidFill>
                </a:rPr>
                <a:t> </a:t>
              </a:r>
              <a:r>
                <a:rPr sz="1350" b="1" dirty="0" err="1">
                  <a:solidFill>
                    <a:srgbClr val="304452"/>
                  </a:solidFill>
                </a:rPr>
                <a:t>gemeinsam</a:t>
              </a:r>
              <a:r>
                <a:rPr sz="1350" b="1" dirty="0">
                  <a:solidFill>
                    <a:srgbClr val="304452"/>
                  </a:solidFill>
                </a:rPr>
                <a:t>, </a:t>
              </a:r>
              <a:r>
                <a:rPr sz="1350" b="1" dirty="0" err="1">
                  <a:solidFill>
                    <a:srgbClr val="304452"/>
                  </a:solidFill>
                </a:rPr>
                <a:t>solange</a:t>
              </a:r>
              <a:r>
                <a:rPr sz="1350" b="1" dirty="0">
                  <a:solidFill>
                    <a:srgbClr val="304452"/>
                  </a:solidFill>
                </a:rPr>
                <a:t> das Budget </a:t>
              </a:r>
              <a:r>
                <a:rPr sz="1350" b="1" dirty="0" err="1">
                  <a:solidFill>
                    <a:srgbClr val="304452"/>
                  </a:solidFill>
                </a:rPr>
                <a:t>reicht</a:t>
              </a:r>
              <a:r>
                <a:rPr sz="1350" b="1" dirty="0">
                  <a:solidFill>
                    <a:srgbClr val="304452"/>
                  </a:solidFill>
                </a:rPr>
                <a:t>.</a:t>
              </a:r>
            </a:p>
          </p:txBody>
        </p:sp>
        <p:sp>
          <p:nvSpPr>
            <p:cNvPr id="23" name="result-chip">
              <a:extLst>
                <a:ext uri="{FF2B5EF4-FFF2-40B4-BE49-F238E27FC236}">
                  <a16:creationId xmlns:a16="http://schemas.microsoft.com/office/drawing/2014/main" id="{7BBF8A2F-B0CE-4AF3-A58D-9B9260B96072}"/>
                </a:ext>
              </a:extLst>
            </p:cNvPr>
            <p:cNvSpPr/>
            <p:nvPr/>
          </p:nvSpPr>
          <p:spPr>
            <a:xfrm>
              <a:off x="7380000" y="4320000"/>
              <a:ext cx="3238500" cy="457200"/>
            </a:xfrm>
            <a:prstGeom prst="roundRect">
              <a:avLst>
                <a:gd name="adj" fmla="val 16667"/>
              </a:avLst>
            </a:prstGeom>
            <a:solidFill>
              <a:srgbClr val="EAF4F4"/>
            </a:solidFill>
            <a:ln w="12700">
              <a:solidFill>
                <a:srgbClr val="307F87"/>
              </a:solidFill>
              <a:prstDash val="solid"/>
            </a:ln>
          </p:spPr>
          <p:txBody>
            <a:bodyPr anchor="ctr"/>
            <a:lstStyle/>
            <a:p>
              <a:pPr algn="ctr"/>
              <a:r>
                <a:rPr lang="de-CH" sz="1400" b="1" dirty="0">
                  <a:solidFill>
                    <a:srgbClr val="307F87"/>
                  </a:solidFill>
                </a:rPr>
                <a:t>BEDEUTUNG BLEIBT ZUSAMMEN</a:t>
              </a:r>
            </a:p>
          </p:txBody>
        </p:sp>
        <p:cxnSp>
          <p:nvCxnSpPr>
            <p:cNvPr id="29" name="Gerade Verbindung mit Pfeil 28">
              <a:extLst>
                <a:ext uri="{FF2B5EF4-FFF2-40B4-BE49-F238E27FC236}">
                  <a16:creationId xmlns:a16="http://schemas.microsoft.com/office/drawing/2014/main" id="{D8CAD5DB-1C3A-7209-B0FF-1D186D705450}"/>
                </a:ext>
              </a:extLst>
            </p:cNvPr>
            <p:cNvCxnSpPr>
              <a:stCxn id="23" idx="0"/>
              <a:endCxn id="17" idx="2"/>
            </p:cNvCxnSpPr>
            <p:nvPr/>
          </p:nvCxnSpPr>
          <p:spPr>
            <a:xfrm flipV="1">
              <a:off x="8999250" y="3600000"/>
              <a:ext cx="750" cy="720000"/>
            </a:xfrm>
            <a:prstGeom prst="straightConnector1">
              <a:avLst/>
            </a:prstGeom>
            <a:solidFill>
              <a:srgbClr val="EAF4F4"/>
            </a:solidFill>
            <a:ln w="12700">
              <a:solidFill>
                <a:srgbClr val="307F87"/>
              </a:solidFill>
              <a:prstDash val="solid"/>
            </a:ln>
          </p:spPr>
        </p:cxnSp>
        <p:sp>
          <p:nvSpPr>
            <p:cNvPr id="21" name="oversize-note">
              <a:extLst>
                <a:ext uri="{FF2B5EF4-FFF2-40B4-BE49-F238E27FC236}">
                  <a16:creationId xmlns:a16="http://schemas.microsoft.com/office/drawing/2014/main" id="{6557A38C-4E89-4CDC-8237-FCB0C661E68A}"/>
                </a:ext>
              </a:extLst>
            </p:cNvPr>
            <p:cNvSpPr/>
            <p:nvPr/>
          </p:nvSpPr>
          <p:spPr>
            <a:xfrm>
              <a:off x="7125750" y="3826650"/>
              <a:ext cx="4095750" cy="266700"/>
            </a:xfrm>
            <a:prstGeom prst="rect">
              <a:avLst/>
            </a:prstGeom>
            <a:solidFill>
              <a:srgbClr val="F8FCFC"/>
            </a:solidFill>
            <a:ln w="0">
              <a:noFill/>
              <a:prstDash val="solid"/>
            </a:ln>
          </p:spPr>
          <p:txBody>
            <a:bodyPr anchor="ctr"/>
            <a:lstStyle/>
            <a:p>
              <a:pPr algn="ctr">
                <a:defRPr sz="1200" b="0">
                  <a:solidFill>
                    <a:srgbClr val="304452"/>
                  </a:solidFill>
                </a:defRPr>
              </a:pPr>
              <a:r>
                <a:rPr sz="1200" b="0" dirty="0">
                  <a:solidFill>
                    <a:srgbClr val="304452"/>
                  </a:solidFill>
                </a:rPr>
                <a:t>Nur </a:t>
              </a:r>
              <a:r>
                <a:rPr sz="1200" b="0" dirty="0" err="1">
                  <a:solidFill>
                    <a:srgbClr val="304452"/>
                  </a:solidFill>
                </a:rPr>
                <a:t>bei</a:t>
              </a:r>
              <a:r>
                <a:rPr sz="1200" b="0" dirty="0">
                  <a:solidFill>
                    <a:srgbClr val="304452"/>
                  </a:solidFill>
                </a:rPr>
                <a:t> </a:t>
              </a:r>
              <a:r>
                <a:rPr sz="1200" b="0" dirty="0" err="1">
                  <a:solidFill>
                    <a:srgbClr val="304452"/>
                  </a:solidFill>
                </a:rPr>
                <a:t>Überlänge</a:t>
              </a:r>
              <a:r>
                <a:rPr sz="1200" b="0" dirty="0">
                  <a:solidFill>
                    <a:srgbClr val="304452"/>
                  </a:solidFill>
                </a:rPr>
                <a:t>: an </a:t>
              </a:r>
              <a:r>
                <a:rPr sz="1200" b="0" dirty="0" err="1">
                  <a:solidFill>
                    <a:srgbClr val="304452"/>
                  </a:solidFill>
                </a:rPr>
                <a:t>Satzgrenzen</a:t>
              </a:r>
              <a:r>
                <a:rPr sz="1200" b="0" dirty="0">
                  <a:solidFill>
                    <a:srgbClr val="304452"/>
                  </a:solidFill>
                </a:rPr>
                <a:t> </a:t>
              </a:r>
              <a:r>
                <a:rPr sz="1200" b="0" dirty="0" err="1">
                  <a:solidFill>
                    <a:srgbClr val="304452"/>
                  </a:solidFill>
                </a:rPr>
                <a:t>trennen</a:t>
              </a:r>
              <a:endParaRPr sz="1200" b="0" dirty="0">
                <a:solidFill>
                  <a:srgbClr val="304452"/>
                </a:solidFill>
              </a:endParaRPr>
            </a:p>
          </p:txBody>
        </p:sp>
      </p:grpSp>
    </p:spTree>
    <p:extLst>
      <p:ext uri="{BB962C8B-B14F-4D97-AF65-F5344CB8AC3E}">
        <p14:creationId xmlns:p14="http://schemas.microsoft.com/office/powerpoint/2010/main" val="2372915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 name="Titel 1"/>
          <p:cNvSpPr>
            <a:spLocks noGrp="1"/>
          </p:cNvSpPr>
          <p:nvPr>
            <p:ph type="title"/>
          </p:nvPr>
        </p:nvSpPr>
        <p:spPr>
          <a:xfrm>
            <a:off x="482461" y="346633"/>
            <a:ext cx="11230114" cy="767605"/>
          </a:xfrm>
        </p:spPr>
        <p:txBody>
          <a:bodyPr/>
          <a:lstStyle/>
          <a:p>
            <a:r>
              <a:rPr lang="de-CH" sz="3600" dirty="0"/>
              <a:t>Reranking sortiert Kandidaten – es findet keine neuen</a:t>
            </a:r>
          </a:p>
        </p:txBody>
      </p:sp>
      <p:sp>
        <p:nvSpPr>
          <p:cNvPr id="19" name="slide-subtitle">
            <a:extLst>
              <a:ext uri="{FF2B5EF4-FFF2-40B4-BE49-F238E27FC236}">
                <a16:creationId xmlns:a16="http://schemas.microsoft.com/office/drawing/2014/main" id="{2B01E572-7675-4F03-90C2-090B6A8A6308}"/>
              </a:ext>
            </a:extLst>
          </p:cNvPr>
          <p:cNvSpPr/>
          <p:nvPr/>
        </p:nvSpPr>
        <p:spPr>
          <a:xfrm>
            <a:off x="540000" y="1376382"/>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dirty="0">
                <a:solidFill>
                  <a:srgbClr val="81725E"/>
                </a:solidFill>
                <a:latin typeface="Arial"/>
                <a:ea typeface="Arial"/>
                <a:cs typeface="Arial"/>
              </a:rPr>
              <a:t>Retrieval </a:t>
            </a:r>
            <a:r>
              <a:rPr sz="1650" b="0" dirty="0" err="1">
                <a:solidFill>
                  <a:srgbClr val="81725E"/>
                </a:solidFill>
                <a:latin typeface="Arial"/>
                <a:ea typeface="Arial"/>
                <a:cs typeface="Arial"/>
              </a:rPr>
              <a:t>maximiert</a:t>
            </a:r>
            <a:r>
              <a:rPr sz="1650" b="0" dirty="0">
                <a:solidFill>
                  <a:srgbClr val="81725E"/>
                </a:solidFill>
                <a:latin typeface="Arial"/>
                <a:ea typeface="Arial"/>
                <a:cs typeface="Arial"/>
              </a:rPr>
              <a:t> Recall; der Cross-Encoder </a:t>
            </a:r>
            <a:r>
              <a:rPr sz="1650" b="0" dirty="0" err="1">
                <a:solidFill>
                  <a:srgbClr val="81725E"/>
                </a:solidFill>
                <a:latin typeface="Arial"/>
                <a:ea typeface="Arial"/>
                <a:cs typeface="Arial"/>
              </a:rPr>
              <a:t>verbessert</a:t>
            </a:r>
            <a:r>
              <a:rPr sz="1650" b="0" dirty="0">
                <a:solidFill>
                  <a:srgbClr val="81725E"/>
                </a:solidFill>
                <a:latin typeface="Arial"/>
                <a:ea typeface="Arial"/>
                <a:cs typeface="Arial"/>
              </a:rPr>
              <a:t> </a:t>
            </a:r>
            <a:r>
              <a:rPr sz="1650" b="0" dirty="0" err="1">
                <a:solidFill>
                  <a:srgbClr val="81725E"/>
                </a:solidFill>
                <a:latin typeface="Arial"/>
                <a:ea typeface="Arial"/>
                <a:cs typeface="Arial"/>
              </a:rPr>
              <a:t>danach</a:t>
            </a:r>
            <a:r>
              <a:rPr sz="1650" b="0" dirty="0">
                <a:solidFill>
                  <a:srgbClr val="81725E"/>
                </a:solidFill>
                <a:latin typeface="Arial"/>
                <a:ea typeface="Arial"/>
                <a:cs typeface="Arial"/>
              </a:rPr>
              <a:t> die </a:t>
            </a:r>
            <a:r>
              <a:rPr sz="1650" b="0" dirty="0" err="1">
                <a:solidFill>
                  <a:srgbClr val="81725E"/>
                </a:solidFill>
                <a:latin typeface="Arial"/>
                <a:ea typeface="Arial"/>
                <a:cs typeface="Arial"/>
              </a:rPr>
              <a:t>Reihenfolge</a:t>
            </a:r>
            <a:r>
              <a:rPr sz="1650" b="0" dirty="0">
                <a:solidFill>
                  <a:srgbClr val="81725E"/>
                </a:solidFill>
                <a:latin typeface="Arial"/>
                <a:ea typeface="Arial"/>
                <a:cs typeface="Arial"/>
              </a:rPr>
              <a:t>.</a:t>
            </a:r>
          </a:p>
        </p:txBody>
      </p:sp>
      <p:sp>
        <p:nvSpPr>
          <p:cNvPr id="20" name="page-number">
            <a:extLst>
              <a:ext uri="{FF2B5EF4-FFF2-40B4-BE49-F238E27FC236}">
                <a16:creationId xmlns:a16="http://schemas.microsoft.com/office/drawing/2014/main" id="{19B956D9-D2CE-4318-AEFE-02BD0C4DF8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15</a:t>
            </a:r>
          </a:p>
        </p:txBody>
      </p:sp>
      <p:sp>
        <p:nvSpPr>
          <p:cNvPr id="21" name="date">
            <a:extLst>
              <a:ext uri="{FF2B5EF4-FFF2-40B4-BE49-F238E27FC236}">
                <a16:creationId xmlns:a16="http://schemas.microsoft.com/office/drawing/2014/main" id="{B5BD695A-B8E6-41C4-B3C6-82F5FB48DFC9}"/>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22" name="query-label">
            <a:extLst>
              <a:ext uri="{FF2B5EF4-FFF2-40B4-BE49-F238E27FC236}">
                <a16:creationId xmlns:a16="http://schemas.microsoft.com/office/drawing/2014/main" id="{4AFCFE1B-4097-4CCE-A39F-BF4C47DB3070}"/>
              </a:ext>
            </a:extLst>
          </p:cNvPr>
          <p:cNvSpPr/>
          <p:nvPr/>
        </p:nvSpPr>
        <p:spPr>
          <a:xfrm>
            <a:off x="719999" y="1972649"/>
            <a:ext cx="2159999"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FRAGE</a:t>
            </a:r>
          </a:p>
        </p:txBody>
      </p:sp>
      <p:sp>
        <p:nvSpPr>
          <p:cNvPr id="23" name="query">
            <a:extLst>
              <a:ext uri="{FF2B5EF4-FFF2-40B4-BE49-F238E27FC236}">
                <a16:creationId xmlns:a16="http://schemas.microsoft.com/office/drawing/2014/main" id="{AE50C16A-ECFF-44E7-BB0B-AB5DB1516240}"/>
              </a:ext>
            </a:extLst>
          </p:cNvPr>
          <p:cNvSpPr/>
          <p:nvPr/>
        </p:nvSpPr>
        <p:spPr>
          <a:xfrm>
            <a:off x="720000" y="2695635"/>
            <a:ext cx="2160000" cy="720000"/>
          </a:xfrm>
          <a:prstGeom prst="roundRect">
            <a:avLst>
              <a:gd name="adj" fmla="val 19512"/>
            </a:avLst>
          </a:prstGeom>
          <a:solidFill>
            <a:srgbClr val="2D3F4B"/>
          </a:solidFill>
          <a:ln w="0">
            <a:solidFill>
              <a:srgbClr val="2D3F4B"/>
            </a:solidFill>
            <a:prstDash val="solid"/>
          </a:ln>
        </p:spPr>
        <p:txBody>
          <a:bodyPr anchor="ctr"/>
          <a:lstStyle/>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Wie lange dauert</a:t>
            </a:r>
          </a:p>
          <a:p>
            <a:pPr algn="ctr">
              <a:defRPr sz="1575" b="1">
                <a:solidFill>
                  <a:srgbClr val="FFFFFF"/>
                </a:solidFill>
                <a:latin typeface="Arial"/>
                <a:ea typeface="Arial"/>
                <a:cs typeface="Arial"/>
              </a:defRPr>
            </a:pPr>
            <a:r>
              <a:rPr lang="de-DE" sz="1600" b="1" dirty="0">
                <a:solidFill>
                  <a:srgbClr val="FFFFFF"/>
                </a:solidFill>
                <a:latin typeface="Arial"/>
                <a:ea typeface="Arial"/>
                <a:cs typeface="Arial"/>
              </a:rPr>
              <a:t>die Probezeit?</a:t>
            </a:r>
          </a:p>
        </p:txBody>
      </p:sp>
      <p:grpSp>
        <p:nvGrpSpPr>
          <p:cNvPr id="14" name="Gruppieren 13">
            <a:extLst>
              <a:ext uri="{FF2B5EF4-FFF2-40B4-BE49-F238E27FC236}">
                <a16:creationId xmlns:a16="http://schemas.microsoft.com/office/drawing/2014/main" id="{242317EE-D408-D3CB-6B28-8B812C29DCA0}"/>
              </a:ext>
            </a:extLst>
          </p:cNvPr>
          <p:cNvGrpSpPr/>
          <p:nvPr/>
        </p:nvGrpSpPr>
        <p:grpSpPr>
          <a:xfrm>
            <a:off x="2957273" y="1972649"/>
            <a:ext cx="3442102" cy="2225964"/>
            <a:chOff x="2957273" y="1972649"/>
            <a:chExt cx="3442102" cy="2225964"/>
          </a:xfrm>
        </p:grpSpPr>
        <p:sp>
          <p:nvSpPr>
            <p:cNvPr id="25" name="q-to-vector">
              <a:extLst>
                <a:ext uri="{FF2B5EF4-FFF2-40B4-BE49-F238E27FC236}">
                  <a16:creationId xmlns:a16="http://schemas.microsoft.com/office/drawing/2014/main" id="{A8585295-75E2-46EA-AC32-126696555F4B}"/>
                </a:ext>
              </a:extLst>
            </p:cNvPr>
            <p:cNvSpPr/>
            <p:nvPr/>
          </p:nvSpPr>
          <p:spPr>
            <a:xfrm>
              <a:off x="2957273" y="3055635"/>
              <a:ext cx="717499" cy="0"/>
            </a:xfrm>
            <a:prstGeom prst="line">
              <a:avLst/>
            </a:prstGeom>
            <a:ln w="23813">
              <a:solidFill>
                <a:srgbClr val="2D3F4B"/>
              </a:solidFill>
              <a:prstDash val="solid"/>
            </a:ln>
          </p:spPr>
          <p:txBody>
            <a:bodyPr/>
            <a:lstStyle/>
            <a:p>
              <a:endParaRPr lang="de-CH"/>
            </a:p>
          </p:txBody>
        </p:sp>
        <p:sp>
          <p:nvSpPr>
            <p:cNvPr id="26" name="vector-label">
              <a:extLst>
                <a:ext uri="{FF2B5EF4-FFF2-40B4-BE49-F238E27FC236}">
                  <a16:creationId xmlns:a16="http://schemas.microsoft.com/office/drawing/2014/main" id="{833F2030-CFCF-4AA3-B1A1-95AB15245F12}"/>
                </a:ext>
              </a:extLst>
            </p:cNvPr>
            <p:cNvSpPr/>
            <p:nvPr/>
          </p:nvSpPr>
          <p:spPr>
            <a:xfrm>
              <a:off x="3780000" y="1972649"/>
              <a:ext cx="2619374" cy="266700"/>
            </a:xfrm>
            <a:prstGeom prst="rect">
              <a:avLst/>
            </a:prstGeom>
            <a:noFill/>
            <a:ln w="0">
              <a:noFill/>
              <a:prstDash val="solid"/>
            </a:ln>
          </p:spPr>
          <p:txBody>
            <a:bodyPr anchor="t"/>
            <a:lstStyle/>
            <a:p>
              <a:pPr algn="l">
                <a:defRPr sz="1200" b="1">
                  <a:solidFill>
                    <a:srgbClr val="C60C30"/>
                  </a:solidFill>
                  <a:latin typeface="Arial"/>
                  <a:ea typeface="Arial"/>
                  <a:cs typeface="Arial"/>
                </a:defRPr>
              </a:pPr>
              <a:r>
                <a:rPr sz="1200" b="1" dirty="0">
                  <a:solidFill>
                    <a:srgbClr val="C60C30"/>
                  </a:solidFill>
                  <a:latin typeface="Arial"/>
                  <a:ea typeface="Arial"/>
                  <a:cs typeface="Arial"/>
                </a:rPr>
                <a:t>VECTOR TOP-10</a:t>
              </a:r>
            </a:p>
          </p:txBody>
        </p:sp>
        <p:grpSp>
          <p:nvGrpSpPr>
            <p:cNvPr id="3" name="Gruppieren 2">
              <a:extLst>
                <a:ext uri="{FF2B5EF4-FFF2-40B4-BE49-F238E27FC236}">
                  <a16:creationId xmlns:a16="http://schemas.microsoft.com/office/drawing/2014/main" id="{1FB2134F-2371-6C77-AF8C-D1C3FCBA96EC}"/>
                </a:ext>
              </a:extLst>
            </p:cNvPr>
            <p:cNvGrpSpPr/>
            <p:nvPr/>
          </p:nvGrpSpPr>
          <p:grpSpPr>
            <a:xfrm>
              <a:off x="3780000" y="2340000"/>
              <a:ext cx="2619375" cy="409575"/>
              <a:chOff x="3780000" y="2340000"/>
              <a:chExt cx="2619375" cy="409575"/>
            </a:xfrm>
          </p:grpSpPr>
          <p:sp>
            <p:nvSpPr>
              <p:cNvPr id="27" name="vector-row-0">
                <a:extLst>
                  <a:ext uri="{FF2B5EF4-FFF2-40B4-BE49-F238E27FC236}">
                    <a16:creationId xmlns:a16="http://schemas.microsoft.com/office/drawing/2014/main" id="{75716B28-0E31-46C2-A3C5-56EECC949C2B}"/>
                  </a:ext>
                </a:extLst>
              </p:cNvPr>
              <p:cNvSpPr/>
              <p:nvPr/>
            </p:nvSpPr>
            <p:spPr>
              <a:xfrm>
                <a:off x="3780000" y="234000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28" name="vector-rank-0">
                <a:extLst>
                  <a:ext uri="{FF2B5EF4-FFF2-40B4-BE49-F238E27FC236}">
                    <a16:creationId xmlns:a16="http://schemas.microsoft.com/office/drawing/2014/main" id="{654918F6-C139-4EB0-AC59-BC162E669011}"/>
                  </a:ext>
                </a:extLst>
              </p:cNvPr>
              <p:cNvSpPr/>
              <p:nvPr/>
            </p:nvSpPr>
            <p:spPr>
              <a:xfrm>
                <a:off x="3960000" y="242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1</a:t>
                </a:r>
              </a:p>
            </p:txBody>
          </p:sp>
          <p:sp>
            <p:nvSpPr>
              <p:cNvPr id="29" name="vector-name-0">
                <a:extLst>
                  <a:ext uri="{FF2B5EF4-FFF2-40B4-BE49-F238E27FC236}">
                    <a16:creationId xmlns:a16="http://schemas.microsoft.com/office/drawing/2014/main" id="{F3196F71-6F62-4598-AA72-8D5CA3E92A3C}"/>
                  </a:ext>
                </a:extLst>
              </p:cNvPr>
              <p:cNvSpPr/>
              <p:nvPr/>
            </p:nvSpPr>
            <p:spPr>
              <a:xfrm>
                <a:off x="4320000" y="242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Kündigungsfrist</a:t>
                </a:r>
                <a:endParaRPr sz="1275" b="0" dirty="0">
                  <a:solidFill>
                    <a:srgbClr val="2D3F4B"/>
                  </a:solidFill>
                  <a:latin typeface="Arial"/>
                  <a:ea typeface="Arial"/>
                  <a:cs typeface="Arial"/>
                </a:endParaRPr>
              </a:p>
            </p:txBody>
          </p:sp>
          <p:sp>
            <p:nvSpPr>
              <p:cNvPr id="30" name="vector-score-0">
                <a:extLst>
                  <a:ext uri="{FF2B5EF4-FFF2-40B4-BE49-F238E27FC236}">
                    <a16:creationId xmlns:a16="http://schemas.microsoft.com/office/drawing/2014/main" id="{F3A744E8-F2AE-463C-86F7-923304CFAC8C}"/>
                  </a:ext>
                </a:extLst>
              </p:cNvPr>
              <p:cNvSpPr/>
              <p:nvPr/>
            </p:nvSpPr>
            <p:spPr>
              <a:xfrm>
                <a:off x="576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0.84</a:t>
                </a:r>
              </a:p>
            </p:txBody>
          </p:sp>
        </p:grpSp>
        <p:grpSp>
          <p:nvGrpSpPr>
            <p:cNvPr id="4" name="Gruppieren 3">
              <a:extLst>
                <a:ext uri="{FF2B5EF4-FFF2-40B4-BE49-F238E27FC236}">
                  <a16:creationId xmlns:a16="http://schemas.microsoft.com/office/drawing/2014/main" id="{141B6B71-8143-2108-063C-D8853593EB6D}"/>
                </a:ext>
              </a:extLst>
            </p:cNvPr>
            <p:cNvGrpSpPr/>
            <p:nvPr/>
          </p:nvGrpSpPr>
          <p:grpSpPr>
            <a:xfrm>
              <a:off x="3780000" y="2823013"/>
              <a:ext cx="2619375" cy="409575"/>
              <a:chOff x="3780000" y="2880000"/>
              <a:chExt cx="2619375" cy="409575"/>
            </a:xfrm>
          </p:grpSpPr>
          <p:sp>
            <p:nvSpPr>
              <p:cNvPr id="31" name="vector-row-1">
                <a:extLst>
                  <a:ext uri="{FF2B5EF4-FFF2-40B4-BE49-F238E27FC236}">
                    <a16:creationId xmlns:a16="http://schemas.microsoft.com/office/drawing/2014/main" id="{F450F738-BD5A-48AD-9A41-9FF11D6A9169}"/>
                  </a:ext>
                </a:extLst>
              </p:cNvPr>
              <p:cNvSpPr/>
              <p:nvPr/>
            </p:nvSpPr>
            <p:spPr>
              <a:xfrm>
                <a:off x="3780000" y="2880000"/>
                <a:ext cx="2619375" cy="409575"/>
              </a:xfrm>
              <a:prstGeom prst="roundRect">
                <a:avLst>
                  <a:gd name="adj" fmla="val 20930"/>
                </a:avLst>
              </a:prstGeom>
              <a:solidFill>
                <a:srgbClr val="F7E5E9"/>
              </a:solidFill>
              <a:ln w="11430">
                <a:solidFill>
                  <a:srgbClr val="C3BBB2"/>
                </a:solidFill>
                <a:prstDash val="solid"/>
              </a:ln>
            </p:spPr>
            <p:txBody>
              <a:bodyPr/>
              <a:lstStyle/>
              <a:p>
                <a:endParaRPr lang="de-CH"/>
              </a:p>
            </p:txBody>
          </p:sp>
          <p:sp>
            <p:nvSpPr>
              <p:cNvPr id="32" name="vector-rank-1">
                <a:extLst>
                  <a:ext uri="{FF2B5EF4-FFF2-40B4-BE49-F238E27FC236}">
                    <a16:creationId xmlns:a16="http://schemas.microsoft.com/office/drawing/2014/main" id="{405DD948-7785-4115-96DB-DCC22FFBE9BE}"/>
                  </a:ext>
                </a:extLst>
              </p:cNvPr>
              <p:cNvSpPr/>
              <p:nvPr/>
            </p:nvSpPr>
            <p:spPr>
              <a:xfrm>
                <a:off x="3960000" y="296096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2</a:t>
                </a:r>
              </a:p>
            </p:txBody>
          </p:sp>
          <p:sp>
            <p:nvSpPr>
              <p:cNvPr id="33" name="vector-name-1">
                <a:extLst>
                  <a:ext uri="{FF2B5EF4-FFF2-40B4-BE49-F238E27FC236}">
                    <a16:creationId xmlns:a16="http://schemas.microsoft.com/office/drawing/2014/main" id="{9DE8906E-4A07-4260-A284-5DB16CA3FBF6}"/>
                  </a:ext>
                </a:extLst>
              </p:cNvPr>
              <p:cNvSpPr/>
              <p:nvPr/>
            </p:nvSpPr>
            <p:spPr>
              <a:xfrm>
                <a:off x="4320000" y="296096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a:solidFill>
                      <a:srgbClr val="2D3F4B"/>
                    </a:solidFill>
                    <a:latin typeface="Arial"/>
                    <a:ea typeface="Arial"/>
                    <a:cs typeface="Arial"/>
                  </a:rPr>
                  <a:t>Art. 335b</a:t>
                </a:r>
              </a:p>
            </p:txBody>
          </p:sp>
          <p:sp>
            <p:nvSpPr>
              <p:cNvPr id="34" name="vector-score-1">
                <a:extLst>
                  <a:ext uri="{FF2B5EF4-FFF2-40B4-BE49-F238E27FC236}">
                    <a16:creationId xmlns:a16="http://schemas.microsoft.com/office/drawing/2014/main" id="{F4638CD7-6C1D-455B-B790-F22EB2EA7D61}"/>
                  </a:ext>
                </a:extLst>
              </p:cNvPr>
              <p:cNvSpPr/>
              <p:nvPr/>
            </p:nvSpPr>
            <p:spPr>
              <a:xfrm>
                <a:off x="576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0.81</a:t>
                </a:r>
              </a:p>
            </p:txBody>
          </p:sp>
        </p:grpSp>
        <p:grpSp>
          <p:nvGrpSpPr>
            <p:cNvPr id="5" name="Gruppieren 4">
              <a:extLst>
                <a:ext uri="{FF2B5EF4-FFF2-40B4-BE49-F238E27FC236}">
                  <a16:creationId xmlns:a16="http://schemas.microsoft.com/office/drawing/2014/main" id="{E1AEB315-AE4C-75B6-BD5A-A4C2BA26F968}"/>
                </a:ext>
              </a:extLst>
            </p:cNvPr>
            <p:cNvGrpSpPr/>
            <p:nvPr/>
          </p:nvGrpSpPr>
          <p:grpSpPr>
            <a:xfrm>
              <a:off x="3780000" y="3306026"/>
              <a:ext cx="2619375" cy="409575"/>
              <a:chOff x="3780000" y="3335760"/>
              <a:chExt cx="2619375" cy="409575"/>
            </a:xfrm>
          </p:grpSpPr>
          <p:sp>
            <p:nvSpPr>
              <p:cNvPr id="35" name="vector-row-2">
                <a:extLst>
                  <a:ext uri="{FF2B5EF4-FFF2-40B4-BE49-F238E27FC236}">
                    <a16:creationId xmlns:a16="http://schemas.microsoft.com/office/drawing/2014/main" id="{A0FCE584-190B-47B3-8C38-C35AD8DA58CA}"/>
                  </a:ext>
                </a:extLst>
              </p:cNvPr>
              <p:cNvSpPr/>
              <p:nvPr/>
            </p:nvSpPr>
            <p:spPr>
              <a:xfrm>
                <a:off x="3780000" y="3335760"/>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36" name="vector-rank-2">
                <a:extLst>
                  <a:ext uri="{FF2B5EF4-FFF2-40B4-BE49-F238E27FC236}">
                    <a16:creationId xmlns:a16="http://schemas.microsoft.com/office/drawing/2014/main" id="{C7C56342-9020-4C47-9143-770E86CB0F73}"/>
                  </a:ext>
                </a:extLst>
              </p:cNvPr>
              <p:cNvSpPr/>
              <p:nvPr/>
            </p:nvSpPr>
            <p:spPr>
              <a:xfrm>
                <a:off x="3960000" y="3416722"/>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a:solidFill>
                      <a:srgbClr val="C60C30"/>
                    </a:solidFill>
                    <a:latin typeface="Arial"/>
                    <a:ea typeface="Arial"/>
                    <a:cs typeface="Arial"/>
                  </a:rPr>
                  <a:t>3</a:t>
                </a:r>
              </a:p>
            </p:txBody>
          </p:sp>
          <p:sp>
            <p:nvSpPr>
              <p:cNvPr id="37" name="vector-name-2">
                <a:extLst>
                  <a:ext uri="{FF2B5EF4-FFF2-40B4-BE49-F238E27FC236}">
                    <a16:creationId xmlns:a16="http://schemas.microsoft.com/office/drawing/2014/main" id="{60E08D03-97CE-4C4C-970D-0FC691C98872}"/>
                  </a:ext>
                </a:extLst>
              </p:cNvPr>
              <p:cNvSpPr/>
              <p:nvPr/>
            </p:nvSpPr>
            <p:spPr>
              <a:xfrm>
                <a:off x="4320000" y="3416722"/>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Lehrvertrag</a:t>
                </a:r>
              </a:p>
            </p:txBody>
          </p:sp>
          <p:sp>
            <p:nvSpPr>
              <p:cNvPr id="38" name="vector-score-2">
                <a:extLst>
                  <a:ext uri="{FF2B5EF4-FFF2-40B4-BE49-F238E27FC236}">
                    <a16:creationId xmlns:a16="http://schemas.microsoft.com/office/drawing/2014/main" id="{159FC6BC-E198-49F2-8A3B-807B9FC1403E}"/>
                  </a:ext>
                </a:extLst>
              </p:cNvPr>
              <p:cNvSpPr/>
              <p:nvPr/>
            </p:nvSpPr>
            <p:spPr>
              <a:xfrm>
                <a:off x="5760000" y="341672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dirty="0">
                    <a:solidFill>
                      <a:srgbClr val="81725E"/>
                    </a:solidFill>
                    <a:latin typeface="Arial"/>
                    <a:ea typeface="Arial"/>
                    <a:cs typeface="Arial"/>
                  </a:rPr>
                  <a:t>0.79</a:t>
                </a:r>
              </a:p>
            </p:txBody>
          </p:sp>
        </p:grpSp>
        <p:grpSp>
          <p:nvGrpSpPr>
            <p:cNvPr id="6" name="Gruppieren 5">
              <a:extLst>
                <a:ext uri="{FF2B5EF4-FFF2-40B4-BE49-F238E27FC236}">
                  <a16:creationId xmlns:a16="http://schemas.microsoft.com/office/drawing/2014/main" id="{5E76CAC2-D564-2846-6F19-8A1C030627FF}"/>
                </a:ext>
              </a:extLst>
            </p:cNvPr>
            <p:cNvGrpSpPr/>
            <p:nvPr/>
          </p:nvGrpSpPr>
          <p:grpSpPr>
            <a:xfrm>
              <a:off x="3780000" y="3789038"/>
              <a:ext cx="2619375" cy="409575"/>
              <a:chOff x="3780000" y="3789038"/>
              <a:chExt cx="2619375" cy="409575"/>
            </a:xfrm>
          </p:grpSpPr>
          <p:sp>
            <p:nvSpPr>
              <p:cNvPr id="39" name="vector-row-3">
                <a:extLst>
                  <a:ext uri="{FF2B5EF4-FFF2-40B4-BE49-F238E27FC236}">
                    <a16:creationId xmlns:a16="http://schemas.microsoft.com/office/drawing/2014/main" id="{A778CD48-FBE7-45F1-B1D9-E5C11B2F386B}"/>
                  </a:ext>
                </a:extLst>
              </p:cNvPr>
              <p:cNvSpPr/>
              <p:nvPr/>
            </p:nvSpPr>
            <p:spPr>
              <a:xfrm>
                <a:off x="3780000" y="3789038"/>
                <a:ext cx="261937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40" name="vector-rank-3">
                <a:extLst>
                  <a:ext uri="{FF2B5EF4-FFF2-40B4-BE49-F238E27FC236}">
                    <a16:creationId xmlns:a16="http://schemas.microsoft.com/office/drawing/2014/main" id="{9C594733-8778-4900-9A18-283E4C7EEFAF}"/>
                  </a:ext>
                </a:extLst>
              </p:cNvPr>
              <p:cNvSpPr/>
              <p:nvPr/>
            </p:nvSpPr>
            <p:spPr>
              <a:xfrm>
                <a:off x="3960000" y="3870000"/>
                <a:ext cx="285750" cy="247650"/>
              </a:xfrm>
              <a:prstGeom prst="rect">
                <a:avLst/>
              </a:prstGeom>
              <a:noFill/>
              <a:ln w="0">
                <a:noFill/>
                <a:prstDash val="solid"/>
              </a:ln>
            </p:spPr>
            <p:txBody>
              <a:bodyPr anchor="t"/>
              <a:lstStyle/>
              <a:p>
                <a:pPr algn="ctr">
                  <a:defRPr sz="1275" b="1">
                    <a:solidFill>
                      <a:srgbClr val="C60C30"/>
                    </a:solidFill>
                    <a:latin typeface="Arial"/>
                    <a:ea typeface="Arial"/>
                    <a:cs typeface="Arial"/>
                  </a:defRPr>
                </a:pPr>
                <a:r>
                  <a:rPr sz="1275" b="1" dirty="0">
                    <a:solidFill>
                      <a:srgbClr val="C60C30"/>
                    </a:solidFill>
                    <a:latin typeface="Arial"/>
                    <a:ea typeface="Arial"/>
                    <a:cs typeface="Arial"/>
                  </a:rPr>
                  <a:t>…</a:t>
                </a:r>
              </a:p>
            </p:txBody>
          </p:sp>
          <p:sp>
            <p:nvSpPr>
              <p:cNvPr id="41" name="vector-name-3">
                <a:extLst>
                  <a:ext uri="{FF2B5EF4-FFF2-40B4-BE49-F238E27FC236}">
                    <a16:creationId xmlns:a16="http://schemas.microsoft.com/office/drawing/2014/main" id="{E3C360D6-EA6A-4DE2-B03B-146AFD991054}"/>
                  </a:ext>
                </a:extLst>
              </p:cNvPr>
              <p:cNvSpPr/>
              <p:nvPr/>
            </p:nvSpPr>
            <p:spPr>
              <a:xfrm>
                <a:off x="4320000" y="3870000"/>
                <a:ext cx="147637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weitere</a:t>
                </a:r>
                <a:r>
                  <a:rPr sz="1275" b="0" dirty="0">
                    <a:solidFill>
                      <a:srgbClr val="2D3F4B"/>
                    </a:solidFill>
                    <a:latin typeface="Arial"/>
                    <a:ea typeface="Arial"/>
                    <a:cs typeface="Arial"/>
                  </a:rPr>
                  <a:t> …</a:t>
                </a:r>
              </a:p>
            </p:txBody>
          </p:sp>
          <p:sp>
            <p:nvSpPr>
              <p:cNvPr id="42" name="vector-score-3">
                <a:extLst>
                  <a:ext uri="{FF2B5EF4-FFF2-40B4-BE49-F238E27FC236}">
                    <a16:creationId xmlns:a16="http://schemas.microsoft.com/office/drawing/2014/main" id="{EF44EE5C-685F-4580-B31D-49F249227434}"/>
                  </a:ext>
                </a:extLst>
              </p:cNvPr>
              <p:cNvSpPr/>
              <p:nvPr/>
            </p:nvSpPr>
            <p:spPr>
              <a:xfrm>
                <a:off x="5760000" y="3870000"/>
                <a:ext cx="552450" cy="247650"/>
              </a:xfrm>
              <a:prstGeom prst="rect">
                <a:avLst/>
              </a:prstGeom>
              <a:noFill/>
              <a:ln w="0">
                <a:noFill/>
                <a:prstDash val="solid"/>
              </a:ln>
            </p:spPr>
            <p:txBody>
              <a:bodyPr anchor="t"/>
              <a:lstStyle/>
              <a:p>
                <a:endParaRPr/>
              </a:p>
            </p:txBody>
          </p:sp>
        </p:grpSp>
      </p:grpSp>
      <p:grpSp>
        <p:nvGrpSpPr>
          <p:cNvPr id="13" name="Gruppieren 12">
            <a:extLst>
              <a:ext uri="{FF2B5EF4-FFF2-40B4-BE49-F238E27FC236}">
                <a16:creationId xmlns:a16="http://schemas.microsoft.com/office/drawing/2014/main" id="{8EA97AE7-F84C-C527-3D6D-5B12409EFD94}"/>
              </a:ext>
            </a:extLst>
          </p:cNvPr>
          <p:cNvGrpSpPr/>
          <p:nvPr/>
        </p:nvGrpSpPr>
        <p:grpSpPr>
          <a:xfrm>
            <a:off x="8100000" y="1972649"/>
            <a:ext cx="3434625" cy="2225964"/>
            <a:chOff x="8100000" y="1972649"/>
            <a:chExt cx="3434625" cy="2225964"/>
          </a:xfrm>
        </p:grpSpPr>
        <p:sp>
          <p:nvSpPr>
            <p:cNvPr id="47" name="rerank-to-top">
              <a:extLst>
                <a:ext uri="{FF2B5EF4-FFF2-40B4-BE49-F238E27FC236}">
                  <a16:creationId xmlns:a16="http://schemas.microsoft.com/office/drawing/2014/main" id="{67DC0688-D565-480D-8784-C0ED88D57A86}"/>
                </a:ext>
              </a:extLst>
            </p:cNvPr>
            <p:cNvSpPr/>
            <p:nvPr/>
          </p:nvSpPr>
          <p:spPr>
            <a:xfrm>
              <a:off x="8100000" y="3060000"/>
              <a:ext cx="666750" cy="0"/>
            </a:xfrm>
            <a:prstGeom prst="line">
              <a:avLst/>
            </a:prstGeom>
            <a:ln w="23813">
              <a:solidFill>
                <a:srgbClr val="C9960F"/>
              </a:solidFill>
              <a:prstDash val="solid"/>
            </a:ln>
          </p:spPr>
          <p:txBody>
            <a:bodyPr/>
            <a:lstStyle/>
            <a:p>
              <a:endParaRPr lang="de-CH"/>
            </a:p>
          </p:txBody>
        </p:sp>
        <p:sp>
          <p:nvSpPr>
            <p:cNvPr id="48" name="top-label">
              <a:extLst>
                <a:ext uri="{FF2B5EF4-FFF2-40B4-BE49-F238E27FC236}">
                  <a16:creationId xmlns:a16="http://schemas.microsoft.com/office/drawing/2014/main" id="{813A9E33-65B7-4EAC-9D0B-F4BDF01804F1}"/>
                </a:ext>
              </a:extLst>
            </p:cNvPr>
            <p:cNvSpPr/>
            <p:nvPr/>
          </p:nvSpPr>
          <p:spPr>
            <a:xfrm>
              <a:off x="8820000" y="1972649"/>
              <a:ext cx="2714624" cy="266700"/>
            </a:xfrm>
            <a:prstGeom prst="rect">
              <a:avLst/>
            </a:prstGeom>
            <a:noFill/>
            <a:ln w="0">
              <a:noFill/>
              <a:prstDash val="solid"/>
            </a:ln>
          </p:spPr>
          <p:txBody>
            <a:bodyPr anchor="t"/>
            <a:lstStyle/>
            <a:p>
              <a:pPr algn="l">
                <a:defRPr sz="1200" b="1">
                  <a:solidFill>
                    <a:srgbClr val="C9960F"/>
                  </a:solidFill>
                  <a:latin typeface="Arial"/>
                  <a:ea typeface="Arial"/>
                  <a:cs typeface="Arial"/>
                </a:defRPr>
              </a:pPr>
              <a:r>
                <a:rPr sz="1200" b="1" dirty="0">
                  <a:solidFill>
                    <a:srgbClr val="C9960F"/>
                  </a:solidFill>
                  <a:latin typeface="Arial"/>
                  <a:ea typeface="Arial"/>
                  <a:cs typeface="Arial"/>
                </a:rPr>
                <a:t>TOP-4 IN DEN PROMPT</a:t>
              </a:r>
            </a:p>
          </p:txBody>
        </p:sp>
        <p:grpSp>
          <p:nvGrpSpPr>
            <p:cNvPr id="7" name="Gruppieren 6">
              <a:extLst>
                <a:ext uri="{FF2B5EF4-FFF2-40B4-BE49-F238E27FC236}">
                  <a16:creationId xmlns:a16="http://schemas.microsoft.com/office/drawing/2014/main" id="{96B33F7E-F940-E975-D647-C60CAC87F958}"/>
                </a:ext>
              </a:extLst>
            </p:cNvPr>
            <p:cNvGrpSpPr/>
            <p:nvPr/>
          </p:nvGrpSpPr>
          <p:grpSpPr>
            <a:xfrm>
              <a:off x="8820000" y="2340000"/>
              <a:ext cx="2714625" cy="409575"/>
              <a:chOff x="8820000" y="2340000"/>
              <a:chExt cx="2714625" cy="409575"/>
            </a:xfrm>
          </p:grpSpPr>
          <p:sp>
            <p:nvSpPr>
              <p:cNvPr id="49" name="rerank-row-0">
                <a:extLst>
                  <a:ext uri="{FF2B5EF4-FFF2-40B4-BE49-F238E27FC236}">
                    <a16:creationId xmlns:a16="http://schemas.microsoft.com/office/drawing/2014/main" id="{DF31896F-4FA2-4656-9746-FB94EE4BD9AF}"/>
                  </a:ext>
                </a:extLst>
              </p:cNvPr>
              <p:cNvSpPr/>
              <p:nvPr/>
            </p:nvSpPr>
            <p:spPr>
              <a:xfrm>
                <a:off x="8820000" y="2340000"/>
                <a:ext cx="2714625" cy="409575"/>
              </a:xfrm>
              <a:prstGeom prst="roundRect">
                <a:avLst>
                  <a:gd name="adj" fmla="val 20930"/>
                </a:avLst>
              </a:prstGeom>
              <a:solidFill>
                <a:srgbClr val="F7EFD8"/>
              </a:solidFill>
              <a:ln w="11430">
                <a:solidFill>
                  <a:srgbClr val="C3BBB2"/>
                </a:solidFill>
                <a:prstDash val="solid"/>
              </a:ln>
            </p:spPr>
            <p:txBody>
              <a:bodyPr/>
              <a:lstStyle/>
              <a:p>
                <a:endParaRPr lang="de-CH"/>
              </a:p>
            </p:txBody>
          </p:sp>
          <p:sp>
            <p:nvSpPr>
              <p:cNvPr id="50" name="rerank-rank-0">
                <a:extLst>
                  <a:ext uri="{FF2B5EF4-FFF2-40B4-BE49-F238E27FC236}">
                    <a16:creationId xmlns:a16="http://schemas.microsoft.com/office/drawing/2014/main" id="{DFCABBF0-2045-4F3A-B9B2-ED7551345170}"/>
                  </a:ext>
                </a:extLst>
              </p:cNvPr>
              <p:cNvSpPr/>
              <p:nvPr/>
            </p:nvSpPr>
            <p:spPr>
              <a:xfrm>
                <a:off x="8820000" y="242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1</a:t>
                </a:r>
              </a:p>
            </p:txBody>
          </p:sp>
          <p:sp>
            <p:nvSpPr>
              <p:cNvPr id="51" name="rerank-name-0">
                <a:extLst>
                  <a:ext uri="{FF2B5EF4-FFF2-40B4-BE49-F238E27FC236}">
                    <a16:creationId xmlns:a16="http://schemas.microsoft.com/office/drawing/2014/main" id="{2BA02E16-8658-4071-B16E-1B50ACE8422F}"/>
                  </a:ext>
                </a:extLst>
              </p:cNvPr>
              <p:cNvSpPr/>
              <p:nvPr/>
            </p:nvSpPr>
            <p:spPr>
              <a:xfrm>
                <a:off x="9180000" y="242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Art. 335b Probezeit</a:t>
                </a:r>
              </a:p>
            </p:txBody>
          </p:sp>
          <p:sp>
            <p:nvSpPr>
              <p:cNvPr id="52" name="rerank-score-0">
                <a:extLst>
                  <a:ext uri="{FF2B5EF4-FFF2-40B4-BE49-F238E27FC236}">
                    <a16:creationId xmlns:a16="http://schemas.microsoft.com/office/drawing/2014/main" id="{07B20C6D-CD27-4077-AAA0-B89EDA59B42B}"/>
                  </a:ext>
                </a:extLst>
              </p:cNvPr>
              <p:cNvSpPr/>
              <p:nvPr/>
            </p:nvSpPr>
            <p:spPr>
              <a:xfrm>
                <a:off x="10800000" y="242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0.96</a:t>
                </a:r>
              </a:p>
            </p:txBody>
          </p:sp>
        </p:grpSp>
        <p:grpSp>
          <p:nvGrpSpPr>
            <p:cNvPr id="8" name="Gruppieren 7">
              <a:extLst>
                <a:ext uri="{FF2B5EF4-FFF2-40B4-BE49-F238E27FC236}">
                  <a16:creationId xmlns:a16="http://schemas.microsoft.com/office/drawing/2014/main" id="{08255C8E-C511-B08E-3F5A-42E18623C2FF}"/>
                </a:ext>
              </a:extLst>
            </p:cNvPr>
            <p:cNvGrpSpPr/>
            <p:nvPr/>
          </p:nvGrpSpPr>
          <p:grpSpPr>
            <a:xfrm>
              <a:off x="8820000" y="2823013"/>
              <a:ext cx="2714625" cy="409575"/>
              <a:chOff x="8820000" y="2880000"/>
              <a:chExt cx="2714625" cy="409575"/>
            </a:xfrm>
          </p:grpSpPr>
          <p:sp>
            <p:nvSpPr>
              <p:cNvPr id="53" name="rerank-row-1">
                <a:extLst>
                  <a:ext uri="{FF2B5EF4-FFF2-40B4-BE49-F238E27FC236}">
                    <a16:creationId xmlns:a16="http://schemas.microsoft.com/office/drawing/2014/main" id="{43762E83-CA22-40AA-A126-60AE96C1F805}"/>
                  </a:ext>
                </a:extLst>
              </p:cNvPr>
              <p:cNvSpPr/>
              <p:nvPr/>
            </p:nvSpPr>
            <p:spPr>
              <a:xfrm>
                <a:off x="8820000" y="2880000"/>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4" name="rerank-rank-1">
                <a:extLst>
                  <a:ext uri="{FF2B5EF4-FFF2-40B4-BE49-F238E27FC236}">
                    <a16:creationId xmlns:a16="http://schemas.microsoft.com/office/drawing/2014/main" id="{DF13DAEF-B936-47A8-B55C-9728E9BFB1DE}"/>
                  </a:ext>
                </a:extLst>
              </p:cNvPr>
              <p:cNvSpPr/>
              <p:nvPr/>
            </p:nvSpPr>
            <p:spPr>
              <a:xfrm>
                <a:off x="8820000" y="2960962"/>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2</a:t>
                </a:r>
              </a:p>
            </p:txBody>
          </p:sp>
          <p:sp>
            <p:nvSpPr>
              <p:cNvPr id="55" name="rerank-name-1">
                <a:extLst>
                  <a:ext uri="{FF2B5EF4-FFF2-40B4-BE49-F238E27FC236}">
                    <a16:creationId xmlns:a16="http://schemas.microsoft.com/office/drawing/2014/main" id="{0E124607-AF63-4AE3-8B3E-0D48D011DDE9}"/>
                  </a:ext>
                </a:extLst>
              </p:cNvPr>
              <p:cNvSpPr/>
              <p:nvPr/>
            </p:nvSpPr>
            <p:spPr>
              <a:xfrm>
                <a:off x="9180000" y="2960962"/>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dirty="0" err="1">
                    <a:solidFill>
                      <a:srgbClr val="2D3F4B"/>
                    </a:solidFill>
                    <a:latin typeface="Arial"/>
                    <a:ea typeface="Arial"/>
                    <a:cs typeface="Arial"/>
                  </a:rPr>
                  <a:t>Lehrvertrag</a:t>
                </a:r>
                <a:endParaRPr sz="1275" b="0" dirty="0">
                  <a:solidFill>
                    <a:srgbClr val="2D3F4B"/>
                  </a:solidFill>
                  <a:latin typeface="Arial"/>
                  <a:ea typeface="Arial"/>
                  <a:cs typeface="Arial"/>
                </a:endParaRPr>
              </a:p>
            </p:txBody>
          </p:sp>
          <p:sp>
            <p:nvSpPr>
              <p:cNvPr id="56" name="rerank-score-1">
                <a:extLst>
                  <a:ext uri="{FF2B5EF4-FFF2-40B4-BE49-F238E27FC236}">
                    <a16:creationId xmlns:a16="http://schemas.microsoft.com/office/drawing/2014/main" id="{1E43AC17-5C2E-4C76-B5E9-D9550B9C083A}"/>
                  </a:ext>
                </a:extLst>
              </p:cNvPr>
              <p:cNvSpPr/>
              <p:nvPr/>
            </p:nvSpPr>
            <p:spPr>
              <a:xfrm>
                <a:off x="10800000" y="2960962"/>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0.82</a:t>
                </a:r>
              </a:p>
            </p:txBody>
          </p:sp>
        </p:grpSp>
        <p:grpSp>
          <p:nvGrpSpPr>
            <p:cNvPr id="9" name="Gruppieren 8">
              <a:extLst>
                <a:ext uri="{FF2B5EF4-FFF2-40B4-BE49-F238E27FC236}">
                  <a16:creationId xmlns:a16="http://schemas.microsoft.com/office/drawing/2014/main" id="{2DF2A836-AA57-844A-1BF3-271CE5CE71EE}"/>
                </a:ext>
              </a:extLst>
            </p:cNvPr>
            <p:cNvGrpSpPr/>
            <p:nvPr/>
          </p:nvGrpSpPr>
          <p:grpSpPr>
            <a:xfrm>
              <a:off x="8820000" y="3306026"/>
              <a:ext cx="2714625" cy="409575"/>
              <a:chOff x="8820000" y="3249038"/>
              <a:chExt cx="2714625" cy="409575"/>
            </a:xfrm>
          </p:grpSpPr>
          <p:sp>
            <p:nvSpPr>
              <p:cNvPr id="57" name="rerank-row-2">
                <a:extLst>
                  <a:ext uri="{FF2B5EF4-FFF2-40B4-BE49-F238E27FC236}">
                    <a16:creationId xmlns:a16="http://schemas.microsoft.com/office/drawing/2014/main" id="{C609C74F-E2A9-4EBA-9133-D289232429B9}"/>
                  </a:ext>
                </a:extLst>
              </p:cNvPr>
              <p:cNvSpPr/>
              <p:nvPr/>
            </p:nvSpPr>
            <p:spPr>
              <a:xfrm>
                <a:off x="8820000" y="324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58" name="rerank-rank-2">
                <a:extLst>
                  <a:ext uri="{FF2B5EF4-FFF2-40B4-BE49-F238E27FC236}">
                    <a16:creationId xmlns:a16="http://schemas.microsoft.com/office/drawing/2014/main" id="{B2048EF6-43E1-4F84-8B1D-B9C6C3B4B8EB}"/>
                  </a:ext>
                </a:extLst>
              </p:cNvPr>
              <p:cNvSpPr/>
              <p:nvPr/>
            </p:nvSpPr>
            <p:spPr>
              <a:xfrm>
                <a:off x="8820000" y="333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3</a:t>
                </a:r>
              </a:p>
            </p:txBody>
          </p:sp>
          <p:sp>
            <p:nvSpPr>
              <p:cNvPr id="59" name="rerank-name-2">
                <a:extLst>
                  <a:ext uri="{FF2B5EF4-FFF2-40B4-BE49-F238E27FC236}">
                    <a16:creationId xmlns:a16="http://schemas.microsoft.com/office/drawing/2014/main" id="{C5A9B5BF-424D-4451-A4FC-EAB803240BB3}"/>
                  </a:ext>
                </a:extLst>
              </p:cNvPr>
              <p:cNvSpPr/>
              <p:nvPr/>
            </p:nvSpPr>
            <p:spPr>
              <a:xfrm>
                <a:off x="9180000" y="333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Kündigungsfrist</a:t>
                </a:r>
              </a:p>
            </p:txBody>
          </p:sp>
          <p:sp>
            <p:nvSpPr>
              <p:cNvPr id="60" name="rerank-score-2">
                <a:extLst>
                  <a:ext uri="{FF2B5EF4-FFF2-40B4-BE49-F238E27FC236}">
                    <a16:creationId xmlns:a16="http://schemas.microsoft.com/office/drawing/2014/main" id="{1BFF1FB4-10F1-4284-BC0F-1F8424661F9A}"/>
                  </a:ext>
                </a:extLst>
              </p:cNvPr>
              <p:cNvSpPr/>
              <p:nvPr/>
            </p:nvSpPr>
            <p:spPr>
              <a:xfrm>
                <a:off x="10800000" y="3330000"/>
                <a:ext cx="552450" cy="247650"/>
              </a:xfrm>
              <a:prstGeom prst="rect">
                <a:avLst/>
              </a:prstGeom>
              <a:noFill/>
              <a:ln w="0">
                <a:noFill/>
                <a:prstDash val="solid"/>
              </a:ln>
            </p:spPr>
            <p:txBody>
              <a:bodyPr anchor="t"/>
              <a:lstStyle/>
              <a:p>
                <a:pPr algn="r">
                  <a:defRPr sz="975" b="0">
                    <a:solidFill>
                      <a:srgbClr val="81725E"/>
                    </a:solidFill>
                    <a:latin typeface="Arial"/>
                    <a:ea typeface="Arial"/>
                    <a:cs typeface="Arial"/>
                  </a:defRPr>
                </a:pPr>
                <a:r>
                  <a:rPr sz="975" b="0">
                    <a:solidFill>
                      <a:srgbClr val="81725E"/>
                    </a:solidFill>
                    <a:latin typeface="Arial"/>
                    <a:ea typeface="Arial"/>
                    <a:cs typeface="Arial"/>
                  </a:rPr>
                  <a:t>0.45</a:t>
                </a:r>
              </a:p>
            </p:txBody>
          </p:sp>
        </p:grpSp>
        <p:grpSp>
          <p:nvGrpSpPr>
            <p:cNvPr id="10" name="Gruppieren 9">
              <a:extLst>
                <a:ext uri="{FF2B5EF4-FFF2-40B4-BE49-F238E27FC236}">
                  <a16:creationId xmlns:a16="http://schemas.microsoft.com/office/drawing/2014/main" id="{483BA689-0BEA-AB9C-9943-A97B94BA0EB8}"/>
                </a:ext>
              </a:extLst>
            </p:cNvPr>
            <p:cNvGrpSpPr/>
            <p:nvPr/>
          </p:nvGrpSpPr>
          <p:grpSpPr>
            <a:xfrm>
              <a:off x="8820000" y="3789038"/>
              <a:ext cx="2714625" cy="409575"/>
              <a:chOff x="8820000" y="3789038"/>
              <a:chExt cx="2714625" cy="409575"/>
            </a:xfrm>
          </p:grpSpPr>
          <p:sp>
            <p:nvSpPr>
              <p:cNvPr id="61" name="rerank-row-3">
                <a:extLst>
                  <a:ext uri="{FF2B5EF4-FFF2-40B4-BE49-F238E27FC236}">
                    <a16:creationId xmlns:a16="http://schemas.microsoft.com/office/drawing/2014/main" id="{DB51D4B7-0DE8-4353-94F1-A0704F80CAF9}"/>
                  </a:ext>
                </a:extLst>
              </p:cNvPr>
              <p:cNvSpPr/>
              <p:nvPr/>
            </p:nvSpPr>
            <p:spPr>
              <a:xfrm>
                <a:off x="8820000" y="3789038"/>
                <a:ext cx="2714625" cy="409575"/>
              </a:xfrm>
              <a:prstGeom prst="roundRect">
                <a:avLst>
                  <a:gd name="adj" fmla="val 20930"/>
                </a:avLst>
              </a:prstGeom>
              <a:solidFill>
                <a:srgbClr val="EAE8E5"/>
              </a:solidFill>
              <a:ln w="11430">
                <a:solidFill>
                  <a:srgbClr val="C3BBB2"/>
                </a:solidFill>
                <a:prstDash val="solid"/>
              </a:ln>
            </p:spPr>
            <p:txBody>
              <a:bodyPr/>
              <a:lstStyle/>
              <a:p>
                <a:endParaRPr lang="de-CH"/>
              </a:p>
            </p:txBody>
          </p:sp>
          <p:sp>
            <p:nvSpPr>
              <p:cNvPr id="62" name="rerank-rank-3">
                <a:extLst>
                  <a:ext uri="{FF2B5EF4-FFF2-40B4-BE49-F238E27FC236}">
                    <a16:creationId xmlns:a16="http://schemas.microsoft.com/office/drawing/2014/main" id="{DF7AA6E4-3D92-493B-A90F-691F724EF82C}"/>
                  </a:ext>
                </a:extLst>
              </p:cNvPr>
              <p:cNvSpPr/>
              <p:nvPr/>
            </p:nvSpPr>
            <p:spPr>
              <a:xfrm>
                <a:off x="8820000" y="3870000"/>
                <a:ext cx="285750" cy="247650"/>
              </a:xfrm>
              <a:prstGeom prst="rect">
                <a:avLst/>
              </a:prstGeom>
              <a:noFill/>
              <a:ln w="0">
                <a:noFill/>
                <a:prstDash val="solid"/>
              </a:ln>
            </p:spPr>
            <p:txBody>
              <a:bodyPr anchor="t"/>
              <a:lstStyle/>
              <a:p>
                <a:pPr algn="ctr">
                  <a:defRPr sz="1275" b="1">
                    <a:solidFill>
                      <a:srgbClr val="C9960F"/>
                    </a:solidFill>
                    <a:latin typeface="Arial"/>
                    <a:ea typeface="Arial"/>
                    <a:cs typeface="Arial"/>
                  </a:defRPr>
                </a:pPr>
                <a:r>
                  <a:rPr sz="1275" b="1">
                    <a:solidFill>
                      <a:srgbClr val="C9960F"/>
                    </a:solidFill>
                    <a:latin typeface="Arial"/>
                    <a:ea typeface="Arial"/>
                    <a:cs typeface="Arial"/>
                  </a:rPr>
                  <a:t>4</a:t>
                </a:r>
              </a:p>
            </p:txBody>
          </p:sp>
          <p:sp>
            <p:nvSpPr>
              <p:cNvPr id="63" name="rerank-name-3">
                <a:extLst>
                  <a:ext uri="{FF2B5EF4-FFF2-40B4-BE49-F238E27FC236}">
                    <a16:creationId xmlns:a16="http://schemas.microsoft.com/office/drawing/2014/main" id="{41564A1E-97CC-48E7-B752-3CEA14E8AE26}"/>
                  </a:ext>
                </a:extLst>
              </p:cNvPr>
              <p:cNvSpPr/>
              <p:nvPr/>
            </p:nvSpPr>
            <p:spPr>
              <a:xfrm>
                <a:off x="9180000" y="3870000"/>
                <a:ext cx="1571625" cy="247650"/>
              </a:xfrm>
              <a:prstGeom prst="rect">
                <a:avLst/>
              </a:prstGeom>
              <a:noFill/>
              <a:ln w="0">
                <a:noFill/>
                <a:prstDash val="solid"/>
              </a:ln>
            </p:spPr>
            <p:txBody>
              <a:bodyPr anchor="t"/>
              <a:lstStyle/>
              <a:p>
                <a:pPr algn="l">
                  <a:defRPr sz="1275" b="0">
                    <a:solidFill>
                      <a:srgbClr val="2D3F4B"/>
                    </a:solidFill>
                    <a:latin typeface="Arial"/>
                    <a:ea typeface="Arial"/>
                    <a:cs typeface="Arial"/>
                  </a:defRPr>
                </a:pPr>
                <a:r>
                  <a:rPr sz="1275" b="0">
                    <a:solidFill>
                      <a:srgbClr val="2D3F4B"/>
                    </a:solidFill>
                    <a:latin typeface="Arial"/>
                    <a:ea typeface="Arial"/>
                    <a:cs typeface="Arial"/>
                  </a:rPr>
                  <a:t>…</a:t>
                </a:r>
              </a:p>
            </p:txBody>
          </p:sp>
          <p:sp>
            <p:nvSpPr>
              <p:cNvPr id="64" name="rerank-score-3">
                <a:extLst>
                  <a:ext uri="{FF2B5EF4-FFF2-40B4-BE49-F238E27FC236}">
                    <a16:creationId xmlns:a16="http://schemas.microsoft.com/office/drawing/2014/main" id="{349D844A-3120-448C-ABBC-A6E3DF22B64D}"/>
                  </a:ext>
                </a:extLst>
              </p:cNvPr>
              <p:cNvSpPr/>
              <p:nvPr/>
            </p:nvSpPr>
            <p:spPr>
              <a:xfrm>
                <a:off x="10800000" y="3870000"/>
                <a:ext cx="552450" cy="247650"/>
              </a:xfrm>
              <a:prstGeom prst="rect">
                <a:avLst/>
              </a:prstGeom>
              <a:noFill/>
              <a:ln w="0">
                <a:noFill/>
                <a:prstDash val="solid"/>
              </a:ln>
            </p:spPr>
            <p:txBody>
              <a:bodyPr anchor="t"/>
              <a:lstStyle/>
              <a:p>
                <a:endParaRPr/>
              </a:p>
            </p:txBody>
          </p:sp>
        </p:grpSp>
      </p:grpSp>
      <p:sp>
        <p:nvSpPr>
          <p:cNvPr id="65" name="rerank-limit">
            <a:extLst>
              <a:ext uri="{FF2B5EF4-FFF2-40B4-BE49-F238E27FC236}">
                <a16:creationId xmlns:a16="http://schemas.microsoft.com/office/drawing/2014/main" id="{ED2A38C4-D755-44FC-9EA4-1E947591FFC9}"/>
              </a:ext>
            </a:extLst>
          </p:cNvPr>
          <p:cNvSpPr/>
          <p:nvPr/>
        </p:nvSpPr>
        <p:spPr>
          <a:xfrm>
            <a:off x="2159999" y="5040000"/>
            <a:ext cx="8591625" cy="720000"/>
          </a:xfrm>
          <a:prstGeom prst="roundRect">
            <a:avLst>
              <a:gd name="adj" fmla="val 20000"/>
            </a:avLst>
          </a:prstGeom>
          <a:solidFill>
            <a:srgbClr val="2D3F4B"/>
          </a:solidFill>
          <a:ln w="0">
            <a:solidFill>
              <a:srgbClr val="2D3F4B"/>
            </a:solidFill>
            <a:prstDash val="solid"/>
          </a:ln>
        </p:spPr>
        <p:txBody>
          <a:bodyPr anchor="ctr"/>
          <a:lstStyle/>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Recall bleibt die Obergrenze:</a:t>
            </a:r>
          </a:p>
          <a:p>
            <a:pPr algn="ctr">
              <a:defRPr sz="1350" b="1">
                <a:solidFill>
                  <a:srgbClr val="FFFFFF"/>
                </a:solidFill>
                <a:latin typeface="Arial"/>
                <a:ea typeface="Arial"/>
                <a:cs typeface="Arial"/>
              </a:defRPr>
            </a:pPr>
            <a:r>
              <a:rPr lang="de-DE" sz="1600" b="1" dirty="0">
                <a:solidFill>
                  <a:srgbClr val="FFFFFF"/>
                </a:solidFill>
                <a:latin typeface="Arial"/>
                <a:ea typeface="Arial"/>
                <a:cs typeface="Arial"/>
              </a:rPr>
              <a:t>Fehlt der richtige Chunk in den Top-10, kann </a:t>
            </a:r>
            <a:r>
              <a:rPr lang="de-DE" sz="1600" b="1" dirty="0" err="1">
                <a:solidFill>
                  <a:srgbClr val="FFFFFF"/>
                </a:solidFill>
                <a:latin typeface="Arial"/>
                <a:ea typeface="Arial"/>
                <a:cs typeface="Arial"/>
              </a:rPr>
              <a:t>Reranking</a:t>
            </a:r>
            <a:r>
              <a:rPr lang="de-DE" sz="1600" b="1" dirty="0">
                <a:solidFill>
                  <a:srgbClr val="FFFFFF"/>
                </a:solidFill>
                <a:latin typeface="Arial"/>
                <a:ea typeface="Arial"/>
                <a:cs typeface="Arial"/>
              </a:rPr>
              <a:t> ihn nicht zurückholen.</a:t>
            </a:r>
          </a:p>
        </p:txBody>
      </p:sp>
      <p:grpSp>
        <p:nvGrpSpPr>
          <p:cNvPr id="12" name="Gruppieren 11">
            <a:extLst>
              <a:ext uri="{FF2B5EF4-FFF2-40B4-BE49-F238E27FC236}">
                <a16:creationId xmlns:a16="http://schemas.microsoft.com/office/drawing/2014/main" id="{2D1C9AE5-D91A-3624-4EC6-07E34C6E828D}"/>
              </a:ext>
            </a:extLst>
          </p:cNvPr>
          <p:cNvGrpSpPr/>
          <p:nvPr/>
        </p:nvGrpSpPr>
        <p:grpSpPr>
          <a:xfrm>
            <a:off x="6480000" y="1972649"/>
            <a:ext cx="2052201" cy="1913551"/>
            <a:chOff x="6480000" y="1972649"/>
            <a:chExt cx="2052201" cy="1913551"/>
          </a:xfrm>
        </p:grpSpPr>
        <p:sp>
          <p:nvSpPr>
            <p:cNvPr id="43" name="vector-to-rerank">
              <a:extLst>
                <a:ext uri="{FF2B5EF4-FFF2-40B4-BE49-F238E27FC236}">
                  <a16:creationId xmlns:a16="http://schemas.microsoft.com/office/drawing/2014/main" id="{8361C6C7-88AF-4C6F-9197-06086CD53D46}"/>
                </a:ext>
              </a:extLst>
            </p:cNvPr>
            <p:cNvSpPr/>
            <p:nvPr/>
          </p:nvSpPr>
          <p:spPr>
            <a:xfrm>
              <a:off x="6480000" y="3060000"/>
              <a:ext cx="762000" cy="0"/>
            </a:xfrm>
            <a:prstGeom prst="line">
              <a:avLst/>
            </a:prstGeom>
            <a:ln w="23813">
              <a:solidFill>
                <a:srgbClr val="43858A"/>
              </a:solidFill>
              <a:prstDash val="solid"/>
            </a:ln>
          </p:spPr>
          <p:txBody>
            <a:bodyPr/>
            <a:lstStyle/>
            <a:p>
              <a:endParaRPr lang="de-CH"/>
            </a:p>
          </p:txBody>
        </p:sp>
        <p:sp>
          <p:nvSpPr>
            <p:cNvPr id="45" name="cross-label">
              <a:extLst>
                <a:ext uri="{FF2B5EF4-FFF2-40B4-BE49-F238E27FC236}">
                  <a16:creationId xmlns:a16="http://schemas.microsoft.com/office/drawing/2014/main" id="{7DBDADD9-B218-4FA9-8FE1-859807B1D72A}"/>
                </a:ext>
              </a:extLst>
            </p:cNvPr>
            <p:cNvSpPr/>
            <p:nvPr/>
          </p:nvSpPr>
          <p:spPr>
            <a:xfrm>
              <a:off x="6884163" y="1972649"/>
              <a:ext cx="1571625" cy="228600"/>
            </a:xfrm>
            <a:prstGeom prst="rect">
              <a:avLst/>
            </a:prstGeom>
            <a:noFill/>
            <a:ln w="0">
              <a:noFill/>
              <a:prstDash val="solid"/>
            </a:ln>
          </p:spPr>
          <p:txBody>
            <a:bodyPr anchor="t"/>
            <a:lstStyle/>
            <a:p>
              <a:pPr algn="ctr">
                <a:defRPr sz="1125" b="1">
                  <a:solidFill>
                    <a:srgbClr val="43858A"/>
                  </a:solidFill>
                  <a:latin typeface="Arial"/>
                  <a:ea typeface="Arial"/>
                  <a:cs typeface="Arial"/>
                </a:defRPr>
              </a:pPr>
              <a:r>
                <a:rPr sz="1125" b="1" dirty="0">
                  <a:solidFill>
                    <a:srgbClr val="43858A"/>
                  </a:solidFill>
                  <a:latin typeface="Arial"/>
                  <a:ea typeface="Arial"/>
                  <a:cs typeface="Arial"/>
                </a:rPr>
                <a:t>CROSS-ENCODER</a:t>
              </a:r>
            </a:p>
          </p:txBody>
        </p:sp>
        <p:sp>
          <p:nvSpPr>
            <p:cNvPr id="46" name="cross-copy">
              <a:extLst>
                <a:ext uri="{FF2B5EF4-FFF2-40B4-BE49-F238E27FC236}">
                  <a16:creationId xmlns:a16="http://schemas.microsoft.com/office/drawing/2014/main" id="{4C53539D-4B9C-4E80-804A-FEC352100912}"/>
                </a:ext>
              </a:extLst>
            </p:cNvPr>
            <p:cNvSpPr/>
            <p:nvPr/>
          </p:nvSpPr>
          <p:spPr>
            <a:xfrm>
              <a:off x="6807750" y="3429000"/>
              <a:ext cx="1724451" cy="457200"/>
            </a:xfrm>
            <a:prstGeom prst="rect">
              <a:avLst/>
            </a:prstGeom>
            <a:noFill/>
            <a:ln w="0">
              <a:noFill/>
              <a:prstDash val="solid"/>
            </a:ln>
          </p:spPr>
          <p:txBody>
            <a:bodyPr anchor="t"/>
            <a:lstStyle/>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liest</a:t>
              </a:r>
              <a:r>
                <a:rPr sz="1275" b="0" dirty="0">
                  <a:solidFill>
                    <a:srgbClr val="2D3F4B"/>
                  </a:solidFill>
                  <a:latin typeface="Arial"/>
                  <a:ea typeface="Arial"/>
                  <a:cs typeface="Arial"/>
                </a:rPr>
                <a:t> Frage + Chunk</a:t>
              </a:r>
            </a:p>
            <a:p>
              <a:pPr algn="ctr">
                <a:defRPr sz="1275" b="0">
                  <a:solidFill>
                    <a:srgbClr val="2D3F4B"/>
                  </a:solidFill>
                  <a:latin typeface="Arial"/>
                  <a:ea typeface="Arial"/>
                  <a:cs typeface="Arial"/>
                </a:defRPr>
              </a:pPr>
              <a:r>
                <a:rPr sz="1275" b="0" dirty="0" err="1">
                  <a:solidFill>
                    <a:srgbClr val="2D3F4B"/>
                  </a:solidFill>
                  <a:latin typeface="Arial"/>
                  <a:ea typeface="Arial"/>
                  <a:cs typeface="Arial"/>
                </a:rPr>
                <a:t>gemeinsam</a:t>
              </a:r>
              <a:endParaRPr sz="1275" b="0" dirty="0">
                <a:solidFill>
                  <a:srgbClr val="2D3F4B"/>
                </a:solidFill>
                <a:latin typeface="Arial"/>
                <a:ea typeface="Arial"/>
                <a:cs typeface="Arial"/>
              </a:endParaRPr>
            </a:p>
          </p:txBody>
        </p:sp>
        <p:pic>
          <p:nvPicPr>
            <p:cNvPr id="2" name="Icon Cross-Encoder">
              <a:extLst>
                <a:ext uri="{FF2B5EF4-FFF2-40B4-BE49-F238E27FC236}">
                  <a16:creationId xmlns:a16="http://schemas.microsoft.com/office/drawing/2014/main" id="{010C40FB-D25D-CD65-BF09-E9CF2713632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309975" y="2700000"/>
              <a:ext cx="720000" cy="720000"/>
            </a:xfrm>
            <a:prstGeom prst="rect">
              <a:avLst/>
            </a:prstGeom>
          </p:spPr>
        </p:pic>
      </p:grpSp>
    </p:spTree>
    <p:extLst>
      <p:ext uri="{BB962C8B-B14F-4D97-AF65-F5344CB8AC3E}">
        <p14:creationId xmlns:p14="http://schemas.microsoft.com/office/powerpoint/2010/main" val="6441046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left)">
                                      <p:cBhvr>
                                        <p:cTn id="7" dur="5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wipe(left)">
                                      <p:cBhvr>
                                        <p:cTn id="12" dur="5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wipe(left)">
                                      <p:cBhvr>
                                        <p:cTn id="17" dur="500"/>
                                        <p:tgtEl>
                                          <p:spTgt spid="13"/>
                                        </p:tgtEl>
                                      </p:cBhvr>
                                    </p:animEffec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CBAC6-BCB5-98B3-8A58-1C6E4848A178}"/>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6A77537-C1FE-7896-AA65-64600F1BA9EA}"/>
              </a:ext>
            </a:extLst>
          </p:cNvPr>
          <p:cNvSpPr>
            <a:spLocks noGrp="1"/>
          </p:cNvSpPr>
          <p:nvPr>
            <p:ph type="title"/>
          </p:nvPr>
        </p:nvSpPr>
        <p:spPr/>
        <p:txBody>
          <a:bodyPr/>
          <a:lstStyle/>
          <a:p>
            <a:r>
              <a:rPr lang="de-DE" dirty="0"/>
              <a:t>Stufe 4 · GraphRAG</a:t>
            </a:r>
            <a:endParaRPr lang="de-CH" dirty="0"/>
          </a:p>
        </p:txBody>
      </p:sp>
      <p:sp>
        <p:nvSpPr>
          <p:cNvPr id="4" name="Foliennummernplatzhalter 3">
            <a:extLst>
              <a:ext uri="{FF2B5EF4-FFF2-40B4-BE49-F238E27FC236}">
                <a16:creationId xmlns:a16="http://schemas.microsoft.com/office/drawing/2014/main" id="{A35B4C6F-32DB-B58C-A30E-9F6EA38F5FB0}"/>
              </a:ext>
            </a:extLst>
          </p:cNvPr>
          <p:cNvSpPr>
            <a:spLocks noGrp="1"/>
          </p:cNvSpPr>
          <p:nvPr>
            <p:ph type="sldNum" idx="12"/>
          </p:nvPr>
        </p:nvSpPr>
        <p:spPr/>
        <p:txBody>
          <a:bodyPr/>
          <a:lstStyle/>
          <a:p>
            <a:fld id="{CE7E00E2-F08D-429A-AD9B-1ECBEC02F4DB}" type="slidenum">
              <a:rPr lang="de-CH" smtClean="0"/>
              <a:t>19</a:t>
            </a:fld>
            <a:endParaRPr lang="de-CH"/>
          </a:p>
        </p:txBody>
      </p:sp>
      <p:cxnSp>
        <p:nvCxnSpPr>
          <p:cNvPr id="108" name="Gerade Verbindung mit Pfeil 116">
            <a:extLst>
              <a:ext uri="{FF2B5EF4-FFF2-40B4-BE49-F238E27FC236}">
                <a16:creationId xmlns:a16="http://schemas.microsoft.com/office/drawing/2014/main" id="{0BDDCE84-4016-2B9D-139E-B6028861F673}"/>
              </a:ext>
            </a:extLst>
          </p:cNvPr>
          <p:cNvCxnSpPr>
            <a:cxnSpLocks/>
            <a:stCxn id="37" idx="0"/>
            <a:endCxn id="45" idx="2"/>
          </p:cNvCxnSpPr>
          <p:nvPr/>
        </p:nvCxnSpPr>
        <p:spPr>
          <a:xfrm flipV="1">
            <a:off x="12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09" name="Gerade Verbindung mit Pfeil 118">
            <a:extLst>
              <a:ext uri="{FF2B5EF4-FFF2-40B4-BE49-F238E27FC236}">
                <a16:creationId xmlns:a16="http://schemas.microsoft.com/office/drawing/2014/main" id="{0BB315D1-6C56-0674-6B65-3777144E7075}"/>
              </a:ext>
            </a:extLst>
          </p:cNvPr>
          <p:cNvCxnSpPr>
            <a:cxnSpLocks/>
            <a:stCxn id="45" idx="0"/>
            <a:endCxn id="121" idx="2"/>
          </p:cNvCxnSpPr>
          <p:nvPr/>
        </p:nvCxnSpPr>
        <p:spPr>
          <a:xfrm flipV="1">
            <a:off x="12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14" name="Gerade Verbindung mit Pfeil 148">
            <a:extLst>
              <a:ext uri="{FF2B5EF4-FFF2-40B4-BE49-F238E27FC236}">
                <a16:creationId xmlns:a16="http://schemas.microsoft.com/office/drawing/2014/main" id="{F5BC60B3-6D21-34AF-F241-F9DCA2E051D9}"/>
              </a:ext>
            </a:extLst>
          </p:cNvPr>
          <p:cNvCxnSpPr>
            <a:cxnSpLocks/>
            <a:stCxn id="32" idx="1"/>
            <a:endCxn id="72" idx="3"/>
          </p:cNvCxnSpPr>
          <p:nvPr/>
        </p:nvCxnSpPr>
        <p:spPr>
          <a:xfrm flipH="1">
            <a:off x="73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25" name="Gerade Verbindung mit Pfeil 175">
            <a:extLst>
              <a:ext uri="{FF2B5EF4-FFF2-40B4-BE49-F238E27FC236}">
                <a16:creationId xmlns:a16="http://schemas.microsoft.com/office/drawing/2014/main" id="{C72D8DE9-33EF-8199-896F-3B4B34E4C33F}"/>
              </a:ext>
            </a:extLst>
          </p:cNvPr>
          <p:cNvCxnSpPr>
            <a:cxnSpLocks/>
            <a:stCxn id="121" idx="3"/>
            <a:endCxn id="137" idx="1"/>
          </p:cNvCxnSpPr>
          <p:nvPr/>
        </p:nvCxnSpPr>
        <p:spPr>
          <a:xfrm>
            <a:off x="1980000" y="1873800"/>
            <a:ext cx="21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7" name="Gerade Verbindung mit Pfeil 175">
            <a:extLst>
              <a:ext uri="{FF2B5EF4-FFF2-40B4-BE49-F238E27FC236}">
                <a16:creationId xmlns:a16="http://schemas.microsoft.com/office/drawing/2014/main" id="{0D4E258E-510F-CDC1-7824-B97B0D97B16A}"/>
              </a:ext>
            </a:extLst>
          </p:cNvPr>
          <p:cNvCxnSpPr>
            <a:cxnSpLocks/>
            <a:stCxn id="137" idx="2"/>
            <a:endCxn id="54" idx="0"/>
          </p:cNvCxnSpPr>
          <p:nvPr/>
        </p:nvCxnSpPr>
        <p:spPr>
          <a:xfrm>
            <a:off x="48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0" name="Gerade Verbindung mit Pfeil 116">
            <a:extLst>
              <a:ext uri="{FF2B5EF4-FFF2-40B4-BE49-F238E27FC236}">
                <a16:creationId xmlns:a16="http://schemas.microsoft.com/office/drawing/2014/main" id="{F834C3E5-D35F-44C7-AEE0-6AEAEACA36B4}"/>
              </a:ext>
            </a:extLst>
          </p:cNvPr>
          <p:cNvCxnSpPr>
            <a:cxnSpLocks/>
            <a:stCxn id="18" idx="1"/>
            <a:endCxn id="93" idx="3"/>
          </p:cNvCxnSpPr>
          <p:nvPr/>
        </p:nvCxnSpPr>
        <p:spPr>
          <a:xfrm flipH="1">
            <a:off x="9180000" y="18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4" name="Gerade Verbindung mit Pfeil 116">
            <a:extLst>
              <a:ext uri="{FF2B5EF4-FFF2-40B4-BE49-F238E27FC236}">
                <a16:creationId xmlns:a16="http://schemas.microsoft.com/office/drawing/2014/main" id="{AAD4A9FA-5DEA-3E74-98D7-E03DAAF937A5}"/>
              </a:ext>
            </a:extLst>
          </p:cNvPr>
          <p:cNvCxnSpPr>
            <a:cxnSpLocks/>
            <a:stCxn id="93" idx="2"/>
            <a:endCxn id="32" idx="0"/>
          </p:cNvCxnSpPr>
          <p:nvPr/>
        </p:nvCxnSpPr>
        <p:spPr>
          <a:xfrm>
            <a:off x="8460000" y="230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8" name="Gerade Verbindung mit Pfeil 116">
            <a:extLst>
              <a:ext uri="{FF2B5EF4-FFF2-40B4-BE49-F238E27FC236}">
                <a16:creationId xmlns:a16="http://schemas.microsoft.com/office/drawing/2014/main" id="{BBC39D6B-1A7E-43A7-AB4C-507B2811AD74}"/>
              </a:ext>
            </a:extLst>
          </p:cNvPr>
          <p:cNvCxnSpPr>
            <a:cxnSpLocks/>
            <a:stCxn id="54" idx="3"/>
            <a:endCxn id="72" idx="1"/>
          </p:cNvCxnSpPr>
          <p:nvPr/>
        </p:nvCxnSpPr>
        <p:spPr>
          <a:xfrm>
            <a:off x="5580000" y="313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9" name="Gerade Verbindung mit Pfeil 116">
            <a:extLst>
              <a:ext uri="{FF2B5EF4-FFF2-40B4-BE49-F238E27FC236}">
                <a16:creationId xmlns:a16="http://schemas.microsoft.com/office/drawing/2014/main" id="{95BD79AE-8E27-C417-44A9-1DA30BB87BB2}"/>
              </a:ext>
            </a:extLst>
          </p:cNvPr>
          <p:cNvCxnSpPr>
            <a:cxnSpLocks/>
            <a:stCxn id="72" idx="2"/>
            <a:endCxn id="41" idx="0"/>
          </p:cNvCxnSpPr>
          <p:nvPr/>
        </p:nvCxnSpPr>
        <p:spPr>
          <a:xfrm>
            <a:off x="6660000" y="3567600"/>
            <a:ext cx="0" cy="21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50" name="Gruppe Chunking">
            <a:extLst>
              <a:ext uri="{FF2B5EF4-FFF2-40B4-BE49-F238E27FC236}">
                <a16:creationId xmlns:a16="http://schemas.microsoft.com/office/drawing/2014/main" id="{8508E21A-AF16-CF37-8FB0-BF8A7BDA03CE}"/>
              </a:ext>
            </a:extLst>
          </p:cNvPr>
          <p:cNvGrpSpPr/>
          <p:nvPr/>
        </p:nvGrpSpPr>
        <p:grpSpPr>
          <a:xfrm>
            <a:off x="540000" y="2700000"/>
            <a:ext cx="1440000" cy="867600"/>
            <a:chOff x="624215" y="2761424"/>
            <a:chExt cx="1440000" cy="867600"/>
          </a:xfrm>
        </p:grpSpPr>
        <p:sp>
          <p:nvSpPr>
            <p:cNvPr id="45" name="Rechteck: abgerundete Ecken 44">
              <a:extLst>
                <a:ext uri="{FF2B5EF4-FFF2-40B4-BE49-F238E27FC236}">
                  <a16:creationId xmlns:a16="http://schemas.microsoft.com/office/drawing/2014/main" id="{D48A7F4F-BE6B-CD6F-E690-688E3245F2C5}"/>
                </a:ext>
              </a:extLst>
            </p:cNvPr>
            <p:cNvSpPr>
              <a:spLocks/>
            </p:cNvSpPr>
            <p:nvPr/>
          </p:nvSpPr>
          <p:spPr>
            <a:xfrm>
              <a:off x="624215" y="2761424"/>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a:solidFill>
                    <a:schemeClr val="bg2">
                      <a:lumMod val="10000"/>
                    </a:schemeClr>
                  </a:solidFill>
                </a:rPr>
                <a:t>Chunking</a:t>
              </a:r>
              <a:endParaRPr sz="900" b="1" dirty="0">
                <a:solidFill>
                  <a:schemeClr val="bg2">
                    <a:lumMod val="10000"/>
                  </a:schemeClr>
                </a:solidFill>
              </a:endParaRPr>
            </a:p>
          </p:txBody>
        </p:sp>
        <p:sp>
          <p:nvSpPr>
            <p:cNvPr id="51" name="Gerader Verbinder 50">
              <a:extLst>
                <a:ext uri="{FF2B5EF4-FFF2-40B4-BE49-F238E27FC236}">
                  <a16:creationId xmlns:a16="http://schemas.microsoft.com/office/drawing/2014/main" id="{329E3D98-43F4-135D-5087-525B26A0404F}"/>
                </a:ext>
              </a:extLst>
            </p:cNvPr>
            <p:cNvSpPr>
              <a:spLocks/>
            </p:cNvSpPr>
            <p:nvPr/>
          </p:nvSpPr>
          <p:spPr>
            <a:xfrm>
              <a:off x="624215" y="3049985"/>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22" name="Grafik 165">
              <a:extLst>
                <a:ext uri="{FF2B5EF4-FFF2-40B4-BE49-F238E27FC236}">
                  <a16:creationId xmlns:a16="http://schemas.microsoft.com/office/drawing/2014/main" id="{C58BB8C8-2491-48E5-46A3-5E1BEB7A5BA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0215" y="3105504"/>
              <a:ext cx="468000" cy="468000"/>
            </a:xfrm>
            <a:prstGeom prst="rect">
              <a:avLst/>
            </a:prstGeom>
          </p:spPr>
        </p:pic>
      </p:grpSp>
      <p:grpSp>
        <p:nvGrpSpPr>
          <p:cNvPr id="151" name="Gruppe Embeddings"/>
          <p:cNvGrpSpPr/>
          <p:nvPr/>
        </p:nvGrpSpPr>
        <p:grpSpPr>
          <a:xfrm>
            <a:off x="4140000" y="2700000"/>
            <a:ext cx="1440000" cy="867600"/>
            <a:chOff x="5009244" y="1578083"/>
            <a:chExt cx="1440000" cy="867600"/>
          </a:xfrm>
        </p:grpSpPr>
        <p:sp>
          <p:nvSpPr>
            <p:cNvPr id="54" name="Rechteck: abgerundete Ecken 53">
              <a:extLst>
                <a:ext uri="{FF2B5EF4-FFF2-40B4-BE49-F238E27FC236}">
                  <a16:creationId xmlns:a16="http://schemas.microsoft.com/office/drawing/2014/main" id="{F6937E87-FFDC-5644-BE6B-D3AF0FCBAA56}"/>
                </a:ext>
              </a:extLst>
            </p:cNvPr>
            <p:cNvSpPr>
              <a:spLocks/>
            </p:cNvSpPr>
            <p:nvPr/>
          </p:nvSpPr>
          <p:spPr>
            <a:xfrm>
              <a:off x="5009244" y="157808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err="1">
                  <a:solidFill>
                    <a:schemeClr val="bg2">
                      <a:lumMod val="10000"/>
                    </a:schemeClr>
                  </a:solidFill>
                </a:rPr>
                <a:t>Embeddings</a:t>
              </a:r>
              <a:endParaRPr sz="900" b="1" dirty="0">
                <a:solidFill>
                  <a:schemeClr val="bg2">
                    <a:lumMod val="10000"/>
                  </a:schemeClr>
                </a:solidFill>
              </a:endParaRPr>
            </a:p>
          </p:txBody>
        </p:sp>
        <p:pic>
          <p:nvPicPr>
            <p:cNvPr id="56" name="Grafik 33">
              <a:extLst>
                <a:ext uri="{FF2B5EF4-FFF2-40B4-BE49-F238E27FC236}">
                  <a16:creationId xmlns:a16="http://schemas.microsoft.com/office/drawing/2014/main" id="{4180022B-D146-7907-A8C7-659A2713F82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495244" y="1922163"/>
              <a:ext cx="468000" cy="468000"/>
            </a:xfrm>
            <a:prstGeom prst="rect">
              <a:avLst/>
            </a:prstGeom>
          </p:spPr>
        </p:pic>
        <p:sp>
          <p:nvSpPr>
            <p:cNvPr id="58" name="Gerader Verbinder 57">
              <a:extLst>
                <a:ext uri="{FF2B5EF4-FFF2-40B4-BE49-F238E27FC236}">
                  <a16:creationId xmlns:a16="http://schemas.microsoft.com/office/drawing/2014/main" id="{2358A794-930F-1800-2F3C-5B5ECED2E77E}"/>
                </a:ext>
              </a:extLst>
            </p:cNvPr>
            <p:cNvSpPr>
              <a:spLocks/>
            </p:cNvSpPr>
            <p:nvPr/>
          </p:nvSpPr>
          <p:spPr>
            <a:xfrm flipV="1">
              <a:off x="5009244" y="186664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3" name="Gruppe Vector Database"/>
          <p:cNvGrpSpPr/>
          <p:nvPr/>
        </p:nvGrpSpPr>
        <p:grpSpPr>
          <a:xfrm>
            <a:off x="5940000" y="2700000"/>
            <a:ext cx="1440000" cy="867600"/>
            <a:chOff x="5005715" y="2776165"/>
            <a:chExt cx="1440000" cy="867600"/>
          </a:xfrm>
        </p:grpSpPr>
        <p:sp>
          <p:nvSpPr>
            <p:cNvPr id="72"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Vector Database</a:t>
              </a:r>
              <a:endParaRPr sz="900" b="1" dirty="0">
                <a:solidFill>
                  <a:schemeClr val="bg2">
                    <a:lumMod val="10000"/>
                  </a:schemeClr>
                </a:solidFill>
              </a:endParaRPr>
            </a:p>
          </p:txBody>
        </p:sp>
        <p:pic>
          <p:nvPicPr>
            <p:cNvPr id="74"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491715" y="3120245"/>
              <a:ext cx="468000" cy="468000"/>
            </a:xfrm>
            <a:prstGeom prst="rect">
              <a:avLst/>
            </a:prstGeom>
          </p:spPr>
        </p:pic>
        <p:sp>
          <p:nvSpPr>
            <p:cNvPr id="79"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5" name="Gruppe Embedding LLM"/>
          <p:cNvGrpSpPr/>
          <p:nvPr/>
        </p:nvGrpSpPr>
        <p:grpSpPr>
          <a:xfrm>
            <a:off x="7740000" y="1440000"/>
            <a:ext cx="1440000" cy="867600"/>
            <a:chOff x="7996042" y="1570799"/>
            <a:chExt cx="1440000" cy="867600"/>
          </a:xfrm>
        </p:grpSpPr>
        <p:sp>
          <p:nvSpPr>
            <p:cNvPr id="93" name="Rechteck: abgerundete Ecken 92">
              <a:extLst>
                <a:ext uri="{FF2B5EF4-FFF2-40B4-BE49-F238E27FC236}">
                  <a16:creationId xmlns:a16="http://schemas.microsoft.com/office/drawing/2014/main" id="{AD79A1D2-E83B-1112-88E6-A41F8B4E30C4}"/>
                </a:ext>
              </a:extLst>
            </p:cNvPr>
            <p:cNvSpPr>
              <a:spLocks/>
            </p:cNvSpPr>
            <p:nvPr/>
          </p:nvSpPr>
          <p:spPr>
            <a:xfrm>
              <a:off x="7996042"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96" name="Grafik 39">
              <a:extLst>
                <a:ext uri="{FF2B5EF4-FFF2-40B4-BE49-F238E27FC236}">
                  <a16:creationId xmlns:a16="http://schemas.microsoft.com/office/drawing/2014/main" id="{61249CC0-2AE7-1CF4-AF70-7499619794A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482042" y="1914879"/>
              <a:ext cx="468000" cy="468000"/>
            </a:xfrm>
            <a:prstGeom prst="rect">
              <a:avLst/>
            </a:prstGeom>
          </p:spPr>
        </p:pic>
        <p:sp>
          <p:nvSpPr>
            <p:cNvPr id="101" name="Gerader Verbinder 100">
              <a:extLst>
                <a:ext uri="{FF2B5EF4-FFF2-40B4-BE49-F238E27FC236}">
                  <a16:creationId xmlns:a16="http://schemas.microsoft.com/office/drawing/2014/main" id="{E72F8E13-9942-DFD0-1B23-F1C4A1D4EC76}"/>
                </a:ext>
              </a:extLst>
            </p:cNvPr>
            <p:cNvSpPr>
              <a:spLocks/>
            </p:cNvSpPr>
            <p:nvPr/>
          </p:nvSpPr>
          <p:spPr>
            <a:xfrm>
              <a:off x="7996042"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7" name="Gruppe Embedding LLM"/>
          <p:cNvGrpSpPr/>
          <p:nvPr/>
        </p:nvGrpSpPr>
        <p:grpSpPr>
          <a:xfrm>
            <a:off x="4140000" y="1440000"/>
            <a:ext cx="1440000" cy="867600"/>
            <a:chOff x="2783916" y="1570799"/>
            <a:chExt cx="1440000" cy="867600"/>
          </a:xfrm>
        </p:grpSpPr>
        <p:sp>
          <p:nvSpPr>
            <p:cNvPr id="137" name="Rechteck: abgerundete Ecken 136">
              <a:extLst>
                <a:ext uri="{FF2B5EF4-FFF2-40B4-BE49-F238E27FC236}">
                  <a16:creationId xmlns:a16="http://schemas.microsoft.com/office/drawing/2014/main" id="{2F0E7FDF-A2C6-F785-F1E7-936F202EF2F8}"/>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Embedding LLM</a:t>
              </a:r>
              <a:endParaRPr sz="900" b="1" dirty="0">
                <a:solidFill>
                  <a:schemeClr val="bg2">
                    <a:lumMod val="10000"/>
                  </a:schemeClr>
                </a:solidFill>
              </a:endParaRPr>
            </a:p>
          </p:txBody>
        </p:sp>
        <p:pic>
          <p:nvPicPr>
            <p:cNvPr id="138" name="Grafik 39">
              <a:extLst>
                <a:ext uri="{FF2B5EF4-FFF2-40B4-BE49-F238E27FC236}">
                  <a16:creationId xmlns:a16="http://schemas.microsoft.com/office/drawing/2014/main" id="{CED68F23-700B-1E3E-A249-76DCDEF47E2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269916" y="1914879"/>
              <a:ext cx="468000" cy="468000"/>
            </a:xfrm>
            <a:prstGeom prst="rect">
              <a:avLst/>
            </a:prstGeom>
          </p:spPr>
        </p:pic>
        <p:sp>
          <p:nvSpPr>
            <p:cNvPr id="140" name="Gerader Verbinder 139">
              <a:extLst>
                <a:ext uri="{FF2B5EF4-FFF2-40B4-BE49-F238E27FC236}">
                  <a16:creationId xmlns:a16="http://schemas.microsoft.com/office/drawing/2014/main" id="{FAE015C5-0604-FCE4-AE8F-E2A5506C996F}"/>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58" name="Gruppe Chunks"/>
          <p:cNvGrpSpPr/>
          <p:nvPr/>
        </p:nvGrpSpPr>
        <p:grpSpPr>
          <a:xfrm>
            <a:off x="540000" y="1440000"/>
            <a:ext cx="1440000" cy="867600"/>
            <a:chOff x="617904" y="1570799"/>
            <a:chExt cx="1440000" cy="867600"/>
          </a:xfrm>
        </p:grpSpPr>
        <p:sp>
          <p:nvSpPr>
            <p:cNvPr id="121" name="Rechteck: abgerundete Ecken 120">
              <a:extLst>
                <a:ext uri="{FF2B5EF4-FFF2-40B4-BE49-F238E27FC236}">
                  <a16:creationId xmlns:a16="http://schemas.microsoft.com/office/drawing/2014/main" id="{AD7B8046-A7E5-977B-9789-31E7E99EC995}"/>
                </a:ext>
              </a:extLst>
            </p:cNvPr>
            <p:cNvSpPr>
              <a:spLocks/>
            </p:cNvSpPr>
            <p:nvPr/>
          </p:nvSpPr>
          <p:spPr>
            <a:xfrm>
              <a:off x="617904" y="157079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Chunks</a:t>
              </a:r>
              <a:endParaRPr sz="900" b="1" dirty="0">
                <a:solidFill>
                  <a:schemeClr val="bg2">
                    <a:lumMod val="10000"/>
                  </a:schemeClr>
                </a:solidFill>
              </a:endParaRPr>
            </a:p>
          </p:txBody>
        </p:sp>
        <p:pic>
          <p:nvPicPr>
            <p:cNvPr id="46" name="Grafik 10">
              <a:extLst>
                <a:ext uri="{FF2B5EF4-FFF2-40B4-BE49-F238E27FC236}">
                  <a16:creationId xmlns:a16="http://schemas.microsoft.com/office/drawing/2014/main" id="{BE3EA945-55FA-7EAD-DC73-B9FB8CEDC576}"/>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103904" y="1914879"/>
              <a:ext cx="468000" cy="468000"/>
            </a:xfrm>
            <a:prstGeom prst="rect">
              <a:avLst/>
            </a:prstGeom>
          </p:spPr>
        </p:pic>
        <p:sp>
          <p:nvSpPr>
            <p:cNvPr id="124" name="Gerader Verbinder 123">
              <a:extLst>
                <a:ext uri="{FF2B5EF4-FFF2-40B4-BE49-F238E27FC236}">
                  <a16:creationId xmlns:a16="http://schemas.microsoft.com/office/drawing/2014/main" id="{E1830494-1611-ADE7-C919-BF9ADBCD7AEF}"/>
                </a:ext>
              </a:extLst>
            </p:cNvPr>
            <p:cNvSpPr>
              <a:spLocks/>
            </p:cNvSpPr>
            <p:nvPr/>
          </p:nvSpPr>
          <p:spPr>
            <a:xfrm>
              <a:off x="617904" y="185936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39" name="Gruppe Embeddings">
            <a:extLst>
              <a:ext uri="{FF2B5EF4-FFF2-40B4-BE49-F238E27FC236}">
                <a16:creationId xmlns:a16="http://schemas.microsoft.com/office/drawing/2014/main" id="{1CE371FF-AA8D-9463-C284-4D4EC69E806E}"/>
              </a:ext>
            </a:extLst>
          </p:cNvPr>
          <p:cNvGrpSpPr/>
          <p:nvPr/>
        </p:nvGrpSpPr>
        <p:grpSpPr>
          <a:xfrm>
            <a:off x="7740000" y="2700000"/>
            <a:ext cx="1440000" cy="867600"/>
            <a:chOff x="8006090" y="2794529"/>
            <a:chExt cx="1440000" cy="867600"/>
          </a:xfrm>
        </p:grpSpPr>
        <p:sp>
          <p:nvSpPr>
            <p:cNvPr id="32" name="Rechteck: abgerundete Ecken 31">
              <a:extLst>
                <a:ext uri="{FF2B5EF4-FFF2-40B4-BE49-F238E27FC236}">
                  <a16:creationId xmlns:a16="http://schemas.microsoft.com/office/drawing/2014/main" id="{2A723AF4-EAB5-14C5-1FA0-86467149575A}"/>
                </a:ext>
              </a:extLst>
            </p:cNvPr>
            <p:cNvSpPr>
              <a:spLocks/>
            </p:cNvSpPr>
            <p:nvPr/>
          </p:nvSpPr>
          <p:spPr>
            <a:xfrm>
              <a:off x="8006090" y="2794529"/>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r>
                <a:rPr lang="de-CH" sz="900" b="1" dirty="0" err="1">
                  <a:solidFill>
                    <a:schemeClr val="bg2">
                      <a:lumMod val="10000"/>
                    </a:schemeClr>
                  </a:solidFill>
                </a:rPr>
                <a:t>Embeddings</a:t>
              </a:r>
              <a:endParaRPr sz="900" b="1" dirty="0">
                <a:solidFill>
                  <a:schemeClr val="bg2">
                    <a:lumMod val="10000"/>
                  </a:schemeClr>
                </a:solidFill>
              </a:endParaRPr>
            </a:p>
          </p:txBody>
        </p:sp>
        <p:pic>
          <p:nvPicPr>
            <p:cNvPr id="33" name="Grafik 20">
              <a:extLst>
                <a:ext uri="{FF2B5EF4-FFF2-40B4-BE49-F238E27FC236}">
                  <a16:creationId xmlns:a16="http://schemas.microsoft.com/office/drawing/2014/main" id="{91CCA1BF-A0BC-0AD7-2334-443BD9585B08}"/>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92090" y="3138609"/>
              <a:ext cx="468000" cy="468000"/>
            </a:xfrm>
            <a:prstGeom prst="rect">
              <a:avLst/>
            </a:prstGeom>
          </p:spPr>
        </p:pic>
        <p:sp>
          <p:nvSpPr>
            <p:cNvPr id="35" name="Gerader Verbinder 34">
              <a:extLst>
                <a:ext uri="{FF2B5EF4-FFF2-40B4-BE49-F238E27FC236}">
                  <a16:creationId xmlns:a16="http://schemas.microsoft.com/office/drawing/2014/main" id="{D8883587-3324-32F7-891A-2B743485D887}"/>
                </a:ext>
              </a:extLst>
            </p:cNvPr>
            <p:cNvSpPr>
              <a:spLocks/>
            </p:cNvSpPr>
            <p:nvPr/>
          </p:nvSpPr>
          <p:spPr>
            <a:xfrm flipV="1">
              <a:off x="8006090" y="3083090"/>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sp>
        <p:nvSpPr>
          <p:cNvPr id="2999" name="Fade-Overlay"/>
          <p:cNvSpPr/>
          <p:nvPr/>
        </p:nvSpPr>
        <p:spPr>
          <a:xfrm>
            <a:off x="486000" y="1386000"/>
            <a:ext cx="9108000" cy="2448000"/>
          </a:xfrm>
          <a:prstGeom prst="rect">
            <a:avLst/>
          </a:prstGeom>
          <a:solidFill>
            <a:srgbClr val="FFFFFF">
              <a:alpha val="70000"/>
            </a:srgbClr>
          </a:solidFill>
          <a:ln>
            <a:noFill/>
          </a:ln>
        </p:spPr>
        <p:txBody>
          <a:bodyPr/>
          <a:lstStyle/>
          <a:p>
            <a:endParaRPr/>
          </a:p>
        </p:txBody>
      </p:sp>
      <p:cxnSp>
        <p:nvCxnSpPr>
          <p:cNvPr id="112" name="Gerade Verbindung mit Pfeil 143">
            <a:extLst>
              <a:ext uri="{FF2B5EF4-FFF2-40B4-BE49-F238E27FC236}">
                <a16:creationId xmlns:a16="http://schemas.microsoft.com/office/drawing/2014/main" id="{56983D44-8E80-3AB3-A9CF-D7232B3BF542}"/>
              </a:ext>
            </a:extLst>
          </p:cNvPr>
          <p:cNvCxnSpPr>
            <a:cxnSpLocks/>
            <a:stCxn id="81" idx="3"/>
            <a:endCxn id="102" idx="1"/>
          </p:cNvCxnSpPr>
          <p:nvPr/>
        </p:nvCxnSpPr>
        <p:spPr>
          <a:xfrm>
            <a:off x="73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 name="Gerade Verbindung mit Pfeil 143">
            <a:extLst>
              <a:ext uri="{FF2B5EF4-FFF2-40B4-BE49-F238E27FC236}">
                <a16:creationId xmlns:a16="http://schemas.microsoft.com/office/drawing/2014/main" id="{A1A5E8C3-3F80-9A63-9DF4-CD841A9DCB7A}"/>
              </a:ext>
            </a:extLst>
          </p:cNvPr>
          <p:cNvCxnSpPr>
            <a:cxnSpLocks/>
            <a:stCxn id="102" idx="3"/>
            <a:endCxn id="24" idx="1"/>
          </p:cNvCxnSpPr>
          <p:nvPr/>
        </p:nvCxnSpPr>
        <p:spPr>
          <a:xfrm>
            <a:off x="9180000" y="547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6" name="Gerade Verbindung mit Pfeil 116">
            <a:extLst>
              <a:ext uri="{FF2B5EF4-FFF2-40B4-BE49-F238E27FC236}">
                <a16:creationId xmlns:a16="http://schemas.microsoft.com/office/drawing/2014/main" id="{02CDE7FC-A0D5-07F3-2CE6-481F9220CCFB}"/>
              </a:ext>
            </a:extLst>
          </p:cNvPr>
          <p:cNvCxnSpPr>
            <a:cxnSpLocks/>
            <a:stCxn id="10" idx="0"/>
            <a:endCxn id="37" idx="2"/>
          </p:cNvCxnSpPr>
          <p:nvPr/>
        </p:nvCxnSpPr>
        <p:spPr>
          <a:xfrm flipV="1">
            <a:off x="12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Gerade Verbindung mit Pfeil 116">
            <a:extLst>
              <a:ext uri="{FF2B5EF4-FFF2-40B4-BE49-F238E27FC236}">
                <a16:creationId xmlns:a16="http://schemas.microsoft.com/office/drawing/2014/main" id="{3BE2586C-9C1C-363F-5145-8C1A7F21DECA}"/>
              </a:ext>
            </a:extLst>
          </p:cNvPr>
          <p:cNvCxnSpPr>
            <a:cxnSpLocks/>
            <a:stCxn id="37" idx="3"/>
            <a:endCxn id="25" idx="1"/>
          </p:cNvCxnSpPr>
          <p:nvPr/>
        </p:nvCxnSpPr>
        <p:spPr>
          <a:xfrm>
            <a:off x="19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116">
            <a:extLst>
              <a:ext uri="{FF2B5EF4-FFF2-40B4-BE49-F238E27FC236}">
                <a16:creationId xmlns:a16="http://schemas.microsoft.com/office/drawing/2014/main" id="{25C8CBDB-7E9A-B6BE-F8EC-E9E9D7622066}"/>
              </a:ext>
            </a:extLst>
          </p:cNvPr>
          <p:cNvCxnSpPr>
            <a:cxnSpLocks/>
            <a:stCxn id="25" idx="3"/>
            <a:endCxn id="13" idx="1"/>
          </p:cNvCxnSpPr>
          <p:nvPr/>
        </p:nvCxnSpPr>
        <p:spPr>
          <a:xfrm>
            <a:off x="37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3" name="Gerade Verbindung mit Pfeil 116">
            <a:extLst>
              <a:ext uri="{FF2B5EF4-FFF2-40B4-BE49-F238E27FC236}">
                <a16:creationId xmlns:a16="http://schemas.microsoft.com/office/drawing/2014/main" id="{68090A40-0C56-9665-5D8C-4909AE97B1B9}"/>
              </a:ext>
            </a:extLst>
          </p:cNvPr>
          <p:cNvCxnSpPr>
            <a:cxnSpLocks/>
            <a:stCxn id="41" idx="2"/>
            <a:endCxn id="81" idx="0"/>
          </p:cNvCxnSpPr>
          <p:nvPr/>
        </p:nvCxnSpPr>
        <p:spPr>
          <a:xfrm>
            <a:off x="6660000" y="4647600"/>
            <a:ext cx="0" cy="3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59" name="Gerade Verbindung mit Pfeil 116">
            <a:extLst>
              <a:ext uri="{FF2B5EF4-FFF2-40B4-BE49-F238E27FC236}">
                <a16:creationId xmlns:a16="http://schemas.microsoft.com/office/drawing/2014/main" id="{FF4DA23A-99B1-2EA7-2BF4-A55BB1B63FEE}"/>
              </a:ext>
            </a:extLst>
          </p:cNvPr>
          <p:cNvCxnSpPr>
            <a:cxnSpLocks/>
            <a:stCxn id="13" idx="3"/>
            <a:endCxn id="41" idx="1"/>
          </p:cNvCxnSpPr>
          <p:nvPr/>
        </p:nvCxnSpPr>
        <p:spPr>
          <a:xfrm>
            <a:off x="5580000" y="4213800"/>
            <a:ext cx="36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46" name="Gruppe Raw Data Files"/>
          <p:cNvGrpSpPr/>
          <p:nvPr/>
        </p:nvGrpSpPr>
        <p:grpSpPr>
          <a:xfrm>
            <a:off x="540000" y="5040000"/>
            <a:ext cx="1440000" cy="867600"/>
            <a:chOff x="624215" y="5142674"/>
            <a:chExt cx="1440000" cy="867600"/>
          </a:xfrm>
        </p:grpSpPr>
        <p:sp>
          <p:nvSpPr>
            <p:cNvPr id="10" name="Rechteck: abgerundete Ecken 9">
              <a:extLst>
                <a:ext uri="{FF2B5EF4-FFF2-40B4-BE49-F238E27FC236}">
                  <a16:creationId xmlns:a16="http://schemas.microsoft.com/office/drawing/2014/main" id="{B38993B1-D63F-B962-E43D-16CB3FBB6F39}"/>
                </a:ext>
              </a:extLst>
            </p:cNvPr>
            <p:cNvSpPr>
              <a:spLocks/>
            </p:cNvSpPr>
            <p:nvPr/>
          </p:nvSpPr>
          <p:spPr>
            <a:xfrm>
              <a:off x="624215" y="5142674"/>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Raw Data Files</a:t>
              </a:r>
              <a:endParaRPr sz="900" b="1" dirty="0">
                <a:solidFill>
                  <a:schemeClr val="bg2">
                    <a:lumMod val="10000"/>
                  </a:schemeClr>
                </a:solidFill>
              </a:endParaRPr>
            </a:p>
          </p:txBody>
        </p:sp>
        <p:sp>
          <p:nvSpPr>
            <p:cNvPr id="14" name="Gerader Verbinder 13">
              <a:extLst>
                <a:ext uri="{FF2B5EF4-FFF2-40B4-BE49-F238E27FC236}">
                  <a16:creationId xmlns:a16="http://schemas.microsoft.com/office/drawing/2014/main" id="{CD93CF7F-4061-47BC-D2DF-7546F2E82AED}"/>
                </a:ext>
              </a:extLst>
            </p:cNvPr>
            <p:cNvSpPr>
              <a:spLocks/>
            </p:cNvSpPr>
            <p:nvPr/>
          </p:nvSpPr>
          <p:spPr>
            <a:xfrm>
              <a:off x="624215" y="5431235"/>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pic>
          <p:nvPicPr>
            <p:cNvPr id="16" name="Inhaltsplatzhalter 6">
              <a:extLst>
                <a:ext uri="{FF2B5EF4-FFF2-40B4-BE49-F238E27FC236}">
                  <a16:creationId xmlns:a16="http://schemas.microsoft.com/office/drawing/2014/main" id="{A13C77ED-349F-9371-0221-46DB832630C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110215" y="5486754"/>
              <a:ext cx="468000" cy="468000"/>
            </a:xfrm>
            <a:prstGeom prst="rect">
              <a:avLst/>
            </a:prstGeom>
          </p:spPr>
        </p:pic>
      </p:grpSp>
      <p:grpSp>
        <p:nvGrpSpPr>
          <p:cNvPr id="147" name="Gruppe Query"/>
          <p:cNvGrpSpPr/>
          <p:nvPr/>
        </p:nvGrpSpPr>
        <p:grpSpPr>
          <a:xfrm>
            <a:off x="9540000" y="1440000"/>
            <a:ext cx="1440000" cy="867600"/>
            <a:chOff x="10196840" y="1570799"/>
            <a:chExt cx="1440000" cy="867600"/>
          </a:xfrm>
        </p:grpSpPr>
        <p:sp>
          <p:nvSpPr>
            <p:cNvPr id="18"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Query</a:t>
              </a:r>
              <a:endParaRPr sz="900" b="1" dirty="0">
                <a:solidFill>
                  <a:schemeClr val="bg2">
                    <a:lumMod val="10000"/>
                  </a:schemeClr>
                </a:solidFill>
              </a:endParaRPr>
            </a:p>
          </p:txBody>
        </p:sp>
        <p:pic>
          <p:nvPicPr>
            <p:cNvPr id="20"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0682840" y="1914879"/>
              <a:ext cx="468000" cy="468000"/>
            </a:xfrm>
            <a:prstGeom prst="rect">
              <a:avLst/>
            </a:prstGeom>
          </p:spPr>
        </p:pic>
        <p:sp>
          <p:nvSpPr>
            <p:cNvPr id="159"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8" name="Gruppe Response"/>
          <p:cNvGrpSpPr/>
          <p:nvPr/>
        </p:nvGrpSpPr>
        <p:grpSpPr>
          <a:xfrm>
            <a:off x="9540000" y="5040000"/>
            <a:ext cx="1440000" cy="867600"/>
            <a:chOff x="10196840" y="5161353"/>
            <a:chExt cx="1440000" cy="867600"/>
          </a:xfrm>
        </p:grpSpPr>
        <p:sp>
          <p:nvSpPr>
            <p:cNvPr id="24"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Response</a:t>
              </a:r>
              <a:endParaRPr sz="900" b="1" dirty="0">
                <a:solidFill>
                  <a:schemeClr val="bg2">
                    <a:lumMod val="10000"/>
                  </a:schemeClr>
                </a:solidFill>
              </a:endParaRPr>
            </a:p>
          </p:txBody>
        </p:sp>
        <p:pic>
          <p:nvPicPr>
            <p:cNvPr id="28"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0682840" y="5505433"/>
              <a:ext cx="468000" cy="468000"/>
            </a:xfrm>
            <a:prstGeom prst="rect">
              <a:avLst/>
            </a:prstGeom>
          </p:spPr>
        </p:pic>
        <p:sp>
          <p:nvSpPr>
            <p:cNvPr id="160"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49" name="Gruppe Information Extraction"/>
          <p:cNvGrpSpPr/>
          <p:nvPr/>
        </p:nvGrpSpPr>
        <p:grpSpPr>
          <a:xfrm>
            <a:off x="540000" y="3780000"/>
            <a:ext cx="1440000" cy="867600"/>
            <a:chOff x="622908" y="3952049"/>
            <a:chExt cx="1440000" cy="867600"/>
          </a:xfrm>
        </p:grpSpPr>
        <p:sp>
          <p:nvSpPr>
            <p:cNvPr id="37" name="Rechteck: abgerundete Ecken 36">
              <a:extLst>
                <a:ext uri="{FF2B5EF4-FFF2-40B4-BE49-F238E27FC236}">
                  <a16:creationId xmlns:a16="http://schemas.microsoft.com/office/drawing/2014/main" id="{955C229C-DF37-3394-7852-D2530C311E3D}"/>
                </a:ext>
              </a:extLst>
            </p:cNvPr>
            <p:cNvSpPr>
              <a:spLocks/>
            </p:cNvSpPr>
            <p:nvPr/>
          </p:nvSpPr>
          <p:spPr>
            <a:xfrm>
              <a:off x="622908" y="395204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36000" tIns="28800" rIns="36000" bIns="90000" anchor="t"/>
            <a:lstStyle/>
            <a:p>
              <a:pPr algn="ctr">
                <a:buNone/>
              </a:pPr>
              <a:r>
                <a:rPr lang="de-CH" sz="900" b="1" dirty="0">
                  <a:solidFill>
                    <a:schemeClr val="bg2">
                      <a:lumMod val="10000"/>
                    </a:schemeClr>
                  </a:solidFill>
                </a:rPr>
                <a:t>Information Extraction</a:t>
              </a:r>
              <a:endParaRPr sz="900" b="1" dirty="0">
                <a:solidFill>
                  <a:schemeClr val="bg2">
                    <a:lumMod val="10000"/>
                  </a:schemeClr>
                </a:solidFill>
              </a:endParaRPr>
            </a:p>
          </p:txBody>
        </p:sp>
        <p:pic>
          <p:nvPicPr>
            <p:cNvPr id="42" name="Grafik 8">
              <a:extLst>
                <a:ext uri="{FF2B5EF4-FFF2-40B4-BE49-F238E27FC236}">
                  <a16:creationId xmlns:a16="http://schemas.microsoft.com/office/drawing/2014/main" id="{8D120EA8-E27A-D0DD-C5B0-F34B5211FE48}"/>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108908" y="4296129"/>
              <a:ext cx="468000" cy="468000"/>
            </a:xfrm>
            <a:prstGeom prst="rect">
              <a:avLst/>
            </a:prstGeom>
          </p:spPr>
        </p:pic>
        <p:sp>
          <p:nvSpPr>
            <p:cNvPr id="44" name="Gerader Verbinder 43">
              <a:extLst>
                <a:ext uri="{FF2B5EF4-FFF2-40B4-BE49-F238E27FC236}">
                  <a16:creationId xmlns:a16="http://schemas.microsoft.com/office/drawing/2014/main" id="{6BF87FBA-FFD4-A870-8990-3B36EDECACE0}"/>
                </a:ext>
              </a:extLst>
            </p:cNvPr>
            <p:cNvSpPr>
              <a:spLocks/>
            </p:cNvSpPr>
            <p:nvPr/>
          </p:nvSpPr>
          <p:spPr>
            <a:xfrm>
              <a:off x="622908" y="424061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lIns="54000" tIns="28800" rIns="54000"/>
            <a:lstStyle/>
            <a:p>
              <a:endParaRPr lang="de-CH" sz="900" b="1"/>
            </a:p>
          </p:txBody>
        </p:sp>
      </p:grpSp>
      <p:grpSp>
        <p:nvGrpSpPr>
          <p:cNvPr id="154" name="Gruppe Relevant Data"/>
          <p:cNvGrpSpPr/>
          <p:nvPr/>
        </p:nvGrpSpPr>
        <p:grpSpPr>
          <a:xfrm>
            <a:off x="5940000" y="5040000"/>
            <a:ext cx="1440000" cy="867600"/>
            <a:chOff x="5005715" y="5161353"/>
            <a:chExt cx="1440000" cy="867600"/>
          </a:xfrm>
        </p:grpSpPr>
        <p:sp>
          <p:nvSpPr>
            <p:cNvPr id="81"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Relevant Data</a:t>
              </a:r>
              <a:endParaRPr sz="900" b="1" dirty="0">
                <a:solidFill>
                  <a:schemeClr val="bg2">
                    <a:lumMod val="10000"/>
                  </a:schemeClr>
                </a:solidFill>
              </a:endParaRPr>
            </a:p>
          </p:txBody>
        </p:sp>
        <p:pic>
          <p:nvPicPr>
            <p:cNvPr id="84"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11"/>
                </a:ext>
              </a:extLst>
            </a:blip>
            <a:stretch>
              <a:fillRect/>
            </a:stretch>
          </p:blipFill>
          <p:spPr>
            <a:xfrm>
              <a:off x="5491715" y="5505433"/>
              <a:ext cx="468000" cy="468000"/>
            </a:xfrm>
            <a:prstGeom prst="rect">
              <a:avLst/>
            </a:prstGeom>
          </p:spPr>
        </p:pic>
        <p:sp>
          <p:nvSpPr>
            <p:cNvPr id="90"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7" name="Gruppe LLM">
            <a:extLst>
              <a:ext uri="{FF2B5EF4-FFF2-40B4-BE49-F238E27FC236}">
                <a16:creationId xmlns:a16="http://schemas.microsoft.com/office/drawing/2014/main" id="{CC8957DA-7EEF-07E6-4817-4A1CAB29C56A}"/>
              </a:ext>
            </a:extLst>
          </p:cNvPr>
          <p:cNvGrpSpPr/>
          <p:nvPr/>
        </p:nvGrpSpPr>
        <p:grpSpPr>
          <a:xfrm>
            <a:off x="7740000" y="5040000"/>
            <a:ext cx="1440000" cy="867600"/>
            <a:chOff x="8006090" y="5161353"/>
            <a:chExt cx="1440000" cy="867600"/>
          </a:xfrm>
        </p:grpSpPr>
        <p:sp>
          <p:nvSpPr>
            <p:cNvPr id="102"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04"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12"/>
                </a:ext>
              </a:extLst>
            </a:blip>
            <a:stretch>
              <a:fillRect/>
            </a:stretch>
          </p:blipFill>
          <p:spPr>
            <a:xfrm>
              <a:off x="8492090" y="5505433"/>
              <a:ext cx="468000" cy="468000"/>
            </a:xfrm>
            <a:prstGeom prst="rect">
              <a:avLst/>
            </a:prstGeom>
          </p:spPr>
        </p:pic>
        <p:sp>
          <p:nvSpPr>
            <p:cNvPr id="106"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23" name="Gruppe Graph Engine">
            <a:extLst>
              <a:ext uri="{FF2B5EF4-FFF2-40B4-BE49-F238E27FC236}">
                <a16:creationId xmlns:a16="http://schemas.microsoft.com/office/drawing/2014/main" id="{D25D0927-7500-9C4D-B2AC-C86A40E321DD}"/>
              </a:ext>
            </a:extLst>
          </p:cNvPr>
          <p:cNvGrpSpPr/>
          <p:nvPr/>
        </p:nvGrpSpPr>
        <p:grpSpPr>
          <a:xfrm>
            <a:off x="2340000" y="3780000"/>
            <a:ext cx="1440000" cy="867600"/>
            <a:chOff x="2783916" y="1570799"/>
            <a:chExt cx="1440000" cy="867600"/>
          </a:xfrm>
        </p:grpSpPr>
        <p:sp>
          <p:nvSpPr>
            <p:cNvPr id="25"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Engine</a:t>
              </a:r>
              <a:endParaRPr sz="900" b="1" dirty="0">
                <a:solidFill>
                  <a:schemeClr val="bg2">
                    <a:lumMod val="10000"/>
                  </a:schemeClr>
                </a:solidFill>
              </a:endParaRPr>
            </a:p>
          </p:txBody>
        </p:sp>
        <p:pic>
          <p:nvPicPr>
            <p:cNvPr id="31"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3269916" y="1914879"/>
              <a:ext cx="468000" cy="468000"/>
            </a:xfrm>
            <a:prstGeom prst="rect">
              <a:avLst/>
            </a:prstGeom>
          </p:spPr>
        </p:pic>
        <p:sp>
          <p:nvSpPr>
            <p:cNvPr id="36"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12" name="Gruppe Graph Database">
            <a:extLst>
              <a:ext uri="{FF2B5EF4-FFF2-40B4-BE49-F238E27FC236}">
                <a16:creationId xmlns:a16="http://schemas.microsoft.com/office/drawing/2014/main" id="{BFB423DB-992A-5876-26AC-811D2AA99C40}"/>
              </a:ext>
            </a:extLst>
          </p:cNvPr>
          <p:cNvGrpSpPr/>
          <p:nvPr/>
        </p:nvGrpSpPr>
        <p:grpSpPr>
          <a:xfrm>
            <a:off x="4140000" y="3780000"/>
            <a:ext cx="1440000" cy="867600"/>
            <a:chOff x="5005715" y="2776165"/>
            <a:chExt cx="1440000" cy="867600"/>
          </a:xfrm>
        </p:grpSpPr>
        <p:sp>
          <p:nvSpPr>
            <p:cNvPr id="13"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Database</a:t>
              </a:r>
              <a:endParaRPr sz="900" b="1" dirty="0">
                <a:solidFill>
                  <a:schemeClr val="bg2">
                    <a:lumMod val="10000"/>
                  </a:schemeClr>
                </a:solidFill>
              </a:endParaRPr>
            </a:p>
          </p:txBody>
        </p:sp>
        <p:pic>
          <p:nvPicPr>
            <p:cNvPr id="17"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14"/>
                </a:ext>
              </a:extLst>
            </a:blip>
            <a:stretch>
              <a:fillRect/>
            </a:stretch>
          </p:blipFill>
          <p:spPr>
            <a:xfrm>
              <a:off x="5491715" y="3120245"/>
              <a:ext cx="468000" cy="468000"/>
            </a:xfrm>
            <a:prstGeom prst="rect">
              <a:avLst/>
            </a:prstGeom>
          </p:spPr>
        </p:pic>
        <p:sp>
          <p:nvSpPr>
            <p:cNvPr id="19"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grpSp>
        <p:nvGrpSpPr>
          <p:cNvPr id="40" name="Gruppe Ranking">
            <a:extLst>
              <a:ext uri="{FF2B5EF4-FFF2-40B4-BE49-F238E27FC236}">
                <a16:creationId xmlns:a16="http://schemas.microsoft.com/office/drawing/2014/main" id="{62657446-9BFF-60C0-3E07-97265A6E0278}"/>
              </a:ext>
            </a:extLst>
          </p:cNvPr>
          <p:cNvGrpSpPr/>
          <p:nvPr/>
        </p:nvGrpSpPr>
        <p:grpSpPr>
          <a:xfrm>
            <a:off x="5940000" y="3780000"/>
            <a:ext cx="1440000" cy="867600"/>
            <a:chOff x="2783916" y="1570799"/>
            <a:chExt cx="1440000" cy="867600"/>
          </a:xfrm>
        </p:grpSpPr>
        <p:sp>
          <p:nvSpPr>
            <p:cNvPr id="4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Ranking</a:t>
              </a:r>
              <a:endParaRPr sz="900" b="1" dirty="0">
                <a:solidFill>
                  <a:schemeClr val="bg2">
                    <a:lumMod val="10000"/>
                  </a:schemeClr>
                </a:solidFill>
              </a:endParaRPr>
            </a:p>
          </p:txBody>
        </p:sp>
        <p:pic>
          <p:nvPicPr>
            <p:cNvPr id="4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15"/>
                </a:ext>
              </a:extLst>
            </a:blip>
            <a:stretch>
              <a:fillRect/>
            </a:stretch>
          </p:blipFill>
          <p:spPr>
            <a:xfrm>
              <a:off x="3269916" y="1914879"/>
              <a:ext cx="468000" cy="468000"/>
            </a:xfrm>
            <a:prstGeom prst="rect">
              <a:avLst/>
            </a:prstGeom>
          </p:spPr>
        </p:pic>
        <p:sp>
          <p:nvSpPr>
            <p:cNvPr id="4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grpSp>
      <p:cxnSp>
        <p:nvCxnSpPr>
          <p:cNvPr id="161" name="Gerade Verbindung Query LLM"/>
          <p:cNvCxnSpPr>
            <a:cxnSpLocks/>
            <a:stCxn id="18" idx="2"/>
            <a:endCxn id="102" idx="0"/>
          </p:cNvCxnSpPr>
          <p:nvPr/>
        </p:nvCxnSpPr>
        <p:spPr>
          <a:xfrm flipH="1">
            <a:off x="8460000" y="2307600"/>
            <a:ext cx="1800000" cy="273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00" name="Marker Graph Database"/>
          <p:cNvSpPr/>
          <p:nvPr/>
        </p:nvSpPr>
        <p:spPr>
          <a:xfrm>
            <a:off x="4096800" y="3736800"/>
            <a:ext cx="1526400" cy="954000"/>
          </a:xfrm>
          <a:prstGeom prst="roundRect">
            <a:avLst/>
          </a:prstGeom>
          <a:noFill/>
          <a:ln w="28575">
            <a:solidFill>
              <a:srgbClr val="C60C30"/>
            </a:solidFill>
            <a:prstDash val="dash"/>
          </a:ln>
        </p:spPr>
        <p:txBody>
          <a:bodyPr/>
          <a:lstStyle/>
          <a:p>
            <a:endParaRPr/>
          </a:p>
        </p:txBody>
      </p:sp>
      <p:sp>
        <p:nvSpPr>
          <p:cNvPr id="2001" name="Marker Graph Engine"/>
          <p:cNvSpPr/>
          <p:nvPr/>
        </p:nvSpPr>
        <p:spPr>
          <a:xfrm>
            <a:off x="2296800" y="3736800"/>
            <a:ext cx="1526400" cy="954000"/>
          </a:xfrm>
          <a:prstGeom prst="roundRect">
            <a:avLst/>
          </a:prstGeom>
          <a:noFill/>
          <a:ln w="28575">
            <a:solidFill>
              <a:srgbClr val="C60C30"/>
            </a:solidFill>
            <a:prstDash val="dash"/>
          </a:ln>
        </p:spPr>
        <p:txBody>
          <a:bodyPr/>
          <a:lstStyle/>
          <a:p>
            <a:endParaRPr/>
          </a:p>
        </p:txBody>
      </p:sp>
    </p:spTree>
    <p:extLst>
      <p:ext uri="{BB962C8B-B14F-4D97-AF65-F5344CB8AC3E}">
        <p14:creationId xmlns:p14="http://schemas.microsoft.com/office/powerpoint/2010/main" val="20741294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a:extLst>
              <a:ext uri="{FF2B5EF4-FFF2-40B4-BE49-F238E27FC236}">
                <a16:creationId xmlns:a16="http://schemas.microsoft.com/office/drawing/2014/main" id="{598A74DB-1D80-45DD-AD66-28541A57ECC2}"/>
              </a:ext>
            </a:extLst>
          </p:cNvPr>
          <p:cNvSpPr/>
          <p:nvPr/>
        </p:nvSpPr>
        <p:spPr>
          <a:xfrm>
            <a:off x="540000" y="1260000"/>
            <a:ext cx="11159250" cy="304800"/>
          </a:xfrm>
          <a:prstGeom prst="rect">
            <a:avLst/>
          </a:prstGeom>
          <a:noFill/>
          <a:ln w="0">
            <a:noFill/>
            <a:prstDash val="solid"/>
          </a:ln>
        </p:spPr>
        <p:txBody>
          <a:bodyPr anchor="ctr"/>
          <a:lstStyle/>
          <a:p>
            <a:pPr algn="l">
              <a:defRPr sz="1425" b="0">
                <a:solidFill>
                  <a:srgbClr val="746B5F"/>
                </a:solidFill>
              </a:defRPr>
            </a:pPr>
            <a:r>
              <a:rPr sz="1425" b="0" dirty="0">
                <a:solidFill>
                  <a:srgbClr val="746B5F"/>
                </a:solidFill>
              </a:rPr>
              <a:t>Hybrid Retrieval </a:t>
            </a:r>
            <a:r>
              <a:rPr sz="1425" b="0" dirty="0" err="1">
                <a:solidFill>
                  <a:srgbClr val="746B5F"/>
                </a:solidFill>
              </a:rPr>
              <a:t>findet</a:t>
            </a:r>
            <a:r>
              <a:rPr sz="1425" b="0" dirty="0">
                <a:solidFill>
                  <a:srgbClr val="746B5F"/>
                </a:solidFill>
              </a:rPr>
              <a:t> </a:t>
            </a:r>
            <a:r>
              <a:rPr sz="1425" b="0" dirty="0" err="1">
                <a:solidFill>
                  <a:srgbClr val="746B5F"/>
                </a:solidFill>
              </a:rPr>
              <a:t>relevante</a:t>
            </a:r>
            <a:r>
              <a:rPr sz="1425" b="0" dirty="0">
                <a:solidFill>
                  <a:srgbClr val="746B5F"/>
                </a:solidFill>
              </a:rPr>
              <a:t> </a:t>
            </a:r>
            <a:r>
              <a:rPr sz="1425" b="0" dirty="0" err="1">
                <a:solidFill>
                  <a:srgbClr val="746B5F"/>
                </a:solidFill>
              </a:rPr>
              <a:t>Passagen</a:t>
            </a:r>
            <a:r>
              <a:rPr sz="1425" b="0" dirty="0">
                <a:solidFill>
                  <a:srgbClr val="746B5F"/>
                </a:solidFill>
              </a:rPr>
              <a:t>. Der Graph </a:t>
            </a:r>
            <a:r>
              <a:rPr sz="1425" b="0" dirty="0" err="1">
                <a:solidFill>
                  <a:srgbClr val="746B5F"/>
                </a:solidFill>
              </a:rPr>
              <a:t>erweitert</a:t>
            </a:r>
            <a:r>
              <a:rPr sz="1425" b="0" dirty="0">
                <a:solidFill>
                  <a:srgbClr val="746B5F"/>
                </a:solidFill>
              </a:rPr>
              <a:t> </a:t>
            </a:r>
            <a:r>
              <a:rPr sz="1425" b="0" dirty="0" err="1">
                <a:solidFill>
                  <a:srgbClr val="746B5F"/>
                </a:solidFill>
              </a:rPr>
              <a:t>sie</a:t>
            </a:r>
            <a:r>
              <a:rPr sz="1425" b="0" dirty="0">
                <a:solidFill>
                  <a:srgbClr val="746B5F"/>
                </a:solidFill>
              </a:rPr>
              <a:t> </a:t>
            </a:r>
            <a:r>
              <a:rPr sz="1425" b="0" dirty="0" err="1">
                <a:solidFill>
                  <a:srgbClr val="746B5F"/>
                </a:solidFill>
              </a:rPr>
              <a:t>gezielt</a:t>
            </a:r>
            <a:r>
              <a:rPr sz="1425" b="0" dirty="0">
                <a:solidFill>
                  <a:srgbClr val="746B5F"/>
                </a:solidFill>
              </a:rPr>
              <a:t> um </a:t>
            </a:r>
            <a:r>
              <a:rPr sz="1425" b="0" dirty="0" err="1">
                <a:solidFill>
                  <a:srgbClr val="746B5F"/>
                </a:solidFill>
              </a:rPr>
              <a:t>Kontext</a:t>
            </a:r>
            <a:r>
              <a:rPr sz="1425" b="0" dirty="0">
                <a:solidFill>
                  <a:srgbClr val="746B5F"/>
                </a:solidFill>
              </a:rPr>
              <a:t>.</a:t>
            </a:r>
          </a:p>
        </p:txBody>
      </p:sp>
      <p:sp>
        <p:nvSpPr>
          <p:cNvPr id="4" name="flow-1">
            <a:extLst>
              <a:ext uri="{FF2B5EF4-FFF2-40B4-BE49-F238E27FC236}">
                <a16:creationId xmlns:a16="http://schemas.microsoft.com/office/drawing/2014/main" id="{B220FF84-877B-4A53-AEEE-B36C2DCD5C24}"/>
              </a:ext>
            </a:extLst>
          </p:cNvPr>
          <p:cNvSpPr/>
          <p:nvPr/>
        </p:nvSpPr>
        <p:spPr>
          <a:xfrm>
            <a:off x="204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5" name="flow-2">
            <a:extLst>
              <a:ext uri="{FF2B5EF4-FFF2-40B4-BE49-F238E27FC236}">
                <a16:creationId xmlns:a16="http://schemas.microsoft.com/office/drawing/2014/main" id="{289C28BA-8205-41D3-8895-860805D26B50}"/>
              </a:ext>
            </a:extLst>
          </p:cNvPr>
          <p:cNvSpPr/>
          <p:nvPr/>
        </p:nvSpPr>
        <p:spPr>
          <a:xfrm>
            <a:off x="5154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6" name="flow-3">
            <a:extLst>
              <a:ext uri="{FF2B5EF4-FFF2-40B4-BE49-F238E27FC236}">
                <a16:creationId xmlns:a16="http://schemas.microsoft.com/office/drawing/2014/main" id="{7CE22AC2-4395-4F46-ADB7-4E6F9713071E}"/>
              </a:ext>
            </a:extLst>
          </p:cNvPr>
          <p:cNvSpPr/>
          <p:nvPr/>
        </p:nvSpPr>
        <p:spPr>
          <a:xfrm>
            <a:off x="681915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7" name="flow-4">
            <a:extLst>
              <a:ext uri="{FF2B5EF4-FFF2-40B4-BE49-F238E27FC236}">
                <a16:creationId xmlns:a16="http://schemas.microsoft.com/office/drawing/2014/main" id="{809A29F3-7038-4A3C-B6F0-A12C8EE3AB96}"/>
              </a:ext>
            </a:extLst>
          </p:cNvPr>
          <p:cNvSpPr/>
          <p:nvPr/>
        </p:nvSpPr>
        <p:spPr>
          <a:xfrm>
            <a:off x="9180000" y="3111340"/>
            <a:ext cx="266700" cy="438150"/>
          </a:xfrm>
          <a:prstGeom prst="chevron">
            <a:avLst/>
          </a:prstGeom>
          <a:solidFill>
            <a:srgbClr val="B8C1C6"/>
          </a:solidFill>
          <a:ln w="0">
            <a:solidFill>
              <a:srgbClr val="B8C1C6"/>
            </a:solidFill>
            <a:prstDash val="solid"/>
          </a:ln>
        </p:spPr>
        <p:txBody>
          <a:bodyPr/>
          <a:lstStyle/>
          <a:p>
            <a:endParaRPr lang="de-CH"/>
          </a:p>
        </p:txBody>
      </p:sp>
      <p:sp>
        <p:nvSpPr>
          <p:cNvPr id="8" name="stage1-label">
            <a:extLst>
              <a:ext uri="{FF2B5EF4-FFF2-40B4-BE49-F238E27FC236}">
                <a16:creationId xmlns:a16="http://schemas.microsoft.com/office/drawing/2014/main" id="{AD68111B-D580-47F9-B9FB-95523347BFD8}"/>
              </a:ext>
            </a:extLst>
          </p:cNvPr>
          <p:cNvSpPr/>
          <p:nvPr/>
        </p:nvSpPr>
        <p:spPr>
          <a:xfrm>
            <a:off x="540000" y="1980000"/>
            <a:ext cx="144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1  FRAGE</a:t>
            </a:r>
          </a:p>
        </p:txBody>
      </p:sp>
      <p:sp>
        <p:nvSpPr>
          <p:cNvPr id="9" name="question">
            <a:extLst>
              <a:ext uri="{FF2B5EF4-FFF2-40B4-BE49-F238E27FC236}">
                <a16:creationId xmlns:a16="http://schemas.microsoft.com/office/drawing/2014/main" id="{7244B46F-B457-42A2-B523-06F11FB1D894}"/>
              </a:ext>
            </a:extLst>
          </p:cNvPr>
          <p:cNvSpPr/>
          <p:nvPr/>
        </p:nvSpPr>
        <p:spPr>
          <a:xfrm>
            <a:off x="540000" y="2340000"/>
            <a:ext cx="1440000" cy="1980000"/>
          </a:xfrm>
          <a:prstGeom prst="roundRect">
            <a:avLst>
              <a:gd name="adj" fmla="val 7500"/>
            </a:avLst>
          </a:prstGeom>
          <a:solidFill>
            <a:srgbClr val="304452"/>
          </a:solidFill>
          <a:ln w="0">
            <a:solidFill>
              <a:srgbClr val="304452"/>
            </a:solidFill>
            <a:prstDash val="solid"/>
          </a:ln>
        </p:spPr>
        <p:txBody>
          <a:bodyPr/>
          <a:lstStyle/>
          <a:p>
            <a:pPr algn="ctr">
              <a:defRPr sz="1500" b="1">
                <a:solidFill>
                  <a:srgbClr val="FFFFFF"/>
                </a:solidFill>
              </a:defRPr>
            </a:pPr>
            <a:r>
              <a:rPr lang="de-CH" sz="4000" b="1" dirty="0">
                <a:solidFill>
                  <a:srgbClr val="FFFFFF"/>
                </a:solidFill>
              </a:rPr>
              <a:t>?</a:t>
            </a:r>
          </a:p>
          <a:p>
            <a:pPr algn="ctr">
              <a:defRPr sz="1500" b="1">
                <a:solidFill>
                  <a:srgbClr val="FFFFFF"/>
                </a:solidFill>
              </a:defRPr>
            </a:pPr>
            <a:endParaRPr lang="de-DE" sz="1600" b="1" dirty="0">
              <a:solidFill>
                <a:srgbClr val="FFFFFF"/>
              </a:solidFill>
            </a:endParaRPr>
          </a:p>
          <a:p>
            <a:pPr algn="ctr">
              <a:defRPr sz="1500" b="1">
                <a:solidFill>
                  <a:srgbClr val="FFFFFF"/>
                </a:solidFill>
              </a:defRPr>
            </a:pPr>
            <a:r>
              <a:rPr lang="de-DE" sz="1600" b="1" dirty="0">
                <a:solidFill>
                  <a:srgbClr val="FFFFFF"/>
                </a:solidFill>
              </a:rPr>
              <a:t>Was gilt nach</a:t>
            </a:r>
          </a:p>
          <a:p>
            <a:pPr algn="ctr">
              <a:defRPr sz="1500" b="1">
                <a:solidFill>
                  <a:srgbClr val="FFFFFF"/>
                </a:solidFill>
              </a:defRPr>
            </a:pPr>
            <a:r>
              <a:rPr lang="de-DE" sz="1600" b="1" dirty="0">
                <a:solidFill>
                  <a:srgbClr val="FFFFFF"/>
                </a:solidFill>
              </a:rPr>
              <a:t>Art. 1 OR?</a:t>
            </a:r>
          </a:p>
          <a:p>
            <a:endParaRPr lang="de-CH" dirty="0"/>
          </a:p>
        </p:txBody>
      </p:sp>
      <p:sp>
        <p:nvSpPr>
          <p:cNvPr id="12" name="stage2-label">
            <a:extLst>
              <a:ext uri="{FF2B5EF4-FFF2-40B4-BE49-F238E27FC236}">
                <a16:creationId xmlns:a16="http://schemas.microsoft.com/office/drawing/2014/main" id="{76B3E30B-6E9C-49C4-A4D9-623170EB133B}"/>
              </a:ext>
            </a:extLst>
          </p:cNvPr>
          <p:cNvSpPr/>
          <p:nvPr/>
        </p:nvSpPr>
        <p:spPr>
          <a:xfrm>
            <a:off x="2385000" y="1980000"/>
            <a:ext cx="27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2  HYBRID SUCHEN</a:t>
            </a:r>
          </a:p>
        </p:txBody>
      </p:sp>
      <p:sp>
        <p:nvSpPr>
          <p:cNvPr id="15" name="semantic-title">
            <a:extLst>
              <a:ext uri="{FF2B5EF4-FFF2-40B4-BE49-F238E27FC236}">
                <a16:creationId xmlns:a16="http://schemas.microsoft.com/office/drawing/2014/main" id="{4E361F9E-9187-4347-A714-B3A84599E622}"/>
              </a:ext>
            </a:extLst>
          </p:cNvPr>
          <p:cNvSpPr/>
          <p:nvPr/>
        </p:nvSpPr>
        <p:spPr>
          <a:xfrm>
            <a:off x="2700000" y="2520000"/>
            <a:ext cx="1866900" cy="209550"/>
          </a:xfrm>
          <a:prstGeom prst="rect">
            <a:avLst/>
          </a:prstGeom>
          <a:noFill/>
          <a:ln w="0">
            <a:noFill/>
            <a:prstDash val="solid"/>
          </a:ln>
        </p:spPr>
        <p:txBody>
          <a:bodyPr anchor="ctr"/>
          <a:lstStyle/>
          <a:p>
            <a:pPr algn="ctr">
              <a:defRPr sz="975" b="1">
                <a:solidFill>
                  <a:srgbClr val="D20A32"/>
                </a:solidFill>
              </a:defRPr>
            </a:pPr>
            <a:endParaRPr sz="975" b="1" dirty="0">
              <a:solidFill>
                <a:srgbClr val="D20A32"/>
              </a:solidFill>
            </a:endParaRPr>
          </a:p>
        </p:txBody>
      </p:sp>
      <p:sp>
        <p:nvSpPr>
          <p:cNvPr id="19" name="lexical-copy">
            <a:extLst>
              <a:ext uri="{FF2B5EF4-FFF2-40B4-BE49-F238E27FC236}">
                <a16:creationId xmlns:a16="http://schemas.microsoft.com/office/drawing/2014/main" id="{9FFDED9B-C5A8-4D35-AED5-08B8808E6621}"/>
              </a:ext>
            </a:extLst>
          </p:cNvPr>
          <p:cNvSpPr/>
          <p:nvPr/>
        </p:nvSpPr>
        <p:spPr>
          <a:xfrm>
            <a:off x="2700000" y="3780000"/>
            <a:ext cx="1866900" cy="209550"/>
          </a:xfrm>
          <a:prstGeom prst="rect">
            <a:avLst/>
          </a:prstGeom>
          <a:noFill/>
          <a:ln w="0">
            <a:noFill/>
            <a:prstDash val="solid"/>
          </a:ln>
        </p:spPr>
        <p:txBody>
          <a:bodyPr anchor="ctr"/>
          <a:lstStyle/>
          <a:p>
            <a:pPr algn="ctr">
              <a:defRPr sz="1125" b="0">
                <a:solidFill>
                  <a:srgbClr val="304452"/>
                </a:solidFill>
              </a:defRPr>
            </a:pPr>
            <a:endParaRPr sz="1125" b="0" dirty="0">
              <a:solidFill>
                <a:srgbClr val="304452"/>
              </a:solidFill>
            </a:endParaRPr>
          </a:p>
        </p:txBody>
      </p:sp>
      <p:sp>
        <p:nvSpPr>
          <p:cNvPr id="20" name="stage3-label">
            <a:extLst>
              <a:ext uri="{FF2B5EF4-FFF2-40B4-BE49-F238E27FC236}">
                <a16:creationId xmlns:a16="http://schemas.microsoft.com/office/drawing/2014/main" id="{235356C2-D245-426F-8CBE-5E61C6210532}"/>
              </a:ext>
            </a:extLst>
          </p:cNvPr>
          <p:cNvSpPr/>
          <p:nvPr/>
        </p:nvSpPr>
        <p:spPr>
          <a:xfrm>
            <a:off x="5484000" y="1980000"/>
            <a:ext cx="1266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3  FUSIONIEREN</a:t>
            </a:r>
          </a:p>
        </p:txBody>
      </p:sp>
      <p:sp>
        <p:nvSpPr>
          <p:cNvPr id="21" name="rrf-circle">
            <a:extLst>
              <a:ext uri="{FF2B5EF4-FFF2-40B4-BE49-F238E27FC236}">
                <a16:creationId xmlns:a16="http://schemas.microsoft.com/office/drawing/2014/main" id="{D4B349E2-9E52-4F2E-B8F2-230B2D6416A5}"/>
              </a:ext>
            </a:extLst>
          </p:cNvPr>
          <p:cNvSpPr/>
          <p:nvPr/>
        </p:nvSpPr>
        <p:spPr>
          <a:xfrm>
            <a:off x="5490000" y="2700000"/>
            <a:ext cx="1260000" cy="1260000"/>
          </a:xfrm>
          <a:prstGeom prst="ellipse">
            <a:avLst/>
          </a:prstGeom>
          <a:solidFill>
            <a:srgbClr val="834A78"/>
          </a:solidFill>
          <a:ln w="0">
            <a:solidFill>
              <a:srgbClr val="834A78"/>
            </a:solidFill>
            <a:prstDash val="solid"/>
          </a:ln>
        </p:spPr>
        <p:txBody>
          <a:bodyPr anchor="ctr"/>
          <a:lstStyle/>
          <a:p>
            <a:pPr algn="ctr"/>
            <a:r>
              <a:rPr lang="de-CH" b="1" dirty="0">
                <a:solidFill>
                  <a:srgbClr val="FFFFFF"/>
                </a:solidFill>
              </a:rPr>
              <a:t>RRF</a:t>
            </a:r>
            <a:endParaRPr lang="de-CH" dirty="0"/>
          </a:p>
        </p:txBody>
      </p:sp>
      <p:sp>
        <p:nvSpPr>
          <p:cNvPr id="23" name="rrf-copy">
            <a:extLst>
              <a:ext uri="{FF2B5EF4-FFF2-40B4-BE49-F238E27FC236}">
                <a16:creationId xmlns:a16="http://schemas.microsoft.com/office/drawing/2014/main" id="{7628CD87-A2E9-4DE0-A32F-092CF186B32D}"/>
              </a:ext>
            </a:extLst>
          </p:cNvPr>
          <p:cNvSpPr/>
          <p:nvPr/>
        </p:nvSpPr>
        <p:spPr>
          <a:xfrm>
            <a:off x="5490000" y="3960000"/>
            <a:ext cx="1254000" cy="457200"/>
          </a:xfrm>
          <a:prstGeom prst="rect">
            <a:avLst/>
          </a:prstGeom>
          <a:noFill/>
          <a:ln w="0">
            <a:noFill/>
            <a:prstDash val="solid"/>
          </a:ln>
        </p:spPr>
        <p:txBody>
          <a:bodyPr lIns="0" tIns="0" rIns="0" bIns="0" anchor="ctr"/>
          <a:lstStyle/>
          <a:p>
            <a:pPr algn="ctr">
              <a:defRPr sz="1125" b="1">
                <a:solidFill>
                  <a:srgbClr val="834A78"/>
                </a:solidFill>
              </a:defRPr>
            </a:pPr>
            <a:r>
              <a:rPr sz="1100" dirty="0" err="1">
                <a:solidFill>
                  <a:srgbClr val="834A78"/>
                </a:solidFill>
              </a:rPr>
              <a:t>ein</a:t>
            </a:r>
            <a:r>
              <a:rPr sz="1100" dirty="0">
                <a:solidFill>
                  <a:srgbClr val="834A78"/>
                </a:solidFill>
              </a:rPr>
              <a:t> </a:t>
            </a:r>
            <a:r>
              <a:rPr sz="1100" dirty="0" err="1">
                <a:solidFill>
                  <a:srgbClr val="834A78"/>
                </a:solidFill>
              </a:rPr>
              <a:t>gemeinsames</a:t>
            </a:r>
            <a:endParaRPr sz="1100" dirty="0">
              <a:solidFill>
                <a:srgbClr val="834A78"/>
              </a:solidFill>
            </a:endParaRPr>
          </a:p>
          <a:p>
            <a:pPr algn="ctr">
              <a:defRPr sz="1125" b="1">
                <a:solidFill>
                  <a:srgbClr val="834A78"/>
                </a:solidFill>
              </a:defRPr>
            </a:pPr>
            <a:r>
              <a:rPr sz="1100" dirty="0">
                <a:solidFill>
                  <a:srgbClr val="834A78"/>
                </a:solidFill>
              </a:rPr>
              <a:t>Ranking</a:t>
            </a:r>
          </a:p>
        </p:txBody>
      </p:sp>
      <p:sp>
        <p:nvSpPr>
          <p:cNvPr id="24" name="stage4-label">
            <a:extLst>
              <a:ext uri="{FF2B5EF4-FFF2-40B4-BE49-F238E27FC236}">
                <a16:creationId xmlns:a16="http://schemas.microsoft.com/office/drawing/2014/main" id="{7121B195-CD04-42B9-857A-7411FCE0D2AE}"/>
              </a:ext>
            </a:extLst>
          </p:cNvPr>
          <p:cNvSpPr/>
          <p:nvPr/>
        </p:nvSpPr>
        <p:spPr>
          <a:xfrm>
            <a:off x="7200000" y="1980000"/>
            <a:ext cx="180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4  GRAPH ERWEITERT</a:t>
            </a:r>
          </a:p>
        </p:txBody>
      </p:sp>
      <p:sp>
        <p:nvSpPr>
          <p:cNvPr id="25" name="graph-shell">
            <a:extLst>
              <a:ext uri="{FF2B5EF4-FFF2-40B4-BE49-F238E27FC236}">
                <a16:creationId xmlns:a16="http://schemas.microsoft.com/office/drawing/2014/main" id="{87E6382C-B553-4245-B050-7CD41D1EFB82}"/>
              </a:ext>
            </a:extLst>
          </p:cNvPr>
          <p:cNvSpPr/>
          <p:nvPr/>
        </p:nvSpPr>
        <p:spPr>
          <a:xfrm>
            <a:off x="7200000" y="2340000"/>
            <a:ext cx="1800000" cy="1980000"/>
          </a:xfrm>
          <a:prstGeom prst="roundRect">
            <a:avLst>
              <a:gd name="adj" fmla="val 5217"/>
            </a:avLst>
          </a:prstGeom>
          <a:solidFill>
            <a:srgbClr val="FBF3DF"/>
          </a:solidFill>
          <a:ln w="9525">
            <a:solidFill>
              <a:srgbClr val="E5D4AA"/>
            </a:solidFill>
            <a:prstDash val="solid"/>
          </a:ln>
        </p:spPr>
        <p:txBody>
          <a:bodyPr anchor="b"/>
          <a:lstStyle/>
          <a:p>
            <a:pPr algn="ctr">
              <a:defRPr sz="1125" b="1">
                <a:solidFill>
                  <a:srgbClr val="304452"/>
                </a:solidFill>
              </a:defRPr>
            </a:pPr>
            <a:r>
              <a:rPr lang="de-CH" b="1" dirty="0">
                <a:solidFill>
                  <a:srgbClr val="304452"/>
                </a:solidFill>
              </a:rPr>
              <a:t>relevante Nachbarn</a:t>
            </a:r>
          </a:p>
          <a:p>
            <a:pPr algn="ctr">
              <a:defRPr sz="1125" b="1">
                <a:solidFill>
                  <a:srgbClr val="304452"/>
                </a:solidFill>
              </a:defRPr>
            </a:pPr>
            <a:r>
              <a:rPr lang="de-CH" b="1" dirty="0">
                <a:solidFill>
                  <a:srgbClr val="304452"/>
                </a:solidFill>
              </a:rPr>
              <a:t>gezielt ergänzen</a:t>
            </a:r>
          </a:p>
        </p:txBody>
      </p:sp>
      <p:grpSp>
        <p:nvGrpSpPr>
          <p:cNvPr id="47" name="Gruppieren 46">
            <a:extLst>
              <a:ext uri="{FF2B5EF4-FFF2-40B4-BE49-F238E27FC236}">
                <a16:creationId xmlns:a16="http://schemas.microsoft.com/office/drawing/2014/main" id="{AA403698-CB16-7E63-EC7D-91BFBE43C7AF}"/>
              </a:ext>
            </a:extLst>
          </p:cNvPr>
          <p:cNvGrpSpPr/>
          <p:nvPr/>
        </p:nvGrpSpPr>
        <p:grpSpPr>
          <a:xfrm>
            <a:off x="7380000" y="2520000"/>
            <a:ext cx="1485000" cy="1305000"/>
            <a:chOff x="7380000" y="2520000"/>
            <a:chExt cx="1485000" cy="1305000"/>
          </a:xfrm>
        </p:grpSpPr>
        <p:sp>
          <p:nvSpPr>
            <p:cNvPr id="26" name="edge-a">
              <a:extLst>
                <a:ext uri="{FF2B5EF4-FFF2-40B4-BE49-F238E27FC236}">
                  <a16:creationId xmlns:a16="http://schemas.microsoft.com/office/drawing/2014/main" id="{7B9FB8E1-886E-4AE5-939D-AB152D87E07E}"/>
                </a:ext>
              </a:extLst>
            </p:cNvPr>
            <p:cNvSpPr/>
            <p:nvPr/>
          </p:nvSpPr>
          <p:spPr>
            <a:xfrm flipV="1">
              <a:off x="7659150" y="2830425"/>
              <a:ext cx="710850" cy="316275"/>
            </a:xfrm>
            <a:prstGeom prst="line">
              <a:avLst/>
            </a:prstGeom>
            <a:noFill/>
            <a:ln w="19050">
              <a:solidFill>
                <a:srgbClr val="304452"/>
              </a:solidFill>
              <a:prstDash val="solid"/>
            </a:ln>
          </p:spPr>
          <p:txBody>
            <a:bodyPr/>
            <a:lstStyle/>
            <a:p>
              <a:endParaRPr lang="de-CH"/>
            </a:p>
          </p:txBody>
        </p:sp>
        <p:sp>
          <p:nvSpPr>
            <p:cNvPr id="27" name="edge-b">
              <a:extLst>
                <a:ext uri="{FF2B5EF4-FFF2-40B4-BE49-F238E27FC236}">
                  <a16:creationId xmlns:a16="http://schemas.microsoft.com/office/drawing/2014/main" id="{AC5CC76D-E5AD-4B63-A324-2CB690352918}"/>
                </a:ext>
              </a:extLst>
            </p:cNvPr>
            <p:cNvSpPr/>
            <p:nvPr/>
          </p:nvSpPr>
          <p:spPr>
            <a:xfrm>
              <a:off x="7659150" y="3146700"/>
              <a:ext cx="917100" cy="366600"/>
            </a:xfrm>
            <a:prstGeom prst="line">
              <a:avLst/>
            </a:prstGeom>
            <a:noFill/>
            <a:ln w="19050">
              <a:solidFill>
                <a:srgbClr val="304452"/>
              </a:solidFill>
              <a:prstDash val="solid"/>
            </a:ln>
          </p:spPr>
          <p:txBody>
            <a:bodyPr/>
            <a:lstStyle/>
            <a:p>
              <a:endParaRPr lang="de-CH"/>
            </a:p>
          </p:txBody>
        </p:sp>
        <p:sp>
          <p:nvSpPr>
            <p:cNvPr id="28" name="edge-c">
              <a:extLst>
                <a:ext uri="{FF2B5EF4-FFF2-40B4-BE49-F238E27FC236}">
                  <a16:creationId xmlns:a16="http://schemas.microsoft.com/office/drawing/2014/main" id="{EAC8DC4F-3E13-4478-BA01-2FAEA4D054D4}"/>
                </a:ext>
              </a:extLst>
            </p:cNvPr>
            <p:cNvSpPr/>
            <p:nvPr/>
          </p:nvSpPr>
          <p:spPr>
            <a:xfrm>
              <a:off x="8393100" y="2830424"/>
              <a:ext cx="183150" cy="675541"/>
            </a:xfrm>
            <a:prstGeom prst="line">
              <a:avLst/>
            </a:prstGeom>
            <a:noFill/>
            <a:ln w="19050">
              <a:solidFill>
                <a:srgbClr val="304452"/>
              </a:solidFill>
              <a:prstDash val="solid"/>
            </a:ln>
          </p:spPr>
          <p:txBody>
            <a:bodyPr/>
            <a:lstStyle/>
            <a:p>
              <a:endParaRPr lang="de-CH"/>
            </a:p>
          </p:txBody>
        </p:sp>
        <p:sp>
          <p:nvSpPr>
            <p:cNvPr id="29" name="node-main">
              <a:extLst>
                <a:ext uri="{FF2B5EF4-FFF2-40B4-BE49-F238E27FC236}">
                  <a16:creationId xmlns:a16="http://schemas.microsoft.com/office/drawing/2014/main" id="{E0D88280-E72C-4BF1-AA0D-01F27726CF1B}"/>
                </a:ext>
              </a:extLst>
            </p:cNvPr>
            <p:cNvSpPr/>
            <p:nvPr/>
          </p:nvSpPr>
          <p:spPr>
            <a:xfrm>
              <a:off x="7380000" y="2880000"/>
              <a:ext cx="630000" cy="630000"/>
            </a:xfrm>
            <a:prstGeom prst="ellipse">
              <a:avLst/>
            </a:prstGeom>
            <a:solidFill>
              <a:srgbClr val="D49400"/>
            </a:solidFill>
            <a:ln w="19050">
              <a:solidFill>
                <a:srgbClr val="FFFFFF"/>
              </a:solidFill>
              <a:prstDash val="solid"/>
            </a:ln>
          </p:spPr>
          <p:txBody>
            <a:bodyPr lIns="0" tIns="0" rIns="0" bIns="0" anchor="ctr" anchorCtr="1"/>
            <a:lstStyle/>
            <a:p>
              <a:r>
                <a:rPr lang="de-CH" sz="900" b="1" dirty="0">
                  <a:solidFill>
                    <a:srgbClr val="FFFFFF"/>
                  </a:solidFill>
                </a:rPr>
                <a:t>Art. 1</a:t>
              </a:r>
            </a:p>
          </p:txBody>
        </p:sp>
        <p:sp>
          <p:nvSpPr>
            <p:cNvPr id="30" name="node-neighbor-1">
              <a:extLst>
                <a:ext uri="{FF2B5EF4-FFF2-40B4-BE49-F238E27FC236}">
                  <a16:creationId xmlns:a16="http://schemas.microsoft.com/office/drawing/2014/main" id="{75FEA930-0C69-4D20-BBBF-D441480D64A8}"/>
                </a:ext>
              </a:extLst>
            </p:cNvPr>
            <p:cNvSpPr/>
            <p:nvPr/>
          </p:nvSpPr>
          <p:spPr>
            <a:xfrm>
              <a:off x="8100000" y="2520000"/>
              <a:ext cx="630000" cy="630000"/>
            </a:xfrm>
            <a:prstGeom prst="ellipse">
              <a:avLst/>
            </a:prstGeom>
            <a:solidFill>
              <a:srgbClr val="307F87"/>
            </a:solidFill>
            <a:ln w="19050">
              <a:solidFill>
                <a:srgbClr val="FFFFFF"/>
              </a:solidFill>
              <a:prstDash val="solid"/>
            </a:ln>
          </p:spPr>
          <p:txBody>
            <a:bodyPr lIns="0" tIns="0" rIns="0" bIns="0" anchor="ctr" anchorCtr="1"/>
            <a:lstStyle/>
            <a:p>
              <a:r>
                <a:rPr lang="de-CH" sz="900" b="1" dirty="0">
                  <a:solidFill>
                    <a:srgbClr val="FFFFFF"/>
                  </a:solidFill>
                </a:rPr>
                <a:t>Begriff</a:t>
              </a:r>
              <a:endParaRPr lang="de-CH" sz="900" dirty="0"/>
            </a:p>
          </p:txBody>
        </p:sp>
        <p:sp>
          <p:nvSpPr>
            <p:cNvPr id="31" name="node-neighbor-2">
              <a:extLst>
                <a:ext uri="{FF2B5EF4-FFF2-40B4-BE49-F238E27FC236}">
                  <a16:creationId xmlns:a16="http://schemas.microsoft.com/office/drawing/2014/main" id="{79228D47-291B-4A14-8451-268CE67330B9}"/>
                </a:ext>
              </a:extLst>
            </p:cNvPr>
            <p:cNvSpPr/>
            <p:nvPr/>
          </p:nvSpPr>
          <p:spPr>
            <a:xfrm>
              <a:off x="8235000" y="3195000"/>
              <a:ext cx="630000" cy="630000"/>
            </a:xfrm>
            <a:prstGeom prst="ellipse">
              <a:avLst/>
            </a:prstGeom>
            <a:solidFill>
              <a:srgbClr val="8A7D66"/>
            </a:solidFill>
            <a:ln w="19050">
              <a:solidFill>
                <a:srgbClr val="FFFFFF"/>
              </a:solidFill>
              <a:prstDash val="solid"/>
            </a:ln>
          </p:spPr>
          <p:txBody>
            <a:bodyPr lIns="0" tIns="0" rIns="0" bIns="0" anchor="ctr" anchorCtr="1"/>
            <a:lstStyle/>
            <a:p>
              <a:r>
                <a:rPr lang="de-CH" sz="900" b="1" dirty="0">
                  <a:solidFill>
                    <a:srgbClr val="FFFFFF"/>
                  </a:solidFill>
                </a:rPr>
                <a:t>Verweis</a:t>
              </a:r>
              <a:endParaRPr lang="de-CH" sz="900" dirty="0"/>
            </a:p>
          </p:txBody>
        </p:sp>
      </p:grpSp>
      <p:sp>
        <p:nvSpPr>
          <p:cNvPr id="36" name="stage5-label">
            <a:extLst>
              <a:ext uri="{FF2B5EF4-FFF2-40B4-BE49-F238E27FC236}">
                <a16:creationId xmlns:a16="http://schemas.microsoft.com/office/drawing/2014/main" id="{D2446592-1FE5-4105-BA2B-CE0893685701}"/>
              </a:ext>
            </a:extLst>
          </p:cNvPr>
          <p:cNvSpPr/>
          <p:nvPr/>
        </p:nvSpPr>
        <p:spPr>
          <a:xfrm>
            <a:off x="9539250" y="1980000"/>
            <a:ext cx="2160000" cy="228600"/>
          </a:xfrm>
          <a:prstGeom prst="rect">
            <a:avLst/>
          </a:prstGeom>
          <a:noFill/>
          <a:ln w="0">
            <a:noFill/>
            <a:prstDash val="solid"/>
          </a:ln>
        </p:spPr>
        <p:txBody>
          <a:bodyPr anchor="ctr"/>
          <a:lstStyle/>
          <a:p>
            <a:pPr algn="l">
              <a:defRPr sz="975" b="1">
                <a:solidFill>
                  <a:srgbClr val="746B5F"/>
                </a:solidFill>
              </a:defRPr>
            </a:pPr>
            <a:r>
              <a:rPr sz="975" b="1" dirty="0">
                <a:solidFill>
                  <a:srgbClr val="746B5F"/>
                </a:solidFill>
              </a:rPr>
              <a:t>5  KONTEXT</a:t>
            </a:r>
          </a:p>
        </p:txBody>
      </p:sp>
      <p:sp>
        <p:nvSpPr>
          <p:cNvPr id="37" name="context">
            <a:extLst>
              <a:ext uri="{FF2B5EF4-FFF2-40B4-BE49-F238E27FC236}">
                <a16:creationId xmlns:a16="http://schemas.microsoft.com/office/drawing/2014/main" id="{296F1C51-5F1D-4F1F-80AF-8E958467C608}"/>
              </a:ext>
            </a:extLst>
          </p:cNvPr>
          <p:cNvSpPr/>
          <p:nvPr/>
        </p:nvSpPr>
        <p:spPr>
          <a:xfrm>
            <a:off x="9540000" y="2340000"/>
            <a:ext cx="2160000" cy="1980000"/>
          </a:xfrm>
          <a:prstGeom prst="roundRect">
            <a:avLst>
              <a:gd name="adj" fmla="val 5505"/>
            </a:avLst>
          </a:prstGeom>
          <a:solidFill>
            <a:srgbClr val="304452"/>
          </a:solidFill>
          <a:ln w="0">
            <a:solidFill>
              <a:srgbClr val="304452"/>
            </a:solidFill>
            <a:prstDash val="solid"/>
          </a:ln>
        </p:spPr>
        <p:txBody>
          <a:bodyPr tIns="90000" anchor="ctr"/>
          <a:lstStyle/>
          <a:p>
            <a:pPr algn="ctr">
              <a:defRPr sz="1350" b="1">
                <a:solidFill>
                  <a:srgbClr val="FFFFFF"/>
                </a:solidFill>
              </a:defRPr>
            </a:pPr>
            <a:r>
              <a:rPr lang="de-CH" b="1" dirty="0">
                <a:solidFill>
                  <a:srgbClr val="FFFFFF"/>
                </a:solidFill>
              </a:rPr>
              <a:t>KURATIERTER</a:t>
            </a:r>
          </a:p>
          <a:p>
            <a:pPr algn="ctr">
              <a:defRPr sz="1350" b="1">
                <a:solidFill>
                  <a:srgbClr val="FFFFFF"/>
                </a:solidFill>
              </a:defRPr>
            </a:pPr>
            <a:r>
              <a:rPr lang="de-CH" b="1" dirty="0">
                <a:solidFill>
                  <a:srgbClr val="FFFFFF"/>
                </a:solidFill>
              </a:rPr>
              <a:t>KONTEXT</a:t>
            </a:r>
          </a:p>
          <a:p>
            <a:pPr algn="ctr">
              <a:defRPr sz="1350" b="1">
                <a:solidFill>
                  <a:srgbClr val="FFFFFF"/>
                </a:solidFill>
              </a:defRPr>
            </a:pPr>
            <a:endParaRPr lang="de-CH" b="1" dirty="0">
              <a:solidFill>
                <a:srgbClr val="FFFFFF"/>
              </a:solidFill>
            </a:endParaRPr>
          </a:p>
          <a:p>
            <a:pPr algn="ctr">
              <a:defRPr sz="1350" b="1">
                <a:solidFill>
                  <a:srgbClr val="FFFFFF"/>
                </a:solidFill>
              </a:defRPr>
            </a:pPr>
            <a:endParaRPr lang="de-CH" b="1" dirty="0">
              <a:solidFill>
                <a:srgbClr val="FFFFFF"/>
              </a:solidFill>
            </a:endParaRPr>
          </a:p>
          <a:p>
            <a:pPr algn="ctr">
              <a:defRPr sz="1125" b="0">
                <a:solidFill>
                  <a:srgbClr val="FFFFFF"/>
                </a:solidFill>
              </a:defRPr>
            </a:pPr>
            <a:r>
              <a:rPr lang="de-DE" sz="1400" dirty="0">
                <a:solidFill>
                  <a:srgbClr val="FFFFFF"/>
                </a:solidFill>
              </a:rPr>
              <a:t>• beste Treffer</a:t>
            </a:r>
          </a:p>
          <a:p>
            <a:pPr algn="ctr">
              <a:defRPr sz="1125" b="0">
                <a:solidFill>
                  <a:srgbClr val="FFFFFF"/>
                </a:solidFill>
              </a:defRPr>
            </a:pPr>
            <a:r>
              <a:rPr lang="de-DE" sz="1400" dirty="0">
                <a:solidFill>
                  <a:srgbClr val="FFFFFF"/>
                </a:solidFill>
              </a:rPr>
              <a:t>• passende Nachbarn</a:t>
            </a:r>
          </a:p>
          <a:p>
            <a:pPr algn="ctr">
              <a:defRPr sz="1125" b="0">
                <a:solidFill>
                  <a:srgbClr val="FFFFFF"/>
                </a:solidFill>
              </a:defRPr>
            </a:pPr>
            <a:r>
              <a:rPr lang="de-DE" sz="1400" dirty="0">
                <a:solidFill>
                  <a:srgbClr val="FFFFFF"/>
                </a:solidFill>
              </a:rPr>
              <a:t>• innerhalb des Limits</a:t>
            </a:r>
            <a:endParaRPr lang="de-CH" b="1" dirty="0">
              <a:solidFill>
                <a:srgbClr val="FFFFFF"/>
              </a:solidFill>
            </a:endParaRPr>
          </a:p>
        </p:txBody>
      </p:sp>
      <p:sp>
        <p:nvSpPr>
          <p:cNvPr id="39" name="context-rule">
            <a:extLst>
              <a:ext uri="{FF2B5EF4-FFF2-40B4-BE49-F238E27FC236}">
                <a16:creationId xmlns:a16="http://schemas.microsoft.com/office/drawing/2014/main" id="{0502F995-463E-4825-8FE2-0C53FB9F416D}"/>
              </a:ext>
            </a:extLst>
          </p:cNvPr>
          <p:cNvSpPr/>
          <p:nvPr/>
        </p:nvSpPr>
        <p:spPr>
          <a:xfrm>
            <a:off x="9900000" y="3199342"/>
            <a:ext cx="1524000" cy="0"/>
          </a:xfrm>
          <a:prstGeom prst="line">
            <a:avLst/>
          </a:prstGeom>
          <a:noFill/>
          <a:ln w="9525">
            <a:solidFill>
              <a:srgbClr val="80909A"/>
            </a:solidFill>
            <a:prstDash val="solid"/>
          </a:ln>
        </p:spPr>
        <p:txBody>
          <a:bodyPr/>
          <a:lstStyle/>
          <a:p>
            <a:endParaRPr lang="de-CH"/>
          </a:p>
        </p:txBody>
      </p:sp>
      <p:sp>
        <p:nvSpPr>
          <p:cNvPr id="41" name="takeaway">
            <a:extLst>
              <a:ext uri="{FF2B5EF4-FFF2-40B4-BE49-F238E27FC236}">
                <a16:creationId xmlns:a16="http://schemas.microsoft.com/office/drawing/2014/main" id="{8D67E1C2-6641-4B1A-BC5F-F5469ACC23E4}"/>
              </a:ext>
            </a:extLst>
          </p:cNvPr>
          <p:cNvSpPr/>
          <p:nvPr/>
        </p:nvSpPr>
        <p:spPr>
          <a:xfrm>
            <a:off x="2818071" y="5298150"/>
            <a:ext cx="6555858" cy="720000"/>
          </a:xfrm>
          <a:prstGeom prst="roundRect">
            <a:avLst>
              <a:gd name="adj" fmla="val 16667"/>
            </a:avLst>
          </a:prstGeom>
          <a:solidFill>
            <a:srgbClr val="304452"/>
          </a:solidFill>
          <a:ln w="0">
            <a:solidFill>
              <a:srgbClr val="304452"/>
            </a:solidFill>
            <a:prstDash val="solid"/>
          </a:ln>
        </p:spPr>
        <p:txBody>
          <a:bodyPr anchor="ctr"/>
          <a:lstStyle/>
          <a:p>
            <a:pPr algn="ctr">
              <a:defRPr sz="1275" b="1">
                <a:solidFill>
                  <a:srgbClr val="FFFFFF"/>
                </a:solidFill>
              </a:defRPr>
            </a:pPr>
            <a:r>
              <a:rPr lang="de-DE" sz="1600" b="1" dirty="0">
                <a:solidFill>
                  <a:srgbClr val="FFFFFF"/>
                </a:solidFill>
              </a:rPr>
              <a:t>Reihenfolge zählt:</a:t>
            </a:r>
            <a:br>
              <a:rPr lang="de-DE" sz="1600" b="1" dirty="0">
                <a:solidFill>
                  <a:srgbClr val="FFFFFF"/>
                </a:solidFill>
              </a:rPr>
            </a:br>
            <a:r>
              <a:rPr lang="de-DE" sz="1600" b="1" dirty="0">
                <a:solidFill>
                  <a:srgbClr val="FFFFFF"/>
                </a:solidFill>
              </a:rPr>
              <a:t>erst Treffer fusionieren, dann Beziehungen ergänzen.</a:t>
            </a:r>
          </a:p>
        </p:txBody>
      </p:sp>
      <p:sp>
        <p:nvSpPr>
          <p:cNvPr id="44" name="page">
            <a:extLst>
              <a:ext uri="{FF2B5EF4-FFF2-40B4-BE49-F238E27FC236}">
                <a16:creationId xmlns:a16="http://schemas.microsoft.com/office/drawing/2014/main" id="{FA5986F7-ED63-474F-8ABE-805440A84E62}"/>
              </a:ext>
            </a:extLst>
          </p:cNvPr>
          <p:cNvSpPr/>
          <p:nvPr/>
        </p:nvSpPr>
        <p:spPr>
          <a:xfrm>
            <a:off x="540000" y="6480000"/>
            <a:ext cx="41910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16</a:t>
            </a:r>
          </a:p>
        </p:txBody>
      </p:sp>
      <p:sp>
        <p:nvSpPr>
          <p:cNvPr id="45" name="date">
            <a:extLst>
              <a:ext uri="{FF2B5EF4-FFF2-40B4-BE49-F238E27FC236}">
                <a16:creationId xmlns:a16="http://schemas.microsoft.com/office/drawing/2014/main" id="{C8C00A7A-1BAC-469B-98B0-317D78BCFDCE}"/>
              </a:ext>
            </a:extLst>
          </p:cNvPr>
          <p:cNvSpPr/>
          <p:nvPr/>
        </p:nvSpPr>
        <p:spPr>
          <a:xfrm>
            <a:off x="1080000" y="6480000"/>
            <a:ext cx="857250" cy="171450"/>
          </a:xfrm>
          <a:prstGeom prst="rect">
            <a:avLst/>
          </a:prstGeom>
          <a:noFill/>
          <a:ln w="0">
            <a:noFill/>
            <a:prstDash val="solid"/>
          </a:ln>
        </p:spPr>
        <p:txBody>
          <a:bodyPr anchor="ctr"/>
          <a:lstStyle/>
          <a:p>
            <a:pPr algn="l">
              <a:defRPr sz="750" b="0">
                <a:solidFill>
                  <a:srgbClr val="304452"/>
                </a:solidFill>
              </a:defRPr>
            </a:pPr>
            <a:r>
              <a:rPr sz="750" b="0">
                <a:solidFill>
                  <a:srgbClr val="304452"/>
                </a:solidFill>
              </a:rPr>
              <a:t>04.08.2026</a:t>
            </a:r>
          </a:p>
        </p:txBody>
      </p:sp>
      <p:sp>
        <p:nvSpPr>
          <p:cNvPr id="48" name="Titel 1"/>
          <p:cNvSpPr>
            <a:spLocks noGrp="1"/>
          </p:cNvSpPr>
          <p:nvPr>
            <p:ph type="title"/>
          </p:nvPr>
        </p:nvSpPr>
        <p:spPr>
          <a:xfrm>
            <a:off x="482461" y="346633"/>
            <a:ext cx="11230114" cy="767605"/>
          </a:xfrm>
        </p:spPr>
        <p:txBody>
          <a:bodyPr/>
          <a:lstStyle/>
          <a:p>
            <a:r>
              <a:rPr lang="de-CH" sz="3600" dirty="0"/>
              <a:t>GraphRAG verbindet mehrere Suchsignale</a:t>
            </a:r>
          </a:p>
        </p:txBody>
      </p:sp>
      <p:grpSp>
        <p:nvGrpSpPr>
          <p:cNvPr id="46" name="Gruppieren 45">
            <a:extLst>
              <a:ext uri="{FF2B5EF4-FFF2-40B4-BE49-F238E27FC236}">
                <a16:creationId xmlns:a16="http://schemas.microsoft.com/office/drawing/2014/main" id="{35E6DBF7-F0BC-BD2E-E848-593EE7BCF77D}"/>
              </a:ext>
            </a:extLst>
          </p:cNvPr>
          <p:cNvGrpSpPr/>
          <p:nvPr/>
        </p:nvGrpSpPr>
        <p:grpSpPr>
          <a:xfrm>
            <a:off x="2385000" y="2340000"/>
            <a:ext cx="2700000" cy="1980000"/>
            <a:chOff x="2385000" y="2304664"/>
            <a:chExt cx="2700000" cy="1980000"/>
          </a:xfrm>
        </p:grpSpPr>
        <p:sp>
          <p:nvSpPr>
            <p:cNvPr id="13" name="retrieval-shell">
              <a:extLst>
                <a:ext uri="{FF2B5EF4-FFF2-40B4-BE49-F238E27FC236}">
                  <a16:creationId xmlns:a16="http://schemas.microsoft.com/office/drawing/2014/main" id="{9857F60E-DF60-4A5E-A0C5-581D2A407A1B}"/>
                </a:ext>
              </a:extLst>
            </p:cNvPr>
            <p:cNvSpPr/>
            <p:nvPr/>
          </p:nvSpPr>
          <p:spPr>
            <a:xfrm>
              <a:off x="2385000" y="2304664"/>
              <a:ext cx="2700000" cy="1980000"/>
            </a:xfrm>
            <a:prstGeom prst="roundRect">
              <a:avLst>
                <a:gd name="adj" fmla="val 5217"/>
              </a:avLst>
            </a:prstGeom>
            <a:solidFill>
              <a:srgbClr val="F6F7F7"/>
            </a:solidFill>
            <a:ln w="9525">
              <a:solidFill>
                <a:srgbClr val="D7DDDF"/>
              </a:solidFill>
              <a:prstDash val="solid"/>
            </a:ln>
          </p:spPr>
          <p:txBody>
            <a:bodyPr/>
            <a:lstStyle/>
            <a:p>
              <a:endParaRPr lang="de-CH"/>
            </a:p>
          </p:txBody>
        </p:sp>
        <p:sp>
          <p:nvSpPr>
            <p:cNvPr id="14" name="semantic">
              <a:extLst>
                <a:ext uri="{FF2B5EF4-FFF2-40B4-BE49-F238E27FC236}">
                  <a16:creationId xmlns:a16="http://schemas.microsoft.com/office/drawing/2014/main" id="{2BB447C8-B808-4FA8-84BC-424411EDDFFC}"/>
                </a:ext>
              </a:extLst>
            </p:cNvPr>
            <p:cNvSpPr/>
            <p:nvPr/>
          </p:nvSpPr>
          <p:spPr>
            <a:xfrm>
              <a:off x="2655000" y="2520000"/>
              <a:ext cx="2160000" cy="720000"/>
            </a:xfrm>
            <a:prstGeom prst="roundRect">
              <a:avLst>
                <a:gd name="adj" fmla="val 10667"/>
              </a:avLst>
            </a:prstGeom>
            <a:solidFill>
              <a:srgbClr val="FAEDF0"/>
            </a:solidFill>
            <a:ln w="11430">
              <a:solidFill>
                <a:srgbClr val="D20A32"/>
              </a:solidFill>
              <a:prstDash val="solid"/>
            </a:ln>
          </p:spPr>
          <p:txBody>
            <a:bodyPr anchor="ctr"/>
            <a:lstStyle/>
            <a:p>
              <a:pPr algn="ctr"/>
              <a:r>
                <a:rPr lang="de-CH" sz="1400" b="1" dirty="0">
                  <a:solidFill>
                    <a:srgbClr val="D20A32"/>
                  </a:solidFill>
                </a:rPr>
                <a:t>SEMANTISCH </a:t>
              </a:r>
              <a:br>
                <a:rPr lang="de-CH" sz="1400" b="1" dirty="0">
                  <a:solidFill>
                    <a:srgbClr val="D20A32"/>
                  </a:solidFill>
                </a:rPr>
              </a:br>
              <a:r>
                <a:rPr lang="de-CH" sz="1400" dirty="0">
                  <a:solidFill>
                    <a:srgbClr val="304452"/>
                  </a:solidFill>
                </a:rPr>
                <a:t>ähnliche Bedeutung</a:t>
              </a:r>
            </a:p>
          </p:txBody>
        </p:sp>
        <p:sp>
          <p:nvSpPr>
            <p:cNvPr id="2" name="Rechteck: abgerundete Ecken 1">
              <a:extLst>
                <a:ext uri="{FF2B5EF4-FFF2-40B4-BE49-F238E27FC236}">
                  <a16:creationId xmlns:a16="http://schemas.microsoft.com/office/drawing/2014/main" id="{952F4388-68B4-8A39-FBE9-D6AA017F2C61}"/>
                </a:ext>
              </a:extLst>
            </p:cNvPr>
            <p:cNvSpPr/>
            <p:nvPr/>
          </p:nvSpPr>
          <p:spPr>
            <a:xfrm>
              <a:off x="2655000" y="3349328"/>
              <a:ext cx="2160000" cy="718372"/>
            </a:xfrm>
            <a:prstGeom prst="roundRect">
              <a:avLst/>
            </a:prstGeom>
            <a:solidFill>
              <a:srgbClr val="EAF4F4"/>
            </a:solidFill>
            <a:ln w="11430">
              <a:solidFill>
                <a:srgbClr val="307F87"/>
              </a:solidFill>
              <a:prstDash val="solid"/>
            </a:ln>
          </p:spPr>
          <p:txBody>
            <a:bodyPr anchor="ctr"/>
            <a:lstStyle/>
            <a:p>
              <a:pPr algn="ctr"/>
              <a:r>
                <a:rPr lang="de-CH" sz="1400" b="1" dirty="0">
                  <a:solidFill>
                    <a:srgbClr val="307F87"/>
                  </a:solidFill>
                </a:rPr>
                <a:t>LEXIKALISCH</a:t>
              </a:r>
            </a:p>
            <a:p>
              <a:pPr algn="ctr"/>
              <a:r>
                <a:rPr lang="de-CH" sz="1400" dirty="0">
                  <a:solidFill>
                    <a:schemeClr val="bg2">
                      <a:lumMod val="10000"/>
                    </a:schemeClr>
                  </a:solidFill>
                </a:rPr>
                <a:t>Begriffe, Titel, Artikel</a:t>
              </a:r>
            </a:p>
          </p:txBody>
        </p:sp>
      </p:grpSp>
    </p:spTree>
    <p:extLst>
      <p:ext uri="{BB962C8B-B14F-4D97-AF65-F5344CB8AC3E}">
        <p14:creationId xmlns:p14="http://schemas.microsoft.com/office/powerpoint/2010/main" val="10696963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nodePh="1">
                                  <p:stCondLst>
                                    <p:cond delay="0"/>
                                  </p:stCondLst>
                                  <p:endCondLst>
                                    <p:cond evt="begin" delay="0">
                                      <p:tn val="9"/>
                                    </p:cond>
                                  </p:endCondLst>
                                  <p:childTnLst>
                                    <p:set>
                                      <p:cBhvr>
                                        <p:cTn id="10" dur="1" fill="hold">
                                          <p:stCondLst>
                                            <p:cond delay="0"/>
                                          </p:stCondLst>
                                        </p:cTn>
                                        <p:tgtEl>
                                          <p:spTgt spid="15"/>
                                        </p:tgtEl>
                                        <p:attrNameLst>
                                          <p:attrName>style.visibility</p:attrName>
                                        </p:attrNameLst>
                                      </p:cBhvr>
                                      <p:to>
                                        <p:strVal val="visible"/>
                                      </p:to>
                                    </p:set>
                                  </p:childTnLst>
                                </p:cTn>
                              </p:par>
                              <p:par>
                                <p:cTn id="11" presetID="1" presetClass="entr" presetSubtype="0" fill="hold" grpId="0" nodeType="withEffect" nodePh="1">
                                  <p:stCondLst>
                                    <p:cond delay="0"/>
                                  </p:stCondLst>
                                  <p:endCondLst>
                                    <p:cond evt="begin" delay="0">
                                      <p:tn val="11"/>
                                    </p:cond>
                                  </p:end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5"/>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7"/>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12" grpId="0"/>
      <p:bldP spid="15" grpId="0"/>
      <p:bldP spid="19" grpId="0"/>
      <p:bldP spid="20" grpId="0"/>
      <p:bldP spid="21" grpId="0" animBg="1"/>
      <p:bldP spid="23" grpId="0"/>
      <p:bldP spid="24" grpId="0"/>
      <p:bldP spid="25" grpId="0" animBg="1"/>
      <p:bldP spid="36" grpId="0"/>
      <p:bldP spid="37" grpId="0" animBg="1"/>
      <p:bldP spid="39" grpId="0" animBg="1"/>
      <p:bldP spid="41"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600"/>
              <a:t>Hybrider GraphRAG verbindet mehrere Suchsignale</a:t>
            </a:r>
          </a:p>
        </p:txBody>
      </p:sp>
      <p:sp>
        <p:nvSpPr>
          <p:cNvPr id="3" name="Datumsplatzhalter 2">
            <a:extLst>
              <a:ext uri="{FF2B5EF4-FFF2-40B4-BE49-F238E27FC236}">
                <a16:creationId xmlns:a16="http://schemas.microsoft.com/office/drawing/2014/main" id="{B23EB426-CAE8-404D-9C8B-8514661C9CD8}"/>
              </a:ext>
            </a:extLst>
          </p:cNvPr>
          <p:cNvSpPr>
            <a:spLocks noGrp="1"/>
          </p:cNvSpPr>
          <p:nvPr>
            <p:ph type="dt" sz="half" idx="10"/>
          </p:nvPr>
        </p:nvSpPr>
        <p:spPr/>
        <p:txBody>
          <a:bodyPr/>
          <a:lstStyle/>
          <a:p>
            <a:fld id="{E94A5EAB-87E9-4E72-ACDB-1A85F23C04B3}" type="datetime1">
              <a:rPr lang="de-CH" smtClean="0"/>
              <a:t>13.08.2026</a:t>
            </a:fld>
            <a:endParaRPr lang="de-CH" dirty="0"/>
          </a:p>
        </p:txBody>
      </p:sp>
      <p:sp>
        <p:nvSpPr>
          <p:cNvPr id="5" name="Foliennummernplatzhalter 4">
            <a:extLst>
              <a:ext uri="{FF2B5EF4-FFF2-40B4-BE49-F238E27FC236}">
                <a16:creationId xmlns:a16="http://schemas.microsoft.com/office/drawing/2014/main" id="{49F0807D-3E16-4026-93BD-CC684EF42352}"/>
              </a:ext>
            </a:extLst>
          </p:cNvPr>
          <p:cNvSpPr>
            <a:spLocks noGrp="1"/>
          </p:cNvSpPr>
          <p:nvPr>
            <p:ph type="sldNum" sz="quarter" idx="12"/>
          </p:nvPr>
        </p:nvSpPr>
        <p:spPr/>
        <p:txBody>
          <a:bodyPr/>
          <a:lstStyle/>
          <a:p>
            <a:fld id="{CE7E00E2-F08D-429A-AD9B-1ECBEC02F4DB}" type="slidenum">
              <a:rPr lang="de-CH" smtClean="0"/>
              <a:t>21</a:t>
            </a:fld>
            <a:endParaRPr lang="de-CH" dirty="0"/>
          </a:p>
        </p:txBody>
      </p:sp>
      <p:grpSp>
        <p:nvGrpSpPr>
          <p:cNvPr id="100" name="Gruppe Chroma Index"/>
          <p:cNvGrpSpPr/>
          <p:nvPr/>
        </p:nvGrpSpPr>
        <p:grpSpPr>
          <a:xfrm>
            <a:off x="360000" y="1620000"/>
            <a:ext cx="1440000" cy="867600"/>
            <a:chOff x="5005715" y="2776165"/>
            <a:chExt cx="1440000" cy="867600"/>
          </a:xfrm>
        </p:grpSpPr>
        <p:sp>
          <p:nvSpPr>
            <p:cNvPr id="101" name="Rechteck: abgerundete Ecken 71">
              <a:extLst>
                <a:ext uri="{FF2B5EF4-FFF2-40B4-BE49-F238E27FC236}">
                  <a16:creationId xmlns:a16="http://schemas.microsoft.com/office/drawing/2014/main" id="{E9A14601-129B-5663-F0ED-B2E1BD20F945}"/>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Chroma Index</a:t>
              </a:r>
              <a:endParaRPr sz="900" b="1" dirty="0">
                <a:solidFill>
                  <a:schemeClr val="bg2">
                    <a:lumMod val="10000"/>
                  </a:schemeClr>
                </a:solidFill>
              </a:endParaRPr>
            </a:p>
          </p:txBody>
        </p:sp>
        <p:pic>
          <p:nvPicPr>
            <p:cNvPr id="102" name="Grafik 14">
              <a:extLst>
                <a:ext uri="{FF2B5EF4-FFF2-40B4-BE49-F238E27FC236}">
                  <a16:creationId xmlns:a16="http://schemas.microsoft.com/office/drawing/2014/main" id="{C9AA9F1F-BE1C-5F83-5671-91EF5A5DC37F}"/>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5095715" y="3120245"/>
              <a:ext cx="468000" cy="468000"/>
            </a:xfrm>
            <a:prstGeom prst="rect">
              <a:avLst/>
            </a:prstGeom>
          </p:spPr>
        </p:pic>
        <p:sp>
          <p:nvSpPr>
            <p:cNvPr id="103" name="Gerader Verbinder 78">
              <a:extLst>
                <a:ext uri="{FF2B5EF4-FFF2-40B4-BE49-F238E27FC236}">
                  <a16:creationId xmlns:a16="http://schemas.microsoft.com/office/drawing/2014/main" id="{89A0E0B7-A2BB-83F8-DDEA-7BF8AF689E44}"/>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4" name="Info Chroma Index"/>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 Embeddings</a:t>
              </a:r>
            </a:p>
          </p:txBody>
        </p:sp>
      </p:grpSp>
      <p:grpSp>
        <p:nvGrpSpPr>
          <p:cNvPr id="105" name="Gruppe Graph Aufbau">
            <a:extLst>
              <a:ext uri="{FF2B5EF4-FFF2-40B4-BE49-F238E27FC236}">
                <a16:creationId xmlns:a16="http://schemas.microsoft.com/office/drawing/2014/main" id="{D25D0927-7500-9C4D-B2AC-C86A40E321DD}"/>
              </a:ext>
            </a:extLst>
          </p:cNvPr>
          <p:cNvGrpSpPr/>
          <p:nvPr/>
        </p:nvGrpSpPr>
        <p:grpSpPr>
          <a:xfrm>
            <a:off x="2340000" y="1620000"/>
            <a:ext cx="1440000" cy="867600"/>
            <a:chOff x="2783916" y="1570799"/>
            <a:chExt cx="1440000" cy="867600"/>
          </a:xfrm>
        </p:grpSpPr>
        <p:sp>
          <p:nvSpPr>
            <p:cNvPr id="106"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Aufbau</a:t>
              </a:r>
              <a:endParaRPr sz="900" b="1" dirty="0">
                <a:solidFill>
                  <a:schemeClr val="bg2">
                    <a:lumMod val="10000"/>
                  </a:schemeClr>
                </a:solidFill>
              </a:endParaRPr>
            </a:p>
          </p:txBody>
        </p:sp>
        <p:pic>
          <p:nvPicPr>
            <p:cNvPr id="107"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08"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09" name="Info Graph Aufbau"/>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Nachbar-Chunks + Artikelverweise</a:t>
              </a:r>
            </a:p>
          </p:txBody>
        </p:sp>
      </p:grpSp>
      <p:grpSp>
        <p:nvGrpSpPr>
          <p:cNvPr id="110" name="Gruppe Retrieval-Graph">
            <a:extLst>
              <a:ext uri="{FF2B5EF4-FFF2-40B4-BE49-F238E27FC236}">
                <a16:creationId xmlns:a16="http://schemas.microsoft.com/office/drawing/2014/main" id="{BFB423DB-992A-5876-26AC-811D2AA99C40}"/>
              </a:ext>
            </a:extLst>
          </p:cNvPr>
          <p:cNvGrpSpPr/>
          <p:nvPr/>
        </p:nvGrpSpPr>
        <p:grpSpPr>
          <a:xfrm>
            <a:off x="4320000" y="1620000"/>
            <a:ext cx="1440000" cy="867600"/>
            <a:chOff x="5005715" y="2776165"/>
            <a:chExt cx="1440000" cy="867600"/>
          </a:xfrm>
        </p:grpSpPr>
        <p:sp>
          <p:nvSpPr>
            <p:cNvPr id="111" name="Rechteck: abgerundete Ecken 12">
              <a:extLst>
                <a:ext uri="{FF2B5EF4-FFF2-40B4-BE49-F238E27FC236}">
                  <a16:creationId xmlns:a16="http://schemas.microsoft.com/office/drawing/2014/main" id="{CC99E781-A55C-22DF-C8AA-03E22653591B}"/>
                </a:ext>
              </a:extLst>
            </p:cNvPr>
            <p:cNvSpPr>
              <a:spLocks/>
            </p:cNvSpPr>
            <p:nvPr/>
          </p:nvSpPr>
          <p:spPr>
            <a:xfrm>
              <a:off x="5005715" y="2776165"/>
              <a:ext cx="1440000" cy="867600"/>
            </a:xfrm>
            <a:prstGeom prst="roundRect">
              <a:avLst/>
            </a:prstGeom>
            <a:solidFill>
              <a:schemeClr val="bg2">
                <a:alpha val="50000"/>
              </a:schemeClr>
            </a:solidFill>
            <a:ln w="15875">
              <a:solidFill>
                <a:schemeClr val="bg2">
                  <a:lumMod val="2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Retrieval-Graph</a:t>
              </a:r>
              <a:endParaRPr sz="900" b="1" dirty="0">
                <a:solidFill>
                  <a:schemeClr val="bg2">
                    <a:lumMod val="10000"/>
                  </a:schemeClr>
                </a:solidFill>
              </a:endParaRPr>
            </a:p>
          </p:txBody>
        </p:sp>
        <p:pic>
          <p:nvPicPr>
            <p:cNvPr id="112" name="Grafik 14">
              <a:extLst>
                <a:ext uri="{FF2B5EF4-FFF2-40B4-BE49-F238E27FC236}">
                  <a16:creationId xmlns:a16="http://schemas.microsoft.com/office/drawing/2014/main" id="{E645D8D1-1C81-9BB2-4C15-4C7B2E7D1632}"/>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5715" y="3120245"/>
              <a:ext cx="468000" cy="468000"/>
            </a:xfrm>
            <a:prstGeom prst="rect">
              <a:avLst/>
            </a:prstGeom>
          </p:spPr>
        </p:pic>
        <p:sp>
          <p:nvSpPr>
            <p:cNvPr id="113" name="Gerader Verbinder 18">
              <a:extLst>
                <a:ext uri="{FF2B5EF4-FFF2-40B4-BE49-F238E27FC236}">
                  <a16:creationId xmlns:a16="http://schemas.microsoft.com/office/drawing/2014/main" id="{D3D9A905-2AB4-FDD0-3893-A133C5A52487}"/>
                </a:ext>
              </a:extLst>
            </p:cNvPr>
            <p:cNvSpPr>
              <a:spLocks/>
            </p:cNvSpPr>
            <p:nvPr/>
          </p:nvSpPr>
          <p:spPr>
            <a:xfrm>
              <a:off x="5005715" y="3064726"/>
              <a:ext cx="1440000" cy="0"/>
            </a:xfrm>
            <a:prstGeom prst="line">
              <a:avLst/>
            </a:prstGeom>
            <a:ln w="15875">
              <a:solidFill>
                <a:schemeClr val="bg2">
                  <a:lumMod val="2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4" name="Info Retrieval-Graph"/>
            <p:cNvSpPr/>
            <p:nvPr/>
          </p:nvSpPr>
          <p:spPr>
            <a:xfrm>
              <a:off x="5599715" y="3064726"/>
              <a:ext cx="792000" cy="579039"/>
            </a:xfrm>
            <a:prstGeom prst="rect">
              <a:avLst/>
            </a:prstGeom>
            <a:noFill/>
          </p:spPr>
          <p:txBody>
            <a:bodyPr wrap="square" lIns="0" tIns="18000" rIns="18000" bIns="18000" anchor="ctr"/>
            <a:lstStyle/>
            <a:p>
              <a:pPr algn="l"/>
              <a:r>
                <a:rPr lang="de-CH" sz="900" dirty="0">
                  <a:solidFill>
                    <a:srgbClr val="404040"/>
                  </a:solidFill>
                  <a:latin typeface="Arial"/>
                </a:rPr>
                <a:t>JSON, versioniert</a:t>
              </a:r>
            </a:p>
          </p:txBody>
        </p:sp>
      </p:grpSp>
      <p:grpSp>
        <p:nvGrpSpPr>
          <p:cNvPr id="115" name="Gruppe Frage"/>
          <p:cNvGrpSpPr/>
          <p:nvPr/>
        </p:nvGrpSpPr>
        <p:grpSpPr>
          <a:xfrm>
            <a:off x="360000" y="3780000"/>
            <a:ext cx="1440000" cy="867600"/>
            <a:chOff x="10196840" y="1570799"/>
            <a:chExt cx="1440000" cy="867600"/>
          </a:xfrm>
        </p:grpSpPr>
        <p:sp>
          <p:nvSpPr>
            <p:cNvPr id="116" name="Rechteck: abgerundete Ecken 17">
              <a:extLst>
                <a:ext uri="{FF2B5EF4-FFF2-40B4-BE49-F238E27FC236}">
                  <a16:creationId xmlns:a16="http://schemas.microsoft.com/office/drawing/2014/main" id="{D9E7FE46-B6BE-8721-269A-6415AA075AA3}"/>
                </a:ext>
              </a:extLst>
            </p:cNvPr>
            <p:cNvSpPr>
              <a:spLocks/>
            </p:cNvSpPr>
            <p:nvPr/>
          </p:nvSpPr>
          <p:spPr>
            <a:xfrm>
              <a:off x="10196840" y="1570799"/>
              <a:ext cx="1440000" cy="867600"/>
            </a:xfrm>
            <a:prstGeom prst="roundRect">
              <a:avLst/>
            </a:prstGeom>
            <a:solidFill>
              <a:srgbClr val="C60C30">
                <a:alpha val="20000"/>
              </a:srgbClr>
            </a:solidFill>
            <a:ln w="15875">
              <a:solidFill>
                <a:schemeClr val="accent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Frage</a:t>
              </a:r>
              <a:endParaRPr sz="900" b="1" dirty="0">
                <a:solidFill>
                  <a:schemeClr val="bg2">
                    <a:lumMod val="10000"/>
                  </a:schemeClr>
                </a:solidFill>
              </a:endParaRPr>
            </a:p>
          </p:txBody>
        </p:sp>
        <p:pic>
          <p:nvPicPr>
            <p:cNvPr id="117" name="Grafik 16">
              <a:extLst>
                <a:ext uri="{FF2B5EF4-FFF2-40B4-BE49-F238E27FC236}">
                  <a16:creationId xmlns:a16="http://schemas.microsoft.com/office/drawing/2014/main" id="{3FD27254-6A1A-1764-0C62-B715418317A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286840" y="1914879"/>
              <a:ext cx="468000" cy="468000"/>
            </a:xfrm>
            <a:prstGeom prst="rect">
              <a:avLst/>
            </a:prstGeom>
          </p:spPr>
        </p:pic>
        <p:sp>
          <p:nvSpPr>
            <p:cNvPr id="118" name="Gerader Verbinder 159"/>
            <p:cNvSpPr>
              <a:spLocks/>
            </p:cNvSpPr>
            <p:nvPr/>
          </p:nvSpPr>
          <p:spPr>
            <a:xfrm flipV="1">
              <a:off x="10196840" y="1859360"/>
              <a:ext cx="1440000" cy="0"/>
            </a:xfrm>
            <a:prstGeom prst="line">
              <a:avLst/>
            </a:prstGeom>
            <a:ln w="15875">
              <a:solidFill>
                <a:schemeClr val="accent1">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19" name="Info Frage"/>
            <p:cNvSpPr/>
            <p:nvPr/>
          </p:nvSpPr>
          <p:spPr>
            <a:xfrm>
              <a:off x="10790840"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z. B. Probezeit</a:t>
              </a:r>
            </a:p>
          </p:txBody>
        </p:sp>
      </p:grpSp>
      <p:grpSp>
        <p:nvGrpSpPr>
          <p:cNvPr id="120" name="Gruppe Semantik">
            <a:extLst>
              <a:ext uri="{FF2B5EF4-FFF2-40B4-BE49-F238E27FC236}">
                <a16:creationId xmlns:a16="http://schemas.microsoft.com/office/drawing/2014/main" id="{62657446-9BFF-60C0-3E07-97265A6E0278}"/>
              </a:ext>
            </a:extLst>
          </p:cNvPr>
          <p:cNvGrpSpPr/>
          <p:nvPr/>
        </p:nvGrpSpPr>
        <p:grpSpPr>
          <a:xfrm>
            <a:off x="2340000" y="2880000"/>
            <a:ext cx="1440000" cy="867600"/>
            <a:chOff x="2783916" y="1570799"/>
            <a:chExt cx="1440000" cy="867600"/>
          </a:xfrm>
        </p:grpSpPr>
        <p:sp>
          <p:nvSpPr>
            <p:cNvPr id="121"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Semantik</a:t>
              </a:r>
              <a:endParaRPr sz="900" b="1" dirty="0">
                <a:solidFill>
                  <a:schemeClr val="bg2">
                    <a:lumMod val="10000"/>
                  </a:schemeClr>
                </a:solidFill>
              </a:endParaRPr>
            </a:p>
          </p:txBody>
        </p:sp>
        <p:pic>
          <p:nvPicPr>
            <p:cNvPr id="122"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873916" y="1914879"/>
              <a:ext cx="468000" cy="468000"/>
            </a:xfrm>
            <a:prstGeom prst="rect">
              <a:avLst/>
            </a:prstGeom>
          </p:spPr>
        </p:pic>
        <p:sp>
          <p:nvSpPr>
            <p:cNvPr id="123"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4" name="Info Semantik"/>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3 Vektor-Treffer</a:t>
              </a:r>
            </a:p>
          </p:txBody>
        </p:sp>
      </p:grpSp>
      <p:grpSp>
        <p:nvGrpSpPr>
          <p:cNvPr id="125" name="Gruppe Lexik + Zitat">
            <a:extLst>
              <a:ext uri="{FF2B5EF4-FFF2-40B4-BE49-F238E27FC236}">
                <a16:creationId xmlns:a16="http://schemas.microsoft.com/office/drawing/2014/main" id="{62657446-9BFF-60C0-3E07-97265A6E0278}"/>
              </a:ext>
            </a:extLst>
          </p:cNvPr>
          <p:cNvGrpSpPr/>
          <p:nvPr/>
        </p:nvGrpSpPr>
        <p:grpSpPr>
          <a:xfrm>
            <a:off x="2340000" y="4680000"/>
            <a:ext cx="1440000" cy="867600"/>
            <a:chOff x="2783916" y="1570799"/>
            <a:chExt cx="1440000" cy="867600"/>
          </a:xfrm>
        </p:grpSpPr>
        <p:sp>
          <p:nvSpPr>
            <p:cNvPr id="126" name="Rechteck: abgerundete Ecken 40">
              <a:extLst>
                <a:ext uri="{FF2B5EF4-FFF2-40B4-BE49-F238E27FC236}">
                  <a16:creationId xmlns:a16="http://schemas.microsoft.com/office/drawing/2014/main" id="{E7DEB9CD-56E2-EB2F-CD4E-69F8AEE0181F}"/>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Lexik + Zitat</a:t>
              </a:r>
              <a:endParaRPr sz="900" b="1" dirty="0">
                <a:solidFill>
                  <a:schemeClr val="bg2">
                    <a:lumMod val="10000"/>
                  </a:schemeClr>
                </a:solidFill>
              </a:endParaRPr>
            </a:p>
          </p:txBody>
        </p:sp>
        <p:pic>
          <p:nvPicPr>
            <p:cNvPr id="127" name="Grafik 39">
              <a:extLst>
                <a:ext uri="{FF2B5EF4-FFF2-40B4-BE49-F238E27FC236}">
                  <a16:creationId xmlns:a16="http://schemas.microsoft.com/office/drawing/2014/main" id="{6081DB9F-9BB1-BAD7-BD2A-137B31691C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873916" y="1914879"/>
              <a:ext cx="468000" cy="468000"/>
            </a:xfrm>
            <a:prstGeom prst="rect">
              <a:avLst/>
            </a:prstGeom>
          </p:spPr>
        </p:pic>
        <p:sp>
          <p:nvSpPr>
            <p:cNvPr id="128" name="Gerader Verbinder 47">
              <a:extLst>
                <a:ext uri="{FF2B5EF4-FFF2-40B4-BE49-F238E27FC236}">
                  <a16:creationId xmlns:a16="http://schemas.microsoft.com/office/drawing/2014/main" id="{C564D42D-36CE-ADD3-7AB2-73E4D9CA0D06}"/>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29" name="Info Lexik + Zitat"/>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Top 2 Artikel-Matches</a:t>
              </a:r>
            </a:p>
          </p:txBody>
        </p:sp>
      </p:grpSp>
      <p:grpSp>
        <p:nvGrpSpPr>
          <p:cNvPr id="130" name="Gruppe Graph erweitern">
            <a:extLst>
              <a:ext uri="{FF2B5EF4-FFF2-40B4-BE49-F238E27FC236}">
                <a16:creationId xmlns:a16="http://schemas.microsoft.com/office/drawing/2014/main" id="{D25D0927-7500-9C4D-B2AC-C86A40E321DD}"/>
              </a:ext>
            </a:extLst>
          </p:cNvPr>
          <p:cNvGrpSpPr/>
          <p:nvPr/>
        </p:nvGrpSpPr>
        <p:grpSpPr>
          <a:xfrm>
            <a:off x="4320000" y="3780000"/>
            <a:ext cx="1440000" cy="867600"/>
            <a:chOff x="2783916" y="1570799"/>
            <a:chExt cx="1440000" cy="867600"/>
          </a:xfrm>
        </p:grpSpPr>
        <p:sp>
          <p:nvSpPr>
            <p:cNvPr id="131" name="Rechteck: abgerundete Ecken 24">
              <a:extLst>
                <a:ext uri="{FF2B5EF4-FFF2-40B4-BE49-F238E27FC236}">
                  <a16:creationId xmlns:a16="http://schemas.microsoft.com/office/drawing/2014/main" id="{6FECBFFE-AEE2-FC47-F568-0299509D082E}"/>
                </a:ext>
              </a:extLst>
            </p:cNvPr>
            <p:cNvSpPr>
              <a:spLocks/>
            </p:cNvSpPr>
            <p:nvPr/>
          </p:nvSpPr>
          <p:spPr>
            <a:xfrm>
              <a:off x="2783916" y="1570799"/>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Graph erweitern</a:t>
              </a:r>
              <a:endParaRPr sz="900" b="1" dirty="0">
                <a:solidFill>
                  <a:schemeClr val="bg2">
                    <a:lumMod val="10000"/>
                  </a:schemeClr>
                </a:solidFill>
              </a:endParaRPr>
            </a:p>
          </p:txBody>
        </p:sp>
        <p:pic>
          <p:nvPicPr>
            <p:cNvPr id="132" name="Grafik 39">
              <a:extLst>
                <a:ext uri="{FF2B5EF4-FFF2-40B4-BE49-F238E27FC236}">
                  <a16:creationId xmlns:a16="http://schemas.microsoft.com/office/drawing/2014/main" id="{0EFCE21A-B763-94D4-1211-67A4EFC1BF9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873916" y="1914879"/>
              <a:ext cx="468000" cy="468000"/>
            </a:xfrm>
            <a:prstGeom prst="rect">
              <a:avLst/>
            </a:prstGeom>
          </p:spPr>
        </p:pic>
        <p:sp>
          <p:nvSpPr>
            <p:cNvPr id="133" name="Gerader Verbinder 35">
              <a:extLst>
                <a:ext uri="{FF2B5EF4-FFF2-40B4-BE49-F238E27FC236}">
                  <a16:creationId xmlns:a16="http://schemas.microsoft.com/office/drawing/2014/main" id="{7AF572F4-9F0D-9BB4-7971-013A069E5F43}"/>
                </a:ext>
              </a:extLst>
            </p:cNvPr>
            <p:cNvSpPr>
              <a:spLocks/>
            </p:cNvSpPr>
            <p:nvPr/>
          </p:nvSpPr>
          <p:spPr>
            <a:xfrm>
              <a:off x="2783916" y="1859360"/>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4" name="Info Graph erweitern"/>
            <p:cNvSpPr/>
            <p:nvPr/>
          </p:nvSpPr>
          <p:spPr>
            <a:xfrm>
              <a:off x="3377916" y="1859360"/>
              <a:ext cx="792000" cy="579039"/>
            </a:xfrm>
            <a:prstGeom prst="rect">
              <a:avLst/>
            </a:prstGeom>
            <a:noFill/>
          </p:spPr>
          <p:txBody>
            <a:bodyPr wrap="square" lIns="0" tIns="18000" rIns="18000" bIns="18000" anchor="ctr"/>
            <a:lstStyle/>
            <a:p>
              <a:pPr algn="l"/>
              <a:r>
                <a:rPr lang="de-CH" sz="900" dirty="0">
                  <a:solidFill>
                    <a:srgbClr val="404040"/>
                  </a:solidFill>
                  <a:latin typeface="Arial"/>
                </a:rPr>
                <a:t>Nachbarn + Referenzziele</a:t>
              </a:r>
            </a:p>
          </p:txBody>
        </p:sp>
      </p:grpSp>
      <p:grpSp>
        <p:nvGrpSpPr>
          <p:cNvPr id="135" name="Gruppe Kontext ≤ 6"/>
          <p:cNvGrpSpPr/>
          <p:nvPr/>
        </p:nvGrpSpPr>
        <p:grpSpPr>
          <a:xfrm>
            <a:off x="6300000" y="3780000"/>
            <a:ext cx="1440000" cy="867600"/>
            <a:chOff x="5005715" y="5161353"/>
            <a:chExt cx="1440000" cy="867600"/>
          </a:xfrm>
        </p:grpSpPr>
        <p:sp>
          <p:nvSpPr>
            <p:cNvPr id="136" name="Rechteck: abgerundete Ecken 80">
              <a:extLst>
                <a:ext uri="{FF2B5EF4-FFF2-40B4-BE49-F238E27FC236}">
                  <a16:creationId xmlns:a16="http://schemas.microsoft.com/office/drawing/2014/main" id="{299209A1-E60D-B54F-BCE0-B59442B6BA9E}"/>
                </a:ext>
              </a:extLst>
            </p:cNvPr>
            <p:cNvSpPr>
              <a:spLocks/>
            </p:cNvSpPr>
            <p:nvPr/>
          </p:nvSpPr>
          <p:spPr>
            <a:xfrm>
              <a:off x="5005715" y="5161353"/>
              <a:ext cx="1440000" cy="867600"/>
            </a:xfrm>
            <a:prstGeom prst="roundRect">
              <a:avLst/>
            </a:prstGeom>
            <a:solidFill>
              <a:schemeClr val="accent2">
                <a:alpha val="50000"/>
              </a:schemeClr>
            </a:solidFill>
            <a:ln w="15875">
              <a:solidFill>
                <a:srgbClr val="002060"/>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Kontext ≤ 6</a:t>
              </a:r>
              <a:endParaRPr sz="900" b="1" dirty="0">
                <a:solidFill>
                  <a:schemeClr val="bg2">
                    <a:lumMod val="10000"/>
                  </a:schemeClr>
                </a:solidFill>
              </a:endParaRPr>
            </a:p>
          </p:txBody>
        </p:sp>
        <p:pic>
          <p:nvPicPr>
            <p:cNvPr id="137" name="Grafik 18">
              <a:extLst>
                <a:ext uri="{FF2B5EF4-FFF2-40B4-BE49-F238E27FC236}">
                  <a16:creationId xmlns:a16="http://schemas.microsoft.com/office/drawing/2014/main" id="{75982C35-E39A-47E4-7B79-4694BEFA0FBF}"/>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095715" y="5505433"/>
              <a:ext cx="468000" cy="468000"/>
            </a:xfrm>
            <a:prstGeom prst="rect">
              <a:avLst/>
            </a:prstGeom>
          </p:spPr>
        </p:pic>
        <p:sp>
          <p:nvSpPr>
            <p:cNvPr id="138" name="Gerader Verbinder 89">
              <a:extLst>
                <a:ext uri="{FF2B5EF4-FFF2-40B4-BE49-F238E27FC236}">
                  <a16:creationId xmlns:a16="http://schemas.microsoft.com/office/drawing/2014/main" id="{28E3CEA1-5C20-114C-95BF-87C047395FE4}"/>
                </a:ext>
              </a:extLst>
            </p:cNvPr>
            <p:cNvSpPr>
              <a:spLocks/>
            </p:cNvSpPr>
            <p:nvPr/>
          </p:nvSpPr>
          <p:spPr>
            <a:xfrm>
              <a:off x="5005715" y="5449914"/>
              <a:ext cx="1440000" cy="0"/>
            </a:xfrm>
            <a:prstGeom prst="line">
              <a:avLst/>
            </a:prstGeom>
            <a:ln w="15875">
              <a:solidFill>
                <a:srgbClr val="002060"/>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39" name="Info Kontext ≤ 6"/>
            <p:cNvSpPr/>
            <p:nvPr/>
          </p:nvSpPr>
          <p:spPr>
            <a:xfrm>
              <a:off x="5599715"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Chunks mit Quelle</a:t>
              </a:r>
            </a:p>
          </p:txBody>
        </p:sp>
      </p:grpSp>
      <p:grpSp>
        <p:nvGrpSpPr>
          <p:cNvPr id="140" name="Gruppe LLM">
            <a:extLst>
              <a:ext uri="{FF2B5EF4-FFF2-40B4-BE49-F238E27FC236}">
                <a16:creationId xmlns:a16="http://schemas.microsoft.com/office/drawing/2014/main" id="{CC8957DA-7EEF-07E6-4817-4A1CAB29C56A}"/>
              </a:ext>
            </a:extLst>
          </p:cNvPr>
          <p:cNvGrpSpPr/>
          <p:nvPr/>
        </p:nvGrpSpPr>
        <p:grpSpPr>
          <a:xfrm>
            <a:off x="8280000" y="3780000"/>
            <a:ext cx="1440000" cy="867600"/>
            <a:chOff x="8006090" y="5161353"/>
            <a:chExt cx="1440000" cy="867600"/>
          </a:xfrm>
        </p:grpSpPr>
        <p:sp>
          <p:nvSpPr>
            <p:cNvPr id="141" name="Rechteck: abgerundete Ecken 101">
              <a:extLst>
                <a:ext uri="{FF2B5EF4-FFF2-40B4-BE49-F238E27FC236}">
                  <a16:creationId xmlns:a16="http://schemas.microsoft.com/office/drawing/2014/main" id="{CCD2EF0F-009E-7BB9-2850-8D80476CA421}"/>
                </a:ext>
              </a:extLst>
            </p:cNvPr>
            <p:cNvSpPr>
              <a:spLocks/>
            </p:cNvSpPr>
            <p:nvPr/>
          </p:nvSpPr>
          <p:spPr>
            <a:xfrm>
              <a:off x="8006090" y="5161353"/>
              <a:ext cx="1440000" cy="867600"/>
            </a:xfrm>
            <a:prstGeom prst="roundRect">
              <a:avLst/>
            </a:prstGeom>
            <a:solidFill>
              <a:schemeClr val="accent6">
                <a:lumMod val="40000"/>
                <a:lumOff val="60000"/>
                <a:alpha val="50000"/>
              </a:schemeClr>
            </a:solidFill>
            <a:ln w="158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LLM</a:t>
              </a:r>
              <a:endParaRPr sz="900" b="1" dirty="0">
                <a:solidFill>
                  <a:schemeClr val="bg2">
                    <a:lumMod val="10000"/>
                  </a:schemeClr>
                </a:solidFill>
              </a:endParaRPr>
            </a:p>
          </p:txBody>
        </p:sp>
        <p:pic>
          <p:nvPicPr>
            <p:cNvPr id="142" name="Grafik 20">
              <a:extLst>
                <a:ext uri="{FF2B5EF4-FFF2-40B4-BE49-F238E27FC236}">
                  <a16:creationId xmlns:a16="http://schemas.microsoft.com/office/drawing/2014/main" id="{45D89FC9-D1BB-FFF3-F2CC-C8155D4477F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8096090" y="5505433"/>
              <a:ext cx="468000" cy="468000"/>
            </a:xfrm>
            <a:prstGeom prst="rect">
              <a:avLst/>
            </a:prstGeom>
          </p:spPr>
        </p:pic>
        <p:sp>
          <p:nvSpPr>
            <p:cNvPr id="143" name="Gerader Verbinder 105">
              <a:extLst>
                <a:ext uri="{FF2B5EF4-FFF2-40B4-BE49-F238E27FC236}">
                  <a16:creationId xmlns:a16="http://schemas.microsoft.com/office/drawing/2014/main" id="{C25ABEB4-F7C7-3DF5-DEEF-6DD6C45FCF01}"/>
                </a:ext>
              </a:extLst>
            </p:cNvPr>
            <p:cNvSpPr>
              <a:spLocks/>
            </p:cNvSpPr>
            <p:nvPr/>
          </p:nvSpPr>
          <p:spPr>
            <a:xfrm flipV="1">
              <a:off x="8006090" y="5449914"/>
              <a:ext cx="1440000" cy="0"/>
            </a:xfrm>
            <a:prstGeom prst="line">
              <a:avLst/>
            </a:prstGeom>
            <a:ln w="15875">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4" name="Info LLM"/>
            <p:cNvSpPr/>
            <p:nvPr/>
          </p:nvSpPr>
          <p:spPr>
            <a:xfrm>
              <a:off x="860009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llama3.2, nur aus dem Kontext</a:t>
              </a:r>
            </a:p>
          </p:txBody>
        </p:sp>
      </p:grpSp>
      <p:grpSp>
        <p:nvGrpSpPr>
          <p:cNvPr id="145" name="Gruppe Antwort"/>
          <p:cNvGrpSpPr/>
          <p:nvPr/>
        </p:nvGrpSpPr>
        <p:grpSpPr>
          <a:xfrm>
            <a:off x="10260000" y="3780000"/>
            <a:ext cx="1440000" cy="867600"/>
            <a:chOff x="10196840" y="5161353"/>
            <a:chExt cx="1440000" cy="867600"/>
          </a:xfrm>
        </p:grpSpPr>
        <p:sp>
          <p:nvSpPr>
            <p:cNvPr id="146" name="Rechteck: abgerundete Ecken 23">
              <a:extLst>
                <a:ext uri="{FF2B5EF4-FFF2-40B4-BE49-F238E27FC236}">
                  <a16:creationId xmlns:a16="http://schemas.microsoft.com/office/drawing/2014/main" id="{EF7C69F7-3BA6-3716-FB87-C6056C54CA0B}"/>
                </a:ext>
              </a:extLst>
            </p:cNvPr>
            <p:cNvSpPr>
              <a:spLocks/>
            </p:cNvSpPr>
            <p:nvPr/>
          </p:nvSpPr>
          <p:spPr>
            <a:xfrm>
              <a:off x="10196840" y="5161353"/>
              <a:ext cx="1440000" cy="867600"/>
            </a:xfrm>
            <a:prstGeom prst="roundRect">
              <a:avLst/>
            </a:prstGeom>
            <a:solidFill>
              <a:srgbClr val="43858A">
                <a:alpha val="20000"/>
              </a:srgbClr>
            </a:solidFill>
            <a:ln w="15875">
              <a:solidFill>
                <a:schemeClr val="accent5">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lIns="54000" tIns="28800" rIns="54000" bIns="90000" anchor="t"/>
            <a:lstStyle/>
            <a:p>
              <a:pPr algn="ctr">
                <a:buNone/>
              </a:pPr>
              <a:r>
                <a:rPr lang="de-CH" sz="900" b="1" dirty="0">
                  <a:solidFill>
                    <a:schemeClr val="bg2">
                      <a:lumMod val="10000"/>
                    </a:schemeClr>
                  </a:solidFill>
                </a:rPr>
                <a:t>Antwort</a:t>
              </a:r>
              <a:endParaRPr sz="900" b="1" dirty="0">
                <a:solidFill>
                  <a:schemeClr val="bg2">
                    <a:lumMod val="10000"/>
                  </a:schemeClr>
                </a:solidFill>
              </a:endParaRPr>
            </a:p>
          </p:txBody>
        </p:sp>
        <p:pic>
          <p:nvPicPr>
            <p:cNvPr id="147" name="Grafik 22">
              <a:extLst>
                <a:ext uri="{FF2B5EF4-FFF2-40B4-BE49-F238E27FC236}">
                  <a16:creationId xmlns:a16="http://schemas.microsoft.com/office/drawing/2014/main" id="{8C3ACE01-CA21-EEDC-1F98-9D084AF04C23}"/>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10286840" y="5505433"/>
              <a:ext cx="468000" cy="468000"/>
            </a:xfrm>
            <a:prstGeom prst="rect">
              <a:avLst/>
            </a:prstGeom>
          </p:spPr>
        </p:pic>
        <p:sp>
          <p:nvSpPr>
            <p:cNvPr id="148" name="Gerader Verbinder 160"/>
            <p:cNvSpPr>
              <a:spLocks/>
            </p:cNvSpPr>
            <p:nvPr/>
          </p:nvSpPr>
          <p:spPr>
            <a:xfrm flipV="1">
              <a:off x="10196840" y="5449914"/>
              <a:ext cx="1440000" cy="0"/>
            </a:xfrm>
            <a:prstGeom prst="line">
              <a:avLst/>
            </a:prstGeom>
            <a:ln w="15875">
              <a:solidFill>
                <a:schemeClr val="accent5">
                  <a:lumMod val="50000"/>
                </a:schemeClr>
              </a:solidFill>
            </a:ln>
          </p:spPr>
          <p:style>
            <a:lnRef idx="1">
              <a:schemeClr val="accent1"/>
            </a:lnRef>
            <a:fillRef idx="0">
              <a:schemeClr val="accent1"/>
            </a:fillRef>
            <a:effectRef idx="0">
              <a:schemeClr val="accent1"/>
            </a:effectRef>
            <a:fontRef idx="minor">
              <a:schemeClr val="tx1"/>
            </a:fontRef>
          </p:style>
          <p:txBody>
            <a:bodyPr/>
            <a:lstStyle/>
            <a:p>
              <a:endParaRPr lang="de-CH" sz="900" b="1"/>
            </a:p>
          </p:txBody>
        </p:sp>
        <p:sp>
          <p:nvSpPr>
            <p:cNvPr id="149" name="Info Antwort"/>
            <p:cNvSpPr/>
            <p:nvPr/>
          </p:nvSpPr>
          <p:spPr>
            <a:xfrm>
              <a:off x="10790840" y="5449914"/>
              <a:ext cx="792000" cy="579039"/>
            </a:xfrm>
            <a:prstGeom prst="rect">
              <a:avLst/>
            </a:prstGeom>
            <a:noFill/>
          </p:spPr>
          <p:txBody>
            <a:bodyPr wrap="square" lIns="0" tIns="18000" rIns="18000" bIns="18000" anchor="ctr"/>
            <a:lstStyle/>
            <a:p>
              <a:pPr algn="l"/>
              <a:r>
                <a:rPr lang="de-CH" sz="900" dirty="0">
                  <a:solidFill>
                    <a:srgbClr val="404040"/>
                  </a:solidFill>
                  <a:latin typeface="Arial"/>
                </a:rPr>
                <a:t>mit Gesetz und Artikel</a:t>
              </a:r>
            </a:p>
          </p:txBody>
        </p:sp>
      </p:grpSp>
      <p:cxnSp>
        <p:nvCxnSpPr>
          <p:cNvPr id="150" name="Pfeil chroma-aufbau">
            <a:extLst>
              <a:ext uri="{FF2B5EF4-FFF2-40B4-BE49-F238E27FC236}">
                <a16:creationId xmlns:a16="http://schemas.microsoft.com/office/drawing/2014/main" id="{0BDDCE84-4016-2B9D-139E-B6028861F673}"/>
              </a:ext>
            </a:extLst>
          </p:cNvPr>
          <p:cNvCxnSpPr>
            <a:cxnSpLocks/>
            <a:stCxn id="101" idx="3"/>
            <a:endCxn id="106" idx="1"/>
          </p:cNvCxnSpPr>
          <p:nvPr/>
        </p:nvCxnSpPr>
        <p:spPr>
          <a:xfrm>
            <a:off x="180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1" name="Pfeil aufbau-rgraph">
            <a:extLst>
              <a:ext uri="{FF2B5EF4-FFF2-40B4-BE49-F238E27FC236}">
                <a16:creationId xmlns:a16="http://schemas.microsoft.com/office/drawing/2014/main" id="{0BDDCE84-4016-2B9D-139E-B6028861F673}"/>
              </a:ext>
            </a:extLst>
          </p:cNvPr>
          <p:cNvCxnSpPr>
            <a:cxnSpLocks/>
            <a:stCxn id="106" idx="3"/>
            <a:endCxn id="111" idx="1"/>
          </p:cNvCxnSpPr>
          <p:nvPr/>
        </p:nvCxnSpPr>
        <p:spPr>
          <a:xfrm>
            <a:off x="3780000" y="205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2" name="Pfeil rgraph-erweitern">
            <a:extLst>
              <a:ext uri="{FF2B5EF4-FFF2-40B4-BE49-F238E27FC236}">
                <a16:creationId xmlns:a16="http://schemas.microsoft.com/office/drawing/2014/main" id="{0BDDCE84-4016-2B9D-139E-B6028861F673}"/>
              </a:ext>
            </a:extLst>
          </p:cNvPr>
          <p:cNvCxnSpPr>
            <a:cxnSpLocks/>
            <a:stCxn id="111" idx="2"/>
            <a:endCxn id="131" idx="0"/>
          </p:cNvCxnSpPr>
          <p:nvPr/>
        </p:nvCxnSpPr>
        <p:spPr>
          <a:xfrm>
            <a:off x="5040000" y="2487600"/>
            <a:ext cx="0" cy="12924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3" name="Pfeil chroma-semantik">
            <a:extLst>
              <a:ext uri="{FF2B5EF4-FFF2-40B4-BE49-F238E27FC236}">
                <a16:creationId xmlns:a16="http://schemas.microsoft.com/office/drawing/2014/main" id="{0BDDCE84-4016-2B9D-139E-B6028861F673}"/>
              </a:ext>
            </a:extLst>
          </p:cNvPr>
          <p:cNvCxnSpPr>
            <a:cxnSpLocks/>
            <a:stCxn id="101" idx="3"/>
            <a:endCxn id="121" idx="1"/>
          </p:cNvCxnSpPr>
          <p:nvPr/>
        </p:nvCxnSpPr>
        <p:spPr>
          <a:xfrm>
            <a:off x="1800000" y="2053800"/>
            <a:ext cx="540000" cy="126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4" name="Pfeil frage-semantik">
            <a:extLst>
              <a:ext uri="{FF2B5EF4-FFF2-40B4-BE49-F238E27FC236}">
                <a16:creationId xmlns:a16="http://schemas.microsoft.com/office/drawing/2014/main" id="{0BDDCE84-4016-2B9D-139E-B6028861F673}"/>
              </a:ext>
            </a:extLst>
          </p:cNvPr>
          <p:cNvCxnSpPr>
            <a:cxnSpLocks/>
            <a:stCxn id="116" idx="3"/>
            <a:endCxn id="121" idx="1"/>
          </p:cNvCxnSpPr>
          <p:nvPr/>
        </p:nvCxnSpPr>
        <p:spPr>
          <a:xfrm flipV="1">
            <a:off x="180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5" name="Pfeil frage-lexik">
            <a:extLst>
              <a:ext uri="{FF2B5EF4-FFF2-40B4-BE49-F238E27FC236}">
                <a16:creationId xmlns:a16="http://schemas.microsoft.com/office/drawing/2014/main" id="{0BDDCE84-4016-2B9D-139E-B6028861F673}"/>
              </a:ext>
            </a:extLst>
          </p:cNvPr>
          <p:cNvCxnSpPr>
            <a:cxnSpLocks/>
            <a:stCxn id="116" idx="3"/>
            <a:endCxn id="126" idx="1"/>
          </p:cNvCxnSpPr>
          <p:nvPr/>
        </p:nvCxnSpPr>
        <p:spPr>
          <a:xfrm>
            <a:off x="180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6" name="Pfeil semantik-erweitern">
            <a:extLst>
              <a:ext uri="{FF2B5EF4-FFF2-40B4-BE49-F238E27FC236}">
                <a16:creationId xmlns:a16="http://schemas.microsoft.com/office/drawing/2014/main" id="{0BDDCE84-4016-2B9D-139E-B6028861F673}"/>
              </a:ext>
            </a:extLst>
          </p:cNvPr>
          <p:cNvCxnSpPr>
            <a:cxnSpLocks/>
            <a:stCxn id="121" idx="3"/>
            <a:endCxn id="131" idx="1"/>
          </p:cNvCxnSpPr>
          <p:nvPr/>
        </p:nvCxnSpPr>
        <p:spPr>
          <a:xfrm>
            <a:off x="3780000" y="33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7" name="Pfeil lexik-erweitern">
            <a:extLst>
              <a:ext uri="{FF2B5EF4-FFF2-40B4-BE49-F238E27FC236}">
                <a16:creationId xmlns:a16="http://schemas.microsoft.com/office/drawing/2014/main" id="{0BDDCE84-4016-2B9D-139E-B6028861F673}"/>
              </a:ext>
            </a:extLst>
          </p:cNvPr>
          <p:cNvCxnSpPr>
            <a:cxnSpLocks/>
            <a:stCxn id="126" idx="3"/>
            <a:endCxn id="131" idx="1"/>
          </p:cNvCxnSpPr>
          <p:nvPr/>
        </p:nvCxnSpPr>
        <p:spPr>
          <a:xfrm flipV="1">
            <a:off x="3780000" y="4213800"/>
            <a:ext cx="540000" cy="90000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8" name="Pfeil erweitern-kontext">
            <a:extLst>
              <a:ext uri="{FF2B5EF4-FFF2-40B4-BE49-F238E27FC236}">
                <a16:creationId xmlns:a16="http://schemas.microsoft.com/office/drawing/2014/main" id="{0BDDCE84-4016-2B9D-139E-B6028861F673}"/>
              </a:ext>
            </a:extLst>
          </p:cNvPr>
          <p:cNvCxnSpPr>
            <a:cxnSpLocks/>
            <a:stCxn id="131" idx="3"/>
            <a:endCxn id="136" idx="1"/>
          </p:cNvCxnSpPr>
          <p:nvPr/>
        </p:nvCxnSpPr>
        <p:spPr>
          <a:xfrm>
            <a:off x="576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59" name="Pfeil kontext-llm">
            <a:extLst>
              <a:ext uri="{FF2B5EF4-FFF2-40B4-BE49-F238E27FC236}">
                <a16:creationId xmlns:a16="http://schemas.microsoft.com/office/drawing/2014/main" id="{0BDDCE84-4016-2B9D-139E-B6028861F673}"/>
              </a:ext>
            </a:extLst>
          </p:cNvPr>
          <p:cNvCxnSpPr>
            <a:cxnSpLocks/>
            <a:stCxn id="136" idx="3"/>
            <a:endCxn id="141" idx="1"/>
          </p:cNvCxnSpPr>
          <p:nvPr/>
        </p:nvCxnSpPr>
        <p:spPr>
          <a:xfrm>
            <a:off x="774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0" name="Pfeil llm-antwort">
            <a:extLst>
              <a:ext uri="{FF2B5EF4-FFF2-40B4-BE49-F238E27FC236}">
                <a16:creationId xmlns:a16="http://schemas.microsoft.com/office/drawing/2014/main" id="{0BDDCE84-4016-2B9D-139E-B6028861F673}"/>
              </a:ext>
            </a:extLst>
          </p:cNvPr>
          <p:cNvCxnSpPr>
            <a:cxnSpLocks/>
            <a:stCxn id="141" idx="3"/>
            <a:endCxn id="146" idx="1"/>
          </p:cNvCxnSpPr>
          <p:nvPr/>
        </p:nvCxnSpPr>
        <p:spPr>
          <a:xfrm>
            <a:off x="9720000" y="4213800"/>
            <a:ext cx="540000" cy="0"/>
          </a:xfrm>
          <a:prstGeom prst="straightConnector1">
            <a:avLst/>
          </a:prstGeom>
          <a:ln w="50800">
            <a:solidFill>
              <a:schemeClr val="tx1">
                <a:alpha val="5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61" name="Label Indexierung"/>
          <p:cNvSpPr/>
          <p:nvPr/>
        </p:nvSpPr>
        <p:spPr>
          <a:xfrm>
            <a:off x="360000" y="1296000"/>
            <a:ext cx="2880000" cy="216000"/>
          </a:xfrm>
          <a:prstGeom prst="rect">
            <a:avLst/>
          </a:prstGeom>
          <a:noFill/>
        </p:spPr>
        <p:txBody>
          <a:bodyPr wrap="square" lIns="0" tIns="0" rIns="0" bIns="0" anchor="ctr"/>
          <a:lstStyle/>
          <a:p>
            <a:pPr algn="l"/>
            <a:r>
              <a:rPr lang="de-CH" sz="1200" b="1" dirty="0">
                <a:solidFill>
                  <a:srgbClr val="595959"/>
                </a:solidFill>
                <a:latin typeface="Arial"/>
              </a:rPr>
              <a:t>INDEXIERUNG · EINMALIG</a:t>
            </a:r>
          </a:p>
        </p:txBody>
      </p:sp>
      <p:sp>
        <p:nvSpPr>
          <p:cNvPr id="162" name="Label Retrieval"/>
          <p:cNvSpPr/>
          <p:nvPr/>
        </p:nvSpPr>
        <p:spPr>
          <a:xfrm>
            <a:off x="360000" y="3456000"/>
            <a:ext cx="2880000" cy="216000"/>
          </a:xfrm>
          <a:prstGeom prst="rect">
            <a:avLst/>
          </a:prstGeom>
          <a:noFill/>
        </p:spPr>
        <p:txBody>
          <a:bodyPr wrap="square" lIns="0" tIns="0" rIns="0" bIns="0" anchor="ctr"/>
          <a:lstStyle/>
          <a:p>
            <a:pPr algn="l"/>
            <a:r>
              <a:rPr lang="de-CH" sz="1200" b="1" dirty="0">
                <a:solidFill>
                  <a:srgbClr val="595959"/>
                </a:solidFill>
                <a:latin typeface="Arial"/>
              </a:rPr>
              <a:t>RETRIEVAL · PRO FRAGE</a:t>
            </a:r>
          </a:p>
        </p:txBody>
      </p:sp>
      <p:sp>
        <p:nvSpPr>
          <p:cNvPr id="163" name="Takeaway"/>
          <p:cNvSpPr/>
          <p:nvPr/>
        </p:nvSpPr>
        <p:spPr>
          <a:xfrm>
            <a:off x="360000" y="5760000"/>
            <a:ext cx="11340000" cy="540000"/>
          </a:xfrm>
          <a:prstGeom prst="roundRect">
            <a:avLst>
              <a:gd name="adj" fmla="val 18000"/>
            </a:avLst>
          </a:prstGeom>
          <a:solidFill>
            <a:srgbClr val="2D3F4B"/>
          </a:solidFill>
          <a:ln>
            <a:noFill/>
          </a:ln>
        </p:spPr>
        <p:txBody>
          <a:bodyPr wrap="square" anchor="ctr"/>
          <a:lstStyle/>
          <a:p>
            <a:pPr algn="ctr"/>
            <a:r>
              <a:rPr lang="de-CH" sz="1400" b="1" dirty="0">
                <a:solidFill>
                  <a:srgbClr val="FFFFFF"/>
                </a:solidFill>
                <a:latin typeface="Arial"/>
              </a:rPr>
              <a:t>Semantik + Lexik + explizite Zitate → Graph-Nachbarn → begrenzter Kontext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3"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subtitle">
            <a:extLst>
              <a:ext uri="{FF2B5EF4-FFF2-40B4-BE49-F238E27FC236}">
                <a16:creationId xmlns:a16="http://schemas.microsoft.com/office/drawing/2014/main" id="{D4843392-06B7-4F34-8C77-0B596171C446}"/>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sz="1650" b="0">
                <a:solidFill>
                  <a:srgbClr val="81725E"/>
                </a:solidFill>
                <a:latin typeface="Arial"/>
                <a:ea typeface="Arial"/>
                <a:cs typeface="Arial"/>
              </a:rPr>
              <a:t>Reranking verbessert die Rangfolge; GraphRAG ergänzt exakte Artikelauflösung.</a:t>
            </a:r>
          </a:p>
        </p:txBody>
      </p:sp>
      <p:sp>
        <p:nvSpPr>
          <p:cNvPr id="5" name="page-number">
            <a:extLst>
              <a:ext uri="{FF2B5EF4-FFF2-40B4-BE49-F238E27FC236}">
                <a16:creationId xmlns:a16="http://schemas.microsoft.com/office/drawing/2014/main" id="{FA6800FF-1EDC-425C-A287-9EAA2429BC64}"/>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17</a:t>
            </a:r>
          </a:p>
        </p:txBody>
      </p:sp>
      <p:sp>
        <p:nvSpPr>
          <p:cNvPr id="6" name="date">
            <a:extLst>
              <a:ext uri="{FF2B5EF4-FFF2-40B4-BE49-F238E27FC236}">
                <a16:creationId xmlns:a16="http://schemas.microsoft.com/office/drawing/2014/main" id="{3C29CD7A-329D-4286-9215-067AD7218592}"/>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grpSp>
        <p:nvGrpSpPr>
          <p:cNvPr id="40" name="Gruppieren 39">
            <a:extLst>
              <a:ext uri="{FF2B5EF4-FFF2-40B4-BE49-F238E27FC236}">
                <a16:creationId xmlns:a16="http://schemas.microsoft.com/office/drawing/2014/main" id="{19F8F4D5-38BD-8426-E955-3F3DA91F3F81}"/>
              </a:ext>
            </a:extLst>
          </p:cNvPr>
          <p:cNvGrpSpPr/>
          <p:nvPr/>
        </p:nvGrpSpPr>
        <p:grpSpPr>
          <a:xfrm>
            <a:off x="1080000" y="1980000"/>
            <a:ext cx="2880000" cy="2520000"/>
            <a:chOff x="1080000" y="1980000"/>
            <a:chExt cx="2880000" cy="2520000"/>
          </a:xfrm>
        </p:grpSpPr>
        <p:sp>
          <p:nvSpPr>
            <p:cNvPr id="7" name="ARTICLE RECALL@K-label">
              <a:extLst>
                <a:ext uri="{FF2B5EF4-FFF2-40B4-BE49-F238E27FC236}">
                  <a16:creationId xmlns:a16="http://schemas.microsoft.com/office/drawing/2014/main" id="{EF3CBA10-81F9-496B-9B1B-D5798E9DEA26}"/>
                </a:ext>
              </a:extLst>
            </p:cNvPr>
            <p:cNvSpPr/>
            <p:nvPr/>
          </p:nvSpPr>
          <p:spPr>
            <a:xfrm>
              <a:off x="1080000" y="1980000"/>
              <a:ext cx="2879995" cy="266700"/>
            </a:xfrm>
            <a:prstGeom prst="rect">
              <a:avLst/>
            </a:prstGeom>
            <a:noFill/>
            <a:ln w="0">
              <a:noFill/>
              <a:prstDash val="solid"/>
            </a:ln>
          </p:spPr>
          <p:txBody>
            <a:bodyPr anchor="t"/>
            <a:lstStyle/>
            <a:p>
              <a:pPr algn="ctr">
                <a:buNone/>
                <a:defRPr sz="1200" b="1">
                  <a:solidFill>
                    <a:srgbClr val="C60C30"/>
                  </a:solidFill>
                  <a:latin typeface="Arial"/>
                  <a:ea typeface="Arial"/>
                  <a:cs typeface="Arial"/>
                </a:defRPr>
              </a:pPr>
              <a:r>
                <a:rPr sz="1200" b="1" dirty="0">
                  <a:solidFill>
                    <a:srgbClr val="C60C30"/>
                  </a:solidFill>
                  <a:latin typeface="Arial"/>
                  <a:ea typeface="Arial"/>
                  <a:cs typeface="Arial"/>
                </a:rPr>
                <a:t>ARTICLE RECALL@K</a:t>
              </a:r>
            </a:p>
          </p:txBody>
        </p:sp>
        <p:sp>
          <p:nvSpPr>
            <p:cNvPr id="8" name="ARTICLE RECALL@K-box">
              <a:extLst>
                <a:ext uri="{FF2B5EF4-FFF2-40B4-BE49-F238E27FC236}">
                  <a16:creationId xmlns:a16="http://schemas.microsoft.com/office/drawing/2014/main" id="{7D7415F9-B995-47D9-ACB0-CF9EA215DF97}"/>
                </a:ext>
              </a:extLst>
            </p:cNvPr>
            <p:cNvSpPr/>
            <p:nvPr/>
          </p:nvSpPr>
          <p:spPr>
            <a:xfrm>
              <a:off x="108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2" name="Gruppieren 1">
              <a:extLst>
                <a:ext uri="{FF2B5EF4-FFF2-40B4-BE49-F238E27FC236}">
                  <a16:creationId xmlns:a16="http://schemas.microsoft.com/office/drawing/2014/main" id="{58F4AE17-A10A-607C-53CB-C11338F32BC9}"/>
                </a:ext>
              </a:extLst>
            </p:cNvPr>
            <p:cNvGrpSpPr/>
            <p:nvPr/>
          </p:nvGrpSpPr>
          <p:grpSpPr>
            <a:xfrm>
              <a:off x="1080000" y="2700000"/>
              <a:ext cx="1440000" cy="900000"/>
              <a:chOff x="899999" y="2700000"/>
              <a:chExt cx="1260000" cy="948600"/>
            </a:xfrm>
          </p:grpSpPr>
          <p:sp>
            <p:nvSpPr>
              <p:cNvPr id="9" name="ARTICLE RECALL@K-vector-label">
                <a:extLst>
                  <a:ext uri="{FF2B5EF4-FFF2-40B4-BE49-F238E27FC236}">
                    <a16:creationId xmlns:a16="http://schemas.microsoft.com/office/drawing/2014/main" id="{6807D616-2734-411A-9F80-248B050D6544}"/>
                  </a:ext>
                </a:extLst>
              </p:cNvPr>
              <p:cNvSpPr/>
              <p:nvPr/>
            </p:nvSpPr>
            <p:spPr>
              <a:xfrm>
                <a:off x="89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0" name="ARTICLE RECALL@K-vector">
                <a:extLst>
                  <a:ext uri="{FF2B5EF4-FFF2-40B4-BE49-F238E27FC236}">
                    <a16:creationId xmlns:a16="http://schemas.microsoft.com/office/drawing/2014/main" id="{D9C1AC8B-20E7-4FC6-B1E1-7135C819100A}"/>
                  </a:ext>
                </a:extLst>
              </p:cNvPr>
              <p:cNvSpPr/>
              <p:nvPr/>
            </p:nvSpPr>
            <p:spPr>
              <a:xfrm>
                <a:off x="899999"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54 %</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33 %</a:t>
                </a:r>
              </a:p>
            </p:txBody>
          </p:sp>
        </p:grpSp>
        <p:grpSp>
          <p:nvGrpSpPr>
            <p:cNvPr id="3" name="Gruppieren 2">
              <a:extLst>
                <a:ext uri="{FF2B5EF4-FFF2-40B4-BE49-F238E27FC236}">
                  <a16:creationId xmlns:a16="http://schemas.microsoft.com/office/drawing/2014/main" id="{CE1C2434-3A1F-4655-57E9-7BD0D75BBA0E}"/>
                </a:ext>
              </a:extLst>
            </p:cNvPr>
            <p:cNvGrpSpPr/>
            <p:nvPr/>
          </p:nvGrpSpPr>
          <p:grpSpPr>
            <a:xfrm>
              <a:off x="2520000" y="2700000"/>
              <a:ext cx="1440000" cy="900000"/>
              <a:chOff x="2339999" y="2700000"/>
              <a:chExt cx="1260001" cy="948600"/>
            </a:xfrm>
          </p:grpSpPr>
          <p:sp>
            <p:nvSpPr>
              <p:cNvPr id="11" name="ARTICLE RECALL@K-graph-label">
                <a:extLst>
                  <a:ext uri="{FF2B5EF4-FFF2-40B4-BE49-F238E27FC236}">
                    <a16:creationId xmlns:a16="http://schemas.microsoft.com/office/drawing/2014/main" id="{547E2263-E275-431C-90EE-995868326356}"/>
                  </a:ext>
                </a:extLst>
              </p:cNvPr>
              <p:cNvSpPr/>
              <p:nvPr/>
            </p:nvSpPr>
            <p:spPr>
              <a:xfrm>
                <a:off x="23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12" name="ARTICLE RECALL@K-graph">
                <a:extLst>
                  <a:ext uri="{FF2B5EF4-FFF2-40B4-BE49-F238E27FC236}">
                    <a16:creationId xmlns:a16="http://schemas.microsoft.com/office/drawing/2014/main" id="{A26240DA-17D0-465A-909D-667A7CEC6A78}"/>
                  </a:ext>
                </a:extLst>
              </p:cNvPr>
              <p:cNvSpPr/>
              <p:nvPr/>
            </p:nvSpPr>
            <p:spPr>
              <a:xfrm>
                <a:off x="234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71 %</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88 %</a:t>
                </a:r>
              </a:p>
            </p:txBody>
          </p:sp>
        </p:grpSp>
        <p:sp>
          <p:nvSpPr>
            <p:cNvPr id="13" name="ARTICLE RECALL@K-divider">
              <a:extLst>
                <a:ext uri="{FF2B5EF4-FFF2-40B4-BE49-F238E27FC236}">
                  <a16:creationId xmlns:a16="http://schemas.microsoft.com/office/drawing/2014/main" id="{60C88283-300A-41E7-BA4D-36B297E1C6AD}"/>
                </a:ext>
              </a:extLst>
            </p:cNvPr>
            <p:cNvSpPr/>
            <p:nvPr/>
          </p:nvSpPr>
          <p:spPr>
            <a:xfrm>
              <a:off x="2520000" y="2700000"/>
              <a:ext cx="0" cy="952500"/>
            </a:xfrm>
            <a:prstGeom prst="line">
              <a:avLst/>
            </a:prstGeom>
            <a:ln w="11430">
              <a:solidFill>
                <a:srgbClr val="C3BBB2"/>
              </a:solidFill>
              <a:prstDash val="solid"/>
            </a:ln>
          </p:spPr>
          <p:txBody>
            <a:bodyPr/>
            <a:lstStyle/>
            <a:p>
              <a:endParaRPr/>
            </a:p>
          </p:txBody>
        </p:sp>
        <p:sp>
          <p:nvSpPr>
            <p:cNvPr id="14" name="ARTICLE RECALL@K-note">
              <a:extLst>
                <a:ext uri="{FF2B5EF4-FFF2-40B4-BE49-F238E27FC236}">
                  <a16:creationId xmlns:a16="http://schemas.microsoft.com/office/drawing/2014/main" id="{65BAC4C0-738D-4FD4-9F9C-DC3CABA4D556}"/>
                </a:ext>
              </a:extLst>
            </p:cNvPr>
            <p:cNvSpPr/>
            <p:nvPr/>
          </p:nvSpPr>
          <p:spPr>
            <a:xfrm>
              <a:off x="1080000" y="3780000"/>
              <a:ext cx="2880000"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a:t>
              </a:r>
              <a:r>
                <a:rPr sz="1050" b="1" dirty="0" err="1">
                  <a:solidFill>
                    <a:srgbClr val="304554"/>
                  </a:solidFill>
                  <a:latin typeface="Arial"/>
                  <a:ea typeface="Arial"/>
                  <a:cs typeface="Arial"/>
                </a:rPr>
                <a:t>liefert</a:t>
              </a:r>
              <a:r>
                <a:rPr sz="1050" b="1" dirty="0">
                  <a:solidFill>
                    <a:srgbClr val="304554"/>
                  </a:solidFill>
                  <a:latin typeface="Arial"/>
                  <a:ea typeface="Arial"/>
                  <a:cs typeface="Arial"/>
                </a:rPr>
                <a:t> den </a:t>
              </a:r>
              <a:r>
                <a:rPr sz="1050" b="1" dirty="0" err="1">
                  <a:solidFill>
                    <a:srgbClr val="304554"/>
                  </a:solidFill>
                  <a:latin typeface="Arial"/>
                  <a:ea typeface="Arial"/>
                  <a:cs typeface="Arial"/>
                </a:rPr>
                <a:t>höchsten</a:t>
              </a:r>
              <a:r>
                <a:rPr sz="1050" b="1" dirty="0">
                  <a:solidFill>
                    <a:srgbClr val="304554"/>
                  </a:solidFill>
                  <a:latin typeface="Arial"/>
                  <a:ea typeface="Arial"/>
                  <a:cs typeface="Arial"/>
                </a:rPr>
                <a:t> Recall</a:t>
              </a:r>
            </a:p>
          </p:txBody>
        </p:sp>
      </p:grpSp>
      <p:grpSp>
        <p:nvGrpSpPr>
          <p:cNvPr id="39" name="Gruppieren 38">
            <a:extLst>
              <a:ext uri="{FF2B5EF4-FFF2-40B4-BE49-F238E27FC236}">
                <a16:creationId xmlns:a16="http://schemas.microsoft.com/office/drawing/2014/main" id="{9EA5AB0A-42E4-DBBA-9B20-7429173E37C8}"/>
              </a:ext>
            </a:extLst>
          </p:cNvPr>
          <p:cNvGrpSpPr/>
          <p:nvPr/>
        </p:nvGrpSpPr>
        <p:grpSpPr>
          <a:xfrm>
            <a:off x="4589999" y="1980000"/>
            <a:ext cx="2880001" cy="2520000"/>
            <a:chOff x="4679999" y="1980000"/>
            <a:chExt cx="2880001" cy="2520000"/>
          </a:xfrm>
        </p:grpSpPr>
        <p:sp>
          <p:nvSpPr>
            <p:cNvPr id="15" name="ARTICLE MRR-label">
              <a:extLst>
                <a:ext uri="{FF2B5EF4-FFF2-40B4-BE49-F238E27FC236}">
                  <a16:creationId xmlns:a16="http://schemas.microsoft.com/office/drawing/2014/main" id="{428A152A-7185-4B7C-9D9F-F04877D61454}"/>
                </a:ext>
              </a:extLst>
            </p:cNvPr>
            <p:cNvSpPr/>
            <p:nvPr/>
          </p:nvSpPr>
          <p:spPr>
            <a:xfrm>
              <a:off x="4680000" y="1980000"/>
              <a:ext cx="2879995" cy="266700"/>
            </a:xfrm>
            <a:prstGeom prst="rect">
              <a:avLst/>
            </a:prstGeom>
            <a:noFill/>
            <a:ln w="0">
              <a:noFill/>
              <a:prstDash val="solid"/>
            </a:ln>
          </p:spPr>
          <p:txBody>
            <a:bodyPr anchor="t"/>
            <a:lstStyle/>
            <a:p>
              <a:pPr algn="ctr">
                <a:buNone/>
                <a:defRPr sz="1200" b="1">
                  <a:solidFill>
                    <a:srgbClr val="43858A"/>
                  </a:solidFill>
                  <a:latin typeface="Arial"/>
                  <a:ea typeface="Arial"/>
                  <a:cs typeface="Arial"/>
                </a:defRPr>
              </a:pPr>
              <a:r>
                <a:rPr sz="1200" b="1">
                  <a:solidFill>
                    <a:srgbClr val="43858A"/>
                  </a:solidFill>
                  <a:latin typeface="Arial"/>
                  <a:ea typeface="Arial"/>
                  <a:cs typeface="Arial"/>
                </a:rPr>
                <a:t>ARTICLE MRR</a:t>
              </a:r>
            </a:p>
          </p:txBody>
        </p:sp>
        <p:sp>
          <p:nvSpPr>
            <p:cNvPr id="16" name="ARTICLE MRR-box">
              <a:extLst>
                <a:ext uri="{FF2B5EF4-FFF2-40B4-BE49-F238E27FC236}">
                  <a16:creationId xmlns:a16="http://schemas.microsoft.com/office/drawing/2014/main" id="{C1FBDDDE-552F-4923-8326-79A1F4AA6167}"/>
                </a:ext>
              </a:extLst>
            </p:cNvPr>
            <p:cNvSpPr/>
            <p:nvPr/>
          </p:nvSpPr>
          <p:spPr>
            <a:xfrm>
              <a:off x="468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4" name="Gruppieren 33">
              <a:extLst>
                <a:ext uri="{FF2B5EF4-FFF2-40B4-BE49-F238E27FC236}">
                  <a16:creationId xmlns:a16="http://schemas.microsoft.com/office/drawing/2014/main" id="{EA017B8D-C6B9-EB55-C0E4-B1502E161B61}"/>
                </a:ext>
              </a:extLst>
            </p:cNvPr>
            <p:cNvGrpSpPr/>
            <p:nvPr/>
          </p:nvGrpSpPr>
          <p:grpSpPr>
            <a:xfrm>
              <a:off x="4680000" y="2700000"/>
              <a:ext cx="1440000" cy="900000"/>
              <a:chOff x="4319999" y="2700000"/>
              <a:chExt cx="1260001" cy="948600"/>
            </a:xfrm>
          </p:grpSpPr>
          <p:sp>
            <p:nvSpPr>
              <p:cNvPr id="17" name="ARTICLE MRR-vector-label">
                <a:extLst>
                  <a:ext uri="{FF2B5EF4-FFF2-40B4-BE49-F238E27FC236}">
                    <a16:creationId xmlns:a16="http://schemas.microsoft.com/office/drawing/2014/main" id="{231458E9-0363-4E1A-909E-88E4A78AF7E5}"/>
                  </a:ext>
                </a:extLst>
              </p:cNvPr>
              <p:cNvSpPr/>
              <p:nvPr/>
            </p:nvSpPr>
            <p:spPr>
              <a:xfrm>
                <a:off x="431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18" name="ARTICLE MRR-vector">
                <a:extLst>
                  <a:ext uri="{FF2B5EF4-FFF2-40B4-BE49-F238E27FC236}">
                    <a16:creationId xmlns:a16="http://schemas.microsoft.com/office/drawing/2014/main" id="{C57CA6CF-6455-4AE6-8EAA-CFE4AB39514B}"/>
                  </a:ext>
                </a:extLst>
              </p:cNvPr>
              <p:cNvSpPr/>
              <p:nvPr/>
            </p:nvSpPr>
            <p:spPr>
              <a:xfrm>
                <a:off x="432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0.43</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0.25</a:t>
                </a:r>
              </a:p>
            </p:txBody>
          </p:sp>
        </p:grpSp>
        <p:grpSp>
          <p:nvGrpSpPr>
            <p:cNvPr id="33" name="Gruppieren 32">
              <a:extLst>
                <a:ext uri="{FF2B5EF4-FFF2-40B4-BE49-F238E27FC236}">
                  <a16:creationId xmlns:a16="http://schemas.microsoft.com/office/drawing/2014/main" id="{478926ED-6920-8D6B-6060-A543468EE399}"/>
                </a:ext>
              </a:extLst>
            </p:cNvPr>
            <p:cNvGrpSpPr/>
            <p:nvPr/>
          </p:nvGrpSpPr>
          <p:grpSpPr>
            <a:xfrm>
              <a:off x="6120000" y="2700000"/>
              <a:ext cx="1440000" cy="900000"/>
              <a:chOff x="5759999" y="2700000"/>
              <a:chExt cx="1260001" cy="948600"/>
            </a:xfrm>
          </p:grpSpPr>
          <p:sp>
            <p:nvSpPr>
              <p:cNvPr id="19" name="ARTICLE MRR-graph-label">
                <a:extLst>
                  <a:ext uri="{FF2B5EF4-FFF2-40B4-BE49-F238E27FC236}">
                    <a16:creationId xmlns:a16="http://schemas.microsoft.com/office/drawing/2014/main" id="{34D2D5AD-316C-4BC7-AB0E-006E3CD5A7A1}"/>
                  </a:ext>
                </a:extLst>
              </p:cNvPr>
              <p:cNvSpPr/>
              <p:nvPr/>
            </p:nvSpPr>
            <p:spPr>
              <a:xfrm>
                <a:off x="57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0" name="ARTICLE MRR-graph">
                <a:extLst>
                  <a:ext uri="{FF2B5EF4-FFF2-40B4-BE49-F238E27FC236}">
                    <a16:creationId xmlns:a16="http://schemas.microsoft.com/office/drawing/2014/main" id="{9D4F12F2-CF98-4779-9C1F-BB3867E6ED32}"/>
                  </a:ext>
                </a:extLst>
              </p:cNvPr>
              <p:cNvSpPr/>
              <p:nvPr/>
            </p:nvSpPr>
            <p:spPr>
              <a:xfrm>
                <a:off x="57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0.68</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0.52</a:t>
                </a:r>
              </a:p>
            </p:txBody>
          </p:sp>
        </p:grpSp>
        <p:sp>
          <p:nvSpPr>
            <p:cNvPr id="21" name="ARTICLE MRR-divider">
              <a:extLst>
                <a:ext uri="{FF2B5EF4-FFF2-40B4-BE49-F238E27FC236}">
                  <a16:creationId xmlns:a16="http://schemas.microsoft.com/office/drawing/2014/main" id="{AF3DB5C0-E728-477B-889B-6F68B673147F}"/>
                </a:ext>
              </a:extLst>
            </p:cNvPr>
            <p:cNvSpPr/>
            <p:nvPr/>
          </p:nvSpPr>
          <p:spPr>
            <a:xfrm>
              <a:off x="6120000" y="2700000"/>
              <a:ext cx="0" cy="952500"/>
            </a:xfrm>
            <a:prstGeom prst="line">
              <a:avLst/>
            </a:prstGeom>
            <a:ln w="11430">
              <a:solidFill>
                <a:srgbClr val="C3BBB2"/>
              </a:solidFill>
              <a:prstDash val="solid"/>
            </a:ln>
          </p:spPr>
          <p:txBody>
            <a:bodyPr/>
            <a:lstStyle/>
            <a:p>
              <a:endParaRPr/>
            </a:p>
          </p:txBody>
        </p:sp>
        <p:sp>
          <p:nvSpPr>
            <p:cNvPr id="22" name="ARTICLE MRR-note">
              <a:extLst>
                <a:ext uri="{FF2B5EF4-FFF2-40B4-BE49-F238E27FC236}">
                  <a16:creationId xmlns:a16="http://schemas.microsoft.com/office/drawing/2014/main" id="{17CB93E4-3093-4C24-808C-3EA62722BD80}"/>
                </a:ext>
              </a:extLst>
            </p:cNvPr>
            <p:cNvSpPr/>
            <p:nvPr/>
          </p:nvSpPr>
          <p:spPr>
            <a:xfrm>
              <a:off x="4679999" y="3780000"/>
              <a:ext cx="2879997"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err="1">
                  <a:solidFill>
                    <a:srgbClr val="304554"/>
                  </a:solidFill>
                  <a:latin typeface="Arial"/>
                  <a:ea typeface="Arial"/>
                  <a:cs typeface="Arial"/>
                </a:rPr>
                <a:t>Reranker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ordnet</a:t>
              </a:r>
              <a:r>
                <a:rPr sz="1050" b="1" dirty="0">
                  <a:solidFill>
                    <a:srgbClr val="304554"/>
                  </a:solidFill>
                  <a:latin typeface="Arial"/>
                  <a:ea typeface="Arial"/>
                  <a:cs typeface="Arial"/>
                </a:rPr>
                <a:t> Treffer am </a:t>
              </a:r>
              <a:r>
                <a:rPr sz="1050" b="1" dirty="0" err="1">
                  <a:solidFill>
                    <a:srgbClr val="304554"/>
                  </a:solidFill>
                  <a:latin typeface="Arial"/>
                  <a:ea typeface="Arial"/>
                  <a:cs typeface="Arial"/>
                </a:rPr>
                <a:t>besten</a:t>
              </a:r>
              <a:endParaRPr sz="1050" b="1" dirty="0">
                <a:solidFill>
                  <a:srgbClr val="304554"/>
                </a:solidFill>
                <a:latin typeface="Arial"/>
                <a:ea typeface="Arial"/>
                <a:cs typeface="Arial"/>
              </a:endParaRPr>
            </a:p>
          </p:txBody>
        </p:sp>
      </p:grpSp>
      <p:grpSp>
        <p:nvGrpSpPr>
          <p:cNvPr id="38" name="Gruppieren 37">
            <a:extLst>
              <a:ext uri="{FF2B5EF4-FFF2-40B4-BE49-F238E27FC236}">
                <a16:creationId xmlns:a16="http://schemas.microsoft.com/office/drawing/2014/main" id="{FD890A52-9E28-BD03-9461-B689DD2F4364}"/>
              </a:ext>
            </a:extLst>
          </p:cNvPr>
          <p:cNvGrpSpPr/>
          <p:nvPr/>
        </p:nvGrpSpPr>
        <p:grpSpPr>
          <a:xfrm>
            <a:off x="8100000" y="1980000"/>
            <a:ext cx="2880000" cy="2520000"/>
            <a:chOff x="7560000" y="1980000"/>
            <a:chExt cx="2880000" cy="2520000"/>
          </a:xfrm>
        </p:grpSpPr>
        <p:sp>
          <p:nvSpPr>
            <p:cNvPr id="23" name="Ø KONTEXT-TOKENS-label">
              <a:extLst>
                <a:ext uri="{FF2B5EF4-FFF2-40B4-BE49-F238E27FC236}">
                  <a16:creationId xmlns:a16="http://schemas.microsoft.com/office/drawing/2014/main" id="{55D09288-0EF6-4C48-BD66-8A8F092889F5}"/>
                </a:ext>
              </a:extLst>
            </p:cNvPr>
            <p:cNvSpPr/>
            <p:nvPr/>
          </p:nvSpPr>
          <p:spPr>
            <a:xfrm>
              <a:off x="7560000" y="1980000"/>
              <a:ext cx="2879995" cy="266700"/>
            </a:xfrm>
            <a:prstGeom prst="rect">
              <a:avLst/>
            </a:prstGeom>
            <a:noFill/>
            <a:ln w="0">
              <a:noFill/>
              <a:prstDash val="solid"/>
            </a:ln>
          </p:spPr>
          <p:txBody>
            <a:bodyPr anchor="t"/>
            <a:lstStyle/>
            <a:p>
              <a:pPr algn="ctr">
                <a:buNone/>
                <a:defRPr sz="1200" b="1">
                  <a:solidFill>
                    <a:srgbClr val="C9960F"/>
                  </a:solidFill>
                  <a:latin typeface="Arial"/>
                  <a:ea typeface="Arial"/>
                  <a:cs typeface="Arial"/>
                </a:defRPr>
              </a:pPr>
              <a:r>
                <a:rPr sz="1200" b="1" dirty="0">
                  <a:solidFill>
                    <a:srgbClr val="C9960F"/>
                  </a:solidFill>
                  <a:latin typeface="Arial"/>
                  <a:ea typeface="Arial"/>
                  <a:cs typeface="Arial"/>
                </a:rPr>
                <a:t>Ø KONTEXT-TOKENS</a:t>
              </a:r>
            </a:p>
          </p:txBody>
        </p:sp>
        <p:sp>
          <p:nvSpPr>
            <p:cNvPr id="24" name="Ø KONTEXT-TOKENS-box">
              <a:extLst>
                <a:ext uri="{FF2B5EF4-FFF2-40B4-BE49-F238E27FC236}">
                  <a16:creationId xmlns:a16="http://schemas.microsoft.com/office/drawing/2014/main" id="{EC9B1F93-451A-4B2C-972B-A295635DCBB8}"/>
                </a:ext>
              </a:extLst>
            </p:cNvPr>
            <p:cNvSpPr/>
            <p:nvPr/>
          </p:nvSpPr>
          <p:spPr>
            <a:xfrm>
              <a:off x="7560000" y="2340000"/>
              <a:ext cx="2880000" cy="2160000"/>
            </a:xfrm>
            <a:prstGeom prst="roundRect">
              <a:avLst>
                <a:gd name="adj" fmla="val 7660"/>
              </a:avLst>
            </a:prstGeom>
            <a:solidFill>
              <a:srgbClr val="EAE8E5"/>
            </a:solidFill>
            <a:ln w="11430">
              <a:solidFill>
                <a:srgbClr val="C3BBB2"/>
              </a:solidFill>
              <a:prstDash val="solid"/>
            </a:ln>
          </p:spPr>
          <p:txBody>
            <a:bodyPr/>
            <a:lstStyle/>
            <a:p>
              <a:endParaRPr/>
            </a:p>
          </p:txBody>
        </p:sp>
        <p:grpSp>
          <p:nvGrpSpPr>
            <p:cNvPr id="35" name="Gruppieren 34">
              <a:extLst>
                <a:ext uri="{FF2B5EF4-FFF2-40B4-BE49-F238E27FC236}">
                  <a16:creationId xmlns:a16="http://schemas.microsoft.com/office/drawing/2014/main" id="{39E951EB-21A8-3BCA-9924-A7A0B8E85324}"/>
                </a:ext>
              </a:extLst>
            </p:cNvPr>
            <p:cNvGrpSpPr/>
            <p:nvPr/>
          </p:nvGrpSpPr>
          <p:grpSpPr>
            <a:xfrm>
              <a:off x="7560000" y="2700000"/>
              <a:ext cx="1440000" cy="900000"/>
              <a:chOff x="7739999" y="2700000"/>
              <a:chExt cx="1260001" cy="948600"/>
            </a:xfrm>
          </p:grpSpPr>
          <p:sp>
            <p:nvSpPr>
              <p:cNvPr id="25" name="Ø KONTEXT-TOKENS-vector-label">
                <a:extLst>
                  <a:ext uri="{FF2B5EF4-FFF2-40B4-BE49-F238E27FC236}">
                    <a16:creationId xmlns:a16="http://schemas.microsoft.com/office/drawing/2014/main" id="{D47DBC2B-B2FA-49FF-B10A-1CA89217518E}"/>
                  </a:ext>
                </a:extLst>
              </p:cNvPr>
              <p:cNvSpPr/>
              <p:nvPr/>
            </p:nvSpPr>
            <p:spPr>
              <a:xfrm>
                <a:off x="773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FIXED</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SEMANTIC</a:t>
                </a:r>
              </a:p>
            </p:txBody>
          </p:sp>
          <p:sp>
            <p:nvSpPr>
              <p:cNvPr id="26" name="Ø KONTEXT-TOKENS-vector">
                <a:extLst>
                  <a:ext uri="{FF2B5EF4-FFF2-40B4-BE49-F238E27FC236}">
                    <a16:creationId xmlns:a16="http://schemas.microsoft.com/office/drawing/2014/main" id="{B7396388-1560-49C3-9812-48B1D9941EE2}"/>
                  </a:ext>
                </a:extLst>
              </p:cNvPr>
              <p:cNvSpPr/>
              <p:nvPr/>
            </p:nvSpPr>
            <p:spPr>
              <a:xfrm>
                <a:off x="7740000" y="3108600"/>
                <a:ext cx="1260000" cy="540000"/>
              </a:xfrm>
              <a:prstGeom prst="rect">
                <a:avLst/>
              </a:prstGeom>
              <a:noFill/>
              <a:ln w="0">
                <a:noFill/>
                <a:prstDash val="solid"/>
              </a:ln>
            </p:spPr>
            <p:txBody>
              <a:bodyPr anchor="ctr"/>
              <a:lstStyle/>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1 289</a:t>
                </a:r>
              </a:p>
              <a:p>
                <a:pPr algn="ctr">
                  <a:buNone/>
                  <a:defRPr sz="1725" b="1">
                    <a:solidFill>
                      <a:srgbClr val="304554"/>
                    </a:solidFill>
                    <a:latin typeface="Arial"/>
                    <a:ea typeface="Arial"/>
                    <a:cs typeface="Arial"/>
                  </a:defRPr>
                </a:pPr>
                <a:r>
                  <a:rPr sz="1725" b="1" dirty="0">
                    <a:solidFill>
                      <a:srgbClr val="304554"/>
                    </a:solidFill>
                    <a:latin typeface="Arial"/>
                    <a:ea typeface="Arial"/>
                    <a:cs typeface="Arial"/>
                  </a:rPr>
                  <a:t>892</a:t>
                </a:r>
              </a:p>
            </p:txBody>
          </p:sp>
        </p:grpSp>
        <p:grpSp>
          <p:nvGrpSpPr>
            <p:cNvPr id="37" name="Gruppieren 36">
              <a:extLst>
                <a:ext uri="{FF2B5EF4-FFF2-40B4-BE49-F238E27FC236}">
                  <a16:creationId xmlns:a16="http://schemas.microsoft.com/office/drawing/2014/main" id="{098DE64C-2F4B-878B-49E4-63A2EF9465C7}"/>
                </a:ext>
              </a:extLst>
            </p:cNvPr>
            <p:cNvGrpSpPr/>
            <p:nvPr/>
          </p:nvGrpSpPr>
          <p:grpSpPr>
            <a:xfrm>
              <a:off x="9000000" y="2700000"/>
              <a:ext cx="1440000" cy="900000"/>
              <a:chOff x="9359999" y="2700000"/>
              <a:chExt cx="1260001" cy="948600"/>
            </a:xfrm>
          </p:grpSpPr>
          <p:sp>
            <p:nvSpPr>
              <p:cNvPr id="27" name="Ø KONTEXT-TOKENS-graph-label">
                <a:extLst>
                  <a:ext uri="{FF2B5EF4-FFF2-40B4-BE49-F238E27FC236}">
                    <a16:creationId xmlns:a16="http://schemas.microsoft.com/office/drawing/2014/main" id="{5ADB093D-5CA8-470A-B582-671D3E476C43}"/>
                  </a:ext>
                </a:extLst>
              </p:cNvPr>
              <p:cNvSpPr/>
              <p:nvPr/>
            </p:nvSpPr>
            <p:spPr>
              <a:xfrm>
                <a:off x="9359999" y="2700000"/>
                <a:ext cx="1260000" cy="408600"/>
              </a:xfrm>
              <a:prstGeom prst="rect">
                <a:avLst/>
              </a:prstGeom>
              <a:noFill/>
              <a:ln w="0">
                <a:noFill/>
                <a:prstDash val="solid"/>
              </a:ln>
            </p:spPr>
            <p:txBody>
              <a:bodyPr anchor="t"/>
              <a:lstStyle/>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RERANK</a:t>
                </a:r>
              </a:p>
              <a:p>
                <a:pPr algn="ctr">
                  <a:buNone/>
                  <a:defRPr sz="825" b="1">
                    <a:solidFill>
                      <a:srgbClr val="304554"/>
                    </a:solidFill>
                    <a:latin typeface="Arial"/>
                    <a:ea typeface="Arial"/>
                    <a:cs typeface="Arial"/>
                  </a:defRPr>
                </a:pPr>
                <a:r>
                  <a:rPr sz="825" b="1" dirty="0">
                    <a:solidFill>
                      <a:srgbClr val="304554"/>
                    </a:solidFill>
                    <a:latin typeface="Arial"/>
                    <a:ea typeface="Arial"/>
                    <a:cs typeface="Arial"/>
                  </a:rPr>
                  <a:t>GRAPH</a:t>
                </a:r>
              </a:p>
            </p:txBody>
          </p:sp>
          <p:sp>
            <p:nvSpPr>
              <p:cNvPr id="28" name="Ø KONTEXT-TOKENS-graph">
                <a:extLst>
                  <a:ext uri="{FF2B5EF4-FFF2-40B4-BE49-F238E27FC236}">
                    <a16:creationId xmlns:a16="http://schemas.microsoft.com/office/drawing/2014/main" id="{4EC3510F-1F82-480E-A1CA-8D6D9B83C091}"/>
                  </a:ext>
                </a:extLst>
              </p:cNvPr>
              <p:cNvSpPr/>
              <p:nvPr/>
            </p:nvSpPr>
            <p:spPr>
              <a:xfrm>
                <a:off x="9360000" y="3108600"/>
                <a:ext cx="1260000" cy="540000"/>
              </a:xfrm>
              <a:prstGeom prst="rect">
                <a:avLst/>
              </a:prstGeom>
              <a:noFill/>
              <a:ln w="0">
                <a:noFill/>
                <a:prstDash val="solid"/>
              </a:ln>
            </p:spPr>
            <p:txBody>
              <a:bodyPr anchor="ctr"/>
              <a:lstStyle/>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923</a:t>
                </a:r>
              </a:p>
              <a:p>
                <a:pPr algn="ctr">
                  <a:buNone/>
                  <a:defRPr sz="1725" b="1">
                    <a:solidFill>
                      <a:srgbClr val="4B9298"/>
                    </a:solidFill>
                    <a:latin typeface="Arial"/>
                    <a:ea typeface="Arial"/>
                    <a:cs typeface="Arial"/>
                  </a:defRPr>
                </a:pPr>
                <a:r>
                  <a:rPr sz="1725" b="1" dirty="0">
                    <a:solidFill>
                      <a:srgbClr val="4B9298"/>
                    </a:solidFill>
                    <a:latin typeface="Arial"/>
                    <a:ea typeface="Arial"/>
                    <a:cs typeface="Arial"/>
                  </a:rPr>
                  <a:t>802</a:t>
                </a:r>
              </a:p>
            </p:txBody>
          </p:sp>
        </p:grpSp>
        <p:sp>
          <p:nvSpPr>
            <p:cNvPr id="29" name="Ø KONTEXT-TOKENS-divider">
              <a:extLst>
                <a:ext uri="{FF2B5EF4-FFF2-40B4-BE49-F238E27FC236}">
                  <a16:creationId xmlns:a16="http://schemas.microsoft.com/office/drawing/2014/main" id="{145BFBDE-E6FD-49B8-BBC5-524B55F1BA5C}"/>
                </a:ext>
              </a:extLst>
            </p:cNvPr>
            <p:cNvSpPr/>
            <p:nvPr/>
          </p:nvSpPr>
          <p:spPr>
            <a:xfrm>
              <a:off x="9000000" y="2700000"/>
              <a:ext cx="0" cy="952500"/>
            </a:xfrm>
            <a:prstGeom prst="line">
              <a:avLst/>
            </a:prstGeom>
            <a:ln w="11430">
              <a:solidFill>
                <a:srgbClr val="C3BBB2"/>
              </a:solidFill>
              <a:prstDash val="solid"/>
            </a:ln>
          </p:spPr>
          <p:txBody>
            <a:bodyPr/>
            <a:lstStyle/>
            <a:p>
              <a:endParaRPr/>
            </a:p>
          </p:txBody>
        </p:sp>
        <p:sp>
          <p:nvSpPr>
            <p:cNvPr id="30" name="Ø KONTEXT-TOKENS-note">
              <a:extLst>
                <a:ext uri="{FF2B5EF4-FFF2-40B4-BE49-F238E27FC236}">
                  <a16:creationId xmlns:a16="http://schemas.microsoft.com/office/drawing/2014/main" id="{4C16585F-8D37-419B-AAB3-5B9A97F84267}"/>
                </a:ext>
              </a:extLst>
            </p:cNvPr>
            <p:cNvSpPr/>
            <p:nvPr/>
          </p:nvSpPr>
          <p:spPr>
            <a:xfrm>
              <a:off x="7560000" y="3780000"/>
              <a:ext cx="2879995" cy="4381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Graph: 10 % </a:t>
              </a:r>
              <a:r>
                <a:rPr sz="1050" b="1" dirty="0" err="1">
                  <a:solidFill>
                    <a:srgbClr val="304554"/>
                  </a:solidFill>
                  <a:latin typeface="Arial"/>
                  <a:ea typeface="Arial"/>
                  <a:cs typeface="Arial"/>
                </a:rPr>
                <a:t>weniger</a:t>
              </a:r>
              <a:r>
                <a:rPr sz="1050" b="1" dirty="0">
                  <a:solidFill>
                    <a:srgbClr val="304554"/>
                  </a:solidFill>
                  <a:latin typeface="Arial"/>
                  <a:ea typeface="Arial"/>
                  <a:cs typeface="Arial"/>
                </a:rPr>
                <a:t> </a:t>
              </a:r>
              <a:r>
                <a:rPr sz="1050" b="1" dirty="0" err="1">
                  <a:solidFill>
                    <a:srgbClr val="304554"/>
                  </a:solidFill>
                  <a:latin typeface="Arial"/>
                  <a:ea typeface="Arial"/>
                  <a:cs typeface="Arial"/>
                </a:rPr>
                <a:t>als</a:t>
              </a:r>
              <a:r>
                <a:rPr sz="1050" b="1" dirty="0">
                  <a:solidFill>
                    <a:srgbClr val="304554"/>
                  </a:solidFill>
                  <a:latin typeface="Arial"/>
                  <a:ea typeface="Arial"/>
                  <a:cs typeface="Arial"/>
                </a:rPr>
                <a:t> Semantic</a:t>
              </a:r>
            </a:p>
          </p:txBody>
        </p:sp>
      </p:grpSp>
      <p:sp>
        <p:nvSpPr>
          <p:cNvPr id="36" name="Titel 1">
            <a:extLst>
              <a:ext uri="{FF2B5EF4-FFF2-40B4-BE49-F238E27FC236}">
                <a16:creationId xmlns:a16="http://schemas.microsoft.com/office/drawing/2014/main" id="{C2C3951A-6174-5B25-11EA-FD430B5FD51F}"/>
              </a:ext>
            </a:extLst>
          </p:cNvPr>
          <p:cNvSpPr>
            <a:spLocks noGrp="1"/>
          </p:cNvSpPr>
          <p:nvPr>
            <p:ph type="title"/>
          </p:nvPr>
        </p:nvSpPr>
        <p:spPr>
          <a:xfrm>
            <a:off x="482461" y="346633"/>
            <a:ext cx="11230114" cy="767605"/>
          </a:xfrm>
        </p:spPr>
        <p:txBody>
          <a:bodyPr/>
          <a:lstStyle/>
          <a:p>
            <a:r>
              <a:rPr lang="de-DE" sz="3600" dirty="0" err="1"/>
              <a:t>GraphRAG</a:t>
            </a:r>
            <a:r>
              <a:rPr lang="de-DE" sz="3600" dirty="0"/>
              <a:t>: höchster </a:t>
            </a:r>
            <a:r>
              <a:rPr lang="de-DE" sz="3600" dirty="0" err="1"/>
              <a:t>Article</a:t>
            </a:r>
            <a:r>
              <a:rPr lang="de-DE" sz="3600" dirty="0"/>
              <a:t>-Recall, kleinster Kontext</a:t>
            </a:r>
            <a:endParaRPr lang="de-CH" sz="3600" dirty="0"/>
          </a:p>
        </p:txBody>
      </p:sp>
      <p:sp>
        <p:nvSpPr>
          <p:cNvPr id="32" name="answer-takeaway">
            <a:extLst>
              <a:ext uri="{FF2B5EF4-FFF2-40B4-BE49-F238E27FC236}">
                <a16:creationId xmlns:a16="http://schemas.microsoft.com/office/drawing/2014/main" id="{3376AB4E-6BA1-5ED0-2685-40CC6EAA7E88}"/>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Retrieval ≠ Antwortqualität: Der richtige Artikel muss im Kontext sein – und korrekt genutzt werden.</a:t>
            </a:r>
          </a:p>
        </p:txBody>
      </p:sp>
    </p:spTree>
    <p:extLst>
      <p:ext uri="{BB962C8B-B14F-4D97-AF65-F5344CB8AC3E}">
        <p14:creationId xmlns:p14="http://schemas.microsoft.com/office/powerpoint/2010/main" val="109984491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el 1"/>
          <p:cNvSpPr>
            <a:spLocks noGrp="1"/>
          </p:cNvSpPr>
          <p:nvPr>
            <p:ph type="title"/>
          </p:nvPr>
        </p:nvSpPr>
        <p:spPr>
          <a:xfrm>
            <a:off x="482461" y="346633"/>
            <a:ext cx="11230114" cy="767605"/>
          </a:xfrm>
        </p:spPr>
        <p:txBody>
          <a:bodyPr/>
          <a:lstStyle/>
          <a:p>
            <a:r>
              <a:rPr lang="de-CH" sz="2800" dirty="0"/>
              <a:t>Besseres Retrieval verbessert Antworten – garantiert sie aber nicht</a:t>
            </a:r>
          </a:p>
        </p:txBody>
      </p:sp>
      <p:sp>
        <p:nvSpPr>
          <p:cNvPr id="4" name="slide-subtitle">
            <a:extLst>
              <a:ext uri="{FF2B5EF4-FFF2-40B4-BE49-F238E27FC236}">
                <a16:creationId xmlns:a16="http://schemas.microsoft.com/office/drawing/2014/main" id="{4E8CE74E-69E1-4652-A334-2E118021F7D4}"/>
              </a:ext>
            </a:extLst>
          </p:cNvPr>
          <p:cNvSpPr/>
          <p:nvPr/>
        </p:nvSpPr>
        <p:spPr>
          <a:xfrm>
            <a:off x="540000" y="1440000"/>
            <a:ext cx="11096625" cy="361950"/>
          </a:xfrm>
          <a:prstGeom prst="rect">
            <a:avLst/>
          </a:prstGeom>
          <a:noFill/>
          <a:ln w="0">
            <a:noFill/>
            <a:prstDash val="solid"/>
          </a:ln>
        </p:spPr>
        <p:txBody>
          <a:bodyPr anchor="ctr"/>
          <a:lstStyle/>
          <a:p>
            <a:pPr algn="l">
              <a:buNone/>
              <a:defRPr sz="1650" b="0">
                <a:solidFill>
                  <a:srgbClr val="81725E"/>
                </a:solidFill>
                <a:latin typeface="Arial"/>
                <a:ea typeface="Arial"/>
                <a:cs typeface="Arial"/>
              </a:defRPr>
            </a:pPr>
            <a:r>
              <a:rPr lang="de-DE" sz="1650" b="1" dirty="0">
                <a:solidFill>
                  <a:srgbClr val="2D3F4B"/>
                </a:solidFill>
                <a:latin typeface="Arial"/>
                <a:ea typeface="Arial"/>
                <a:cs typeface="Arial"/>
              </a:rPr>
              <a:t>Faktenabdeckung</a:t>
            </a:r>
            <a:r>
              <a:rPr sz="1650" b="0" dirty="0">
                <a:solidFill>
                  <a:srgbClr val="81725E"/>
                </a:solidFill>
                <a:latin typeface="Arial"/>
                <a:ea typeface="Arial"/>
                <a:cs typeface="Arial"/>
              </a:rPr>
              <a:t> </a:t>
            </a:r>
            <a:r>
              <a:rPr sz="1650" b="0" dirty="0">
                <a:solidFill>
                  <a:schemeClr val="accent3"/>
                </a:solidFill>
                <a:latin typeface="Arial"/>
                <a:ea typeface="Arial"/>
                <a:cs typeface="Arial"/>
              </a:rPr>
              <a:t>und</a:t>
            </a:r>
            <a:r>
              <a:rPr sz="1650" b="0" dirty="0">
                <a:solidFill>
                  <a:srgbClr val="81725E"/>
                </a:solidFill>
                <a:latin typeface="Arial"/>
                <a:ea typeface="Arial"/>
                <a:cs typeface="Arial"/>
              </a:rPr>
              <a:t> </a:t>
            </a:r>
            <a:r>
              <a:rPr sz="1650" b="1" dirty="0" err="1">
                <a:solidFill>
                  <a:schemeClr val="accent5"/>
                </a:solidFill>
                <a:latin typeface="Arial"/>
                <a:ea typeface="Arial"/>
                <a:cs typeface="Arial"/>
              </a:rPr>
              <a:t>Zitationsvollständigkeit</a:t>
            </a:r>
            <a:r>
              <a:rPr sz="1650" b="0" dirty="0">
                <a:solidFill>
                  <a:srgbClr val="81725E"/>
                </a:solidFill>
                <a:latin typeface="Arial"/>
                <a:ea typeface="Arial"/>
                <a:cs typeface="Arial"/>
              </a:rPr>
              <a:t> </a:t>
            </a:r>
            <a:r>
              <a:rPr sz="1650" b="0" dirty="0" err="1">
                <a:solidFill>
                  <a:srgbClr val="81725E"/>
                </a:solidFill>
                <a:latin typeface="Arial"/>
                <a:ea typeface="Arial"/>
                <a:cs typeface="Arial"/>
              </a:rPr>
              <a:t>bleiben</a:t>
            </a:r>
            <a:r>
              <a:rPr sz="1650" b="0" dirty="0">
                <a:solidFill>
                  <a:srgbClr val="81725E"/>
                </a:solidFill>
                <a:latin typeface="Arial"/>
                <a:ea typeface="Arial"/>
                <a:cs typeface="Arial"/>
              </a:rPr>
              <a:t> </a:t>
            </a:r>
            <a:r>
              <a:rPr sz="1650" b="0" dirty="0" err="1">
                <a:solidFill>
                  <a:srgbClr val="81725E"/>
                </a:solidFill>
                <a:latin typeface="Arial"/>
                <a:ea typeface="Arial"/>
                <a:cs typeface="Arial"/>
              </a:rPr>
              <a:t>vom</a:t>
            </a:r>
            <a:r>
              <a:rPr sz="1650" b="0" dirty="0">
                <a:solidFill>
                  <a:srgbClr val="81725E"/>
                </a:solidFill>
                <a:latin typeface="Arial"/>
                <a:ea typeface="Arial"/>
                <a:cs typeface="Arial"/>
              </a:rPr>
              <a:t> </a:t>
            </a:r>
            <a:r>
              <a:rPr sz="1650" b="0" dirty="0" err="1">
                <a:solidFill>
                  <a:srgbClr val="81725E"/>
                </a:solidFill>
                <a:latin typeface="Arial"/>
                <a:ea typeface="Arial"/>
                <a:cs typeface="Arial"/>
              </a:rPr>
              <a:t>generierenden</a:t>
            </a:r>
            <a:r>
              <a:rPr sz="1650" b="0" dirty="0">
                <a:solidFill>
                  <a:srgbClr val="81725E"/>
                </a:solidFill>
                <a:latin typeface="Arial"/>
                <a:ea typeface="Arial"/>
                <a:cs typeface="Arial"/>
              </a:rPr>
              <a:t> Modell </a:t>
            </a:r>
            <a:r>
              <a:rPr sz="1650" b="0" dirty="0" err="1">
                <a:solidFill>
                  <a:srgbClr val="81725E"/>
                </a:solidFill>
                <a:latin typeface="Arial"/>
                <a:ea typeface="Arial"/>
                <a:cs typeface="Arial"/>
              </a:rPr>
              <a:t>abhängig</a:t>
            </a:r>
            <a:r>
              <a:rPr sz="1650" b="0" dirty="0">
                <a:solidFill>
                  <a:srgbClr val="81725E"/>
                </a:solidFill>
                <a:latin typeface="Arial"/>
                <a:ea typeface="Arial"/>
                <a:cs typeface="Arial"/>
              </a:rPr>
              <a:t>.</a:t>
            </a:r>
          </a:p>
        </p:txBody>
      </p:sp>
      <p:sp>
        <p:nvSpPr>
          <p:cNvPr id="5" name="page-number">
            <a:extLst>
              <a:ext uri="{FF2B5EF4-FFF2-40B4-BE49-F238E27FC236}">
                <a16:creationId xmlns:a16="http://schemas.microsoft.com/office/drawing/2014/main" id="{6F5DB894-47F0-45EE-961A-FA84C16F5063}"/>
              </a:ext>
            </a:extLst>
          </p:cNvPr>
          <p:cNvSpPr/>
          <p:nvPr/>
        </p:nvSpPr>
        <p:spPr>
          <a:xfrm>
            <a:off x="540000" y="6300000"/>
            <a:ext cx="333375"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18</a:t>
            </a:r>
          </a:p>
        </p:txBody>
      </p:sp>
      <p:sp>
        <p:nvSpPr>
          <p:cNvPr id="6" name="date">
            <a:extLst>
              <a:ext uri="{FF2B5EF4-FFF2-40B4-BE49-F238E27FC236}">
                <a16:creationId xmlns:a16="http://schemas.microsoft.com/office/drawing/2014/main" id="{83E97BF4-D377-48CC-BB94-BEF3C4096844}"/>
              </a:ext>
            </a:extLst>
          </p:cNvPr>
          <p:cNvSpPr/>
          <p:nvPr/>
        </p:nvSpPr>
        <p:spPr>
          <a:xfrm>
            <a:off x="900000" y="6300000"/>
            <a:ext cx="857250" cy="209550"/>
          </a:xfrm>
          <a:prstGeom prst="rect">
            <a:avLst/>
          </a:prstGeom>
          <a:noFill/>
          <a:ln w="0">
            <a:noFill/>
            <a:prstDash val="solid"/>
          </a:ln>
        </p:spPr>
        <p:txBody>
          <a:bodyPr anchor="t"/>
          <a:lstStyle/>
          <a:p>
            <a:pPr algn="l">
              <a:buNone/>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vector-legend">
            <a:extLst>
              <a:ext uri="{FF2B5EF4-FFF2-40B4-BE49-F238E27FC236}">
                <a16:creationId xmlns:a16="http://schemas.microsoft.com/office/drawing/2014/main" id="{09A808F1-D77E-495F-8E10-BC91447259C4}"/>
              </a:ext>
            </a:extLst>
          </p:cNvPr>
          <p:cNvSpPr/>
          <p:nvPr/>
        </p:nvSpPr>
        <p:spPr>
          <a:xfrm>
            <a:off x="5871075" y="1951837"/>
            <a:ext cx="1238250" cy="340950"/>
          </a:xfrm>
          <a:prstGeom prst="rect">
            <a:avLst/>
          </a:prstGeom>
          <a:noFill/>
          <a:ln w="0">
            <a:noFill/>
            <a:prstDash val="solid"/>
          </a:ln>
        </p:spPr>
        <p:txBody>
          <a:bodyPr anchor="t"/>
          <a:lstStyle/>
          <a:p>
            <a:pPr algn="ctr">
              <a:buNone/>
              <a:defRPr sz="900" b="1">
                <a:solidFill>
                  <a:srgbClr val="304554"/>
                </a:solidFill>
                <a:latin typeface="Arial"/>
                <a:ea typeface="Arial"/>
                <a:cs typeface="Arial"/>
              </a:defRPr>
            </a:pPr>
            <a:r>
              <a:rPr sz="1600" b="1" dirty="0">
                <a:solidFill>
                  <a:srgbClr val="304554"/>
                </a:solidFill>
                <a:latin typeface="Arial"/>
                <a:ea typeface="Arial"/>
                <a:cs typeface="Arial"/>
              </a:rPr>
              <a:t>FAKTEN</a:t>
            </a:r>
          </a:p>
        </p:txBody>
      </p:sp>
      <p:sp>
        <p:nvSpPr>
          <p:cNvPr id="8" name="graph-legend">
            <a:extLst>
              <a:ext uri="{FF2B5EF4-FFF2-40B4-BE49-F238E27FC236}">
                <a16:creationId xmlns:a16="http://schemas.microsoft.com/office/drawing/2014/main" id="{182E2D9D-9544-42BF-B9FE-8FA6D5B68094}"/>
              </a:ext>
            </a:extLst>
          </p:cNvPr>
          <p:cNvSpPr/>
          <p:nvPr/>
        </p:nvSpPr>
        <p:spPr>
          <a:xfrm>
            <a:off x="9291075" y="1951837"/>
            <a:ext cx="1238250" cy="340950"/>
          </a:xfrm>
          <a:prstGeom prst="rect">
            <a:avLst/>
          </a:prstGeom>
          <a:noFill/>
          <a:ln w="0">
            <a:noFill/>
            <a:prstDash val="solid"/>
          </a:ln>
        </p:spPr>
        <p:txBody>
          <a:bodyPr anchor="t"/>
          <a:lstStyle/>
          <a:p>
            <a:pPr algn="ctr">
              <a:buNone/>
              <a:defRPr sz="900" b="1">
                <a:solidFill>
                  <a:srgbClr val="4B9298"/>
                </a:solidFill>
                <a:latin typeface="Arial"/>
                <a:ea typeface="Arial"/>
                <a:cs typeface="Arial"/>
              </a:defRPr>
            </a:pPr>
            <a:r>
              <a:rPr sz="1600" b="1">
                <a:solidFill>
                  <a:srgbClr val="4B9298"/>
                </a:solidFill>
                <a:latin typeface="Arial"/>
                <a:ea typeface="Arial"/>
                <a:cs typeface="Arial"/>
              </a:rPr>
              <a:t>ZITATE</a:t>
            </a:r>
          </a:p>
        </p:txBody>
      </p:sp>
      <p:sp>
        <p:nvSpPr>
          <p:cNvPr id="9" name="answer-label-0">
            <a:extLst>
              <a:ext uri="{FF2B5EF4-FFF2-40B4-BE49-F238E27FC236}">
                <a16:creationId xmlns:a16="http://schemas.microsoft.com/office/drawing/2014/main" id="{F644021E-4EA3-4333-B6C6-71447EA970FD}"/>
              </a:ext>
            </a:extLst>
          </p:cNvPr>
          <p:cNvSpPr/>
          <p:nvPr/>
        </p:nvSpPr>
        <p:spPr>
          <a:xfrm>
            <a:off x="720000" y="233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dirty="0">
                <a:solidFill>
                  <a:srgbClr val="304554"/>
                </a:solidFill>
                <a:latin typeface="Arial"/>
                <a:ea typeface="Arial"/>
                <a:cs typeface="Arial"/>
              </a:rPr>
              <a:t>FIXED VECTOR</a:t>
            </a:r>
          </a:p>
        </p:txBody>
      </p:sp>
      <p:sp>
        <p:nvSpPr>
          <p:cNvPr id="10" name="answer-track-0">
            <a:extLst>
              <a:ext uri="{FF2B5EF4-FFF2-40B4-BE49-F238E27FC236}">
                <a16:creationId xmlns:a16="http://schemas.microsoft.com/office/drawing/2014/main" id="{CD52C4E7-8EAC-4232-B810-8D9CE953E96F}"/>
              </a:ext>
            </a:extLst>
          </p:cNvPr>
          <p:cNvSpPr/>
          <p:nvPr/>
        </p:nvSpPr>
        <p:spPr>
          <a:xfrm>
            <a:off x="3420000" y="234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1" name="answer-vector-0">
            <a:extLst>
              <a:ext uri="{FF2B5EF4-FFF2-40B4-BE49-F238E27FC236}">
                <a16:creationId xmlns:a16="http://schemas.microsoft.com/office/drawing/2014/main" id="{D815D55A-0D7C-44A8-AA50-EC90B2002923}"/>
              </a:ext>
            </a:extLst>
          </p:cNvPr>
          <p:cNvSpPr/>
          <p:nvPr/>
        </p:nvSpPr>
        <p:spPr>
          <a:xfrm>
            <a:off x="3420000" y="234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2" name="answer-graph-0">
            <a:extLst>
              <a:ext uri="{FF2B5EF4-FFF2-40B4-BE49-F238E27FC236}">
                <a16:creationId xmlns:a16="http://schemas.microsoft.com/office/drawing/2014/main" id="{BB53964E-818F-4DC4-AE34-6E8EDDF08C88}"/>
              </a:ext>
            </a:extLst>
          </p:cNvPr>
          <p:cNvSpPr/>
          <p:nvPr/>
        </p:nvSpPr>
        <p:spPr>
          <a:xfrm>
            <a:off x="3420000" y="2520000"/>
            <a:ext cx="268033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3" name="answer-vector-value-0">
            <a:extLst>
              <a:ext uri="{FF2B5EF4-FFF2-40B4-BE49-F238E27FC236}">
                <a16:creationId xmlns:a16="http://schemas.microsoft.com/office/drawing/2014/main" id="{15FC6A3E-1FB8-4F11-8DDF-D10B06C1F5D8}"/>
              </a:ext>
            </a:extLst>
          </p:cNvPr>
          <p:cNvSpPr/>
          <p:nvPr/>
        </p:nvSpPr>
        <p:spPr>
          <a:xfrm>
            <a:off x="5940000" y="234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61 %</a:t>
            </a:r>
          </a:p>
        </p:txBody>
      </p:sp>
      <p:sp>
        <p:nvSpPr>
          <p:cNvPr id="14" name="answer-graph-value-0">
            <a:extLst>
              <a:ext uri="{FF2B5EF4-FFF2-40B4-BE49-F238E27FC236}">
                <a16:creationId xmlns:a16="http://schemas.microsoft.com/office/drawing/2014/main" id="{5B66303E-CD5B-4104-9851-08AF5483B83C}"/>
              </a:ext>
            </a:extLst>
          </p:cNvPr>
          <p:cNvSpPr/>
          <p:nvPr/>
        </p:nvSpPr>
        <p:spPr>
          <a:xfrm>
            <a:off x="9360000" y="2340000"/>
            <a:ext cx="1238250" cy="3619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15" name="answer-label-1">
            <a:extLst>
              <a:ext uri="{FF2B5EF4-FFF2-40B4-BE49-F238E27FC236}">
                <a16:creationId xmlns:a16="http://schemas.microsoft.com/office/drawing/2014/main" id="{5D2739FB-2E39-4684-8ABD-8687D59B98F9}"/>
              </a:ext>
            </a:extLst>
          </p:cNvPr>
          <p:cNvSpPr/>
          <p:nvPr/>
        </p:nvSpPr>
        <p:spPr>
          <a:xfrm>
            <a:off x="720000" y="305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SEMANTIC VECTOR</a:t>
            </a:r>
          </a:p>
        </p:txBody>
      </p:sp>
      <p:sp>
        <p:nvSpPr>
          <p:cNvPr id="16" name="answer-track-1">
            <a:extLst>
              <a:ext uri="{FF2B5EF4-FFF2-40B4-BE49-F238E27FC236}">
                <a16:creationId xmlns:a16="http://schemas.microsoft.com/office/drawing/2014/main" id="{0E22B5BF-ED28-4C12-844F-DF49548A172A}"/>
              </a:ext>
            </a:extLst>
          </p:cNvPr>
          <p:cNvSpPr/>
          <p:nvPr/>
        </p:nvSpPr>
        <p:spPr>
          <a:xfrm>
            <a:off x="3420000" y="306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17" name="answer-vector-1">
            <a:extLst>
              <a:ext uri="{FF2B5EF4-FFF2-40B4-BE49-F238E27FC236}">
                <a16:creationId xmlns:a16="http://schemas.microsoft.com/office/drawing/2014/main" id="{7F4BC1FE-F1FA-4BE2-AD4B-4FA5DD6F8674}"/>
              </a:ext>
            </a:extLst>
          </p:cNvPr>
          <p:cNvSpPr/>
          <p:nvPr/>
        </p:nvSpPr>
        <p:spPr>
          <a:xfrm>
            <a:off x="3420000" y="3060000"/>
            <a:ext cx="1548765"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18" name="answer-graph-1">
            <a:extLst>
              <a:ext uri="{FF2B5EF4-FFF2-40B4-BE49-F238E27FC236}">
                <a16:creationId xmlns:a16="http://schemas.microsoft.com/office/drawing/2014/main" id="{4AE258E7-C0C6-4ABC-B2D2-F8CB86EBBE56}"/>
              </a:ext>
            </a:extLst>
          </p:cNvPr>
          <p:cNvSpPr/>
          <p:nvPr/>
        </p:nvSpPr>
        <p:spPr>
          <a:xfrm>
            <a:off x="3420000" y="3240000"/>
            <a:ext cx="113157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19" name="answer-vector-value-1">
            <a:extLst>
              <a:ext uri="{FF2B5EF4-FFF2-40B4-BE49-F238E27FC236}">
                <a16:creationId xmlns:a16="http://schemas.microsoft.com/office/drawing/2014/main" id="{14483468-A4B8-4F79-A663-AE547265F0BD}"/>
              </a:ext>
            </a:extLst>
          </p:cNvPr>
          <p:cNvSpPr/>
          <p:nvPr/>
        </p:nvSpPr>
        <p:spPr>
          <a:xfrm>
            <a:off x="5940000" y="3060000"/>
            <a:ext cx="1238250" cy="2667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31 %</a:t>
            </a:r>
          </a:p>
        </p:txBody>
      </p:sp>
      <p:sp>
        <p:nvSpPr>
          <p:cNvPr id="20" name="answer-graph-value-1">
            <a:extLst>
              <a:ext uri="{FF2B5EF4-FFF2-40B4-BE49-F238E27FC236}">
                <a16:creationId xmlns:a16="http://schemas.microsoft.com/office/drawing/2014/main" id="{7F61F969-D311-4122-B5D0-77EEBB5FF900}"/>
              </a:ext>
            </a:extLst>
          </p:cNvPr>
          <p:cNvSpPr/>
          <p:nvPr/>
        </p:nvSpPr>
        <p:spPr>
          <a:xfrm>
            <a:off x="9360000" y="306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50 %</a:t>
            </a:r>
          </a:p>
        </p:txBody>
      </p:sp>
      <p:sp>
        <p:nvSpPr>
          <p:cNvPr id="21" name="answer-label-2">
            <a:extLst>
              <a:ext uri="{FF2B5EF4-FFF2-40B4-BE49-F238E27FC236}">
                <a16:creationId xmlns:a16="http://schemas.microsoft.com/office/drawing/2014/main" id="{D328B61F-A548-4C86-905D-BCC6969EEF3F}"/>
              </a:ext>
            </a:extLst>
          </p:cNvPr>
          <p:cNvSpPr/>
          <p:nvPr/>
        </p:nvSpPr>
        <p:spPr>
          <a:xfrm>
            <a:off x="720000" y="377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RERANK</a:t>
            </a:r>
          </a:p>
        </p:txBody>
      </p:sp>
      <p:sp>
        <p:nvSpPr>
          <p:cNvPr id="22" name="answer-track-2">
            <a:extLst>
              <a:ext uri="{FF2B5EF4-FFF2-40B4-BE49-F238E27FC236}">
                <a16:creationId xmlns:a16="http://schemas.microsoft.com/office/drawing/2014/main" id="{29E716F6-82C1-4CF3-94ED-DD12A5CFC24D}"/>
              </a:ext>
            </a:extLst>
          </p:cNvPr>
          <p:cNvSpPr/>
          <p:nvPr/>
        </p:nvSpPr>
        <p:spPr>
          <a:xfrm>
            <a:off x="3420000" y="378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3" name="answer-vector-2">
            <a:extLst>
              <a:ext uri="{FF2B5EF4-FFF2-40B4-BE49-F238E27FC236}">
                <a16:creationId xmlns:a16="http://schemas.microsoft.com/office/drawing/2014/main" id="{C7FE44CB-CE2E-4AB9-8B83-B7CDCB1FF94B}"/>
              </a:ext>
            </a:extLst>
          </p:cNvPr>
          <p:cNvSpPr/>
          <p:nvPr/>
        </p:nvSpPr>
        <p:spPr>
          <a:xfrm>
            <a:off x="3420000" y="378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24" name="answer-graph-2">
            <a:extLst>
              <a:ext uri="{FF2B5EF4-FFF2-40B4-BE49-F238E27FC236}">
                <a16:creationId xmlns:a16="http://schemas.microsoft.com/office/drawing/2014/main" id="{745C60FD-E4CA-48A4-A1ED-078A87DF842E}"/>
              </a:ext>
            </a:extLst>
          </p:cNvPr>
          <p:cNvSpPr/>
          <p:nvPr/>
        </p:nvSpPr>
        <p:spPr>
          <a:xfrm>
            <a:off x="3420000" y="3960000"/>
            <a:ext cx="2263140"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25" name="answer-vector-value-2">
            <a:extLst>
              <a:ext uri="{FF2B5EF4-FFF2-40B4-BE49-F238E27FC236}">
                <a16:creationId xmlns:a16="http://schemas.microsoft.com/office/drawing/2014/main" id="{4D669E4F-7E72-4113-85F1-5B8620FC673A}"/>
              </a:ext>
            </a:extLst>
          </p:cNvPr>
          <p:cNvSpPr/>
          <p:nvPr/>
        </p:nvSpPr>
        <p:spPr>
          <a:xfrm>
            <a:off x="5940000" y="3780000"/>
            <a:ext cx="1238250" cy="32385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46 %</a:t>
            </a:r>
          </a:p>
        </p:txBody>
      </p:sp>
      <p:sp>
        <p:nvSpPr>
          <p:cNvPr id="26" name="answer-graph-value-2">
            <a:extLst>
              <a:ext uri="{FF2B5EF4-FFF2-40B4-BE49-F238E27FC236}">
                <a16:creationId xmlns:a16="http://schemas.microsoft.com/office/drawing/2014/main" id="{4104BA02-0CB7-4307-83BC-5DC51EADA8F7}"/>
              </a:ext>
            </a:extLst>
          </p:cNvPr>
          <p:cNvSpPr/>
          <p:nvPr/>
        </p:nvSpPr>
        <p:spPr>
          <a:xfrm>
            <a:off x="9360000" y="3780000"/>
            <a:ext cx="1238250" cy="34290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dirty="0">
                <a:solidFill>
                  <a:srgbClr val="4B9298"/>
                </a:solidFill>
                <a:latin typeface="Arial"/>
                <a:ea typeface="Arial"/>
                <a:cs typeface="Arial"/>
              </a:rPr>
              <a:t>67 %</a:t>
            </a:r>
          </a:p>
        </p:txBody>
      </p:sp>
      <p:sp>
        <p:nvSpPr>
          <p:cNvPr id="27" name="answer-label-3">
            <a:extLst>
              <a:ext uri="{FF2B5EF4-FFF2-40B4-BE49-F238E27FC236}">
                <a16:creationId xmlns:a16="http://schemas.microsoft.com/office/drawing/2014/main" id="{76AFE1D7-C283-4335-8E11-05DE644D4A08}"/>
              </a:ext>
            </a:extLst>
          </p:cNvPr>
          <p:cNvSpPr/>
          <p:nvPr/>
        </p:nvSpPr>
        <p:spPr>
          <a:xfrm>
            <a:off x="720000" y="4499999"/>
            <a:ext cx="2381250" cy="361949"/>
          </a:xfrm>
          <a:prstGeom prst="rect">
            <a:avLst/>
          </a:prstGeom>
          <a:noFill/>
          <a:ln w="0">
            <a:noFill/>
            <a:prstDash val="solid"/>
          </a:ln>
        </p:spPr>
        <p:txBody>
          <a:bodyPr anchor="t"/>
          <a:lstStyle/>
          <a:p>
            <a:pPr algn="l">
              <a:buNone/>
              <a:defRPr sz="1200" b="1">
                <a:solidFill>
                  <a:srgbClr val="304554"/>
                </a:solidFill>
                <a:latin typeface="Arial"/>
                <a:ea typeface="Arial"/>
                <a:cs typeface="Arial"/>
              </a:defRPr>
            </a:pPr>
            <a:r>
              <a:rPr sz="1600" b="1">
                <a:solidFill>
                  <a:srgbClr val="304554"/>
                </a:solidFill>
                <a:latin typeface="Arial"/>
                <a:ea typeface="Arial"/>
                <a:cs typeface="Arial"/>
              </a:rPr>
              <a:t>GRAPH</a:t>
            </a:r>
          </a:p>
        </p:txBody>
      </p:sp>
      <p:sp>
        <p:nvSpPr>
          <p:cNvPr id="28" name="answer-track-3">
            <a:extLst>
              <a:ext uri="{FF2B5EF4-FFF2-40B4-BE49-F238E27FC236}">
                <a16:creationId xmlns:a16="http://schemas.microsoft.com/office/drawing/2014/main" id="{89582727-F40A-4A51-BB3A-0AE3BE8B8D07}"/>
              </a:ext>
            </a:extLst>
          </p:cNvPr>
          <p:cNvSpPr/>
          <p:nvPr/>
        </p:nvSpPr>
        <p:spPr>
          <a:xfrm>
            <a:off x="3420000" y="4500000"/>
            <a:ext cx="7239000" cy="323850"/>
          </a:xfrm>
          <a:prstGeom prst="roundRect">
            <a:avLst>
              <a:gd name="adj" fmla="val 23529"/>
            </a:avLst>
          </a:prstGeom>
          <a:solidFill>
            <a:srgbClr val="EAE8E5"/>
          </a:solidFill>
          <a:ln w="0">
            <a:solidFill>
              <a:srgbClr val="EAE8E5"/>
            </a:solidFill>
            <a:prstDash val="solid"/>
          </a:ln>
        </p:spPr>
        <p:txBody>
          <a:bodyPr/>
          <a:lstStyle/>
          <a:p>
            <a:endParaRPr/>
          </a:p>
        </p:txBody>
      </p:sp>
      <p:sp>
        <p:nvSpPr>
          <p:cNvPr id="29" name="answer-vector-3">
            <a:extLst>
              <a:ext uri="{FF2B5EF4-FFF2-40B4-BE49-F238E27FC236}">
                <a16:creationId xmlns:a16="http://schemas.microsoft.com/office/drawing/2014/main" id="{ED35D6E3-1C58-4383-9FDA-E579FEF736CC}"/>
              </a:ext>
            </a:extLst>
          </p:cNvPr>
          <p:cNvSpPr/>
          <p:nvPr/>
        </p:nvSpPr>
        <p:spPr>
          <a:xfrm>
            <a:off x="3420000" y="4500000"/>
            <a:ext cx="2500313" cy="133350"/>
          </a:xfrm>
          <a:prstGeom prst="roundRect">
            <a:avLst>
              <a:gd name="adj" fmla="val 35714"/>
            </a:avLst>
          </a:prstGeom>
          <a:solidFill>
            <a:srgbClr val="2D3F4B"/>
          </a:solidFill>
          <a:ln w="0">
            <a:solidFill>
              <a:srgbClr val="2D3F4B"/>
            </a:solidFill>
            <a:prstDash val="solid"/>
          </a:ln>
        </p:spPr>
        <p:txBody>
          <a:bodyPr/>
          <a:lstStyle/>
          <a:p>
            <a:endParaRPr/>
          </a:p>
        </p:txBody>
      </p:sp>
      <p:sp>
        <p:nvSpPr>
          <p:cNvPr id="30" name="answer-graph-3">
            <a:extLst>
              <a:ext uri="{FF2B5EF4-FFF2-40B4-BE49-F238E27FC236}">
                <a16:creationId xmlns:a16="http://schemas.microsoft.com/office/drawing/2014/main" id="{E0D3BA54-4C52-486E-AE48-EF82B2146E4C}"/>
              </a:ext>
            </a:extLst>
          </p:cNvPr>
          <p:cNvSpPr/>
          <p:nvPr/>
        </p:nvSpPr>
        <p:spPr>
          <a:xfrm>
            <a:off x="3420000" y="4680000"/>
            <a:ext cx="2143125" cy="133350"/>
          </a:xfrm>
          <a:prstGeom prst="roundRect">
            <a:avLst>
              <a:gd name="adj" fmla="val 35714"/>
            </a:avLst>
          </a:prstGeom>
          <a:solidFill>
            <a:srgbClr val="43858A"/>
          </a:solidFill>
          <a:ln w="0">
            <a:solidFill>
              <a:srgbClr val="43858A"/>
            </a:solidFill>
            <a:prstDash val="solid"/>
          </a:ln>
        </p:spPr>
        <p:txBody>
          <a:bodyPr/>
          <a:lstStyle/>
          <a:p>
            <a:endParaRPr/>
          </a:p>
        </p:txBody>
      </p:sp>
      <p:sp>
        <p:nvSpPr>
          <p:cNvPr id="31" name="answer-vector-value-3">
            <a:extLst>
              <a:ext uri="{FF2B5EF4-FFF2-40B4-BE49-F238E27FC236}">
                <a16:creationId xmlns:a16="http://schemas.microsoft.com/office/drawing/2014/main" id="{22847C93-13B2-4FCD-884C-339530532C0C}"/>
              </a:ext>
            </a:extLst>
          </p:cNvPr>
          <p:cNvSpPr/>
          <p:nvPr/>
        </p:nvSpPr>
        <p:spPr>
          <a:xfrm>
            <a:off x="5940000" y="4500000"/>
            <a:ext cx="1238250" cy="304800"/>
          </a:xfrm>
          <a:prstGeom prst="rect">
            <a:avLst/>
          </a:prstGeom>
          <a:noFill/>
          <a:ln w="0">
            <a:noFill/>
            <a:prstDash val="solid"/>
          </a:ln>
        </p:spPr>
        <p:txBody>
          <a:bodyPr anchor="t"/>
          <a:lstStyle/>
          <a:p>
            <a:pPr algn="ctr">
              <a:buNone/>
              <a:defRPr sz="1050" b="1">
                <a:solidFill>
                  <a:srgbClr val="304554"/>
                </a:solidFill>
                <a:latin typeface="Arial"/>
                <a:ea typeface="Arial"/>
                <a:cs typeface="Arial"/>
              </a:defRPr>
            </a:pPr>
            <a:r>
              <a:rPr sz="1050" b="1" dirty="0">
                <a:solidFill>
                  <a:srgbClr val="304554"/>
                </a:solidFill>
                <a:latin typeface="Arial"/>
                <a:ea typeface="Arial"/>
                <a:cs typeface="Arial"/>
              </a:rPr>
              <a:t>56 %</a:t>
            </a:r>
          </a:p>
        </p:txBody>
      </p:sp>
      <p:sp>
        <p:nvSpPr>
          <p:cNvPr id="32" name="answer-graph-value-3">
            <a:extLst>
              <a:ext uri="{FF2B5EF4-FFF2-40B4-BE49-F238E27FC236}">
                <a16:creationId xmlns:a16="http://schemas.microsoft.com/office/drawing/2014/main" id="{3B732BA7-C587-498C-9592-C4835650E0B4}"/>
              </a:ext>
            </a:extLst>
          </p:cNvPr>
          <p:cNvSpPr/>
          <p:nvPr/>
        </p:nvSpPr>
        <p:spPr>
          <a:xfrm>
            <a:off x="9360000" y="4500000"/>
            <a:ext cx="1238250" cy="323850"/>
          </a:xfrm>
          <a:prstGeom prst="rect">
            <a:avLst/>
          </a:prstGeom>
          <a:noFill/>
          <a:ln w="0">
            <a:noFill/>
            <a:prstDash val="solid"/>
          </a:ln>
        </p:spPr>
        <p:txBody>
          <a:bodyPr anchor="t"/>
          <a:lstStyle/>
          <a:p>
            <a:pPr algn="ctr">
              <a:buNone/>
              <a:defRPr sz="1050" b="1">
                <a:solidFill>
                  <a:srgbClr val="4B9298"/>
                </a:solidFill>
                <a:latin typeface="Arial"/>
                <a:ea typeface="Arial"/>
                <a:cs typeface="Arial"/>
              </a:defRPr>
            </a:pPr>
            <a:r>
              <a:rPr sz="1050" b="1">
                <a:solidFill>
                  <a:srgbClr val="4B9298"/>
                </a:solidFill>
                <a:latin typeface="Arial"/>
                <a:ea typeface="Arial"/>
                <a:cs typeface="Arial"/>
              </a:rPr>
              <a:t>67 %</a:t>
            </a:r>
          </a:p>
        </p:txBody>
      </p:sp>
      <p:sp>
        <p:nvSpPr>
          <p:cNvPr id="33" name="answer-takeaway">
            <a:extLst>
              <a:ext uri="{FF2B5EF4-FFF2-40B4-BE49-F238E27FC236}">
                <a16:creationId xmlns:a16="http://schemas.microsoft.com/office/drawing/2014/main" id="{2AA0DE22-934A-4C0E-96FA-E40C29FEBB03}"/>
              </a:ext>
            </a:extLst>
          </p:cNvPr>
          <p:cNvSpPr/>
          <p:nvPr/>
        </p:nvSpPr>
        <p:spPr>
          <a:xfrm>
            <a:off x="1080000" y="5220000"/>
            <a:ext cx="9900000" cy="540000"/>
          </a:xfrm>
          <a:prstGeom prst="roundRect">
            <a:avLst>
              <a:gd name="adj" fmla="val 24194"/>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Graph maximiert den Recall · Antwortqualität bleibt ein eigener Prüfschritt</a:t>
            </a:r>
          </a:p>
        </p:txBody>
      </p:sp>
    </p:spTree>
    <p:extLst>
      <p:ext uri="{BB962C8B-B14F-4D97-AF65-F5344CB8AC3E}">
        <p14:creationId xmlns:p14="http://schemas.microsoft.com/office/powerpoint/2010/main" val="11973681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3"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Titel 1"/>
          <p:cNvSpPr>
            <a:spLocks noGrp="1"/>
          </p:cNvSpPr>
          <p:nvPr>
            <p:ph type="title"/>
          </p:nvPr>
        </p:nvSpPr>
        <p:spPr>
          <a:xfrm>
            <a:off x="482461" y="346633"/>
            <a:ext cx="11230114" cy="767605"/>
          </a:xfrm>
        </p:spPr>
        <p:txBody>
          <a:bodyPr/>
          <a:lstStyle/>
          <a:p>
            <a:r>
              <a:rPr lang="de-CH" sz="3600" dirty="0"/>
              <a:t>Wahlmodul: Drei Gruppen, ein gemeinsamer Befund</a:t>
            </a:r>
          </a:p>
        </p:txBody>
      </p:sp>
      <p:sp>
        <p:nvSpPr>
          <p:cNvPr id="4" name="slide-subtitle">
            <a:extLst>
              <a:ext uri="{FF2B5EF4-FFF2-40B4-BE49-F238E27FC236}">
                <a16:creationId xmlns:a16="http://schemas.microsoft.com/office/drawing/2014/main" id="{70ADD6C2-1AC9-4217-B4C9-AF01182573B5}"/>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12 Minuten arbeiten · 2 Minuten pro Gruppe berichten.</a:t>
            </a:r>
          </a:p>
        </p:txBody>
      </p:sp>
      <p:sp>
        <p:nvSpPr>
          <p:cNvPr id="5" name="page-number">
            <a:extLst>
              <a:ext uri="{FF2B5EF4-FFF2-40B4-BE49-F238E27FC236}">
                <a16:creationId xmlns:a16="http://schemas.microsoft.com/office/drawing/2014/main" id="{F2F966EA-E422-4BBB-B627-88842C325471}"/>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19</a:t>
            </a:r>
          </a:p>
        </p:txBody>
      </p:sp>
      <p:sp>
        <p:nvSpPr>
          <p:cNvPr id="6" name="date">
            <a:extLst>
              <a:ext uri="{FF2B5EF4-FFF2-40B4-BE49-F238E27FC236}">
                <a16:creationId xmlns:a16="http://schemas.microsoft.com/office/drawing/2014/main" id="{4833612B-0FF9-48C5-8892-1F549D115E52}"/>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group-A">
            <a:extLst>
              <a:ext uri="{FF2B5EF4-FFF2-40B4-BE49-F238E27FC236}">
                <a16:creationId xmlns:a16="http://schemas.microsoft.com/office/drawing/2014/main" id="{EC920C96-5295-4FDD-AFFA-13A35BF7F3C0}"/>
              </a:ext>
            </a:extLst>
          </p:cNvPr>
          <p:cNvSpPr/>
          <p:nvPr/>
        </p:nvSpPr>
        <p:spPr>
          <a:xfrm>
            <a:off x="5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8" name="group-A-circle">
            <a:extLst>
              <a:ext uri="{FF2B5EF4-FFF2-40B4-BE49-F238E27FC236}">
                <a16:creationId xmlns:a16="http://schemas.microsoft.com/office/drawing/2014/main" id="{850B0871-2BE2-439D-BCB3-4B2FC36B3F86}"/>
              </a:ext>
            </a:extLst>
          </p:cNvPr>
          <p:cNvSpPr/>
          <p:nvPr/>
        </p:nvSpPr>
        <p:spPr>
          <a:xfrm>
            <a:off x="720000" y="2340000"/>
            <a:ext cx="540000" cy="540000"/>
          </a:xfrm>
          <a:prstGeom prst="ellipse">
            <a:avLst/>
          </a:prstGeom>
          <a:solidFill>
            <a:srgbClr val="C60C30"/>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A</a:t>
            </a:r>
          </a:p>
        </p:txBody>
      </p:sp>
      <p:sp>
        <p:nvSpPr>
          <p:cNvPr id="9" name="group-A-title">
            <a:extLst>
              <a:ext uri="{FF2B5EF4-FFF2-40B4-BE49-F238E27FC236}">
                <a16:creationId xmlns:a16="http://schemas.microsoft.com/office/drawing/2014/main" id="{25A4E71B-24F7-4B6A-85F0-8283D10FF878}"/>
              </a:ext>
            </a:extLst>
          </p:cNvPr>
          <p:cNvSpPr/>
          <p:nvPr/>
        </p:nvSpPr>
        <p:spPr>
          <a:xfrm>
            <a:off x="1440000" y="2340000"/>
            <a:ext cx="2095500" cy="285750"/>
          </a:xfrm>
          <a:prstGeom prst="rect">
            <a:avLst/>
          </a:prstGeom>
          <a:noFill/>
          <a:ln w="0">
            <a:noFill/>
            <a:prstDash val="solid"/>
          </a:ln>
        </p:spPr>
        <p:txBody>
          <a:bodyPr anchor="t"/>
          <a:lstStyle/>
          <a:p>
            <a:pPr algn="l">
              <a:defRPr sz="1650" b="1">
                <a:solidFill>
                  <a:srgbClr val="C60C30"/>
                </a:solidFill>
                <a:latin typeface="Arial"/>
                <a:ea typeface="Arial"/>
                <a:cs typeface="Arial"/>
              </a:defRPr>
            </a:pPr>
            <a:r>
              <a:rPr sz="1650" b="1">
                <a:solidFill>
                  <a:srgbClr val="C60C30"/>
                </a:solidFill>
                <a:latin typeface="Arial"/>
                <a:ea typeface="Arial"/>
                <a:cs typeface="Arial"/>
              </a:rPr>
              <a:t>CHUNKING</a:t>
            </a:r>
          </a:p>
        </p:txBody>
      </p:sp>
      <p:sp>
        <p:nvSpPr>
          <p:cNvPr id="10" name="group-A-cmd">
            <a:extLst>
              <a:ext uri="{FF2B5EF4-FFF2-40B4-BE49-F238E27FC236}">
                <a16:creationId xmlns:a16="http://schemas.microsoft.com/office/drawing/2014/main" id="{C674CE20-CB53-4813-A7CF-E06B1F0558B8}"/>
              </a:ext>
            </a:extLst>
          </p:cNvPr>
          <p:cNvSpPr/>
          <p:nvPr/>
        </p:nvSpPr>
        <p:spPr>
          <a:xfrm>
            <a:off x="7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rag-3a-ingest.py --dry-run</a:t>
            </a:r>
          </a:p>
        </p:txBody>
      </p:sp>
      <p:sp>
        <p:nvSpPr>
          <p:cNvPr id="12" name="group-A-steps">
            <a:extLst>
              <a:ext uri="{FF2B5EF4-FFF2-40B4-BE49-F238E27FC236}">
                <a16:creationId xmlns:a16="http://schemas.microsoft.com/office/drawing/2014/main" id="{8074F7A1-356D-42A3-A660-1021FFDCF85F}"/>
              </a:ext>
            </a:extLst>
          </p:cNvPr>
          <p:cNvSpPr/>
          <p:nvPr/>
        </p:nvSpPr>
        <p:spPr>
          <a:xfrm>
            <a:off x="539999" y="3780000"/>
            <a:ext cx="3240001"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a:solidFill>
                  <a:srgbClr val="2D3F4B"/>
                </a:solidFill>
                <a:latin typeface="Arial"/>
                <a:ea typeface="Arial"/>
                <a:cs typeface="Arial"/>
              </a:rPr>
              <a:t>3 Chunks </a:t>
            </a:r>
            <a:r>
              <a:rPr sz="1425" b="0" dirty="0" err="1">
                <a:solidFill>
                  <a:srgbClr val="2D3F4B"/>
                </a:solidFill>
                <a:latin typeface="Arial"/>
                <a:ea typeface="Arial"/>
                <a:cs typeface="Arial"/>
              </a:rPr>
              <a:t>prüfen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Satz-/</a:t>
            </a:r>
            <a:r>
              <a:rPr sz="1425" b="0" dirty="0" err="1">
                <a:solidFill>
                  <a:srgbClr val="2D3F4B"/>
                </a:solidFill>
                <a:latin typeface="Arial"/>
                <a:ea typeface="Arial"/>
                <a:cs typeface="Arial"/>
              </a:rPr>
              <a:t>Artikelgrenzen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markieren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Rauschen</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3" name="group-B">
            <a:extLst>
              <a:ext uri="{FF2B5EF4-FFF2-40B4-BE49-F238E27FC236}">
                <a16:creationId xmlns:a16="http://schemas.microsoft.com/office/drawing/2014/main" id="{300F9B10-87A9-44F1-A7FD-E55CB172AA3A}"/>
              </a:ext>
            </a:extLst>
          </p:cNvPr>
          <p:cNvSpPr/>
          <p:nvPr/>
        </p:nvSpPr>
        <p:spPr>
          <a:xfrm>
            <a:off x="41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14" name="group-B-circle">
            <a:extLst>
              <a:ext uri="{FF2B5EF4-FFF2-40B4-BE49-F238E27FC236}">
                <a16:creationId xmlns:a16="http://schemas.microsoft.com/office/drawing/2014/main" id="{04DD9E87-3637-4802-80B9-887E2116B43C}"/>
              </a:ext>
            </a:extLst>
          </p:cNvPr>
          <p:cNvSpPr/>
          <p:nvPr/>
        </p:nvSpPr>
        <p:spPr>
          <a:xfrm>
            <a:off x="4320000" y="2340000"/>
            <a:ext cx="540000" cy="540000"/>
          </a:xfrm>
          <a:prstGeom prst="ellipse">
            <a:avLst/>
          </a:prstGeom>
          <a:solidFill>
            <a:srgbClr val="43858A"/>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B</a:t>
            </a:r>
          </a:p>
        </p:txBody>
      </p:sp>
      <p:sp>
        <p:nvSpPr>
          <p:cNvPr id="15" name="group-B-title">
            <a:extLst>
              <a:ext uri="{FF2B5EF4-FFF2-40B4-BE49-F238E27FC236}">
                <a16:creationId xmlns:a16="http://schemas.microsoft.com/office/drawing/2014/main" id="{C9771E63-35EE-46B2-9E76-70B5FF6052EB}"/>
              </a:ext>
            </a:extLst>
          </p:cNvPr>
          <p:cNvSpPr/>
          <p:nvPr/>
        </p:nvSpPr>
        <p:spPr>
          <a:xfrm>
            <a:off x="5040000" y="2340000"/>
            <a:ext cx="2095500" cy="285750"/>
          </a:xfrm>
          <a:prstGeom prst="rect">
            <a:avLst/>
          </a:prstGeom>
          <a:noFill/>
          <a:ln w="0">
            <a:noFill/>
            <a:prstDash val="solid"/>
          </a:ln>
        </p:spPr>
        <p:txBody>
          <a:bodyPr anchor="t"/>
          <a:lstStyle/>
          <a:p>
            <a:pPr algn="l">
              <a:defRPr sz="1650" b="1">
                <a:solidFill>
                  <a:srgbClr val="43858A"/>
                </a:solidFill>
                <a:latin typeface="Arial"/>
                <a:ea typeface="Arial"/>
                <a:cs typeface="Arial"/>
              </a:defRPr>
            </a:pPr>
            <a:r>
              <a:rPr sz="1650" b="1">
                <a:solidFill>
                  <a:srgbClr val="43858A"/>
                </a:solidFill>
                <a:latin typeface="Arial"/>
                <a:ea typeface="Arial"/>
                <a:cs typeface="Arial"/>
              </a:rPr>
              <a:t>RERANKING</a:t>
            </a:r>
          </a:p>
        </p:txBody>
      </p:sp>
      <p:sp>
        <p:nvSpPr>
          <p:cNvPr id="16" name="group-B-cmd">
            <a:extLst>
              <a:ext uri="{FF2B5EF4-FFF2-40B4-BE49-F238E27FC236}">
                <a16:creationId xmlns:a16="http://schemas.microsoft.com/office/drawing/2014/main" id="{80BDC8F3-A090-45DA-8ACB-04D1480F9BA1}"/>
              </a:ext>
            </a:extLst>
          </p:cNvPr>
          <p:cNvSpPr/>
          <p:nvPr/>
        </p:nvSpPr>
        <p:spPr>
          <a:xfrm>
            <a:off x="43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rag-3b vs. rag-3c</a:t>
            </a:r>
          </a:p>
        </p:txBody>
      </p:sp>
      <p:sp>
        <p:nvSpPr>
          <p:cNvPr id="18" name="group-B-steps">
            <a:extLst>
              <a:ext uri="{FF2B5EF4-FFF2-40B4-BE49-F238E27FC236}">
                <a16:creationId xmlns:a16="http://schemas.microsoft.com/office/drawing/2014/main" id="{1AFABA19-4829-4EC5-BED9-4FC81EBD27C7}"/>
              </a:ext>
            </a:extLst>
          </p:cNvPr>
          <p:cNvSpPr/>
          <p:nvPr/>
        </p:nvSpPr>
        <p:spPr>
          <a:xfrm>
            <a:off x="4139999" y="3780000"/>
            <a:ext cx="3239999"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gleiche</a:t>
            </a:r>
            <a:r>
              <a:rPr sz="1425" b="0" dirty="0">
                <a:solidFill>
                  <a:srgbClr val="2D3F4B"/>
                </a:solidFill>
                <a:latin typeface="Arial"/>
                <a:ea typeface="Arial"/>
                <a:cs typeface="Arial"/>
              </a:rPr>
              <a:t> Frage </a:t>
            </a:r>
            <a:r>
              <a:rPr sz="1425" b="0" dirty="0" err="1">
                <a:solidFill>
                  <a:srgbClr val="2D3F4B"/>
                </a:solidFill>
                <a:latin typeface="Arial"/>
                <a:ea typeface="Arial"/>
                <a:cs typeface="Arial"/>
              </a:rPr>
              <a:t>verwenden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a:t>
            </a:r>
            <a:r>
              <a:rPr sz="1425" b="0" dirty="0" err="1">
                <a:solidFill>
                  <a:srgbClr val="2D3F4B"/>
                </a:solidFill>
                <a:latin typeface="Arial"/>
                <a:ea typeface="Arial"/>
                <a:cs typeface="Arial"/>
              </a:rPr>
              <a:t>Rerank</a:t>
            </a:r>
            <a:r>
              <a:rPr sz="1425" b="0" dirty="0">
                <a:solidFill>
                  <a:srgbClr val="2D3F4B"/>
                </a:solidFill>
                <a:latin typeface="Arial"/>
                <a:ea typeface="Arial"/>
                <a:cs typeface="Arial"/>
              </a:rPr>
              <a:t>-Rang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Recall-</a:t>
            </a:r>
            <a:r>
              <a:rPr sz="1425" b="0" dirty="0" err="1">
                <a:solidFill>
                  <a:srgbClr val="2D3F4B"/>
                </a:solidFill>
                <a:latin typeface="Arial"/>
                <a:ea typeface="Arial"/>
                <a:cs typeface="Arial"/>
              </a:rPr>
              <a:t>Grenze</a:t>
            </a:r>
            <a:r>
              <a:rPr sz="1425" b="0" dirty="0">
                <a:solidFill>
                  <a:srgbClr val="2D3F4B"/>
                </a:solidFill>
                <a:latin typeface="Arial"/>
                <a:ea typeface="Arial"/>
                <a:cs typeface="Arial"/>
              </a:rPr>
              <a:t> </a:t>
            </a:r>
            <a:r>
              <a:rPr sz="1425" b="0" dirty="0" err="1">
                <a:solidFill>
                  <a:srgbClr val="2D3F4B"/>
                </a:solidFill>
                <a:latin typeface="Arial"/>
                <a:ea typeface="Arial"/>
                <a:cs typeface="Arial"/>
              </a:rPr>
              <a:t>benennen</a:t>
            </a:r>
            <a:endParaRPr sz="1425" b="0" dirty="0">
              <a:solidFill>
                <a:srgbClr val="2D3F4B"/>
              </a:solidFill>
              <a:latin typeface="Arial"/>
              <a:ea typeface="Arial"/>
              <a:cs typeface="Arial"/>
            </a:endParaRPr>
          </a:p>
        </p:txBody>
      </p:sp>
      <p:sp>
        <p:nvSpPr>
          <p:cNvPr id="19" name="group-C">
            <a:extLst>
              <a:ext uri="{FF2B5EF4-FFF2-40B4-BE49-F238E27FC236}">
                <a16:creationId xmlns:a16="http://schemas.microsoft.com/office/drawing/2014/main" id="{4BF2D0CF-269B-4C1A-A991-8138B0BD86DE}"/>
              </a:ext>
            </a:extLst>
          </p:cNvPr>
          <p:cNvSpPr/>
          <p:nvPr/>
        </p:nvSpPr>
        <p:spPr>
          <a:xfrm>
            <a:off x="7740000" y="2160000"/>
            <a:ext cx="3240000" cy="2880000"/>
          </a:xfrm>
          <a:prstGeom prst="roundRect">
            <a:avLst>
              <a:gd name="adj" fmla="val 6000"/>
            </a:avLst>
          </a:prstGeom>
          <a:solidFill>
            <a:srgbClr val="EAE8E5"/>
          </a:solidFill>
          <a:ln w="11430">
            <a:solidFill>
              <a:srgbClr val="C3BBB2"/>
            </a:solidFill>
            <a:prstDash val="solid"/>
          </a:ln>
        </p:spPr>
        <p:txBody>
          <a:bodyPr/>
          <a:lstStyle/>
          <a:p>
            <a:endParaRPr lang="de-CH"/>
          </a:p>
        </p:txBody>
      </p:sp>
      <p:sp>
        <p:nvSpPr>
          <p:cNvPr id="20" name="group-C-circle">
            <a:extLst>
              <a:ext uri="{FF2B5EF4-FFF2-40B4-BE49-F238E27FC236}">
                <a16:creationId xmlns:a16="http://schemas.microsoft.com/office/drawing/2014/main" id="{E479CC1C-5C8C-4E72-8DD0-5DF24AEA68ED}"/>
              </a:ext>
            </a:extLst>
          </p:cNvPr>
          <p:cNvSpPr/>
          <p:nvPr/>
        </p:nvSpPr>
        <p:spPr>
          <a:xfrm>
            <a:off x="7920000" y="2340000"/>
            <a:ext cx="540000" cy="540000"/>
          </a:xfrm>
          <a:prstGeom prst="ellipse">
            <a:avLst/>
          </a:prstGeom>
          <a:solidFill>
            <a:srgbClr val="C9960F"/>
          </a:solidFill>
          <a:ln w="23813">
            <a:solidFill>
              <a:srgbClr val="FFFFFF"/>
            </a:solidFill>
            <a:prstDash val="solid"/>
          </a:ln>
        </p:spPr>
        <p:txBody>
          <a:bodyPr anchor="ctr"/>
          <a:lstStyle/>
          <a:p>
            <a:pPr algn="ctr">
              <a:defRPr sz="1800" b="1">
                <a:solidFill>
                  <a:srgbClr val="FFFFFF"/>
                </a:solidFill>
                <a:latin typeface="Arial"/>
                <a:ea typeface="Arial"/>
                <a:cs typeface="Arial"/>
              </a:defRPr>
            </a:pPr>
            <a:r>
              <a:rPr sz="1800" b="1">
                <a:solidFill>
                  <a:srgbClr val="FFFFFF"/>
                </a:solidFill>
                <a:latin typeface="Arial"/>
                <a:ea typeface="Arial"/>
                <a:cs typeface="Arial"/>
              </a:rPr>
              <a:t>C</a:t>
            </a:r>
          </a:p>
        </p:txBody>
      </p:sp>
      <p:sp>
        <p:nvSpPr>
          <p:cNvPr id="21" name="group-C-title">
            <a:extLst>
              <a:ext uri="{FF2B5EF4-FFF2-40B4-BE49-F238E27FC236}">
                <a16:creationId xmlns:a16="http://schemas.microsoft.com/office/drawing/2014/main" id="{3F8F19D1-1D63-4972-83AE-65B8598154D9}"/>
              </a:ext>
            </a:extLst>
          </p:cNvPr>
          <p:cNvSpPr/>
          <p:nvPr/>
        </p:nvSpPr>
        <p:spPr>
          <a:xfrm>
            <a:off x="8640000" y="2340000"/>
            <a:ext cx="2095500" cy="285750"/>
          </a:xfrm>
          <a:prstGeom prst="rect">
            <a:avLst/>
          </a:prstGeom>
          <a:noFill/>
          <a:ln w="0">
            <a:noFill/>
            <a:prstDash val="solid"/>
          </a:ln>
        </p:spPr>
        <p:txBody>
          <a:bodyPr anchor="t"/>
          <a:lstStyle/>
          <a:p>
            <a:pPr algn="l">
              <a:defRPr sz="1650" b="1">
                <a:solidFill>
                  <a:srgbClr val="C9960F"/>
                </a:solidFill>
                <a:latin typeface="Arial"/>
                <a:ea typeface="Arial"/>
                <a:cs typeface="Arial"/>
              </a:defRPr>
            </a:pPr>
            <a:r>
              <a:rPr sz="1650" b="1">
                <a:solidFill>
                  <a:srgbClr val="C9960F"/>
                </a:solidFill>
                <a:latin typeface="Arial"/>
                <a:ea typeface="Arial"/>
                <a:cs typeface="Arial"/>
              </a:rPr>
              <a:t>GRAPH + EVAL</a:t>
            </a:r>
          </a:p>
        </p:txBody>
      </p:sp>
      <p:sp>
        <p:nvSpPr>
          <p:cNvPr id="22" name="group-C-cmd">
            <a:extLst>
              <a:ext uri="{FF2B5EF4-FFF2-40B4-BE49-F238E27FC236}">
                <a16:creationId xmlns:a16="http://schemas.microsoft.com/office/drawing/2014/main" id="{FB97BB89-001E-4F47-86E7-A9F7ED630D5A}"/>
              </a:ext>
            </a:extLst>
          </p:cNvPr>
          <p:cNvSpPr/>
          <p:nvPr/>
        </p:nvSpPr>
        <p:spPr>
          <a:xfrm>
            <a:off x="7920000" y="3060000"/>
            <a:ext cx="2905125" cy="428625"/>
          </a:xfrm>
          <a:prstGeom prst="roundRect">
            <a:avLst>
              <a:gd name="adj" fmla="val 22222"/>
            </a:avLst>
          </a:prstGeom>
          <a:solidFill>
            <a:srgbClr val="2D3F4B"/>
          </a:solidFill>
          <a:ln w="0">
            <a:solidFill>
              <a:srgbClr val="2D3F4B"/>
            </a:solidFill>
            <a:prstDash val="solid"/>
          </a:ln>
        </p:spPr>
        <p:txBody>
          <a:bodyPr anchor="ctr"/>
          <a:lstStyle/>
          <a:p>
            <a:pPr algn="ctr"/>
            <a:r>
              <a:rPr lang="de-CH" sz="1200" b="1" dirty="0">
                <a:solidFill>
                  <a:srgbClr val="FFFFFF"/>
                </a:solidFill>
                <a:ea typeface="Arial"/>
                <a:cs typeface="Arial"/>
              </a:rPr>
              <a:t>rag-4b-chat.py / evaluate.py</a:t>
            </a:r>
          </a:p>
        </p:txBody>
      </p:sp>
      <p:sp>
        <p:nvSpPr>
          <p:cNvPr id="24" name="group-C-steps">
            <a:extLst>
              <a:ext uri="{FF2B5EF4-FFF2-40B4-BE49-F238E27FC236}">
                <a16:creationId xmlns:a16="http://schemas.microsoft.com/office/drawing/2014/main" id="{5478C050-1666-4E0D-95D8-CE130572D0E5}"/>
              </a:ext>
            </a:extLst>
          </p:cNvPr>
          <p:cNvSpPr/>
          <p:nvPr/>
        </p:nvSpPr>
        <p:spPr>
          <a:xfrm>
            <a:off x="7739998" y="3780000"/>
            <a:ext cx="3240000" cy="1080000"/>
          </a:xfrm>
          <a:prstGeom prst="rect">
            <a:avLst/>
          </a:prstGeom>
          <a:noFill/>
          <a:ln w="0">
            <a:noFill/>
            <a:prstDash val="solid"/>
          </a:ln>
        </p:spPr>
        <p:txBody>
          <a:bodyPr lIns="216000" anchor="t"/>
          <a:lstStyle/>
          <a:p>
            <a:pPr algn="l">
              <a:defRPr sz="1425" b="0">
                <a:solidFill>
                  <a:srgbClr val="2D3F4B"/>
                </a:solidFill>
                <a:latin typeface="Arial"/>
                <a:ea typeface="Arial"/>
                <a:cs typeface="Arial"/>
              </a:defRPr>
            </a:pPr>
            <a:r>
              <a:rPr sz="1425" b="0" dirty="0" err="1">
                <a:solidFill>
                  <a:srgbClr val="2D3F4B"/>
                </a:solidFill>
                <a:latin typeface="Arial"/>
                <a:ea typeface="Arial"/>
                <a:cs typeface="Arial"/>
              </a:rPr>
              <a:t>Referenzfrage</a:t>
            </a:r>
            <a:r>
              <a:rPr sz="1425" b="0" dirty="0">
                <a:solidFill>
                  <a:srgbClr val="2D3F4B"/>
                </a:solidFill>
                <a:latin typeface="Arial"/>
                <a:ea typeface="Arial"/>
                <a:cs typeface="Arial"/>
              </a:rPr>
              <a:t> </a:t>
            </a:r>
            <a:r>
              <a:rPr sz="1425" b="0" dirty="0" err="1">
                <a:solidFill>
                  <a:srgbClr val="2D3F4B"/>
                </a:solidFill>
                <a:latin typeface="Arial"/>
                <a:ea typeface="Arial"/>
                <a:cs typeface="Arial"/>
              </a:rPr>
              <a:t>testen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Vector und Graph </a:t>
            </a:r>
            <a:r>
              <a:rPr sz="1425" b="0" dirty="0" err="1">
                <a:solidFill>
                  <a:srgbClr val="2D3F4B"/>
                </a:solidFill>
                <a:latin typeface="Arial"/>
                <a:ea typeface="Arial"/>
                <a:cs typeface="Arial"/>
              </a:rPr>
              <a:t>vergleichen</a:t>
            </a:r>
            <a:endParaRPr sz="1425" b="0" dirty="0">
              <a:solidFill>
                <a:srgbClr val="2D3F4B"/>
              </a:solidFill>
              <a:latin typeface="Arial"/>
              <a:ea typeface="Arial"/>
              <a:cs typeface="Arial"/>
            </a:endParaRPr>
          </a:p>
          <a:p>
            <a:pPr algn="l">
              <a:defRPr sz="1425" b="0">
                <a:solidFill>
                  <a:srgbClr val="2D3F4B"/>
                </a:solidFill>
                <a:latin typeface="Arial"/>
                <a:ea typeface="Arial"/>
                <a:cs typeface="Arial"/>
              </a:defRPr>
            </a:pPr>
            <a:r>
              <a:rPr sz="1425" b="0" dirty="0">
                <a:solidFill>
                  <a:srgbClr val="2D3F4B"/>
                </a:solidFill>
                <a:latin typeface="Arial"/>
                <a:ea typeface="Arial"/>
                <a:cs typeface="Arial"/>
              </a:rPr>
              <a:t>Token-Trade-off </a:t>
            </a:r>
            <a:r>
              <a:rPr sz="1425" b="0" dirty="0" err="1">
                <a:solidFill>
                  <a:srgbClr val="2D3F4B"/>
                </a:solidFill>
                <a:latin typeface="Arial"/>
                <a:ea typeface="Arial"/>
                <a:cs typeface="Arial"/>
              </a:rPr>
              <a:t>erklären</a:t>
            </a:r>
            <a:endParaRPr sz="1425" b="0" dirty="0">
              <a:solidFill>
                <a:srgbClr val="2D3F4B"/>
              </a:solidFill>
              <a:latin typeface="Arial"/>
              <a:ea typeface="Arial"/>
              <a:cs typeface="Arial"/>
            </a:endParaRPr>
          </a:p>
        </p:txBody>
      </p:sp>
      <p:sp>
        <p:nvSpPr>
          <p:cNvPr id="25" name="group-output">
            <a:extLst>
              <a:ext uri="{FF2B5EF4-FFF2-40B4-BE49-F238E27FC236}">
                <a16:creationId xmlns:a16="http://schemas.microsoft.com/office/drawing/2014/main" id="{52A6162D-5932-436E-A042-07A49271FBD3}"/>
              </a:ext>
            </a:extLst>
          </p:cNvPr>
          <p:cNvSpPr/>
          <p:nvPr/>
        </p:nvSpPr>
        <p:spPr>
          <a:xfrm>
            <a:off x="2160000" y="5220000"/>
            <a:ext cx="7740000" cy="540000"/>
          </a:xfrm>
          <a:prstGeom prst="roundRect">
            <a:avLst>
              <a:gd name="adj" fmla="val 25000"/>
            </a:avLst>
          </a:prstGeom>
          <a:solidFill>
            <a:srgbClr val="2D3F4B"/>
          </a:solidFill>
          <a:ln w="0">
            <a:solidFill>
              <a:srgbClr val="2D3F4B"/>
            </a:solidFill>
            <a:prstDash val="solid"/>
          </a:ln>
        </p:spPr>
        <p:txBody>
          <a:bodyPr anchor="ctr" anchorCtr="1"/>
          <a:lstStyle/>
          <a:p>
            <a:r>
              <a:rPr lang="de-DE" b="1" dirty="0">
                <a:solidFill>
                  <a:srgbClr val="FFFFFF"/>
                </a:solidFill>
                <a:ea typeface="Arial"/>
                <a:cs typeface="Arial"/>
              </a:rPr>
              <a:t>Output: besser · schlechter · verbleibende Grenze</a:t>
            </a:r>
          </a:p>
        </p:txBody>
      </p:sp>
    </p:spTree>
    <p:extLst>
      <p:ext uri="{BB962C8B-B14F-4D97-AF65-F5344CB8AC3E}">
        <p14:creationId xmlns:p14="http://schemas.microsoft.com/office/powerpoint/2010/main" val="551726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el 1"/>
          <p:cNvSpPr>
            <a:spLocks noGrp="1"/>
          </p:cNvSpPr>
          <p:nvPr>
            <p:ph type="title"/>
          </p:nvPr>
        </p:nvSpPr>
        <p:spPr>
          <a:xfrm>
            <a:off x="482461" y="346633"/>
            <a:ext cx="11230114" cy="767605"/>
          </a:xfrm>
        </p:spPr>
        <p:txBody>
          <a:bodyPr/>
          <a:lstStyle/>
          <a:p>
            <a:r>
              <a:rPr lang="de-CH" sz="3600" dirty="0"/>
              <a:t>Frameworkwahl ist eine Betriebsentscheidung</a:t>
            </a:r>
          </a:p>
        </p:txBody>
      </p:sp>
      <p:sp>
        <p:nvSpPr>
          <p:cNvPr id="4" name="slide-subtitle">
            <a:extLst>
              <a:ext uri="{FF2B5EF4-FFF2-40B4-BE49-F238E27FC236}">
                <a16:creationId xmlns:a16="http://schemas.microsoft.com/office/drawing/2014/main" id="{19E3B18D-0B98-4491-AD8E-10927075BBBF}"/>
              </a:ext>
            </a:extLst>
          </p:cNvPr>
          <p:cNvSpPr/>
          <p:nvPr/>
        </p:nvSpPr>
        <p:spPr>
          <a:xfrm>
            <a:off x="540000" y="1440000"/>
            <a:ext cx="11096625"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sz="1650" b="0">
                <a:solidFill>
                  <a:srgbClr val="81725E"/>
                </a:solidFill>
                <a:latin typeface="Arial"/>
                <a:ea typeface="Arial"/>
                <a:cs typeface="Arial"/>
              </a:rPr>
              <a:t>Nicht jede Pipeline muss from scratch bleiben – aber jede Abstraktion hat einen Preis.</a:t>
            </a:r>
          </a:p>
        </p:txBody>
      </p:sp>
      <p:sp>
        <p:nvSpPr>
          <p:cNvPr id="5" name="page-number">
            <a:extLst>
              <a:ext uri="{FF2B5EF4-FFF2-40B4-BE49-F238E27FC236}">
                <a16:creationId xmlns:a16="http://schemas.microsoft.com/office/drawing/2014/main" id="{64613A8E-4082-42D5-AA71-10FF924D770A}"/>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20</a:t>
            </a:r>
          </a:p>
        </p:txBody>
      </p:sp>
      <p:sp>
        <p:nvSpPr>
          <p:cNvPr id="6" name="date">
            <a:extLst>
              <a:ext uri="{FF2B5EF4-FFF2-40B4-BE49-F238E27FC236}">
                <a16:creationId xmlns:a16="http://schemas.microsoft.com/office/drawing/2014/main" id="{E8C00810-502E-440A-9433-BC807C209338}"/>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sz="825" b="0">
                <a:solidFill>
                  <a:srgbClr val="2D3F4B"/>
                </a:solidFill>
                <a:latin typeface="Arial"/>
                <a:ea typeface="Arial"/>
                <a:cs typeface="Arial"/>
              </a:rPr>
              <a:t>04.08.2026</a:t>
            </a:r>
          </a:p>
        </p:txBody>
      </p:sp>
      <p:sp>
        <p:nvSpPr>
          <p:cNvPr id="7" name="x-axis">
            <a:extLst>
              <a:ext uri="{FF2B5EF4-FFF2-40B4-BE49-F238E27FC236}">
                <a16:creationId xmlns:a16="http://schemas.microsoft.com/office/drawing/2014/main" id="{96B07D62-4C31-4ADF-A74C-D0F2724D9DF4}"/>
              </a:ext>
            </a:extLst>
          </p:cNvPr>
          <p:cNvSpPr/>
          <p:nvPr/>
        </p:nvSpPr>
        <p:spPr>
          <a:xfrm>
            <a:off x="1800000" y="4860000"/>
            <a:ext cx="8191500" cy="0"/>
          </a:xfrm>
          <a:prstGeom prst="line">
            <a:avLst/>
          </a:prstGeom>
          <a:ln w="20955">
            <a:solidFill>
              <a:srgbClr val="2D3F4B"/>
            </a:solidFill>
            <a:prstDash val="solid"/>
          </a:ln>
        </p:spPr>
        <p:txBody>
          <a:bodyPr/>
          <a:lstStyle/>
          <a:p>
            <a:endParaRPr lang="de-CH"/>
          </a:p>
        </p:txBody>
      </p:sp>
      <p:sp>
        <p:nvSpPr>
          <p:cNvPr id="8" name="y-axis">
            <a:extLst>
              <a:ext uri="{FF2B5EF4-FFF2-40B4-BE49-F238E27FC236}">
                <a16:creationId xmlns:a16="http://schemas.microsoft.com/office/drawing/2014/main" id="{09F97B8F-205F-43FE-82A5-81EA03E8914A}"/>
              </a:ext>
            </a:extLst>
          </p:cNvPr>
          <p:cNvSpPr/>
          <p:nvPr/>
        </p:nvSpPr>
        <p:spPr>
          <a:xfrm>
            <a:off x="1800000" y="1980000"/>
            <a:ext cx="0" cy="2857500"/>
          </a:xfrm>
          <a:prstGeom prst="line">
            <a:avLst/>
          </a:prstGeom>
          <a:ln w="20955">
            <a:solidFill>
              <a:srgbClr val="2D3F4B"/>
            </a:solidFill>
            <a:prstDash val="solid"/>
          </a:ln>
        </p:spPr>
        <p:txBody>
          <a:bodyPr/>
          <a:lstStyle/>
          <a:p>
            <a:endParaRPr lang="de-CH"/>
          </a:p>
        </p:txBody>
      </p:sp>
      <p:sp>
        <p:nvSpPr>
          <p:cNvPr id="9" name="x-left">
            <a:extLst>
              <a:ext uri="{FF2B5EF4-FFF2-40B4-BE49-F238E27FC236}">
                <a16:creationId xmlns:a16="http://schemas.microsoft.com/office/drawing/2014/main" id="{A3107278-4324-4CCB-A9C5-9EA8564A0FEB}"/>
              </a:ext>
            </a:extLst>
          </p:cNvPr>
          <p:cNvSpPr/>
          <p:nvPr/>
        </p:nvSpPr>
        <p:spPr>
          <a:xfrm>
            <a:off x="1800000" y="5040000"/>
            <a:ext cx="142875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Kontrolle</a:t>
            </a:r>
            <a:endParaRPr sz="1125" b="0" dirty="0">
              <a:solidFill>
                <a:srgbClr val="81725E"/>
              </a:solidFill>
              <a:latin typeface="Arial"/>
              <a:ea typeface="Arial"/>
              <a:cs typeface="Arial"/>
            </a:endParaRPr>
          </a:p>
        </p:txBody>
      </p:sp>
      <p:sp>
        <p:nvSpPr>
          <p:cNvPr id="10" name="x-right">
            <a:extLst>
              <a:ext uri="{FF2B5EF4-FFF2-40B4-BE49-F238E27FC236}">
                <a16:creationId xmlns:a16="http://schemas.microsoft.com/office/drawing/2014/main" id="{FF49C5B0-8F5A-4726-A35B-46A99C4D985C}"/>
              </a:ext>
            </a:extLst>
          </p:cNvPr>
          <p:cNvSpPr/>
          <p:nvPr/>
        </p:nvSpPr>
        <p:spPr>
          <a:xfrm>
            <a:off x="8460000" y="5040000"/>
            <a:ext cx="1619250" cy="238125"/>
          </a:xfrm>
          <a:prstGeom prst="rect">
            <a:avLst/>
          </a:prstGeom>
          <a:noFill/>
          <a:ln w="0">
            <a:noFill/>
            <a:prstDash val="solid"/>
          </a:ln>
        </p:spPr>
        <p:txBody>
          <a:bodyPr anchor="t"/>
          <a:lstStyle/>
          <a:p>
            <a:pPr algn="r">
              <a:defRPr sz="1125" b="0">
                <a:solidFill>
                  <a:srgbClr val="81725E"/>
                </a:solidFill>
                <a:latin typeface="Arial"/>
                <a:ea typeface="Arial"/>
                <a:cs typeface="Arial"/>
              </a:defRPr>
            </a:pPr>
            <a:r>
              <a:rPr sz="1125" b="0" dirty="0" err="1">
                <a:solidFill>
                  <a:srgbClr val="81725E"/>
                </a:solidFill>
                <a:latin typeface="Arial"/>
                <a:ea typeface="Arial"/>
                <a:cs typeface="Arial"/>
              </a:rPr>
              <a:t>schneller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produktiv</a:t>
            </a:r>
            <a:endParaRPr sz="1125" b="0" dirty="0">
              <a:solidFill>
                <a:srgbClr val="81725E"/>
              </a:solidFill>
              <a:latin typeface="Arial"/>
              <a:ea typeface="Arial"/>
              <a:cs typeface="Arial"/>
            </a:endParaRPr>
          </a:p>
        </p:txBody>
      </p:sp>
      <p:sp>
        <p:nvSpPr>
          <p:cNvPr id="11" name="y-top">
            <a:extLst>
              <a:ext uri="{FF2B5EF4-FFF2-40B4-BE49-F238E27FC236}">
                <a16:creationId xmlns:a16="http://schemas.microsoft.com/office/drawing/2014/main" id="{16EA4B36-BD1C-4C7D-9C9B-33A770181DCA}"/>
              </a:ext>
            </a:extLst>
          </p:cNvPr>
          <p:cNvSpPr/>
          <p:nvPr/>
        </p:nvSpPr>
        <p:spPr>
          <a:xfrm>
            <a:off x="540000" y="1800000"/>
            <a:ext cx="1714500"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mehr</a:t>
            </a:r>
            <a:r>
              <a:rPr sz="1125" b="0" dirty="0">
                <a:solidFill>
                  <a:srgbClr val="81725E"/>
                </a:solidFill>
                <a:latin typeface="Arial"/>
                <a:ea typeface="Arial"/>
                <a:cs typeface="Arial"/>
              </a:rPr>
              <a:t> </a:t>
            </a:r>
            <a:r>
              <a:rPr sz="1125" b="0" dirty="0" err="1">
                <a:solidFill>
                  <a:srgbClr val="81725E"/>
                </a:solidFill>
                <a:latin typeface="Arial"/>
                <a:ea typeface="Arial"/>
                <a:cs typeface="Arial"/>
              </a:rPr>
              <a:t>Betriebsaufwand</a:t>
            </a:r>
            <a:endParaRPr sz="1125" b="0" dirty="0">
              <a:solidFill>
                <a:srgbClr val="81725E"/>
              </a:solidFill>
              <a:latin typeface="Arial"/>
              <a:ea typeface="Arial"/>
              <a:cs typeface="Arial"/>
            </a:endParaRPr>
          </a:p>
        </p:txBody>
      </p:sp>
      <p:sp>
        <p:nvSpPr>
          <p:cNvPr id="12" name="y-bottom">
            <a:extLst>
              <a:ext uri="{FF2B5EF4-FFF2-40B4-BE49-F238E27FC236}">
                <a16:creationId xmlns:a16="http://schemas.microsoft.com/office/drawing/2014/main" id="{396F6BF1-1DD0-44B1-A1A6-960B58C529A3}"/>
              </a:ext>
            </a:extLst>
          </p:cNvPr>
          <p:cNvSpPr/>
          <p:nvPr/>
        </p:nvSpPr>
        <p:spPr>
          <a:xfrm>
            <a:off x="540000" y="4860000"/>
            <a:ext cx="1666875" cy="238125"/>
          </a:xfrm>
          <a:prstGeom prst="rect">
            <a:avLst/>
          </a:prstGeom>
          <a:noFill/>
          <a:ln w="0">
            <a:noFill/>
            <a:prstDash val="solid"/>
          </a:ln>
        </p:spPr>
        <p:txBody>
          <a:bodyPr anchor="t"/>
          <a:lstStyle/>
          <a:p>
            <a:pPr algn="l">
              <a:defRPr sz="1125" b="0">
                <a:solidFill>
                  <a:srgbClr val="81725E"/>
                </a:solidFill>
                <a:latin typeface="Arial"/>
                <a:ea typeface="Arial"/>
                <a:cs typeface="Arial"/>
              </a:defRPr>
            </a:pPr>
            <a:r>
              <a:rPr sz="1125" b="0" dirty="0" err="1">
                <a:solidFill>
                  <a:srgbClr val="81725E"/>
                </a:solidFill>
                <a:latin typeface="Arial"/>
                <a:ea typeface="Arial"/>
                <a:cs typeface="Arial"/>
              </a:rPr>
              <a:t>weniger</a:t>
            </a:r>
            <a:r>
              <a:rPr sz="1125" b="0" dirty="0">
                <a:solidFill>
                  <a:srgbClr val="81725E"/>
                </a:solidFill>
                <a:latin typeface="Arial"/>
                <a:ea typeface="Arial"/>
                <a:cs typeface="Arial"/>
              </a:rPr>
              <a:t> </a:t>
            </a:r>
            <a:r>
              <a:rPr sz="1125" b="0" dirty="0" err="1">
                <a:solidFill>
                  <a:srgbClr val="81725E"/>
                </a:solidFill>
                <a:latin typeface="Arial"/>
                <a:ea typeface="Arial"/>
                <a:cs typeface="Arial"/>
              </a:rPr>
              <a:t>Eigenbetrieb</a:t>
            </a:r>
            <a:endParaRPr sz="1125" b="0" dirty="0">
              <a:solidFill>
                <a:srgbClr val="81725E"/>
              </a:solidFill>
              <a:latin typeface="Arial"/>
              <a:ea typeface="Arial"/>
              <a:cs typeface="Arial"/>
            </a:endParaRPr>
          </a:p>
        </p:txBody>
      </p:sp>
      <p:sp>
        <p:nvSpPr>
          <p:cNvPr id="13" name="FROM SCRATCH-dot">
            <a:extLst>
              <a:ext uri="{FF2B5EF4-FFF2-40B4-BE49-F238E27FC236}">
                <a16:creationId xmlns:a16="http://schemas.microsoft.com/office/drawing/2014/main" id="{9780354F-5B02-4472-84DB-86CF8A93F4C1}"/>
              </a:ext>
            </a:extLst>
          </p:cNvPr>
          <p:cNvSpPr/>
          <p:nvPr/>
        </p:nvSpPr>
        <p:spPr>
          <a:xfrm>
            <a:off x="2700000" y="2340000"/>
            <a:ext cx="323850" cy="323850"/>
          </a:xfrm>
          <a:prstGeom prst="ellipse">
            <a:avLst/>
          </a:prstGeom>
          <a:solidFill>
            <a:srgbClr val="C60C30"/>
          </a:solidFill>
          <a:ln w="23813">
            <a:solidFill>
              <a:srgbClr val="FFFFFF"/>
            </a:solidFill>
            <a:prstDash val="solid"/>
          </a:ln>
        </p:spPr>
        <p:txBody>
          <a:bodyPr anchor="ctr"/>
          <a:lstStyle/>
          <a:p>
            <a:endParaRPr/>
          </a:p>
        </p:txBody>
      </p:sp>
      <p:sp>
        <p:nvSpPr>
          <p:cNvPr id="14" name="FROM SCRATCH-title">
            <a:extLst>
              <a:ext uri="{FF2B5EF4-FFF2-40B4-BE49-F238E27FC236}">
                <a16:creationId xmlns:a16="http://schemas.microsoft.com/office/drawing/2014/main" id="{5BE1D7D4-1C6A-4141-AB4C-A508A486943E}"/>
              </a:ext>
            </a:extLst>
          </p:cNvPr>
          <p:cNvSpPr/>
          <p:nvPr/>
        </p:nvSpPr>
        <p:spPr>
          <a:xfrm>
            <a:off x="1980000" y="1980000"/>
            <a:ext cx="1762125" cy="238125"/>
          </a:xfrm>
          <a:prstGeom prst="rect">
            <a:avLst/>
          </a:prstGeom>
          <a:noFill/>
          <a:ln w="0">
            <a:noFill/>
            <a:prstDash val="solid"/>
          </a:ln>
        </p:spPr>
        <p:txBody>
          <a:bodyPr anchor="t"/>
          <a:lstStyle/>
          <a:p>
            <a:pPr algn="ctr">
              <a:defRPr sz="1200" b="1">
                <a:solidFill>
                  <a:srgbClr val="C60C30"/>
                </a:solidFill>
                <a:latin typeface="Arial"/>
                <a:ea typeface="Arial"/>
                <a:cs typeface="Arial"/>
              </a:defRPr>
            </a:pPr>
            <a:r>
              <a:rPr sz="1200" b="1">
                <a:solidFill>
                  <a:srgbClr val="C60C30"/>
                </a:solidFill>
                <a:latin typeface="Arial"/>
                <a:ea typeface="Arial"/>
                <a:cs typeface="Arial"/>
              </a:rPr>
              <a:t>FROM SCRATCH</a:t>
            </a:r>
          </a:p>
        </p:txBody>
      </p:sp>
      <p:sp>
        <p:nvSpPr>
          <p:cNvPr id="15" name="FROM SCRATCH-copy">
            <a:extLst>
              <a:ext uri="{FF2B5EF4-FFF2-40B4-BE49-F238E27FC236}">
                <a16:creationId xmlns:a16="http://schemas.microsoft.com/office/drawing/2014/main" id="{EBE98188-3B98-4DF7-9017-EA4E8E1580BB}"/>
              </a:ext>
            </a:extLst>
          </p:cNvPr>
          <p:cNvSpPr/>
          <p:nvPr/>
        </p:nvSpPr>
        <p:spPr>
          <a:xfrm>
            <a:off x="1800000" y="288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Verstehen · Kontrolle</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Eigenarbeit</a:t>
            </a:r>
          </a:p>
        </p:txBody>
      </p:sp>
      <p:sp>
        <p:nvSpPr>
          <p:cNvPr id="16" name="RAG-FRAMEWORK-dot">
            <a:extLst>
              <a:ext uri="{FF2B5EF4-FFF2-40B4-BE49-F238E27FC236}">
                <a16:creationId xmlns:a16="http://schemas.microsoft.com/office/drawing/2014/main" id="{98BAE187-90E2-4FC9-8A02-97149E81B474}"/>
              </a:ext>
            </a:extLst>
          </p:cNvPr>
          <p:cNvSpPr/>
          <p:nvPr/>
        </p:nvSpPr>
        <p:spPr>
          <a:xfrm>
            <a:off x="5220000" y="3240000"/>
            <a:ext cx="323850" cy="323850"/>
          </a:xfrm>
          <a:prstGeom prst="ellipse">
            <a:avLst/>
          </a:prstGeom>
          <a:solidFill>
            <a:srgbClr val="43858A"/>
          </a:solidFill>
          <a:ln w="23813">
            <a:solidFill>
              <a:srgbClr val="FFFFFF"/>
            </a:solidFill>
            <a:prstDash val="solid"/>
          </a:ln>
        </p:spPr>
        <p:txBody>
          <a:bodyPr anchor="ctr"/>
          <a:lstStyle/>
          <a:p>
            <a:endParaRPr/>
          </a:p>
        </p:txBody>
      </p:sp>
      <p:sp>
        <p:nvSpPr>
          <p:cNvPr id="17" name="RAG-FRAMEWORK-title">
            <a:extLst>
              <a:ext uri="{FF2B5EF4-FFF2-40B4-BE49-F238E27FC236}">
                <a16:creationId xmlns:a16="http://schemas.microsoft.com/office/drawing/2014/main" id="{F5355E09-C538-4B0F-9698-496A71581BF3}"/>
              </a:ext>
            </a:extLst>
          </p:cNvPr>
          <p:cNvSpPr/>
          <p:nvPr/>
        </p:nvSpPr>
        <p:spPr>
          <a:xfrm>
            <a:off x="4500000" y="2880000"/>
            <a:ext cx="1762125" cy="238125"/>
          </a:xfrm>
          <a:prstGeom prst="rect">
            <a:avLst/>
          </a:prstGeom>
          <a:noFill/>
          <a:ln w="0">
            <a:noFill/>
            <a:prstDash val="solid"/>
          </a:ln>
        </p:spPr>
        <p:txBody>
          <a:bodyPr anchor="t"/>
          <a:lstStyle/>
          <a:p>
            <a:pPr algn="ctr">
              <a:defRPr sz="1200" b="1">
                <a:solidFill>
                  <a:srgbClr val="43858A"/>
                </a:solidFill>
                <a:latin typeface="Arial"/>
                <a:ea typeface="Arial"/>
                <a:cs typeface="Arial"/>
              </a:defRPr>
            </a:pPr>
            <a:r>
              <a:rPr sz="1200" b="1">
                <a:solidFill>
                  <a:srgbClr val="43858A"/>
                </a:solidFill>
                <a:latin typeface="Arial"/>
                <a:ea typeface="Arial"/>
                <a:cs typeface="Arial"/>
              </a:rPr>
              <a:t>RAG-FRAMEWORK</a:t>
            </a:r>
          </a:p>
        </p:txBody>
      </p:sp>
      <p:sp>
        <p:nvSpPr>
          <p:cNvPr id="18" name="RAG-FRAMEWORK-copy">
            <a:extLst>
              <a:ext uri="{FF2B5EF4-FFF2-40B4-BE49-F238E27FC236}">
                <a16:creationId xmlns:a16="http://schemas.microsoft.com/office/drawing/2014/main" id="{506AC957-DD96-4CE9-8293-25F0847C835D}"/>
              </a:ext>
            </a:extLst>
          </p:cNvPr>
          <p:cNvSpPr/>
          <p:nvPr/>
        </p:nvSpPr>
        <p:spPr>
          <a:xfrm>
            <a:off x="4320000" y="36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LlamaIndex · LangChain</a:t>
            </a:r>
          </a:p>
          <a:p>
            <a:pPr algn="ctr">
              <a:defRPr sz="1200" b="0">
                <a:solidFill>
                  <a:srgbClr val="2D3F4B"/>
                </a:solidFill>
                <a:latin typeface="Arial"/>
                <a:ea typeface="Arial"/>
                <a:cs typeface="Arial"/>
              </a:defRPr>
            </a:pPr>
            <a:r>
              <a:rPr sz="1200" b="0">
                <a:solidFill>
                  <a:srgbClr val="2D3F4B"/>
                </a:solidFill>
                <a:latin typeface="Arial"/>
                <a:ea typeface="Arial"/>
                <a:cs typeface="Arial"/>
              </a:rPr>
              <a:t>mehr Convenience</a:t>
            </a:r>
          </a:p>
        </p:txBody>
      </p:sp>
      <p:sp>
        <p:nvSpPr>
          <p:cNvPr id="19" name="LANGGRAPH-dot">
            <a:extLst>
              <a:ext uri="{FF2B5EF4-FFF2-40B4-BE49-F238E27FC236}">
                <a16:creationId xmlns:a16="http://schemas.microsoft.com/office/drawing/2014/main" id="{4C0CF755-2687-4A20-BDFB-6CDA3626671D}"/>
              </a:ext>
            </a:extLst>
          </p:cNvPr>
          <p:cNvSpPr/>
          <p:nvPr/>
        </p:nvSpPr>
        <p:spPr>
          <a:xfrm>
            <a:off x="7020000" y="2340000"/>
            <a:ext cx="323850" cy="323850"/>
          </a:xfrm>
          <a:prstGeom prst="ellipse">
            <a:avLst/>
          </a:prstGeom>
          <a:solidFill>
            <a:srgbClr val="7C466F"/>
          </a:solidFill>
          <a:ln w="23813">
            <a:solidFill>
              <a:srgbClr val="FFFFFF"/>
            </a:solidFill>
            <a:prstDash val="solid"/>
          </a:ln>
        </p:spPr>
        <p:txBody>
          <a:bodyPr anchor="ctr"/>
          <a:lstStyle/>
          <a:p>
            <a:endParaRPr/>
          </a:p>
        </p:txBody>
      </p:sp>
      <p:sp>
        <p:nvSpPr>
          <p:cNvPr id="20" name="LANGGRAPH-title">
            <a:extLst>
              <a:ext uri="{FF2B5EF4-FFF2-40B4-BE49-F238E27FC236}">
                <a16:creationId xmlns:a16="http://schemas.microsoft.com/office/drawing/2014/main" id="{37626446-594F-4437-BE59-ECA708345EF4}"/>
              </a:ext>
            </a:extLst>
          </p:cNvPr>
          <p:cNvSpPr/>
          <p:nvPr/>
        </p:nvSpPr>
        <p:spPr>
          <a:xfrm>
            <a:off x="6300000" y="1980000"/>
            <a:ext cx="1762125" cy="238125"/>
          </a:xfrm>
          <a:prstGeom prst="rect">
            <a:avLst/>
          </a:prstGeom>
          <a:noFill/>
          <a:ln w="0">
            <a:noFill/>
            <a:prstDash val="solid"/>
          </a:ln>
        </p:spPr>
        <p:txBody>
          <a:bodyPr anchor="t"/>
          <a:lstStyle/>
          <a:p>
            <a:pPr algn="ctr">
              <a:defRPr sz="1200" b="1">
                <a:solidFill>
                  <a:srgbClr val="7C466F"/>
                </a:solidFill>
                <a:latin typeface="Arial"/>
                <a:ea typeface="Arial"/>
                <a:cs typeface="Arial"/>
              </a:defRPr>
            </a:pPr>
            <a:r>
              <a:rPr sz="1200" b="1">
                <a:solidFill>
                  <a:srgbClr val="7C466F"/>
                </a:solidFill>
                <a:latin typeface="Arial"/>
                <a:ea typeface="Arial"/>
                <a:cs typeface="Arial"/>
              </a:rPr>
              <a:t>LANGGRAPH</a:t>
            </a:r>
          </a:p>
        </p:txBody>
      </p:sp>
      <p:sp>
        <p:nvSpPr>
          <p:cNvPr id="21" name="LANGGRAPH-copy">
            <a:extLst>
              <a:ext uri="{FF2B5EF4-FFF2-40B4-BE49-F238E27FC236}">
                <a16:creationId xmlns:a16="http://schemas.microsoft.com/office/drawing/2014/main" id="{5A15689D-93E5-42CA-A428-9FBF76E79A08}"/>
              </a:ext>
            </a:extLst>
          </p:cNvPr>
          <p:cNvSpPr/>
          <p:nvPr/>
        </p:nvSpPr>
        <p:spPr>
          <a:xfrm>
            <a:off x="6120000" y="270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zustandsbasierte</a:t>
            </a:r>
          </a:p>
          <a:p>
            <a:pPr algn="ctr">
              <a:defRPr sz="1200" b="0">
                <a:solidFill>
                  <a:srgbClr val="2D3F4B"/>
                </a:solidFill>
                <a:latin typeface="Arial"/>
                <a:ea typeface="Arial"/>
                <a:cs typeface="Arial"/>
              </a:defRPr>
            </a:pPr>
            <a:r>
              <a:rPr sz="1200" b="0">
                <a:solidFill>
                  <a:srgbClr val="2D3F4B"/>
                </a:solidFill>
                <a:latin typeface="Arial"/>
                <a:ea typeface="Arial"/>
                <a:cs typeface="Arial"/>
              </a:rPr>
              <a:t>agentische Abläufe</a:t>
            </a:r>
          </a:p>
        </p:txBody>
      </p:sp>
      <p:sp>
        <p:nvSpPr>
          <p:cNvPr id="22" name="MANAGED-dot">
            <a:extLst>
              <a:ext uri="{FF2B5EF4-FFF2-40B4-BE49-F238E27FC236}">
                <a16:creationId xmlns:a16="http://schemas.microsoft.com/office/drawing/2014/main" id="{7A80B41C-37E5-4542-A3DA-BA1EC67ADDB2}"/>
              </a:ext>
            </a:extLst>
          </p:cNvPr>
          <p:cNvSpPr/>
          <p:nvPr/>
        </p:nvSpPr>
        <p:spPr>
          <a:xfrm>
            <a:off x="8640000" y="3780000"/>
            <a:ext cx="323850" cy="323850"/>
          </a:xfrm>
          <a:prstGeom prst="ellipse">
            <a:avLst/>
          </a:prstGeom>
          <a:solidFill>
            <a:srgbClr val="C9960F"/>
          </a:solidFill>
          <a:ln w="23813">
            <a:solidFill>
              <a:srgbClr val="FFFFFF"/>
            </a:solidFill>
            <a:prstDash val="solid"/>
          </a:ln>
        </p:spPr>
        <p:txBody>
          <a:bodyPr anchor="ctr"/>
          <a:lstStyle/>
          <a:p>
            <a:endParaRPr/>
          </a:p>
        </p:txBody>
      </p:sp>
      <p:sp>
        <p:nvSpPr>
          <p:cNvPr id="23" name="MANAGED-title">
            <a:extLst>
              <a:ext uri="{FF2B5EF4-FFF2-40B4-BE49-F238E27FC236}">
                <a16:creationId xmlns:a16="http://schemas.microsoft.com/office/drawing/2014/main" id="{104B4D8E-CE6A-4B5E-9E50-98D9100A4C68}"/>
              </a:ext>
            </a:extLst>
          </p:cNvPr>
          <p:cNvSpPr/>
          <p:nvPr/>
        </p:nvSpPr>
        <p:spPr>
          <a:xfrm>
            <a:off x="7920000" y="3420000"/>
            <a:ext cx="1762125" cy="238125"/>
          </a:xfrm>
          <a:prstGeom prst="rect">
            <a:avLst/>
          </a:prstGeom>
          <a:noFill/>
          <a:ln w="0">
            <a:noFill/>
            <a:prstDash val="solid"/>
          </a:ln>
        </p:spPr>
        <p:txBody>
          <a:bodyPr anchor="t"/>
          <a:lstStyle/>
          <a:p>
            <a:pPr algn="ctr">
              <a:defRPr sz="1200" b="1">
                <a:solidFill>
                  <a:srgbClr val="C9960F"/>
                </a:solidFill>
                <a:latin typeface="Arial"/>
                <a:ea typeface="Arial"/>
                <a:cs typeface="Arial"/>
              </a:defRPr>
            </a:pPr>
            <a:r>
              <a:rPr sz="1200" b="1">
                <a:solidFill>
                  <a:srgbClr val="C9960F"/>
                </a:solidFill>
                <a:latin typeface="Arial"/>
                <a:ea typeface="Arial"/>
                <a:cs typeface="Arial"/>
              </a:rPr>
              <a:t>MANAGED</a:t>
            </a:r>
          </a:p>
        </p:txBody>
      </p:sp>
      <p:sp>
        <p:nvSpPr>
          <p:cNvPr id="24" name="MANAGED-copy">
            <a:extLst>
              <a:ext uri="{FF2B5EF4-FFF2-40B4-BE49-F238E27FC236}">
                <a16:creationId xmlns:a16="http://schemas.microsoft.com/office/drawing/2014/main" id="{6F063988-9DC7-47FE-B05D-BEAA4ECF85F4}"/>
              </a:ext>
            </a:extLst>
          </p:cNvPr>
          <p:cNvSpPr/>
          <p:nvPr/>
        </p:nvSpPr>
        <p:spPr>
          <a:xfrm>
            <a:off x="7740000" y="4320000"/>
            <a:ext cx="1952625" cy="495300"/>
          </a:xfrm>
          <a:prstGeom prst="rect">
            <a:avLst/>
          </a:prstGeom>
          <a:noFill/>
          <a:ln w="0">
            <a:noFill/>
            <a:prstDash val="solid"/>
          </a:ln>
        </p:spPr>
        <p:txBody>
          <a:bodyPr anchor="t"/>
          <a:lstStyle/>
          <a:p>
            <a:pPr algn="ctr">
              <a:defRPr sz="1200" b="0">
                <a:solidFill>
                  <a:srgbClr val="2D3F4B"/>
                </a:solidFill>
                <a:latin typeface="Arial"/>
                <a:ea typeface="Arial"/>
                <a:cs typeface="Arial"/>
              </a:defRPr>
            </a:pPr>
            <a:r>
              <a:rPr sz="1200" b="0">
                <a:solidFill>
                  <a:srgbClr val="2D3F4B"/>
                </a:solidFill>
                <a:latin typeface="Arial"/>
                <a:ea typeface="Arial"/>
                <a:cs typeface="Arial"/>
              </a:rPr>
              <a:t>Search / File Search</a:t>
            </a:r>
          </a:p>
          <a:p>
            <a:pPr algn="ctr">
              <a:defRPr sz="1200" b="0">
                <a:solidFill>
                  <a:srgbClr val="2D3F4B"/>
                </a:solidFill>
                <a:latin typeface="Arial"/>
                <a:ea typeface="Arial"/>
                <a:cs typeface="Arial"/>
              </a:defRPr>
            </a:pPr>
            <a:r>
              <a:rPr sz="1200" b="0">
                <a:solidFill>
                  <a:srgbClr val="2D3F4B"/>
                </a:solidFill>
                <a:latin typeface="Arial"/>
                <a:ea typeface="Arial"/>
                <a:cs typeface="Arial"/>
              </a:rPr>
              <a:t>Betrieb ausgelagert</a:t>
            </a:r>
          </a:p>
        </p:txBody>
      </p:sp>
      <p:sp>
        <p:nvSpPr>
          <p:cNvPr id="25" name="framework-question">
            <a:extLst>
              <a:ext uri="{FF2B5EF4-FFF2-40B4-BE49-F238E27FC236}">
                <a16:creationId xmlns:a16="http://schemas.microsoft.com/office/drawing/2014/main" id="{1A71FE68-94A4-4DF6-8C4E-2D1FF6AE0259}"/>
              </a:ext>
            </a:extLst>
          </p:cNvPr>
          <p:cNvSpPr/>
          <p:nvPr/>
        </p:nvSpPr>
        <p:spPr>
          <a:xfrm>
            <a:off x="1800001" y="5533350"/>
            <a:ext cx="8191500" cy="719999"/>
          </a:xfrm>
          <a:prstGeom prst="roundRect">
            <a:avLst>
              <a:gd name="adj" fmla="val 28571"/>
            </a:avLst>
          </a:prstGeom>
          <a:solidFill>
            <a:srgbClr val="2D3F4B"/>
          </a:solidFill>
          <a:ln w="0">
            <a:solidFill>
              <a:srgbClr val="2D3F4B"/>
            </a:solidFill>
            <a:prstDash val="solid"/>
          </a:ln>
        </p:spPr>
        <p:txBody>
          <a:bodyPr anchor="ctr"/>
          <a:lstStyle/>
          <a:p>
            <a:pPr algn="ctr"/>
            <a:r>
              <a:rPr lang="de-DE" sz="1600" b="1" dirty="0">
                <a:solidFill>
                  <a:srgbClr val="FFFFFF"/>
                </a:solidFill>
                <a:ea typeface="Arial"/>
                <a:cs typeface="Arial"/>
              </a:rPr>
              <a:t>Entscheidend: Datenresidenz · Berechtigungen · </a:t>
            </a:r>
            <a:r>
              <a:rPr lang="de-DE" sz="1600" b="1" dirty="0" err="1">
                <a:solidFill>
                  <a:srgbClr val="FFFFFF"/>
                </a:solidFill>
                <a:ea typeface="Arial"/>
                <a:cs typeface="Arial"/>
              </a:rPr>
              <a:t>Observability</a:t>
            </a:r>
            <a:r>
              <a:rPr lang="de-DE" sz="1600" b="1" dirty="0">
                <a:solidFill>
                  <a:srgbClr val="FFFFFF"/>
                </a:solidFill>
                <a:ea typeface="Arial"/>
                <a:cs typeface="Arial"/>
              </a:rPr>
              <a:t> · Lock-i</a:t>
            </a:r>
          </a:p>
        </p:txBody>
      </p:sp>
    </p:spTree>
    <p:extLst>
      <p:ext uri="{BB962C8B-B14F-4D97-AF65-F5344CB8AC3E}">
        <p14:creationId xmlns:p14="http://schemas.microsoft.com/office/powerpoint/2010/main" val="114164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el 1"/>
          <p:cNvSpPr>
            <a:spLocks noGrp="1"/>
          </p:cNvSpPr>
          <p:nvPr>
            <p:ph type="title"/>
          </p:nvPr>
        </p:nvSpPr>
        <p:spPr>
          <a:xfrm>
            <a:off x="482461" y="346633"/>
            <a:ext cx="11230114" cy="767605"/>
          </a:xfrm>
        </p:spPr>
        <p:txBody>
          <a:bodyPr/>
          <a:lstStyle/>
          <a:p>
            <a:r>
              <a:rPr lang="de-CH" sz="3600" dirty="0"/>
              <a:t>Drei Leitlinien für gutes RAG</a:t>
            </a:r>
          </a:p>
        </p:txBody>
      </p:sp>
      <p:sp>
        <p:nvSpPr>
          <p:cNvPr id="4" name="slide-subtitle">
            <a:extLst>
              <a:ext uri="{FF2B5EF4-FFF2-40B4-BE49-F238E27FC236}">
                <a16:creationId xmlns:a16="http://schemas.microsoft.com/office/drawing/2014/main" id="{BDF0D373-FA57-4027-8FD3-996257B19EC7}"/>
              </a:ext>
            </a:extLst>
          </p:cNvPr>
          <p:cNvSpPr/>
          <p:nvPr/>
        </p:nvSpPr>
        <p:spPr>
          <a:xfrm>
            <a:off x="540000" y="1440000"/>
            <a:ext cx="11239500" cy="361950"/>
          </a:xfrm>
          <a:prstGeom prst="rect">
            <a:avLst/>
          </a:prstGeom>
          <a:noFill/>
          <a:ln w="0">
            <a:noFill/>
            <a:prstDash val="solid"/>
          </a:ln>
        </p:spPr>
        <p:txBody>
          <a:bodyPr anchor="ctr"/>
          <a:lstStyle/>
          <a:p>
            <a:pPr algn="l">
              <a:defRPr sz="1650" b="0">
                <a:solidFill>
                  <a:srgbClr val="81725E"/>
                </a:solidFill>
                <a:latin typeface="Arial"/>
                <a:ea typeface="Arial"/>
                <a:cs typeface="Arial"/>
              </a:defRPr>
            </a:pPr>
            <a:r>
              <a:rPr lang="de-DE" sz="1650" b="0" noProof="0" dirty="0">
                <a:solidFill>
                  <a:srgbClr val="81725E"/>
                </a:solidFill>
                <a:latin typeface="Arial"/>
                <a:ea typeface="Arial"/>
                <a:cs typeface="Arial"/>
              </a:rPr>
              <a:t>Komplexität nur hinzufügen, wenn eine Messung den Bedarf zeigt.</a:t>
            </a:r>
          </a:p>
        </p:txBody>
      </p:sp>
      <p:sp>
        <p:nvSpPr>
          <p:cNvPr id="5" name="page-number">
            <a:extLst>
              <a:ext uri="{FF2B5EF4-FFF2-40B4-BE49-F238E27FC236}">
                <a16:creationId xmlns:a16="http://schemas.microsoft.com/office/drawing/2014/main" id="{7CBC6EC8-EACD-4600-9722-C03F9C1C9380}"/>
              </a:ext>
            </a:extLst>
          </p:cNvPr>
          <p:cNvSpPr/>
          <p:nvPr/>
        </p:nvSpPr>
        <p:spPr>
          <a:xfrm>
            <a:off x="540000" y="6300000"/>
            <a:ext cx="333375"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21</a:t>
            </a:r>
          </a:p>
        </p:txBody>
      </p:sp>
      <p:sp>
        <p:nvSpPr>
          <p:cNvPr id="6" name="date">
            <a:extLst>
              <a:ext uri="{FF2B5EF4-FFF2-40B4-BE49-F238E27FC236}">
                <a16:creationId xmlns:a16="http://schemas.microsoft.com/office/drawing/2014/main" id="{D0226D88-56BD-4415-B305-4CB64634BD80}"/>
              </a:ext>
            </a:extLst>
          </p:cNvPr>
          <p:cNvSpPr/>
          <p:nvPr/>
        </p:nvSpPr>
        <p:spPr>
          <a:xfrm>
            <a:off x="900000" y="6300000"/>
            <a:ext cx="857250" cy="209550"/>
          </a:xfrm>
          <a:prstGeom prst="rect">
            <a:avLst/>
          </a:prstGeom>
          <a:noFill/>
          <a:ln w="0">
            <a:noFill/>
            <a:prstDash val="solid"/>
          </a:ln>
        </p:spPr>
        <p:txBody>
          <a:bodyPr anchor="t"/>
          <a:lstStyle/>
          <a:p>
            <a:pPr algn="l">
              <a:defRPr sz="825" b="0">
                <a:solidFill>
                  <a:srgbClr val="2D3F4B"/>
                </a:solidFill>
                <a:latin typeface="Arial"/>
                <a:ea typeface="Arial"/>
                <a:cs typeface="Arial"/>
              </a:defRPr>
            </a:pPr>
            <a:r>
              <a:rPr lang="de-DE" sz="825" b="0" noProof="0" dirty="0">
                <a:solidFill>
                  <a:srgbClr val="2D3F4B"/>
                </a:solidFill>
                <a:latin typeface="Arial"/>
                <a:ea typeface="Arial"/>
                <a:cs typeface="Arial"/>
              </a:rPr>
              <a:t>04.08.2026</a:t>
            </a:r>
          </a:p>
        </p:txBody>
      </p:sp>
      <p:sp>
        <p:nvSpPr>
          <p:cNvPr id="7" name="principle-01">
            <a:extLst>
              <a:ext uri="{FF2B5EF4-FFF2-40B4-BE49-F238E27FC236}">
                <a16:creationId xmlns:a16="http://schemas.microsoft.com/office/drawing/2014/main" id="{3EED0ECA-81FE-4E51-99F3-B997FDAEEA1E}"/>
              </a:ext>
            </a:extLst>
          </p:cNvPr>
          <p:cNvSpPr/>
          <p:nvPr/>
        </p:nvSpPr>
        <p:spPr>
          <a:xfrm>
            <a:off x="900000" y="2160000"/>
            <a:ext cx="720000" cy="720000"/>
          </a:xfrm>
          <a:prstGeom prst="ellipse">
            <a:avLst/>
          </a:prstGeom>
          <a:solidFill>
            <a:srgbClr val="C60C30"/>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01</a:t>
            </a:r>
          </a:p>
        </p:txBody>
      </p:sp>
      <p:sp>
        <p:nvSpPr>
          <p:cNvPr id="8" name="principle-01-title">
            <a:extLst>
              <a:ext uri="{FF2B5EF4-FFF2-40B4-BE49-F238E27FC236}">
                <a16:creationId xmlns:a16="http://schemas.microsoft.com/office/drawing/2014/main" id="{2292FA96-0737-4693-82B4-9FB221A5B192}"/>
              </a:ext>
            </a:extLst>
          </p:cNvPr>
          <p:cNvSpPr/>
          <p:nvPr/>
        </p:nvSpPr>
        <p:spPr>
          <a:xfrm>
            <a:off x="1800000" y="2159999"/>
            <a:ext cx="3429000" cy="718031"/>
          </a:xfrm>
          <a:prstGeom prst="rect">
            <a:avLst/>
          </a:prstGeom>
          <a:noFill/>
          <a:ln w="0">
            <a:noFill/>
            <a:prstDash val="solid"/>
          </a:ln>
        </p:spPr>
        <p:txBody>
          <a:bodyPr anchor="ctr"/>
          <a:lstStyle/>
          <a:p>
            <a:pPr algn="l">
              <a:defRPr sz="1875" b="1">
                <a:solidFill>
                  <a:srgbClr val="C60C30"/>
                </a:solidFill>
                <a:latin typeface="Arial"/>
                <a:ea typeface="Arial"/>
                <a:cs typeface="Arial"/>
              </a:defRPr>
            </a:pPr>
            <a:r>
              <a:rPr lang="de-DE" sz="1875" b="1" noProof="0" dirty="0">
                <a:solidFill>
                  <a:srgbClr val="C60C30"/>
                </a:solidFill>
                <a:latin typeface="Arial"/>
                <a:ea typeface="Arial"/>
                <a:cs typeface="Arial"/>
              </a:rPr>
              <a:t>Kontext wird konstruiert</a:t>
            </a:r>
          </a:p>
        </p:txBody>
      </p:sp>
      <p:sp>
        <p:nvSpPr>
          <p:cNvPr id="9" name="principle-01-copy">
            <a:extLst>
              <a:ext uri="{FF2B5EF4-FFF2-40B4-BE49-F238E27FC236}">
                <a16:creationId xmlns:a16="http://schemas.microsoft.com/office/drawing/2014/main" id="{C521967B-E4FB-430E-9F16-72F07C10F939}"/>
              </a:ext>
            </a:extLst>
          </p:cNvPr>
          <p:cNvSpPr/>
          <p:nvPr/>
        </p:nvSpPr>
        <p:spPr>
          <a:xfrm>
            <a:off x="5400000" y="2159999"/>
            <a:ext cx="5760000" cy="718025"/>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Chunking, Metadaten und Suchsignale bestimmen, was das Modell überhaupt sehen kann.</a:t>
            </a:r>
          </a:p>
        </p:txBody>
      </p:sp>
      <p:sp>
        <p:nvSpPr>
          <p:cNvPr id="10" name="principle-01-rule">
            <a:extLst>
              <a:ext uri="{FF2B5EF4-FFF2-40B4-BE49-F238E27FC236}">
                <a16:creationId xmlns:a16="http://schemas.microsoft.com/office/drawing/2014/main" id="{7B19927C-95BE-44B9-8D53-780E0D4D9AC6}"/>
              </a:ext>
            </a:extLst>
          </p:cNvPr>
          <p:cNvSpPr/>
          <p:nvPr/>
        </p:nvSpPr>
        <p:spPr>
          <a:xfrm>
            <a:off x="1800000" y="3060000"/>
            <a:ext cx="9286875" cy="0"/>
          </a:xfrm>
          <a:prstGeom prst="line">
            <a:avLst/>
          </a:prstGeom>
          <a:ln w="11430">
            <a:solidFill>
              <a:srgbClr val="C3BBB2"/>
            </a:solidFill>
            <a:prstDash val="solid"/>
          </a:ln>
        </p:spPr>
        <p:txBody>
          <a:bodyPr/>
          <a:lstStyle/>
          <a:p>
            <a:endParaRPr lang="de-DE" noProof="0" dirty="0"/>
          </a:p>
        </p:txBody>
      </p:sp>
      <p:sp>
        <p:nvSpPr>
          <p:cNvPr id="11" name="principle-02">
            <a:extLst>
              <a:ext uri="{FF2B5EF4-FFF2-40B4-BE49-F238E27FC236}">
                <a16:creationId xmlns:a16="http://schemas.microsoft.com/office/drawing/2014/main" id="{D9957B7D-2649-421E-B490-97CC2C34C027}"/>
              </a:ext>
            </a:extLst>
          </p:cNvPr>
          <p:cNvSpPr/>
          <p:nvPr/>
        </p:nvSpPr>
        <p:spPr>
          <a:xfrm>
            <a:off x="900000" y="3240000"/>
            <a:ext cx="720000" cy="720000"/>
          </a:xfrm>
          <a:prstGeom prst="ellipse">
            <a:avLst/>
          </a:prstGeom>
          <a:solidFill>
            <a:srgbClr val="43858A"/>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02</a:t>
            </a:r>
          </a:p>
        </p:txBody>
      </p:sp>
      <p:sp>
        <p:nvSpPr>
          <p:cNvPr id="12" name="principle-02-title">
            <a:extLst>
              <a:ext uri="{FF2B5EF4-FFF2-40B4-BE49-F238E27FC236}">
                <a16:creationId xmlns:a16="http://schemas.microsoft.com/office/drawing/2014/main" id="{27D8C3FA-261C-4E11-B444-AE6927B7C4D9}"/>
              </a:ext>
            </a:extLst>
          </p:cNvPr>
          <p:cNvSpPr/>
          <p:nvPr/>
        </p:nvSpPr>
        <p:spPr>
          <a:xfrm>
            <a:off x="1800000" y="3239999"/>
            <a:ext cx="3429000" cy="718043"/>
          </a:xfrm>
          <a:prstGeom prst="rect">
            <a:avLst/>
          </a:prstGeom>
          <a:noFill/>
          <a:ln w="0">
            <a:noFill/>
            <a:prstDash val="solid"/>
          </a:ln>
        </p:spPr>
        <p:txBody>
          <a:bodyPr anchor="ctr"/>
          <a:lstStyle/>
          <a:p>
            <a:pPr algn="l">
              <a:defRPr sz="1875" b="1">
                <a:solidFill>
                  <a:srgbClr val="43858A"/>
                </a:solidFill>
                <a:latin typeface="Arial"/>
                <a:ea typeface="Arial"/>
                <a:cs typeface="Arial"/>
              </a:defRPr>
            </a:pPr>
            <a:r>
              <a:rPr lang="de-DE" sz="1875" b="1" noProof="0" dirty="0">
                <a:solidFill>
                  <a:srgbClr val="43858A"/>
                </a:solidFill>
                <a:latin typeface="Arial"/>
                <a:ea typeface="Arial"/>
                <a:cs typeface="Arial"/>
              </a:rPr>
              <a:t>Retrieval wird gemessen</a:t>
            </a:r>
          </a:p>
        </p:txBody>
      </p:sp>
      <p:sp>
        <p:nvSpPr>
          <p:cNvPr id="13" name="principle-02-copy">
            <a:extLst>
              <a:ext uri="{FF2B5EF4-FFF2-40B4-BE49-F238E27FC236}">
                <a16:creationId xmlns:a16="http://schemas.microsoft.com/office/drawing/2014/main" id="{609701F5-B6B7-4461-BC07-C778FE26E0EE}"/>
              </a:ext>
            </a:extLst>
          </p:cNvPr>
          <p:cNvSpPr/>
          <p:nvPr/>
        </p:nvSpPr>
        <p:spPr>
          <a:xfrm>
            <a:off x="5400000" y="3240000"/>
            <a:ext cx="5760000" cy="718024"/>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Recall, Rang und Kontextbudget zuerst prüfen – erst danach die Generierung bewerten.</a:t>
            </a:r>
          </a:p>
        </p:txBody>
      </p:sp>
      <p:sp>
        <p:nvSpPr>
          <p:cNvPr id="14" name="principle-02-rule">
            <a:extLst>
              <a:ext uri="{FF2B5EF4-FFF2-40B4-BE49-F238E27FC236}">
                <a16:creationId xmlns:a16="http://schemas.microsoft.com/office/drawing/2014/main" id="{E4AB6B7C-6D4F-472D-9948-E031B026F578}"/>
              </a:ext>
            </a:extLst>
          </p:cNvPr>
          <p:cNvSpPr/>
          <p:nvPr/>
        </p:nvSpPr>
        <p:spPr>
          <a:xfrm>
            <a:off x="1800000" y="4140000"/>
            <a:ext cx="9286875" cy="0"/>
          </a:xfrm>
          <a:prstGeom prst="line">
            <a:avLst/>
          </a:prstGeom>
          <a:ln w="11430">
            <a:solidFill>
              <a:srgbClr val="C3BBB2"/>
            </a:solidFill>
            <a:prstDash val="solid"/>
          </a:ln>
        </p:spPr>
        <p:txBody>
          <a:bodyPr/>
          <a:lstStyle/>
          <a:p>
            <a:endParaRPr lang="de-DE" noProof="0" dirty="0"/>
          </a:p>
        </p:txBody>
      </p:sp>
      <p:sp>
        <p:nvSpPr>
          <p:cNvPr id="15" name="principle-03">
            <a:extLst>
              <a:ext uri="{FF2B5EF4-FFF2-40B4-BE49-F238E27FC236}">
                <a16:creationId xmlns:a16="http://schemas.microsoft.com/office/drawing/2014/main" id="{7AA5CCBE-8DB4-4B54-8173-B99501498DBB}"/>
              </a:ext>
            </a:extLst>
          </p:cNvPr>
          <p:cNvSpPr/>
          <p:nvPr/>
        </p:nvSpPr>
        <p:spPr>
          <a:xfrm>
            <a:off x="900000" y="4320000"/>
            <a:ext cx="720000" cy="720000"/>
          </a:xfrm>
          <a:prstGeom prst="ellipse">
            <a:avLst/>
          </a:prstGeom>
          <a:solidFill>
            <a:srgbClr val="C9960F"/>
          </a:solidFill>
          <a:ln w="23813">
            <a:solidFill>
              <a:srgbClr val="FFFFFF"/>
            </a:solidFill>
            <a:prstDash val="solid"/>
          </a:ln>
        </p:spPr>
        <p:txBody>
          <a:bodyPr anchor="ctr"/>
          <a:lstStyle/>
          <a:p>
            <a:pPr algn="ctr">
              <a:defRPr sz="1575" b="1">
                <a:solidFill>
                  <a:srgbClr val="FFFFFF"/>
                </a:solidFill>
                <a:latin typeface="Arial"/>
                <a:ea typeface="Arial"/>
                <a:cs typeface="Arial"/>
              </a:defRPr>
            </a:pPr>
            <a:r>
              <a:rPr lang="de-DE" sz="1575" b="1" noProof="0" dirty="0">
                <a:solidFill>
                  <a:srgbClr val="FFFFFF"/>
                </a:solidFill>
                <a:latin typeface="Arial"/>
                <a:ea typeface="Arial"/>
                <a:cs typeface="Arial"/>
              </a:rPr>
              <a:t>03</a:t>
            </a:r>
          </a:p>
        </p:txBody>
      </p:sp>
      <p:sp>
        <p:nvSpPr>
          <p:cNvPr id="16" name="principle-03-title">
            <a:extLst>
              <a:ext uri="{FF2B5EF4-FFF2-40B4-BE49-F238E27FC236}">
                <a16:creationId xmlns:a16="http://schemas.microsoft.com/office/drawing/2014/main" id="{8FD72371-4B9E-482C-B00F-048F1079C1C4}"/>
              </a:ext>
            </a:extLst>
          </p:cNvPr>
          <p:cNvSpPr/>
          <p:nvPr/>
        </p:nvSpPr>
        <p:spPr>
          <a:xfrm>
            <a:off x="1800000" y="4320000"/>
            <a:ext cx="3429000" cy="720000"/>
          </a:xfrm>
          <a:prstGeom prst="rect">
            <a:avLst/>
          </a:prstGeom>
          <a:noFill/>
          <a:ln w="0">
            <a:noFill/>
            <a:prstDash val="solid"/>
          </a:ln>
        </p:spPr>
        <p:txBody>
          <a:bodyPr anchor="ctr"/>
          <a:lstStyle/>
          <a:p>
            <a:pPr algn="l">
              <a:defRPr sz="1875" b="1">
                <a:solidFill>
                  <a:srgbClr val="C9960F"/>
                </a:solidFill>
                <a:latin typeface="Arial"/>
                <a:ea typeface="Arial"/>
                <a:cs typeface="Arial"/>
              </a:defRPr>
            </a:pPr>
            <a:r>
              <a:rPr lang="de-DE" sz="1875" b="1" noProof="0" dirty="0">
                <a:solidFill>
                  <a:srgbClr val="C9960F"/>
                </a:solidFill>
                <a:latin typeface="Arial"/>
                <a:ea typeface="Arial"/>
                <a:cs typeface="Arial"/>
              </a:rPr>
              <a:t>Belege schlagen Plausibilität</a:t>
            </a:r>
          </a:p>
        </p:txBody>
      </p:sp>
      <p:sp>
        <p:nvSpPr>
          <p:cNvPr id="17" name="principle-03-copy">
            <a:extLst>
              <a:ext uri="{FF2B5EF4-FFF2-40B4-BE49-F238E27FC236}">
                <a16:creationId xmlns:a16="http://schemas.microsoft.com/office/drawing/2014/main" id="{04C09685-628F-4B34-8B46-295A5FC0DA6F}"/>
              </a:ext>
            </a:extLst>
          </p:cNvPr>
          <p:cNvSpPr/>
          <p:nvPr/>
        </p:nvSpPr>
        <p:spPr>
          <a:xfrm>
            <a:off x="5400000" y="4319999"/>
            <a:ext cx="5760000" cy="718011"/>
          </a:xfrm>
          <a:prstGeom prst="rect">
            <a:avLst/>
          </a:prstGeom>
          <a:noFill/>
          <a:ln w="0">
            <a:noFill/>
            <a:prstDash val="solid"/>
          </a:ln>
        </p:spPr>
        <p:txBody>
          <a:bodyPr anchor="ctr"/>
          <a:lstStyle/>
          <a:p>
            <a:pPr algn="l">
              <a:defRPr sz="1500" b="0">
                <a:solidFill>
                  <a:srgbClr val="2D3F4B"/>
                </a:solidFill>
                <a:latin typeface="Arial"/>
                <a:ea typeface="Arial"/>
                <a:cs typeface="Arial"/>
              </a:defRPr>
            </a:pPr>
            <a:r>
              <a:rPr lang="de-DE" sz="1500" b="0" noProof="0" dirty="0">
                <a:solidFill>
                  <a:srgbClr val="2D3F4B"/>
                </a:solidFill>
                <a:latin typeface="Arial"/>
                <a:ea typeface="Arial"/>
                <a:cs typeface="Arial"/>
              </a:rPr>
              <a:t>Eine gute Antwort deckt Fakten ab und weist nachvollziehbare, passende Quellen aus.</a:t>
            </a:r>
          </a:p>
        </p:txBody>
      </p:sp>
      <p:sp>
        <p:nvSpPr>
          <p:cNvPr id="18" name="final-path">
            <a:extLst>
              <a:ext uri="{FF2B5EF4-FFF2-40B4-BE49-F238E27FC236}">
                <a16:creationId xmlns:a16="http://schemas.microsoft.com/office/drawing/2014/main" id="{C394096E-41A1-4874-9DD0-A5B4CEA9B520}"/>
              </a:ext>
            </a:extLst>
          </p:cNvPr>
          <p:cNvSpPr/>
          <p:nvPr/>
        </p:nvSpPr>
        <p:spPr>
          <a:xfrm>
            <a:off x="2520000" y="5580000"/>
            <a:ext cx="7239000" cy="400050"/>
          </a:xfrm>
          <a:prstGeom prst="roundRect">
            <a:avLst>
              <a:gd name="adj" fmla="val 28571"/>
            </a:avLst>
          </a:prstGeom>
          <a:solidFill>
            <a:srgbClr val="2D3F4B"/>
          </a:solidFill>
          <a:ln w="0">
            <a:solidFill>
              <a:srgbClr val="2D3F4B"/>
            </a:solidFill>
            <a:prstDash val="solid"/>
          </a:ln>
        </p:spPr>
        <p:txBody>
          <a:bodyPr anchor="ctr"/>
          <a:lstStyle/>
          <a:p>
            <a:pPr algn="ctr"/>
            <a:r>
              <a:rPr lang="de-DE" b="1" dirty="0">
                <a:solidFill>
                  <a:srgbClr val="FFFFFF"/>
                </a:solidFill>
                <a:ea typeface="Arial"/>
                <a:cs typeface="Arial"/>
              </a:rPr>
              <a:t>Einfach starten  →  messen  →  gezielt verbessern</a:t>
            </a:r>
          </a:p>
        </p:txBody>
      </p:sp>
    </p:spTree>
    <p:extLst>
      <p:ext uri="{BB962C8B-B14F-4D97-AF65-F5344CB8AC3E}">
        <p14:creationId xmlns:p14="http://schemas.microsoft.com/office/powerpoint/2010/main" val="174870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2" grpId="0"/>
      <p:bldP spid="13" grpId="0"/>
      <p:bldP spid="16" grpId="0"/>
      <p:bldP spid="17" grpId="0"/>
      <p:bldP spid="1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F5ED318-A0E3-33DA-186A-A994F234DFBD}"/>
              </a:ext>
            </a:extLst>
          </p:cNvPr>
          <p:cNvSpPr>
            <a:spLocks noGrp="1"/>
          </p:cNvSpPr>
          <p:nvPr>
            <p:ph type="title"/>
          </p:nvPr>
        </p:nvSpPr>
        <p:spPr/>
        <p:txBody>
          <a:bodyPr/>
          <a:lstStyle/>
          <a:p>
            <a:r>
              <a:rPr lang="de-DE" dirty="0"/>
              <a:t>Vielen Dank für Ihr Interesse!</a:t>
            </a:r>
          </a:p>
        </p:txBody>
      </p:sp>
      <p:sp>
        <p:nvSpPr>
          <p:cNvPr id="3" name="Datumsplatzhalter 2">
            <a:extLst>
              <a:ext uri="{FF2B5EF4-FFF2-40B4-BE49-F238E27FC236}">
                <a16:creationId xmlns:a16="http://schemas.microsoft.com/office/drawing/2014/main" id="{D520D941-00BE-1928-54F8-8F67225E072A}"/>
              </a:ext>
            </a:extLst>
          </p:cNvPr>
          <p:cNvSpPr>
            <a:spLocks noGrp="1"/>
          </p:cNvSpPr>
          <p:nvPr>
            <p:ph type="dt" sz="half" idx="10"/>
          </p:nvPr>
        </p:nvSpPr>
        <p:spPr/>
        <p:txBody>
          <a:bodyPr/>
          <a:lstStyle/>
          <a:p>
            <a:fld id="{0CA583EE-97BD-443A-B41B-1EE41A4CF6B6}" type="datetime1">
              <a:rPr lang="de-CH" smtClean="0"/>
              <a:t>13.08.2026</a:t>
            </a:fld>
            <a:endParaRPr lang="de-CH" dirty="0"/>
          </a:p>
        </p:txBody>
      </p:sp>
      <p:sp>
        <p:nvSpPr>
          <p:cNvPr id="4" name="Foliennummernplatzhalter 3">
            <a:extLst>
              <a:ext uri="{FF2B5EF4-FFF2-40B4-BE49-F238E27FC236}">
                <a16:creationId xmlns:a16="http://schemas.microsoft.com/office/drawing/2014/main" id="{8FEE0C9C-6980-3524-3FEC-B04CA0F3A651}"/>
              </a:ext>
            </a:extLst>
          </p:cNvPr>
          <p:cNvSpPr>
            <a:spLocks noGrp="1"/>
          </p:cNvSpPr>
          <p:nvPr>
            <p:ph type="sldNum" sz="quarter" idx="12"/>
          </p:nvPr>
        </p:nvSpPr>
        <p:spPr/>
        <p:txBody>
          <a:bodyPr/>
          <a:lstStyle/>
          <a:p>
            <a:fld id="{CE7E00E2-F08D-429A-AD9B-1ECBEC02F4DB}" type="slidenum">
              <a:rPr lang="de-CH" smtClean="0"/>
              <a:t>27</a:t>
            </a:fld>
            <a:endParaRPr lang="de-CH" dirty="0"/>
          </a:p>
        </p:txBody>
      </p:sp>
      <p:sp>
        <p:nvSpPr>
          <p:cNvPr id="5" name="Inhaltsplatzhalter 4">
            <a:extLst>
              <a:ext uri="{FF2B5EF4-FFF2-40B4-BE49-F238E27FC236}">
                <a16:creationId xmlns:a16="http://schemas.microsoft.com/office/drawing/2014/main" id="{8BBA1CD5-D089-0FD1-257C-A5895C09AB76}"/>
              </a:ext>
            </a:extLst>
          </p:cNvPr>
          <p:cNvSpPr>
            <a:spLocks noGrp="1"/>
          </p:cNvSpPr>
          <p:nvPr>
            <p:ph sz="quarter" idx="13"/>
          </p:nvPr>
        </p:nvSpPr>
        <p:spPr>
          <a:xfrm>
            <a:off x="482460" y="3591718"/>
            <a:ext cx="4927739" cy="1894681"/>
          </a:xfrm>
        </p:spPr>
        <p:txBody>
          <a:bodyPr/>
          <a:lstStyle/>
          <a:p>
            <a:pPr marL="12600" indent="0">
              <a:buNone/>
            </a:pPr>
            <a:r>
              <a:rPr lang="de-DE" b="1" dirty="0"/>
              <a:t>Stephanie Mehltretter</a:t>
            </a:r>
            <a:br>
              <a:rPr lang="de-DE" b="1" dirty="0"/>
            </a:br>
            <a:r>
              <a:rPr lang="de-DE" dirty="0"/>
              <a:t>Data Engineer</a:t>
            </a:r>
            <a:br>
              <a:rPr lang="de-DE" dirty="0"/>
            </a:br>
            <a:r>
              <a:rPr lang="de-DE" dirty="0"/>
              <a:t>stephanie.mehltretter@akros.ch</a:t>
            </a:r>
          </a:p>
        </p:txBody>
      </p:sp>
      <p:sp>
        <p:nvSpPr>
          <p:cNvPr id="9" name="Oval 5">
            <a:extLst>
              <a:ext uri="{FF2B5EF4-FFF2-40B4-BE49-F238E27FC236}">
                <a16:creationId xmlns:a16="http://schemas.microsoft.com/office/drawing/2014/main" id="{BBC828D5-DEFC-1FEE-4C28-DACDABE4DD56}"/>
              </a:ext>
            </a:extLst>
          </p:cNvPr>
          <p:cNvSpPr/>
          <p:nvPr/>
        </p:nvSpPr>
        <p:spPr>
          <a:xfrm>
            <a:off x="540000" y="1440000"/>
            <a:ext cx="1980000" cy="1980000"/>
          </a:xfrm>
          <a:prstGeom prst="ellipse">
            <a:avLst/>
          </a:prstGeom>
          <a:blipFill dpi="0" rotWithShape="1">
            <a:blip r:embed="rId3">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1" name="Oval 5">
            <a:extLst>
              <a:ext uri="{FF2B5EF4-FFF2-40B4-BE49-F238E27FC236}">
                <a16:creationId xmlns:a16="http://schemas.microsoft.com/office/drawing/2014/main" id="{1EB7C2CE-C986-702F-35DA-160F6C5EB35B}"/>
              </a:ext>
            </a:extLst>
          </p:cNvPr>
          <p:cNvSpPr/>
          <p:nvPr/>
        </p:nvSpPr>
        <p:spPr>
          <a:xfrm>
            <a:off x="6120000" y="1440000"/>
            <a:ext cx="1980000" cy="1980000"/>
          </a:xfrm>
          <a:prstGeom prst="ellipse">
            <a:avLst/>
          </a:prstGeom>
          <a:blipFill dpi="0" rotWithShape="1">
            <a:blip r:embed="rId4">
              <a:extLst>
                <a:ext uri="{28A0092B-C50C-407E-A947-70E740481C1C}">
                  <a14:useLocalDpi xmlns:a14="http://schemas.microsoft.com/office/drawing/2010/main" val="0"/>
                </a:ext>
              </a:extLst>
            </a:blip>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solidFill>
                <a:schemeClr val="tx1"/>
              </a:solidFill>
            </a:endParaRPr>
          </a:p>
        </p:txBody>
      </p:sp>
      <p:sp>
        <p:nvSpPr>
          <p:cNvPr id="14" name="Inhaltsplatzhalter 4">
            <a:extLst>
              <a:ext uri="{FF2B5EF4-FFF2-40B4-BE49-F238E27FC236}">
                <a16:creationId xmlns:a16="http://schemas.microsoft.com/office/drawing/2014/main" id="{C2D6FB40-D7B8-D840-02D9-487F37706B98}"/>
              </a:ext>
            </a:extLst>
          </p:cNvPr>
          <p:cNvSpPr txBox="1">
            <a:spLocks/>
          </p:cNvSpPr>
          <p:nvPr/>
        </p:nvSpPr>
        <p:spPr>
          <a:xfrm>
            <a:off x="6120000" y="3600000"/>
            <a:ext cx="3420000" cy="1980000"/>
          </a:xfrm>
          <a:prstGeom prst="rect">
            <a:avLst/>
          </a:prstGeom>
        </p:spPr>
        <p:txBody>
          <a:bodyPr vert="horz" lIns="0" tIns="0" rIns="0" bIns="0" rtlCol="0">
            <a:noAutofit/>
          </a:bodyPr>
          <a:lstStyle>
            <a:lvl1pPr marL="2286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1pPr>
            <a:lvl2pPr marL="43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2pPr>
            <a:lvl3pPr marL="64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3pPr>
            <a:lvl4pPr marL="86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4pPr>
            <a:lvl5pPr marL="1080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5pPr>
            <a:lvl6pPr marL="1296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6pPr>
            <a:lvl7pPr marL="1512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7pPr>
            <a:lvl8pPr marL="1728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8pPr>
            <a:lvl9pPr marL="1944000" indent="-216000" algn="l" defTabSz="914400" rtl="0" eaLnBrk="1" latinLnBrk="0" hangingPunct="1">
              <a:lnSpc>
                <a:spcPct val="100000"/>
              </a:lnSpc>
              <a:spcBef>
                <a:spcPts val="0"/>
              </a:spcBef>
              <a:spcAft>
                <a:spcPts val="1000"/>
              </a:spcAft>
              <a:buClr>
                <a:schemeClr val="accent1"/>
              </a:buClr>
              <a:buFont typeface="Arial" panose="020B0604020202020204" pitchFamily="34" charset="0"/>
              <a:buChar char="•"/>
              <a:defRPr sz="2400" kern="1200">
                <a:solidFill>
                  <a:schemeClr val="tx1"/>
                </a:solidFill>
                <a:latin typeface="+mn-lt"/>
                <a:ea typeface="+mn-ea"/>
                <a:cs typeface="+mn-cs"/>
              </a:defRPr>
            </a:lvl9pPr>
          </a:lstStyle>
          <a:p>
            <a:pPr marL="12600" indent="0">
              <a:buFont typeface="Arial" panose="020B0604020202020204" pitchFamily="34" charset="0"/>
              <a:buNone/>
            </a:pPr>
            <a:r>
              <a:rPr lang="de-DE" b="1" dirty="0"/>
              <a:t>Dr. Daniel Frey</a:t>
            </a:r>
            <a:br>
              <a:rPr lang="de-DE" b="1" dirty="0"/>
            </a:br>
            <a:r>
              <a:rPr lang="de-DE" dirty="0"/>
              <a:t>Agile Coach</a:t>
            </a:r>
            <a:br>
              <a:rPr lang="de-DE" dirty="0"/>
            </a:br>
            <a:r>
              <a:rPr lang="de-DE" dirty="0"/>
              <a:t>daniel.frey@akros.ch</a:t>
            </a:r>
          </a:p>
        </p:txBody>
      </p:sp>
    </p:spTree>
    <p:extLst>
      <p:ext uri="{BB962C8B-B14F-4D97-AF65-F5344CB8AC3E}">
        <p14:creationId xmlns:p14="http://schemas.microsoft.com/office/powerpoint/2010/main" val="4275060143"/>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AKROS">
  <a:themeElements>
    <a:clrScheme name="AKROS">
      <a:dk1>
        <a:srgbClr val="2D3F4B"/>
      </a:dk1>
      <a:lt1>
        <a:srgbClr val="FFFFFF"/>
      </a:lt1>
      <a:dk2>
        <a:srgbClr val="C3BBB2"/>
      </a:dk2>
      <a:lt2>
        <a:srgbClr val="EAE8E5"/>
      </a:lt2>
      <a:accent1>
        <a:srgbClr val="C60C30"/>
      </a:accent1>
      <a:accent2>
        <a:srgbClr val="9BC7EE"/>
      </a:accent2>
      <a:accent3>
        <a:srgbClr val="81725E"/>
      </a:accent3>
      <a:accent4>
        <a:srgbClr val="7C466F"/>
      </a:accent4>
      <a:accent5>
        <a:srgbClr val="43858A"/>
      </a:accent5>
      <a:accent6>
        <a:srgbClr val="C9960F"/>
      </a:accent6>
      <a:hlink>
        <a:srgbClr val="9BC7EE"/>
      </a:hlink>
      <a:folHlink>
        <a:srgbClr val="7C466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dirty="0" err="1" smtClean="0"/>
        </a:defPPr>
      </a:lstStyle>
    </a:txDef>
  </a:objectDefaults>
  <a:extraClrSchemeLst/>
  <a:extLst>
    <a:ext uri="{05A4C25C-085E-4340-85A3-A5531E510DB2}">
      <thm15:themeFamily xmlns:thm15="http://schemas.microsoft.com/office/thememl/2012/main" name="Präsentation1" id="{88367761-9025-4769-BDE4-09E40FE64903}" vid="{2F0FD1FC-3CEC-4585-A92B-9814C981C47B}"/>
    </a:ext>
  </a:extLst>
</a:theme>
</file>

<file path=ppt/theme/theme2.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a:themeElements>
    <a:clrScheme name="Noser Farben">
      <a:dk1>
        <a:srgbClr val="424242"/>
      </a:dk1>
      <a:lt1>
        <a:sysClr val="window" lastClr="FFFFFF"/>
      </a:lt1>
      <a:dk2>
        <a:srgbClr val="212D8C"/>
      </a:dk2>
      <a:lt2>
        <a:srgbClr val="E9E3DD"/>
      </a:lt2>
      <a:accent1>
        <a:srgbClr val="FA9400"/>
      </a:accent1>
      <a:accent2>
        <a:srgbClr val="C3DBE9"/>
      </a:accent2>
      <a:accent3>
        <a:srgbClr val="DC5401"/>
      </a:accent3>
      <a:accent4>
        <a:srgbClr val="FFE851"/>
      </a:accent4>
      <a:accent5>
        <a:srgbClr val="A22E1D"/>
      </a:accent5>
      <a:accent6>
        <a:srgbClr val="FBAA8F"/>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kument" ma:contentTypeID="0x0101007D39DBAC6A50C74E998B9EB660A68B40" ma:contentTypeVersion="12" ma:contentTypeDescription="Ein neues Dokument erstellen." ma:contentTypeScope="" ma:versionID="34dc225a7d6106712b96f9699847575b">
  <xsd:schema xmlns:xsd="http://www.w3.org/2001/XMLSchema" xmlns:xs="http://www.w3.org/2001/XMLSchema" xmlns:p="http://schemas.microsoft.com/office/2006/metadata/properties" xmlns:ns2="501edefc-5b9b-422a-9450-cf7f1f30e3fa" xmlns:ns3="3083c7a9-d95a-44c4-8fb8-f93b125494d6" targetNamespace="http://schemas.microsoft.com/office/2006/metadata/properties" ma:root="true" ma:fieldsID="b7244162b0b071e6bfc5af2eca0d94d3" ns2:_="" ns3:_="">
    <xsd:import namespace="501edefc-5b9b-422a-9450-cf7f1f30e3fa"/>
    <xsd:import namespace="3083c7a9-d95a-44c4-8fb8-f93b125494d6"/>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01edefc-5b9b-422a-9450-cf7f1f30e3f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Bildmarkierungen" ma:readOnly="false" ma:fieldId="{5cf76f15-5ced-4ddc-b409-7134ff3c332f}" ma:taxonomyMulti="true" ma:sspId="d4e16f4a-3b6f-4338-be2c-d51c74cd1a98"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3083c7a9-d95a-44c4-8fb8-f93b125494d6"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d59f4a8-ef3d-48d5-9536-d2a90983fe2c}" ma:internalName="TaxCatchAll" ma:showField="CatchAllData" ma:web="3083c7a9-d95a-44c4-8fb8-f93b125494d6">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501edefc-5b9b-422a-9450-cf7f1f30e3fa">
      <Terms xmlns="http://schemas.microsoft.com/office/infopath/2007/PartnerControls"/>
    </lcf76f155ced4ddcb4097134ff3c332f>
    <TaxCatchAll xmlns="3083c7a9-d95a-44c4-8fb8-f93b125494d6"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2C8284C-7C61-4B35-A2FD-8E50AFE9367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01edefc-5b9b-422a-9450-cf7f1f30e3fa"/>
    <ds:schemaRef ds:uri="3083c7a9-d95a-44c4-8fb8-f93b125494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302A1CC-4AEF-4830-BB1C-A446161EB02D}">
  <ds:schemaRefs>
    <ds:schemaRef ds:uri="http://schemas.microsoft.com/office/2006/metadata/properties"/>
    <ds:schemaRef ds:uri="http://schemas.microsoft.com/office/infopath/2007/PartnerControls"/>
    <ds:schemaRef ds:uri="7052a6c1-2dbf-49e9-b6e1-6fe4487af028"/>
    <ds:schemaRef ds:uri="d8f140f0-05e7-48e3-ba8b-dcc0ff83b3dd"/>
    <ds:schemaRef ds:uri="b22023f0-d141-4df7-85ad-6dd1e1377ec8"/>
    <ds:schemaRef ds:uri="bf122554-6983-45b2-a605-6e185ba8cf82"/>
    <ds:schemaRef ds:uri="501edefc-5b9b-422a-9450-cf7f1f30e3fa"/>
    <ds:schemaRef ds:uri="3083c7a9-d95a-44c4-8fb8-f93b125494d6"/>
  </ds:schemaRefs>
</ds:datastoreItem>
</file>

<file path=customXml/itemProps3.xml><?xml version="1.0" encoding="utf-8"?>
<ds:datastoreItem xmlns:ds="http://schemas.openxmlformats.org/officeDocument/2006/customXml" ds:itemID="{334436CE-240F-4EE4-9FC5-4255E6874223}">
  <ds:schemaRefs>
    <ds:schemaRef ds:uri="http://schemas.microsoft.com/sharepoint/v3/contenttype/forms"/>
  </ds:schemaRefs>
</ds:datastoreItem>
</file>

<file path=docMetadata/LabelInfo.xml><?xml version="1.0" encoding="utf-8"?>
<clbl:labelList xmlns:clbl="http://schemas.microsoft.com/office/2020/mipLabelMetadata">
  <clbl:label id="{42e461c6-591f-4920-9cf0-f1389542f8ad}" enabled="1" method="Standard" siteId="{2cda5d11-f0ac-46b3-967d-af1b2e1bd01a}" contentBits="2" removed="0"/>
</clbl:labelList>
</file>

<file path=docProps/app.xml><?xml version="1.0" encoding="utf-8"?>
<Properties xmlns="http://schemas.openxmlformats.org/officeDocument/2006/extended-properties" xmlns:vt="http://schemas.openxmlformats.org/officeDocument/2006/docPropsVTypes">
  <Template>AKROS_Firmenpräsentation</Template>
  <TotalTime>0</TotalTime>
  <Words>4112</Words>
  <Application>Microsoft Office PowerPoint</Application>
  <PresentationFormat>Breitbild</PresentationFormat>
  <Paragraphs>639</Paragraphs>
  <Slides>27</Slides>
  <Notes>19</Notes>
  <HiddenSlides>0</HiddenSlides>
  <MMClips>0</MMClips>
  <ScaleCrop>false</ScaleCrop>
  <HeadingPairs>
    <vt:vector size="8" baseType="variant">
      <vt:variant>
        <vt:lpstr>Verwendete Schriftarten</vt:lpstr>
      </vt:variant>
      <vt:variant>
        <vt:i4>2</vt:i4>
      </vt:variant>
      <vt:variant>
        <vt:lpstr>Design</vt:lpstr>
      </vt:variant>
      <vt:variant>
        <vt:i4>1</vt:i4>
      </vt:variant>
      <vt:variant>
        <vt:lpstr>Eingebettete OLE-Server</vt:lpstr>
      </vt:variant>
      <vt:variant>
        <vt:i4>1</vt:i4>
      </vt:variant>
      <vt:variant>
        <vt:lpstr>Folientitel</vt:lpstr>
      </vt:variant>
      <vt:variant>
        <vt:i4>27</vt:i4>
      </vt:variant>
    </vt:vector>
  </HeadingPairs>
  <TitlesOfParts>
    <vt:vector size="31" baseType="lpstr">
      <vt:lpstr>Arial</vt:lpstr>
      <vt:lpstr>Courier New</vt:lpstr>
      <vt:lpstr>AKROS</vt:lpstr>
      <vt:lpstr>think-cell Folie</vt:lpstr>
      <vt:lpstr>Retrieval-Augmented Generator (RAG)</vt:lpstr>
      <vt:lpstr>Agenda</vt:lpstr>
      <vt:lpstr>Was Ihr heute mitnehmen könnt</vt:lpstr>
      <vt:lpstr>Was ist RAG?</vt:lpstr>
      <vt:lpstr>Reine LLMs haben drei blinde Flecken</vt:lpstr>
      <vt:lpstr>RAG verschiebt die Aufgabe</vt:lpstr>
      <vt:lpstr>Vier Bausteine formen den LLM-Kontext</vt:lpstr>
      <vt:lpstr>Aufbau eines Full RAGs</vt:lpstr>
      <vt:lpstr>Vom Modellaufruf zum messbaren RAG</vt:lpstr>
      <vt:lpstr>Hands-on</vt:lpstr>
      <vt:lpstr>Stufe 1 · Chat ohne RAG</vt:lpstr>
      <vt:lpstr>Vom Setup zur ersten belegbaren Antwort</vt:lpstr>
      <vt:lpstr>Stufe 2a · Ingest</vt:lpstr>
      <vt:lpstr>Stufe 2b · Retrieval</vt:lpstr>
      <vt:lpstr>Advanced RAG</vt:lpstr>
      <vt:lpstr>Stufe 3 · Chunking und Reranking</vt:lpstr>
      <vt:lpstr>Chunking entscheidet, was auffindbar bleibt</vt:lpstr>
      <vt:lpstr>Reranking sortiert Kandidaten – es findet keine neuen</vt:lpstr>
      <vt:lpstr>Stufe 4 · GraphRAG</vt:lpstr>
      <vt:lpstr>GraphRAG verbindet mehrere Suchsignale</vt:lpstr>
      <vt:lpstr>Hybrider GraphRAG verbindet mehrere Suchsignale</vt:lpstr>
      <vt:lpstr>GraphRAG: höchster Article-Recall, kleinster Kontext</vt:lpstr>
      <vt:lpstr>Besseres Retrieval verbessert Antworten – garantiert sie aber nicht</vt:lpstr>
      <vt:lpstr>Wahlmodul: Drei Gruppen, ein gemeinsamer Befund</vt:lpstr>
      <vt:lpstr>Frameworkwahl ist eine Betriebsentscheidung</vt:lpstr>
      <vt:lpstr>Drei Leitlinien für gutes RAG</vt:lpstr>
      <vt:lpstr>Vielen Dank für Ihr Interesse!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Mehltretter Stephanie</dc:creator>
  <cp:lastModifiedBy>Frey Daniel (IT-DA-EXT - Extern)</cp:lastModifiedBy>
  <cp:revision>68</cp:revision>
  <dcterms:created xsi:type="dcterms:W3CDTF">2026-08-04T12:09:36Z</dcterms:created>
  <dcterms:modified xsi:type="dcterms:W3CDTF">2026-08-13T08:20:16Z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0x0101007D39DBAC6A50C74E998B9EB660A68B40</vt:lpwstr>
  </property>
  <property fmtid="{D5CDD505-2E9C-101B-9397-08002B2CF9AE}" pid="3" name="Order">
    <vt:r8>3495600</vt:r8>
  </property>
  <property fmtid="{D5CDD505-2E9C-101B-9397-08002B2CF9AE}" pid="4" name="xd_Signature">
    <vt:bool>false</vt:bool>
  </property>
  <property fmtid="{D5CDD505-2E9C-101B-9397-08002B2CF9AE}" pid="5" name="xd_ProgID">
    <vt:lpwstr/>
  </property>
  <property fmtid="{D5CDD505-2E9C-101B-9397-08002B2CF9AE}" pid="6" name="ComplianceAssetId">
    <vt:lpwstr/>
  </property>
  <property fmtid="{D5CDD505-2E9C-101B-9397-08002B2CF9AE}" pid="7" name="TemplateUrl">
    <vt:lpwstr/>
  </property>
  <property fmtid="{D5CDD505-2E9C-101B-9397-08002B2CF9AE}" pid="8" name="_ExtendedDescription">
    <vt:lpwstr/>
  </property>
  <property fmtid="{D5CDD505-2E9C-101B-9397-08002B2CF9AE}" pid="9" name="MediaServiceImageTags">
    <vt:lpwstr/>
  </property>
  <property fmtid="{D5CDD505-2E9C-101B-9397-08002B2CF9AE}" pid="10" name="ClassificationContentMarkingFooterLocations">
    <vt:lpwstr>AKROS:8</vt:lpwstr>
  </property>
  <property fmtid="{D5CDD505-2E9C-101B-9397-08002B2CF9AE}" pid="11" name="ClassificationContentMarkingFooterText">
    <vt:lpwstr>C2 - Intern</vt:lpwstr>
  </property>
</Properties>
</file>