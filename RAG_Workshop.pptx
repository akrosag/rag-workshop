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ags/tag2.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32"/>
  </p:notesMasterIdLst>
  <p:handoutMasterIdLst>
    <p:handoutMasterId r:id="rId33"/>
  </p:handoutMasterIdLst>
  <p:sldIdLst>
    <p:sldId id="290" r:id="rId5"/>
    <p:sldId id="279" r:id="rId6"/>
    <p:sldId id="329" r:id="rId7"/>
    <p:sldId id="296" r:id="rId8"/>
    <p:sldId id="301" r:id="rId9"/>
    <p:sldId id="263" r:id="rId10"/>
    <p:sldId id="317" r:id="rId11"/>
    <p:sldId id="319" r:id="rId12"/>
    <p:sldId id="266" r:id="rId13"/>
    <p:sldId id="307" r:id="rId14"/>
    <p:sldId id="323" r:id="rId15"/>
    <p:sldId id="322" r:id="rId16"/>
    <p:sldId id="324" r:id="rId17"/>
    <p:sldId id="325" r:id="rId18"/>
    <p:sldId id="308" r:id="rId19"/>
    <p:sldId id="326" r:id="rId20"/>
    <p:sldId id="256" r:id="rId21"/>
    <p:sldId id="313" r:id="rId22"/>
    <p:sldId id="327" r:id="rId23"/>
    <p:sldId id="320" r:id="rId24"/>
    <p:sldId id="328" r:id="rId25"/>
    <p:sldId id="271" r:id="rId26"/>
    <p:sldId id="272" r:id="rId27"/>
    <p:sldId id="274" r:id="rId28"/>
    <p:sldId id="275" r:id="rId29"/>
    <p:sldId id="276" r:id="rId30"/>
    <p:sldId id="295" r:id="rId31"/>
  </p:sldIdLst>
  <p:sldSz cx="12192000" cy="6858000"/>
  <p:notesSz cx="6858000" cy="9144000"/>
  <p:custDataLst>
    <p:tags r:id="rId34"/>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329"/>
            <p14:sldId id="296"/>
            <p14:sldId id="301"/>
            <p14:sldId id="263"/>
            <p14:sldId id="317"/>
            <p14:sldId id="319"/>
            <p14:sldId id="266"/>
            <p14:sldId id="307"/>
            <p14:sldId id="323"/>
            <p14:sldId id="322"/>
            <p14:sldId id="324"/>
            <p14:sldId id="325"/>
            <p14:sldId id="308"/>
            <p14:sldId id="326"/>
            <p14:sldId id="256"/>
            <p14:sldId id="313"/>
            <p14:sldId id="327"/>
            <p14:sldId id="320"/>
            <p14:sldId id="328"/>
            <p14:sldId id="271"/>
            <p14:sldId id="272"/>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8FCFC"/>
    <a:srgbClr val="43858A"/>
    <a:srgbClr val="C60C30"/>
    <a:srgbClr val="FA9400"/>
    <a:srgbClr val="2D3F4B"/>
    <a:srgbClr val="81725E"/>
    <a:srgbClr val="C3BBB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017" autoAdjust="0"/>
    <p:restoredTop sz="67304" autoAdjust="0"/>
  </p:normalViewPr>
  <p:slideViewPr>
    <p:cSldViewPr snapToGrid="0">
      <p:cViewPr>
        <p:scale>
          <a:sx n="75" d="100"/>
          <a:sy n="75" d="100"/>
        </p:scale>
        <p:origin x="363" y="-366"/>
      </p:cViewPr>
      <p:guideLst/>
    </p:cSldViewPr>
  </p:slideViewPr>
  <p:notesTextViewPr>
    <p:cViewPr>
      <p:scale>
        <a:sx n="75" d="100"/>
        <a:sy n="75" d="100"/>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tags" Target="tags/tag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handoutMaster" Target="handoutMasters/handoutMaster1.xml"/><Relationship Id="rId38"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notesMaster" Target="notesMasters/notesMaster1.xml"/><Relationship Id="rId37"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presProps" Target="presProps.xml"/><Relationship Id="rId8" Type="http://schemas.openxmlformats.org/officeDocument/2006/relationships/slide" Target="slides/slide4.xml"/><Relationship Id="rId3" Type="http://schemas.openxmlformats.org/officeDocument/2006/relationships/customXml" Target="../customXml/item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20.08.2026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20.08.2026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rPr lang="de-DE" dirty="0"/>
              <a:t>Es ist richtig schön, dass ihr den Weg zu diesem Workshop über RAGs gefunden habt. RAGs sind sog. Knowledge Worker und wir werden heute nicht nur die Theorie erklären, sondern auch die Implementierung eines solchen in der Praxis sehen. &lt;Kernbotschaft&gt;Dabei möchten wir die Mechanik eines belastbaren RAG-Systems aufzeigen. &lt;/Kernbotschaft&gt;</a:t>
            </a:r>
          </a:p>
          <a:p>
            <a:endParaRPr dirty="0"/>
          </a:p>
          <a:p>
            <a:r>
              <a:rPr dirty="0"/>
              <a:t>Als </a:t>
            </a:r>
            <a:r>
              <a:rPr dirty="0" err="1"/>
              <a:t>durchgängiges</a:t>
            </a:r>
            <a:r>
              <a:rPr dirty="0"/>
              <a:t> </a:t>
            </a:r>
            <a:r>
              <a:rPr dirty="0" err="1"/>
              <a:t>Beispiel</a:t>
            </a:r>
            <a:r>
              <a:rPr dirty="0"/>
              <a:t> </a:t>
            </a:r>
            <a:r>
              <a:rPr dirty="0" err="1"/>
              <a:t>verwenden</a:t>
            </a:r>
            <a:r>
              <a:rPr dirty="0"/>
              <a:t> </a:t>
            </a:r>
            <a:r>
              <a:rPr dirty="0" err="1"/>
              <a:t>wir</a:t>
            </a:r>
            <a:r>
              <a:rPr dirty="0"/>
              <a:t> Schweizer </a:t>
            </a:r>
            <a:r>
              <a:rPr dirty="0" err="1"/>
              <a:t>Gesetzestexte</a:t>
            </a:r>
            <a:r>
              <a:rPr dirty="0"/>
              <a:t>. </a:t>
            </a:r>
            <a:r>
              <a:rPr dirty="0" err="1"/>
              <a:t>Dadurch</a:t>
            </a:r>
            <a:r>
              <a:rPr dirty="0"/>
              <a:t> </a:t>
            </a:r>
            <a:r>
              <a:rPr dirty="0" err="1"/>
              <a:t>können</a:t>
            </a:r>
            <a:r>
              <a:rPr dirty="0"/>
              <a:t> </a:t>
            </a:r>
            <a:r>
              <a:rPr dirty="0" err="1"/>
              <a:t>wir</a:t>
            </a:r>
            <a:r>
              <a:rPr dirty="0"/>
              <a:t> </a:t>
            </a:r>
            <a:r>
              <a:rPr dirty="0" err="1"/>
              <a:t>sehr</a:t>
            </a:r>
            <a:r>
              <a:rPr dirty="0"/>
              <a:t> </a:t>
            </a:r>
            <a:r>
              <a:rPr dirty="0" err="1"/>
              <a:t>konkret</a:t>
            </a:r>
            <a:r>
              <a:rPr dirty="0"/>
              <a:t> </a:t>
            </a:r>
            <a:r>
              <a:rPr dirty="0" err="1"/>
              <a:t>prüfen</a:t>
            </a:r>
            <a:r>
              <a:rPr dirty="0"/>
              <a:t>, </a:t>
            </a:r>
            <a:endParaRPr lang="de-DE" dirty="0"/>
          </a:p>
          <a:p>
            <a:pPr lvl="1"/>
            <a:r>
              <a:rPr dirty="0" err="1"/>
              <a:t>ob</a:t>
            </a:r>
            <a:r>
              <a:rPr dirty="0"/>
              <a:t> </a:t>
            </a:r>
            <a:r>
              <a:rPr dirty="0" err="1"/>
              <a:t>ein</a:t>
            </a:r>
            <a:r>
              <a:rPr dirty="0"/>
              <a:t> System den </a:t>
            </a:r>
            <a:r>
              <a:rPr dirty="0" err="1"/>
              <a:t>richtigen</a:t>
            </a:r>
            <a:r>
              <a:rPr dirty="0"/>
              <a:t> </a:t>
            </a:r>
            <a:r>
              <a:rPr dirty="0" err="1"/>
              <a:t>Erlass</a:t>
            </a:r>
            <a:r>
              <a:rPr dirty="0"/>
              <a:t> </a:t>
            </a:r>
            <a:r>
              <a:rPr dirty="0" err="1"/>
              <a:t>findet</a:t>
            </a:r>
            <a:r>
              <a:rPr dirty="0"/>
              <a:t>,</a:t>
            </a:r>
            <a:endParaRPr lang="de-DE" dirty="0"/>
          </a:p>
          <a:p>
            <a:pPr lvl="1"/>
            <a:r>
              <a:rPr dirty="0" err="1"/>
              <a:t>ob</a:t>
            </a:r>
            <a:r>
              <a:rPr dirty="0"/>
              <a:t> es </a:t>
            </a:r>
            <a:r>
              <a:rPr dirty="0" err="1"/>
              <a:t>Quellen</a:t>
            </a:r>
            <a:r>
              <a:rPr dirty="0"/>
              <a:t> </a:t>
            </a:r>
            <a:r>
              <a:rPr dirty="0" err="1"/>
              <a:t>nennt</a:t>
            </a:r>
            <a:r>
              <a:rPr dirty="0"/>
              <a:t> </a:t>
            </a:r>
            <a:endParaRPr lang="de-DE" dirty="0"/>
          </a:p>
          <a:p>
            <a:pPr lvl="1"/>
            <a:r>
              <a:rPr dirty="0"/>
              <a:t>und </a:t>
            </a:r>
            <a:r>
              <a:rPr dirty="0" err="1"/>
              <a:t>wie</a:t>
            </a:r>
            <a:r>
              <a:rPr dirty="0"/>
              <a:t> </a:t>
            </a:r>
            <a:r>
              <a:rPr dirty="0" err="1"/>
              <a:t>viel</a:t>
            </a:r>
            <a:r>
              <a:rPr dirty="0"/>
              <a:t> </a:t>
            </a:r>
            <a:r>
              <a:rPr dirty="0" err="1"/>
              <a:t>Kontext</a:t>
            </a:r>
            <a:r>
              <a:rPr dirty="0"/>
              <a:t> es </a:t>
            </a:r>
            <a:r>
              <a:rPr dirty="0" err="1"/>
              <a:t>dafür</a:t>
            </a:r>
            <a:r>
              <a:rPr dirty="0"/>
              <a:t> </a:t>
            </a:r>
            <a:r>
              <a:rPr dirty="0" err="1"/>
              <a:t>benötigt</a:t>
            </a:r>
            <a:r>
              <a:rPr dirty="0"/>
              <a:t>. </a:t>
            </a:r>
            <a:endParaRPr lang="de-DE" dirty="0"/>
          </a:p>
          <a:p>
            <a:pPr marL="216000" lvl="1" indent="0">
              <a:buNone/>
            </a:pPr>
            <a:r>
              <a:rPr dirty="0"/>
              <a:t>Am Ende </a:t>
            </a:r>
            <a:r>
              <a:rPr dirty="0" err="1"/>
              <a:t>sollt</a:t>
            </a:r>
            <a:r>
              <a:rPr dirty="0"/>
              <a:t> </a:t>
            </a:r>
            <a:r>
              <a:rPr dirty="0" err="1"/>
              <a:t>ihr</a:t>
            </a:r>
            <a:r>
              <a:rPr dirty="0"/>
              <a:t> die </a:t>
            </a:r>
            <a:r>
              <a:rPr dirty="0" err="1"/>
              <a:t>wichtigsten</a:t>
            </a:r>
            <a:r>
              <a:rPr dirty="0"/>
              <a:t> </a:t>
            </a:r>
            <a:r>
              <a:rPr dirty="0" err="1"/>
              <a:t>Qualitätshebel</a:t>
            </a:r>
            <a:r>
              <a:rPr dirty="0"/>
              <a:t> – Chunking, Retrieval, Reranking und Evaluation – </a:t>
            </a:r>
            <a:r>
              <a:rPr dirty="0" err="1"/>
              <a:t>bewusst</a:t>
            </a:r>
            <a:r>
              <a:rPr dirty="0"/>
              <a:t> </a:t>
            </a:r>
            <a:r>
              <a:rPr lang="de-DE" dirty="0"/>
              <a:t>einsetzen</a:t>
            </a:r>
            <a:r>
              <a:rPr dirty="0"/>
              <a:t> </a:t>
            </a:r>
            <a:r>
              <a:rPr dirty="0" err="1"/>
              <a:t>können</a:t>
            </a:r>
            <a:r>
              <a:rPr dirty="0"/>
              <a:t>.</a:t>
            </a:r>
          </a:p>
          <a:p>
            <a:pPr marL="0" indent="0">
              <a:buNone/>
            </a:pPr>
            <a:endParaRPr dirty="0"/>
          </a:p>
          <a:p>
            <a:r>
              <a:rPr dirty="0" err="1"/>
              <a:t>Übergang</a:t>
            </a:r>
            <a:r>
              <a:rPr dirty="0"/>
              <a:t>: </a:t>
            </a:r>
            <a:r>
              <a:rPr dirty="0" err="1"/>
              <a:t>Schauen</a:t>
            </a:r>
            <a:r>
              <a:rPr dirty="0"/>
              <a:t> </a:t>
            </a:r>
            <a:r>
              <a:rPr dirty="0" err="1"/>
              <a:t>wir</a:t>
            </a:r>
            <a:r>
              <a:rPr dirty="0"/>
              <a:t> </a:t>
            </a:r>
            <a:r>
              <a:rPr dirty="0" err="1"/>
              <a:t>zuerst</a:t>
            </a:r>
            <a:r>
              <a:rPr dirty="0"/>
              <a:t> auf den </a:t>
            </a:r>
            <a:r>
              <a:rPr dirty="0" err="1"/>
              <a:t>Ablauf</a:t>
            </a:r>
            <a:r>
              <a:rPr dirty="0"/>
              <a:t> und das Ziel der </a:t>
            </a:r>
            <a:r>
              <a:rPr dirty="0" err="1"/>
              <a:t>kommenden</a:t>
            </a:r>
            <a:r>
              <a:rPr dirty="0"/>
              <a:t> 90 Minuten.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endParaRPr dirty="0"/>
          </a:p>
          <a:p>
            <a:r>
              <a:rPr dirty="0" err="1"/>
              <a:t>Zuerst</a:t>
            </a:r>
            <a:r>
              <a:rPr dirty="0"/>
              <a:t> </a:t>
            </a:r>
            <a:r>
              <a:rPr dirty="0" err="1"/>
              <a:t>klären</a:t>
            </a:r>
            <a:r>
              <a:rPr dirty="0"/>
              <a:t> </a:t>
            </a:r>
            <a:r>
              <a:rPr dirty="0" err="1"/>
              <a:t>wir</a:t>
            </a:r>
            <a:r>
              <a:rPr dirty="0"/>
              <a:t>, welches Problem</a:t>
            </a:r>
            <a:r>
              <a:rPr lang="de-DE" dirty="0"/>
              <a:t> ein</a:t>
            </a:r>
            <a:r>
              <a:rPr dirty="0"/>
              <a:t> RAG </a:t>
            </a:r>
            <a:r>
              <a:rPr dirty="0" err="1"/>
              <a:t>löst</a:t>
            </a:r>
            <a:r>
              <a:rPr dirty="0"/>
              <a:t>. </a:t>
            </a:r>
            <a:endParaRPr lang="de-DE" dirty="0"/>
          </a:p>
          <a:p>
            <a:r>
              <a:rPr dirty="0" err="1"/>
              <a:t>Danach</a:t>
            </a:r>
            <a:r>
              <a:rPr dirty="0"/>
              <a:t> </a:t>
            </a:r>
            <a:r>
              <a:rPr dirty="0" err="1"/>
              <a:t>bauen</a:t>
            </a:r>
            <a:r>
              <a:rPr dirty="0"/>
              <a:t> </a:t>
            </a:r>
            <a:r>
              <a:rPr dirty="0" err="1"/>
              <a:t>wir</a:t>
            </a:r>
            <a:r>
              <a:rPr dirty="0"/>
              <a:t> </a:t>
            </a:r>
            <a:r>
              <a:rPr dirty="0" err="1"/>
              <a:t>eine</a:t>
            </a:r>
            <a:r>
              <a:rPr dirty="0"/>
              <a:t> </a:t>
            </a:r>
            <a:r>
              <a:rPr dirty="0" err="1"/>
              <a:t>einfache</a:t>
            </a:r>
            <a:r>
              <a:rPr dirty="0"/>
              <a:t> Pipeline, </a:t>
            </a:r>
            <a:r>
              <a:rPr dirty="0" err="1"/>
              <a:t>verbessern</a:t>
            </a:r>
            <a:r>
              <a:rPr dirty="0"/>
              <a:t> das Chunking, </a:t>
            </a:r>
            <a:r>
              <a:rPr dirty="0" err="1"/>
              <a:t>ergänzen</a:t>
            </a:r>
            <a:r>
              <a:rPr dirty="0"/>
              <a:t> Reranking und </a:t>
            </a:r>
            <a:r>
              <a:rPr dirty="0" err="1"/>
              <a:t>schließlich</a:t>
            </a:r>
            <a:r>
              <a:rPr dirty="0"/>
              <a:t> </a:t>
            </a:r>
            <a:r>
              <a:rPr dirty="0" err="1"/>
              <a:t>GraphRAG</a:t>
            </a:r>
            <a:r>
              <a:rPr dirty="0"/>
              <a:t>. </a:t>
            </a:r>
            <a:endParaRPr lang="de-DE" dirty="0"/>
          </a:p>
          <a:p>
            <a:r>
              <a:rPr dirty="0"/>
              <a:t>Die Evaluation </a:t>
            </a:r>
            <a:r>
              <a:rPr dirty="0" err="1"/>
              <a:t>läuft</a:t>
            </a:r>
            <a:r>
              <a:rPr dirty="0"/>
              <a:t> nicht </a:t>
            </a:r>
            <a:r>
              <a:rPr dirty="0" err="1"/>
              <a:t>nur</a:t>
            </a:r>
            <a:r>
              <a:rPr dirty="0"/>
              <a:t> am Ende: Sie </a:t>
            </a:r>
            <a:r>
              <a:rPr dirty="0" err="1"/>
              <a:t>begleitet</a:t>
            </a:r>
            <a:r>
              <a:rPr dirty="0"/>
              <a:t> </a:t>
            </a:r>
            <a:r>
              <a:rPr dirty="0" err="1"/>
              <a:t>jede</a:t>
            </a:r>
            <a:r>
              <a:rPr dirty="0"/>
              <a:t> </a:t>
            </a:r>
            <a:r>
              <a:rPr dirty="0" err="1"/>
              <a:t>Stufe</a:t>
            </a:r>
            <a:r>
              <a:rPr dirty="0"/>
              <a:t>, </a:t>
            </a:r>
            <a:r>
              <a:rPr dirty="0" err="1"/>
              <a:t>damit</a:t>
            </a:r>
            <a:r>
              <a:rPr dirty="0"/>
              <a:t> </a:t>
            </a:r>
            <a:r>
              <a:rPr dirty="0" err="1"/>
              <a:t>wir</a:t>
            </a:r>
            <a:r>
              <a:rPr dirty="0"/>
              <a:t> </a:t>
            </a:r>
            <a:r>
              <a:rPr dirty="0" err="1"/>
              <a:t>sehen</a:t>
            </a:r>
            <a:r>
              <a:rPr dirty="0"/>
              <a:t>, </a:t>
            </a:r>
            <a:r>
              <a:rPr dirty="0" err="1"/>
              <a:t>welche</a:t>
            </a:r>
            <a:r>
              <a:rPr dirty="0"/>
              <a:t> </a:t>
            </a:r>
            <a:r>
              <a:rPr dirty="0" err="1"/>
              <a:t>Änderung</a:t>
            </a:r>
            <a:r>
              <a:rPr dirty="0"/>
              <a:t> </a:t>
            </a:r>
            <a:r>
              <a:rPr dirty="0" err="1"/>
              <a:t>tatsächlich</a:t>
            </a:r>
            <a:r>
              <a:rPr dirty="0"/>
              <a:t> </a:t>
            </a:r>
            <a:r>
              <a:rPr dirty="0" err="1"/>
              <a:t>einen</a:t>
            </a:r>
            <a:r>
              <a:rPr dirty="0"/>
              <a:t> </a:t>
            </a:r>
            <a:r>
              <a:rPr dirty="0" err="1"/>
              <a:t>messbaren</a:t>
            </a:r>
            <a:r>
              <a:rPr dirty="0"/>
              <a:t> </a:t>
            </a:r>
            <a:r>
              <a:rPr dirty="0" err="1"/>
              <a:t>Effekt</a:t>
            </a:r>
            <a:r>
              <a:rPr dirty="0"/>
              <a:t> hat.</a:t>
            </a:r>
          </a:p>
          <a:p>
            <a:endParaRPr dirty="0"/>
          </a:p>
          <a:p>
            <a:r>
              <a:rPr dirty="0" err="1"/>
              <a:t>Publikumsfrage</a:t>
            </a:r>
            <a:r>
              <a:rPr dirty="0"/>
              <a:t>: </a:t>
            </a:r>
            <a:r>
              <a:rPr dirty="0" err="1"/>
              <a:t>Wer</a:t>
            </a:r>
            <a:r>
              <a:rPr dirty="0"/>
              <a:t> hat </a:t>
            </a:r>
            <a:r>
              <a:rPr dirty="0" err="1"/>
              <a:t>bereits</a:t>
            </a:r>
            <a:r>
              <a:rPr dirty="0"/>
              <a:t> </a:t>
            </a:r>
            <a:r>
              <a:rPr dirty="0" err="1"/>
              <a:t>selbst</a:t>
            </a:r>
            <a:r>
              <a:rPr dirty="0"/>
              <a:t> </a:t>
            </a:r>
            <a:r>
              <a:rPr dirty="0" err="1"/>
              <a:t>ein</a:t>
            </a:r>
            <a:r>
              <a:rPr dirty="0"/>
              <a:t> RAG-System </a:t>
            </a:r>
            <a:r>
              <a:rPr dirty="0" err="1"/>
              <a:t>gebaut</a:t>
            </a:r>
            <a:r>
              <a:rPr dirty="0"/>
              <a:t> </a:t>
            </a:r>
            <a:r>
              <a:rPr dirty="0" err="1"/>
              <a:t>oder</a:t>
            </a:r>
            <a:r>
              <a:rPr dirty="0"/>
              <a:t> </a:t>
            </a:r>
            <a:r>
              <a:rPr dirty="0" err="1"/>
              <a:t>eine</a:t>
            </a:r>
            <a:r>
              <a:rPr dirty="0"/>
              <a:t> </a:t>
            </a:r>
            <a:r>
              <a:rPr dirty="0" err="1"/>
              <a:t>Vektordatenbank</a:t>
            </a:r>
            <a:r>
              <a:rPr dirty="0"/>
              <a:t> </a:t>
            </a:r>
            <a:r>
              <a:rPr dirty="0" err="1"/>
              <a:t>verwendet</a:t>
            </a:r>
            <a:r>
              <a:rPr dirty="0"/>
              <a:t>?</a:t>
            </a:r>
            <a:endParaRPr lang="de-DE" dirty="0"/>
          </a:p>
          <a:p>
            <a:endParaRPr lang="de-DE" dirty="0"/>
          </a:p>
          <a:p>
            <a:r>
              <a:rPr lang="de-DE" dirty="0"/>
              <a:t>Übergang: Dann schauen wir noch kurz auf die Dinge, die ihr heute mitnehmen könnt:</a:t>
            </a:r>
          </a:p>
          <a:p>
            <a:endParaRPr lang="de-DE" dirty="0"/>
          </a:p>
          <a:p>
            <a:endParaRPr dirty="0"/>
          </a:p>
          <a:p>
            <a:pPr marL="0" indent="0">
              <a:buNone/>
            </a:pP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081088" y="617538"/>
            <a:ext cx="4695825" cy="2641600"/>
          </a:xfrm>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fld id="{042C5124-4C40-4574-A599-2A4750070F64}" type="slidenum">
              <a:rPr lang="de-DE" smtClean="0"/>
              <a:pPr/>
              <a:t>3</a:t>
            </a:fld>
            <a:endParaRPr lang="de-DE"/>
          </a:p>
        </p:txBody>
      </p:sp>
    </p:spTree>
    <p:extLst>
      <p:ext uri="{BB962C8B-B14F-4D97-AF65-F5344CB8AC3E}">
        <p14:creationId xmlns:p14="http://schemas.microsoft.com/office/powerpoint/2010/main" val="22980342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rPr dirty="0" err="1"/>
              <a:t>Kernbotschaft</a:t>
            </a:r>
            <a:r>
              <a:rPr dirty="0"/>
              <a:t>: RAG </a:t>
            </a:r>
            <a:r>
              <a:rPr dirty="0" err="1"/>
              <a:t>ist</a:t>
            </a:r>
            <a:r>
              <a:rPr dirty="0"/>
              <a:t> </a:t>
            </a:r>
            <a:r>
              <a:rPr dirty="0" err="1"/>
              <a:t>eine</a:t>
            </a:r>
            <a:r>
              <a:rPr dirty="0"/>
              <a:t> Methode, dem Modell </a:t>
            </a:r>
            <a:r>
              <a:rPr dirty="0" err="1"/>
              <a:t>zur</a:t>
            </a:r>
            <a:r>
              <a:rPr dirty="0"/>
              <a:t> </a:t>
            </a:r>
            <a:r>
              <a:rPr dirty="0" err="1"/>
              <a:t>Laufzeit</a:t>
            </a:r>
            <a:r>
              <a:rPr dirty="0"/>
              <a:t> </a:t>
            </a:r>
            <a:r>
              <a:rPr dirty="0" err="1"/>
              <a:t>gezielt</a:t>
            </a:r>
            <a:r>
              <a:rPr dirty="0"/>
              <a:t> externes Wissen </a:t>
            </a:r>
            <a:r>
              <a:rPr dirty="0" err="1"/>
              <a:t>bereitzustellen</a:t>
            </a:r>
            <a:r>
              <a:rPr dirty="0"/>
              <a:t>.</a:t>
            </a:r>
          </a:p>
          <a:p>
            <a:endParaRPr dirty="0"/>
          </a:p>
          <a:p>
            <a:r>
              <a:rPr dirty="0" err="1"/>
              <a:t>Sprechtext</a:t>
            </a:r>
            <a:r>
              <a:rPr dirty="0"/>
              <a:t>: In </a:t>
            </a:r>
            <a:r>
              <a:rPr dirty="0" err="1"/>
              <a:t>diesem</a:t>
            </a:r>
            <a:r>
              <a:rPr dirty="0"/>
              <a:t> </a:t>
            </a:r>
            <a:r>
              <a:rPr dirty="0" err="1"/>
              <a:t>Abschnitt</a:t>
            </a:r>
            <a:r>
              <a:rPr dirty="0"/>
              <a:t> </a:t>
            </a:r>
            <a:r>
              <a:rPr dirty="0" err="1"/>
              <a:t>geht</a:t>
            </a:r>
            <a:r>
              <a:rPr dirty="0"/>
              <a:t> es </a:t>
            </a:r>
            <a:r>
              <a:rPr dirty="0" err="1"/>
              <a:t>zunächst</a:t>
            </a:r>
            <a:r>
              <a:rPr dirty="0"/>
              <a:t> um das </a:t>
            </a:r>
            <a:r>
              <a:rPr dirty="0" err="1"/>
              <a:t>Warum</a:t>
            </a:r>
            <a:r>
              <a:rPr dirty="0"/>
              <a:t>. Wir </a:t>
            </a:r>
            <a:r>
              <a:rPr dirty="0" err="1"/>
              <a:t>trennen</a:t>
            </a:r>
            <a:r>
              <a:rPr dirty="0"/>
              <a:t> </a:t>
            </a:r>
            <a:r>
              <a:rPr dirty="0" err="1"/>
              <a:t>dabei</a:t>
            </a:r>
            <a:r>
              <a:rPr dirty="0"/>
              <a:t> </a:t>
            </a:r>
            <a:r>
              <a:rPr dirty="0" err="1"/>
              <a:t>zwei</a:t>
            </a:r>
            <a:r>
              <a:rPr dirty="0"/>
              <a:t> Dinge: Das </a:t>
            </a:r>
            <a:r>
              <a:rPr dirty="0" err="1"/>
              <a:t>Sprachmodell</a:t>
            </a:r>
            <a:r>
              <a:rPr dirty="0"/>
              <a:t> </a:t>
            </a:r>
            <a:r>
              <a:rPr dirty="0" err="1"/>
              <a:t>formuliert</a:t>
            </a:r>
            <a:r>
              <a:rPr dirty="0"/>
              <a:t> die </a:t>
            </a:r>
            <a:r>
              <a:rPr dirty="0" err="1"/>
              <a:t>Antwort</a:t>
            </a:r>
            <a:r>
              <a:rPr dirty="0"/>
              <a:t>; das Retrieval </a:t>
            </a:r>
            <a:r>
              <a:rPr dirty="0" err="1"/>
              <a:t>entscheidet</a:t>
            </a:r>
            <a:r>
              <a:rPr dirty="0"/>
              <a:t>, </a:t>
            </a:r>
            <a:r>
              <a:rPr dirty="0" err="1"/>
              <a:t>welche</a:t>
            </a:r>
            <a:r>
              <a:rPr dirty="0"/>
              <a:t> </a:t>
            </a:r>
            <a:r>
              <a:rPr dirty="0" err="1"/>
              <a:t>Informationen</a:t>
            </a:r>
            <a:r>
              <a:rPr dirty="0"/>
              <a:t> es </a:t>
            </a:r>
            <a:r>
              <a:rPr dirty="0" err="1"/>
              <a:t>dafür</a:t>
            </a:r>
            <a:r>
              <a:rPr dirty="0"/>
              <a:t> </a:t>
            </a:r>
            <a:r>
              <a:rPr dirty="0" err="1"/>
              <a:t>überhaupt</a:t>
            </a:r>
            <a:r>
              <a:rPr dirty="0"/>
              <a:t> </a:t>
            </a:r>
            <a:r>
              <a:rPr dirty="0" err="1"/>
              <a:t>sieht</a:t>
            </a:r>
            <a:r>
              <a:rPr dirty="0"/>
              <a:t>.</a:t>
            </a:r>
          </a:p>
          <a:p>
            <a:endParaRPr dirty="0"/>
          </a:p>
          <a:p>
            <a:r>
              <a:rPr dirty="0" err="1"/>
              <a:t>Publikumsfrage</a:t>
            </a:r>
            <a:r>
              <a:rPr dirty="0"/>
              <a:t>: Was </a:t>
            </a:r>
            <a:r>
              <a:rPr dirty="0" err="1"/>
              <a:t>fehlt</a:t>
            </a:r>
            <a:r>
              <a:rPr dirty="0"/>
              <a:t> </a:t>
            </a:r>
            <a:r>
              <a:rPr dirty="0" err="1"/>
              <a:t>einem</a:t>
            </a:r>
            <a:r>
              <a:rPr dirty="0"/>
              <a:t> </a:t>
            </a:r>
            <a:r>
              <a:rPr dirty="0" err="1"/>
              <a:t>reinen</a:t>
            </a:r>
            <a:r>
              <a:rPr dirty="0"/>
              <a:t> LLM, </a:t>
            </a:r>
            <a:r>
              <a:rPr dirty="0" err="1"/>
              <a:t>wenn</a:t>
            </a:r>
            <a:r>
              <a:rPr dirty="0"/>
              <a:t> </a:t>
            </a:r>
            <a:r>
              <a:rPr dirty="0" err="1"/>
              <a:t>wir</a:t>
            </a:r>
            <a:r>
              <a:rPr dirty="0"/>
              <a:t> </a:t>
            </a:r>
            <a:r>
              <a:rPr dirty="0" err="1"/>
              <a:t>eine</a:t>
            </a:r>
            <a:r>
              <a:rPr dirty="0"/>
              <a:t> </a:t>
            </a:r>
            <a:r>
              <a:rPr dirty="0" err="1"/>
              <a:t>aktuelle</a:t>
            </a:r>
            <a:r>
              <a:rPr dirty="0"/>
              <a:t> </a:t>
            </a:r>
            <a:r>
              <a:rPr dirty="0" err="1"/>
              <a:t>oder</a:t>
            </a:r>
            <a:r>
              <a:rPr dirty="0"/>
              <a:t> intern </a:t>
            </a:r>
            <a:r>
              <a:rPr dirty="0" err="1"/>
              <a:t>belegbare</a:t>
            </a:r>
            <a:r>
              <a:rPr dirty="0"/>
              <a:t> </a:t>
            </a:r>
            <a:r>
              <a:rPr dirty="0" err="1"/>
              <a:t>Antwort</a:t>
            </a:r>
            <a:r>
              <a:rPr dirty="0"/>
              <a:t> </a:t>
            </a:r>
            <a:r>
              <a:rPr dirty="0" err="1"/>
              <a:t>erwarten</a:t>
            </a:r>
            <a:r>
              <a:rPr dirty="0"/>
              <a:t>?</a:t>
            </a:r>
          </a:p>
          <a:p>
            <a:endParaRPr dirty="0"/>
          </a:p>
          <a:p>
            <a:r>
              <a:rPr dirty="0" err="1"/>
              <a:t>Übergang</a:t>
            </a:r>
            <a:r>
              <a:rPr dirty="0"/>
              <a:t>: Drei </a:t>
            </a:r>
            <a:r>
              <a:rPr dirty="0" err="1"/>
              <a:t>typische</a:t>
            </a:r>
            <a:r>
              <a:rPr dirty="0"/>
              <a:t> </a:t>
            </a:r>
            <a:r>
              <a:rPr dirty="0" err="1"/>
              <a:t>blinde</a:t>
            </a:r>
            <a:r>
              <a:rPr dirty="0"/>
              <a:t> </a:t>
            </a:r>
            <a:r>
              <a:rPr dirty="0" err="1"/>
              <a:t>Flecken</a:t>
            </a:r>
            <a:r>
              <a:rPr dirty="0"/>
              <a:t> </a:t>
            </a:r>
            <a:r>
              <a:rPr dirty="0" err="1"/>
              <a:t>machen</a:t>
            </a:r>
            <a:r>
              <a:rPr dirty="0"/>
              <a:t> dieses Problem </a:t>
            </a:r>
            <a:r>
              <a:rPr dirty="0" err="1"/>
              <a:t>sichtbar</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Ein reines LLM kennt nicht automatisch unsere aktuellen Daten, liefert keine verlässlichen Belege und kann nicht beliebig viel Kontext effizient verarbeiten.</a:t>
            </a:r>
          </a:p>
          <a:p>
            <a:endParaRPr/>
          </a:p>
          <a:p>
            <a:r>
              <a:t>Sprechtext: Erstens endet das Wissen des Modells an seinen Trainingsdaten und umfasst keine vertraulichen Firmendokumente. Zweitens kann eine plausible Antwort sprachlich überzeugend, aber sachlich falsch oder nicht nachvollziehbar sein. Drittens ist „alles in den Prompt legen“ teuer und erzeugt Rauschen: Mehr Kontext ist nicht automatisch besserer Kontext.</a:t>
            </a:r>
          </a:p>
          <a:p>
            <a:endParaRPr/>
          </a:p>
          <a:p>
            <a:r>
              <a:t>RAG macht das Modell nicht intelligenter. RAG steuert, welche Evidenz das Modell für eine konkrete Frage erhält.</a:t>
            </a:r>
          </a:p>
          <a:p>
            <a:endParaRPr/>
          </a:p>
          <a:p>
            <a:r>
              <a:t>Übergang: Diese Steuerung kann man als drei grundlegende Kontextoperationen verstehen.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rPr dirty="0" err="1"/>
              <a:t>Kernbotschaft</a:t>
            </a:r>
            <a:r>
              <a:rPr dirty="0"/>
              <a:t>: LLM-</a:t>
            </a:r>
            <a:r>
              <a:rPr dirty="0" err="1"/>
              <a:t>Anwendungen</a:t>
            </a:r>
            <a:r>
              <a:rPr dirty="0"/>
              <a:t> </a:t>
            </a:r>
            <a:r>
              <a:rPr dirty="0" err="1"/>
              <a:t>erweitern</a:t>
            </a:r>
            <a:r>
              <a:rPr dirty="0"/>
              <a:t>, </a:t>
            </a:r>
            <a:r>
              <a:rPr dirty="0" err="1"/>
              <a:t>verdichten</a:t>
            </a:r>
            <a:r>
              <a:rPr dirty="0"/>
              <a:t> </a:t>
            </a:r>
            <a:r>
              <a:rPr dirty="0" err="1"/>
              <a:t>oder</a:t>
            </a:r>
            <a:r>
              <a:rPr dirty="0"/>
              <a:t> </a:t>
            </a:r>
            <a:r>
              <a:rPr dirty="0" err="1"/>
              <a:t>übersetzen</a:t>
            </a:r>
            <a:r>
              <a:rPr dirty="0"/>
              <a:t> </a:t>
            </a:r>
            <a:r>
              <a:rPr dirty="0" err="1"/>
              <a:t>Kontext</a:t>
            </a:r>
            <a:r>
              <a:rPr dirty="0"/>
              <a:t> – RAG </a:t>
            </a:r>
            <a:r>
              <a:rPr dirty="0" err="1"/>
              <a:t>ist</a:t>
            </a:r>
            <a:r>
              <a:rPr dirty="0"/>
              <a:t> </a:t>
            </a:r>
            <a:r>
              <a:rPr dirty="0" err="1"/>
              <a:t>besonders</a:t>
            </a:r>
            <a:r>
              <a:rPr dirty="0"/>
              <a:t> stark </a:t>
            </a:r>
            <a:r>
              <a:rPr dirty="0" err="1"/>
              <a:t>beim</a:t>
            </a:r>
            <a:r>
              <a:rPr dirty="0"/>
              <a:t> </a:t>
            </a:r>
            <a:r>
              <a:rPr dirty="0" err="1"/>
              <a:t>gezielten</a:t>
            </a:r>
            <a:r>
              <a:rPr dirty="0"/>
              <a:t> </a:t>
            </a:r>
            <a:r>
              <a:rPr dirty="0" err="1"/>
              <a:t>Verdichten</a:t>
            </a:r>
            <a:r>
              <a:rPr dirty="0"/>
              <a:t>.</a:t>
            </a:r>
          </a:p>
          <a:p>
            <a:endParaRPr dirty="0"/>
          </a:p>
          <a:p>
            <a:r>
              <a:rPr dirty="0" err="1"/>
              <a:t>Sprechtext</a:t>
            </a:r>
            <a:r>
              <a:rPr dirty="0"/>
              <a:t>: Expansion </a:t>
            </a:r>
            <a:r>
              <a:rPr dirty="0" err="1"/>
              <a:t>bedeutet</a:t>
            </a:r>
            <a:r>
              <a:rPr dirty="0"/>
              <a:t>, </a:t>
            </a:r>
            <a:r>
              <a:rPr dirty="0" err="1"/>
              <a:t>aus</a:t>
            </a:r>
            <a:r>
              <a:rPr dirty="0"/>
              <a:t> </a:t>
            </a:r>
            <a:r>
              <a:rPr dirty="0" err="1"/>
              <a:t>einer</a:t>
            </a:r>
            <a:r>
              <a:rPr dirty="0"/>
              <a:t> </a:t>
            </a:r>
            <a:r>
              <a:rPr dirty="0" err="1"/>
              <a:t>kurzen</a:t>
            </a:r>
            <a:r>
              <a:rPr dirty="0"/>
              <a:t> </a:t>
            </a:r>
            <a:r>
              <a:rPr dirty="0" err="1"/>
              <a:t>Eingabe</a:t>
            </a:r>
            <a:r>
              <a:rPr dirty="0"/>
              <a:t> </a:t>
            </a:r>
            <a:r>
              <a:rPr dirty="0" err="1"/>
              <a:t>umfangreichen</a:t>
            </a:r>
            <a:r>
              <a:rPr dirty="0"/>
              <a:t> Output </a:t>
            </a:r>
            <a:r>
              <a:rPr dirty="0" err="1"/>
              <a:t>zu</a:t>
            </a:r>
            <a:r>
              <a:rPr dirty="0"/>
              <a:t> </a:t>
            </a:r>
            <a:r>
              <a:rPr dirty="0" err="1"/>
              <a:t>erzeugen</a:t>
            </a:r>
            <a:r>
              <a:rPr dirty="0"/>
              <a:t>. </a:t>
            </a:r>
            <a:r>
              <a:rPr dirty="0" err="1"/>
              <a:t>Kompression</a:t>
            </a:r>
            <a:r>
              <a:rPr dirty="0"/>
              <a:t> </a:t>
            </a:r>
            <a:r>
              <a:rPr dirty="0" err="1"/>
              <a:t>bedeutet</a:t>
            </a:r>
            <a:r>
              <a:rPr dirty="0"/>
              <a:t>, </a:t>
            </a:r>
            <a:r>
              <a:rPr dirty="0" err="1"/>
              <a:t>aus</a:t>
            </a:r>
            <a:r>
              <a:rPr dirty="0"/>
              <a:t> </a:t>
            </a:r>
            <a:r>
              <a:rPr dirty="0" err="1"/>
              <a:t>vielen</a:t>
            </a:r>
            <a:r>
              <a:rPr dirty="0"/>
              <a:t> </a:t>
            </a:r>
            <a:r>
              <a:rPr dirty="0" err="1"/>
              <a:t>möglichen</a:t>
            </a:r>
            <a:r>
              <a:rPr dirty="0"/>
              <a:t> </a:t>
            </a:r>
            <a:r>
              <a:rPr dirty="0" err="1"/>
              <a:t>Informationen</a:t>
            </a:r>
            <a:r>
              <a:rPr dirty="0"/>
              <a:t> </a:t>
            </a:r>
            <a:r>
              <a:rPr dirty="0" err="1"/>
              <a:t>nur</a:t>
            </a:r>
            <a:r>
              <a:rPr dirty="0"/>
              <a:t> die </a:t>
            </a:r>
            <a:r>
              <a:rPr dirty="0" err="1"/>
              <a:t>relevanten</a:t>
            </a:r>
            <a:r>
              <a:rPr dirty="0"/>
              <a:t> Belege in den Prompt </a:t>
            </a:r>
            <a:r>
              <a:rPr dirty="0" err="1"/>
              <a:t>zu</a:t>
            </a:r>
            <a:r>
              <a:rPr dirty="0"/>
              <a:t> </a:t>
            </a:r>
            <a:r>
              <a:rPr dirty="0" err="1"/>
              <a:t>nehmen</a:t>
            </a:r>
            <a:r>
              <a:rPr dirty="0"/>
              <a:t>. Translation </a:t>
            </a:r>
            <a:r>
              <a:rPr dirty="0" err="1"/>
              <a:t>meint</a:t>
            </a:r>
            <a:r>
              <a:rPr dirty="0"/>
              <a:t> die </a:t>
            </a:r>
            <a:r>
              <a:rPr dirty="0" err="1"/>
              <a:t>Umwandlung</a:t>
            </a:r>
            <a:r>
              <a:rPr dirty="0"/>
              <a:t> </a:t>
            </a:r>
            <a:r>
              <a:rPr dirty="0" err="1"/>
              <a:t>zwischen</a:t>
            </a:r>
            <a:r>
              <a:rPr dirty="0"/>
              <a:t> </a:t>
            </a:r>
            <a:r>
              <a:rPr dirty="0" err="1"/>
              <a:t>Repräsentationen</a:t>
            </a:r>
            <a:r>
              <a:rPr dirty="0"/>
              <a:t>, </a:t>
            </a:r>
            <a:r>
              <a:rPr dirty="0" err="1"/>
              <a:t>etwa</a:t>
            </a:r>
            <a:r>
              <a:rPr dirty="0"/>
              <a:t> Text </a:t>
            </a:r>
            <a:r>
              <a:rPr dirty="0" err="1"/>
              <a:t>zu</a:t>
            </a:r>
            <a:r>
              <a:rPr dirty="0"/>
              <a:t> Embeddings </a:t>
            </a:r>
            <a:r>
              <a:rPr dirty="0" err="1"/>
              <a:t>oder</a:t>
            </a:r>
            <a:r>
              <a:rPr dirty="0"/>
              <a:t> </a:t>
            </a:r>
            <a:r>
              <a:rPr dirty="0" err="1"/>
              <a:t>Dokumente</a:t>
            </a:r>
            <a:r>
              <a:rPr dirty="0"/>
              <a:t> </a:t>
            </a:r>
            <a:r>
              <a:rPr dirty="0" err="1"/>
              <a:t>zu</a:t>
            </a:r>
            <a:r>
              <a:rPr dirty="0"/>
              <a:t> </a:t>
            </a:r>
            <a:r>
              <a:rPr dirty="0" err="1"/>
              <a:t>strukturierten</a:t>
            </a:r>
            <a:r>
              <a:rPr dirty="0"/>
              <a:t> </a:t>
            </a:r>
            <a:r>
              <a:rPr dirty="0" err="1"/>
              <a:t>Metadaten</a:t>
            </a:r>
            <a:r>
              <a:rPr dirty="0"/>
              <a:t>. </a:t>
            </a:r>
            <a:r>
              <a:rPr dirty="0" err="1"/>
              <a:t>Unsere</a:t>
            </a:r>
            <a:r>
              <a:rPr dirty="0"/>
              <a:t> RAG-Pipeline </a:t>
            </a:r>
            <a:r>
              <a:rPr dirty="0" err="1"/>
              <a:t>kombiniert</a:t>
            </a:r>
            <a:r>
              <a:rPr dirty="0"/>
              <a:t> alle </a:t>
            </a:r>
            <a:r>
              <a:rPr dirty="0" err="1"/>
              <a:t>drei</a:t>
            </a:r>
            <a:r>
              <a:rPr dirty="0"/>
              <a:t>, </a:t>
            </a:r>
            <a:r>
              <a:rPr dirty="0" err="1"/>
              <a:t>aber</a:t>
            </a:r>
            <a:r>
              <a:rPr dirty="0"/>
              <a:t> </a:t>
            </a:r>
            <a:r>
              <a:rPr dirty="0" err="1"/>
              <a:t>ihr</a:t>
            </a:r>
            <a:r>
              <a:rPr dirty="0"/>
              <a:t> </a:t>
            </a:r>
            <a:r>
              <a:rPr dirty="0" err="1"/>
              <a:t>eigentlicher</a:t>
            </a:r>
            <a:r>
              <a:rPr dirty="0"/>
              <a:t> </a:t>
            </a:r>
            <a:r>
              <a:rPr dirty="0" err="1"/>
              <a:t>Nutzen</a:t>
            </a:r>
            <a:r>
              <a:rPr dirty="0"/>
              <a:t> </a:t>
            </a:r>
            <a:r>
              <a:rPr dirty="0" err="1"/>
              <a:t>liegt</a:t>
            </a:r>
            <a:r>
              <a:rPr dirty="0"/>
              <a:t> in der </a:t>
            </a:r>
            <a:r>
              <a:rPr dirty="0" err="1"/>
              <a:t>kontrollierten</a:t>
            </a:r>
            <a:r>
              <a:rPr dirty="0"/>
              <a:t> </a:t>
            </a:r>
            <a:r>
              <a:rPr dirty="0" err="1"/>
              <a:t>Auswahl</a:t>
            </a:r>
            <a:r>
              <a:rPr dirty="0"/>
              <a:t> von </a:t>
            </a:r>
            <a:r>
              <a:rPr dirty="0" err="1"/>
              <a:t>Kontext</a:t>
            </a:r>
            <a:r>
              <a:rPr dirty="0"/>
              <a:t>.</a:t>
            </a:r>
          </a:p>
          <a:p>
            <a:endParaRPr dirty="0"/>
          </a:p>
          <a:p>
            <a:r>
              <a:rPr dirty="0" err="1"/>
              <a:t>Publikumsfrage</a:t>
            </a:r>
            <a:r>
              <a:rPr dirty="0"/>
              <a:t>: </a:t>
            </a:r>
            <a:r>
              <a:rPr dirty="0" err="1"/>
              <a:t>Welche</a:t>
            </a:r>
            <a:r>
              <a:rPr dirty="0"/>
              <a:t> </a:t>
            </a:r>
            <a:r>
              <a:rPr dirty="0" err="1"/>
              <a:t>dieser</a:t>
            </a:r>
            <a:r>
              <a:rPr dirty="0"/>
              <a:t> </a:t>
            </a:r>
            <a:r>
              <a:rPr dirty="0" err="1"/>
              <a:t>Operationen</a:t>
            </a:r>
            <a:r>
              <a:rPr dirty="0"/>
              <a:t> </a:t>
            </a:r>
            <a:r>
              <a:rPr dirty="0" err="1"/>
              <a:t>ist</a:t>
            </a:r>
            <a:r>
              <a:rPr dirty="0"/>
              <a:t> </a:t>
            </a:r>
            <a:r>
              <a:rPr dirty="0" err="1"/>
              <a:t>bei</a:t>
            </a:r>
            <a:r>
              <a:rPr dirty="0"/>
              <a:t> </a:t>
            </a:r>
            <a:r>
              <a:rPr dirty="0" err="1"/>
              <a:t>einer</a:t>
            </a:r>
            <a:r>
              <a:rPr dirty="0"/>
              <a:t> Frage </a:t>
            </a:r>
            <a:r>
              <a:rPr dirty="0" err="1"/>
              <a:t>wie</a:t>
            </a:r>
            <a:r>
              <a:rPr dirty="0"/>
              <a:t> „Was </a:t>
            </a:r>
            <a:r>
              <a:rPr dirty="0" err="1"/>
              <a:t>steht</a:t>
            </a:r>
            <a:r>
              <a:rPr dirty="0"/>
              <a:t> in Art. 1 OR?“ am </a:t>
            </a:r>
            <a:r>
              <a:rPr dirty="0" err="1"/>
              <a:t>wichtigsten</a:t>
            </a:r>
            <a:r>
              <a:rPr dirty="0"/>
              <a:t>?</a:t>
            </a:r>
          </a:p>
          <a:p>
            <a:endParaRPr dirty="0"/>
          </a:p>
          <a:p>
            <a:r>
              <a:rPr dirty="0" err="1"/>
              <a:t>Übergang</a:t>
            </a:r>
            <a:r>
              <a:rPr dirty="0"/>
              <a:t>: RAG </a:t>
            </a:r>
            <a:r>
              <a:rPr dirty="0" err="1"/>
              <a:t>ist</a:t>
            </a:r>
            <a:r>
              <a:rPr dirty="0"/>
              <a:t> </a:t>
            </a:r>
            <a:r>
              <a:rPr dirty="0" err="1"/>
              <a:t>damit</a:t>
            </a:r>
            <a:r>
              <a:rPr dirty="0"/>
              <a:t> </a:t>
            </a:r>
            <a:r>
              <a:rPr dirty="0" err="1"/>
              <a:t>ein</a:t>
            </a:r>
            <a:r>
              <a:rPr dirty="0"/>
              <a:t> </a:t>
            </a:r>
            <a:r>
              <a:rPr dirty="0" err="1"/>
              <a:t>Teilgebiet</a:t>
            </a:r>
            <a:r>
              <a:rPr dirty="0"/>
              <a:t> von Context Engineering – </a:t>
            </a:r>
            <a:r>
              <a:rPr dirty="0" err="1"/>
              <a:t>aber</a:t>
            </a:r>
            <a:r>
              <a:rPr dirty="0"/>
              <a:t> nicht die </a:t>
            </a:r>
            <a:r>
              <a:rPr dirty="0" err="1"/>
              <a:t>einzige</a:t>
            </a:r>
            <a:r>
              <a:rPr dirty="0"/>
              <a:t> </a:t>
            </a:r>
            <a:r>
              <a:rPr dirty="0" err="1"/>
              <a:t>Variante</a:t>
            </a:r>
            <a:r>
              <a:rPr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rPr dirty="0" err="1"/>
              <a:t>Kernbotschaft</a:t>
            </a:r>
            <a:r>
              <a:rPr dirty="0"/>
              <a:t>: RAG, MCP, Skills und </a:t>
            </a:r>
            <a:r>
              <a:rPr dirty="0" err="1"/>
              <a:t>große</a:t>
            </a:r>
            <a:r>
              <a:rPr dirty="0"/>
              <a:t> </a:t>
            </a:r>
            <a:r>
              <a:rPr dirty="0" err="1"/>
              <a:t>Kontextfenster</a:t>
            </a:r>
            <a:r>
              <a:rPr dirty="0"/>
              <a:t> </a:t>
            </a:r>
            <a:r>
              <a:rPr dirty="0" err="1"/>
              <a:t>lösen</a:t>
            </a:r>
            <a:r>
              <a:rPr dirty="0"/>
              <a:t> </a:t>
            </a:r>
            <a:r>
              <a:rPr dirty="0" err="1"/>
              <a:t>unterschiedliche</a:t>
            </a:r>
            <a:r>
              <a:rPr dirty="0"/>
              <a:t> </a:t>
            </a:r>
            <a:r>
              <a:rPr dirty="0" err="1"/>
              <a:t>Aufgaben</a:t>
            </a:r>
            <a:r>
              <a:rPr dirty="0"/>
              <a:t> </a:t>
            </a:r>
            <a:r>
              <a:rPr dirty="0" err="1"/>
              <a:t>im</a:t>
            </a:r>
            <a:r>
              <a:rPr dirty="0"/>
              <a:t> Context Engineering.</a:t>
            </a:r>
          </a:p>
          <a:p>
            <a:endParaRPr dirty="0"/>
          </a:p>
          <a:p>
            <a:r>
              <a:rPr dirty="0" err="1"/>
              <a:t>Sprechtext</a:t>
            </a:r>
            <a:r>
              <a:rPr dirty="0"/>
              <a:t>: RAG </a:t>
            </a:r>
            <a:r>
              <a:rPr dirty="0" err="1"/>
              <a:t>ruft</a:t>
            </a:r>
            <a:r>
              <a:rPr dirty="0"/>
              <a:t> </a:t>
            </a:r>
            <a:r>
              <a:rPr dirty="0" err="1"/>
              <a:t>relevante</a:t>
            </a:r>
            <a:r>
              <a:rPr dirty="0"/>
              <a:t> </a:t>
            </a:r>
            <a:r>
              <a:rPr dirty="0" err="1"/>
              <a:t>Dokument</a:t>
            </a:r>
            <a:r>
              <a:rPr dirty="0"/>
              <a:t>-Chunks </a:t>
            </a:r>
            <a:r>
              <a:rPr dirty="0" err="1"/>
              <a:t>bei</a:t>
            </a:r>
            <a:r>
              <a:rPr dirty="0"/>
              <a:t> </a:t>
            </a:r>
            <a:r>
              <a:rPr dirty="0" err="1"/>
              <a:t>Bedarf</a:t>
            </a:r>
            <a:r>
              <a:rPr dirty="0"/>
              <a:t> ab. MCP </a:t>
            </a:r>
            <a:r>
              <a:rPr dirty="0" err="1"/>
              <a:t>macht</a:t>
            </a:r>
            <a:r>
              <a:rPr dirty="0"/>
              <a:t> </a:t>
            </a:r>
            <a:r>
              <a:rPr dirty="0" err="1"/>
              <a:t>Datenquellen</a:t>
            </a:r>
            <a:r>
              <a:rPr dirty="0"/>
              <a:t> </a:t>
            </a:r>
            <a:r>
              <a:rPr dirty="0" err="1"/>
              <a:t>oder</a:t>
            </a:r>
            <a:r>
              <a:rPr dirty="0"/>
              <a:t> </a:t>
            </a:r>
            <a:r>
              <a:rPr dirty="0" err="1"/>
              <a:t>Aktionen</a:t>
            </a:r>
            <a:r>
              <a:rPr dirty="0"/>
              <a:t> </a:t>
            </a:r>
            <a:r>
              <a:rPr dirty="0" err="1"/>
              <a:t>über</a:t>
            </a:r>
            <a:r>
              <a:rPr dirty="0"/>
              <a:t> </a:t>
            </a:r>
            <a:r>
              <a:rPr dirty="0" err="1"/>
              <a:t>standardisierte</a:t>
            </a:r>
            <a:r>
              <a:rPr dirty="0"/>
              <a:t> </a:t>
            </a:r>
            <a:r>
              <a:rPr dirty="0" err="1"/>
              <a:t>Connectoren</a:t>
            </a:r>
            <a:r>
              <a:rPr dirty="0"/>
              <a:t> </a:t>
            </a:r>
            <a:r>
              <a:rPr dirty="0" err="1"/>
              <a:t>verfügbar</a:t>
            </a:r>
            <a:r>
              <a:rPr dirty="0"/>
              <a:t>. Skills </a:t>
            </a:r>
            <a:r>
              <a:rPr dirty="0" err="1"/>
              <a:t>bündeln</a:t>
            </a:r>
            <a:r>
              <a:rPr dirty="0"/>
              <a:t> </a:t>
            </a:r>
            <a:r>
              <a:rPr dirty="0" err="1"/>
              <a:t>spezialisierte</a:t>
            </a:r>
            <a:r>
              <a:rPr dirty="0"/>
              <a:t> </a:t>
            </a:r>
            <a:r>
              <a:rPr dirty="0" err="1"/>
              <a:t>Anweisungen</a:t>
            </a:r>
            <a:r>
              <a:rPr dirty="0"/>
              <a:t> und </a:t>
            </a:r>
            <a:r>
              <a:rPr dirty="0" err="1"/>
              <a:t>Arbeitsabläufe</a:t>
            </a:r>
            <a:r>
              <a:rPr dirty="0"/>
              <a:t>, die </a:t>
            </a:r>
            <a:r>
              <a:rPr dirty="0" err="1"/>
              <a:t>nur</a:t>
            </a:r>
            <a:r>
              <a:rPr dirty="0"/>
              <a:t> </a:t>
            </a:r>
            <a:r>
              <a:rPr dirty="0" err="1"/>
              <a:t>bei</a:t>
            </a:r>
            <a:r>
              <a:rPr dirty="0"/>
              <a:t> </a:t>
            </a:r>
            <a:r>
              <a:rPr dirty="0" err="1"/>
              <a:t>Bedarf</a:t>
            </a:r>
            <a:r>
              <a:rPr dirty="0"/>
              <a:t> </a:t>
            </a:r>
            <a:r>
              <a:rPr dirty="0" err="1"/>
              <a:t>geladen</a:t>
            </a:r>
            <a:r>
              <a:rPr dirty="0"/>
              <a:t> </a:t>
            </a:r>
            <a:r>
              <a:rPr dirty="0" err="1"/>
              <a:t>werden</a:t>
            </a:r>
            <a:r>
              <a:rPr dirty="0"/>
              <a:t>. Ein </a:t>
            </a:r>
            <a:r>
              <a:rPr dirty="0" err="1"/>
              <a:t>großes</a:t>
            </a:r>
            <a:r>
              <a:rPr dirty="0"/>
              <a:t> </a:t>
            </a:r>
            <a:r>
              <a:rPr dirty="0" err="1"/>
              <a:t>Kontextfenster</a:t>
            </a:r>
            <a:r>
              <a:rPr dirty="0"/>
              <a:t> </a:t>
            </a:r>
            <a:r>
              <a:rPr dirty="0" err="1"/>
              <a:t>kann</a:t>
            </a:r>
            <a:r>
              <a:rPr dirty="0"/>
              <a:t> </a:t>
            </a:r>
            <a:r>
              <a:rPr dirty="0" err="1"/>
              <a:t>viel</a:t>
            </a:r>
            <a:r>
              <a:rPr dirty="0"/>
              <a:t> Material </a:t>
            </a:r>
            <a:r>
              <a:rPr dirty="0" err="1"/>
              <a:t>direkt</a:t>
            </a:r>
            <a:r>
              <a:rPr dirty="0"/>
              <a:t> </a:t>
            </a:r>
            <a:r>
              <a:rPr dirty="0" err="1"/>
              <a:t>aufnehmen</a:t>
            </a:r>
            <a:r>
              <a:rPr dirty="0"/>
              <a:t>, </a:t>
            </a:r>
            <a:r>
              <a:rPr dirty="0" err="1"/>
              <a:t>ist</a:t>
            </a:r>
            <a:r>
              <a:rPr dirty="0"/>
              <a:t> </a:t>
            </a:r>
            <a:r>
              <a:rPr dirty="0" err="1"/>
              <a:t>aber</a:t>
            </a:r>
            <a:r>
              <a:rPr dirty="0"/>
              <a:t> </a:t>
            </a:r>
            <a:r>
              <a:rPr dirty="0" err="1"/>
              <a:t>häufig</a:t>
            </a:r>
            <a:r>
              <a:rPr dirty="0"/>
              <a:t> die </a:t>
            </a:r>
            <a:r>
              <a:rPr dirty="0" err="1"/>
              <a:t>teuerste</a:t>
            </a:r>
            <a:r>
              <a:rPr dirty="0"/>
              <a:t> und </a:t>
            </a:r>
            <a:r>
              <a:rPr dirty="0" err="1"/>
              <a:t>unpräziseste</a:t>
            </a:r>
            <a:r>
              <a:rPr dirty="0"/>
              <a:t> Brute-Force-</a:t>
            </a:r>
            <a:r>
              <a:rPr dirty="0" err="1"/>
              <a:t>Variante</a:t>
            </a:r>
            <a:r>
              <a:rPr dirty="0"/>
              <a:t>.</a:t>
            </a:r>
          </a:p>
          <a:p>
            <a:endParaRPr dirty="0"/>
          </a:p>
          <a:p>
            <a:r>
              <a:rPr dirty="0" err="1"/>
              <a:t>Wichtig</a:t>
            </a:r>
            <a:r>
              <a:rPr dirty="0"/>
              <a:t>: Ein Skill </a:t>
            </a:r>
            <a:r>
              <a:rPr dirty="0" err="1"/>
              <a:t>ist</a:t>
            </a:r>
            <a:r>
              <a:rPr dirty="0"/>
              <a:t> nicht </a:t>
            </a:r>
            <a:r>
              <a:rPr dirty="0" err="1"/>
              <a:t>einfach</a:t>
            </a:r>
            <a:r>
              <a:rPr dirty="0"/>
              <a:t> </a:t>
            </a:r>
            <a:r>
              <a:rPr dirty="0" err="1"/>
              <a:t>eine</a:t>
            </a:r>
            <a:r>
              <a:rPr dirty="0"/>
              <a:t> </a:t>
            </a:r>
            <a:r>
              <a:rPr dirty="0" err="1"/>
              <a:t>Wissensdatenbank</a:t>
            </a:r>
            <a:r>
              <a:rPr dirty="0"/>
              <a:t>. Er </a:t>
            </a:r>
            <a:r>
              <a:rPr dirty="0" err="1"/>
              <a:t>beschreibt</a:t>
            </a:r>
            <a:r>
              <a:rPr dirty="0"/>
              <a:t> </a:t>
            </a:r>
            <a:r>
              <a:rPr dirty="0" err="1"/>
              <a:t>vor</a:t>
            </a:r>
            <a:r>
              <a:rPr dirty="0"/>
              <a:t> </a:t>
            </a:r>
            <a:r>
              <a:rPr dirty="0" err="1"/>
              <a:t>allem</a:t>
            </a:r>
            <a:r>
              <a:rPr dirty="0"/>
              <a:t>, </a:t>
            </a:r>
            <a:r>
              <a:rPr dirty="0" err="1"/>
              <a:t>wie</a:t>
            </a:r>
            <a:r>
              <a:rPr dirty="0"/>
              <a:t> </a:t>
            </a:r>
            <a:r>
              <a:rPr dirty="0" err="1"/>
              <a:t>eine</a:t>
            </a:r>
            <a:r>
              <a:rPr dirty="0"/>
              <a:t> Aufgabe </a:t>
            </a:r>
            <a:r>
              <a:rPr dirty="0" err="1"/>
              <a:t>ausgeführt</a:t>
            </a:r>
            <a:r>
              <a:rPr dirty="0"/>
              <a:t> </a:t>
            </a:r>
            <a:r>
              <a:rPr dirty="0" err="1"/>
              <a:t>werden</a:t>
            </a:r>
            <a:r>
              <a:rPr dirty="0"/>
              <a:t> </a:t>
            </a:r>
            <a:r>
              <a:rPr dirty="0" err="1"/>
              <a:t>soll</a:t>
            </a:r>
            <a:r>
              <a:rPr dirty="0"/>
              <a:t>; RAG </a:t>
            </a:r>
            <a:r>
              <a:rPr dirty="0" err="1"/>
              <a:t>liefert</a:t>
            </a:r>
            <a:r>
              <a:rPr dirty="0"/>
              <a:t> </a:t>
            </a:r>
            <a:r>
              <a:rPr dirty="0" err="1"/>
              <a:t>dagegen</a:t>
            </a:r>
            <a:r>
              <a:rPr dirty="0"/>
              <a:t> die </a:t>
            </a:r>
            <a:r>
              <a:rPr dirty="0" err="1"/>
              <a:t>konkreten</a:t>
            </a:r>
            <a:r>
              <a:rPr dirty="0"/>
              <a:t> </a:t>
            </a:r>
            <a:r>
              <a:rPr dirty="0" err="1"/>
              <a:t>Dokumentinhalte</a:t>
            </a:r>
            <a:r>
              <a:rPr dirty="0"/>
              <a:t>.</a:t>
            </a:r>
          </a:p>
          <a:p>
            <a:pPr marL="0" indent="0">
              <a:buNone/>
            </a:pPr>
            <a:endParaRPr lang="de-DE" dirty="0"/>
          </a:p>
          <a:p>
            <a:pPr marL="0" indent="0">
              <a:buNone/>
            </a:pPr>
            <a:endParaRPr lang="de-DE" dirty="0"/>
          </a:p>
          <a:p>
            <a:pPr marL="0" indent="0">
              <a:buNone/>
            </a:pPr>
            <a:r>
              <a:rPr lang="de-DE" dirty="0"/>
              <a:t>Daniel wird uns jetzt den Aufbau eines Full RAGs zeigen:</a:t>
            </a:r>
            <a:endParaRPr lang="de-CH" dirty="0"/>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Ein Vector RAG besteht aus einer vorbereitenden Ingest-Pipeline und einer Laufzeit-Pipeline für Fragen.</a:t>
            </a:r>
          </a:p>
          <a:p>
            <a:endParaRPr/>
          </a:p>
          <a:p>
            <a:r>
              <a:t>Sprechtext: Links läuft der Ingest: Rohdateien werden extrahiert, bereinigt, in Chunks geteilt, in Embeddings übersetzt und in ChromaDB gespeichert. Rechts läuft die Anfrage: Auch die Frage wird mit demselben Embedding-Modell in einen Vektor übersetzt. Die Datenbank sucht ähnliche Chunks; diese werden als relevanter Kontext zusammen mit der Frage an das Chat-LLM gegeben.</a:t>
            </a:r>
          </a:p>
          <a:p>
            <a:endParaRPr/>
          </a:p>
          <a:p>
            <a:r>
              <a:t>Wichtig: Embedding-LLM und Chat-LLM haben unterschiedliche Aufgaben. Das Embedding-Modell erzeugt vergleichbare Vektoren; das Chat-Modell formuliert die Antwort.</a:t>
            </a:r>
          </a:p>
          <a:p>
            <a:endParaRPr/>
          </a:p>
          <a:p>
            <a:r>
              <a:t>Übergang: Auf der nächsten Folie lesen wir denselben Ablauf als klar getrennten Offline- und Online-Prozess.</a:t>
            </a:r>
          </a:p>
          <a:p>
            <a:endParaRPr/>
          </a:p>
          <a:p>
            <a:r>
              <a:t>Kernbotschaft: Die aufwendige Dokumentverarbeitung geschieht offline; bei jeder Frage werden nur Query-Embedding, Suche und Generierung ausgeführt.</a:t>
            </a:r>
          </a:p>
          <a:p>
            <a:endParaRPr/>
          </a:p>
          <a:p>
            <a:r>
              <a:t>Sprechtext: Der obere beziehungsweise linke Pfad wird beim Aufbau oder Aktualisieren des Index ausgeführt. Der Anfragepfad beginnt bei der Query, erzeugt ein Query-Embedding, sucht in der Vector Database und übergibt nur die ausgewählten Chunks an das LLM. Genau diese „Relevant Data“ sind der abgefragte Dokumentkontext, den wir später in der Evaluation vermessen.</a:t>
            </a:r>
          </a:p>
          <a:p>
            <a:endParaRPr/>
          </a:p>
          <a:p>
            <a:r>
              <a:t>Publikumsfrage: An welchen Stellen kann trotz dieser Pipeline noch ein Fehler entstehen?</a:t>
            </a:r>
          </a:p>
          <a:p>
            <a:endParaRPr/>
          </a:p>
          <a:p>
            <a:r>
              <a:t>Mögliche Antworten: schlechte PDF-Extraktion, ungünstige Chunk-Grenzen, unpassende Embeddings, falsche Rangfolge oder eine fehlerhafte Nutzung des richtigen Kontexts durch das Chat-LLM.</a:t>
            </a:r>
          </a:p>
          <a:p>
            <a:endParaRPr/>
          </a:p>
          <a:p>
            <a:r>
              <a:t>Übergang: Diese Fehlerquellen bearbeiten wir im Repository in aufeinander aufbauenden Stufen.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Jede Projektstufe ergänzt genau einen neuen Qualitätshebel – und die Evaluation macht den Effekt sichtbar.</a:t>
            </a:r>
          </a:p>
          <a:p>
            <a:endParaRPr/>
          </a:p>
          <a:p>
            <a:r>
              <a:t>Sprechtext: Stage 1 zeigt den reinen Modellaufruf ohne Retrieval. Stage 2 ergänzt Fixed-Size-Chunking und Vector Search. Stage 3 führt strukturorientiertes Chunking und anschließend Reranking ein. Stage 4 kombiniert semantische und lexikalische Suche mit Artikelauflösung und Graph-Nachbarn. evaluate.py kann die Methoden kumulativ ausführen, sodass nach jeder Verbesserung die bisherigen Varianten als Vergleich erhalten bleiben.</a:t>
            </a:r>
          </a:p>
          <a:p>
            <a:endParaRPr/>
          </a:p>
          <a:p>
            <a:r>
              <a:t>Hinweis für die Demo: Die Collections und Embeddings müssen vor dem jeweiligen Chat- oder Evaluationslauf aufgebaut sein. VPN, API-Key und die konfigurierte .env sind erforderlich.</a:t>
            </a:r>
          </a:p>
          <a:p>
            <a:endParaRPr/>
          </a:p>
          <a:p>
            <a:r>
              <a:t>Übergang: Nun wechseln wir vom Konzept in den praktischen Teil.</a:t>
            </a:r>
          </a:p>
          <a:p>
            <a:endParaRPr/>
          </a:p>
          <a:p>
            <a:r>
              <a:t>[Sources]</a:t>
            </a:r>
          </a:p>
          <a:p>
            <a:r>
              <a:t>- C:/Users/mehlst/Documents/RAG-Workshop/README.md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Im Hands-on bauen und testen wir die Pipeline selbst.</a:t>
            </a:r>
          </a:p>
          <a:p>
            <a:endParaRPr/>
          </a:p>
          <a:p>
            <a:r>
              <a:t>Sprechtext: Bitte öffnet das Repository und prüft, ob die virtuelle Umgebung aktiv ist. VPN und API-Key müssen funktionieren; Zugangsdaten gehören ausschließlich in die lokale .env und nicht ins Git-Repository. Die Gesetzestexte und vorbereiteten Fragen bilden unseren gemeinsamen Testbestand.</a:t>
            </a:r>
          </a:p>
          <a:p>
            <a:endParaRPr/>
          </a:p>
          <a:p>
            <a:r>
              <a:t>Publikumsfrage: Gibt es noch technische Blocker, bevor wir starten?</a:t>
            </a:r>
          </a:p>
          <a:p>
            <a:endParaRPr/>
          </a:p>
          <a:p>
            <a:r>
              <a:t>Übergang: Wir beginnen mit der einfachsten lauffähigen Variante und erhöhen die Qualität schrittweise.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Advanced RAG beginnt dort, wo wir Retrieval nicht mehr als einzelne Vektorsuche betrachten.</a:t>
            </a:r>
          </a:p>
          <a:p>
            <a:endParaRPr/>
          </a:p>
          <a:p>
            <a:r>
              <a:t>Sprechtext: Nach dem Baseline-RAG untersuchen wir drei Hebel: bessere Chunk-Grenzen, eine bessere Rangfolge vorhandener Kandidaten und zusätzliche lexikalische beziehungsweise graphbasierte Signale. Wichtig ist, jede zusätzliche Komplexität gegen dieselben Fragen und Metriken zu prüfen.</a:t>
            </a:r>
          </a:p>
          <a:p>
            <a:endParaRPr/>
          </a:p>
          <a:p>
            <a:r>
              <a:t>Übergang: Der erste und oft unterschätzte Hebel ist das Chunking.</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rPr dirty="0" err="1"/>
              <a:t>Kernbotschaft</a:t>
            </a:r>
            <a:r>
              <a:rPr dirty="0"/>
              <a:t>: Chunking </a:t>
            </a:r>
            <a:r>
              <a:rPr dirty="0" err="1"/>
              <a:t>bestimmt</a:t>
            </a:r>
            <a:r>
              <a:rPr dirty="0"/>
              <a:t>, </a:t>
            </a:r>
            <a:r>
              <a:rPr dirty="0" err="1"/>
              <a:t>welche</a:t>
            </a:r>
            <a:r>
              <a:rPr dirty="0"/>
              <a:t> </a:t>
            </a:r>
            <a:r>
              <a:rPr dirty="0" err="1"/>
              <a:t>Bedeutungseinheiten</a:t>
            </a:r>
            <a:r>
              <a:rPr dirty="0"/>
              <a:t> </a:t>
            </a:r>
            <a:r>
              <a:rPr dirty="0" err="1"/>
              <a:t>später</a:t>
            </a:r>
            <a:r>
              <a:rPr dirty="0"/>
              <a:t> </a:t>
            </a:r>
            <a:r>
              <a:rPr dirty="0" err="1"/>
              <a:t>überhaupt</a:t>
            </a:r>
            <a:r>
              <a:rPr dirty="0"/>
              <a:t> </a:t>
            </a:r>
            <a:r>
              <a:rPr dirty="0" err="1"/>
              <a:t>als</a:t>
            </a:r>
            <a:r>
              <a:rPr dirty="0"/>
              <a:t> Treffer </a:t>
            </a:r>
            <a:r>
              <a:rPr dirty="0" err="1"/>
              <a:t>zurückkommen</a:t>
            </a:r>
            <a:r>
              <a:rPr dirty="0"/>
              <a:t> </a:t>
            </a:r>
            <a:r>
              <a:rPr dirty="0" err="1"/>
              <a:t>können</a:t>
            </a:r>
            <a:r>
              <a:rPr dirty="0"/>
              <a:t>.</a:t>
            </a:r>
          </a:p>
          <a:p>
            <a:endParaRPr dirty="0"/>
          </a:p>
          <a:p>
            <a:r>
              <a:rPr dirty="0" err="1"/>
              <a:t>Sprechtext</a:t>
            </a:r>
            <a:r>
              <a:rPr dirty="0"/>
              <a:t>: Links </a:t>
            </a:r>
            <a:r>
              <a:rPr dirty="0" err="1"/>
              <a:t>sehen</a:t>
            </a:r>
            <a:r>
              <a:rPr dirty="0"/>
              <a:t> </a:t>
            </a:r>
            <a:r>
              <a:rPr dirty="0" err="1"/>
              <a:t>wir</a:t>
            </a:r>
            <a:r>
              <a:rPr dirty="0"/>
              <a:t> Fixed-Size-Chunking </a:t>
            </a:r>
            <a:r>
              <a:rPr dirty="0" err="1"/>
              <a:t>mit</a:t>
            </a:r>
            <a:r>
              <a:rPr dirty="0"/>
              <a:t> </a:t>
            </a:r>
            <a:r>
              <a:rPr dirty="0" err="1"/>
              <a:t>einem</a:t>
            </a:r>
            <a:r>
              <a:rPr dirty="0"/>
              <a:t> </a:t>
            </a:r>
            <a:r>
              <a:rPr dirty="0" err="1"/>
              <a:t>starren</a:t>
            </a:r>
            <a:r>
              <a:rPr dirty="0"/>
              <a:t> Budget von 800 </a:t>
            </a:r>
            <a:r>
              <a:rPr dirty="0" err="1"/>
              <a:t>Zeichen</a:t>
            </a:r>
            <a:r>
              <a:rPr dirty="0"/>
              <a:t>. Die </a:t>
            </a:r>
            <a:r>
              <a:rPr dirty="0" err="1"/>
              <a:t>Grenze</a:t>
            </a:r>
            <a:r>
              <a:rPr dirty="0"/>
              <a:t> </a:t>
            </a:r>
            <a:r>
              <a:rPr dirty="0" err="1"/>
              <a:t>kann</a:t>
            </a:r>
            <a:r>
              <a:rPr dirty="0"/>
              <a:t> mitten in </a:t>
            </a:r>
            <a:r>
              <a:rPr dirty="0" err="1"/>
              <a:t>einem</a:t>
            </a:r>
            <a:r>
              <a:rPr dirty="0"/>
              <a:t> Satz </a:t>
            </a:r>
            <a:r>
              <a:rPr dirty="0" err="1"/>
              <a:t>oder</a:t>
            </a:r>
            <a:r>
              <a:rPr dirty="0"/>
              <a:t> </a:t>
            </a:r>
            <a:r>
              <a:rPr dirty="0" err="1"/>
              <a:t>direkt</a:t>
            </a:r>
            <a:r>
              <a:rPr dirty="0"/>
              <a:t> </a:t>
            </a:r>
            <a:r>
              <a:rPr dirty="0" err="1"/>
              <a:t>vor</a:t>
            </a:r>
            <a:r>
              <a:rPr dirty="0"/>
              <a:t> dem </a:t>
            </a:r>
            <a:r>
              <a:rPr dirty="0" err="1"/>
              <a:t>nächsten</a:t>
            </a:r>
            <a:r>
              <a:rPr dirty="0"/>
              <a:t> Artikel </a:t>
            </a:r>
            <a:r>
              <a:rPr dirty="0" err="1"/>
              <a:t>liegen</a:t>
            </a:r>
            <a:r>
              <a:rPr dirty="0"/>
              <a:t>. </a:t>
            </a:r>
            <a:r>
              <a:rPr dirty="0" err="1"/>
              <a:t>Dadurch</a:t>
            </a:r>
            <a:r>
              <a:rPr dirty="0"/>
              <a:t> </a:t>
            </a:r>
            <a:r>
              <a:rPr dirty="0" err="1"/>
              <a:t>verliert</a:t>
            </a:r>
            <a:r>
              <a:rPr dirty="0"/>
              <a:t> </a:t>
            </a:r>
            <a:r>
              <a:rPr dirty="0" err="1"/>
              <a:t>ein</a:t>
            </a:r>
            <a:r>
              <a:rPr dirty="0"/>
              <a:t> Treffer </a:t>
            </a:r>
            <a:r>
              <a:rPr dirty="0" err="1"/>
              <a:t>Kontext</a:t>
            </a:r>
            <a:r>
              <a:rPr dirty="0"/>
              <a:t> </a:t>
            </a:r>
            <a:r>
              <a:rPr dirty="0" err="1"/>
              <a:t>oder</a:t>
            </a:r>
            <a:r>
              <a:rPr dirty="0"/>
              <a:t> </a:t>
            </a:r>
            <a:r>
              <a:rPr dirty="0" err="1"/>
              <a:t>vermischt</a:t>
            </a:r>
            <a:r>
              <a:rPr dirty="0"/>
              <a:t> </a:t>
            </a:r>
            <a:r>
              <a:rPr dirty="0" err="1"/>
              <a:t>mehrere</a:t>
            </a:r>
            <a:r>
              <a:rPr dirty="0"/>
              <a:t> Artikel. </a:t>
            </a:r>
            <a:r>
              <a:rPr dirty="0" err="1"/>
              <a:t>Rechts</a:t>
            </a:r>
            <a:r>
              <a:rPr dirty="0"/>
              <a:t> </a:t>
            </a:r>
            <a:r>
              <a:rPr dirty="0" err="1"/>
              <a:t>orientiert</a:t>
            </a:r>
            <a:r>
              <a:rPr dirty="0"/>
              <a:t> </a:t>
            </a:r>
            <a:r>
              <a:rPr dirty="0" err="1"/>
              <a:t>sich</a:t>
            </a:r>
            <a:r>
              <a:rPr dirty="0"/>
              <a:t> </a:t>
            </a:r>
            <a:r>
              <a:rPr dirty="0" err="1"/>
              <a:t>unser</a:t>
            </a:r>
            <a:r>
              <a:rPr dirty="0"/>
              <a:t> </a:t>
            </a:r>
            <a:r>
              <a:rPr dirty="0" err="1"/>
              <a:t>verbessertes</a:t>
            </a:r>
            <a:r>
              <a:rPr dirty="0"/>
              <a:t> </a:t>
            </a:r>
            <a:r>
              <a:rPr dirty="0" err="1"/>
              <a:t>Verfahren</a:t>
            </a:r>
            <a:r>
              <a:rPr dirty="0"/>
              <a:t> </a:t>
            </a:r>
            <a:r>
              <a:rPr dirty="0" err="1"/>
              <a:t>primär</a:t>
            </a:r>
            <a:r>
              <a:rPr dirty="0"/>
              <a:t> an Markdown- und </a:t>
            </a:r>
            <a:r>
              <a:rPr dirty="0" err="1"/>
              <a:t>Artikelüberschriften</a:t>
            </a:r>
            <a:r>
              <a:rPr dirty="0"/>
              <a:t>. </a:t>
            </a:r>
            <a:r>
              <a:rPr dirty="0" err="1"/>
              <a:t>Übergroße</a:t>
            </a:r>
            <a:r>
              <a:rPr dirty="0"/>
              <a:t> Artikel </a:t>
            </a:r>
            <a:r>
              <a:rPr dirty="0" err="1"/>
              <a:t>werden</a:t>
            </a:r>
            <a:r>
              <a:rPr dirty="0"/>
              <a:t> </a:t>
            </a:r>
            <a:r>
              <a:rPr dirty="0" err="1"/>
              <a:t>zusätzlich</a:t>
            </a:r>
            <a:r>
              <a:rPr dirty="0"/>
              <a:t> an </a:t>
            </a:r>
            <a:r>
              <a:rPr dirty="0" err="1"/>
              <a:t>Satzgrenzen</a:t>
            </a:r>
            <a:r>
              <a:rPr dirty="0"/>
              <a:t> </a:t>
            </a:r>
            <a:r>
              <a:rPr dirty="0" err="1"/>
              <a:t>geteilt</a:t>
            </a:r>
            <a:r>
              <a:rPr dirty="0"/>
              <a:t>; </a:t>
            </a:r>
            <a:r>
              <a:rPr dirty="0" err="1"/>
              <a:t>kleine</a:t>
            </a:r>
            <a:r>
              <a:rPr dirty="0"/>
              <a:t> </a:t>
            </a:r>
            <a:r>
              <a:rPr dirty="0" err="1"/>
              <a:t>zusammengehörige</a:t>
            </a:r>
            <a:r>
              <a:rPr dirty="0"/>
              <a:t> </a:t>
            </a:r>
            <a:r>
              <a:rPr dirty="0" err="1"/>
              <a:t>Blöcke</a:t>
            </a:r>
            <a:r>
              <a:rPr dirty="0"/>
              <a:t> </a:t>
            </a:r>
            <a:r>
              <a:rPr dirty="0" err="1"/>
              <a:t>werden</a:t>
            </a:r>
            <a:r>
              <a:rPr dirty="0"/>
              <a:t> bis </a:t>
            </a:r>
            <a:r>
              <a:rPr dirty="0" err="1"/>
              <a:t>zum</a:t>
            </a:r>
            <a:r>
              <a:rPr dirty="0"/>
              <a:t> Budget </a:t>
            </a:r>
            <a:r>
              <a:rPr dirty="0" err="1"/>
              <a:t>verbunden</a:t>
            </a:r>
            <a:r>
              <a:rPr dirty="0"/>
              <a:t>.</a:t>
            </a:r>
          </a:p>
          <a:p>
            <a:endParaRPr dirty="0"/>
          </a:p>
          <a:p>
            <a:r>
              <a:rPr dirty="0" err="1"/>
              <a:t>Präzisierung</a:t>
            </a:r>
            <a:r>
              <a:rPr dirty="0"/>
              <a:t>: Unser Budget </a:t>
            </a:r>
            <a:r>
              <a:rPr dirty="0" err="1"/>
              <a:t>beträgt</a:t>
            </a:r>
            <a:r>
              <a:rPr dirty="0"/>
              <a:t> 800 </a:t>
            </a:r>
            <a:r>
              <a:rPr dirty="0" err="1"/>
              <a:t>Zeichen</a:t>
            </a:r>
            <a:r>
              <a:rPr dirty="0"/>
              <a:t>, nicht 800 Tokens. Das </a:t>
            </a:r>
            <a:r>
              <a:rPr dirty="0" err="1"/>
              <a:t>Verfahren</a:t>
            </a:r>
            <a:r>
              <a:rPr dirty="0"/>
              <a:t> </a:t>
            </a:r>
            <a:r>
              <a:rPr dirty="0" err="1"/>
              <a:t>ist</a:t>
            </a:r>
            <a:r>
              <a:rPr dirty="0"/>
              <a:t> </a:t>
            </a:r>
            <a:r>
              <a:rPr dirty="0" err="1"/>
              <a:t>deshalb</a:t>
            </a:r>
            <a:r>
              <a:rPr dirty="0"/>
              <a:t> </a:t>
            </a:r>
            <a:r>
              <a:rPr dirty="0" err="1"/>
              <a:t>besser</a:t>
            </a:r>
            <a:r>
              <a:rPr dirty="0"/>
              <a:t> </a:t>
            </a:r>
            <a:r>
              <a:rPr dirty="0" err="1"/>
              <a:t>als</a:t>
            </a:r>
            <a:r>
              <a:rPr dirty="0"/>
              <a:t> „</a:t>
            </a:r>
            <a:r>
              <a:rPr dirty="0" err="1"/>
              <a:t>strukturorientiertes</a:t>
            </a:r>
            <a:r>
              <a:rPr dirty="0"/>
              <a:t> Chunking“ </a:t>
            </a:r>
            <a:r>
              <a:rPr dirty="0" err="1"/>
              <a:t>beschrieben</a:t>
            </a:r>
            <a:r>
              <a:rPr dirty="0"/>
              <a:t>; es </a:t>
            </a:r>
            <a:r>
              <a:rPr dirty="0" err="1"/>
              <a:t>ist</a:t>
            </a:r>
            <a:r>
              <a:rPr dirty="0"/>
              <a:t> </a:t>
            </a:r>
            <a:r>
              <a:rPr dirty="0" err="1"/>
              <a:t>kein</a:t>
            </a:r>
            <a:r>
              <a:rPr dirty="0"/>
              <a:t> LLM-</a:t>
            </a:r>
            <a:r>
              <a:rPr dirty="0" err="1"/>
              <a:t>basiertes</a:t>
            </a:r>
            <a:r>
              <a:rPr dirty="0"/>
              <a:t> </a:t>
            </a:r>
            <a:r>
              <a:rPr dirty="0" err="1"/>
              <a:t>semantisches</a:t>
            </a:r>
            <a:r>
              <a:rPr dirty="0"/>
              <a:t> Chunking.</a:t>
            </a:r>
          </a:p>
          <a:p>
            <a:endParaRPr dirty="0"/>
          </a:p>
          <a:p>
            <a:r>
              <a:rPr dirty="0" err="1"/>
              <a:t>Zusätzlich</a:t>
            </a:r>
            <a:r>
              <a:rPr dirty="0"/>
              <a:t> </a:t>
            </a:r>
            <a:r>
              <a:rPr dirty="0" err="1"/>
              <a:t>entfernen</a:t>
            </a:r>
            <a:r>
              <a:rPr dirty="0"/>
              <a:t> </a:t>
            </a:r>
            <a:r>
              <a:rPr dirty="0" err="1"/>
              <a:t>wir</a:t>
            </a:r>
            <a:r>
              <a:rPr dirty="0"/>
              <a:t> </a:t>
            </a:r>
            <a:r>
              <a:rPr dirty="0" err="1"/>
              <a:t>typisches</a:t>
            </a:r>
            <a:r>
              <a:rPr dirty="0"/>
              <a:t> PDF-</a:t>
            </a:r>
            <a:r>
              <a:rPr dirty="0" err="1"/>
              <a:t>Rauschen</a:t>
            </a:r>
            <a:r>
              <a:rPr dirty="0"/>
              <a:t> </a:t>
            </a:r>
            <a:r>
              <a:rPr dirty="0" err="1"/>
              <a:t>wie</a:t>
            </a:r>
            <a:r>
              <a:rPr dirty="0"/>
              <a:t> </a:t>
            </a:r>
            <a:r>
              <a:rPr dirty="0" err="1"/>
              <a:t>Seitenmarker</a:t>
            </a:r>
            <a:r>
              <a:rPr dirty="0"/>
              <a:t>, </a:t>
            </a:r>
            <a:r>
              <a:rPr dirty="0" err="1"/>
              <a:t>Inhaltsverzeichnisse</a:t>
            </a:r>
            <a:r>
              <a:rPr dirty="0"/>
              <a:t> und </a:t>
            </a:r>
            <a:r>
              <a:rPr dirty="0" err="1"/>
              <a:t>isolierte</a:t>
            </a:r>
            <a:r>
              <a:rPr dirty="0"/>
              <a:t> </a:t>
            </a:r>
            <a:r>
              <a:rPr dirty="0" err="1"/>
              <a:t>Fundstellenblöcke</a:t>
            </a:r>
            <a:r>
              <a:rPr dirty="0"/>
              <a:t>. </a:t>
            </a:r>
            <a:r>
              <a:rPr dirty="0" err="1"/>
              <a:t>Quellen</a:t>
            </a:r>
            <a:r>
              <a:rPr dirty="0"/>
              <a:t>, die </a:t>
            </a:r>
            <a:r>
              <a:rPr dirty="0" err="1"/>
              <a:t>zum</a:t>
            </a:r>
            <a:r>
              <a:rPr dirty="0"/>
              <a:t> </a:t>
            </a:r>
            <a:r>
              <a:rPr dirty="0" err="1"/>
              <a:t>Gesetzesinhalt</a:t>
            </a:r>
            <a:r>
              <a:rPr dirty="0"/>
              <a:t> </a:t>
            </a:r>
            <a:r>
              <a:rPr dirty="0" err="1"/>
              <a:t>gehören</a:t>
            </a:r>
            <a:r>
              <a:rPr dirty="0"/>
              <a:t>, </a:t>
            </a:r>
            <a:r>
              <a:rPr dirty="0" err="1"/>
              <a:t>werden</a:t>
            </a:r>
            <a:r>
              <a:rPr dirty="0"/>
              <a:t> nicht </a:t>
            </a:r>
            <a:r>
              <a:rPr dirty="0" err="1"/>
              <a:t>pauschal</a:t>
            </a:r>
            <a:r>
              <a:rPr dirty="0"/>
              <a:t> </a:t>
            </a:r>
            <a:r>
              <a:rPr dirty="0" err="1"/>
              <a:t>gelöscht</a:t>
            </a:r>
            <a:r>
              <a:rPr dirty="0"/>
              <a:t>.</a:t>
            </a:r>
          </a:p>
          <a:p>
            <a:endParaRPr dirty="0"/>
          </a:p>
          <a:p>
            <a:pPr marL="0" indent="0">
              <a:buNone/>
            </a:pPr>
            <a:endParaRPr dirty="0"/>
          </a:p>
          <a:p>
            <a:r>
              <a:rPr dirty="0" err="1"/>
              <a:t>Übergang</a:t>
            </a:r>
            <a:r>
              <a:rPr dirty="0"/>
              <a:t>: Gute Chunks </a:t>
            </a:r>
            <a:r>
              <a:rPr dirty="0" err="1"/>
              <a:t>erzeugen</a:t>
            </a:r>
            <a:r>
              <a:rPr dirty="0"/>
              <a:t> </a:t>
            </a:r>
            <a:r>
              <a:rPr dirty="0" err="1"/>
              <a:t>bessere</a:t>
            </a:r>
            <a:r>
              <a:rPr dirty="0"/>
              <a:t> </a:t>
            </a:r>
            <a:r>
              <a:rPr dirty="0" err="1"/>
              <a:t>Kandidaten</a:t>
            </a:r>
            <a:r>
              <a:rPr dirty="0"/>
              <a:t>. Als </a:t>
            </a:r>
            <a:r>
              <a:rPr dirty="0" err="1"/>
              <a:t>Nächstes</a:t>
            </a:r>
            <a:r>
              <a:rPr dirty="0"/>
              <a:t> </a:t>
            </a:r>
            <a:r>
              <a:rPr dirty="0" err="1"/>
              <a:t>verbessern</a:t>
            </a:r>
            <a:r>
              <a:rPr dirty="0"/>
              <a:t> </a:t>
            </a:r>
            <a:r>
              <a:rPr dirty="0" err="1"/>
              <a:t>wir</a:t>
            </a:r>
            <a:r>
              <a:rPr dirty="0"/>
              <a:t> </a:t>
            </a:r>
            <a:r>
              <a:rPr dirty="0" err="1"/>
              <a:t>deren</a:t>
            </a:r>
            <a:r>
              <a:rPr dirty="0"/>
              <a:t> </a:t>
            </a:r>
            <a:r>
              <a:rPr dirty="0" err="1"/>
              <a:t>Reihenfolge</a:t>
            </a:r>
            <a:r>
              <a:rPr dirty="0"/>
              <a:t>.</a:t>
            </a:r>
          </a:p>
          <a:p>
            <a:endParaRPr dirty="0"/>
          </a:p>
          <a:p>
            <a:r>
              <a:rPr dirty="0"/>
              <a:t>[Sources]</a:t>
            </a:r>
          </a:p>
          <a:p>
            <a:r>
              <a:rPr dirty="0"/>
              <a:t>- C:/Users/mehlst/Documents/RAG-Workshop/rag-3a-ingest.py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rPr dirty="0" err="1"/>
              <a:t>Kernbotschaft</a:t>
            </a:r>
            <a:r>
              <a:rPr dirty="0"/>
              <a:t>: Reranking </a:t>
            </a:r>
            <a:r>
              <a:rPr dirty="0" err="1"/>
              <a:t>sortiert</a:t>
            </a:r>
            <a:r>
              <a:rPr dirty="0"/>
              <a:t> </a:t>
            </a:r>
            <a:r>
              <a:rPr dirty="0" err="1"/>
              <a:t>gefundene</a:t>
            </a:r>
            <a:r>
              <a:rPr dirty="0"/>
              <a:t> </a:t>
            </a:r>
            <a:r>
              <a:rPr dirty="0" err="1"/>
              <a:t>Kandidaten</a:t>
            </a:r>
            <a:r>
              <a:rPr dirty="0"/>
              <a:t> neu; es </a:t>
            </a:r>
            <a:r>
              <a:rPr dirty="0" err="1"/>
              <a:t>kann</a:t>
            </a:r>
            <a:r>
              <a:rPr dirty="0"/>
              <a:t> </a:t>
            </a:r>
            <a:r>
              <a:rPr dirty="0" err="1"/>
              <a:t>keinen</a:t>
            </a:r>
            <a:r>
              <a:rPr dirty="0"/>
              <a:t> </a:t>
            </a:r>
            <a:r>
              <a:rPr dirty="0" err="1"/>
              <a:t>fehlenden</a:t>
            </a:r>
            <a:r>
              <a:rPr dirty="0"/>
              <a:t> Artikel </a:t>
            </a:r>
            <a:r>
              <a:rPr dirty="0" err="1"/>
              <a:t>herbeizaubern</a:t>
            </a:r>
            <a:r>
              <a:rPr dirty="0"/>
              <a:t>.</a:t>
            </a:r>
          </a:p>
          <a:p>
            <a:endParaRPr dirty="0"/>
          </a:p>
          <a:p>
            <a:r>
              <a:rPr dirty="0" err="1"/>
              <a:t>Sprechtext</a:t>
            </a:r>
            <a:r>
              <a:rPr dirty="0"/>
              <a:t>: Die </a:t>
            </a:r>
            <a:r>
              <a:rPr dirty="0" err="1"/>
              <a:t>Vektorsuche</a:t>
            </a:r>
            <a:r>
              <a:rPr dirty="0"/>
              <a:t> holt </a:t>
            </a:r>
            <a:r>
              <a:rPr dirty="0" err="1"/>
              <a:t>zunächst</a:t>
            </a:r>
            <a:r>
              <a:rPr dirty="0"/>
              <a:t> </a:t>
            </a:r>
            <a:r>
              <a:rPr dirty="0" err="1"/>
              <a:t>eine</a:t>
            </a:r>
            <a:r>
              <a:rPr dirty="0"/>
              <a:t> </a:t>
            </a:r>
            <a:r>
              <a:rPr dirty="0" err="1"/>
              <a:t>größere</a:t>
            </a:r>
            <a:r>
              <a:rPr dirty="0"/>
              <a:t> </a:t>
            </a:r>
            <a:r>
              <a:rPr dirty="0" err="1"/>
              <a:t>Kandidatenmenge</a:t>
            </a:r>
            <a:r>
              <a:rPr dirty="0"/>
              <a:t>. Unser Cross-Encoder BAAI/bge-reranker-v2-m3 </a:t>
            </a:r>
            <a:r>
              <a:rPr dirty="0" err="1"/>
              <a:t>liest</a:t>
            </a:r>
            <a:r>
              <a:rPr dirty="0"/>
              <a:t> Frage und Chunk </a:t>
            </a:r>
            <a:r>
              <a:rPr dirty="0" err="1"/>
              <a:t>gemeinsam</a:t>
            </a:r>
            <a:r>
              <a:rPr dirty="0"/>
              <a:t> und </a:t>
            </a:r>
            <a:r>
              <a:rPr dirty="0" err="1"/>
              <a:t>bewertet</a:t>
            </a:r>
            <a:r>
              <a:rPr dirty="0"/>
              <a:t> </a:t>
            </a:r>
            <a:r>
              <a:rPr dirty="0" err="1"/>
              <a:t>ihre</a:t>
            </a:r>
            <a:r>
              <a:rPr dirty="0"/>
              <a:t> </a:t>
            </a:r>
            <a:r>
              <a:rPr dirty="0" err="1"/>
              <a:t>Relevanz</a:t>
            </a:r>
            <a:r>
              <a:rPr dirty="0"/>
              <a:t> </a:t>
            </a:r>
            <a:r>
              <a:rPr dirty="0" err="1"/>
              <a:t>genauer</a:t>
            </a:r>
            <a:r>
              <a:rPr dirty="0"/>
              <a:t> </a:t>
            </a:r>
            <a:r>
              <a:rPr dirty="0" err="1"/>
              <a:t>als</a:t>
            </a:r>
            <a:r>
              <a:rPr dirty="0"/>
              <a:t> der </a:t>
            </a:r>
            <a:r>
              <a:rPr dirty="0" err="1"/>
              <a:t>reine</a:t>
            </a:r>
            <a:r>
              <a:rPr dirty="0"/>
              <a:t> </a:t>
            </a:r>
            <a:r>
              <a:rPr dirty="0" err="1"/>
              <a:t>Vektorabstand</a:t>
            </a:r>
            <a:r>
              <a:rPr dirty="0"/>
              <a:t>. Für die Evaluation </a:t>
            </a:r>
            <a:r>
              <a:rPr dirty="0" err="1"/>
              <a:t>bleiben</a:t>
            </a:r>
            <a:r>
              <a:rPr dirty="0"/>
              <a:t> </a:t>
            </a:r>
            <a:r>
              <a:rPr dirty="0" err="1"/>
              <a:t>nach</a:t>
            </a:r>
            <a:r>
              <a:rPr dirty="0"/>
              <a:t> dem Reranking </a:t>
            </a:r>
            <a:r>
              <a:rPr dirty="0" err="1"/>
              <a:t>sechs</a:t>
            </a:r>
            <a:r>
              <a:rPr dirty="0"/>
              <a:t> Chunks </a:t>
            </a:r>
            <a:r>
              <a:rPr dirty="0" err="1"/>
              <a:t>im</a:t>
            </a:r>
            <a:r>
              <a:rPr dirty="0"/>
              <a:t> </a:t>
            </a:r>
            <a:r>
              <a:rPr dirty="0" err="1"/>
              <a:t>gemeinsamen</a:t>
            </a:r>
            <a:r>
              <a:rPr dirty="0"/>
              <a:t> </a:t>
            </a:r>
            <a:r>
              <a:rPr dirty="0" err="1"/>
              <a:t>Kontextbudget</a:t>
            </a:r>
            <a:r>
              <a:rPr dirty="0"/>
              <a:t>; der </a:t>
            </a:r>
            <a:r>
              <a:rPr dirty="0" err="1"/>
              <a:t>interaktive</a:t>
            </a:r>
            <a:r>
              <a:rPr dirty="0"/>
              <a:t> Chat </a:t>
            </a:r>
            <a:r>
              <a:rPr dirty="0" err="1"/>
              <a:t>verwendet</a:t>
            </a:r>
            <a:r>
              <a:rPr dirty="0"/>
              <a:t> </a:t>
            </a:r>
            <a:r>
              <a:rPr dirty="0" err="1"/>
              <a:t>standardmäßig</a:t>
            </a:r>
            <a:r>
              <a:rPr dirty="0"/>
              <a:t> vier.</a:t>
            </a:r>
          </a:p>
          <a:p>
            <a:endParaRPr dirty="0"/>
          </a:p>
          <a:p>
            <a:r>
              <a:rPr dirty="0"/>
              <a:t>Der </a:t>
            </a:r>
            <a:r>
              <a:rPr dirty="0" err="1"/>
              <a:t>wichtigste</a:t>
            </a:r>
            <a:r>
              <a:rPr dirty="0"/>
              <a:t> </a:t>
            </a:r>
            <a:r>
              <a:rPr dirty="0" err="1"/>
              <a:t>Unterschied</a:t>
            </a:r>
            <a:r>
              <a:rPr dirty="0"/>
              <a:t>: Ein Bi-Encoder </a:t>
            </a:r>
            <a:r>
              <a:rPr dirty="0" err="1"/>
              <a:t>berechnet</a:t>
            </a:r>
            <a:r>
              <a:rPr dirty="0"/>
              <a:t> </a:t>
            </a:r>
            <a:r>
              <a:rPr dirty="0" err="1"/>
              <a:t>Dokument</a:t>
            </a:r>
            <a:r>
              <a:rPr dirty="0"/>
              <a:t>- und Query-</a:t>
            </a:r>
            <a:r>
              <a:rPr dirty="0" err="1"/>
              <a:t>Vektoren</a:t>
            </a:r>
            <a:r>
              <a:rPr dirty="0"/>
              <a:t> </a:t>
            </a:r>
            <a:r>
              <a:rPr dirty="0" err="1"/>
              <a:t>getrennt</a:t>
            </a:r>
            <a:r>
              <a:rPr dirty="0"/>
              <a:t> und </a:t>
            </a:r>
            <a:r>
              <a:rPr dirty="0" err="1"/>
              <a:t>ist</a:t>
            </a:r>
            <a:r>
              <a:rPr dirty="0"/>
              <a:t> schnell. Ein Cross-Encoder </a:t>
            </a:r>
            <a:r>
              <a:rPr dirty="0" err="1"/>
              <a:t>betrachtet</a:t>
            </a:r>
            <a:r>
              <a:rPr dirty="0"/>
              <a:t> </a:t>
            </a:r>
            <a:r>
              <a:rPr dirty="0" err="1"/>
              <a:t>beide</a:t>
            </a:r>
            <a:r>
              <a:rPr dirty="0"/>
              <a:t> Texte </a:t>
            </a:r>
            <a:r>
              <a:rPr dirty="0" err="1"/>
              <a:t>gemeinsam</a:t>
            </a:r>
            <a:r>
              <a:rPr dirty="0"/>
              <a:t> und </a:t>
            </a:r>
            <a:r>
              <a:rPr dirty="0" err="1"/>
              <a:t>ist</a:t>
            </a:r>
            <a:r>
              <a:rPr dirty="0"/>
              <a:t> </a:t>
            </a:r>
            <a:r>
              <a:rPr dirty="0" err="1"/>
              <a:t>präziser</a:t>
            </a:r>
            <a:r>
              <a:rPr dirty="0"/>
              <a:t>, </a:t>
            </a:r>
            <a:r>
              <a:rPr dirty="0" err="1"/>
              <a:t>aber</a:t>
            </a:r>
            <a:r>
              <a:rPr dirty="0"/>
              <a:t> </a:t>
            </a:r>
            <a:r>
              <a:rPr dirty="0" err="1"/>
              <a:t>langsamer</a:t>
            </a:r>
            <a:r>
              <a:rPr dirty="0"/>
              <a:t>. </a:t>
            </a:r>
            <a:r>
              <a:rPr dirty="0" err="1"/>
              <a:t>Deshalb</a:t>
            </a:r>
            <a:r>
              <a:rPr dirty="0"/>
              <a:t> </a:t>
            </a:r>
            <a:r>
              <a:rPr dirty="0" err="1"/>
              <a:t>wird</a:t>
            </a:r>
            <a:r>
              <a:rPr dirty="0"/>
              <a:t> er erst auf </a:t>
            </a:r>
            <a:r>
              <a:rPr dirty="0" err="1"/>
              <a:t>einer</a:t>
            </a:r>
            <a:r>
              <a:rPr dirty="0"/>
              <a:t> </a:t>
            </a:r>
            <a:r>
              <a:rPr dirty="0" err="1"/>
              <a:t>kleinen</a:t>
            </a:r>
            <a:r>
              <a:rPr dirty="0"/>
              <a:t> </a:t>
            </a:r>
            <a:r>
              <a:rPr dirty="0" err="1"/>
              <a:t>Kandidatenliste</a:t>
            </a:r>
            <a:r>
              <a:rPr dirty="0"/>
              <a:t> </a:t>
            </a:r>
            <a:r>
              <a:rPr dirty="0" err="1"/>
              <a:t>eingesetzt</a:t>
            </a:r>
            <a:r>
              <a:rPr dirty="0"/>
              <a:t>.</a:t>
            </a:r>
          </a:p>
          <a:p>
            <a:endParaRPr dirty="0"/>
          </a:p>
          <a:p>
            <a:r>
              <a:rPr dirty="0" err="1"/>
              <a:t>Publikumsfrage</a:t>
            </a:r>
            <a:r>
              <a:rPr dirty="0"/>
              <a:t>: Was </a:t>
            </a:r>
            <a:r>
              <a:rPr dirty="0" err="1"/>
              <a:t>passiert</a:t>
            </a:r>
            <a:r>
              <a:rPr dirty="0"/>
              <a:t>, </a:t>
            </a:r>
            <a:r>
              <a:rPr dirty="0" err="1"/>
              <a:t>wenn</a:t>
            </a:r>
            <a:r>
              <a:rPr dirty="0"/>
              <a:t> Art</a:t>
            </a:r>
            <a:r>
              <a:rPr lang="de-DE" dirty="0"/>
              <a:t> 335 </a:t>
            </a:r>
            <a:r>
              <a:rPr dirty="0"/>
              <a:t>in den </a:t>
            </a:r>
            <a:r>
              <a:rPr dirty="0" err="1"/>
              <a:t>ersten</a:t>
            </a:r>
            <a:r>
              <a:rPr dirty="0"/>
              <a:t> </a:t>
            </a:r>
            <a:r>
              <a:rPr dirty="0" err="1"/>
              <a:t>Kandidaten</a:t>
            </a:r>
            <a:r>
              <a:rPr dirty="0"/>
              <a:t> </a:t>
            </a:r>
            <a:r>
              <a:rPr dirty="0" err="1"/>
              <a:t>überhaupt</a:t>
            </a:r>
            <a:r>
              <a:rPr dirty="0"/>
              <a:t> nicht </a:t>
            </a:r>
            <a:r>
              <a:rPr dirty="0" err="1"/>
              <a:t>enthalten</a:t>
            </a:r>
            <a:r>
              <a:rPr dirty="0"/>
              <a:t> </a:t>
            </a:r>
            <a:r>
              <a:rPr dirty="0" err="1"/>
              <a:t>ist</a:t>
            </a:r>
            <a:r>
              <a:rPr dirty="0"/>
              <a:t>?</a:t>
            </a:r>
          </a:p>
          <a:p>
            <a:endParaRPr dirty="0"/>
          </a:p>
          <a:p>
            <a:r>
              <a:rPr dirty="0" err="1"/>
              <a:t>Erwartete</a:t>
            </a:r>
            <a:r>
              <a:rPr dirty="0"/>
              <a:t> </a:t>
            </a:r>
            <a:r>
              <a:rPr dirty="0" err="1"/>
              <a:t>Antwort</a:t>
            </a:r>
            <a:r>
              <a:rPr dirty="0"/>
              <a:t>: Der </a:t>
            </a:r>
            <a:r>
              <a:rPr dirty="0" err="1"/>
              <a:t>Reranker</a:t>
            </a:r>
            <a:r>
              <a:rPr dirty="0"/>
              <a:t> </a:t>
            </a:r>
            <a:r>
              <a:rPr dirty="0" err="1"/>
              <a:t>kann</a:t>
            </a:r>
            <a:r>
              <a:rPr dirty="0"/>
              <a:t> </a:t>
            </a:r>
            <a:r>
              <a:rPr dirty="0" err="1"/>
              <a:t>ihn</a:t>
            </a:r>
            <a:r>
              <a:rPr dirty="0"/>
              <a:t> nicht </a:t>
            </a:r>
            <a:r>
              <a:rPr dirty="0" err="1"/>
              <a:t>auswählen</a:t>
            </a:r>
            <a:r>
              <a:rPr dirty="0"/>
              <a:t>; </a:t>
            </a:r>
            <a:r>
              <a:rPr dirty="0" err="1"/>
              <a:t>dafür</a:t>
            </a:r>
            <a:r>
              <a:rPr dirty="0"/>
              <a:t> </a:t>
            </a:r>
            <a:r>
              <a:rPr dirty="0" err="1"/>
              <a:t>brauchen</a:t>
            </a:r>
            <a:r>
              <a:rPr dirty="0"/>
              <a:t> </a:t>
            </a:r>
            <a:r>
              <a:rPr dirty="0" err="1"/>
              <a:t>wir</a:t>
            </a:r>
            <a:r>
              <a:rPr dirty="0"/>
              <a:t> </a:t>
            </a:r>
            <a:r>
              <a:rPr dirty="0" err="1"/>
              <a:t>besseren</a:t>
            </a:r>
            <a:r>
              <a:rPr dirty="0"/>
              <a:t> Recall </a:t>
            </a:r>
            <a:r>
              <a:rPr dirty="0" err="1"/>
              <a:t>im</a:t>
            </a:r>
            <a:r>
              <a:rPr dirty="0"/>
              <a:t> </a:t>
            </a:r>
            <a:r>
              <a:rPr dirty="0" err="1"/>
              <a:t>vorgelagerten</a:t>
            </a:r>
            <a:r>
              <a:rPr dirty="0"/>
              <a:t> Retrieval.</a:t>
            </a:r>
          </a:p>
          <a:p>
            <a:endParaRPr dirty="0"/>
          </a:p>
          <a:p>
            <a:r>
              <a:rPr dirty="0" err="1"/>
              <a:t>Übergang</a:t>
            </a:r>
            <a:r>
              <a:rPr dirty="0"/>
              <a:t>: </a:t>
            </a:r>
            <a:r>
              <a:rPr dirty="0" err="1"/>
              <a:t>Genau</a:t>
            </a:r>
            <a:r>
              <a:rPr dirty="0"/>
              <a:t> </a:t>
            </a:r>
            <a:r>
              <a:rPr dirty="0" err="1"/>
              <a:t>dort</a:t>
            </a:r>
            <a:r>
              <a:rPr dirty="0"/>
              <a:t> </a:t>
            </a:r>
            <a:r>
              <a:rPr dirty="0" err="1"/>
              <a:t>setzt</a:t>
            </a:r>
            <a:r>
              <a:rPr dirty="0"/>
              <a:t> die </a:t>
            </a:r>
            <a:r>
              <a:rPr dirty="0" err="1"/>
              <a:t>hybride</a:t>
            </a:r>
            <a:r>
              <a:rPr dirty="0"/>
              <a:t> und </a:t>
            </a:r>
            <a:r>
              <a:rPr dirty="0" err="1"/>
              <a:t>graphbasierte</a:t>
            </a:r>
            <a:r>
              <a:rPr dirty="0"/>
              <a:t> </a:t>
            </a:r>
            <a:r>
              <a:rPr dirty="0" err="1"/>
              <a:t>Suche</a:t>
            </a:r>
            <a:r>
              <a:rPr dirty="0"/>
              <a:t> an.</a:t>
            </a:r>
          </a:p>
          <a:p>
            <a:endParaRPr dirty="0"/>
          </a:p>
          <a:p>
            <a:r>
              <a:rPr dirty="0"/>
              <a:t>[Sources]</a:t>
            </a:r>
          </a:p>
          <a:p>
            <a:r>
              <a:rPr dirty="0"/>
              <a:t>- C:/Users/mehlst/Documents/RAG-Workshop/rag-3c-chat-rerank.py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rPr dirty="0" err="1"/>
              <a:t>Kernbotschaft</a:t>
            </a:r>
            <a:r>
              <a:rPr dirty="0"/>
              <a:t>: </a:t>
            </a:r>
            <a:r>
              <a:rPr dirty="0" err="1"/>
              <a:t>GraphRAG</a:t>
            </a:r>
            <a:r>
              <a:rPr dirty="0"/>
              <a:t> </a:t>
            </a:r>
            <a:r>
              <a:rPr dirty="0" err="1"/>
              <a:t>kombiniert</a:t>
            </a:r>
            <a:r>
              <a:rPr dirty="0"/>
              <a:t> </a:t>
            </a:r>
            <a:r>
              <a:rPr dirty="0" err="1"/>
              <a:t>mehrere</a:t>
            </a:r>
            <a:r>
              <a:rPr dirty="0"/>
              <a:t> </a:t>
            </a:r>
            <a:r>
              <a:rPr dirty="0" err="1"/>
              <a:t>Suchsignale</a:t>
            </a:r>
            <a:r>
              <a:rPr dirty="0"/>
              <a:t>, </a:t>
            </a:r>
            <a:r>
              <a:rPr dirty="0" err="1"/>
              <a:t>damit</a:t>
            </a:r>
            <a:r>
              <a:rPr dirty="0"/>
              <a:t> </a:t>
            </a:r>
            <a:r>
              <a:rPr dirty="0" err="1"/>
              <a:t>explizite</a:t>
            </a:r>
            <a:r>
              <a:rPr dirty="0"/>
              <a:t> </a:t>
            </a:r>
            <a:r>
              <a:rPr dirty="0" err="1"/>
              <a:t>Artikelangaben</a:t>
            </a:r>
            <a:r>
              <a:rPr dirty="0"/>
              <a:t> und </a:t>
            </a:r>
            <a:r>
              <a:rPr dirty="0" err="1"/>
              <a:t>strukturelle</a:t>
            </a:r>
            <a:r>
              <a:rPr dirty="0"/>
              <a:t> </a:t>
            </a:r>
            <a:r>
              <a:rPr dirty="0" err="1"/>
              <a:t>Beziehungen</a:t>
            </a:r>
            <a:r>
              <a:rPr dirty="0"/>
              <a:t> nicht von </a:t>
            </a:r>
            <a:r>
              <a:rPr dirty="0" err="1"/>
              <a:t>semantischer</a:t>
            </a:r>
            <a:r>
              <a:rPr dirty="0"/>
              <a:t> </a:t>
            </a:r>
            <a:r>
              <a:rPr dirty="0" err="1"/>
              <a:t>Ähnlichkeit</a:t>
            </a:r>
            <a:r>
              <a:rPr dirty="0"/>
              <a:t> </a:t>
            </a:r>
            <a:r>
              <a:rPr dirty="0" err="1"/>
              <a:t>verdrängt</a:t>
            </a:r>
            <a:r>
              <a:rPr dirty="0"/>
              <a:t> </a:t>
            </a:r>
            <a:r>
              <a:rPr dirty="0" err="1"/>
              <a:t>werden</a:t>
            </a:r>
            <a:r>
              <a:rPr dirty="0"/>
              <a:t>.</a:t>
            </a:r>
          </a:p>
          <a:p>
            <a:endParaRPr dirty="0"/>
          </a:p>
          <a:p>
            <a:r>
              <a:rPr dirty="0" err="1"/>
              <a:t>Sprechtext</a:t>
            </a:r>
            <a:r>
              <a:rPr dirty="0"/>
              <a:t>: </a:t>
            </a:r>
            <a:r>
              <a:rPr dirty="0" err="1"/>
              <a:t>Zuerst</a:t>
            </a:r>
            <a:r>
              <a:rPr dirty="0"/>
              <a:t> </a:t>
            </a:r>
            <a:r>
              <a:rPr dirty="0" err="1"/>
              <a:t>holen</a:t>
            </a:r>
            <a:r>
              <a:rPr dirty="0"/>
              <a:t> </a:t>
            </a:r>
            <a:r>
              <a:rPr dirty="0" err="1"/>
              <a:t>wir</a:t>
            </a:r>
            <a:r>
              <a:rPr dirty="0"/>
              <a:t> </a:t>
            </a:r>
            <a:r>
              <a:rPr dirty="0" err="1"/>
              <a:t>semantische</a:t>
            </a:r>
            <a:r>
              <a:rPr dirty="0"/>
              <a:t> Vector-Treffer und </a:t>
            </a:r>
            <a:r>
              <a:rPr dirty="0" err="1"/>
              <a:t>lexikalische</a:t>
            </a:r>
            <a:r>
              <a:rPr dirty="0"/>
              <a:t> </a:t>
            </a:r>
            <a:r>
              <a:rPr dirty="0" err="1"/>
              <a:t>beziehungsweise</a:t>
            </a:r>
            <a:r>
              <a:rPr dirty="0"/>
              <a:t> BM25-Kandidaten. Reciprocal Rank Fusion </a:t>
            </a:r>
            <a:r>
              <a:rPr dirty="0" err="1"/>
              <a:t>führt</a:t>
            </a:r>
            <a:r>
              <a:rPr dirty="0"/>
              <a:t> </a:t>
            </a:r>
            <a:r>
              <a:rPr dirty="0" err="1"/>
              <a:t>beide</a:t>
            </a:r>
            <a:r>
              <a:rPr dirty="0"/>
              <a:t> </a:t>
            </a:r>
            <a:r>
              <a:rPr dirty="0" err="1"/>
              <a:t>Ranglisten</a:t>
            </a:r>
            <a:r>
              <a:rPr dirty="0"/>
              <a:t> robust </a:t>
            </a:r>
            <a:r>
              <a:rPr dirty="0" err="1"/>
              <a:t>zusammen</a:t>
            </a:r>
            <a:r>
              <a:rPr dirty="0"/>
              <a:t>, </a:t>
            </a:r>
            <a:r>
              <a:rPr dirty="0" err="1"/>
              <a:t>ohne</a:t>
            </a:r>
            <a:r>
              <a:rPr dirty="0"/>
              <a:t> die </a:t>
            </a:r>
            <a:r>
              <a:rPr dirty="0" err="1"/>
              <a:t>Rohscores</a:t>
            </a:r>
            <a:r>
              <a:rPr dirty="0"/>
              <a:t> </a:t>
            </a:r>
            <a:r>
              <a:rPr dirty="0" err="1"/>
              <a:t>direkt</a:t>
            </a:r>
            <a:r>
              <a:rPr dirty="0"/>
              <a:t> </a:t>
            </a:r>
            <a:r>
              <a:rPr dirty="0" err="1"/>
              <a:t>vergleichbar</a:t>
            </a:r>
            <a:r>
              <a:rPr dirty="0"/>
              <a:t> </a:t>
            </a:r>
            <a:r>
              <a:rPr dirty="0" err="1"/>
              <a:t>machen</a:t>
            </a:r>
            <a:r>
              <a:rPr dirty="0"/>
              <a:t> </a:t>
            </a:r>
            <a:r>
              <a:rPr dirty="0" err="1"/>
              <a:t>zu</a:t>
            </a:r>
            <a:r>
              <a:rPr dirty="0"/>
              <a:t> </a:t>
            </a:r>
            <a:r>
              <a:rPr dirty="0" err="1"/>
              <a:t>müssen</a:t>
            </a:r>
            <a:r>
              <a:rPr dirty="0"/>
              <a:t>. </a:t>
            </a:r>
            <a:r>
              <a:rPr dirty="0" err="1"/>
              <a:t>Explizite</a:t>
            </a:r>
            <a:r>
              <a:rPr dirty="0"/>
              <a:t> </a:t>
            </a:r>
            <a:r>
              <a:rPr dirty="0" err="1"/>
              <a:t>Referenzen</a:t>
            </a:r>
            <a:r>
              <a:rPr dirty="0"/>
              <a:t> </a:t>
            </a:r>
            <a:r>
              <a:rPr dirty="0" err="1"/>
              <a:t>wie</a:t>
            </a:r>
            <a:r>
              <a:rPr dirty="0"/>
              <a:t> „Art. 1 OR“ </a:t>
            </a:r>
            <a:r>
              <a:rPr dirty="0" err="1"/>
              <a:t>können</a:t>
            </a:r>
            <a:r>
              <a:rPr dirty="0"/>
              <a:t> </a:t>
            </a:r>
            <a:r>
              <a:rPr dirty="0" err="1"/>
              <a:t>zusätzlich</a:t>
            </a:r>
            <a:r>
              <a:rPr dirty="0"/>
              <a:t> auf </a:t>
            </a:r>
            <a:r>
              <a:rPr dirty="0" err="1"/>
              <a:t>eine</a:t>
            </a:r>
            <a:r>
              <a:rPr dirty="0"/>
              <a:t> </a:t>
            </a:r>
            <a:r>
              <a:rPr dirty="0" err="1"/>
              <a:t>konkrete</a:t>
            </a:r>
            <a:r>
              <a:rPr dirty="0"/>
              <a:t> </a:t>
            </a:r>
            <a:r>
              <a:rPr dirty="0" err="1"/>
              <a:t>Artikeldefinition</a:t>
            </a:r>
            <a:r>
              <a:rPr dirty="0"/>
              <a:t> </a:t>
            </a:r>
            <a:r>
              <a:rPr dirty="0" err="1"/>
              <a:t>aufgelöst</a:t>
            </a:r>
            <a:r>
              <a:rPr dirty="0"/>
              <a:t> </a:t>
            </a:r>
            <a:r>
              <a:rPr dirty="0" err="1"/>
              <a:t>werden</a:t>
            </a:r>
            <a:r>
              <a:rPr dirty="0"/>
              <a:t>. </a:t>
            </a:r>
            <a:r>
              <a:rPr dirty="0" err="1"/>
              <a:t>Danach</a:t>
            </a:r>
            <a:r>
              <a:rPr dirty="0"/>
              <a:t> </a:t>
            </a:r>
            <a:r>
              <a:rPr dirty="0" err="1"/>
              <a:t>ergänzen</a:t>
            </a:r>
            <a:r>
              <a:rPr dirty="0"/>
              <a:t> </a:t>
            </a:r>
            <a:r>
              <a:rPr dirty="0" err="1"/>
              <a:t>wir</a:t>
            </a:r>
            <a:r>
              <a:rPr dirty="0"/>
              <a:t> </a:t>
            </a:r>
            <a:r>
              <a:rPr dirty="0" err="1"/>
              <a:t>passende</a:t>
            </a:r>
            <a:r>
              <a:rPr dirty="0"/>
              <a:t> Graph-</a:t>
            </a:r>
            <a:r>
              <a:rPr dirty="0" err="1"/>
              <a:t>Nachbarn</a:t>
            </a:r>
            <a:r>
              <a:rPr dirty="0"/>
              <a:t>, </a:t>
            </a:r>
            <a:r>
              <a:rPr dirty="0" err="1"/>
              <a:t>etwa</a:t>
            </a:r>
            <a:r>
              <a:rPr dirty="0"/>
              <a:t> </a:t>
            </a:r>
            <a:r>
              <a:rPr dirty="0" err="1"/>
              <a:t>angrenzende</a:t>
            </a:r>
            <a:r>
              <a:rPr dirty="0"/>
              <a:t> Artikel </a:t>
            </a:r>
            <a:r>
              <a:rPr dirty="0" err="1"/>
              <a:t>oder</a:t>
            </a:r>
            <a:r>
              <a:rPr dirty="0"/>
              <a:t> </a:t>
            </a:r>
            <a:r>
              <a:rPr dirty="0" err="1"/>
              <a:t>erkannte</a:t>
            </a:r>
            <a:r>
              <a:rPr dirty="0"/>
              <a:t> </a:t>
            </a:r>
            <a:r>
              <a:rPr dirty="0" err="1"/>
              <a:t>Verweise</a:t>
            </a:r>
            <a:r>
              <a:rPr dirty="0"/>
              <a:t>.</a:t>
            </a:r>
          </a:p>
          <a:p>
            <a:endParaRPr dirty="0"/>
          </a:p>
          <a:p>
            <a:r>
              <a:rPr dirty="0"/>
              <a:t>Der Graph </a:t>
            </a:r>
            <a:r>
              <a:rPr dirty="0" err="1"/>
              <a:t>ersetzt</a:t>
            </a:r>
            <a:r>
              <a:rPr dirty="0"/>
              <a:t> die </a:t>
            </a:r>
            <a:r>
              <a:rPr dirty="0" err="1"/>
              <a:t>Suche</a:t>
            </a:r>
            <a:r>
              <a:rPr dirty="0"/>
              <a:t> nicht. Er </a:t>
            </a:r>
            <a:r>
              <a:rPr dirty="0" err="1"/>
              <a:t>erweitert</a:t>
            </a:r>
            <a:r>
              <a:rPr dirty="0"/>
              <a:t> </a:t>
            </a:r>
            <a:r>
              <a:rPr dirty="0" err="1"/>
              <a:t>gute</a:t>
            </a:r>
            <a:r>
              <a:rPr dirty="0"/>
              <a:t> Seed-Treffer um </a:t>
            </a:r>
            <a:r>
              <a:rPr dirty="0" err="1"/>
              <a:t>strukturell</a:t>
            </a:r>
            <a:r>
              <a:rPr dirty="0"/>
              <a:t> </a:t>
            </a:r>
            <a:r>
              <a:rPr dirty="0" err="1"/>
              <a:t>verwandten</a:t>
            </a:r>
            <a:r>
              <a:rPr dirty="0"/>
              <a:t> </a:t>
            </a:r>
            <a:r>
              <a:rPr dirty="0" err="1"/>
              <a:t>Kontext</a:t>
            </a:r>
            <a:r>
              <a:rPr dirty="0"/>
              <a:t>. Das </a:t>
            </a:r>
            <a:r>
              <a:rPr dirty="0" err="1"/>
              <a:t>hilft</a:t>
            </a:r>
            <a:r>
              <a:rPr dirty="0"/>
              <a:t> </a:t>
            </a:r>
            <a:r>
              <a:rPr dirty="0" err="1"/>
              <a:t>besonders</a:t>
            </a:r>
            <a:r>
              <a:rPr dirty="0"/>
              <a:t> </a:t>
            </a:r>
            <a:r>
              <a:rPr dirty="0" err="1"/>
              <a:t>bei</a:t>
            </a:r>
            <a:r>
              <a:rPr dirty="0"/>
              <a:t> </a:t>
            </a:r>
            <a:r>
              <a:rPr dirty="0" err="1"/>
              <a:t>Fragen</a:t>
            </a:r>
            <a:r>
              <a:rPr dirty="0"/>
              <a:t>, die </a:t>
            </a:r>
            <a:r>
              <a:rPr dirty="0" err="1"/>
              <a:t>mehrere</a:t>
            </a:r>
            <a:r>
              <a:rPr dirty="0"/>
              <a:t> Artikel </a:t>
            </a:r>
            <a:r>
              <a:rPr dirty="0" err="1"/>
              <a:t>oder</a:t>
            </a:r>
            <a:r>
              <a:rPr dirty="0"/>
              <a:t> </a:t>
            </a:r>
            <a:r>
              <a:rPr dirty="0" err="1"/>
              <a:t>Erlasse</a:t>
            </a:r>
            <a:r>
              <a:rPr dirty="0"/>
              <a:t> </a:t>
            </a:r>
            <a:r>
              <a:rPr dirty="0" err="1"/>
              <a:t>verbinden</a:t>
            </a:r>
            <a:r>
              <a:rPr dirty="0"/>
              <a:t>.</a:t>
            </a:r>
          </a:p>
          <a:p>
            <a:endParaRPr dirty="0"/>
          </a:p>
          <a:p>
            <a:r>
              <a:rPr dirty="0" err="1"/>
              <a:t>Publikumsfrage</a:t>
            </a:r>
            <a:r>
              <a:rPr dirty="0"/>
              <a:t>: </a:t>
            </a:r>
            <a:r>
              <a:rPr dirty="0" err="1"/>
              <a:t>Warum</a:t>
            </a:r>
            <a:r>
              <a:rPr dirty="0"/>
              <a:t> </a:t>
            </a:r>
            <a:r>
              <a:rPr dirty="0" err="1"/>
              <a:t>ist</a:t>
            </a:r>
            <a:r>
              <a:rPr dirty="0"/>
              <a:t> </a:t>
            </a:r>
            <a:r>
              <a:rPr dirty="0" err="1"/>
              <a:t>eine</a:t>
            </a:r>
            <a:r>
              <a:rPr dirty="0"/>
              <a:t> </a:t>
            </a:r>
            <a:r>
              <a:rPr dirty="0" err="1"/>
              <a:t>lexikalische</a:t>
            </a:r>
            <a:r>
              <a:rPr dirty="0"/>
              <a:t> </a:t>
            </a:r>
            <a:r>
              <a:rPr dirty="0" err="1"/>
              <a:t>Suche</a:t>
            </a:r>
            <a:r>
              <a:rPr dirty="0"/>
              <a:t> </a:t>
            </a:r>
            <a:r>
              <a:rPr dirty="0" err="1"/>
              <a:t>bei</a:t>
            </a:r>
            <a:r>
              <a:rPr dirty="0"/>
              <a:t> „Art. 1 OR“ oft </a:t>
            </a:r>
            <a:r>
              <a:rPr dirty="0" err="1"/>
              <a:t>zuverlässiger</a:t>
            </a:r>
            <a:r>
              <a:rPr dirty="0"/>
              <a:t> </a:t>
            </a:r>
            <a:r>
              <a:rPr dirty="0" err="1"/>
              <a:t>als</a:t>
            </a:r>
            <a:r>
              <a:rPr dirty="0"/>
              <a:t> </a:t>
            </a:r>
            <a:r>
              <a:rPr dirty="0" err="1"/>
              <a:t>reine</a:t>
            </a:r>
            <a:r>
              <a:rPr dirty="0"/>
              <a:t> </a:t>
            </a:r>
            <a:r>
              <a:rPr dirty="0" err="1"/>
              <a:t>semantische</a:t>
            </a:r>
            <a:r>
              <a:rPr dirty="0"/>
              <a:t> </a:t>
            </a:r>
            <a:r>
              <a:rPr dirty="0" err="1"/>
              <a:t>Ähnlichkeit</a:t>
            </a:r>
            <a:r>
              <a:rPr dirty="0"/>
              <a:t>?</a:t>
            </a:r>
          </a:p>
          <a:p>
            <a:endParaRPr dirty="0"/>
          </a:p>
          <a:p>
            <a:r>
              <a:rPr dirty="0" err="1"/>
              <a:t>Übergang</a:t>
            </a:r>
            <a:r>
              <a:rPr dirty="0"/>
              <a:t>: </a:t>
            </a:r>
            <a:r>
              <a:rPr dirty="0" err="1"/>
              <a:t>Jetzt</a:t>
            </a:r>
            <a:r>
              <a:rPr dirty="0"/>
              <a:t> </a:t>
            </a:r>
            <a:r>
              <a:rPr dirty="0" err="1"/>
              <a:t>prüfen</a:t>
            </a:r>
            <a:r>
              <a:rPr dirty="0"/>
              <a:t> </a:t>
            </a:r>
            <a:r>
              <a:rPr dirty="0" err="1"/>
              <a:t>wir</a:t>
            </a:r>
            <a:r>
              <a:rPr dirty="0"/>
              <a:t>, </a:t>
            </a:r>
            <a:r>
              <a:rPr dirty="0" err="1"/>
              <a:t>ob</a:t>
            </a:r>
            <a:r>
              <a:rPr dirty="0"/>
              <a:t> </a:t>
            </a:r>
            <a:r>
              <a:rPr dirty="0" err="1"/>
              <a:t>diese</a:t>
            </a:r>
            <a:r>
              <a:rPr dirty="0"/>
              <a:t> </a:t>
            </a:r>
            <a:r>
              <a:rPr dirty="0" err="1"/>
              <a:t>zusätzliche</a:t>
            </a:r>
            <a:r>
              <a:rPr dirty="0"/>
              <a:t> </a:t>
            </a:r>
            <a:r>
              <a:rPr dirty="0" err="1"/>
              <a:t>Logik</a:t>
            </a:r>
            <a:r>
              <a:rPr dirty="0"/>
              <a:t> </a:t>
            </a:r>
            <a:r>
              <a:rPr dirty="0" err="1"/>
              <a:t>tatsächlich</a:t>
            </a:r>
            <a:r>
              <a:rPr dirty="0"/>
              <a:t> Recall, </a:t>
            </a:r>
            <a:r>
              <a:rPr dirty="0" err="1"/>
              <a:t>Rangfolge</a:t>
            </a:r>
            <a:r>
              <a:rPr dirty="0"/>
              <a:t> und </a:t>
            </a:r>
            <a:r>
              <a:rPr dirty="0" err="1"/>
              <a:t>Kontextbedarf</a:t>
            </a:r>
            <a:r>
              <a:rPr dirty="0"/>
              <a:t> </a:t>
            </a:r>
            <a:r>
              <a:rPr dirty="0" err="1"/>
              <a:t>verbessert</a:t>
            </a:r>
            <a:r>
              <a:rPr dirty="0"/>
              <a:t>.</a:t>
            </a:r>
          </a:p>
          <a:p>
            <a:endParaRPr dirty="0"/>
          </a:p>
          <a:p>
            <a:r>
              <a:rPr dirty="0"/>
              <a:t>[Sources]</a:t>
            </a:r>
          </a:p>
          <a:p>
            <a:r>
              <a:rPr dirty="0"/>
              <a:t>- C:/Users/mehlst/Documents/RAG-Workshop/graph_retrieval.py</a:t>
            </a:r>
          </a:p>
          <a:p>
            <a:r>
              <a:rPr dirty="0"/>
              <a:t>- C:/Users/mehlst/Documents/RAG-Workshop/rag-4b-chat.py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rPr dirty="0" err="1"/>
              <a:t>Kernbotschaft</a:t>
            </a:r>
            <a:r>
              <a:rPr dirty="0"/>
              <a:t>: </a:t>
            </a:r>
            <a:r>
              <a:rPr dirty="0" err="1"/>
              <a:t>GraphRAG</a:t>
            </a:r>
            <a:r>
              <a:rPr dirty="0"/>
              <a:t> </a:t>
            </a:r>
            <a:r>
              <a:rPr dirty="0" err="1"/>
              <a:t>findet</a:t>
            </a:r>
            <a:r>
              <a:rPr dirty="0"/>
              <a:t> in </a:t>
            </a:r>
            <a:r>
              <a:rPr dirty="0" err="1"/>
              <a:t>diesem</a:t>
            </a:r>
            <a:r>
              <a:rPr dirty="0"/>
              <a:t> Workshop-Test die </a:t>
            </a:r>
            <a:r>
              <a:rPr dirty="0" err="1"/>
              <a:t>meisten</a:t>
            </a:r>
            <a:r>
              <a:rPr dirty="0"/>
              <a:t> </a:t>
            </a:r>
            <a:r>
              <a:rPr dirty="0" err="1"/>
              <a:t>erwarteten</a:t>
            </a:r>
            <a:r>
              <a:rPr dirty="0"/>
              <a:t> Artikel und </a:t>
            </a:r>
            <a:r>
              <a:rPr dirty="0" err="1"/>
              <a:t>benötigt</a:t>
            </a:r>
            <a:r>
              <a:rPr dirty="0"/>
              <a:t> </a:t>
            </a:r>
            <a:r>
              <a:rPr dirty="0" err="1"/>
              <a:t>gleichzeitig</a:t>
            </a:r>
            <a:r>
              <a:rPr dirty="0"/>
              <a:t> den </a:t>
            </a:r>
            <a:r>
              <a:rPr dirty="0" err="1"/>
              <a:t>kleinsten</a:t>
            </a:r>
            <a:r>
              <a:rPr dirty="0"/>
              <a:t> Prompt-</a:t>
            </a:r>
            <a:r>
              <a:rPr dirty="0" err="1"/>
              <a:t>Kontext</a:t>
            </a:r>
            <a:r>
              <a:rPr dirty="0"/>
              <a:t>; der </a:t>
            </a:r>
            <a:r>
              <a:rPr dirty="0" err="1"/>
              <a:t>Reranker</a:t>
            </a:r>
            <a:r>
              <a:rPr dirty="0"/>
              <a:t> </a:t>
            </a:r>
            <a:r>
              <a:rPr dirty="0" err="1"/>
              <a:t>liefert</a:t>
            </a:r>
            <a:r>
              <a:rPr dirty="0"/>
              <a:t> die </a:t>
            </a:r>
            <a:r>
              <a:rPr dirty="0" err="1"/>
              <a:t>beste</a:t>
            </a:r>
            <a:r>
              <a:rPr dirty="0"/>
              <a:t> </a:t>
            </a:r>
            <a:r>
              <a:rPr dirty="0" err="1"/>
              <a:t>frühe</a:t>
            </a:r>
            <a:r>
              <a:rPr dirty="0"/>
              <a:t> </a:t>
            </a:r>
            <a:r>
              <a:rPr dirty="0" err="1"/>
              <a:t>Rangposition</a:t>
            </a:r>
            <a:r>
              <a:rPr dirty="0"/>
              <a:t>.</a:t>
            </a:r>
          </a:p>
          <a:p>
            <a:endParaRPr dirty="0"/>
          </a:p>
          <a:p>
            <a:r>
              <a:rPr dirty="0" err="1"/>
              <a:t>Sprechtext</a:t>
            </a:r>
            <a:r>
              <a:rPr dirty="0"/>
              <a:t>: Alle vier </a:t>
            </a:r>
            <a:r>
              <a:rPr dirty="0" err="1"/>
              <a:t>Methoden</a:t>
            </a:r>
            <a:r>
              <a:rPr dirty="0"/>
              <a:t> </a:t>
            </a:r>
            <a:r>
              <a:rPr dirty="0" err="1"/>
              <a:t>beantworten</a:t>
            </a:r>
            <a:r>
              <a:rPr dirty="0"/>
              <a:t> </a:t>
            </a:r>
            <a:r>
              <a:rPr dirty="0" err="1"/>
              <a:t>dieselben</a:t>
            </a:r>
            <a:r>
              <a:rPr dirty="0"/>
              <a:t> </a:t>
            </a:r>
            <a:r>
              <a:rPr dirty="0" err="1"/>
              <a:t>sechs</a:t>
            </a:r>
            <a:r>
              <a:rPr dirty="0"/>
              <a:t> </a:t>
            </a:r>
            <a:r>
              <a:rPr dirty="0" err="1"/>
              <a:t>Fragen</a:t>
            </a:r>
            <a:r>
              <a:rPr dirty="0"/>
              <a:t> </a:t>
            </a:r>
            <a:r>
              <a:rPr dirty="0" err="1"/>
              <a:t>mit</a:t>
            </a:r>
            <a:r>
              <a:rPr dirty="0"/>
              <a:t> </a:t>
            </a:r>
            <a:r>
              <a:rPr dirty="0" err="1"/>
              <a:t>demselben</a:t>
            </a:r>
            <a:r>
              <a:rPr dirty="0"/>
              <a:t> </a:t>
            </a:r>
            <a:r>
              <a:rPr dirty="0" err="1"/>
              <a:t>Kontextbudget</a:t>
            </a:r>
            <a:r>
              <a:rPr dirty="0"/>
              <a:t> von </a:t>
            </a:r>
            <a:r>
              <a:rPr dirty="0" err="1"/>
              <a:t>sechs</a:t>
            </a:r>
            <a:r>
              <a:rPr dirty="0"/>
              <a:t> Chunks. Article </a:t>
            </a:r>
            <a:r>
              <a:rPr dirty="0" err="1"/>
              <a:t>Recall@K</a:t>
            </a:r>
            <a:r>
              <a:rPr dirty="0"/>
              <a:t> </a:t>
            </a:r>
            <a:r>
              <a:rPr dirty="0" err="1"/>
              <a:t>misst</a:t>
            </a:r>
            <a:r>
              <a:rPr dirty="0"/>
              <a:t>, </a:t>
            </a:r>
            <a:r>
              <a:rPr dirty="0" err="1"/>
              <a:t>welcher</a:t>
            </a:r>
            <a:r>
              <a:rPr dirty="0"/>
              <a:t> </a:t>
            </a:r>
            <a:r>
              <a:rPr dirty="0" err="1"/>
              <a:t>Anteil</a:t>
            </a:r>
            <a:r>
              <a:rPr dirty="0"/>
              <a:t> </a:t>
            </a:r>
            <a:r>
              <a:rPr dirty="0" err="1"/>
              <a:t>aller</a:t>
            </a:r>
            <a:r>
              <a:rPr dirty="0"/>
              <a:t> </a:t>
            </a:r>
            <a:r>
              <a:rPr dirty="0" err="1"/>
              <a:t>erwarteten</a:t>
            </a:r>
            <a:r>
              <a:rPr dirty="0"/>
              <a:t> Artikel </a:t>
            </a:r>
            <a:r>
              <a:rPr dirty="0" err="1"/>
              <a:t>unter</a:t>
            </a:r>
            <a:r>
              <a:rPr dirty="0"/>
              <a:t> den K </a:t>
            </a:r>
            <a:r>
              <a:rPr dirty="0" err="1"/>
              <a:t>Treffern</a:t>
            </a:r>
            <a:r>
              <a:rPr dirty="0"/>
              <a:t> </a:t>
            </a:r>
            <a:r>
              <a:rPr dirty="0" err="1"/>
              <a:t>vorkommt</a:t>
            </a:r>
            <a:r>
              <a:rPr dirty="0"/>
              <a:t>. MRR – Mean Reciprocal Rank – </a:t>
            </a:r>
            <a:r>
              <a:rPr dirty="0" err="1"/>
              <a:t>belohnt</a:t>
            </a:r>
            <a:r>
              <a:rPr dirty="0"/>
              <a:t> </a:t>
            </a:r>
            <a:r>
              <a:rPr dirty="0" err="1"/>
              <a:t>eine</a:t>
            </a:r>
            <a:r>
              <a:rPr dirty="0"/>
              <a:t> </a:t>
            </a:r>
            <a:r>
              <a:rPr dirty="0" err="1"/>
              <a:t>frühe</a:t>
            </a:r>
            <a:r>
              <a:rPr dirty="0"/>
              <a:t> Position des </a:t>
            </a:r>
            <a:r>
              <a:rPr dirty="0" err="1"/>
              <a:t>ersten</a:t>
            </a:r>
            <a:r>
              <a:rPr dirty="0"/>
              <a:t> </a:t>
            </a:r>
            <a:r>
              <a:rPr dirty="0" err="1"/>
              <a:t>relevanten</a:t>
            </a:r>
            <a:r>
              <a:rPr dirty="0"/>
              <a:t> </a:t>
            </a:r>
            <a:r>
              <a:rPr dirty="0" err="1"/>
              <a:t>Artikels</a:t>
            </a:r>
            <a:r>
              <a:rPr dirty="0"/>
              <a:t>. Prompt-</a:t>
            </a:r>
            <a:r>
              <a:rPr dirty="0" err="1"/>
              <a:t>Kontext</a:t>
            </a:r>
            <a:r>
              <a:rPr dirty="0"/>
              <a:t>-Tokens </a:t>
            </a:r>
            <a:r>
              <a:rPr dirty="0" err="1"/>
              <a:t>zählen</a:t>
            </a:r>
            <a:r>
              <a:rPr dirty="0"/>
              <a:t> den </a:t>
            </a:r>
            <a:r>
              <a:rPr dirty="0" err="1"/>
              <a:t>tatsächlich</a:t>
            </a:r>
            <a:r>
              <a:rPr dirty="0"/>
              <a:t> in den </a:t>
            </a:r>
            <a:r>
              <a:rPr dirty="0" err="1"/>
              <a:t>Modellprompt</a:t>
            </a:r>
            <a:r>
              <a:rPr dirty="0"/>
              <a:t> </a:t>
            </a:r>
            <a:r>
              <a:rPr dirty="0" err="1"/>
              <a:t>eingefügten</a:t>
            </a:r>
            <a:r>
              <a:rPr dirty="0"/>
              <a:t> </a:t>
            </a:r>
            <a:r>
              <a:rPr dirty="0" err="1"/>
              <a:t>Dokumentkontext</a:t>
            </a:r>
            <a:r>
              <a:rPr dirty="0"/>
              <a:t> </a:t>
            </a:r>
            <a:r>
              <a:rPr dirty="0" err="1"/>
              <a:t>einschließlich</a:t>
            </a:r>
            <a:r>
              <a:rPr dirty="0"/>
              <a:t> </a:t>
            </a:r>
            <a:r>
              <a:rPr dirty="0" err="1"/>
              <a:t>Formatierung</a:t>
            </a:r>
            <a:r>
              <a:rPr dirty="0"/>
              <a:t>.</a:t>
            </a:r>
          </a:p>
          <a:p>
            <a:endParaRPr dirty="0"/>
          </a:p>
          <a:p>
            <a:r>
              <a:rPr dirty="0"/>
              <a:t>Die </a:t>
            </a:r>
            <a:r>
              <a:rPr dirty="0" err="1"/>
              <a:t>Werte</a:t>
            </a:r>
            <a:r>
              <a:rPr dirty="0"/>
              <a:t>: Fixed </a:t>
            </a:r>
            <a:r>
              <a:rPr dirty="0" err="1"/>
              <a:t>erreicht</a:t>
            </a:r>
            <a:r>
              <a:rPr dirty="0"/>
              <a:t> 54 </a:t>
            </a:r>
            <a:r>
              <a:rPr dirty="0" err="1"/>
              <a:t>Prozent</a:t>
            </a:r>
            <a:r>
              <a:rPr dirty="0"/>
              <a:t> Recall, 0,43 MRR und 1.289 Tokens. Semantic </a:t>
            </a:r>
            <a:r>
              <a:rPr dirty="0" err="1"/>
              <a:t>erreicht</a:t>
            </a:r>
            <a:r>
              <a:rPr dirty="0"/>
              <a:t> 33 </a:t>
            </a:r>
            <a:r>
              <a:rPr dirty="0" err="1"/>
              <a:t>Prozent</a:t>
            </a:r>
            <a:r>
              <a:rPr dirty="0"/>
              <a:t>, 0,25 und 892 Tokens. Reranking </a:t>
            </a:r>
            <a:r>
              <a:rPr dirty="0" err="1"/>
              <a:t>erreicht</a:t>
            </a:r>
            <a:r>
              <a:rPr dirty="0"/>
              <a:t> 71 </a:t>
            </a:r>
            <a:r>
              <a:rPr dirty="0" err="1"/>
              <a:t>Prozent</a:t>
            </a:r>
            <a:r>
              <a:rPr dirty="0"/>
              <a:t>, 0,68 und 923 Tokens. </a:t>
            </a:r>
            <a:r>
              <a:rPr dirty="0" err="1"/>
              <a:t>GraphRAG</a:t>
            </a:r>
            <a:r>
              <a:rPr dirty="0"/>
              <a:t> </a:t>
            </a:r>
            <a:r>
              <a:rPr dirty="0" err="1"/>
              <a:t>erreicht</a:t>
            </a:r>
            <a:r>
              <a:rPr dirty="0"/>
              <a:t> 88 </a:t>
            </a:r>
            <a:r>
              <a:rPr dirty="0" err="1"/>
              <a:t>Prozent</a:t>
            </a:r>
            <a:r>
              <a:rPr dirty="0"/>
              <a:t> Recall, 0,52 MRR und 802 Tokens.</a:t>
            </a:r>
          </a:p>
          <a:p>
            <a:endParaRPr dirty="0"/>
          </a:p>
          <a:p>
            <a:r>
              <a:rPr dirty="0" err="1"/>
              <a:t>Lesart</a:t>
            </a:r>
            <a:r>
              <a:rPr dirty="0"/>
              <a:t>: </a:t>
            </a:r>
            <a:r>
              <a:rPr dirty="0" err="1"/>
              <a:t>GraphRAG</a:t>
            </a:r>
            <a:r>
              <a:rPr dirty="0"/>
              <a:t> </a:t>
            </a:r>
            <a:r>
              <a:rPr dirty="0" err="1"/>
              <a:t>maximiert</a:t>
            </a:r>
            <a:r>
              <a:rPr dirty="0"/>
              <a:t> </a:t>
            </a:r>
            <a:r>
              <a:rPr dirty="0" err="1"/>
              <a:t>hier</a:t>
            </a:r>
            <a:r>
              <a:rPr dirty="0"/>
              <a:t> die </a:t>
            </a:r>
            <a:r>
              <a:rPr dirty="0" err="1"/>
              <a:t>Vollständigkeit</a:t>
            </a:r>
            <a:r>
              <a:rPr dirty="0"/>
              <a:t> </a:t>
            </a:r>
            <a:r>
              <a:rPr dirty="0" err="1"/>
              <a:t>bei</a:t>
            </a:r>
            <a:r>
              <a:rPr dirty="0"/>
              <a:t> </a:t>
            </a:r>
            <a:r>
              <a:rPr dirty="0" err="1"/>
              <a:t>kleinem</a:t>
            </a:r>
            <a:r>
              <a:rPr dirty="0"/>
              <a:t> </a:t>
            </a:r>
            <a:r>
              <a:rPr dirty="0" err="1"/>
              <a:t>Kontext</a:t>
            </a:r>
            <a:r>
              <a:rPr dirty="0"/>
              <a:t>. Reranking </a:t>
            </a:r>
            <a:r>
              <a:rPr dirty="0" err="1"/>
              <a:t>positioniert</a:t>
            </a:r>
            <a:r>
              <a:rPr dirty="0"/>
              <a:t> den </a:t>
            </a:r>
            <a:r>
              <a:rPr dirty="0" err="1"/>
              <a:t>ersten</a:t>
            </a:r>
            <a:r>
              <a:rPr dirty="0"/>
              <a:t> </a:t>
            </a:r>
            <a:r>
              <a:rPr dirty="0" err="1"/>
              <a:t>relevanten</a:t>
            </a:r>
            <a:r>
              <a:rPr dirty="0"/>
              <a:t> Treffer am </a:t>
            </a:r>
            <a:r>
              <a:rPr dirty="0" err="1"/>
              <a:t>besten</a:t>
            </a:r>
            <a:r>
              <a:rPr dirty="0"/>
              <a:t>. </a:t>
            </a:r>
            <a:r>
              <a:rPr dirty="0" err="1"/>
              <a:t>Diese</a:t>
            </a:r>
            <a:r>
              <a:rPr dirty="0"/>
              <a:t> </a:t>
            </a:r>
            <a:r>
              <a:rPr dirty="0" err="1"/>
              <a:t>sechs</a:t>
            </a:r>
            <a:r>
              <a:rPr dirty="0"/>
              <a:t> </a:t>
            </a:r>
            <a:r>
              <a:rPr dirty="0" err="1"/>
              <a:t>Fragen</a:t>
            </a:r>
            <a:r>
              <a:rPr dirty="0"/>
              <a:t> </a:t>
            </a:r>
            <a:r>
              <a:rPr dirty="0" err="1"/>
              <a:t>sind</a:t>
            </a:r>
            <a:r>
              <a:rPr dirty="0"/>
              <a:t> </a:t>
            </a:r>
            <a:r>
              <a:rPr dirty="0" err="1"/>
              <a:t>eine</a:t>
            </a:r>
            <a:r>
              <a:rPr dirty="0"/>
              <a:t> Workshop-</a:t>
            </a:r>
            <a:r>
              <a:rPr dirty="0" err="1"/>
              <a:t>Messung</a:t>
            </a:r>
            <a:r>
              <a:rPr dirty="0"/>
              <a:t>, </a:t>
            </a:r>
            <a:r>
              <a:rPr dirty="0" err="1"/>
              <a:t>keine</a:t>
            </a:r>
            <a:r>
              <a:rPr dirty="0"/>
              <a:t> </a:t>
            </a:r>
            <a:r>
              <a:rPr dirty="0" err="1"/>
              <a:t>allgemeine</a:t>
            </a:r>
            <a:r>
              <a:rPr dirty="0"/>
              <a:t> Benchmark.</a:t>
            </a:r>
          </a:p>
          <a:p>
            <a:endParaRPr dirty="0"/>
          </a:p>
          <a:p>
            <a:r>
              <a:rPr dirty="0" err="1"/>
              <a:t>Übergang</a:t>
            </a:r>
            <a:r>
              <a:rPr dirty="0"/>
              <a:t>: Ein </a:t>
            </a:r>
            <a:r>
              <a:rPr dirty="0" err="1"/>
              <a:t>guter</a:t>
            </a:r>
            <a:r>
              <a:rPr dirty="0"/>
              <a:t> Retrieval-Treffer </a:t>
            </a:r>
            <a:r>
              <a:rPr dirty="0" err="1"/>
              <a:t>ist</a:t>
            </a:r>
            <a:r>
              <a:rPr dirty="0"/>
              <a:t> </a:t>
            </a:r>
            <a:r>
              <a:rPr dirty="0" err="1"/>
              <a:t>notwendig</a:t>
            </a:r>
            <a:r>
              <a:rPr dirty="0"/>
              <a:t> – </a:t>
            </a:r>
            <a:r>
              <a:rPr dirty="0" err="1"/>
              <a:t>aber</a:t>
            </a:r>
            <a:r>
              <a:rPr dirty="0"/>
              <a:t> </a:t>
            </a:r>
            <a:r>
              <a:rPr dirty="0" err="1"/>
              <a:t>beantwortet</a:t>
            </a:r>
            <a:r>
              <a:rPr dirty="0"/>
              <a:t> </a:t>
            </a:r>
            <a:r>
              <a:rPr dirty="0" err="1"/>
              <a:t>noch</a:t>
            </a:r>
            <a:r>
              <a:rPr dirty="0"/>
              <a:t> nicht, </a:t>
            </a:r>
            <a:r>
              <a:rPr dirty="0" err="1"/>
              <a:t>ob</a:t>
            </a:r>
            <a:r>
              <a:rPr dirty="0"/>
              <a:t> das LLM </a:t>
            </a:r>
            <a:r>
              <a:rPr dirty="0" err="1"/>
              <a:t>daraus</a:t>
            </a:r>
            <a:r>
              <a:rPr dirty="0"/>
              <a:t> </a:t>
            </a:r>
            <a:r>
              <a:rPr dirty="0" err="1"/>
              <a:t>eine</a:t>
            </a:r>
            <a:r>
              <a:rPr dirty="0"/>
              <a:t> </a:t>
            </a:r>
            <a:r>
              <a:rPr dirty="0" err="1"/>
              <a:t>vollständige</a:t>
            </a:r>
            <a:r>
              <a:rPr dirty="0"/>
              <a:t> und </a:t>
            </a:r>
            <a:r>
              <a:rPr dirty="0" err="1"/>
              <a:t>korrekt</a:t>
            </a:r>
            <a:r>
              <a:rPr dirty="0"/>
              <a:t> </a:t>
            </a:r>
            <a:r>
              <a:rPr dirty="0" err="1"/>
              <a:t>belegte</a:t>
            </a:r>
            <a:r>
              <a:rPr dirty="0"/>
              <a:t> </a:t>
            </a:r>
            <a:r>
              <a:rPr dirty="0" err="1"/>
              <a:t>Antwort</a:t>
            </a:r>
            <a:r>
              <a:rPr dirty="0"/>
              <a:t> </a:t>
            </a:r>
            <a:r>
              <a:rPr dirty="0" err="1"/>
              <a:t>erzeugt</a:t>
            </a:r>
            <a:r>
              <a:rPr dirty="0"/>
              <a:t>.</a:t>
            </a:r>
          </a:p>
          <a:p>
            <a:endParaRPr dirty="0"/>
          </a:p>
          <a:p>
            <a:r>
              <a:rPr dirty="0"/>
              <a:t>[Sources]</a:t>
            </a:r>
          </a:p>
          <a:p>
            <a:r>
              <a:rPr dirty="0"/>
              <a:t>- C:/Users/mehlst/Documents/RAG-Workshop/evaluation/report-graph.md</a:t>
            </a:r>
          </a:p>
          <a:p>
            <a:r>
              <a:rPr dirty="0"/>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rPr dirty="0" err="1"/>
              <a:t>Kernbotschaft</a:t>
            </a:r>
            <a:r>
              <a:rPr dirty="0"/>
              <a:t>: Retrieval-</a:t>
            </a:r>
            <a:r>
              <a:rPr dirty="0" err="1"/>
              <a:t>Qualität</a:t>
            </a:r>
            <a:r>
              <a:rPr dirty="0"/>
              <a:t> und </a:t>
            </a:r>
            <a:r>
              <a:rPr dirty="0" err="1"/>
              <a:t>Antwortqualität</a:t>
            </a:r>
            <a:r>
              <a:rPr dirty="0"/>
              <a:t> </a:t>
            </a:r>
            <a:r>
              <a:rPr dirty="0" err="1"/>
              <a:t>sind</a:t>
            </a:r>
            <a:r>
              <a:rPr dirty="0"/>
              <a:t> </a:t>
            </a:r>
            <a:r>
              <a:rPr dirty="0" err="1"/>
              <a:t>zwei</a:t>
            </a:r>
            <a:r>
              <a:rPr dirty="0"/>
              <a:t> </a:t>
            </a:r>
            <a:r>
              <a:rPr dirty="0" err="1"/>
              <a:t>getrennte</a:t>
            </a:r>
            <a:r>
              <a:rPr dirty="0"/>
              <a:t> </a:t>
            </a:r>
            <a:r>
              <a:rPr dirty="0" err="1"/>
              <a:t>Ebenen</a:t>
            </a:r>
            <a:r>
              <a:rPr dirty="0"/>
              <a:t> und </a:t>
            </a:r>
            <a:r>
              <a:rPr dirty="0" err="1"/>
              <a:t>müssen</a:t>
            </a:r>
            <a:r>
              <a:rPr dirty="0"/>
              <a:t> </a:t>
            </a:r>
            <a:r>
              <a:rPr dirty="0" err="1"/>
              <a:t>separat</a:t>
            </a:r>
            <a:r>
              <a:rPr dirty="0"/>
              <a:t> </a:t>
            </a:r>
            <a:r>
              <a:rPr dirty="0" err="1"/>
              <a:t>bewertet</a:t>
            </a:r>
            <a:r>
              <a:rPr dirty="0"/>
              <a:t> </a:t>
            </a:r>
            <a:r>
              <a:rPr dirty="0" err="1"/>
              <a:t>werden</a:t>
            </a:r>
            <a:r>
              <a:rPr dirty="0"/>
              <a:t>.</a:t>
            </a:r>
          </a:p>
          <a:p>
            <a:endParaRPr dirty="0"/>
          </a:p>
          <a:p>
            <a:r>
              <a:rPr dirty="0" err="1"/>
              <a:t>Sprechtext</a:t>
            </a:r>
            <a:r>
              <a:rPr dirty="0"/>
              <a:t>: Die </a:t>
            </a:r>
            <a:r>
              <a:rPr dirty="0" err="1"/>
              <a:t>dunkelblauen</a:t>
            </a:r>
            <a:r>
              <a:rPr dirty="0"/>
              <a:t> Balken </a:t>
            </a:r>
            <a:r>
              <a:rPr dirty="0" err="1"/>
              <a:t>zeigen</a:t>
            </a:r>
            <a:r>
              <a:rPr dirty="0"/>
              <a:t> die </a:t>
            </a:r>
            <a:r>
              <a:rPr dirty="0" err="1"/>
              <a:t>Faktenabdeckung</a:t>
            </a:r>
            <a:r>
              <a:rPr dirty="0"/>
              <a:t> – auf Englisch Fact Coverage. Sie </a:t>
            </a:r>
            <a:r>
              <a:rPr dirty="0" err="1"/>
              <a:t>misst</a:t>
            </a:r>
            <a:r>
              <a:rPr dirty="0"/>
              <a:t>, </a:t>
            </a:r>
            <a:r>
              <a:rPr dirty="0" err="1"/>
              <a:t>welcher</a:t>
            </a:r>
            <a:r>
              <a:rPr dirty="0"/>
              <a:t> </a:t>
            </a:r>
            <a:r>
              <a:rPr dirty="0" err="1"/>
              <a:t>Anteil</a:t>
            </a:r>
            <a:r>
              <a:rPr dirty="0"/>
              <a:t> der </a:t>
            </a:r>
            <a:r>
              <a:rPr dirty="0" err="1"/>
              <a:t>zuvor</a:t>
            </a:r>
            <a:r>
              <a:rPr dirty="0"/>
              <a:t> </a:t>
            </a:r>
            <a:r>
              <a:rPr dirty="0" err="1"/>
              <a:t>definierten</a:t>
            </a:r>
            <a:r>
              <a:rPr dirty="0"/>
              <a:t> </a:t>
            </a:r>
            <a:r>
              <a:rPr dirty="0" err="1"/>
              <a:t>erforderlichen</a:t>
            </a:r>
            <a:r>
              <a:rPr dirty="0"/>
              <a:t> </a:t>
            </a:r>
            <a:r>
              <a:rPr dirty="0" err="1"/>
              <a:t>Fakten</a:t>
            </a:r>
            <a:r>
              <a:rPr dirty="0"/>
              <a:t> in der </a:t>
            </a:r>
            <a:r>
              <a:rPr dirty="0" err="1"/>
              <a:t>generierten</a:t>
            </a:r>
            <a:r>
              <a:rPr dirty="0"/>
              <a:t> </a:t>
            </a:r>
            <a:r>
              <a:rPr dirty="0" err="1"/>
              <a:t>Antwort</a:t>
            </a:r>
            <a:r>
              <a:rPr dirty="0"/>
              <a:t> </a:t>
            </a:r>
            <a:r>
              <a:rPr dirty="0" err="1"/>
              <a:t>enthalten</a:t>
            </a:r>
            <a:r>
              <a:rPr dirty="0"/>
              <a:t> </a:t>
            </a:r>
            <a:r>
              <a:rPr dirty="0" err="1"/>
              <a:t>ist</a:t>
            </a:r>
            <a:r>
              <a:rPr dirty="0"/>
              <a:t>. Die </a:t>
            </a:r>
            <a:r>
              <a:rPr dirty="0" err="1"/>
              <a:t>hellblauen</a:t>
            </a:r>
            <a:r>
              <a:rPr dirty="0"/>
              <a:t> </a:t>
            </a:r>
            <a:r>
              <a:rPr dirty="0" err="1"/>
              <a:t>beziehungsweise</a:t>
            </a:r>
            <a:r>
              <a:rPr dirty="0"/>
              <a:t> </a:t>
            </a:r>
            <a:r>
              <a:rPr dirty="0" err="1"/>
              <a:t>türkisen</a:t>
            </a:r>
            <a:r>
              <a:rPr dirty="0"/>
              <a:t> Balken </a:t>
            </a:r>
            <a:r>
              <a:rPr dirty="0" err="1"/>
              <a:t>zeigen</a:t>
            </a:r>
            <a:r>
              <a:rPr dirty="0"/>
              <a:t> die </a:t>
            </a:r>
            <a:r>
              <a:rPr dirty="0" err="1"/>
              <a:t>Zitationsvollständigkeit</a:t>
            </a:r>
            <a:r>
              <a:rPr dirty="0"/>
              <a:t> – Citation Completeness. Sie </a:t>
            </a:r>
            <a:r>
              <a:rPr dirty="0" err="1"/>
              <a:t>misst</a:t>
            </a:r>
            <a:r>
              <a:rPr dirty="0"/>
              <a:t>, </a:t>
            </a:r>
            <a:r>
              <a:rPr dirty="0" err="1"/>
              <a:t>welcher</a:t>
            </a:r>
            <a:r>
              <a:rPr dirty="0"/>
              <a:t> </a:t>
            </a:r>
            <a:r>
              <a:rPr dirty="0" err="1"/>
              <a:t>Anteil</a:t>
            </a:r>
            <a:r>
              <a:rPr dirty="0"/>
              <a:t> der </a:t>
            </a:r>
            <a:r>
              <a:rPr dirty="0" err="1"/>
              <a:t>erwarteten</a:t>
            </a:r>
            <a:r>
              <a:rPr dirty="0"/>
              <a:t> </a:t>
            </a:r>
            <a:r>
              <a:rPr dirty="0" err="1"/>
              <a:t>Artikelbezeichnungen</a:t>
            </a:r>
            <a:r>
              <a:rPr dirty="0"/>
              <a:t> in der </a:t>
            </a:r>
            <a:r>
              <a:rPr dirty="0" err="1"/>
              <a:t>Antwort</a:t>
            </a:r>
            <a:r>
              <a:rPr dirty="0"/>
              <a:t> </a:t>
            </a:r>
            <a:r>
              <a:rPr dirty="0" err="1"/>
              <a:t>zitiert</a:t>
            </a:r>
            <a:r>
              <a:rPr dirty="0"/>
              <a:t> </a:t>
            </a:r>
            <a:r>
              <a:rPr dirty="0" err="1"/>
              <a:t>wird</a:t>
            </a:r>
            <a:r>
              <a:rPr dirty="0"/>
              <a:t>.</a:t>
            </a:r>
          </a:p>
          <a:p>
            <a:endParaRPr dirty="0"/>
          </a:p>
          <a:p>
            <a:r>
              <a:rPr dirty="0" err="1"/>
              <a:t>Im</a:t>
            </a:r>
            <a:r>
              <a:rPr dirty="0"/>
              <a:t> </a:t>
            </a:r>
            <a:r>
              <a:rPr dirty="0" err="1"/>
              <a:t>vollständigen</a:t>
            </a:r>
            <a:r>
              <a:rPr dirty="0"/>
              <a:t> Lauf </a:t>
            </a:r>
            <a:r>
              <a:rPr dirty="0" err="1"/>
              <a:t>erreicht</a:t>
            </a:r>
            <a:r>
              <a:rPr dirty="0"/>
              <a:t> </a:t>
            </a:r>
            <a:r>
              <a:rPr dirty="0" err="1"/>
              <a:t>GraphRAG</a:t>
            </a:r>
            <a:r>
              <a:rPr dirty="0"/>
              <a:t> 55,6 </a:t>
            </a:r>
            <a:r>
              <a:rPr dirty="0" err="1"/>
              <a:t>Prozent</a:t>
            </a:r>
            <a:r>
              <a:rPr dirty="0"/>
              <a:t> </a:t>
            </a:r>
            <a:r>
              <a:rPr dirty="0" err="1"/>
              <a:t>Faktenabdeckung</a:t>
            </a:r>
            <a:r>
              <a:rPr dirty="0"/>
              <a:t> und 66,7 </a:t>
            </a:r>
            <a:r>
              <a:rPr dirty="0" err="1"/>
              <a:t>Prozent</a:t>
            </a:r>
            <a:r>
              <a:rPr dirty="0"/>
              <a:t> </a:t>
            </a:r>
            <a:r>
              <a:rPr dirty="0" err="1"/>
              <a:t>Zitationsvollständigkeit</a:t>
            </a:r>
            <a:r>
              <a:rPr dirty="0"/>
              <a:t>. Fixed Vector </a:t>
            </a:r>
            <a:r>
              <a:rPr dirty="0" err="1"/>
              <a:t>erzielt</a:t>
            </a:r>
            <a:r>
              <a:rPr dirty="0"/>
              <a:t> </a:t>
            </a:r>
            <a:r>
              <a:rPr dirty="0" err="1"/>
              <a:t>trotz</a:t>
            </a:r>
            <a:r>
              <a:rPr dirty="0"/>
              <a:t> </a:t>
            </a:r>
            <a:r>
              <a:rPr dirty="0" err="1"/>
              <a:t>schwächerem</a:t>
            </a:r>
            <a:r>
              <a:rPr dirty="0"/>
              <a:t> Retrieval 61,1 </a:t>
            </a:r>
            <a:r>
              <a:rPr dirty="0" err="1"/>
              <a:t>Prozent</a:t>
            </a:r>
            <a:r>
              <a:rPr dirty="0"/>
              <a:t> </a:t>
            </a:r>
            <a:r>
              <a:rPr dirty="0" err="1"/>
              <a:t>Faktenabdeckung</a:t>
            </a:r>
            <a:r>
              <a:rPr dirty="0"/>
              <a:t>. Das </a:t>
            </a:r>
            <a:r>
              <a:rPr dirty="0" err="1"/>
              <a:t>ist</a:t>
            </a:r>
            <a:r>
              <a:rPr dirty="0"/>
              <a:t> </a:t>
            </a:r>
            <a:r>
              <a:rPr dirty="0" err="1"/>
              <a:t>kein</a:t>
            </a:r>
            <a:r>
              <a:rPr dirty="0"/>
              <a:t> </a:t>
            </a:r>
            <a:r>
              <a:rPr dirty="0" err="1"/>
              <a:t>Widerspruch</a:t>
            </a:r>
            <a:r>
              <a:rPr dirty="0"/>
              <a:t>: Das </a:t>
            </a:r>
            <a:r>
              <a:rPr dirty="0" err="1"/>
              <a:t>generierende</a:t>
            </a:r>
            <a:r>
              <a:rPr dirty="0"/>
              <a:t> LLM </a:t>
            </a:r>
            <a:r>
              <a:rPr dirty="0" err="1"/>
              <a:t>ist</a:t>
            </a:r>
            <a:r>
              <a:rPr dirty="0"/>
              <a:t> nicht </a:t>
            </a:r>
            <a:r>
              <a:rPr dirty="0" err="1"/>
              <a:t>vollständig</a:t>
            </a:r>
            <a:r>
              <a:rPr dirty="0"/>
              <a:t> </a:t>
            </a:r>
            <a:r>
              <a:rPr dirty="0" err="1"/>
              <a:t>deterministisch</a:t>
            </a:r>
            <a:r>
              <a:rPr dirty="0"/>
              <a:t> und </a:t>
            </a:r>
            <a:r>
              <a:rPr dirty="0" err="1"/>
              <a:t>kann</a:t>
            </a:r>
            <a:r>
              <a:rPr dirty="0"/>
              <a:t> </a:t>
            </a:r>
            <a:r>
              <a:rPr dirty="0" err="1"/>
              <a:t>vorhandenen</a:t>
            </a:r>
            <a:r>
              <a:rPr dirty="0"/>
              <a:t> </a:t>
            </a:r>
            <a:r>
              <a:rPr dirty="0" err="1"/>
              <a:t>Kontext</a:t>
            </a:r>
            <a:r>
              <a:rPr dirty="0"/>
              <a:t> </a:t>
            </a:r>
            <a:r>
              <a:rPr dirty="0" err="1"/>
              <a:t>unvollständig</a:t>
            </a:r>
            <a:r>
              <a:rPr dirty="0"/>
              <a:t> </a:t>
            </a:r>
            <a:r>
              <a:rPr dirty="0" err="1"/>
              <a:t>nutzen</a:t>
            </a:r>
            <a:r>
              <a:rPr dirty="0"/>
              <a:t> </a:t>
            </a:r>
            <a:r>
              <a:rPr dirty="0" err="1"/>
              <a:t>oder</a:t>
            </a:r>
            <a:r>
              <a:rPr dirty="0"/>
              <a:t> </a:t>
            </a:r>
            <a:r>
              <a:rPr dirty="0" err="1"/>
              <a:t>einen</a:t>
            </a:r>
            <a:r>
              <a:rPr dirty="0"/>
              <a:t> </a:t>
            </a:r>
            <a:r>
              <a:rPr dirty="0" err="1"/>
              <a:t>falschen</a:t>
            </a:r>
            <a:r>
              <a:rPr dirty="0"/>
              <a:t> Artikel </a:t>
            </a:r>
            <a:r>
              <a:rPr dirty="0" err="1"/>
              <a:t>nennen</a:t>
            </a:r>
            <a:r>
              <a:rPr dirty="0"/>
              <a:t>.</a:t>
            </a:r>
          </a:p>
          <a:p>
            <a:endParaRPr dirty="0"/>
          </a:p>
          <a:p>
            <a:r>
              <a:rPr dirty="0" err="1"/>
              <a:t>Wichtig</a:t>
            </a:r>
            <a:r>
              <a:rPr dirty="0"/>
              <a:t>: </a:t>
            </a:r>
            <a:r>
              <a:rPr dirty="0" err="1"/>
              <a:t>Faktenabdeckung</a:t>
            </a:r>
            <a:r>
              <a:rPr dirty="0"/>
              <a:t> </a:t>
            </a:r>
            <a:r>
              <a:rPr dirty="0" err="1"/>
              <a:t>bewertet</a:t>
            </a:r>
            <a:r>
              <a:rPr dirty="0"/>
              <a:t> das </a:t>
            </a:r>
            <a:r>
              <a:rPr dirty="0" err="1"/>
              <a:t>Vorhandensein</a:t>
            </a:r>
            <a:r>
              <a:rPr dirty="0"/>
              <a:t> </a:t>
            </a:r>
            <a:r>
              <a:rPr dirty="0" err="1"/>
              <a:t>erwarteter</a:t>
            </a:r>
            <a:r>
              <a:rPr dirty="0"/>
              <a:t> </a:t>
            </a:r>
            <a:r>
              <a:rPr dirty="0" err="1"/>
              <a:t>Inhalte</a:t>
            </a:r>
            <a:r>
              <a:rPr dirty="0"/>
              <a:t>, nicht </a:t>
            </a:r>
            <a:r>
              <a:rPr dirty="0" err="1"/>
              <a:t>automatisch</a:t>
            </a:r>
            <a:r>
              <a:rPr dirty="0"/>
              <a:t> </a:t>
            </a:r>
            <a:r>
              <a:rPr dirty="0" err="1"/>
              <a:t>juristische</a:t>
            </a:r>
            <a:r>
              <a:rPr dirty="0"/>
              <a:t> </a:t>
            </a:r>
            <a:r>
              <a:rPr dirty="0" err="1"/>
              <a:t>Korrektheit</a:t>
            </a:r>
            <a:r>
              <a:rPr dirty="0"/>
              <a:t> </a:t>
            </a:r>
            <a:r>
              <a:rPr dirty="0" err="1"/>
              <a:t>jeder</a:t>
            </a:r>
            <a:r>
              <a:rPr dirty="0"/>
              <a:t> </a:t>
            </a:r>
            <a:r>
              <a:rPr dirty="0" err="1"/>
              <a:t>Aussage</a:t>
            </a:r>
            <a:r>
              <a:rPr dirty="0"/>
              <a:t>. </a:t>
            </a:r>
            <a:r>
              <a:rPr dirty="0" err="1"/>
              <a:t>Zitationsvollständigkeit</a:t>
            </a:r>
            <a:r>
              <a:rPr dirty="0"/>
              <a:t> </a:t>
            </a:r>
            <a:r>
              <a:rPr dirty="0" err="1"/>
              <a:t>sagt</a:t>
            </a:r>
            <a:r>
              <a:rPr dirty="0"/>
              <a:t>, </a:t>
            </a:r>
            <a:r>
              <a:rPr dirty="0" err="1"/>
              <a:t>ob</a:t>
            </a:r>
            <a:r>
              <a:rPr dirty="0"/>
              <a:t> </a:t>
            </a:r>
            <a:r>
              <a:rPr dirty="0" err="1"/>
              <a:t>erwartete</a:t>
            </a:r>
            <a:r>
              <a:rPr dirty="0"/>
              <a:t> </a:t>
            </a:r>
            <a:r>
              <a:rPr dirty="0" err="1"/>
              <a:t>Quellen</a:t>
            </a:r>
            <a:r>
              <a:rPr dirty="0"/>
              <a:t> </a:t>
            </a:r>
            <a:r>
              <a:rPr dirty="0" err="1"/>
              <a:t>genannt</a:t>
            </a:r>
            <a:r>
              <a:rPr dirty="0"/>
              <a:t> </a:t>
            </a:r>
            <a:r>
              <a:rPr dirty="0" err="1"/>
              <a:t>wurden</a:t>
            </a:r>
            <a:r>
              <a:rPr dirty="0"/>
              <a:t>; </a:t>
            </a:r>
            <a:r>
              <a:rPr dirty="0" err="1"/>
              <a:t>sie</a:t>
            </a:r>
            <a:r>
              <a:rPr dirty="0"/>
              <a:t> </a:t>
            </a:r>
            <a:r>
              <a:rPr dirty="0" err="1"/>
              <a:t>sagt</a:t>
            </a:r>
            <a:r>
              <a:rPr dirty="0"/>
              <a:t> </a:t>
            </a:r>
            <a:r>
              <a:rPr dirty="0" err="1"/>
              <a:t>allein</a:t>
            </a:r>
            <a:r>
              <a:rPr dirty="0"/>
              <a:t> </a:t>
            </a:r>
            <a:r>
              <a:rPr dirty="0" err="1"/>
              <a:t>noch</a:t>
            </a:r>
            <a:r>
              <a:rPr dirty="0"/>
              <a:t> nicht, </a:t>
            </a:r>
            <a:r>
              <a:rPr dirty="0" err="1"/>
              <a:t>ob</a:t>
            </a:r>
            <a:r>
              <a:rPr dirty="0"/>
              <a:t> die </a:t>
            </a:r>
            <a:r>
              <a:rPr dirty="0" err="1"/>
              <a:t>jeweilige</a:t>
            </a:r>
            <a:r>
              <a:rPr dirty="0"/>
              <a:t> Quelle die </a:t>
            </a:r>
            <a:r>
              <a:rPr dirty="0" err="1"/>
              <a:t>Aussage</a:t>
            </a:r>
            <a:r>
              <a:rPr dirty="0"/>
              <a:t> </a:t>
            </a:r>
            <a:r>
              <a:rPr dirty="0" err="1"/>
              <a:t>tatsächlich</a:t>
            </a:r>
            <a:r>
              <a:rPr dirty="0"/>
              <a:t> </a:t>
            </a:r>
            <a:r>
              <a:rPr dirty="0" err="1"/>
              <a:t>belegt</a:t>
            </a:r>
            <a:r>
              <a:rPr dirty="0"/>
              <a:t>.</a:t>
            </a:r>
          </a:p>
          <a:p>
            <a:endParaRPr dirty="0"/>
          </a:p>
          <a:p>
            <a:r>
              <a:rPr dirty="0" err="1"/>
              <a:t>Übergang</a:t>
            </a:r>
            <a:r>
              <a:rPr dirty="0"/>
              <a:t>: </a:t>
            </a:r>
            <a:r>
              <a:rPr dirty="0" err="1"/>
              <a:t>Diese</a:t>
            </a:r>
            <a:r>
              <a:rPr dirty="0"/>
              <a:t> </a:t>
            </a:r>
            <a:r>
              <a:rPr dirty="0" err="1"/>
              <a:t>Ergebnisse</a:t>
            </a:r>
            <a:r>
              <a:rPr dirty="0"/>
              <a:t> </a:t>
            </a:r>
            <a:r>
              <a:rPr dirty="0" err="1"/>
              <a:t>bilden</a:t>
            </a:r>
            <a:r>
              <a:rPr dirty="0"/>
              <a:t> die </a:t>
            </a:r>
            <a:r>
              <a:rPr dirty="0" err="1"/>
              <a:t>Grundlage</a:t>
            </a:r>
            <a:r>
              <a:rPr dirty="0"/>
              <a:t> für die </a:t>
            </a:r>
            <a:r>
              <a:rPr dirty="0" err="1"/>
              <a:t>Gruppenarbeit</a:t>
            </a:r>
            <a:r>
              <a:rPr dirty="0"/>
              <a:t>: Wo </a:t>
            </a:r>
            <a:r>
              <a:rPr dirty="0" err="1"/>
              <a:t>würden</a:t>
            </a:r>
            <a:r>
              <a:rPr dirty="0"/>
              <a:t> </a:t>
            </a:r>
            <a:r>
              <a:rPr dirty="0" err="1"/>
              <a:t>wir</a:t>
            </a:r>
            <a:r>
              <a:rPr dirty="0"/>
              <a:t> </a:t>
            </a:r>
            <a:r>
              <a:rPr dirty="0" err="1"/>
              <a:t>als</a:t>
            </a:r>
            <a:r>
              <a:rPr dirty="0"/>
              <a:t> </a:t>
            </a:r>
            <a:r>
              <a:rPr dirty="0" err="1"/>
              <a:t>Nächstes</a:t>
            </a:r>
            <a:r>
              <a:rPr dirty="0"/>
              <a:t> </a:t>
            </a:r>
            <a:r>
              <a:rPr dirty="0" err="1"/>
              <a:t>investieren</a:t>
            </a:r>
            <a:r>
              <a:rPr dirty="0"/>
              <a:t>?</a:t>
            </a:r>
          </a:p>
          <a:p>
            <a:endParaRPr dirty="0"/>
          </a:p>
          <a:p>
            <a:r>
              <a:rPr dirty="0"/>
              <a:t>[Sources]</a:t>
            </a:r>
          </a:p>
          <a:p>
            <a:r>
              <a:rPr dirty="0"/>
              <a:t>- C:/Users/mehlst/Documents/RAG-Workshop/evaluation/report-graph.md</a:t>
            </a:r>
          </a:p>
          <a:p>
            <a:r>
              <a:rPr dirty="0"/>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Gruppen betrachten dieselbe Pipeline aus drei Perspektiven und müssen eine begründete Priorität formulieren.</a:t>
            </a:r>
          </a:p>
          <a:p>
            <a:endParaRPr/>
          </a:p>
          <a:p>
            <a:r>
              <a:t>Sprechtext: Jede Gruppe bearbeitet ihr Wahlmodul anhand der bereitgestellten Fragen und Ergebnisse. Entscheidend ist nicht, möglichst viele Ideen zu sammeln, sondern eine konkrete Verbesserung mit erwarteter Wirkung, möglichem Nachteil und einer passenden Messgröße zu benennen.</a:t>
            </a:r>
          </a:p>
          <a:p>
            <a:endParaRPr/>
          </a:p>
          <a:p>
            <a:r>
              <a:t>Für die Kurzpräsentation helfen drei Fragen: Welches Problem lösen wir? Welche Änderung schlagen wir vor? Woran erkennen wir, dass sie besser ist? Die Ergebnisvorstellung dauert maximal zwei Minuten pro Gruppe; die Arbeitszeit kann je nach Workshop-Zeitplan angepasst werden.</a:t>
            </a:r>
          </a:p>
          <a:p>
            <a:endParaRPr/>
          </a:p>
          <a:p>
            <a:r>
              <a:t>Hinweis: Achtet darauf, Retrieval und Generierung nicht zu vermischen. Eine Maßnahme kann Recall verbessern, ohne die Antwortqualität automatisch im gleichen Maß zu erhöhen.</a:t>
            </a:r>
          </a:p>
          <a:p>
            <a:endParaRPr/>
          </a:p>
          <a:p>
            <a:r>
              <a:t>Übergang: Neben Algorithmen beeinflusst auch die Frameworkwahl, wie schnell und kontrolliert wir solche Änderungen umsetzen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rPr dirty="0" err="1"/>
              <a:t>Kernbotschaft</a:t>
            </a:r>
            <a:r>
              <a:rPr dirty="0"/>
              <a:t>: Die </a:t>
            </a:r>
            <a:r>
              <a:rPr dirty="0" err="1"/>
              <a:t>Frameworkwahl</a:t>
            </a:r>
            <a:r>
              <a:rPr dirty="0"/>
              <a:t> </a:t>
            </a:r>
            <a:r>
              <a:rPr dirty="0" err="1"/>
              <a:t>ist</a:t>
            </a:r>
            <a:r>
              <a:rPr dirty="0"/>
              <a:t> </a:t>
            </a:r>
            <a:r>
              <a:rPr dirty="0" err="1"/>
              <a:t>keine</a:t>
            </a:r>
            <a:r>
              <a:rPr dirty="0"/>
              <a:t> </a:t>
            </a:r>
            <a:r>
              <a:rPr dirty="0" err="1"/>
              <a:t>reine</a:t>
            </a:r>
            <a:r>
              <a:rPr dirty="0"/>
              <a:t> </a:t>
            </a:r>
            <a:r>
              <a:rPr dirty="0" err="1"/>
              <a:t>Featurefrage</a:t>
            </a:r>
            <a:r>
              <a:rPr dirty="0"/>
              <a:t>, </a:t>
            </a:r>
            <a:r>
              <a:rPr dirty="0" err="1"/>
              <a:t>sondern</a:t>
            </a:r>
            <a:r>
              <a:rPr dirty="0"/>
              <a:t> </a:t>
            </a:r>
            <a:r>
              <a:rPr dirty="0" err="1"/>
              <a:t>eine</a:t>
            </a:r>
            <a:r>
              <a:rPr dirty="0"/>
              <a:t> </a:t>
            </a:r>
            <a:r>
              <a:rPr dirty="0" err="1"/>
              <a:t>Entscheidung</a:t>
            </a:r>
            <a:r>
              <a:rPr dirty="0"/>
              <a:t> </a:t>
            </a:r>
            <a:r>
              <a:rPr dirty="0" err="1"/>
              <a:t>über</a:t>
            </a:r>
            <a:r>
              <a:rPr dirty="0"/>
              <a:t> </a:t>
            </a:r>
            <a:r>
              <a:rPr dirty="0" err="1"/>
              <a:t>Kontrolle</a:t>
            </a:r>
            <a:r>
              <a:rPr dirty="0"/>
              <a:t>, </a:t>
            </a:r>
            <a:r>
              <a:rPr dirty="0" err="1"/>
              <a:t>Transparenz</a:t>
            </a:r>
            <a:r>
              <a:rPr dirty="0"/>
              <a:t> und </a:t>
            </a:r>
            <a:r>
              <a:rPr dirty="0" err="1"/>
              <a:t>Betriebsaufwand</a:t>
            </a:r>
            <a:r>
              <a:rPr dirty="0"/>
              <a:t>.</a:t>
            </a:r>
          </a:p>
          <a:p>
            <a:endParaRPr dirty="0"/>
          </a:p>
          <a:p>
            <a:r>
              <a:rPr dirty="0" err="1"/>
              <a:t>Sprechtext</a:t>
            </a:r>
            <a:r>
              <a:rPr dirty="0"/>
              <a:t>: Unser Workshop-Code </a:t>
            </a:r>
            <a:r>
              <a:rPr dirty="0" err="1"/>
              <a:t>ist</a:t>
            </a:r>
            <a:r>
              <a:rPr dirty="0"/>
              <a:t> </a:t>
            </a:r>
            <a:r>
              <a:rPr dirty="0" err="1"/>
              <a:t>bewusst</a:t>
            </a:r>
            <a:r>
              <a:rPr dirty="0"/>
              <a:t> </a:t>
            </a:r>
            <a:r>
              <a:rPr dirty="0" err="1"/>
              <a:t>weitgehend</a:t>
            </a:r>
            <a:r>
              <a:rPr dirty="0"/>
              <a:t> framework-</a:t>
            </a:r>
            <a:r>
              <a:rPr dirty="0" err="1"/>
              <a:t>frei</a:t>
            </a:r>
            <a:r>
              <a:rPr dirty="0"/>
              <a:t>: OpenAI-</a:t>
            </a:r>
            <a:r>
              <a:rPr dirty="0" err="1"/>
              <a:t>kompatibler</a:t>
            </a:r>
            <a:r>
              <a:rPr dirty="0"/>
              <a:t> Client, </a:t>
            </a:r>
            <a:r>
              <a:rPr dirty="0" err="1"/>
              <a:t>ChromaDB</a:t>
            </a:r>
            <a:r>
              <a:rPr dirty="0"/>
              <a:t> und </a:t>
            </a:r>
            <a:r>
              <a:rPr dirty="0" err="1"/>
              <a:t>klar</a:t>
            </a:r>
            <a:r>
              <a:rPr dirty="0"/>
              <a:t> </a:t>
            </a:r>
            <a:r>
              <a:rPr dirty="0" err="1"/>
              <a:t>sichtbare</a:t>
            </a:r>
            <a:r>
              <a:rPr dirty="0"/>
              <a:t> Python-</a:t>
            </a:r>
            <a:r>
              <a:rPr dirty="0" err="1"/>
              <a:t>Funktionen</a:t>
            </a:r>
            <a:r>
              <a:rPr dirty="0"/>
              <a:t>. Das </a:t>
            </a:r>
            <a:r>
              <a:rPr dirty="0" err="1"/>
              <a:t>erhöht</a:t>
            </a:r>
            <a:r>
              <a:rPr dirty="0"/>
              <a:t> den </a:t>
            </a:r>
            <a:r>
              <a:rPr dirty="0" err="1"/>
              <a:t>Lernwert</a:t>
            </a:r>
            <a:r>
              <a:rPr dirty="0"/>
              <a:t> und </a:t>
            </a:r>
            <a:r>
              <a:rPr dirty="0" err="1"/>
              <a:t>macht</a:t>
            </a:r>
            <a:r>
              <a:rPr dirty="0"/>
              <a:t> </a:t>
            </a:r>
            <a:r>
              <a:rPr dirty="0" err="1"/>
              <a:t>jeden</a:t>
            </a:r>
            <a:r>
              <a:rPr dirty="0"/>
              <a:t> </a:t>
            </a:r>
            <a:r>
              <a:rPr dirty="0" err="1"/>
              <a:t>Verarbeitungsschritt</a:t>
            </a:r>
            <a:r>
              <a:rPr dirty="0"/>
              <a:t> </a:t>
            </a:r>
            <a:r>
              <a:rPr dirty="0" err="1"/>
              <a:t>nachvollziehbar</a:t>
            </a:r>
            <a:r>
              <a:rPr dirty="0"/>
              <a:t>. Frameworks </a:t>
            </a:r>
            <a:r>
              <a:rPr dirty="0" err="1"/>
              <a:t>wie</a:t>
            </a:r>
            <a:r>
              <a:rPr dirty="0"/>
              <a:t> </a:t>
            </a:r>
            <a:r>
              <a:rPr dirty="0" err="1"/>
              <a:t>LangChain</a:t>
            </a:r>
            <a:r>
              <a:rPr dirty="0"/>
              <a:t> </a:t>
            </a:r>
            <a:r>
              <a:rPr dirty="0" err="1"/>
              <a:t>oder</a:t>
            </a:r>
            <a:r>
              <a:rPr dirty="0"/>
              <a:t> </a:t>
            </a:r>
            <a:r>
              <a:rPr dirty="0" err="1"/>
              <a:t>LlamaIndex</a:t>
            </a:r>
            <a:r>
              <a:rPr dirty="0"/>
              <a:t> </a:t>
            </a:r>
            <a:r>
              <a:rPr dirty="0" err="1"/>
              <a:t>beschleunigen</a:t>
            </a:r>
            <a:r>
              <a:rPr dirty="0"/>
              <a:t> </a:t>
            </a:r>
            <a:r>
              <a:rPr dirty="0" err="1"/>
              <a:t>Standardintegrationen</a:t>
            </a:r>
            <a:r>
              <a:rPr dirty="0"/>
              <a:t>, </a:t>
            </a:r>
            <a:r>
              <a:rPr dirty="0" err="1"/>
              <a:t>bringen</a:t>
            </a:r>
            <a:r>
              <a:rPr dirty="0"/>
              <a:t> </a:t>
            </a:r>
            <a:r>
              <a:rPr dirty="0" err="1"/>
              <a:t>aber</a:t>
            </a:r>
            <a:r>
              <a:rPr dirty="0"/>
              <a:t> </a:t>
            </a:r>
            <a:r>
              <a:rPr dirty="0" err="1"/>
              <a:t>zusätzliche</a:t>
            </a:r>
            <a:r>
              <a:rPr dirty="0"/>
              <a:t> </a:t>
            </a:r>
            <a:r>
              <a:rPr dirty="0" err="1"/>
              <a:t>Abstraktionen</a:t>
            </a:r>
            <a:r>
              <a:rPr dirty="0"/>
              <a:t> und </a:t>
            </a:r>
            <a:r>
              <a:rPr dirty="0" err="1"/>
              <a:t>Versionsabhängigkeiten</a:t>
            </a:r>
            <a:r>
              <a:rPr dirty="0"/>
              <a:t>. Graph-</a:t>
            </a:r>
            <a:r>
              <a:rPr dirty="0" err="1"/>
              <a:t>orientierte</a:t>
            </a:r>
            <a:r>
              <a:rPr dirty="0"/>
              <a:t> </a:t>
            </a:r>
            <a:r>
              <a:rPr dirty="0" err="1"/>
              <a:t>Orchestrierung</a:t>
            </a:r>
            <a:r>
              <a:rPr dirty="0"/>
              <a:t> </a:t>
            </a:r>
            <a:r>
              <a:rPr dirty="0" err="1"/>
              <a:t>lohnt</a:t>
            </a:r>
            <a:r>
              <a:rPr dirty="0"/>
              <a:t> </a:t>
            </a:r>
            <a:r>
              <a:rPr dirty="0" err="1"/>
              <a:t>sich</a:t>
            </a:r>
            <a:r>
              <a:rPr dirty="0"/>
              <a:t> </a:t>
            </a:r>
            <a:r>
              <a:rPr dirty="0" err="1"/>
              <a:t>vor</a:t>
            </a:r>
            <a:r>
              <a:rPr dirty="0"/>
              <a:t> </a:t>
            </a:r>
            <a:r>
              <a:rPr dirty="0" err="1"/>
              <a:t>allem</a:t>
            </a:r>
            <a:r>
              <a:rPr dirty="0"/>
              <a:t> </a:t>
            </a:r>
            <a:r>
              <a:rPr dirty="0" err="1"/>
              <a:t>bei</a:t>
            </a:r>
            <a:r>
              <a:rPr dirty="0"/>
              <a:t> </a:t>
            </a:r>
            <a:r>
              <a:rPr dirty="0" err="1"/>
              <a:t>verzweigten</a:t>
            </a:r>
            <a:r>
              <a:rPr dirty="0"/>
              <a:t>, </a:t>
            </a:r>
            <a:r>
              <a:rPr dirty="0" err="1"/>
              <a:t>zustandsbehafteten</a:t>
            </a:r>
            <a:r>
              <a:rPr dirty="0"/>
              <a:t> </a:t>
            </a:r>
            <a:r>
              <a:rPr dirty="0" err="1"/>
              <a:t>Abläufen</a:t>
            </a:r>
            <a:r>
              <a:rPr dirty="0"/>
              <a:t>. Managed Services </a:t>
            </a:r>
            <a:r>
              <a:rPr dirty="0" err="1"/>
              <a:t>reduzieren</a:t>
            </a:r>
            <a:r>
              <a:rPr dirty="0"/>
              <a:t> </a:t>
            </a:r>
            <a:r>
              <a:rPr dirty="0" err="1"/>
              <a:t>Betriebsaufwand</a:t>
            </a:r>
            <a:r>
              <a:rPr dirty="0"/>
              <a:t>, </a:t>
            </a:r>
            <a:r>
              <a:rPr dirty="0" err="1"/>
              <a:t>erhöhen</a:t>
            </a:r>
            <a:r>
              <a:rPr dirty="0"/>
              <a:t> </a:t>
            </a:r>
            <a:r>
              <a:rPr dirty="0" err="1"/>
              <a:t>aber</a:t>
            </a:r>
            <a:r>
              <a:rPr dirty="0"/>
              <a:t> Kosten und </a:t>
            </a:r>
            <a:r>
              <a:rPr dirty="0" err="1"/>
              <a:t>Anbieterbindung</a:t>
            </a:r>
            <a:r>
              <a:rPr dirty="0"/>
              <a:t>.</a:t>
            </a:r>
          </a:p>
          <a:p>
            <a:endParaRPr dirty="0"/>
          </a:p>
          <a:p>
            <a:r>
              <a:rPr dirty="0" err="1"/>
              <a:t>Leitfrage</a:t>
            </a:r>
            <a:r>
              <a:rPr dirty="0"/>
              <a:t>: </a:t>
            </a:r>
            <a:r>
              <a:rPr dirty="0" err="1"/>
              <a:t>Welche</a:t>
            </a:r>
            <a:r>
              <a:rPr dirty="0"/>
              <a:t> </a:t>
            </a:r>
            <a:r>
              <a:rPr dirty="0" err="1"/>
              <a:t>Anforderungen</a:t>
            </a:r>
            <a:r>
              <a:rPr dirty="0"/>
              <a:t> </a:t>
            </a:r>
            <a:r>
              <a:rPr dirty="0" err="1"/>
              <a:t>dominieren</a:t>
            </a:r>
            <a:r>
              <a:rPr dirty="0"/>
              <a:t> </a:t>
            </a:r>
            <a:r>
              <a:rPr dirty="0" err="1"/>
              <a:t>im</a:t>
            </a:r>
            <a:r>
              <a:rPr dirty="0"/>
              <a:t> </a:t>
            </a:r>
            <a:r>
              <a:rPr dirty="0" err="1"/>
              <a:t>echten</a:t>
            </a:r>
            <a:r>
              <a:rPr dirty="0"/>
              <a:t> Projekt – </a:t>
            </a:r>
            <a:r>
              <a:rPr dirty="0" err="1"/>
              <a:t>schnelle</a:t>
            </a:r>
            <a:r>
              <a:rPr dirty="0"/>
              <a:t> </a:t>
            </a:r>
            <a:r>
              <a:rPr dirty="0" err="1"/>
              <a:t>Entwicklung</a:t>
            </a:r>
            <a:r>
              <a:rPr dirty="0"/>
              <a:t>, </a:t>
            </a:r>
            <a:r>
              <a:rPr dirty="0" err="1"/>
              <a:t>maximale</a:t>
            </a:r>
            <a:r>
              <a:rPr dirty="0"/>
              <a:t> </a:t>
            </a:r>
            <a:r>
              <a:rPr dirty="0" err="1"/>
              <a:t>Transparenz</a:t>
            </a:r>
            <a:r>
              <a:rPr dirty="0"/>
              <a:t>, </a:t>
            </a:r>
            <a:r>
              <a:rPr dirty="0" err="1"/>
              <a:t>komplexe</a:t>
            </a:r>
            <a:r>
              <a:rPr dirty="0"/>
              <a:t> </a:t>
            </a:r>
            <a:r>
              <a:rPr dirty="0" err="1"/>
              <a:t>Orchestrierung</a:t>
            </a:r>
            <a:r>
              <a:rPr dirty="0"/>
              <a:t> </a:t>
            </a:r>
            <a:r>
              <a:rPr dirty="0" err="1"/>
              <a:t>oder</a:t>
            </a:r>
            <a:r>
              <a:rPr dirty="0"/>
              <a:t> </a:t>
            </a:r>
            <a:r>
              <a:rPr dirty="0" err="1"/>
              <a:t>geringer</a:t>
            </a:r>
            <a:r>
              <a:rPr dirty="0"/>
              <a:t> </a:t>
            </a:r>
            <a:r>
              <a:rPr dirty="0" err="1"/>
              <a:t>Betrieb</a:t>
            </a:r>
            <a:r>
              <a:rPr dirty="0"/>
              <a:t>?</a:t>
            </a:r>
          </a:p>
          <a:p>
            <a:endParaRPr dirty="0"/>
          </a:p>
          <a:p>
            <a:r>
              <a:rPr dirty="0" err="1"/>
              <a:t>Übergang</a:t>
            </a:r>
            <a:r>
              <a:rPr dirty="0"/>
              <a:t>: </a:t>
            </a:r>
            <a:r>
              <a:rPr dirty="0" err="1"/>
              <a:t>Unabhängig</a:t>
            </a:r>
            <a:r>
              <a:rPr dirty="0"/>
              <a:t> </a:t>
            </a:r>
            <a:r>
              <a:rPr dirty="0" err="1"/>
              <a:t>vom</a:t>
            </a:r>
            <a:r>
              <a:rPr dirty="0"/>
              <a:t> </a:t>
            </a:r>
            <a:r>
              <a:rPr dirty="0" err="1"/>
              <a:t>Werkzeug</a:t>
            </a:r>
            <a:r>
              <a:rPr dirty="0"/>
              <a:t> </a:t>
            </a:r>
            <a:r>
              <a:rPr dirty="0" err="1"/>
              <a:t>bleiben</a:t>
            </a:r>
            <a:r>
              <a:rPr dirty="0"/>
              <a:t> </a:t>
            </a:r>
            <a:r>
              <a:rPr dirty="0" err="1"/>
              <a:t>drei</a:t>
            </a:r>
            <a:r>
              <a:rPr dirty="0"/>
              <a:t> </a:t>
            </a:r>
            <a:r>
              <a:rPr dirty="0" err="1"/>
              <a:t>Grundprinzipien</a:t>
            </a:r>
            <a:r>
              <a:rPr dirty="0"/>
              <a:t> </a:t>
            </a:r>
            <a:r>
              <a:rPr dirty="0" err="1"/>
              <a:t>bestehen</a:t>
            </a:r>
            <a:r>
              <a:rPr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Gutes RAG entsteht durch gezielten Kontext, getrennte Evaluation und nur so viel Komplexität wie messbar nötig.</a:t>
            </a:r>
          </a:p>
          <a:p>
            <a:endParaRPr/>
          </a:p>
          <a:p>
            <a:r>
              <a:t>Sprechtext: Erstens: RAG ist Context Engineering. Entscheidend ist nicht die maximale Menge, sondern die Relevanz des Kontexts. Zweitens: Retrieval und Antwort müssen getrennt gemessen werden – sonst wissen wir nicht, ob ein Fehler in der Suche oder in der Generierung liegt. Drittens: Chunking, Reranking, hybride Suche und Graphen sind Werkzeuge, keine Selbstzwecke. Wir ergänzen sie nur, wenn die Evaluation einen konkreten Nutzen zeigt.</a:t>
            </a:r>
          </a:p>
          <a:p>
            <a:endParaRPr/>
          </a:p>
          <a:p>
            <a:r>
              <a:t>Abschlussfrage: Welchen dieser Hebel würdet ihr in eurem eigenen Projekt als Erstes messen?</a:t>
            </a:r>
          </a:p>
          <a:p>
            <a:endParaRPr/>
          </a:p>
          <a:p>
            <a:r>
              <a:t>Übergang: Damit sind wir am Ende des Workshops – Zeit für Fragen und den Transfer in eure Anwendungsfälle.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Die Teilnehmenden sollen die Pipeline jetzt nicht nur ausführen, sondern ihre Qualitätsentscheidungen begründen können.</a:t>
            </a:r>
          </a:p>
          <a:p>
            <a:endParaRPr/>
          </a:p>
          <a:p>
            <a:r>
              <a:t>Sprechtext: Vielen Dank. Wir haben aus Schweizer Gesetzestexten eine nachvollziehbare RAG-Pipeline aufgebaut, mehrere Retrieval-Varianten verglichen und gesehen, warum gute Treffer noch keine perfekte Antwort garantieren. Die wichtigsten Artefakte sind der Code, die vorbereiteten Fragen und die Evaluationsberichte im Repository.</a:t>
            </a:r>
          </a:p>
          <a:p>
            <a:endParaRPr/>
          </a:p>
          <a:p>
            <a:r>
              <a:t>Mögliche Abschlussfragen an das Publikum: Wo würdet ihr RAG in eurem Umfeld einsetzen? Welche Daten- oder Compliance-Anforderungen wären dort kritisch? Welche Metrik fehlt euch für eine produktive Entscheidung?</a:t>
            </a:r>
          </a:p>
          <a:p>
            <a:endParaRPr/>
          </a:p>
          <a:p>
            <a:r>
              <a:t>Hinweis: Bei einer Live-Demo am Ende lieber eine bereits evaluierte Frage verwenden und gemeinsam Kontext, Quellen und Antwort vergleichen.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20.08.2026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20.08.2026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20.08.2026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20.08.2026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20.08.2026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20.08.2026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20.08.2026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20.08.2026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20.08.2026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20.08.2026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oleObject" Target="../embeddings/oleObject1.bin"/><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ags" Target="../tags/tag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2"/>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3" imgW="306" imgH="306" progId="TCLayout.ActiveDocument.1">
                  <p:embed/>
                </p:oleObj>
              </mc:Choice>
              <mc:Fallback>
                <p:oleObj name="think-cell Folie" r:id="rId13" imgW="306" imgH="306" progId="TCLayout.ActiveDocument.1">
                  <p:embed/>
                  <p:pic>
                    <p:nvPicPr>
                      <p:cNvPr id="0" name=""/>
                      <p:cNvPicPr/>
                      <p:nvPr/>
                    </p:nvPicPr>
                    <p:blipFill>
                      <a:blip r:embed="rId14"/>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20.08.2026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5"/>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6.xml"/><Relationship Id="rId1" Type="http://schemas.openxmlformats.org/officeDocument/2006/relationships/slideLayout" Target="../slideLayouts/slideLayout4.xml"/><Relationship Id="rId5" Type="http://schemas.openxmlformats.org/officeDocument/2006/relationships/image" Target="../media/image8.svg"/><Relationship Id="rId4" Type="http://schemas.openxmlformats.org/officeDocument/2006/relationships/image" Target="../media/image7.sv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8" Type="http://schemas.openxmlformats.org/officeDocument/2006/relationships/image" Target="../media/image14.svg"/><Relationship Id="rId13" Type="http://schemas.openxmlformats.org/officeDocument/2006/relationships/image" Target="../media/image19.svg"/><Relationship Id="rId3" Type="http://schemas.openxmlformats.org/officeDocument/2006/relationships/image" Target="../media/image9.svg"/><Relationship Id="rId7" Type="http://schemas.openxmlformats.org/officeDocument/2006/relationships/image" Target="../media/image13.svg"/><Relationship Id="rId12" Type="http://schemas.openxmlformats.org/officeDocument/2006/relationships/image" Target="../media/image18.svg"/><Relationship Id="rId2" Type="http://schemas.openxmlformats.org/officeDocument/2006/relationships/notesSlide" Target="../notesSlides/notesSlide8.xml"/><Relationship Id="rId16" Type="http://schemas.openxmlformats.org/officeDocument/2006/relationships/image" Target="../media/image22.svg"/><Relationship Id="rId1" Type="http://schemas.openxmlformats.org/officeDocument/2006/relationships/slideLayout" Target="../slideLayouts/slideLayout3.xml"/><Relationship Id="rId6" Type="http://schemas.openxmlformats.org/officeDocument/2006/relationships/image" Target="../media/image12.svg"/><Relationship Id="rId11" Type="http://schemas.openxmlformats.org/officeDocument/2006/relationships/image" Target="../media/image17.svg"/><Relationship Id="rId5" Type="http://schemas.openxmlformats.org/officeDocument/2006/relationships/image" Target="../media/image11.svg"/><Relationship Id="rId15" Type="http://schemas.openxmlformats.org/officeDocument/2006/relationships/image" Target="../media/image21.svg"/><Relationship Id="rId10" Type="http://schemas.openxmlformats.org/officeDocument/2006/relationships/image" Target="../media/image16.svg"/><Relationship Id="rId4" Type="http://schemas.openxmlformats.org/officeDocument/2006/relationships/image" Target="../media/image10.svg"/><Relationship Id="rId9" Type="http://schemas.openxmlformats.org/officeDocument/2006/relationships/image" Target="../media/image15.svg"/><Relationship Id="rId14" Type="http://schemas.openxmlformats.org/officeDocument/2006/relationships/image" Target="../media/image20.sv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8" Type="http://schemas.openxmlformats.org/officeDocument/2006/relationships/image" Target="../media/image17.svg"/><Relationship Id="rId13" Type="http://schemas.openxmlformats.org/officeDocument/2006/relationships/image" Target="../media/image10.svg"/><Relationship Id="rId3" Type="http://schemas.openxmlformats.org/officeDocument/2006/relationships/image" Target="../media/image12.svg"/><Relationship Id="rId7" Type="http://schemas.openxmlformats.org/officeDocument/2006/relationships/image" Target="../media/image16.svg"/><Relationship Id="rId12" Type="http://schemas.openxmlformats.org/officeDocument/2006/relationships/image" Target="../media/image22.svg"/><Relationship Id="rId2" Type="http://schemas.openxmlformats.org/officeDocument/2006/relationships/image" Target="../media/image9.svg"/><Relationship Id="rId1" Type="http://schemas.openxmlformats.org/officeDocument/2006/relationships/slideLayout" Target="../slideLayouts/slideLayout3.xml"/><Relationship Id="rId6" Type="http://schemas.openxmlformats.org/officeDocument/2006/relationships/image" Target="../media/image15.svg"/><Relationship Id="rId11" Type="http://schemas.openxmlformats.org/officeDocument/2006/relationships/image" Target="../media/image21.svg"/><Relationship Id="rId5" Type="http://schemas.openxmlformats.org/officeDocument/2006/relationships/image" Target="../media/image14.svg"/><Relationship Id="rId15" Type="http://schemas.openxmlformats.org/officeDocument/2006/relationships/image" Target="../media/image18.svg"/><Relationship Id="rId10" Type="http://schemas.openxmlformats.org/officeDocument/2006/relationships/image" Target="../media/image20.svg"/><Relationship Id="rId4" Type="http://schemas.openxmlformats.org/officeDocument/2006/relationships/image" Target="../media/image13.svg"/><Relationship Id="rId9" Type="http://schemas.openxmlformats.org/officeDocument/2006/relationships/image" Target="../media/image19.svg"/><Relationship Id="rId14" Type="http://schemas.openxmlformats.org/officeDocument/2006/relationships/image" Target="../media/image11.svg"/></Relationships>
</file>

<file path=ppt/slides/_rels/slide12.xml.rels><?xml version="1.0" encoding="UTF-8" standalone="yes"?>
<Relationships xmlns="http://schemas.openxmlformats.org/package/2006/relationships"><Relationship Id="rId2" Type="http://schemas.openxmlformats.org/officeDocument/2006/relationships/hyperlink" Target="https://github.com/AkrosAG/RAG-Workshop.git" TargetMode="Externa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8" Type="http://schemas.openxmlformats.org/officeDocument/2006/relationships/image" Target="../media/image9.svg"/><Relationship Id="rId13" Type="http://schemas.openxmlformats.org/officeDocument/2006/relationships/image" Target="../media/image15.svg"/><Relationship Id="rId3" Type="http://schemas.openxmlformats.org/officeDocument/2006/relationships/image" Target="../media/image17.svg"/><Relationship Id="rId7" Type="http://schemas.openxmlformats.org/officeDocument/2006/relationships/image" Target="../media/image22.svg"/><Relationship Id="rId12" Type="http://schemas.openxmlformats.org/officeDocument/2006/relationships/image" Target="../media/image13.svg"/><Relationship Id="rId2" Type="http://schemas.openxmlformats.org/officeDocument/2006/relationships/image" Target="../media/image16.svg"/><Relationship Id="rId1" Type="http://schemas.openxmlformats.org/officeDocument/2006/relationships/slideLayout" Target="../slideLayouts/slideLayout3.xml"/><Relationship Id="rId6" Type="http://schemas.openxmlformats.org/officeDocument/2006/relationships/image" Target="../media/image21.svg"/><Relationship Id="rId11" Type="http://schemas.openxmlformats.org/officeDocument/2006/relationships/image" Target="../media/image12.svg"/><Relationship Id="rId5" Type="http://schemas.openxmlformats.org/officeDocument/2006/relationships/image" Target="../media/image20.svg"/><Relationship Id="rId15" Type="http://schemas.openxmlformats.org/officeDocument/2006/relationships/image" Target="../media/image19.svg"/><Relationship Id="rId10" Type="http://schemas.openxmlformats.org/officeDocument/2006/relationships/image" Target="../media/image11.svg"/><Relationship Id="rId4" Type="http://schemas.openxmlformats.org/officeDocument/2006/relationships/image" Target="../media/image14.svg"/><Relationship Id="rId9" Type="http://schemas.openxmlformats.org/officeDocument/2006/relationships/image" Target="../media/image10.svg"/><Relationship Id="rId14" Type="http://schemas.openxmlformats.org/officeDocument/2006/relationships/image" Target="../media/image18.svg"/></Relationships>
</file>

<file path=ppt/slides/_rels/slide14.xml.rels><?xml version="1.0" encoding="UTF-8" standalone="yes"?>
<Relationships xmlns="http://schemas.openxmlformats.org/package/2006/relationships"><Relationship Id="rId8" Type="http://schemas.openxmlformats.org/officeDocument/2006/relationships/image" Target="../media/image20.svg"/><Relationship Id="rId13" Type="http://schemas.openxmlformats.org/officeDocument/2006/relationships/image" Target="../media/image16.svg"/><Relationship Id="rId3" Type="http://schemas.openxmlformats.org/officeDocument/2006/relationships/image" Target="../media/image12.svg"/><Relationship Id="rId7" Type="http://schemas.openxmlformats.org/officeDocument/2006/relationships/image" Target="../media/image19.svg"/><Relationship Id="rId12" Type="http://schemas.openxmlformats.org/officeDocument/2006/relationships/image" Target="../media/image15.svg"/><Relationship Id="rId2" Type="http://schemas.openxmlformats.org/officeDocument/2006/relationships/image" Target="../media/image9.svg"/><Relationship Id="rId1" Type="http://schemas.openxmlformats.org/officeDocument/2006/relationships/slideLayout" Target="../slideLayouts/slideLayout3.xml"/><Relationship Id="rId6" Type="http://schemas.openxmlformats.org/officeDocument/2006/relationships/image" Target="../media/image17.svg"/><Relationship Id="rId11" Type="http://schemas.openxmlformats.org/officeDocument/2006/relationships/image" Target="../media/image11.svg"/><Relationship Id="rId5" Type="http://schemas.openxmlformats.org/officeDocument/2006/relationships/image" Target="../media/image14.svg"/><Relationship Id="rId15" Type="http://schemas.openxmlformats.org/officeDocument/2006/relationships/image" Target="../media/image22.svg"/><Relationship Id="rId10" Type="http://schemas.openxmlformats.org/officeDocument/2006/relationships/image" Target="../media/image10.svg"/><Relationship Id="rId4" Type="http://schemas.openxmlformats.org/officeDocument/2006/relationships/image" Target="../media/image13.svg"/><Relationship Id="rId9" Type="http://schemas.openxmlformats.org/officeDocument/2006/relationships/image" Target="../media/image21.svg"/><Relationship Id="rId14" Type="http://schemas.openxmlformats.org/officeDocument/2006/relationships/image" Target="../media/image18.sv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8" Type="http://schemas.openxmlformats.org/officeDocument/2006/relationships/image" Target="../media/image13.svg"/><Relationship Id="rId13" Type="http://schemas.openxmlformats.org/officeDocument/2006/relationships/image" Target="../media/image18.svg"/><Relationship Id="rId3" Type="http://schemas.openxmlformats.org/officeDocument/2006/relationships/image" Target="../media/image21.svg"/><Relationship Id="rId7" Type="http://schemas.openxmlformats.org/officeDocument/2006/relationships/image" Target="../media/image12.svg"/><Relationship Id="rId12" Type="http://schemas.openxmlformats.org/officeDocument/2006/relationships/image" Target="../media/image17.svg"/><Relationship Id="rId2" Type="http://schemas.openxmlformats.org/officeDocument/2006/relationships/image" Target="../media/image20.svg"/><Relationship Id="rId1" Type="http://schemas.openxmlformats.org/officeDocument/2006/relationships/slideLayout" Target="../slideLayouts/slideLayout3.xml"/><Relationship Id="rId6" Type="http://schemas.openxmlformats.org/officeDocument/2006/relationships/image" Target="../media/image11.svg"/><Relationship Id="rId11" Type="http://schemas.openxmlformats.org/officeDocument/2006/relationships/image" Target="../media/image16.svg"/><Relationship Id="rId5" Type="http://schemas.openxmlformats.org/officeDocument/2006/relationships/image" Target="../media/image10.svg"/><Relationship Id="rId15" Type="http://schemas.openxmlformats.org/officeDocument/2006/relationships/image" Target="../media/image22.svg"/><Relationship Id="rId10" Type="http://schemas.openxmlformats.org/officeDocument/2006/relationships/image" Target="../media/image15.svg"/><Relationship Id="rId4" Type="http://schemas.openxmlformats.org/officeDocument/2006/relationships/image" Target="../media/image9.svg"/><Relationship Id="rId9" Type="http://schemas.openxmlformats.org/officeDocument/2006/relationships/image" Target="../media/image14.svg"/><Relationship Id="rId14" Type="http://schemas.openxmlformats.org/officeDocument/2006/relationships/image" Target="../media/image19.sv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8" Type="http://schemas.openxmlformats.org/officeDocument/2006/relationships/image" Target="../media/image10.svg"/><Relationship Id="rId13" Type="http://schemas.openxmlformats.org/officeDocument/2006/relationships/image" Target="../media/image20.svg"/><Relationship Id="rId3" Type="http://schemas.openxmlformats.org/officeDocument/2006/relationships/image" Target="../media/image14.svg"/><Relationship Id="rId7" Type="http://schemas.openxmlformats.org/officeDocument/2006/relationships/image" Target="../media/image9.svg"/><Relationship Id="rId12" Type="http://schemas.openxmlformats.org/officeDocument/2006/relationships/image" Target="../media/image18.svg"/><Relationship Id="rId2" Type="http://schemas.openxmlformats.org/officeDocument/2006/relationships/image" Target="../media/image13.svg"/><Relationship Id="rId1" Type="http://schemas.openxmlformats.org/officeDocument/2006/relationships/slideLayout" Target="../slideLayouts/slideLayout3.xml"/><Relationship Id="rId6" Type="http://schemas.openxmlformats.org/officeDocument/2006/relationships/image" Target="../media/image19.svg"/><Relationship Id="rId11" Type="http://schemas.openxmlformats.org/officeDocument/2006/relationships/image" Target="../media/image16.svg"/><Relationship Id="rId5" Type="http://schemas.openxmlformats.org/officeDocument/2006/relationships/image" Target="../media/image17.svg"/><Relationship Id="rId15" Type="http://schemas.openxmlformats.org/officeDocument/2006/relationships/image" Target="../media/image22.svg"/><Relationship Id="rId10" Type="http://schemas.openxmlformats.org/officeDocument/2006/relationships/image" Target="../media/image12.svg"/><Relationship Id="rId4" Type="http://schemas.openxmlformats.org/officeDocument/2006/relationships/image" Target="../media/image15.svg"/><Relationship Id="rId9" Type="http://schemas.openxmlformats.org/officeDocument/2006/relationships/image" Target="../media/image11.svg"/><Relationship Id="rId14" Type="http://schemas.openxmlformats.org/officeDocument/2006/relationships/image" Target="../media/image21.sv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20.svg"/><Relationship Id="rId7" Type="http://schemas.openxmlformats.org/officeDocument/2006/relationships/image" Target="../media/image24.svg"/><Relationship Id="rId2" Type="http://schemas.openxmlformats.org/officeDocument/2006/relationships/image" Target="../media/image15.svg"/><Relationship Id="rId1" Type="http://schemas.openxmlformats.org/officeDocument/2006/relationships/slideLayout" Target="../slideLayouts/slideLayout9.xml"/><Relationship Id="rId6" Type="http://schemas.openxmlformats.org/officeDocument/2006/relationships/image" Target="../media/image14.svg"/><Relationship Id="rId5" Type="http://schemas.openxmlformats.org/officeDocument/2006/relationships/image" Target="../media/image10.svg"/><Relationship Id="rId10" Type="http://schemas.openxmlformats.org/officeDocument/2006/relationships/image" Target="../media/image11.svg"/><Relationship Id="rId4" Type="http://schemas.openxmlformats.org/officeDocument/2006/relationships/image" Target="../media/image21.svg"/><Relationship Id="rId9" Type="http://schemas.openxmlformats.org/officeDocument/2006/relationships/image" Target="../media/image18.sv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9.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notesSlide" Target="../notesSlides/notesSlide20.xml"/><Relationship Id="rId1" Type="http://schemas.openxmlformats.org/officeDocument/2006/relationships/slideLayout" Target="../slideLayouts/slideLayout3.xml"/><Relationship Id="rId4"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20.08.2026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540000" y="3600000"/>
            <a:ext cx="6120000" cy="900000"/>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a:p>
            <a:r>
              <a:rPr lang="de-DE" dirty="0"/>
              <a:t>Stephanie Mehltretter, Daniel Frey</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20.08.2026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EA2CB40-4AA5-D7F7-B74C-FCE223109893}"/>
              </a:ext>
            </a:extLst>
          </p:cNvPr>
          <p:cNvSpPr>
            <a:spLocks noGrp="1"/>
          </p:cNvSpPr>
          <p:nvPr>
            <p:ph type="title"/>
          </p:nvPr>
        </p:nvSpPr>
        <p:spPr/>
        <p:txBody>
          <a:bodyPr/>
          <a:lstStyle/>
          <a:p>
            <a:r>
              <a:rPr lang="de-CH" dirty="0"/>
              <a:t>Was Ihr heute mitnehmen könnt</a:t>
            </a:r>
          </a:p>
        </p:txBody>
      </p:sp>
      <p:sp>
        <p:nvSpPr>
          <p:cNvPr id="3" name="Datumsplatzhalter 2">
            <a:extLst>
              <a:ext uri="{FF2B5EF4-FFF2-40B4-BE49-F238E27FC236}">
                <a16:creationId xmlns:a16="http://schemas.microsoft.com/office/drawing/2014/main" id="{2DA3CC93-C983-8492-6900-EF81C4EE1E1A}"/>
              </a:ext>
            </a:extLst>
          </p:cNvPr>
          <p:cNvSpPr>
            <a:spLocks noGrp="1"/>
          </p:cNvSpPr>
          <p:nvPr>
            <p:ph type="dt" sz="half" idx="10"/>
          </p:nvPr>
        </p:nvSpPr>
        <p:spPr/>
        <p:txBody>
          <a:bodyPr/>
          <a:lstStyle/>
          <a:p>
            <a:fld id="{3B96E7C6-F2CE-4756-8C9C-414CDB636DDE}" type="datetime1">
              <a:rPr lang="de-CH" smtClean="0"/>
              <a:t>20.08.2026</a:t>
            </a:fld>
            <a:endParaRPr lang="de-CH" dirty="0"/>
          </a:p>
        </p:txBody>
      </p:sp>
      <p:sp>
        <p:nvSpPr>
          <p:cNvPr id="4" name="Foliennummernplatzhalter 3">
            <a:extLst>
              <a:ext uri="{FF2B5EF4-FFF2-40B4-BE49-F238E27FC236}">
                <a16:creationId xmlns:a16="http://schemas.microsoft.com/office/drawing/2014/main" id="{9D321ECF-4452-34A1-FFA5-410A1D0BD724}"/>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5" name="Inhaltsplatzhalter 4">
            <a:extLst>
              <a:ext uri="{FF2B5EF4-FFF2-40B4-BE49-F238E27FC236}">
                <a16:creationId xmlns:a16="http://schemas.microsoft.com/office/drawing/2014/main" id="{B6185FCA-0204-7C49-ECBC-2383F8811DFB}"/>
              </a:ext>
            </a:extLst>
          </p:cNvPr>
          <p:cNvSpPr>
            <a:spLocks noGrp="1"/>
          </p:cNvSpPr>
          <p:nvPr>
            <p:ph sz="quarter" idx="13"/>
          </p:nvPr>
        </p:nvSpPr>
        <p:spPr/>
        <p:txBody>
          <a:bodyPr/>
          <a:lstStyle/>
          <a:p>
            <a:r>
              <a:rPr lang="de-DE" dirty="0"/>
              <a:t>Grenzen reiner LLMs erklären</a:t>
            </a:r>
          </a:p>
          <a:p>
            <a:r>
              <a:rPr lang="de-DE" dirty="0"/>
              <a:t>Die Bausteine einer RAG-Pipeline benennen und einordnen</a:t>
            </a:r>
          </a:p>
          <a:p>
            <a:r>
              <a:rPr lang="de-DE" dirty="0"/>
              <a:t>Selbst eine RAG-Pipeline in Betrieb nehmen</a:t>
            </a:r>
          </a:p>
          <a:p>
            <a:r>
              <a:rPr lang="de-DE" dirty="0"/>
              <a:t>Stellschrauben der Antwortqualität kennen</a:t>
            </a:r>
          </a:p>
          <a:p>
            <a:r>
              <a:rPr lang="de-DE" dirty="0"/>
              <a:t>Qualität messen statt vermuten</a:t>
            </a:r>
          </a:p>
          <a:p>
            <a:r>
              <a:rPr lang="de-DE" dirty="0"/>
              <a:t>Fundierte Architektur-Entscheide treffen</a:t>
            </a:r>
            <a:endParaRPr lang="de-CH" dirty="0"/>
          </a:p>
        </p:txBody>
      </p:sp>
    </p:spTree>
    <p:extLst>
      <p:ext uri="{BB962C8B-B14F-4D97-AF65-F5344CB8AC3E}">
        <p14:creationId xmlns:p14="http://schemas.microsoft.com/office/powerpoint/2010/main" val="20652140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20.08.2026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4</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20.08.2026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5</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540000" y="3780000"/>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p:nvPr/>
        </p:nvSpPr>
        <p:spPr>
          <a:xfrm>
            <a:off x="540000" y="2700000"/>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p:nvPr/>
        </p:nvSpPr>
        <p:spPr>
          <a:xfrm>
            <a:off x="4500000" y="2700000"/>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p:nvPr/>
        </p:nvSpPr>
        <p:spPr>
          <a:xfrm>
            <a:off x="8460000" y="2700000"/>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540000" y="2880000"/>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500000" y="2880000"/>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60000" y="2880000"/>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540000" y="4860000"/>
            <a:ext cx="10980000" cy="10800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720000" y="1620000"/>
            <a:ext cx="4500000" cy="2880000"/>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7020000" y="1620000"/>
            <a:ext cx="4500000" cy="2880000"/>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20.08.2026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6</a:t>
            </a:fld>
            <a:endParaRPr/>
          </a:p>
        </p:txBody>
      </p:sp>
      <p:sp>
        <p:nvSpPr>
          <p:cNvPr id="7" name="Expandieren-accent">
            <a:extLst>
              <a:ext uri="{FF2B5EF4-FFF2-40B4-BE49-F238E27FC236}">
                <a16:creationId xmlns:a16="http://schemas.microsoft.com/office/drawing/2014/main" id="{F3B72224-B9DE-495C-9796-06F07B8ACE36}"/>
              </a:ext>
            </a:extLst>
          </p:cNvPr>
          <p:cNvSpPr/>
          <p:nvPr/>
        </p:nvSpPr>
        <p:spPr>
          <a:xfrm>
            <a:off x="720000" y="1620000"/>
            <a:ext cx="4500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p:nvPr/>
        </p:nvSpPr>
        <p:spPr>
          <a:xfrm>
            <a:off x="7020000" y="1620000"/>
            <a:ext cx="4500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p:nvPr/>
        </p:nvSpPr>
        <p:spPr>
          <a:xfrm>
            <a:off x="5490000" y="2700000"/>
            <a:ext cx="1260000" cy="72000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p:nvPr/>
        </p:nvSpPr>
        <p:spPr>
          <a:xfrm>
            <a:off x="720000" y="4860000"/>
            <a:ext cx="85725" cy="1028700"/>
          </a:xfrm>
          <a:prstGeom prst="rect">
            <a:avLst/>
          </a:prstGeom>
          <a:solidFill>
            <a:srgbClr val="C9960F"/>
          </a:solidFill>
          <a:ln w="0">
            <a:solidFill>
              <a:srgbClr val="C9960F"/>
            </a:solidFill>
            <a:prstDash val="solid"/>
          </a:ln>
        </p:spPr>
        <p:txBody>
          <a:bodyPr/>
          <a:lstStyle/>
          <a:p>
            <a:endParaRPr lang="de-CH"/>
          </a:p>
        </p:txBody>
      </p:sp>
      <p:pic>
        <p:nvPicPr>
          <p:cNvPr id="27" name="Icon Komprimiere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0000" y="1980000"/>
            <a:ext cx="1080000" cy="1080000"/>
          </a:xfrm>
          <a:prstGeom prst="rect">
            <a:avLst/>
          </a:prstGeom>
        </p:spPr>
      </p:pic>
      <p:sp>
        <p:nvSpPr>
          <p:cNvPr id="28" name="Rechteck 27">
            <a:extLst>
              <a:ext uri="{FF2B5EF4-FFF2-40B4-BE49-F238E27FC236}">
                <a16:creationId xmlns:a16="http://schemas.microsoft.com/office/drawing/2014/main" id="{EEACB154-8F23-4F3B-90DA-78C963ADE415}"/>
              </a:ext>
            </a:extLst>
          </p:cNvPr>
          <p:cNvSpPr/>
          <p:nvPr/>
        </p:nvSpPr>
        <p:spPr>
          <a:xfrm>
            <a:off x="8460000" y="19800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p:nvPr/>
        </p:nvSpPr>
        <p:spPr>
          <a:xfrm>
            <a:off x="8460000" y="23400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p:nvPr/>
        </p:nvSpPr>
        <p:spPr>
          <a:xfrm>
            <a:off x="7200000" y="3240000"/>
            <a:ext cx="3960000" cy="90000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pic>
        <p:nvPicPr>
          <p:cNvPr id="35" name="Icon Expandiere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80000" y="1980000"/>
            <a:ext cx="1080000" cy="1080000"/>
          </a:xfrm>
          <a:prstGeom prst="rect">
            <a:avLst/>
          </a:prstGeom>
        </p:spPr>
      </p:pic>
      <p:sp>
        <p:nvSpPr>
          <p:cNvPr id="36" name="Rechteck 35">
            <a:extLst>
              <a:ext uri="{FF2B5EF4-FFF2-40B4-BE49-F238E27FC236}">
                <a16:creationId xmlns:a16="http://schemas.microsoft.com/office/drawing/2014/main" id="{9C059803-0FCD-4255-82D1-E5486EDB1ABE}"/>
              </a:ext>
            </a:extLst>
          </p:cNvPr>
          <p:cNvSpPr/>
          <p:nvPr/>
        </p:nvSpPr>
        <p:spPr>
          <a:xfrm>
            <a:off x="2160000" y="19800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p:nvPr/>
        </p:nvSpPr>
        <p:spPr>
          <a:xfrm>
            <a:off x="2160000" y="23400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dirty="0" err="1">
                <a:solidFill>
                  <a:srgbClr val="2D3F4B"/>
                </a:solidFill>
                <a:latin typeface="Arial"/>
                <a:ea typeface="Arial"/>
                <a:cs typeface="Arial"/>
              </a:rPr>
              <a:t>Expandieren</a:t>
            </a:r>
            <a:endParaRPr sz="2550" b="1" dirty="0">
              <a:solidFill>
                <a:srgbClr val="2D3F4B"/>
              </a:solidFill>
              <a:latin typeface="Arial"/>
              <a:ea typeface="Arial"/>
              <a:cs typeface="Arial"/>
            </a:endParaRPr>
          </a:p>
        </p:txBody>
      </p:sp>
      <p:sp>
        <p:nvSpPr>
          <p:cNvPr id="38" name="Rechteck 37">
            <a:extLst>
              <a:ext uri="{FF2B5EF4-FFF2-40B4-BE49-F238E27FC236}">
                <a16:creationId xmlns:a16="http://schemas.microsoft.com/office/drawing/2014/main" id="{ACFCC35B-9CB1-45B1-9CAA-5FC9371705C0}"/>
              </a:ext>
            </a:extLst>
          </p:cNvPr>
          <p:cNvSpPr/>
          <p:nvPr/>
        </p:nvSpPr>
        <p:spPr>
          <a:xfrm>
            <a:off x="1080000" y="3240000"/>
            <a:ext cx="3960000" cy="90000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Icon Translatieren"/>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00000" y="4854216"/>
            <a:ext cx="1034484" cy="1034484"/>
          </a:xfrm>
          <a:prstGeom prst="rect">
            <a:avLst/>
          </a:prstGeom>
        </p:spPr>
      </p:pic>
      <p:sp>
        <p:nvSpPr>
          <p:cNvPr id="42" name="Rechteck 41">
            <a:extLst>
              <a:ext uri="{FF2B5EF4-FFF2-40B4-BE49-F238E27FC236}">
                <a16:creationId xmlns:a16="http://schemas.microsoft.com/office/drawing/2014/main" id="{D3F77ACE-A9C1-407A-8F7A-E075BA0C63A1}"/>
              </a:ext>
            </a:extLst>
          </p:cNvPr>
          <p:cNvSpPr/>
          <p:nvPr/>
        </p:nvSpPr>
        <p:spPr>
          <a:xfrm>
            <a:off x="1934484" y="4874580"/>
            <a:ext cx="2246766" cy="525420"/>
          </a:xfrm>
          <a:prstGeom prst="rect">
            <a:avLst/>
          </a:prstGeom>
          <a:noFill/>
          <a:ln w="0">
            <a:noFill/>
            <a:prstDash val="solid"/>
          </a:ln>
        </p:spPr>
        <p:txBody>
          <a:bodyPr anchor="t"/>
          <a:lstStyle/>
          <a:p>
            <a:pPr>
              <a:defRPr sz="2025" b="1">
                <a:solidFill>
                  <a:srgbClr val="2D3F4B"/>
                </a:solidFill>
                <a:latin typeface="Arial"/>
                <a:ea typeface="Arial"/>
                <a:cs typeface="Arial"/>
              </a:defRPr>
            </a:pPr>
            <a:r>
              <a:rPr sz="2550" b="1" dirty="0" err="1">
                <a:solidFill>
                  <a:srgbClr val="2D3F4B"/>
                </a:solidFill>
                <a:latin typeface="Arial"/>
                <a:ea typeface="Arial"/>
                <a:cs typeface="Arial"/>
              </a:rPr>
              <a:t>Translatieren</a:t>
            </a:r>
            <a:endParaRPr sz="2550"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p:nvPr/>
        </p:nvSpPr>
        <p:spPr>
          <a:xfrm>
            <a:off x="1934484" y="5400000"/>
            <a:ext cx="9415104"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730" dirty="0">
                <a:solidFill>
                  <a:srgbClr val="2D3F4B"/>
                </a:solidFill>
                <a:latin typeface="Arial"/>
                <a:ea typeface="Arial"/>
                <a:cs typeface="Arial"/>
              </a:rPr>
              <a:t>Gleicher </a:t>
            </a:r>
            <a:r>
              <a:rPr sz="1730" dirty="0" err="1">
                <a:solidFill>
                  <a:srgbClr val="2D3F4B"/>
                </a:solidFill>
                <a:latin typeface="Arial"/>
                <a:ea typeface="Arial"/>
                <a:cs typeface="Arial"/>
              </a:rPr>
              <a:t>Inhalt</a:t>
            </a:r>
            <a:r>
              <a:rPr sz="1730" dirty="0">
                <a:solidFill>
                  <a:srgbClr val="2D3F4B"/>
                </a:solidFill>
                <a:latin typeface="Arial"/>
                <a:ea typeface="Arial"/>
                <a:cs typeface="Arial"/>
              </a:rPr>
              <a:t> → </a:t>
            </a:r>
            <a:r>
              <a:rPr sz="1730" dirty="0" err="1">
                <a:solidFill>
                  <a:srgbClr val="2D3F4B"/>
                </a:solidFill>
                <a:latin typeface="Arial"/>
                <a:ea typeface="Arial"/>
                <a:cs typeface="Arial"/>
              </a:rPr>
              <a:t>andere</a:t>
            </a:r>
            <a:r>
              <a:rPr sz="1730" dirty="0">
                <a:solidFill>
                  <a:srgbClr val="2D3F4B"/>
                </a:solidFill>
                <a:latin typeface="Arial"/>
                <a:ea typeface="Arial"/>
                <a:cs typeface="Arial"/>
              </a:rPr>
              <a:t> </a:t>
            </a:r>
            <a:r>
              <a:rPr sz="1730" dirty="0" err="1">
                <a:solidFill>
                  <a:srgbClr val="2D3F4B"/>
                </a:solidFill>
                <a:latin typeface="Arial"/>
                <a:ea typeface="Arial"/>
                <a:cs typeface="Arial"/>
              </a:rPr>
              <a:t>Sprache</a:t>
            </a:r>
            <a:r>
              <a:rPr sz="1730" dirty="0">
                <a:solidFill>
                  <a:srgbClr val="2D3F4B"/>
                </a:solidFill>
                <a:latin typeface="Arial"/>
                <a:ea typeface="Arial"/>
                <a:cs typeface="Arial"/>
              </a:rPr>
              <a:t>, Form </a:t>
            </a:r>
            <a:r>
              <a:rPr sz="1730" dirty="0" err="1">
                <a:solidFill>
                  <a:srgbClr val="2D3F4B"/>
                </a:solidFill>
                <a:latin typeface="Arial"/>
                <a:ea typeface="Arial"/>
                <a:cs typeface="Arial"/>
              </a:rPr>
              <a:t>oder</a:t>
            </a:r>
            <a:r>
              <a:rPr sz="1730" dirty="0">
                <a:solidFill>
                  <a:srgbClr val="2D3F4B"/>
                </a:solidFill>
                <a:latin typeface="Arial"/>
                <a:ea typeface="Arial"/>
                <a:cs typeface="Arial"/>
              </a:rPr>
              <a:t> </a:t>
            </a:r>
            <a:r>
              <a:rPr sz="1730" dirty="0" err="1">
                <a:solidFill>
                  <a:srgbClr val="2D3F4B"/>
                </a:solidFill>
                <a:latin typeface="Arial"/>
                <a:ea typeface="Arial"/>
                <a:cs typeface="Arial"/>
              </a:rPr>
              <a:t>Struktur</a:t>
            </a:r>
            <a:r>
              <a:rPr sz="1730" dirty="0">
                <a:solidFill>
                  <a:srgbClr val="2D3F4B"/>
                </a:solidFill>
                <a:latin typeface="Arial"/>
                <a:ea typeface="Arial"/>
                <a:cs typeface="Arial"/>
              </a:rPr>
              <a:t>. RAG </a:t>
            </a:r>
            <a:r>
              <a:rPr sz="1730" dirty="0" err="1">
                <a:solidFill>
                  <a:srgbClr val="2D3F4B"/>
                </a:solidFill>
                <a:latin typeface="Arial"/>
                <a:ea typeface="Arial"/>
                <a:cs typeface="Arial"/>
              </a:rPr>
              <a:t>ist</a:t>
            </a:r>
            <a:r>
              <a:rPr sz="1730" dirty="0">
                <a:solidFill>
                  <a:srgbClr val="2D3F4B"/>
                </a:solidFill>
                <a:latin typeface="Arial"/>
                <a:ea typeface="Arial"/>
                <a:cs typeface="Arial"/>
              </a:rPr>
              <a:t> </a:t>
            </a:r>
            <a:r>
              <a:rPr sz="1730" dirty="0" err="1">
                <a:solidFill>
                  <a:srgbClr val="2D3F4B"/>
                </a:solidFill>
                <a:latin typeface="Arial"/>
                <a:ea typeface="Arial"/>
                <a:cs typeface="Arial"/>
              </a:rPr>
              <a:t>dafür</a:t>
            </a:r>
            <a:r>
              <a:rPr sz="1730" dirty="0">
                <a:solidFill>
                  <a:srgbClr val="2D3F4B"/>
                </a:solidFill>
                <a:latin typeface="Arial"/>
                <a:ea typeface="Arial"/>
                <a:cs typeface="Arial"/>
              </a:rPr>
              <a:t> nicht </a:t>
            </a:r>
            <a:r>
              <a:rPr sz="1730" dirty="0" err="1">
                <a:solidFill>
                  <a:srgbClr val="2D3F4B"/>
                </a:solidFill>
                <a:latin typeface="Arial"/>
                <a:ea typeface="Arial"/>
                <a:cs typeface="Arial"/>
              </a:rPr>
              <a:t>zwingend</a:t>
            </a:r>
            <a:r>
              <a:rPr sz="1730" dirty="0">
                <a:solidFill>
                  <a:srgbClr val="2D3F4B"/>
                </a:solidFill>
                <a:latin typeface="Arial"/>
                <a:ea typeface="Arial"/>
                <a:cs typeface="Arial"/>
              </a:rPr>
              <a:t> </a:t>
            </a:r>
            <a:r>
              <a:rPr sz="1730" dirty="0" err="1">
                <a:solidFill>
                  <a:srgbClr val="2D3F4B"/>
                </a:solidFill>
                <a:latin typeface="Arial"/>
                <a:ea typeface="Arial"/>
                <a:cs typeface="Arial"/>
              </a:rPr>
              <a:t>nötig</a:t>
            </a:r>
            <a:r>
              <a:rPr sz="1730" dirty="0">
                <a:solidFill>
                  <a:srgbClr val="2D3F4B"/>
                </a:solidFill>
                <a:latin typeface="Arial"/>
                <a:ea typeface="Arial"/>
                <a:cs typeface="Arial"/>
              </a:rPr>
              <a:t>.</a:t>
            </a:r>
          </a:p>
        </p:txBody>
      </p:sp>
    </p:spTree>
    <p:extLst>
      <p:ext uri="{BB962C8B-B14F-4D97-AF65-F5344CB8AC3E}">
        <p14:creationId xmlns:p14="http://schemas.microsoft.com/office/powerpoint/2010/main" val="13265509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6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0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72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20.08.2026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7</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p:nvPr/>
        </p:nvSpPr>
        <p:spPr>
          <a:xfrm>
            <a:off x="719999" y="4680000"/>
            <a:ext cx="2520000"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p:nvPr/>
        </p:nvSpPr>
        <p:spPr>
          <a:xfrm>
            <a:off x="720000" y="4215465"/>
            <a:ext cx="2520000" cy="463773"/>
          </a:xfrm>
          <a:prstGeom prst="rect">
            <a:avLst/>
          </a:prstGeom>
          <a:noFill/>
        </p:spPr>
        <p:txBody>
          <a:bodyPr wrap="square" lIns="0" tIns="0" rIns="0" bIns="0" anchor="ctr">
            <a:no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p:nvPr/>
        </p:nvSpPr>
        <p:spPr>
          <a:xfrm>
            <a:off x="720000" y="4680000"/>
            <a:ext cx="2520000" cy="900000"/>
          </a:xfrm>
          <a:prstGeom prst="rect">
            <a:avLst/>
          </a:prstGeom>
          <a:noFill/>
        </p:spPr>
        <p:txBody>
          <a:bodyPr wrap="square" lIns="0" tIns="0" rIns="0" bIns="0" anchor="ctr">
            <a:no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relevante</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Dokument</a:t>
            </a:r>
            <a:r>
              <a:rPr sz="1650" dirty="0">
                <a:solidFill>
                  <a:srgbClr val="2D3F4B"/>
                </a:solidFill>
                <a:latin typeface="Arial"/>
                <a:ea typeface="Arial"/>
                <a:cs typeface="Arial"/>
              </a:rPr>
              <a:t>-Chunks</a:t>
            </a:r>
          </a:p>
        </p:txBody>
      </p:sp>
      <p:sp>
        <p:nvSpPr>
          <p:cNvPr id="17" name="Textfeld 16">
            <a:extLst>
              <a:ext uri="{FF2B5EF4-FFF2-40B4-BE49-F238E27FC236}">
                <a16:creationId xmlns:a16="http://schemas.microsoft.com/office/drawing/2014/main" id="{A9746E1B-7AD9-7F91-C37F-C799323B9FE0}"/>
              </a:ext>
            </a:extLst>
          </p:cNvPr>
          <p:cNvSpPr/>
          <p:nvPr/>
        </p:nvSpPr>
        <p:spPr>
          <a:xfrm>
            <a:off x="3599999" y="4245340"/>
            <a:ext cx="2520000" cy="433898"/>
          </a:xfrm>
          <a:prstGeom prst="rect">
            <a:avLst/>
          </a:prstGeom>
          <a:noFill/>
        </p:spPr>
        <p:txBody>
          <a:bodyPr wrap="square" lIns="0" tIns="0" rIns="0" bIns="0" anchor="ctr">
            <a:no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p:nvPr/>
        </p:nvSpPr>
        <p:spPr>
          <a:xfrm>
            <a:off x="3600000" y="4679241"/>
            <a:ext cx="2520000" cy="900759"/>
          </a:xfrm>
          <a:prstGeom prst="rect">
            <a:avLst/>
          </a:prstGeom>
          <a:noFill/>
        </p:spPr>
        <p:txBody>
          <a:bodyPr wrap="square" lIns="0" tIns="0" rIns="0" bIns="0" anchor="ctr">
            <a:no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p:nvPr/>
        </p:nvSpPr>
        <p:spPr>
          <a:xfrm>
            <a:off x="6480000" y="4680000"/>
            <a:ext cx="2520000"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p:nvPr/>
        </p:nvSpPr>
        <p:spPr>
          <a:xfrm>
            <a:off x="6480000" y="4215465"/>
            <a:ext cx="2520000" cy="463773"/>
          </a:xfrm>
          <a:prstGeom prst="rect">
            <a:avLst/>
          </a:prstGeom>
          <a:noFill/>
        </p:spPr>
        <p:txBody>
          <a:bodyPr wrap="square" lIns="0" tIns="0" rIns="0" bIns="0" anchor="ctr">
            <a:no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p:nvPr/>
        </p:nvSpPr>
        <p:spPr>
          <a:xfrm>
            <a:off x="6480000" y="4679241"/>
            <a:ext cx="2520000" cy="900759"/>
          </a:xfrm>
          <a:prstGeom prst="rect">
            <a:avLst/>
          </a:prstGeom>
          <a:noFill/>
        </p:spPr>
        <p:txBody>
          <a:bodyPr wrap="square" lIns="0" tIns="0" rIns="0" bIns="0" anchor="ctr">
            <a:no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Anweisungen</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p:nvPr/>
        </p:nvSpPr>
        <p:spPr>
          <a:xfrm>
            <a:off x="9359999" y="4680000"/>
            <a:ext cx="2520000"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p:nvPr/>
        </p:nvSpPr>
        <p:spPr>
          <a:xfrm>
            <a:off x="9360000" y="4233355"/>
            <a:ext cx="2520000" cy="445883"/>
          </a:xfrm>
          <a:prstGeom prst="rect">
            <a:avLst/>
          </a:prstGeom>
          <a:noFill/>
        </p:spPr>
        <p:txBody>
          <a:bodyPr wrap="square" lIns="0" tIns="0" rIns="0" bIns="0" anchor="ctr">
            <a:noAutofit/>
          </a:bodyPr>
          <a:lstStyle/>
          <a:p>
            <a:pPr algn="ctr">
              <a:buNone/>
              <a:defRPr sz="1800" b="1">
                <a:solidFill>
                  <a:srgbClr val="2D3F4B"/>
                </a:solidFill>
                <a:latin typeface="Arial"/>
                <a:ea typeface="Arial"/>
                <a:cs typeface="Arial"/>
              </a:defRPr>
            </a:pPr>
            <a:r>
              <a:rPr sz="1800" b="1" dirty="0" err="1">
                <a:solidFill>
                  <a:srgbClr val="2D3F4B"/>
                </a:solidFill>
                <a:latin typeface="Arial"/>
                <a:ea typeface="Arial"/>
                <a:cs typeface="Arial"/>
              </a:rPr>
              <a:t>Kontextfenster</a:t>
            </a:r>
            <a:endParaRPr sz="1800" b="1" dirty="0">
              <a:solidFill>
                <a:srgbClr val="2D3F4B"/>
              </a:solidFill>
              <a:latin typeface="Arial"/>
              <a:ea typeface="Arial"/>
              <a:cs typeface="Arial"/>
            </a:endParaRPr>
          </a:p>
        </p:txBody>
      </p:sp>
      <p:sp>
        <p:nvSpPr>
          <p:cNvPr id="31" name="Textfeld 30">
            <a:extLst>
              <a:ext uri="{FF2B5EF4-FFF2-40B4-BE49-F238E27FC236}">
                <a16:creationId xmlns:a16="http://schemas.microsoft.com/office/drawing/2014/main" id="{ACB039CC-F485-C051-649D-630116902526}"/>
              </a:ext>
            </a:extLst>
          </p:cNvPr>
          <p:cNvSpPr/>
          <p:nvPr/>
        </p:nvSpPr>
        <p:spPr>
          <a:xfrm>
            <a:off x="9359999" y="4671659"/>
            <a:ext cx="2520000" cy="908341"/>
          </a:xfrm>
          <a:prstGeom prst="rect">
            <a:avLst/>
          </a:prstGeom>
          <a:noFill/>
        </p:spPr>
        <p:txBody>
          <a:bodyPr wrap="square" lIns="0" tIns="0" rIns="0" bIns="0" anchor="ctr">
            <a:noAutofit/>
          </a:bodyPr>
          <a:lstStyle/>
          <a:p>
            <a:pPr algn="ctr">
              <a:buNone/>
              <a:defRPr sz="1650">
                <a:solidFill>
                  <a:srgbClr val="2D3F4B"/>
                </a:solidFill>
                <a:latin typeface="Arial"/>
                <a:ea typeface="Arial"/>
                <a:cs typeface="Arial"/>
              </a:defRPr>
            </a:pPr>
            <a:r>
              <a:rPr sz="1650" dirty="0">
                <a:solidFill>
                  <a:srgbClr val="2D3F4B"/>
                </a:solidFill>
                <a:latin typeface="Arial"/>
                <a:ea typeface="Arial"/>
                <a:cs typeface="Arial"/>
              </a:rPr>
              <a:t>Frage, </a:t>
            </a:r>
            <a:r>
              <a:rPr sz="1650" dirty="0" err="1">
                <a:solidFill>
                  <a:srgbClr val="2D3F4B"/>
                </a:solidFill>
                <a:latin typeface="Arial"/>
                <a:ea typeface="Arial"/>
                <a:cs typeface="Arial"/>
              </a:rPr>
              <a:t>Verlauf</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Inhalte</a:t>
            </a:r>
            <a:endParaRPr sz="1650" dirty="0">
              <a:solidFill>
                <a:srgbClr val="2D3F4B"/>
              </a:solidFill>
              <a:latin typeface="Arial"/>
              <a:ea typeface="Arial"/>
              <a:cs typeface="Arial"/>
            </a:endParaRPr>
          </a:p>
        </p:txBody>
      </p:sp>
      <p:sp>
        <p:nvSpPr>
          <p:cNvPr id="33" name="Rechteck: abgerundete Ecken 32">
            <a:extLst>
              <a:ext uri="{FF2B5EF4-FFF2-40B4-BE49-F238E27FC236}">
                <a16:creationId xmlns:a16="http://schemas.microsoft.com/office/drawing/2014/main" id="{5ADBEBE3-16B3-0919-7EBC-ADC5CFDD5D77}"/>
              </a:ext>
            </a:extLst>
          </p:cNvPr>
          <p:cNvSpPr/>
          <p:nvPr/>
        </p:nvSpPr>
        <p:spPr>
          <a:xfrm>
            <a:off x="4320000" y="2520000"/>
            <a:ext cx="3600000" cy="90000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de-CH" b="1" dirty="0">
                <a:solidFill>
                  <a:srgbClr val="2D3F4B"/>
                </a:solidFill>
                <a:ea typeface="Arial"/>
                <a:cs typeface="Arial"/>
              </a:rPr>
              <a:t>LLM-KONTEXT</a:t>
            </a:r>
            <a:endParaRPr lang="de-CH" sz="2000" b="1" dirty="0">
              <a:solidFill>
                <a:srgbClr val="2D3F4B"/>
              </a:solidFil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3" idx="1"/>
          </p:cNvCxnSpPr>
          <p:nvPr/>
        </p:nvCxnSpPr>
        <p:spPr>
          <a:xfrm flipV="1">
            <a:off x="1979999" y="2970000"/>
            <a:ext cx="2340001" cy="1170000"/>
          </a:xfrm>
          <a:prstGeom prst="straightConnector1">
            <a:avLst/>
          </a:prstGeom>
          <a:ln w="50800" cap="rnd">
            <a:solidFill>
              <a:srgbClr val="C60C30"/>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a:stCxn id="55" idx="0"/>
          </p:cNvCxnSpPr>
          <p:nvPr/>
        </p:nvCxnSpPr>
        <p:spPr>
          <a:xfrm flipV="1">
            <a:off x="4859999" y="3420000"/>
            <a:ext cx="543691" cy="720000"/>
          </a:xfrm>
          <a:prstGeom prst="straightConnector1">
            <a:avLst/>
          </a:prstGeom>
          <a:ln w="50800" cap="rnd">
            <a:solidFill>
              <a:srgbClr val="9BC7EE"/>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a:stCxn id="56" idx="0"/>
          </p:cNvCxnSpPr>
          <p:nvPr/>
        </p:nvCxnSpPr>
        <p:spPr>
          <a:xfrm flipH="1" flipV="1">
            <a:off x="7131401" y="3420000"/>
            <a:ext cx="608598" cy="720000"/>
          </a:xfrm>
          <a:prstGeom prst="straightConnector1">
            <a:avLst/>
          </a:prstGeom>
          <a:ln w="50800" cap="rnd">
            <a:solidFill>
              <a:srgbClr val="43858A"/>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3" idx="3"/>
          </p:cNvCxnSpPr>
          <p:nvPr/>
        </p:nvCxnSpPr>
        <p:spPr>
          <a:xfrm flipH="1" flipV="1">
            <a:off x="7920000" y="2970000"/>
            <a:ext cx="2699999" cy="1170000"/>
          </a:xfrm>
          <a:prstGeom prst="straightConnector1">
            <a:avLst/>
          </a:prstGeom>
          <a:ln w="50800" cap="rnd">
            <a:solidFill>
              <a:srgbClr val="C9960F"/>
            </a:solidFill>
            <a:prstDash val="solid"/>
            <a:roun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p:nvPr/>
        </p:nvSpPr>
        <p:spPr>
          <a:xfrm>
            <a:off x="719999" y="4140000"/>
            <a:ext cx="2520000"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p:nvPr/>
        </p:nvSpPr>
        <p:spPr>
          <a:xfrm>
            <a:off x="3599999" y="4140000"/>
            <a:ext cx="2520000" cy="97758"/>
          </a:xfrm>
          <a:prstGeom prst="rect">
            <a:avLst/>
          </a:prstGeom>
          <a:solidFill>
            <a:srgbClr val="9BC7EE"/>
          </a:solidFill>
          <a:ln w="1270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p:nvPr/>
        </p:nvSpPr>
        <p:spPr>
          <a:xfrm>
            <a:off x="6479999" y="4140000"/>
            <a:ext cx="2520000"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p:nvPr/>
        </p:nvSpPr>
        <p:spPr>
          <a:xfrm>
            <a:off x="9359999" y="4140000"/>
            <a:ext cx="2520000"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p:nvPr/>
        </p:nvSpPr>
        <p:spPr>
          <a:xfrm>
            <a:off x="4320000" y="1980000"/>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
        <p:nvSpPr>
          <p:cNvPr id="6" name="Gerader Verbinder 5">
            <a:extLst>
              <a:ext uri="{FF2B5EF4-FFF2-40B4-BE49-F238E27FC236}">
                <a16:creationId xmlns:a16="http://schemas.microsoft.com/office/drawing/2014/main" id="{A38B96F3-3210-7178-0D60-5D63C5B82232}"/>
              </a:ext>
            </a:extLst>
          </p:cNvPr>
          <p:cNvSpPr/>
          <p:nvPr/>
        </p:nvSpPr>
        <p:spPr>
          <a:xfrm>
            <a:off x="3600000" y="4680000"/>
            <a:ext cx="2520000" cy="0"/>
          </a:xfrm>
          <a:prstGeom prst="line">
            <a:avLst/>
          </a:prstGeom>
          <a:solidFill>
            <a:srgbClr val="9BC7EE"/>
          </a:solidFill>
          <a:ln w="28575">
            <a:solidFill>
              <a:srgbClr val="9BC7EE"/>
            </a:solidFill>
            <a:prstDash val="solid"/>
          </a:ln>
        </p:spPr>
        <p:txBody>
          <a:bodyPr/>
          <a:lstStyle/>
          <a:p>
            <a:endParaRPr lang="de-CH"/>
          </a:p>
        </p:txBody>
      </p:sp>
    </p:spTree>
    <p:extLst>
      <p:ext uri="{BB962C8B-B14F-4D97-AF65-F5344CB8AC3E}">
        <p14:creationId xmlns:p14="http://schemas.microsoft.com/office/powerpoint/2010/main" val="40068725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eines Full 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8</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41294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82461" y="346633"/>
            <a:ext cx="11230114" cy="767605"/>
          </a:xfrm>
        </p:spPr>
        <p:txBody>
          <a:bodyPr anchor="ctr"/>
          <a:lstStyle/>
          <a:p>
            <a:r>
              <a:rPr lang="de-DE" dirty="0" err="1"/>
              <a:t>Vom</a:t>
            </a:r>
            <a:r>
              <a:rPr lang="de-DE" dirty="0"/>
              <a:t> </a:t>
            </a:r>
            <a:r>
              <a:rPr lang="de-DE" dirty="0" err="1"/>
              <a:t>Modellaufruf</a:t>
            </a:r>
            <a:r>
              <a:rPr lang="de-DE" dirty="0"/>
              <a:t> </a:t>
            </a:r>
            <a:r>
              <a:rPr lang="de-DE" dirty="0" err="1"/>
              <a:t>zum</a:t>
            </a:r>
            <a:r>
              <a:rPr lang="de-DE" dirty="0"/>
              <a:t> </a:t>
            </a:r>
            <a:r>
              <a:rPr lang="de-DE" dirty="0" err="1"/>
              <a:t>messbaren</a:t>
            </a:r>
            <a:r>
              <a:rPr lang="de-DE" dirty="0"/>
              <a:t>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sz="half" idx="10"/>
          </p:nvPr>
        </p:nvSpPr>
        <p:spPr>
          <a:xfrm>
            <a:off x="933451" y="6359712"/>
            <a:ext cx="616744" cy="365125"/>
          </a:xfrm>
        </p:spPr>
        <p:txBody>
          <a:bodyPr/>
          <a:lstStyle/>
          <a:p>
            <a:fld id="{1EB7C1D4-D1F3-40CB-8780-B2B6A9133392}" type="datetime1">
              <a:rPr lang="de-DE"/>
              <a:pPr/>
              <a:t>20.08.2026</a:t>
            </a:fld>
            <a:endParaRPr lang="de-DE" dirty="0"/>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sz="quarter" idx="12"/>
          </p:nvPr>
        </p:nvSpPr>
        <p:spPr>
          <a:xfrm>
            <a:off x="482461" y="6359712"/>
            <a:ext cx="415270" cy="365125"/>
          </a:xfrm>
        </p:spPr>
        <p:txBody>
          <a:bodyPr/>
          <a:lstStyle/>
          <a:p>
            <a:fld id="{CE7E00E2-F08D-429A-AD9B-1ECBEC02F4DB}" type="slidenum">
              <a:rPr lang="de-CH"/>
              <a:pPr/>
              <a:t>9</a:t>
            </a:fld>
            <a:endParaRPr lang="de-CH"/>
          </a:p>
        </p:txBody>
      </p:sp>
      <p:sp>
        <p:nvSpPr>
          <p:cNvPr id="11" name="repo-progression-subtitle">
            <a:extLst>
              <a:ext uri="{FF2B5EF4-FFF2-40B4-BE49-F238E27FC236}">
                <a16:creationId xmlns:a16="http://schemas.microsoft.com/office/drawing/2014/main" id="{93070F9C-1D73-491A-AA83-B0CD1488E27D}"/>
              </a:ext>
            </a:extLst>
          </p:cNvPr>
          <p:cNvSpPr/>
          <p:nvPr/>
        </p:nvSpPr>
        <p:spPr>
          <a:xfrm>
            <a:off x="540000" y="14400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p:nvPr/>
        </p:nvSpPr>
        <p:spPr>
          <a:xfrm>
            <a:off x="1259999" y="2502900"/>
            <a:ext cx="9432508"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p:nvPr/>
        </p:nvSpPr>
        <p:spPr>
          <a:xfrm>
            <a:off x="1440000" y="2160000"/>
            <a:ext cx="720000" cy="7200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p:nvPr/>
        </p:nvSpPr>
        <p:spPr>
          <a:xfrm>
            <a:off x="720000" y="3060000"/>
            <a:ext cx="2160000"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lang="de-CH" sz="1200" b="1" dirty="0">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p:nvPr/>
        </p:nvSpPr>
        <p:spPr>
          <a:xfrm>
            <a:off x="72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LLM-</a:t>
            </a:r>
            <a:r>
              <a:rPr sz="1800" b="1" dirty="0" err="1">
                <a:solidFill>
                  <a:srgbClr val="2D3F4B"/>
                </a:solidFill>
                <a:latin typeface="Arial"/>
                <a:ea typeface="Arial"/>
                <a:cs typeface="Arial"/>
              </a:rPr>
              <a:t>Aufruf</a:t>
            </a:r>
            <a:endParaRPr sz="1800" b="1" dirty="0">
              <a:solidFill>
                <a:srgbClr val="2D3F4B"/>
              </a:solidFill>
              <a:latin typeface="Arial"/>
              <a:ea typeface="Arial"/>
              <a:cs typeface="Arial"/>
            </a:endParaRPr>
          </a:p>
        </p:txBody>
      </p:sp>
      <p:sp>
        <p:nvSpPr>
          <p:cNvPr id="16" name="stage-1-copy">
            <a:extLst>
              <a:ext uri="{FF2B5EF4-FFF2-40B4-BE49-F238E27FC236}">
                <a16:creationId xmlns:a16="http://schemas.microsoft.com/office/drawing/2014/main" id="{C5B9BC2D-8807-4358-9EC7-F52D82CC6BF4}"/>
              </a:ext>
            </a:extLst>
          </p:cNvPr>
          <p:cNvSpPr/>
          <p:nvPr/>
        </p:nvSpPr>
        <p:spPr>
          <a:xfrm>
            <a:off x="72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dirty="0">
                <a:solidFill>
                  <a:srgbClr val="2D3F4B"/>
                </a:solidFill>
                <a:latin typeface="Arial"/>
                <a:ea typeface="Arial"/>
                <a:cs typeface="Arial"/>
              </a:rPr>
              <a:t>Prompt </a:t>
            </a:r>
            <a:r>
              <a:rPr sz="1500" dirty="0" err="1">
                <a:solidFill>
                  <a:srgbClr val="2D3F4B"/>
                </a:solidFill>
                <a:latin typeface="Arial"/>
                <a:ea typeface="Arial"/>
                <a:cs typeface="Arial"/>
              </a:rPr>
              <a:t>senden</a:t>
            </a:r>
            <a:endParaRPr sz="1500" dirty="0">
              <a:solidFill>
                <a:srgbClr val="2D3F4B"/>
              </a:solidFill>
              <a:latin typeface="Arial"/>
              <a:ea typeface="Arial"/>
              <a:cs typeface="Arial"/>
            </a:endParaRPr>
          </a:p>
          <a:p>
            <a:pPr algn="ctr">
              <a:buNone/>
              <a:defRPr sz="1500">
                <a:solidFill>
                  <a:srgbClr val="2D3F4B"/>
                </a:solidFill>
                <a:latin typeface="Arial"/>
                <a:ea typeface="Arial"/>
                <a:cs typeface="Arial"/>
              </a:defRPr>
            </a:pPr>
            <a:r>
              <a:rPr sz="1500" dirty="0" err="1">
                <a:solidFill>
                  <a:srgbClr val="2D3F4B"/>
                </a:solidFill>
                <a:latin typeface="Arial"/>
                <a:ea typeface="Arial"/>
                <a:cs typeface="Arial"/>
              </a:rPr>
              <a:t>Antwort</a:t>
            </a:r>
            <a:r>
              <a:rPr sz="1500" dirty="0">
                <a:solidFill>
                  <a:srgbClr val="2D3F4B"/>
                </a:solidFill>
                <a:latin typeface="Arial"/>
                <a:ea typeface="Arial"/>
                <a:cs typeface="Arial"/>
              </a:rPr>
              <a:t> </a:t>
            </a:r>
            <a:r>
              <a:rPr sz="1500" dirty="0" err="1">
                <a:solidFill>
                  <a:srgbClr val="2D3F4B"/>
                </a:solidFill>
                <a:latin typeface="Arial"/>
                <a:ea typeface="Arial"/>
                <a:cs typeface="Arial"/>
              </a:rPr>
              <a:t>erhalten</a:t>
            </a:r>
            <a:endParaRPr sz="1500" dirty="0">
              <a:solidFill>
                <a:srgbClr val="2D3F4B"/>
              </a:solidFill>
              <a:latin typeface="Arial"/>
              <a:ea typeface="Arial"/>
              <a:cs typeface="Arial"/>
            </a:endParaRPr>
          </a:p>
        </p:txBody>
      </p:sp>
      <p:sp>
        <p:nvSpPr>
          <p:cNvPr id="17" name="stage-2-circle">
            <a:extLst>
              <a:ext uri="{FF2B5EF4-FFF2-40B4-BE49-F238E27FC236}">
                <a16:creationId xmlns:a16="http://schemas.microsoft.com/office/drawing/2014/main" id="{788267D1-787C-48BB-921D-457EA3D4064D}"/>
              </a:ext>
            </a:extLst>
          </p:cNvPr>
          <p:cNvSpPr/>
          <p:nvPr/>
        </p:nvSpPr>
        <p:spPr>
          <a:xfrm>
            <a:off x="4230000" y="2160000"/>
            <a:ext cx="720000" cy="7200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p:nvPr/>
        </p:nvSpPr>
        <p:spPr>
          <a:xfrm>
            <a:off x="3480000" y="3060000"/>
            <a:ext cx="2160000"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p:nvPr/>
        </p:nvSpPr>
        <p:spPr>
          <a:xfrm>
            <a:off x="342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p:nvPr/>
        </p:nvSpPr>
        <p:spPr>
          <a:xfrm>
            <a:off x="342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p:nvPr/>
        </p:nvSpPr>
        <p:spPr>
          <a:xfrm>
            <a:off x="7020000" y="2160000"/>
            <a:ext cx="720000" cy="7200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dirty="0">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p:nvPr/>
        </p:nvSpPr>
        <p:spPr>
          <a:xfrm>
            <a:off x="6240000" y="3060000"/>
            <a:ext cx="2160000"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p:nvPr/>
        </p:nvSpPr>
        <p:spPr>
          <a:xfrm>
            <a:off x="630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p:nvPr/>
        </p:nvSpPr>
        <p:spPr>
          <a:xfrm>
            <a:off x="630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dirty="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dirty="0" err="1">
                <a:solidFill>
                  <a:srgbClr val="2D3F4B"/>
                </a:solidFill>
                <a:latin typeface="Arial"/>
                <a:ea typeface="Arial"/>
                <a:cs typeface="Arial"/>
              </a:rPr>
              <a:t>Suche</a:t>
            </a:r>
            <a:r>
              <a:rPr sz="1500" dirty="0">
                <a:solidFill>
                  <a:srgbClr val="2D3F4B"/>
                </a:solidFill>
                <a:latin typeface="Arial"/>
                <a:ea typeface="Arial"/>
                <a:cs typeface="Arial"/>
              </a:rPr>
              <a:t> + Reranking</a:t>
            </a:r>
          </a:p>
        </p:txBody>
      </p:sp>
      <p:sp>
        <p:nvSpPr>
          <p:cNvPr id="25" name="stage-4-circle">
            <a:extLst>
              <a:ext uri="{FF2B5EF4-FFF2-40B4-BE49-F238E27FC236}">
                <a16:creationId xmlns:a16="http://schemas.microsoft.com/office/drawing/2014/main" id="{1D3AC8DC-9B1D-4449-B0CF-7DCD74368364}"/>
              </a:ext>
            </a:extLst>
          </p:cNvPr>
          <p:cNvSpPr/>
          <p:nvPr/>
        </p:nvSpPr>
        <p:spPr>
          <a:xfrm>
            <a:off x="9720000" y="2160000"/>
            <a:ext cx="720000" cy="7200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p:nvPr/>
        </p:nvSpPr>
        <p:spPr>
          <a:xfrm>
            <a:off x="9000000" y="3060000"/>
            <a:ext cx="2160000" cy="36000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dirty="0">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p:nvPr/>
        </p:nvSpPr>
        <p:spPr>
          <a:xfrm>
            <a:off x="900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p:nvPr/>
        </p:nvSpPr>
        <p:spPr>
          <a:xfrm>
            <a:off x="900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p:nvPr/>
        </p:nvSpPr>
        <p:spPr>
          <a:xfrm>
            <a:off x="1260000" y="5040000"/>
            <a:ext cx="9900000" cy="72000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20.08.2026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10</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1 · Chat ohne RAG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11</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0215" y="5486754"/>
              <a:ext cx="468000" cy="468000"/>
            </a:xfrm>
            <a:prstGeom prst="rect">
              <a:avLst/>
            </a:prstGeom>
          </p:spPr>
        </p:pic>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486000" y="1386000"/>
            <a:ext cx="9108000" cy="4575600"/>
          </a:xfrm>
          <a:prstGeom prst="rect">
            <a:avLst/>
          </a:prstGeom>
          <a:solidFill>
            <a:srgbClr val="FFFFFF">
              <a:alpha val="70000"/>
            </a:srgbClr>
          </a:solidFill>
          <a:ln>
            <a:noFill/>
          </a:ln>
        </p:spPr>
        <p:txBody>
          <a:bodyPr/>
          <a:lstStyle/>
          <a:p>
            <a:endParaRPr/>
          </a:p>
        </p:txBody>
      </p: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LLM"/>
          <p:cNvSpPr/>
          <p:nvPr/>
        </p:nvSpPr>
        <p:spPr>
          <a:xfrm>
            <a:off x="7696800" y="4996800"/>
            <a:ext cx="1526400" cy="954000"/>
          </a:xfrm>
          <a:prstGeom prst="roundRect">
            <a:avLst/>
          </a:prstGeom>
          <a:noFill/>
          <a:ln w="28575">
            <a:solidFill>
              <a:srgbClr val="C60C30"/>
            </a:solidFill>
            <a:prstDash val="dash"/>
          </a:ln>
        </p:spPr>
        <p:txBody>
          <a:bodyPr/>
          <a:lstStyle/>
          <a:p>
            <a:endParaRPr/>
          </a:p>
        </p:txBody>
      </p:sp>
      <p:sp>
        <p:nvSpPr>
          <p:cNvPr id="2001" name="Marker Query"/>
          <p:cNvSpPr/>
          <p:nvPr/>
        </p:nvSpPr>
        <p:spPr>
          <a:xfrm>
            <a:off x="9496800" y="1396800"/>
            <a:ext cx="1526400" cy="954000"/>
          </a:xfrm>
          <a:prstGeom prst="roundRect">
            <a:avLst/>
          </a:prstGeom>
          <a:noFill/>
          <a:ln w="28575">
            <a:solidFill>
              <a:srgbClr val="C60C30"/>
            </a:solidFill>
            <a:prstDash val="dash"/>
          </a:ln>
        </p:spPr>
        <p:txBody>
          <a:bodyPr/>
          <a:lstStyle/>
          <a:p>
            <a:endParaRPr/>
          </a:p>
        </p:txBody>
      </p:sp>
      <p:sp>
        <p:nvSpPr>
          <p:cNvPr id="2002" name="Marker Response"/>
          <p:cNvSpPr/>
          <p:nvPr/>
        </p:nvSpPr>
        <p:spPr>
          <a:xfrm>
            <a:off x="9496800" y="499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512EEE78-D8E9-2234-8818-ED4484AEA418}"/>
              </a:ext>
            </a:extLst>
          </p:cNvPr>
          <p:cNvSpPr>
            <a:spLocks noGrp="1"/>
          </p:cNvSpPr>
          <p:nvPr>
            <p:ph type="title"/>
          </p:nvPr>
        </p:nvSpPr>
        <p:spPr/>
        <p:txBody>
          <a:bodyPr/>
          <a:lstStyle/>
          <a:p>
            <a:r>
              <a:rPr lang="de-CH" dirty="0"/>
              <a:t>Vom Setup zur ersten belegbaren Antwort</a:t>
            </a:r>
          </a:p>
        </p:txBody>
      </p:sp>
      <p:sp>
        <p:nvSpPr>
          <p:cNvPr id="2" name="Datumsplatzhalter 1">
            <a:extLst>
              <a:ext uri="{FF2B5EF4-FFF2-40B4-BE49-F238E27FC236}">
                <a16:creationId xmlns:a16="http://schemas.microsoft.com/office/drawing/2014/main" id="{90264FA6-9B8E-CA73-F986-B232BA09701E}"/>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44B8AD2-0CB6-4686-BC54-BC8E97B87777}" type="datetime1">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20.08.2026</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3" name="Foliennummernplatzhalter 2">
            <a:extLst>
              <a:ext uri="{FF2B5EF4-FFF2-40B4-BE49-F238E27FC236}">
                <a16:creationId xmlns:a16="http://schemas.microsoft.com/office/drawing/2014/main" id="{2637EEF0-ACEF-BD7B-14A7-2692278CC978}"/>
              </a:ext>
            </a:extLst>
          </p:cNvPr>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E7E00E2-F08D-429A-AD9B-1ECBEC02F4DB}" type="slidenum">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6" name="Inhaltsplatzhalter 5">
            <a:extLst>
              <a:ext uri="{FF2B5EF4-FFF2-40B4-BE49-F238E27FC236}">
                <a16:creationId xmlns:a16="http://schemas.microsoft.com/office/drawing/2014/main" id="{4E3518F1-07ED-B296-F51D-530F0DB3619F}"/>
              </a:ext>
            </a:extLst>
          </p:cNvPr>
          <p:cNvSpPr>
            <a:spLocks noGrp="1"/>
          </p:cNvSpPr>
          <p:nvPr>
            <p:ph sz="quarter" idx="13"/>
          </p:nvPr>
        </p:nvSpPr>
        <p:spPr/>
        <p:txBody>
          <a:bodyPr/>
          <a:lstStyle/>
          <a:p>
            <a:r>
              <a:rPr lang="de-CH" dirty="0" err="1">
                <a:latin typeface="Courier New" panose="02070309020205020404" pitchFamily="49" charset="0"/>
                <a:cs typeface="Courier New" panose="02070309020205020404" pitchFamily="49" charset="0"/>
              </a:rPr>
              <a:t>git</a:t>
            </a:r>
            <a:r>
              <a:rPr lang="de-CH" dirty="0">
                <a:latin typeface="Courier New" panose="02070309020205020404" pitchFamily="49" charset="0"/>
                <a:cs typeface="Courier New" panose="02070309020205020404" pitchFamily="49" charset="0"/>
              </a:rPr>
              <a:t> </a:t>
            </a:r>
            <a:r>
              <a:rPr lang="de-CH" dirty="0" err="1">
                <a:latin typeface="Courier New" panose="02070309020205020404" pitchFamily="49" charset="0"/>
                <a:cs typeface="Courier New" panose="02070309020205020404" pitchFamily="49" charset="0"/>
              </a:rPr>
              <a:t>clone</a:t>
            </a:r>
            <a:r>
              <a:rPr lang="de-CH" dirty="0">
                <a:latin typeface="Courier New" panose="02070309020205020404" pitchFamily="49" charset="0"/>
                <a:cs typeface="Courier New" panose="02070309020205020404" pitchFamily="49" charset="0"/>
              </a:rPr>
              <a:t> </a:t>
            </a:r>
            <a:r>
              <a:rPr lang="de-CH" dirty="0">
                <a:latin typeface="Courier New" panose="02070309020205020404" pitchFamily="49" charset="0"/>
                <a:cs typeface="Courier New" panose="02070309020205020404" pitchFamily="49" charset="0"/>
                <a:hlinkClick r:id="rId2"/>
              </a:rPr>
              <a:t>https://github.com/AkrosAG/RAG-Workshop.git</a:t>
            </a:r>
            <a:endParaRPr lang="de-CH" dirty="0">
              <a:latin typeface="Courier New" panose="02070309020205020404" pitchFamily="49" charset="0"/>
              <a:cs typeface="Courier New" panose="02070309020205020404" pitchFamily="49" charset="0"/>
            </a:endParaRPr>
          </a:p>
          <a:p>
            <a:r>
              <a:rPr lang="de-CH" dirty="0"/>
              <a:t>Anleitung in Kapitel «Schnellstart» im README.md</a:t>
            </a:r>
          </a:p>
        </p:txBody>
      </p:sp>
    </p:spTree>
    <p:extLst>
      <p:ext uri="{BB962C8B-B14F-4D97-AF65-F5344CB8AC3E}">
        <p14:creationId xmlns:p14="http://schemas.microsoft.com/office/powerpoint/2010/main" val="12452214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2a · Ingest</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13</a:t>
            </a:fld>
            <a:endParaRPr lang="de-CH"/>
          </a:p>
        </p:txBody>
      </p: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1926000" y="1386000"/>
            <a:ext cx="7668000" cy="4575600"/>
          </a:xfrm>
          <a:prstGeom prst="rect">
            <a:avLst/>
          </a:prstGeom>
          <a:solidFill>
            <a:srgbClr val="FFFFFF">
              <a:alpha val="70000"/>
            </a:srgbClr>
          </a:solidFill>
          <a:ln>
            <a:noFill/>
          </a:ln>
        </p:spPr>
        <p:txBody>
          <a:bodyPr/>
          <a:lstStyle/>
          <a:p>
            <a:endParaRPr/>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Chunking"/>
          <p:cNvSpPr/>
          <p:nvPr/>
        </p:nvSpPr>
        <p:spPr>
          <a:xfrm>
            <a:off x="496800" y="2656800"/>
            <a:ext cx="1526400" cy="954000"/>
          </a:xfrm>
          <a:prstGeom prst="roundRect">
            <a:avLst/>
          </a:prstGeom>
          <a:noFill/>
          <a:ln w="28575">
            <a:solidFill>
              <a:srgbClr val="C60C30"/>
            </a:solidFill>
            <a:prstDash val="dash"/>
          </a:ln>
        </p:spPr>
        <p:txBody>
          <a:bodyPr/>
          <a:lstStyle/>
          <a:p>
            <a:endParaRPr/>
          </a:p>
        </p:txBody>
      </p:sp>
      <p:sp>
        <p:nvSpPr>
          <p:cNvPr id="2001" name="Marker Chunks"/>
          <p:cNvSpPr/>
          <p:nvPr/>
        </p:nvSpPr>
        <p:spPr>
          <a:xfrm>
            <a:off x="496800" y="1396800"/>
            <a:ext cx="1526400" cy="954000"/>
          </a:xfrm>
          <a:prstGeom prst="roundRect">
            <a:avLst/>
          </a:prstGeom>
          <a:noFill/>
          <a:ln w="28575">
            <a:solidFill>
              <a:srgbClr val="C60C30"/>
            </a:solidFill>
            <a:prstDash val="dash"/>
          </a:ln>
        </p:spPr>
        <p:txBody>
          <a:bodyPr/>
          <a:lstStyle/>
          <a:p>
            <a:endParaRPr/>
          </a:p>
        </p:txBody>
      </p:sp>
      <p:sp>
        <p:nvSpPr>
          <p:cNvPr id="2002" name="Marker Embedding LLM@4140000"/>
          <p:cNvSpPr/>
          <p:nvPr/>
        </p:nvSpPr>
        <p:spPr>
          <a:xfrm>
            <a:off x="4096800" y="1396800"/>
            <a:ext cx="1526400" cy="954000"/>
          </a:xfrm>
          <a:prstGeom prst="roundRect">
            <a:avLst/>
          </a:prstGeom>
          <a:noFill/>
          <a:ln w="28575">
            <a:solidFill>
              <a:srgbClr val="C60C30"/>
            </a:solidFill>
            <a:prstDash val="dash"/>
          </a:ln>
        </p:spPr>
        <p:txBody>
          <a:bodyPr/>
          <a:lstStyle/>
          <a:p>
            <a:endParaRPr/>
          </a:p>
        </p:txBody>
      </p:sp>
      <p:sp>
        <p:nvSpPr>
          <p:cNvPr id="2003" name="Marker Embeddings@4140000"/>
          <p:cNvSpPr/>
          <p:nvPr/>
        </p:nvSpPr>
        <p:spPr>
          <a:xfrm>
            <a:off x="4096800" y="2656800"/>
            <a:ext cx="1526400" cy="954000"/>
          </a:xfrm>
          <a:prstGeom prst="roundRect">
            <a:avLst/>
          </a:prstGeom>
          <a:noFill/>
          <a:ln w="28575">
            <a:solidFill>
              <a:srgbClr val="C60C30"/>
            </a:solidFill>
            <a:prstDash val="dash"/>
          </a:ln>
        </p:spPr>
        <p:txBody>
          <a:bodyPr/>
          <a:lstStyle/>
          <a:p>
            <a:endParaRPr/>
          </a:p>
        </p:txBody>
      </p:sp>
      <p:sp>
        <p:nvSpPr>
          <p:cNvPr id="2004" name="Marker Information Extraction"/>
          <p:cNvSpPr/>
          <p:nvPr/>
        </p:nvSpPr>
        <p:spPr>
          <a:xfrm>
            <a:off x="496800" y="3736800"/>
            <a:ext cx="1526400" cy="954000"/>
          </a:xfrm>
          <a:prstGeom prst="roundRect">
            <a:avLst/>
          </a:prstGeom>
          <a:noFill/>
          <a:ln w="28575">
            <a:solidFill>
              <a:srgbClr val="C60C30"/>
            </a:solidFill>
            <a:prstDash val="dash"/>
          </a:ln>
        </p:spPr>
        <p:txBody>
          <a:bodyPr/>
          <a:lstStyle/>
          <a:p>
            <a:endParaRPr/>
          </a:p>
        </p:txBody>
      </p:sp>
      <p:sp>
        <p:nvSpPr>
          <p:cNvPr id="2005" name="Marker Raw Data Files"/>
          <p:cNvSpPr/>
          <p:nvPr/>
        </p:nvSpPr>
        <p:spPr>
          <a:xfrm>
            <a:off x="496800" y="4996800"/>
            <a:ext cx="1526400" cy="954000"/>
          </a:xfrm>
          <a:prstGeom prst="roundRect">
            <a:avLst/>
          </a:prstGeom>
          <a:noFill/>
          <a:ln w="28575">
            <a:solidFill>
              <a:srgbClr val="C60C30"/>
            </a:solidFill>
            <a:prstDash val="dash"/>
          </a:ln>
        </p:spPr>
        <p:txBody>
          <a:bodyPr/>
          <a:lstStyle/>
          <a:p>
            <a:endParaRPr/>
          </a:p>
        </p:txBody>
      </p:sp>
      <p:sp>
        <p:nvSpPr>
          <p:cNvPr id="2006" name="Marker Vector Database"/>
          <p:cNvSpPr/>
          <p:nvPr/>
        </p:nvSpPr>
        <p:spPr>
          <a:xfrm>
            <a:off x="5896800" y="265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2b · Retrieval</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14</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0215" y="5486754"/>
              <a:ext cx="468000" cy="468000"/>
            </a:xfrm>
            <a:prstGeom prst="rect">
              <a:avLst/>
            </a:prstGeom>
          </p:spPr>
        </p:pic>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486000" y="1386000"/>
            <a:ext cx="5508000" cy="4575600"/>
          </a:xfrm>
          <a:prstGeom prst="rect">
            <a:avLst/>
          </a:prstGeom>
          <a:solidFill>
            <a:srgbClr val="FFFFFF">
              <a:alpha val="70000"/>
            </a:srgbClr>
          </a:solidFill>
          <a:ln>
            <a:noFill/>
          </a:ln>
        </p:spPr>
        <p:txBody>
          <a:bodyPr/>
          <a:lstStyle/>
          <a:p>
            <a:endParaRPr/>
          </a:p>
        </p:txBody>
      </p: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Embedding LLM@7740000"/>
          <p:cNvSpPr/>
          <p:nvPr/>
        </p:nvSpPr>
        <p:spPr>
          <a:xfrm>
            <a:off x="7696800" y="1396800"/>
            <a:ext cx="1526400" cy="954000"/>
          </a:xfrm>
          <a:prstGeom prst="roundRect">
            <a:avLst/>
          </a:prstGeom>
          <a:noFill/>
          <a:ln w="28575">
            <a:solidFill>
              <a:srgbClr val="C60C30"/>
            </a:solidFill>
            <a:prstDash val="dash"/>
          </a:ln>
        </p:spPr>
        <p:txBody>
          <a:bodyPr/>
          <a:lstStyle/>
          <a:p>
            <a:endParaRPr/>
          </a:p>
        </p:txBody>
      </p:sp>
      <p:sp>
        <p:nvSpPr>
          <p:cNvPr id="2001" name="Marker Embeddings@7740000"/>
          <p:cNvSpPr/>
          <p:nvPr/>
        </p:nvSpPr>
        <p:spPr>
          <a:xfrm>
            <a:off x="7696800" y="2656800"/>
            <a:ext cx="1526400" cy="954000"/>
          </a:xfrm>
          <a:prstGeom prst="roundRect">
            <a:avLst/>
          </a:prstGeom>
          <a:noFill/>
          <a:ln w="28575">
            <a:solidFill>
              <a:srgbClr val="C60C30"/>
            </a:solidFill>
            <a:prstDash val="dash"/>
          </a:ln>
        </p:spPr>
        <p:txBody>
          <a:bodyPr/>
          <a:lstStyle/>
          <a:p>
            <a:endParaRPr/>
          </a:p>
        </p:txBody>
      </p:sp>
      <p:sp>
        <p:nvSpPr>
          <p:cNvPr id="2002" name="Marker Ranking"/>
          <p:cNvSpPr/>
          <p:nvPr/>
        </p:nvSpPr>
        <p:spPr>
          <a:xfrm>
            <a:off x="5896800" y="3736800"/>
            <a:ext cx="1526400" cy="954000"/>
          </a:xfrm>
          <a:prstGeom prst="roundRect">
            <a:avLst/>
          </a:prstGeom>
          <a:noFill/>
          <a:ln w="28575">
            <a:solidFill>
              <a:srgbClr val="C60C30"/>
            </a:solidFill>
            <a:prstDash val="dash"/>
          </a:ln>
        </p:spPr>
        <p:txBody>
          <a:bodyPr/>
          <a:lstStyle/>
          <a:p>
            <a:endParaRPr/>
          </a:p>
        </p:txBody>
      </p:sp>
      <p:sp>
        <p:nvSpPr>
          <p:cNvPr id="2003" name="Marker Relevant Data"/>
          <p:cNvSpPr/>
          <p:nvPr/>
        </p:nvSpPr>
        <p:spPr>
          <a:xfrm>
            <a:off x="5896800" y="499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20.08.2026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15</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3 · Chunking und Reranking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16</a:t>
            </a:fld>
            <a:endParaRPr lang="de-CH"/>
          </a:p>
        </p:txBody>
      </p: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1926000" y="3726000"/>
            <a:ext cx="4068000" cy="975600"/>
          </a:xfrm>
          <a:prstGeom prst="rect">
            <a:avLst/>
          </a:prstGeom>
          <a:solidFill>
            <a:srgbClr val="FFFFFF">
              <a:alpha val="70000"/>
            </a:srgbClr>
          </a:solidFill>
          <a:ln>
            <a:noFill/>
          </a:ln>
        </p:spPr>
        <p:txBody>
          <a:bodyPr/>
          <a:lstStyle/>
          <a:p>
            <a:endParaRPr/>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Chunking"/>
          <p:cNvSpPr/>
          <p:nvPr/>
        </p:nvSpPr>
        <p:spPr>
          <a:xfrm>
            <a:off x="496800" y="2656800"/>
            <a:ext cx="1526400" cy="954000"/>
          </a:xfrm>
          <a:prstGeom prst="roundRect">
            <a:avLst/>
          </a:prstGeom>
          <a:noFill/>
          <a:ln w="28575">
            <a:solidFill>
              <a:srgbClr val="C60C30"/>
            </a:solidFill>
            <a:prstDash val="dash"/>
          </a:ln>
        </p:spPr>
        <p:txBody>
          <a:bodyPr/>
          <a:lstStyle/>
          <a:p>
            <a:endParaRPr/>
          </a:p>
        </p:txBody>
      </p:sp>
      <p:sp>
        <p:nvSpPr>
          <p:cNvPr id="2001" name="Marker Ranking"/>
          <p:cNvSpPr/>
          <p:nvPr/>
        </p:nvSpPr>
        <p:spPr>
          <a:xfrm>
            <a:off x="5896800" y="373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EE0CD576-FFC5-4ACC-84A6-314F98D3D3F9}"/>
              </a:ext>
            </a:extLst>
          </p:cNvPr>
          <p:cNvSpPr/>
          <p:nvPr/>
        </p:nvSpPr>
        <p:spPr>
          <a:xfrm>
            <a:off x="540000" y="1260000"/>
            <a:ext cx="8096250" cy="304800"/>
          </a:xfrm>
          <a:prstGeom prst="rect">
            <a:avLst/>
          </a:prstGeom>
          <a:noFill/>
          <a:ln w="0">
            <a:noFill/>
            <a:prstDash val="solid"/>
          </a:ln>
        </p:spPr>
        <p:txBody>
          <a:bodyPr anchor="ctr"/>
          <a:lstStyle/>
          <a:p>
            <a:pPr algn="l">
              <a:defRPr sz="1500" b="0">
                <a:solidFill>
                  <a:srgbClr val="746B5F"/>
                </a:solidFill>
              </a:defRPr>
            </a:pPr>
            <a:r>
              <a:rPr sz="1500" b="0" dirty="0">
                <a:solidFill>
                  <a:srgbClr val="746B5F"/>
                </a:solidFill>
              </a:rPr>
              <a:t>Gleicher </a:t>
            </a:r>
            <a:r>
              <a:rPr sz="1500" b="0" dirty="0" err="1">
                <a:solidFill>
                  <a:srgbClr val="746B5F"/>
                </a:solidFill>
              </a:rPr>
              <a:t>Inhalt</a:t>
            </a:r>
            <a:r>
              <a:rPr sz="1500" b="0" dirty="0">
                <a:solidFill>
                  <a:srgbClr val="746B5F"/>
                </a:solidFill>
              </a:rPr>
              <a:t>. Andere </a:t>
            </a:r>
            <a:r>
              <a:rPr sz="1500" b="0" dirty="0" err="1">
                <a:solidFill>
                  <a:srgbClr val="746B5F"/>
                </a:solidFill>
              </a:rPr>
              <a:t>Grenzen</a:t>
            </a:r>
            <a:r>
              <a:rPr sz="1500" b="0" dirty="0">
                <a:solidFill>
                  <a:srgbClr val="746B5F"/>
                </a:solidFill>
              </a:rPr>
              <a:t>. Andere Treffer.</a:t>
            </a:r>
          </a:p>
        </p:txBody>
      </p:sp>
      <p:sp>
        <p:nvSpPr>
          <p:cNvPr id="25" name="takeaway">
            <a:extLst>
              <a:ext uri="{FF2B5EF4-FFF2-40B4-BE49-F238E27FC236}">
                <a16:creationId xmlns:a16="http://schemas.microsoft.com/office/drawing/2014/main" id="{18B3756D-9BFF-41E2-AA7E-61B134B1E097}"/>
              </a:ext>
            </a:extLst>
          </p:cNvPr>
          <p:cNvSpPr/>
          <p:nvPr/>
        </p:nvSpPr>
        <p:spPr>
          <a:xfrm>
            <a:off x="2160000" y="5400000"/>
            <a:ext cx="7920000" cy="720000"/>
          </a:xfrm>
          <a:prstGeom prst="roundRect">
            <a:avLst>
              <a:gd name="adj" fmla="val 17647"/>
            </a:avLst>
          </a:prstGeom>
          <a:solidFill>
            <a:srgbClr val="304452"/>
          </a:solidFill>
          <a:ln w="0">
            <a:solidFill>
              <a:srgbClr val="304452"/>
            </a:solidFill>
            <a:prstDash val="solid"/>
          </a:ln>
        </p:spPr>
        <p:txBody>
          <a:bodyPr anchor="ctr"/>
          <a:lstStyle/>
          <a:p>
            <a:pPr algn="ctr"/>
            <a:r>
              <a:rPr lang="de-DE" b="1" dirty="0">
                <a:solidFill>
                  <a:srgbClr val="FFFFFF"/>
                </a:solidFill>
              </a:rPr>
              <a:t>Ziel: Token-Budget einhalten, ohne Bedeutung zu </a:t>
            </a:r>
            <a:r>
              <a:rPr lang="de-DE" b="1" dirty="0" err="1">
                <a:solidFill>
                  <a:srgbClr val="FFFFFF"/>
                </a:solidFill>
              </a:rPr>
              <a:t>zerreissen</a:t>
            </a:r>
            <a:r>
              <a:rPr lang="de-DE" b="1" dirty="0">
                <a:solidFill>
                  <a:srgbClr val="FFFFFF"/>
                </a:solidFill>
              </a:rPr>
              <a:t>.</a:t>
            </a:r>
          </a:p>
        </p:txBody>
      </p:sp>
      <p:sp>
        <p:nvSpPr>
          <p:cNvPr id="27" name="page">
            <a:extLst>
              <a:ext uri="{FF2B5EF4-FFF2-40B4-BE49-F238E27FC236}">
                <a16:creationId xmlns:a16="http://schemas.microsoft.com/office/drawing/2014/main" id="{A2F7BA51-B5C1-4387-8006-3CDB0BB160DA}"/>
              </a:ext>
            </a:extLst>
          </p:cNvPr>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14</a:t>
            </a:r>
          </a:p>
        </p:txBody>
      </p:sp>
      <p:sp>
        <p:nvSpPr>
          <p:cNvPr id="28" name="date">
            <a:extLst>
              <a:ext uri="{FF2B5EF4-FFF2-40B4-BE49-F238E27FC236}">
                <a16:creationId xmlns:a16="http://schemas.microsoft.com/office/drawing/2014/main" id="{EEB93467-AB60-4E30-BC91-279117FB7BE7}"/>
              </a:ext>
            </a:extLst>
          </p:cNvPr>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4" name="Titel 1"/>
          <p:cNvSpPr>
            <a:spLocks noGrp="1"/>
          </p:cNvSpPr>
          <p:nvPr>
            <p:ph type="title"/>
          </p:nvPr>
        </p:nvSpPr>
        <p:spPr>
          <a:xfrm>
            <a:off x="482461" y="346633"/>
            <a:ext cx="11230114" cy="767605"/>
          </a:xfrm>
        </p:spPr>
        <p:txBody>
          <a:bodyPr/>
          <a:lstStyle/>
          <a:p>
            <a:r>
              <a:rPr lang="de-CH" sz="3600" dirty="0"/>
              <a:t>Chunking entscheidet, was auffindbar bleibt</a:t>
            </a:r>
          </a:p>
        </p:txBody>
      </p:sp>
      <p:grpSp>
        <p:nvGrpSpPr>
          <p:cNvPr id="20" name="Gruppieren 19">
            <a:extLst>
              <a:ext uri="{FF2B5EF4-FFF2-40B4-BE49-F238E27FC236}">
                <a16:creationId xmlns:a16="http://schemas.microsoft.com/office/drawing/2014/main" id="{6E7F57EA-6473-2616-6907-ECF4281B3731}"/>
              </a:ext>
            </a:extLst>
          </p:cNvPr>
          <p:cNvGrpSpPr/>
          <p:nvPr/>
        </p:nvGrpSpPr>
        <p:grpSpPr>
          <a:xfrm>
            <a:off x="540000" y="1800000"/>
            <a:ext cx="5220000" cy="3420000"/>
            <a:chOff x="540000" y="1800000"/>
            <a:chExt cx="5220000" cy="3420000"/>
          </a:xfrm>
        </p:grpSpPr>
        <p:sp>
          <p:nvSpPr>
            <p:cNvPr id="4" name="left-label">
              <a:extLst>
                <a:ext uri="{FF2B5EF4-FFF2-40B4-BE49-F238E27FC236}">
                  <a16:creationId xmlns:a16="http://schemas.microsoft.com/office/drawing/2014/main" id="{96E00807-7B9E-444E-8FBC-3FE42823E616}"/>
                </a:ext>
              </a:extLst>
            </p:cNvPr>
            <p:cNvSpPr/>
            <p:nvPr/>
          </p:nvSpPr>
          <p:spPr>
            <a:xfrm>
              <a:off x="540000" y="1800000"/>
              <a:ext cx="2667000" cy="266700"/>
            </a:xfrm>
            <a:prstGeom prst="rect">
              <a:avLst/>
            </a:prstGeom>
            <a:noFill/>
            <a:ln w="0">
              <a:noFill/>
              <a:prstDash val="solid"/>
            </a:ln>
          </p:spPr>
          <p:txBody>
            <a:bodyPr anchor="ctr"/>
            <a:lstStyle/>
            <a:p>
              <a:pPr algn="l">
                <a:defRPr sz="1275" b="1">
                  <a:solidFill>
                    <a:srgbClr val="D20A32"/>
                  </a:solidFill>
                </a:defRPr>
              </a:pPr>
              <a:r>
                <a:rPr sz="1275" b="1" dirty="0">
                  <a:solidFill>
                    <a:srgbClr val="D20A32"/>
                  </a:solidFill>
                </a:rPr>
                <a:t>FIXE LÄNGE</a:t>
              </a:r>
            </a:p>
          </p:txBody>
        </p:sp>
        <p:sp>
          <p:nvSpPr>
            <p:cNvPr id="5" name="left-meta">
              <a:extLst>
                <a:ext uri="{FF2B5EF4-FFF2-40B4-BE49-F238E27FC236}">
                  <a16:creationId xmlns:a16="http://schemas.microsoft.com/office/drawing/2014/main" id="{A488A309-CD87-4A3F-8097-759929D7C003}"/>
                </a:ext>
              </a:extLst>
            </p:cNvPr>
            <p:cNvSpPr/>
            <p:nvPr/>
          </p:nvSpPr>
          <p:spPr>
            <a:xfrm>
              <a:off x="540000" y="1980000"/>
              <a:ext cx="2667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800 </a:t>
              </a:r>
              <a:r>
                <a:rPr sz="1050" b="0" dirty="0" err="1">
                  <a:solidFill>
                    <a:srgbClr val="746B5F"/>
                  </a:solidFill>
                </a:rPr>
                <a:t>Zeichen</a:t>
              </a:r>
              <a:endParaRPr sz="1050" b="0" dirty="0">
                <a:solidFill>
                  <a:srgbClr val="746B5F"/>
                </a:solidFill>
              </a:endParaRPr>
            </a:p>
          </p:txBody>
        </p:sp>
        <p:sp>
          <p:nvSpPr>
            <p:cNvPr id="8" name="left-panel">
              <a:extLst>
                <a:ext uri="{FF2B5EF4-FFF2-40B4-BE49-F238E27FC236}">
                  <a16:creationId xmlns:a16="http://schemas.microsoft.com/office/drawing/2014/main" id="{50BE4D10-4DF3-4DFF-88A5-9A613FD983A1}"/>
                </a:ext>
              </a:extLst>
            </p:cNvPr>
            <p:cNvSpPr/>
            <p:nvPr/>
          </p:nvSpPr>
          <p:spPr>
            <a:xfrm>
              <a:off x="540000" y="2340000"/>
              <a:ext cx="5220000" cy="2880000"/>
            </a:xfrm>
            <a:prstGeom prst="roundRect">
              <a:avLst>
                <a:gd name="adj" fmla="val 4000"/>
              </a:avLst>
            </a:prstGeom>
            <a:solidFill>
              <a:srgbClr val="FFF9FA"/>
            </a:solidFill>
            <a:ln w="9525">
              <a:solidFill>
                <a:srgbClr val="E3BFC7"/>
              </a:solidFill>
              <a:prstDash val="solid"/>
            </a:ln>
          </p:spPr>
          <p:txBody>
            <a:bodyPr/>
            <a:lstStyle/>
            <a:p>
              <a:endParaRPr lang="de-CH"/>
            </a:p>
          </p:txBody>
        </p:sp>
        <p:sp>
          <p:nvSpPr>
            <p:cNvPr id="10" name="chunk17">
              <a:extLst>
                <a:ext uri="{FF2B5EF4-FFF2-40B4-BE49-F238E27FC236}">
                  <a16:creationId xmlns:a16="http://schemas.microsoft.com/office/drawing/2014/main" id="{F84911CE-A8DD-4649-9F91-F9760D366E07}"/>
                </a:ext>
              </a:extLst>
            </p:cNvPr>
            <p:cNvSpPr/>
            <p:nvPr/>
          </p:nvSpPr>
          <p:spPr>
            <a:xfrm>
              <a:off x="720000" y="25200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17</a:t>
              </a:r>
            </a:p>
          </p:txBody>
        </p:sp>
        <p:sp>
          <p:nvSpPr>
            <p:cNvPr id="11" name="left-text-a">
              <a:extLst>
                <a:ext uri="{FF2B5EF4-FFF2-40B4-BE49-F238E27FC236}">
                  <a16:creationId xmlns:a16="http://schemas.microsoft.com/office/drawing/2014/main" id="{50D7ACCC-C8F1-43FB-8A0C-1E90083A7A68}"/>
                </a:ext>
              </a:extLst>
            </p:cNvPr>
            <p:cNvSpPr/>
            <p:nvPr/>
          </p:nvSpPr>
          <p:spPr>
            <a:xfrm>
              <a:off x="720000" y="2880000"/>
              <a:ext cx="2160000" cy="1440000"/>
            </a:xfrm>
            <a:prstGeom prst="rect">
              <a:avLst/>
            </a:prstGeom>
            <a:noFill/>
            <a:ln w="0">
              <a:noFill/>
              <a:prstDash val="solid"/>
            </a:ln>
          </p:spPr>
          <p:txBody>
            <a:bodyPr anchor="ctr"/>
            <a:lstStyle/>
            <a:p>
              <a:pPr algn="l">
                <a:defRPr sz="1350" b="0">
                  <a:solidFill>
                    <a:srgbClr val="304452"/>
                  </a:solidFill>
                </a:defRPr>
              </a:pPr>
              <a:r>
                <a:rPr sz="1350" b="0" dirty="0">
                  <a:solidFill>
                    <a:srgbClr val="304452"/>
                  </a:solidFill>
                </a:rPr>
                <a:t>Art. 335b · </a:t>
              </a:r>
              <a:r>
                <a:rPr sz="1350" b="0" dirty="0" err="1">
                  <a:solidFill>
                    <a:srgbClr val="304452"/>
                  </a:solidFill>
                </a:rPr>
                <a:t>Probezeit</a:t>
              </a:r>
              <a:endParaRPr sz="1350" b="0" dirty="0">
                <a:solidFill>
                  <a:srgbClr val="304452"/>
                </a:solidFill>
              </a:endParaRPr>
            </a:p>
            <a:p>
              <a:pPr algn="l">
                <a:defRPr sz="1350" b="0">
                  <a:solidFill>
                    <a:srgbClr val="304452"/>
                  </a:solidFill>
                </a:defRPr>
              </a:pPr>
              <a:r>
                <a:rPr sz="1350" b="0" dirty="0">
                  <a:solidFill>
                    <a:srgbClr val="304452"/>
                  </a:solidFill>
                </a:rPr>
                <a:t>Die </a:t>
              </a:r>
              <a:r>
                <a:rPr sz="1350" b="0" dirty="0" err="1">
                  <a:solidFill>
                    <a:srgbClr val="304452"/>
                  </a:solidFill>
                </a:rPr>
                <a:t>Probezeit</a:t>
              </a:r>
              <a:r>
                <a:rPr sz="1350" b="0" dirty="0">
                  <a:solidFill>
                    <a:srgbClr val="304452"/>
                  </a:solidFill>
                </a:rPr>
                <a:t> </a:t>
              </a:r>
              <a:r>
                <a:rPr sz="1350" b="0" dirty="0" err="1">
                  <a:solidFill>
                    <a:srgbClr val="304452"/>
                  </a:solidFill>
                </a:rPr>
                <a:t>beträgt</a:t>
              </a:r>
              <a:r>
                <a:rPr sz="1350" b="0" dirty="0">
                  <a:solidFill>
                    <a:srgbClr val="304452"/>
                  </a:solidFill>
                </a:rPr>
                <a:t> </a:t>
              </a:r>
              <a:r>
                <a:rPr sz="1350" b="0" dirty="0" err="1">
                  <a:solidFill>
                    <a:srgbClr val="304452"/>
                  </a:solidFill>
                </a:rPr>
                <a:t>grundsätzlich</a:t>
              </a:r>
              <a:r>
                <a:rPr sz="1350" b="0" dirty="0">
                  <a:solidFill>
                    <a:srgbClr val="304452"/>
                  </a:solidFill>
                </a:rPr>
                <a:t> den </a:t>
              </a:r>
              <a:r>
                <a:rPr sz="1350" b="0" dirty="0" err="1">
                  <a:solidFill>
                    <a:srgbClr val="304452"/>
                  </a:solidFill>
                </a:rPr>
                <a:t>ersten</a:t>
              </a:r>
              <a:r>
                <a:rPr sz="1350" b="0" dirty="0">
                  <a:solidFill>
                    <a:srgbClr val="304452"/>
                  </a:solidFill>
                </a:rPr>
                <a:t> Monat. Sie </a:t>
              </a:r>
              <a:r>
                <a:rPr sz="1350" b="0" dirty="0" err="1">
                  <a:solidFill>
                    <a:srgbClr val="304452"/>
                  </a:solidFill>
                </a:rPr>
                <a:t>kann</a:t>
              </a:r>
              <a:r>
                <a:rPr sz="1350" b="0" dirty="0">
                  <a:solidFill>
                    <a:srgbClr val="304452"/>
                  </a:solidFill>
                </a:rPr>
                <a:t> auf </a:t>
              </a:r>
              <a:r>
                <a:rPr sz="1350" b="0" dirty="0" err="1">
                  <a:solidFill>
                    <a:srgbClr val="304452"/>
                  </a:solidFill>
                </a:rPr>
                <a:t>höchstens</a:t>
              </a:r>
              <a:r>
                <a:rPr sz="1350" b="0" dirty="0">
                  <a:solidFill>
                    <a:srgbClr val="304452"/>
                  </a:solidFill>
                </a:rPr>
                <a:t> </a:t>
              </a:r>
              <a:r>
                <a:rPr sz="1350" b="0" dirty="0" err="1">
                  <a:solidFill>
                    <a:srgbClr val="304452"/>
                  </a:solidFill>
                </a:rPr>
                <a:t>drei</a:t>
              </a:r>
              <a:r>
                <a:rPr sz="1350" b="0" dirty="0">
                  <a:solidFill>
                    <a:srgbClr val="304452"/>
                  </a:solidFill>
                </a:rPr>
                <a:t> </a:t>
              </a:r>
              <a:r>
                <a:rPr sz="1350" b="0" dirty="0" err="1">
                  <a:solidFill>
                    <a:srgbClr val="304452"/>
                  </a:solidFill>
                </a:rPr>
                <a:t>Monate</a:t>
              </a:r>
              <a:r>
                <a:rPr sz="1350" b="0" dirty="0">
                  <a:solidFill>
                    <a:srgbClr val="304452"/>
                  </a:solidFill>
                </a:rPr>
                <a:t> </a:t>
              </a:r>
              <a:r>
                <a:rPr sz="1350" b="0" dirty="0" err="1">
                  <a:solidFill>
                    <a:srgbClr val="304452"/>
                  </a:solidFill>
                </a:rPr>
                <a:t>verlän</a:t>
              </a:r>
              <a:r>
                <a:rPr sz="1350" b="0" dirty="0">
                  <a:solidFill>
                    <a:srgbClr val="304452"/>
                  </a:solidFill>
                </a:rPr>
                <a:t>-</a:t>
              </a:r>
            </a:p>
          </p:txBody>
        </p:sp>
        <p:sp>
          <p:nvSpPr>
            <p:cNvPr id="12" name="chunk18">
              <a:extLst>
                <a:ext uri="{FF2B5EF4-FFF2-40B4-BE49-F238E27FC236}">
                  <a16:creationId xmlns:a16="http://schemas.microsoft.com/office/drawing/2014/main" id="{F7A34B1E-6B6D-4093-A46C-5EE5D8C2BE3A}"/>
                </a:ext>
              </a:extLst>
            </p:cNvPr>
            <p:cNvSpPr/>
            <p:nvPr/>
          </p:nvSpPr>
          <p:spPr>
            <a:xfrm>
              <a:off x="3420000" y="25200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18</a:t>
              </a:r>
            </a:p>
          </p:txBody>
        </p:sp>
        <p:sp>
          <p:nvSpPr>
            <p:cNvPr id="13" name="left-text-b">
              <a:extLst>
                <a:ext uri="{FF2B5EF4-FFF2-40B4-BE49-F238E27FC236}">
                  <a16:creationId xmlns:a16="http://schemas.microsoft.com/office/drawing/2014/main" id="{66288B83-6315-4E2A-92E5-9D202B19C8EF}"/>
                </a:ext>
              </a:extLst>
            </p:cNvPr>
            <p:cNvSpPr/>
            <p:nvPr/>
          </p:nvSpPr>
          <p:spPr>
            <a:xfrm>
              <a:off x="3420000" y="2880000"/>
              <a:ext cx="1980000" cy="1440000"/>
            </a:xfrm>
            <a:prstGeom prst="rect">
              <a:avLst/>
            </a:prstGeom>
            <a:noFill/>
            <a:ln w="0">
              <a:noFill/>
              <a:prstDash val="solid"/>
            </a:ln>
          </p:spPr>
          <p:txBody>
            <a:bodyPr anchor="ctr"/>
            <a:lstStyle/>
            <a:p>
              <a:pPr algn="l">
                <a:defRPr sz="1350" b="0">
                  <a:solidFill>
                    <a:srgbClr val="304452"/>
                  </a:solidFill>
                </a:defRPr>
              </a:pPr>
              <a:r>
                <a:rPr sz="1350" b="0" dirty="0" err="1">
                  <a:solidFill>
                    <a:srgbClr val="304452"/>
                  </a:solidFill>
                </a:rPr>
                <a:t>gert</a:t>
              </a:r>
              <a:r>
                <a:rPr sz="1350" b="0" dirty="0">
                  <a:solidFill>
                    <a:srgbClr val="304452"/>
                  </a:solidFill>
                </a:rPr>
                <a:t> </a:t>
              </a:r>
              <a:r>
                <a:rPr sz="1350" b="0" dirty="0" err="1">
                  <a:solidFill>
                    <a:srgbClr val="304452"/>
                  </a:solidFill>
                </a:rPr>
                <a:t>werden</a:t>
              </a:r>
              <a:r>
                <a:rPr sz="1350" b="0" dirty="0">
                  <a:solidFill>
                    <a:srgbClr val="304452"/>
                  </a:solidFill>
                </a:rPr>
                <a:t>. Bei </a:t>
              </a:r>
              <a:r>
                <a:rPr sz="1350" b="0" dirty="0" err="1">
                  <a:solidFill>
                    <a:srgbClr val="304452"/>
                  </a:solidFill>
                </a:rPr>
                <a:t>Krankheit</a:t>
              </a:r>
              <a:r>
                <a:rPr sz="1350" b="0" dirty="0">
                  <a:solidFill>
                    <a:srgbClr val="304452"/>
                  </a:solidFill>
                </a:rPr>
                <a:t> …</a:t>
              </a:r>
            </a:p>
            <a:p>
              <a:endParaRPr sz="1350" b="0" dirty="0">
                <a:solidFill>
                  <a:srgbClr val="304452"/>
                </a:solidFill>
              </a:endParaRPr>
            </a:p>
            <a:p>
              <a:pPr algn="l">
                <a:defRPr sz="1350" b="0">
                  <a:solidFill>
                    <a:srgbClr val="304452"/>
                  </a:solidFill>
                </a:defRPr>
              </a:pPr>
              <a:r>
                <a:rPr sz="1350" b="0" dirty="0">
                  <a:solidFill>
                    <a:srgbClr val="304452"/>
                  </a:solidFill>
                </a:rPr>
                <a:t>Art. 335c</a:t>
              </a:r>
            </a:p>
            <a:p>
              <a:pPr algn="l">
                <a:defRPr sz="1350" b="0">
                  <a:solidFill>
                    <a:srgbClr val="304452"/>
                  </a:solidFill>
                </a:defRPr>
              </a:pPr>
              <a:r>
                <a:rPr sz="1350" b="0" dirty="0" err="1">
                  <a:solidFill>
                    <a:srgbClr val="304452"/>
                  </a:solidFill>
                </a:rPr>
                <a:t>Kündigungsfristen</a:t>
              </a:r>
              <a:r>
                <a:rPr sz="1350" b="0" dirty="0">
                  <a:solidFill>
                    <a:srgbClr val="304452"/>
                  </a:solidFill>
                </a:rPr>
                <a:t> …</a:t>
              </a:r>
            </a:p>
          </p:txBody>
        </p:sp>
        <p:sp>
          <p:nvSpPr>
            <p:cNvPr id="14" name="hard-boundary">
              <a:extLst>
                <a:ext uri="{FF2B5EF4-FFF2-40B4-BE49-F238E27FC236}">
                  <a16:creationId xmlns:a16="http://schemas.microsoft.com/office/drawing/2014/main" id="{3A8DD313-725B-4E1C-9433-3901D5DAF639}"/>
                </a:ext>
              </a:extLst>
            </p:cNvPr>
            <p:cNvSpPr/>
            <p:nvPr/>
          </p:nvSpPr>
          <p:spPr>
            <a:xfrm>
              <a:off x="3150000" y="2520000"/>
              <a:ext cx="0" cy="1790700"/>
            </a:xfrm>
            <a:prstGeom prst="line">
              <a:avLst/>
            </a:prstGeom>
            <a:noFill/>
            <a:ln w="38100">
              <a:solidFill>
                <a:srgbClr val="D20A32"/>
              </a:solidFill>
              <a:prstDash val="solid"/>
            </a:ln>
          </p:spPr>
          <p:txBody>
            <a:bodyPr/>
            <a:lstStyle/>
            <a:p>
              <a:endParaRPr lang="de-CH"/>
            </a:p>
          </p:txBody>
        </p:sp>
        <p:sp>
          <p:nvSpPr>
            <p:cNvPr id="15" name="cut-label">
              <a:extLst>
                <a:ext uri="{FF2B5EF4-FFF2-40B4-BE49-F238E27FC236}">
                  <a16:creationId xmlns:a16="http://schemas.microsoft.com/office/drawing/2014/main" id="{72425464-5B7E-4198-BD2D-042E360C98CF}"/>
                </a:ext>
              </a:extLst>
            </p:cNvPr>
            <p:cNvSpPr/>
            <p:nvPr/>
          </p:nvSpPr>
          <p:spPr>
            <a:xfrm>
              <a:off x="2721375" y="4320000"/>
              <a:ext cx="857250" cy="400050"/>
            </a:xfrm>
            <a:prstGeom prst="rect">
              <a:avLst/>
            </a:prstGeom>
            <a:noFill/>
            <a:ln w="0">
              <a:noFill/>
              <a:prstDash val="solid"/>
            </a:ln>
          </p:spPr>
          <p:txBody>
            <a:bodyPr anchor="ctr"/>
            <a:lstStyle/>
            <a:p>
              <a:pPr algn="ctr">
                <a:defRPr sz="825" b="1">
                  <a:solidFill>
                    <a:srgbClr val="D20A32"/>
                  </a:solidFill>
                </a:defRPr>
              </a:pPr>
              <a:r>
                <a:rPr sz="825" b="1" dirty="0">
                  <a:solidFill>
                    <a:srgbClr val="D20A32"/>
                  </a:solidFill>
                </a:rPr>
                <a:t>STARRE</a:t>
              </a:r>
            </a:p>
            <a:p>
              <a:pPr algn="ctr">
                <a:defRPr sz="825" b="1">
                  <a:solidFill>
                    <a:srgbClr val="D20A32"/>
                  </a:solidFill>
                </a:defRPr>
              </a:pPr>
              <a:r>
                <a:rPr sz="825" b="1" dirty="0">
                  <a:solidFill>
                    <a:srgbClr val="D20A32"/>
                  </a:solidFill>
                </a:rPr>
                <a:t>GRENZE</a:t>
              </a:r>
            </a:p>
          </p:txBody>
        </p:sp>
        <p:sp>
          <p:nvSpPr>
            <p:cNvPr id="16" name="left-result">
              <a:extLst>
                <a:ext uri="{FF2B5EF4-FFF2-40B4-BE49-F238E27FC236}">
                  <a16:creationId xmlns:a16="http://schemas.microsoft.com/office/drawing/2014/main" id="{2040694A-C9FB-4616-9192-7EA5BE6D57DE}"/>
                </a:ext>
              </a:extLst>
            </p:cNvPr>
            <p:cNvSpPr/>
            <p:nvPr/>
          </p:nvSpPr>
          <p:spPr>
            <a:xfrm>
              <a:off x="883050" y="4680000"/>
              <a:ext cx="4533900" cy="247650"/>
            </a:xfrm>
            <a:prstGeom prst="rect">
              <a:avLst/>
            </a:prstGeom>
            <a:noFill/>
            <a:ln w="0">
              <a:noFill/>
              <a:prstDash val="solid"/>
            </a:ln>
          </p:spPr>
          <p:txBody>
            <a:bodyPr anchor="ctr"/>
            <a:lstStyle/>
            <a:p>
              <a:pPr algn="ctr">
                <a:defRPr sz="1050" b="1">
                  <a:solidFill>
                    <a:srgbClr val="D20A32"/>
                  </a:solidFill>
                </a:defRPr>
              </a:pPr>
              <a:r>
                <a:rPr sz="1050" b="1">
                  <a:solidFill>
                    <a:srgbClr val="D20A32"/>
                  </a:solidFill>
                </a:rPr>
                <a:t>SATZ GETRENNT  •  ARTIKEL VERMISCHT</a:t>
              </a:r>
            </a:p>
          </p:txBody>
        </p:sp>
        <p:grpSp>
          <p:nvGrpSpPr>
            <p:cNvPr id="42" name="Gruppieren 41">
              <a:extLst>
                <a:ext uri="{FF2B5EF4-FFF2-40B4-BE49-F238E27FC236}">
                  <a16:creationId xmlns:a16="http://schemas.microsoft.com/office/drawing/2014/main" id="{716260B3-37AA-9FCF-B496-734C53380A99}"/>
                </a:ext>
              </a:extLst>
            </p:cNvPr>
            <p:cNvGrpSpPr/>
            <p:nvPr/>
          </p:nvGrpSpPr>
          <p:grpSpPr>
            <a:xfrm>
              <a:off x="791735" y="3989550"/>
              <a:ext cx="576530" cy="276225"/>
              <a:chOff x="885825" y="3992773"/>
              <a:chExt cx="576530" cy="276225"/>
            </a:xfrm>
          </p:grpSpPr>
          <p:cxnSp>
            <p:nvCxnSpPr>
              <p:cNvPr id="34" name="Gerader Verbinder 33">
                <a:extLst>
                  <a:ext uri="{FF2B5EF4-FFF2-40B4-BE49-F238E27FC236}">
                    <a16:creationId xmlns:a16="http://schemas.microsoft.com/office/drawing/2014/main" id="{F6A265CF-999D-6192-7E26-EA4059CBCF28}"/>
                  </a:ext>
                </a:extLst>
              </p:cNvPr>
              <p:cNvCxnSpPr>
                <a:cxnSpLocks/>
              </p:cNvCxnSpPr>
              <p:nvPr/>
            </p:nvCxnSpPr>
            <p:spPr>
              <a:xfrm>
                <a:off x="885825" y="4257675"/>
                <a:ext cx="57653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0D1853DB-1007-24EE-123D-C24B60B6A194}"/>
                  </a:ext>
                </a:extLst>
              </p:cNvPr>
              <p:cNvCxnSpPr/>
              <p:nvPr/>
            </p:nvCxnSpPr>
            <p:spPr>
              <a:xfrm>
                <a:off x="1462355" y="3992773"/>
                <a:ext cx="0" cy="27622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43" name="Gruppieren 42">
              <a:extLst>
                <a:ext uri="{FF2B5EF4-FFF2-40B4-BE49-F238E27FC236}">
                  <a16:creationId xmlns:a16="http://schemas.microsoft.com/office/drawing/2014/main" id="{B6542EE7-A9C5-6AD3-B1B4-5F5C027D9909}"/>
                </a:ext>
              </a:extLst>
            </p:cNvPr>
            <p:cNvGrpSpPr/>
            <p:nvPr/>
          </p:nvGrpSpPr>
          <p:grpSpPr>
            <a:xfrm>
              <a:off x="3473340" y="3106154"/>
              <a:ext cx="350628" cy="209912"/>
              <a:chOff x="3453621" y="3019245"/>
              <a:chExt cx="350628" cy="209912"/>
            </a:xfrm>
          </p:grpSpPr>
          <p:cxnSp>
            <p:nvCxnSpPr>
              <p:cNvPr id="38" name="Gerader Verbinder 37">
                <a:extLst>
                  <a:ext uri="{FF2B5EF4-FFF2-40B4-BE49-F238E27FC236}">
                    <a16:creationId xmlns:a16="http://schemas.microsoft.com/office/drawing/2014/main" id="{4112870C-6CBD-0459-5CE9-33FA1C19510B}"/>
                  </a:ext>
                </a:extLst>
              </p:cNvPr>
              <p:cNvCxnSpPr>
                <a:cxnSpLocks/>
              </p:cNvCxnSpPr>
              <p:nvPr/>
            </p:nvCxnSpPr>
            <p:spPr>
              <a:xfrm>
                <a:off x="3453621" y="3229157"/>
                <a:ext cx="35062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36131DFE-8347-B919-1E9F-15E874E66CFF}"/>
                  </a:ext>
                </a:extLst>
              </p:cNvPr>
              <p:cNvCxnSpPr>
                <a:cxnSpLocks/>
              </p:cNvCxnSpPr>
              <p:nvPr/>
            </p:nvCxnSpPr>
            <p:spPr>
              <a:xfrm>
                <a:off x="3455235" y="3019245"/>
                <a:ext cx="0" cy="20272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grpSp>
        <p:nvGrpSpPr>
          <p:cNvPr id="2" name="Gruppieren 1">
            <a:extLst>
              <a:ext uri="{FF2B5EF4-FFF2-40B4-BE49-F238E27FC236}">
                <a16:creationId xmlns:a16="http://schemas.microsoft.com/office/drawing/2014/main" id="{3102124E-B7F1-FA1F-1909-1922D4F6CF27}"/>
              </a:ext>
            </a:extLst>
          </p:cNvPr>
          <p:cNvGrpSpPr/>
          <p:nvPr/>
        </p:nvGrpSpPr>
        <p:grpSpPr>
          <a:xfrm>
            <a:off x="6300000" y="1800000"/>
            <a:ext cx="5400000" cy="3420000"/>
            <a:chOff x="6300000" y="1800000"/>
            <a:chExt cx="5400000" cy="3420000"/>
          </a:xfrm>
        </p:grpSpPr>
        <p:sp>
          <p:nvSpPr>
            <p:cNvPr id="6" name="right-label">
              <a:extLst>
                <a:ext uri="{FF2B5EF4-FFF2-40B4-BE49-F238E27FC236}">
                  <a16:creationId xmlns:a16="http://schemas.microsoft.com/office/drawing/2014/main" id="{BDBC1CCC-6D90-4093-98EC-043DDC5B637F}"/>
                </a:ext>
              </a:extLst>
            </p:cNvPr>
            <p:cNvSpPr/>
            <p:nvPr/>
          </p:nvSpPr>
          <p:spPr>
            <a:xfrm>
              <a:off x="6300000" y="1800000"/>
              <a:ext cx="3238500" cy="266700"/>
            </a:xfrm>
            <a:prstGeom prst="rect">
              <a:avLst/>
            </a:prstGeom>
            <a:noFill/>
            <a:ln w="0">
              <a:noFill/>
              <a:prstDash val="solid"/>
            </a:ln>
          </p:spPr>
          <p:txBody>
            <a:bodyPr anchor="ctr"/>
            <a:lstStyle/>
            <a:p>
              <a:pPr algn="l">
                <a:defRPr sz="1275" b="1">
                  <a:solidFill>
                    <a:srgbClr val="307F87"/>
                  </a:solidFill>
                </a:defRPr>
              </a:pPr>
              <a:r>
                <a:rPr sz="1275" b="1" dirty="0">
                  <a:solidFill>
                    <a:srgbClr val="307F87"/>
                  </a:solidFill>
                </a:rPr>
                <a:t>STRUKTURORIENTIERT</a:t>
              </a:r>
            </a:p>
          </p:txBody>
        </p:sp>
        <p:sp>
          <p:nvSpPr>
            <p:cNvPr id="7" name="right-meta">
              <a:extLst>
                <a:ext uri="{FF2B5EF4-FFF2-40B4-BE49-F238E27FC236}">
                  <a16:creationId xmlns:a16="http://schemas.microsoft.com/office/drawing/2014/main" id="{0ED064EB-1AE7-4C0E-8859-467CF198E346}"/>
                </a:ext>
              </a:extLst>
            </p:cNvPr>
            <p:cNvSpPr/>
            <p:nvPr/>
          </p:nvSpPr>
          <p:spPr>
            <a:xfrm>
              <a:off x="6300000" y="1980000"/>
              <a:ext cx="4572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Artikel </a:t>
              </a:r>
              <a:r>
                <a:rPr sz="1050" b="0" dirty="0" err="1">
                  <a:solidFill>
                    <a:srgbClr val="746B5F"/>
                  </a:solidFill>
                </a:rPr>
                <a:t>zuerst</a:t>
              </a:r>
              <a:r>
                <a:rPr sz="1050" b="0" dirty="0">
                  <a:solidFill>
                    <a:srgbClr val="746B5F"/>
                  </a:solidFill>
                </a:rPr>
                <a:t>, </a:t>
              </a:r>
              <a:r>
                <a:rPr sz="1050" b="0" dirty="0" err="1">
                  <a:solidFill>
                    <a:srgbClr val="746B5F"/>
                  </a:solidFill>
                </a:rPr>
                <a:t>Sätze</a:t>
              </a:r>
              <a:r>
                <a:rPr sz="1050" b="0" dirty="0">
                  <a:solidFill>
                    <a:srgbClr val="746B5F"/>
                  </a:solidFill>
                </a:rPr>
                <a:t> </a:t>
              </a:r>
              <a:r>
                <a:rPr sz="1050" b="0" dirty="0" err="1">
                  <a:solidFill>
                    <a:srgbClr val="746B5F"/>
                  </a:solidFill>
                </a:rPr>
                <a:t>nur</a:t>
              </a:r>
              <a:r>
                <a:rPr sz="1050" b="0" dirty="0">
                  <a:solidFill>
                    <a:srgbClr val="746B5F"/>
                  </a:solidFill>
                </a:rPr>
                <a:t> </a:t>
              </a:r>
              <a:r>
                <a:rPr sz="1050" b="0" dirty="0" err="1">
                  <a:solidFill>
                    <a:srgbClr val="746B5F"/>
                  </a:solidFill>
                </a:rPr>
                <a:t>bei</a:t>
              </a:r>
              <a:r>
                <a:rPr sz="1050" b="0" dirty="0">
                  <a:solidFill>
                    <a:srgbClr val="746B5F"/>
                  </a:solidFill>
                </a:rPr>
                <a:t> </a:t>
              </a:r>
              <a:r>
                <a:rPr sz="1050" b="0" dirty="0" err="1">
                  <a:solidFill>
                    <a:srgbClr val="746B5F"/>
                  </a:solidFill>
                </a:rPr>
                <a:t>Bedarf</a:t>
              </a:r>
              <a:endParaRPr sz="1050" b="0" dirty="0">
                <a:solidFill>
                  <a:srgbClr val="746B5F"/>
                </a:solidFill>
              </a:endParaRPr>
            </a:p>
          </p:txBody>
        </p:sp>
        <p:sp>
          <p:nvSpPr>
            <p:cNvPr id="9" name="right-panel">
              <a:extLst>
                <a:ext uri="{FF2B5EF4-FFF2-40B4-BE49-F238E27FC236}">
                  <a16:creationId xmlns:a16="http://schemas.microsoft.com/office/drawing/2014/main" id="{D3A58C4A-9B3B-4FF2-900F-FC58DEF37FFA}"/>
                </a:ext>
              </a:extLst>
            </p:cNvPr>
            <p:cNvSpPr/>
            <p:nvPr/>
          </p:nvSpPr>
          <p:spPr>
            <a:xfrm>
              <a:off x="6300000" y="2340000"/>
              <a:ext cx="5400000" cy="2880000"/>
            </a:xfrm>
            <a:prstGeom prst="roundRect">
              <a:avLst>
                <a:gd name="adj" fmla="val 4000"/>
              </a:avLst>
            </a:prstGeom>
            <a:solidFill>
              <a:srgbClr val="F8FCFC"/>
            </a:solidFill>
            <a:ln w="9525">
              <a:solidFill>
                <a:srgbClr val="B9D4D6"/>
              </a:solidFill>
              <a:prstDash val="solid"/>
            </a:ln>
          </p:spPr>
          <p:txBody>
            <a:bodyPr/>
            <a:lstStyle/>
            <a:p>
              <a:endParaRPr lang="de-CH"/>
            </a:p>
          </p:txBody>
        </p:sp>
        <p:sp>
          <p:nvSpPr>
            <p:cNvPr id="17" name="article-block">
              <a:extLst>
                <a:ext uri="{FF2B5EF4-FFF2-40B4-BE49-F238E27FC236}">
                  <a16:creationId xmlns:a16="http://schemas.microsoft.com/office/drawing/2014/main" id="{8FC7FE77-AF45-4BCF-8735-F19FD4F129D3}"/>
                </a:ext>
              </a:extLst>
            </p:cNvPr>
            <p:cNvSpPr/>
            <p:nvPr/>
          </p:nvSpPr>
          <p:spPr>
            <a:xfrm>
              <a:off x="6660000" y="2520000"/>
              <a:ext cx="4680000" cy="1080000"/>
            </a:xfrm>
            <a:prstGeom prst="roundRect">
              <a:avLst>
                <a:gd name="adj" fmla="val 7273"/>
              </a:avLst>
            </a:prstGeom>
            <a:solidFill>
              <a:srgbClr val="FFFFFF"/>
            </a:solidFill>
            <a:ln w="12700">
              <a:solidFill>
                <a:srgbClr val="307F87"/>
              </a:solidFill>
              <a:prstDash val="solid"/>
            </a:ln>
          </p:spPr>
          <p:txBody>
            <a:bodyPr/>
            <a:lstStyle/>
            <a:p>
              <a:endParaRPr lang="de-CH"/>
            </a:p>
          </p:txBody>
        </p:sp>
        <p:sp>
          <p:nvSpPr>
            <p:cNvPr id="18" name="article-tag">
              <a:extLst>
                <a:ext uri="{FF2B5EF4-FFF2-40B4-BE49-F238E27FC236}">
                  <a16:creationId xmlns:a16="http://schemas.microsoft.com/office/drawing/2014/main" id="{72724757-D384-4B76-ADE0-C86756F3A085}"/>
                </a:ext>
              </a:extLst>
            </p:cNvPr>
            <p:cNvSpPr/>
            <p:nvPr/>
          </p:nvSpPr>
          <p:spPr>
            <a:xfrm>
              <a:off x="6840000" y="2700000"/>
              <a:ext cx="1524000" cy="209550"/>
            </a:xfrm>
            <a:prstGeom prst="rect">
              <a:avLst/>
            </a:prstGeom>
            <a:noFill/>
            <a:ln w="0">
              <a:noFill/>
              <a:prstDash val="solid"/>
            </a:ln>
          </p:spPr>
          <p:txBody>
            <a:bodyPr anchor="ctr"/>
            <a:lstStyle/>
            <a:p>
              <a:pPr algn="l">
                <a:defRPr sz="900" b="1">
                  <a:solidFill>
                    <a:srgbClr val="307F87"/>
                  </a:solidFill>
                </a:defRPr>
              </a:pPr>
              <a:r>
                <a:rPr sz="900" b="1">
                  <a:solidFill>
                    <a:srgbClr val="307F87"/>
                  </a:solidFill>
                </a:rPr>
                <a:t>ARTIKEL 335b</a:t>
              </a:r>
            </a:p>
          </p:txBody>
        </p:sp>
        <p:sp>
          <p:nvSpPr>
            <p:cNvPr id="19" name="article-text">
              <a:extLst>
                <a:ext uri="{FF2B5EF4-FFF2-40B4-BE49-F238E27FC236}">
                  <a16:creationId xmlns:a16="http://schemas.microsoft.com/office/drawing/2014/main" id="{6DCA5135-CD73-404C-8099-498AFA8AE390}"/>
                </a:ext>
              </a:extLst>
            </p:cNvPr>
            <p:cNvSpPr/>
            <p:nvPr/>
          </p:nvSpPr>
          <p:spPr>
            <a:xfrm>
              <a:off x="6840000" y="2880000"/>
              <a:ext cx="4095750" cy="514350"/>
            </a:xfrm>
            <a:prstGeom prst="rect">
              <a:avLst/>
            </a:prstGeom>
            <a:noFill/>
            <a:ln w="0">
              <a:noFill/>
              <a:prstDash val="solid"/>
            </a:ln>
          </p:spPr>
          <p:txBody>
            <a:bodyPr anchor="ctr"/>
            <a:lstStyle/>
            <a:p>
              <a:pPr algn="l">
                <a:defRPr sz="1350" b="1">
                  <a:solidFill>
                    <a:srgbClr val="304452"/>
                  </a:solidFill>
                </a:defRPr>
              </a:pPr>
              <a:r>
                <a:rPr sz="1350" b="1" dirty="0" err="1">
                  <a:solidFill>
                    <a:srgbClr val="304452"/>
                  </a:solidFill>
                </a:rPr>
                <a:t>Probezeit</a:t>
              </a:r>
              <a:r>
                <a:rPr lang="de-CH" sz="1350" b="1" dirty="0">
                  <a:solidFill>
                    <a:srgbClr val="304452"/>
                  </a:solidFill>
                </a:rPr>
                <a:t> </a:t>
              </a:r>
              <a:r>
                <a:rPr sz="1350" b="1" dirty="0" err="1">
                  <a:solidFill>
                    <a:srgbClr val="304452"/>
                  </a:solidFill>
                </a:rPr>
                <a:t>Absätze</a:t>
              </a:r>
              <a:r>
                <a:rPr sz="1350" b="1" dirty="0">
                  <a:solidFill>
                    <a:srgbClr val="304452"/>
                  </a:solidFill>
                </a:rPr>
                <a:t> </a:t>
              </a:r>
              <a:r>
                <a:rPr sz="1350" b="1" dirty="0" err="1">
                  <a:solidFill>
                    <a:srgbClr val="304452"/>
                  </a:solidFill>
                </a:rPr>
                <a:t>bleiben</a:t>
              </a:r>
              <a:r>
                <a:rPr sz="1350" b="1" dirty="0">
                  <a:solidFill>
                    <a:srgbClr val="304452"/>
                  </a:solidFill>
                </a:rPr>
                <a:t> </a:t>
              </a:r>
              <a:r>
                <a:rPr sz="1350" b="1" dirty="0" err="1">
                  <a:solidFill>
                    <a:srgbClr val="304452"/>
                  </a:solidFill>
                </a:rPr>
                <a:t>gemeinsam</a:t>
              </a:r>
              <a:r>
                <a:rPr sz="1350" b="1" dirty="0">
                  <a:solidFill>
                    <a:srgbClr val="304452"/>
                  </a:solidFill>
                </a:rPr>
                <a:t>, </a:t>
              </a:r>
              <a:r>
                <a:rPr sz="1350" b="1" dirty="0" err="1">
                  <a:solidFill>
                    <a:srgbClr val="304452"/>
                  </a:solidFill>
                </a:rPr>
                <a:t>solange</a:t>
              </a:r>
              <a:r>
                <a:rPr sz="1350" b="1" dirty="0">
                  <a:solidFill>
                    <a:srgbClr val="304452"/>
                  </a:solidFill>
                </a:rPr>
                <a:t> das Budget </a:t>
              </a:r>
              <a:r>
                <a:rPr sz="1350" b="1" dirty="0" err="1">
                  <a:solidFill>
                    <a:srgbClr val="304452"/>
                  </a:solidFill>
                </a:rPr>
                <a:t>reicht</a:t>
              </a:r>
              <a:r>
                <a:rPr sz="1350" b="1" dirty="0">
                  <a:solidFill>
                    <a:srgbClr val="304452"/>
                  </a:solidFill>
                </a:rPr>
                <a:t>.</a:t>
              </a:r>
            </a:p>
          </p:txBody>
        </p:sp>
        <p:sp>
          <p:nvSpPr>
            <p:cNvPr id="23" name="result-chip">
              <a:extLst>
                <a:ext uri="{FF2B5EF4-FFF2-40B4-BE49-F238E27FC236}">
                  <a16:creationId xmlns:a16="http://schemas.microsoft.com/office/drawing/2014/main" id="{7BBF8A2F-B0CE-4AF3-A58D-9B9260B96072}"/>
                </a:ext>
              </a:extLst>
            </p:cNvPr>
            <p:cNvSpPr/>
            <p:nvPr/>
          </p:nvSpPr>
          <p:spPr>
            <a:xfrm>
              <a:off x="7380000" y="4320000"/>
              <a:ext cx="3238500" cy="457200"/>
            </a:xfrm>
            <a:prstGeom prst="roundRect">
              <a:avLst>
                <a:gd name="adj" fmla="val 16667"/>
              </a:avLst>
            </a:prstGeom>
            <a:solidFill>
              <a:srgbClr val="EAF4F4"/>
            </a:solidFill>
            <a:ln w="12700">
              <a:solidFill>
                <a:srgbClr val="307F87"/>
              </a:solidFill>
              <a:prstDash val="solid"/>
            </a:ln>
          </p:spPr>
          <p:txBody>
            <a:bodyPr anchor="ctr"/>
            <a:lstStyle/>
            <a:p>
              <a:pPr algn="ctr"/>
              <a:r>
                <a:rPr lang="de-CH" sz="1400" b="1" dirty="0">
                  <a:solidFill>
                    <a:srgbClr val="307F87"/>
                  </a:solidFill>
                </a:rPr>
                <a:t>BEDEUTUNG BLEIBT ZUSAMMEN</a:t>
              </a:r>
            </a:p>
          </p:txBody>
        </p:sp>
        <p:cxnSp>
          <p:nvCxnSpPr>
            <p:cNvPr id="29" name="Gerade Verbindung mit Pfeil 28">
              <a:extLst>
                <a:ext uri="{FF2B5EF4-FFF2-40B4-BE49-F238E27FC236}">
                  <a16:creationId xmlns:a16="http://schemas.microsoft.com/office/drawing/2014/main" id="{D8CAD5DB-1C3A-7209-B0FF-1D186D705450}"/>
                </a:ext>
              </a:extLst>
            </p:cNvPr>
            <p:cNvCxnSpPr>
              <a:stCxn id="23" idx="0"/>
              <a:endCxn id="17" idx="2"/>
            </p:cNvCxnSpPr>
            <p:nvPr/>
          </p:nvCxnSpPr>
          <p:spPr>
            <a:xfrm flipV="1">
              <a:off x="8999250" y="3600000"/>
              <a:ext cx="750" cy="720000"/>
            </a:xfrm>
            <a:prstGeom prst="straightConnector1">
              <a:avLst/>
            </a:prstGeom>
            <a:solidFill>
              <a:srgbClr val="EAF4F4"/>
            </a:solidFill>
            <a:ln w="12700">
              <a:solidFill>
                <a:srgbClr val="307F87"/>
              </a:solidFill>
              <a:prstDash val="solid"/>
            </a:ln>
          </p:spPr>
        </p:cxnSp>
        <p:sp>
          <p:nvSpPr>
            <p:cNvPr id="21" name="oversize-note">
              <a:extLst>
                <a:ext uri="{FF2B5EF4-FFF2-40B4-BE49-F238E27FC236}">
                  <a16:creationId xmlns:a16="http://schemas.microsoft.com/office/drawing/2014/main" id="{6557A38C-4E89-4CDC-8237-FCB0C661E68A}"/>
                </a:ext>
              </a:extLst>
            </p:cNvPr>
            <p:cNvSpPr/>
            <p:nvPr/>
          </p:nvSpPr>
          <p:spPr>
            <a:xfrm>
              <a:off x="7125750" y="3826650"/>
              <a:ext cx="4095750" cy="266700"/>
            </a:xfrm>
            <a:prstGeom prst="rect">
              <a:avLst/>
            </a:prstGeom>
            <a:solidFill>
              <a:srgbClr val="F8FCFC"/>
            </a:solidFill>
            <a:ln w="0">
              <a:noFill/>
              <a:prstDash val="solid"/>
            </a:ln>
          </p:spPr>
          <p:txBody>
            <a:bodyPr anchor="ctr"/>
            <a:lstStyle/>
            <a:p>
              <a:pPr algn="ctr">
                <a:defRPr sz="1200" b="0">
                  <a:solidFill>
                    <a:srgbClr val="304452"/>
                  </a:solidFill>
                </a:defRPr>
              </a:pPr>
              <a:r>
                <a:rPr sz="1200" b="0" dirty="0">
                  <a:solidFill>
                    <a:srgbClr val="304452"/>
                  </a:solidFill>
                </a:rPr>
                <a:t>Nur </a:t>
              </a:r>
              <a:r>
                <a:rPr sz="1200" b="0" dirty="0" err="1">
                  <a:solidFill>
                    <a:srgbClr val="304452"/>
                  </a:solidFill>
                </a:rPr>
                <a:t>bei</a:t>
              </a:r>
              <a:r>
                <a:rPr sz="1200" b="0" dirty="0">
                  <a:solidFill>
                    <a:srgbClr val="304452"/>
                  </a:solidFill>
                </a:rPr>
                <a:t> </a:t>
              </a:r>
              <a:r>
                <a:rPr sz="1200" b="0" dirty="0" err="1">
                  <a:solidFill>
                    <a:srgbClr val="304452"/>
                  </a:solidFill>
                </a:rPr>
                <a:t>Überlänge</a:t>
              </a:r>
              <a:r>
                <a:rPr sz="1200" b="0" dirty="0">
                  <a:solidFill>
                    <a:srgbClr val="304452"/>
                  </a:solidFill>
                </a:rPr>
                <a:t>: an </a:t>
              </a:r>
              <a:r>
                <a:rPr sz="1200" b="0" dirty="0" err="1">
                  <a:solidFill>
                    <a:srgbClr val="304452"/>
                  </a:solidFill>
                </a:rPr>
                <a:t>Satzgrenzen</a:t>
              </a:r>
              <a:r>
                <a:rPr sz="1200" b="0" dirty="0">
                  <a:solidFill>
                    <a:srgbClr val="304452"/>
                  </a:solidFill>
                </a:rPr>
                <a:t> </a:t>
              </a:r>
              <a:r>
                <a:rPr sz="1200" b="0" dirty="0" err="1">
                  <a:solidFill>
                    <a:srgbClr val="304452"/>
                  </a:solidFill>
                </a:rPr>
                <a:t>trennen</a:t>
              </a:r>
              <a:endParaRPr sz="1200" b="0" dirty="0">
                <a:solidFill>
                  <a:srgbClr val="304452"/>
                </a:solidFill>
              </a:endParaRPr>
            </a:p>
          </p:txBody>
        </p:sp>
      </p:grpSp>
    </p:spTree>
    <p:extLst>
      <p:ext uri="{BB962C8B-B14F-4D97-AF65-F5344CB8AC3E}">
        <p14:creationId xmlns:p14="http://schemas.microsoft.com/office/powerpoint/2010/main" val="237291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 name="Titel 1"/>
          <p:cNvSpPr>
            <a:spLocks noGrp="1"/>
          </p:cNvSpPr>
          <p:nvPr>
            <p:ph type="title"/>
          </p:nvPr>
        </p:nvSpPr>
        <p:spPr>
          <a:xfrm>
            <a:off x="482461" y="346633"/>
            <a:ext cx="11230114" cy="767605"/>
          </a:xfrm>
        </p:spPr>
        <p:txBody>
          <a:bodyPr/>
          <a:lstStyle/>
          <a:p>
            <a:r>
              <a:rPr lang="de-CH" sz="3600" dirty="0"/>
              <a:t>Reranking sortiert Kandidaten – es findet keine neuen</a:t>
            </a:r>
          </a:p>
        </p:txBody>
      </p:sp>
      <p:sp>
        <p:nvSpPr>
          <p:cNvPr id="19" name="slide-subtitle">
            <a:extLst>
              <a:ext uri="{FF2B5EF4-FFF2-40B4-BE49-F238E27FC236}">
                <a16:creationId xmlns:a16="http://schemas.microsoft.com/office/drawing/2014/main" id="{2B01E572-7675-4F03-90C2-090B6A8A6308}"/>
              </a:ext>
            </a:extLst>
          </p:cNvPr>
          <p:cNvSpPr/>
          <p:nvPr/>
        </p:nvSpPr>
        <p:spPr>
          <a:xfrm>
            <a:off x="540000" y="1376382"/>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dirty="0">
                <a:solidFill>
                  <a:srgbClr val="81725E"/>
                </a:solidFill>
                <a:latin typeface="Arial"/>
                <a:ea typeface="Arial"/>
                <a:cs typeface="Arial"/>
              </a:rPr>
              <a:t>Retrieval </a:t>
            </a:r>
            <a:r>
              <a:rPr sz="1650" b="0" dirty="0" err="1">
                <a:solidFill>
                  <a:srgbClr val="81725E"/>
                </a:solidFill>
                <a:latin typeface="Arial"/>
                <a:ea typeface="Arial"/>
                <a:cs typeface="Arial"/>
              </a:rPr>
              <a:t>maximiert</a:t>
            </a:r>
            <a:r>
              <a:rPr sz="1650" b="0" dirty="0">
                <a:solidFill>
                  <a:srgbClr val="81725E"/>
                </a:solidFill>
                <a:latin typeface="Arial"/>
                <a:ea typeface="Arial"/>
                <a:cs typeface="Arial"/>
              </a:rPr>
              <a:t> Recall; der Cross-Encoder </a:t>
            </a:r>
            <a:r>
              <a:rPr sz="1650" b="0" dirty="0" err="1">
                <a:solidFill>
                  <a:srgbClr val="81725E"/>
                </a:solidFill>
                <a:latin typeface="Arial"/>
                <a:ea typeface="Arial"/>
                <a:cs typeface="Arial"/>
              </a:rPr>
              <a:t>verbessert</a:t>
            </a:r>
            <a:r>
              <a:rPr sz="1650" b="0" dirty="0">
                <a:solidFill>
                  <a:srgbClr val="81725E"/>
                </a:solidFill>
                <a:latin typeface="Arial"/>
                <a:ea typeface="Arial"/>
                <a:cs typeface="Arial"/>
              </a:rPr>
              <a:t> </a:t>
            </a:r>
            <a:r>
              <a:rPr sz="1650" b="0" dirty="0" err="1">
                <a:solidFill>
                  <a:srgbClr val="81725E"/>
                </a:solidFill>
                <a:latin typeface="Arial"/>
                <a:ea typeface="Arial"/>
                <a:cs typeface="Arial"/>
              </a:rPr>
              <a:t>danach</a:t>
            </a:r>
            <a:r>
              <a:rPr sz="1650" b="0" dirty="0">
                <a:solidFill>
                  <a:srgbClr val="81725E"/>
                </a:solidFill>
                <a:latin typeface="Arial"/>
                <a:ea typeface="Arial"/>
                <a:cs typeface="Arial"/>
              </a:rPr>
              <a:t> die </a:t>
            </a:r>
            <a:r>
              <a:rPr sz="1650" b="0" dirty="0" err="1">
                <a:solidFill>
                  <a:srgbClr val="81725E"/>
                </a:solidFill>
                <a:latin typeface="Arial"/>
                <a:ea typeface="Arial"/>
                <a:cs typeface="Arial"/>
              </a:rPr>
              <a:t>Reihenfolge</a:t>
            </a:r>
            <a:r>
              <a:rPr sz="1650" b="0" dirty="0">
                <a:solidFill>
                  <a:srgbClr val="81725E"/>
                </a:solidFill>
                <a:latin typeface="Arial"/>
                <a:ea typeface="Arial"/>
                <a:cs typeface="Arial"/>
              </a:rPr>
              <a:t>.</a:t>
            </a:r>
          </a:p>
        </p:txBody>
      </p:sp>
      <p:sp>
        <p:nvSpPr>
          <p:cNvPr id="20" name="page-number">
            <a:extLst>
              <a:ext uri="{FF2B5EF4-FFF2-40B4-BE49-F238E27FC236}">
                <a16:creationId xmlns:a16="http://schemas.microsoft.com/office/drawing/2014/main" id="{19B956D9-D2CE-4318-AEFE-02BD0C4DF880}"/>
              </a:ext>
            </a:extLst>
          </p:cNvPr>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p:nvPr/>
        </p:nvSpPr>
        <p:spPr>
          <a:xfrm>
            <a:off x="719999" y="1972649"/>
            <a:ext cx="2159999"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p:nvPr/>
        </p:nvSpPr>
        <p:spPr>
          <a:xfrm>
            <a:off x="720000" y="2695635"/>
            <a:ext cx="2160000" cy="720000"/>
          </a:xfrm>
          <a:prstGeom prst="roundRect">
            <a:avLst>
              <a:gd name="adj" fmla="val 19512"/>
            </a:avLst>
          </a:prstGeom>
          <a:solidFill>
            <a:srgbClr val="2D3F4B"/>
          </a:solidFill>
          <a:ln w="0">
            <a:solidFill>
              <a:srgbClr val="2D3F4B"/>
            </a:solidFill>
            <a:prstDash val="solid"/>
          </a:ln>
        </p:spPr>
        <p:txBody>
          <a:bodyPr anchor="ctr"/>
          <a:lstStyle/>
          <a:p>
            <a:pPr algn="ctr">
              <a:defRPr sz="1575" b="1">
                <a:solidFill>
                  <a:srgbClr val="FFFFFF"/>
                </a:solidFill>
                <a:latin typeface="Arial"/>
                <a:ea typeface="Arial"/>
                <a:cs typeface="Arial"/>
              </a:defRPr>
            </a:pPr>
            <a:r>
              <a:rPr lang="de-DE" sz="1600" b="1" dirty="0">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lang="de-DE" sz="1600" b="1" dirty="0">
                <a:solidFill>
                  <a:srgbClr val="FFFFFF"/>
                </a:solidFill>
                <a:latin typeface="Arial"/>
                <a:ea typeface="Arial"/>
                <a:cs typeface="Arial"/>
              </a:rPr>
              <a:t>die Probezeit?</a:t>
            </a:r>
          </a:p>
        </p:txBody>
      </p:sp>
      <p:grpSp>
        <p:nvGrpSpPr>
          <p:cNvPr id="14" name="Gruppieren 13">
            <a:extLst>
              <a:ext uri="{FF2B5EF4-FFF2-40B4-BE49-F238E27FC236}">
                <a16:creationId xmlns:a16="http://schemas.microsoft.com/office/drawing/2014/main" id="{242317EE-D408-D3CB-6B28-8B812C29DCA0}"/>
              </a:ext>
            </a:extLst>
          </p:cNvPr>
          <p:cNvGrpSpPr/>
          <p:nvPr/>
        </p:nvGrpSpPr>
        <p:grpSpPr>
          <a:xfrm>
            <a:off x="2957273" y="1972649"/>
            <a:ext cx="3442102" cy="2225964"/>
            <a:chOff x="2957273" y="1972649"/>
            <a:chExt cx="3442102" cy="2225964"/>
          </a:xfrm>
        </p:grpSpPr>
        <p:sp>
          <p:nvSpPr>
            <p:cNvPr id="25" name="q-to-vector">
              <a:extLst>
                <a:ext uri="{FF2B5EF4-FFF2-40B4-BE49-F238E27FC236}">
                  <a16:creationId xmlns:a16="http://schemas.microsoft.com/office/drawing/2014/main" id="{A8585295-75E2-46EA-AC32-126696555F4B}"/>
                </a:ext>
              </a:extLst>
            </p:cNvPr>
            <p:cNvSpPr/>
            <p:nvPr/>
          </p:nvSpPr>
          <p:spPr>
            <a:xfrm>
              <a:off x="2957273" y="3055635"/>
              <a:ext cx="717499"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p:nvPr/>
          </p:nvSpPr>
          <p:spPr>
            <a:xfrm>
              <a:off x="3780000" y="1972649"/>
              <a:ext cx="2619374"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VECTOR TOP-10</a:t>
              </a:r>
            </a:p>
          </p:txBody>
        </p:sp>
        <p:grpSp>
          <p:nvGrpSpPr>
            <p:cNvPr id="3" name="Gruppieren 2">
              <a:extLst>
                <a:ext uri="{FF2B5EF4-FFF2-40B4-BE49-F238E27FC236}">
                  <a16:creationId xmlns:a16="http://schemas.microsoft.com/office/drawing/2014/main" id="{1FB2134F-2371-6C77-AF8C-D1C3FCBA96EC}"/>
                </a:ext>
              </a:extLst>
            </p:cNvPr>
            <p:cNvGrpSpPr/>
            <p:nvPr/>
          </p:nvGrpSpPr>
          <p:grpSpPr>
            <a:xfrm>
              <a:off x="3780000" y="2340000"/>
              <a:ext cx="2619375" cy="409575"/>
              <a:chOff x="3780000" y="2340000"/>
              <a:chExt cx="2619375" cy="409575"/>
            </a:xfrm>
          </p:grpSpPr>
          <p:sp>
            <p:nvSpPr>
              <p:cNvPr id="27" name="vector-row-0">
                <a:extLst>
                  <a:ext uri="{FF2B5EF4-FFF2-40B4-BE49-F238E27FC236}">
                    <a16:creationId xmlns:a16="http://schemas.microsoft.com/office/drawing/2014/main" id="{75716B28-0E31-46C2-A3C5-56EECC949C2B}"/>
                  </a:ext>
                </a:extLst>
              </p:cNvPr>
              <p:cNvSpPr/>
              <p:nvPr/>
            </p:nvSpPr>
            <p:spPr>
              <a:xfrm>
                <a:off x="3780000" y="23400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p:nvPr/>
            </p:nvSpPr>
            <p:spPr>
              <a:xfrm>
                <a:off x="3960000" y="2420962"/>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p:nvPr/>
            </p:nvSpPr>
            <p:spPr>
              <a:xfrm>
                <a:off x="4320000" y="2420962"/>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Kündigungsfrist</a:t>
                </a:r>
                <a:endParaRPr sz="1275" b="0" dirty="0">
                  <a:solidFill>
                    <a:srgbClr val="2D3F4B"/>
                  </a:solidFill>
                  <a:latin typeface="Arial"/>
                  <a:ea typeface="Arial"/>
                  <a:cs typeface="Arial"/>
                </a:endParaRPr>
              </a:p>
            </p:txBody>
          </p:sp>
          <p:sp>
            <p:nvSpPr>
              <p:cNvPr id="30" name="vector-score-0">
                <a:extLst>
                  <a:ext uri="{FF2B5EF4-FFF2-40B4-BE49-F238E27FC236}">
                    <a16:creationId xmlns:a16="http://schemas.microsoft.com/office/drawing/2014/main" id="{F3A744E8-F2AE-463C-86F7-923304CFAC8C}"/>
                  </a:ext>
                </a:extLst>
              </p:cNvPr>
              <p:cNvSpPr/>
              <p:nvPr/>
            </p:nvSpPr>
            <p:spPr>
              <a:xfrm>
                <a:off x="5760000" y="242096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grpSp>
        <p:grpSp>
          <p:nvGrpSpPr>
            <p:cNvPr id="4" name="Gruppieren 3">
              <a:extLst>
                <a:ext uri="{FF2B5EF4-FFF2-40B4-BE49-F238E27FC236}">
                  <a16:creationId xmlns:a16="http://schemas.microsoft.com/office/drawing/2014/main" id="{141B6B71-8143-2108-063C-D8853593EB6D}"/>
                </a:ext>
              </a:extLst>
            </p:cNvPr>
            <p:cNvGrpSpPr/>
            <p:nvPr/>
          </p:nvGrpSpPr>
          <p:grpSpPr>
            <a:xfrm>
              <a:off x="3780000" y="2823013"/>
              <a:ext cx="2619375" cy="409575"/>
              <a:chOff x="3780000" y="2880000"/>
              <a:chExt cx="2619375" cy="409575"/>
            </a:xfrm>
          </p:grpSpPr>
          <p:sp>
            <p:nvSpPr>
              <p:cNvPr id="31" name="vector-row-1">
                <a:extLst>
                  <a:ext uri="{FF2B5EF4-FFF2-40B4-BE49-F238E27FC236}">
                    <a16:creationId xmlns:a16="http://schemas.microsoft.com/office/drawing/2014/main" id="{F450F738-BD5A-48AD-9A41-9FF11D6A9169}"/>
                  </a:ext>
                </a:extLst>
              </p:cNvPr>
              <p:cNvSpPr/>
              <p:nvPr/>
            </p:nvSpPr>
            <p:spPr>
              <a:xfrm>
                <a:off x="3780000" y="2880000"/>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p:nvPr/>
            </p:nvSpPr>
            <p:spPr>
              <a:xfrm>
                <a:off x="3960000" y="2960962"/>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p:nvPr/>
            </p:nvSpPr>
            <p:spPr>
              <a:xfrm>
                <a:off x="4320000" y="2960962"/>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p:nvPr/>
            </p:nvSpPr>
            <p:spPr>
              <a:xfrm>
                <a:off x="5760000" y="296096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grpSp>
        <p:grpSp>
          <p:nvGrpSpPr>
            <p:cNvPr id="5" name="Gruppieren 4">
              <a:extLst>
                <a:ext uri="{FF2B5EF4-FFF2-40B4-BE49-F238E27FC236}">
                  <a16:creationId xmlns:a16="http://schemas.microsoft.com/office/drawing/2014/main" id="{E1AEB315-AE4C-75B6-BD5A-A4C2BA26F968}"/>
                </a:ext>
              </a:extLst>
            </p:cNvPr>
            <p:cNvGrpSpPr/>
            <p:nvPr/>
          </p:nvGrpSpPr>
          <p:grpSpPr>
            <a:xfrm>
              <a:off x="3780000" y="3306026"/>
              <a:ext cx="2619375" cy="409575"/>
              <a:chOff x="3780000" y="3335760"/>
              <a:chExt cx="2619375" cy="409575"/>
            </a:xfrm>
          </p:grpSpPr>
          <p:sp>
            <p:nvSpPr>
              <p:cNvPr id="35" name="vector-row-2">
                <a:extLst>
                  <a:ext uri="{FF2B5EF4-FFF2-40B4-BE49-F238E27FC236}">
                    <a16:creationId xmlns:a16="http://schemas.microsoft.com/office/drawing/2014/main" id="{A0FCE584-190B-47B3-8C38-C35AD8DA58CA}"/>
                  </a:ext>
                </a:extLst>
              </p:cNvPr>
              <p:cNvSpPr/>
              <p:nvPr/>
            </p:nvSpPr>
            <p:spPr>
              <a:xfrm>
                <a:off x="3780000" y="333576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p:nvPr/>
            </p:nvSpPr>
            <p:spPr>
              <a:xfrm>
                <a:off x="3960000" y="3416722"/>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p:nvPr/>
            </p:nvSpPr>
            <p:spPr>
              <a:xfrm>
                <a:off x="4320000" y="3416722"/>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p:nvPr/>
            </p:nvSpPr>
            <p:spPr>
              <a:xfrm>
                <a:off x="5760000" y="341672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dirty="0">
                    <a:solidFill>
                      <a:srgbClr val="81725E"/>
                    </a:solidFill>
                    <a:latin typeface="Arial"/>
                    <a:ea typeface="Arial"/>
                    <a:cs typeface="Arial"/>
                  </a:rPr>
                  <a:t>0.79</a:t>
                </a:r>
              </a:p>
            </p:txBody>
          </p:sp>
        </p:grpSp>
        <p:grpSp>
          <p:nvGrpSpPr>
            <p:cNvPr id="6" name="Gruppieren 5">
              <a:extLst>
                <a:ext uri="{FF2B5EF4-FFF2-40B4-BE49-F238E27FC236}">
                  <a16:creationId xmlns:a16="http://schemas.microsoft.com/office/drawing/2014/main" id="{5E76CAC2-D564-2846-6F19-8A1C030627FF}"/>
                </a:ext>
              </a:extLst>
            </p:cNvPr>
            <p:cNvGrpSpPr/>
            <p:nvPr/>
          </p:nvGrpSpPr>
          <p:grpSpPr>
            <a:xfrm>
              <a:off x="3780000" y="3789038"/>
              <a:ext cx="2619375" cy="409575"/>
              <a:chOff x="3780000" y="3789038"/>
              <a:chExt cx="2619375" cy="409575"/>
            </a:xfrm>
          </p:grpSpPr>
          <p:sp>
            <p:nvSpPr>
              <p:cNvPr id="39" name="vector-row-3">
                <a:extLst>
                  <a:ext uri="{FF2B5EF4-FFF2-40B4-BE49-F238E27FC236}">
                    <a16:creationId xmlns:a16="http://schemas.microsoft.com/office/drawing/2014/main" id="{A778CD48-FBE7-45F1-B1D9-E5C11B2F386B}"/>
                  </a:ext>
                </a:extLst>
              </p:cNvPr>
              <p:cNvSpPr/>
              <p:nvPr/>
            </p:nvSpPr>
            <p:spPr>
              <a:xfrm>
                <a:off x="3780000" y="3789038"/>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p:nvPr/>
            </p:nvSpPr>
            <p:spPr>
              <a:xfrm>
                <a:off x="3960000" y="38700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dirty="0">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p:nvPr/>
            </p:nvSpPr>
            <p:spPr>
              <a:xfrm>
                <a:off x="4320000" y="38700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weitere</a:t>
                </a:r>
                <a:r>
                  <a:rPr sz="1275" b="0" dirty="0">
                    <a:solidFill>
                      <a:srgbClr val="2D3F4B"/>
                    </a:solidFill>
                    <a:latin typeface="Arial"/>
                    <a:ea typeface="Arial"/>
                    <a:cs typeface="Arial"/>
                  </a:rPr>
                  <a:t> …</a:t>
                </a:r>
              </a:p>
            </p:txBody>
          </p:sp>
          <p:sp>
            <p:nvSpPr>
              <p:cNvPr id="42" name="vector-score-3">
                <a:extLst>
                  <a:ext uri="{FF2B5EF4-FFF2-40B4-BE49-F238E27FC236}">
                    <a16:creationId xmlns:a16="http://schemas.microsoft.com/office/drawing/2014/main" id="{EF44EE5C-685F-4580-B31D-49F249227434}"/>
                  </a:ext>
                </a:extLst>
              </p:cNvPr>
              <p:cNvSpPr/>
              <p:nvPr/>
            </p:nvSpPr>
            <p:spPr>
              <a:xfrm>
                <a:off x="5760000" y="3870000"/>
                <a:ext cx="552450" cy="247650"/>
              </a:xfrm>
              <a:prstGeom prst="rect">
                <a:avLst/>
              </a:prstGeom>
              <a:noFill/>
              <a:ln w="0">
                <a:noFill/>
                <a:prstDash val="solid"/>
              </a:ln>
            </p:spPr>
            <p:txBody>
              <a:bodyPr anchor="t"/>
              <a:lstStyle/>
              <a:p>
                <a:endParaRPr/>
              </a:p>
            </p:txBody>
          </p:sp>
        </p:grpSp>
      </p:grpSp>
      <p:grpSp>
        <p:nvGrpSpPr>
          <p:cNvPr id="13" name="Gruppieren 12">
            <a:extLst>
              <a:ext uri="{FF2B5EF4-FFF2-40B4-BE49-F238E27FC236}">
                <a16:creationId xmlns:a16="http://schemas.microsoft.com/office/drawing/2014/main" id="{8EA97AE7-F84C-C527-3D6D-5B12409EFD94}"/>
              </a:ext>
            </a:extLst>
          </p:cNvPr>
          <p:cNvGrpSpPr/>
          <p:nvPr/>
        </p:nvGrpSpPr>
        <p:grpSpPr>
          <a:xfrm>
            <a:off x="8100000" y="1972649"/>
            <a:ext cx="3434625" cy="2225964"/>
            <a:chOff x="8100000" y="1972649"/>
            <a:chExt cx="3434625" cy="2225964"/>
          </a:xfrm>
        </p:grpSpPr>
        <p:sp>
          <p:nvSpPr>
            <p:cNvPr id="47" name="rerank-to-top">
              <a:extLst>
                <a:ext uri="{FF2B5EF4-FFF2-40B4-BE49-F238E27FC236}">
                  <a16:creationId xmlns:a16="http://schemas.microsoft.com/office/drawing/2014/main" id="{67DC0688-D565-480D-8784-C0ED88D57A86}"/>
                </a:ext>
              </a:extLst>
            </p:cNvPr>
            <p:cNvSpPr/>
            <p:nvPr/>
          </p:nvSpPr>
          <p:spPr>
            <a:xfrm>
              <a:off x="8100000" y="30600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p:nvPr/>
          </p:nvSpPr>
          <p:spPr>
            <a:xfrm>
              <a:off x="8820000" y="1972649"/>
              <a:ext cx="2714624"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dirty="0">
                  <a:solidFill>
                    <a:srgbClr val="C9960F"/>
                  </a:solidFill>
                  <a:latin typeface="Arial"/>
                  <a:ea typeface="Arial"/>
                  <a:cs typeface="Arial"/>
                </a:rPr>
                <a:t>TOP-4 IN DEN PROMPT</a:t>
              </a:r>
            </a:p>
          </p:txBody>
        </p:sp>
        <p:grpSp>
          <p:nvGrpSpPr>
            <p:cNvPr id="7" name="Gruppieren 6">
              <a:extLst>
                <a:ext uri="{FF2B5EF4-FFF2-40B4-BE49-F238E27FC236}">
                  <a16:creationId xmlns:a16="http://schemas.microsoft.com/office/drawing/2014/main" id="{96B33F7E-F940-E975-D647-C60CAC87F958}"/>
                </a:ext>
              </a:extLst>
            </p:cNvPr>
            <p:cNvGrpSpPr/>
            <p:nvPr/>
          </p:nvGrpSpPr>
          <p:grpSpPr>
            <a:xfrm>
              <a:off x="8820000" y="2340000"/>
              <a:ext cx="2714625" cy="409575"/>
              <a:chOff x="8820000" y="2340000"/>
              <a:chExt cx="2714625" cy="409575"/>
            </a:xfrm>
          </p:grpSpPr>
          <p:sp>
            <p:nvSpPr>
              <p:cNvPr id="49" name="rerank-row-0">
                <a:extLst>
                  <a:ext uri="{FF2B5EF4-FFF2-40B4-BE49-F238E27FC236}">
                    <a16:creationId xmlns:a16="http://schemas.microsoft.com/office/drawing/2014/main" id="{DF31896F-4FA2-4656-9746-FB94EE4BD9AF}"/>
                  </a:ext>
                </a:extLst>
              </p:cNvPr>
              <p:cNvSpPr/>
              <p:nvPr/>
            </p:nvSpPr>
            <p:spPr>
              <a:xfrm>
                <a:off x="8820000" y="234000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p:nvPr/>
            </p:nvSpPr>
            <p:spPr>
              <a:xfrm>
                <a:off x="8820000" y="2420962"/>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p:nvPr/>
            </p:nvSpPr>
            <p:spPr>
              <a:xfrm>
                <a:off x="9180000" y="2420962"/>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p:nvPr/>
            </p:nvSpPr>
            <p:spPr>
              <a:xfrm>
                <a:off x="10800000" y="242096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grpSp>
        <p:grpSp>
          <p:nvGrpSpPr>
            <p:cNvPr id="8" name="Gruppieren 7">
              <a:extLst>
                <a:ext uri="{FF2B5EF4-FFF2-40B4-BE49-F238E27FC236}">
                  <a16:creationId xmlns:a16="http://schemas.microsoft.com/office/drawing/2014/main" id="{08255C8E-C511-B08E-3F5A-42E18623C2FF}"/>
                </a:ext>
              </a:extLst>
            </p:cNvPr>
            <p:cNvGrpSpPr/>
            <p:nvPr/>
          </p:nvGrpSpPr>
          <p:grpSpPr>
            <a:xfrm>
              <a:off x="8820000" y="2823013"/>
              <a:ext cx="2714625" cy="409575"/>
              <a:chOff x="8820000" y="2880000"/>
              <a:chExt cx="2714625" cy="409575"/>
            </a:xfrm>
          </p:grpSpPr>
          <p:sp>
            <p:nvSpPr>
              <p:cNvPr id="53" name="rerank-row-1">
                <a:extLst>
                  <a:ext uri="{FF2B5EF4-FFF2-40B4-BE49-F238E27FC236}">
                    <a16:creationId xmlns:a16="http://schemas.microsoft.com/office/drawing/2014/main" id="{43762E83-CA22-40AA-A126-60AE96C1F805}"/>
                  </a:ext>
                </a:extLst>
              </p:cNvPr>
              <p:cNvSpPr/>
              <p:nvPr/>
            </p:nvSpPr>
            <p:spPr>
              <a:xfrm>
                <a:off x="8820000" y="28800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p:nvPr/>
            </p:nvSpPr>
            <p:spPr>
              <a:xfrm>
                <a:off x="8820000" y="2960962"/>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p:nvPr/>
            </p:nvSpPr>
            <p:spPr>
              <a:xfrm>
                <a:off x="9180000" y="2960962"/>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Lehrvertrag</a:t>
                </a:r>
                <a:endParaRPr sz="1275" b="0" dirty="0">
                  <a:solidFill>
                    <a:srgbClr val="2D3F4B"/>
                  </a:solidFill>
                  <a:latin typeface="Arial"/>
                  <a:ea typeface="Arial"/>
                  <a:cs typeface="Arial"/>
                </a:endParaRPr>
              </a:p>
            </p:txBody>
          </p:sp>
          <p:sp>
            <p:nvSpPr>
              <p:cNvPr id="56" name="rerank-score-1">
                <a:extLst>
                  <a:ext uri="{FF2B5EF4-FFF2-40B4-BE49-F238E27FC236}">
                    <a16:creationId xmlns:a16="http://schemas.microsoft.com/office/drawing/2014/main" id="{1E43AC17-5C2E-4C76-B5E9-D9550B9C083A}"/>
                  </a:ext>
                </a:extLst>
              </p:cNvPr>
              <p:cNvSpPr/>
              <p:nvPr/>
            </p:nvSpPr>
            <p:spPr>
              <a:xfrm>
                <a:off x="10800000" y="296096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grpSp>
        <p:grpSp>
          <p:nvGrpSpPr>
            <p:cNvPr id="9" name="Gruppieren 8">
              <a:extLst>
                <a:ext uri="{FF2B5EF4-FFF2-40B4-BE49-F238E27FC236}">
                  <a16:creationId xmlns:a16="http://schemas.microsoft.com/office/drawing/2014/main" id="{2DF2A836-AA57-844A-1BF3-271CE5CE71EE}"/>
                </a:ext>
              </a:extLst>
            </p:cNvPr>
            <p:cNvGrpSpPr/>
            <p:nvPr/>
          </p:nvGrpSpPr>
          <p:grpSpPr>
            <a:xfrm>
              <a:off x="8820000" y="3306026"/>
              <a:ext cx="2714625" cy="409575"/>
              <a:chOff x="8820000" y="3249038"/>
              <a:chExt cx="2714625" cy="409575"/>
            </a:xfrm>
          </p:grpSpPr>
          <p:sp>
            <p:nvSpPr>
              <p:cNvPr id="57" name="rerank-row-2">
                <a:extLst>
                  <a:ext uri="{FF2B5EF4-FFF2-40B4-BE49-F238E27FC236}">
                    <a16:creationId xmlns:a16="http://schemas.microsoft.com/office/drawing/2014/main" id="{C609C74F-E2A9-4EBA-9133-D289232429B9}"/>
                  </a:ext>
                </a:extLst>
              </p:cNvPr>
              <p:cNvSpPr/>
              <p:nvPr/>
            </p:nvSpPr>
            <p:spPr>
              <a:xfrm>
                <a:off x="8820000" y="3249038"/>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p:nvPr/>
            </p:nvSpPr>
            <p:spPr>
              <a:xfrm>
                <a:off x="8820000" y="333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p:nvPr/>
            </p:nvSpPr>
            <p:spPr>
              <a:xfrm>
                <a:off x="9180000" y="333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p:nvPr/>
            </p:nvSpPr>
            <p:spPr>
              <a:xfrm>
                <a:off x="10800000" y="333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grpSp>
        <p:grpSp>
          <p:nvGrpSpPr>
            <p:cNvPr id="10" name="Gruppieren 9">
              <a:extLst>
                <a:ext uri="{FF2B5EF4-FFF2-40B4-BE49-F238E27FC236}">
                  <a16:creationId xmlns:a16="http://schemas.microsoft.com/office/drawing/2014/main" id="{483BA689-0BEA-AB9C-9943-A97B94BA0EB8}"/>
                </a:ext>
              </a:extLst>
            </p:cNvPr>
            <p:cNvGrpSpPr/>
            <p:nvPr/>
          </p:nvGrpSpPr>
          <p:grpSpPr>
            <a:xfrm>
              <a:off x="8820000" y="3789038"/>
              <a:ext cx="2714625" cy="409575"/>
              <a:chOff x="8820000" y="3789038"/>
              <a:chExt cx="2714625" cy="409575"/>
            </a:xfrm>
          </p:grpSpPr>
          <p:sp>
            <p:nvSpPr>
              <p:cNvPr id="61" name="rerank-row-3">
                <a:extLst>
                  <a:ext uri="{FF2B5EF4-FFF2-40B4-BE49-F238E27FC236}">
                    <a16:creationId xmlns:a16="http://schemas.microsoft.com/office/drawing/2014/main" id="{DB51D4B7-0DE8-4353-94F1-A0704F80CAF9}"/>
                  </a:ext>
                </a:extLst>
              </p:cNvPr>
              <p:cNvSpPr/>
              <p:nvPr/>
            </p:nvSpPr>
            <p:spPr>
              <a:xfrm>
                <a:off x="8820000" y="3789038"/>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p:nvPr/>
            </p:nvSpPr>
            <p:spPr>
              <a:xfrm>
                <a:off x="8820000" y="387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p:nvPr/>
            </p:nvSpPr>
            <p:spPr>
              <a:xfrm>
                <a:off x="9180000" y="387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p:nvPr/>
            </p:nvSpPr>
            <p:spPr>
              <a:xfrm>
                <a:off x="10800000" y="3870000"/>
                <a:ext cx="552450" cy="247650"/>
              </a:xfrm>
              <a:prstGeom prst="rect">
                <a:avLst/>
              </a:prstGeom>
              <a:noFill/>
              <a:ln w="0">
                <a:noFill/>
                <a:prstDash val="solid"/>
              </a:ln>
            </p:spPr>
            <p:txBody>
              <a:bodyPr anchor="t"/>
              <a:lstStyle/>
              <a:p>
                <a:endParaRPr/>
              </a:p>
            </p:txBody>
          </p:sp>
        </p:grpSp>
      </p:grpSp>
      <p:sp>
        <p:nvSpPr>
          <p:cNvPr id="65" name="rerank-limit">
            <a:extLst>
              <a:ext uri="{FF2B5EF4-FFF2-40B4-BE49-F238E27FC236}">
                <a16:creationId xmlns:a16="http://schemas.microsoft.com/office/drawing/2014/main" id="{ED2A38C4-D755-44FC-9EA4-1E947591FFC9}"/>
              </a:ext>
            </a:extLst>
          </p:cNvPr>
          <p:cNvSpPr/>
          <p:nvPr/>
        </p:nvSpPr>
        <p:spPr>
          <a:xfrm>
            <a:off x="2159999" y="5040000"/>
            <a:ext cx="8591625" cy="720000"/>
          </a:xfrm>
          <a:prstGeom prst="roundRect">
            <a:avLst>
              <a:gd name="adj" fmla="val 20000"/>
            </a:avLst>
          </a:prstGeom>
          <a:solidFill>
            <a:srgbClr val="2D3F4B"/>
          </a:solidFill>
          <a:ln w="0">
            <a:solidFill>
              <a:srgbClr val="2D3F4B"/>
            </a:solidFill>
            <a:prstDash val="solid"/>
          </a:ln>
        </p:spPr>
        <p:txBody>
          <a:bodyPr anchor="ctr"/>
          <a:lstStyle/>
          <a:p>
            <a:pPr algn="ctr">
              <a:defRPr sz="1350" b="1">
                <a:solidFill>
                  <a:srgbClr val="FFFFFF"/>
                </a:solidFill>
                <a:latin typeface="Arial"/>
                <a:ea typeface="Arial"/>
                <a:cs typeface="Arial"/>
              </a:defRPr>
            </a:pPr>
            <a:r>
              <a:rPr lang="de-DE" sz="1600" b="1" dirty="0">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lang="de-DE" sz="1600" b="1" dirty="0">
                <a:solidFill>
                  <a:srgbClr val="FFFFFF"/>
                </a:solidFill>
                <a:latin typeface="Arial"/>
                <a:ea typeface="Arial"/>
                <a:cs typeface="Arial"/>
              </a:rPr>
              <a:t>Fehlt der richtige Chunk in den Top-10, kann </a:t>
            </a:r>
            <a:r>
              <a:rPr lang="de-DE" sz="1600" b="1" dirty="0" err="1">
                <a:solidFill>
                  <a:srgbClr val="FFFFFF"/>
                </a:solidFill>
                <a:latin typeface="Arial"/>
                <a:ea typeface="Arial"/>
                <a:cs typeface="Arial"/>
              </a:rPr>
              <a:t>Reranking</a:t>
            </a:r>
            <a:r>
              <a:rPr lang="de-DE" sz="1600" b="1" dirty="0">
                <a:solidFill>
                  <a:srgbClr val="FFFFFF"/>
                </a:solidFill>
                <a:latin typeface="Arial"/>
                <a:ea typeface="Arial"/>
                <a:cs typeface="Arial"/>
              </a:rPr>
              <a:t> ihn nicht zurückholen.</a:t>
            </a:r>
          </a:p>
        </p:txBody>
      </p:sp>
      <p:grpSp>
        <p:nvGrpSpPr>
          <p:cNvPr id="12" name="Gruppieren 11">
            <a:extLst>
              <a:ext uri="{FF2B5EF4-FFF2-40B4-BE49-F238E27FC236}">
                <a16:creationId xmlns:a16="http://schemas.microsoft.com/office/drawing/2014/main" id="{2D1C9AE5-D91A-3624-4EC6-07E34C6E828D}"/>
              </a:ext>
            </a:extLst>
          </p:cNvPr>
          <p:cNvGrpSpPr/>
          <p:nvPr/>
        </p:nvGrpSpPr>
        <p:grpSpPr>
          <a:xfrm>
            <a:off x="6480000" y="1972649"/>
            <a:ext cx="2052201" cy="1913551"/>
            <a:chOff x="6480000" y="1972649"/>
            <a:chExt cx="2052201" cy="1913551"/>
          </a:xfrm>
        </p:grpSpPr>
        <p:sp>
          <p:nvSpPr>
            <p:cNvPr id="43" name="vector-to-rerank">
              <a:extLst>
                <a:ext uri="{FF2B5EF4-FFF2-40B4-BE49-F238E27FC236}">
                  <a16:creationId xmlns:a16="http://schemas.microsoft.com/office/drawing/2014/main" id="{8361C6C7-88AF-4C6F-9197-06086CD53D46}"/>
                </a:ext>
              </a:extLst>
            </p:cNvPr>
            <p:cNvSpPr/>
            <p:nvPr/>
          </p:nvSpPr>
          <p:spPr>
            <a:xfrm>
              <a:off x="6480000" y="3060000"/>
              <a:ext cx="762000" cy="0"/>
            </a:xfrm>
            <a:prstGeom prst="line">
              <a:avLst/>
            </a:prstGeom>
            <a:ln w="23813">
              <a:solidFill>
                <a:srgbClr val="43858A"/>
              </a:solidFill>
              <a:prstDash val="solid"/>
            </a:ln>
          </p:spPr>
          <p:txBody>
            <a:bodyPr/>
            <a:lstStyle/>
            <a:p>
              <a:endParaRPr lang="de-CH"/>
            </a:p>
          </p:txBody>
        </p:sp>
        <p:sp>
          <p:nvSpPr>
            <p:cNvPr id="45" name="cross-label">
              <a:extLst>
                <a:ext uri="{FF2B5EF4-FFF2-40B4-BE49-F238E27FC236}">
                  <a16:creationId xmlns:a16="http://schemas.microsoft.com/office/drawing/2014/main" id="{7DBDADD9-B218-4FA9-8FE1-859807B1D72A}"/>
                </a:ext>
              </a:extLst>
            </p:cNvPr>
            <p:cNvSpPr/>
            <p:nvPr/>
          </p:nvSpPr>
          <p:spPr>
            <a:xfrm>
              <a:off x="6884163" y="1972649"/>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dirty="0">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p:nvPr/>
          </p:nvSpPr>
          <p:spPr>
            <a:xfrm>
              <a:off x="6807750" y="3429000"/>
              <a:ext cx="1724451"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dirty="0" err="1">
                  <a:solidFill>
                    <a:srgbClr val="2D3F4B"/>
                  </a:solidFill>
                  <a:latin typeface="Arial"/>
                  <a:ea typeface="Arial"/>
                  <a:cs typeface="Arial"/>
                </a:rPr>
                <a:t>liest</a:t>
              </a:r>
              <a:r>
                <a:rPr sz="1275" b="0" dirty="0">
                  <a:solidFill>
                    <a:srgbClr val="2D3F4B"/>
                  </a:solidFill>
                  <a:latin typeface="Arial"/>
                  <a:ea typeface="Arial"/>
                  <a:cs typeface="Arial"/>
                </a:rPr>
                <a:t> Frage + Chunk</a:t>
              </a:r>
            </a:p>
            <a:p>
              <a:pPr algn="ctr">
                <a:defRPr sz="1275" b="0">
                  <a:solidFill>
                    <a:srgbClr val="2D3F4B"/>
                  </a:solidFill>
                  <a:latin typeface="Arial"/>
                  <a:ea typeface="Arial"/>
                  <a:cs typeface="Arial"/>
                </a:defRPr>
              </a:pPr>
              <a:r>
                <a:rPr sz="1275" b="0" dirty="0" err="1">
                  <a:solidFill>
                    <a:srgbClr val="2D3F4B"/>
                  </a:solidFill>
                  <a:latin typeface="Arial"/>
                  <a:ea typeface="Arial"/>
                  <a:cs typeface="Arial"/>
                </a:rPr>
                <a:t>gemeinsam</a:t>
              </a:r>
              <a:endParaRPr sz="1275" b="0" dirty="0">
                <a:solidFill>
                  <a:srgbClr val="2D3F4B"/>
                </a:solidFill>
                <a:latin typeface="Arial"/>
                <a:ea typeface="Arial"/>
                <a:cs typeface="Arial"/>
              </a:endParaRPr>
            </a:p>
          </p:txBody>
        </p:sp>
        <p:pic>
          <p:nvPicPr>
            <p:cNvPr id="2" name="Icon Cross-Encoder">
              <a:extLst>
                <a:ext uri="{FF2B5EF4-FFF2-40B4-BE49-F238E27FC236}">
                  <a16:creationId xmlns:a16="http://schemas.microsoft.com/office/drawing/2014/main" id="{010C40FB-D25D-CD65-BF09-E9CF2713632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309975" y="2700000"/>
              <a:ext cx="720000" cy="720000"/>
            </a:xfrm>
            <a:prstGeom prst="rect">
              <a:avLst/>
            </a:prstGeom>
          </p:spPr>
        </p:pic>
      </p:grpSp>
    </p:spTree>
    <p:extLst>
      <p:ext uri="{BB962C8B-B14F-4D97-AF65-F5344CB8AC3E}">
        <p14:creationId xmlns:p14="http://schemas.microsoft.com/office/powerpoint/2010/main" val="644104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left)">
                                      <p:cBhvr>
                                        <p:cTn id="7" dur="5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wipe(left)">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wipe(left)">
                                      <p:cBhvr>
                                        <p:cTn id="17" dur="500"/>
                                        <p:tgtEl>
                                          <p:spTgt spid="13"/>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4 · GraphRAG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19</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486000" y="1386000"/>
            <a:ext cx="9108000" cy="2448000"/>
          </a:xfrm>
          <a:prstGeom prst="rect">
            <a:avLst/>
          </a:prstGeom>
          <a:solidFill>
            <a:srgbClr val="FFFFFF">
              <a:alpha val="70000"/>
            </a:srgbClr>
          </a:solidFill>
          <a:ln>
            <a:noFill/>
          </a:ln>
        </p:spPr>
        <p:txBody>
          <a:bodyPr/>
          <a:lstStyle/>
          <a:p>
            <a:endParaRPr/>
          </a:p>
        </p:txBody>
      </p: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Graph Database"/>
          <p:cNvSpPr/>
          <p:nvPr/>
        </p:nvSpPr>
        <p:spPr>
          <a:xfrm>
            <a:off x="4096800" y="3736800"/>
            <a:ext cx="1526400" cy="954000"/>
          </a:xfrm>
          <a:prstGeom prst="roundRect">
            <a:avLst/>
          </a:prstGeom>
          <a:noFill/>
          <a:ln w="28575">
            <a:solidFill>
              <a:srgbClr val="C60C30"/>
            </a:solidFill>
            <a:prstDash val="dash"/>
          </a:ln>
        </p:spPr>
        <p:txBody>
          <a:bodyPr/>
          <a:lstStyle/>
          <a:p>
            <a:endParaRPr/>
          </a:p>
        </p:txBody>
      </p:sp>
      <p:sp>
        <p:nvSpPr>
          <p:cNvPr id="2001" name="Marker Graph Engine"/>
          <p:cNvSpPr/>
          <p:nvPr/>
        </p:nvSpPr>
        <p:spPr>
          <a:xfrm>
            <a:off x="2296800" y="373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598A74DB-1D80-45DD-AD66-28541A57ECC2}"/>
              </a:ext>
            </a:extLst>
          </p:cNvPr>
          <p:cNvSpPr/>
          <p:nvPr/>
        </p:nvSpPr>
        <p:spPr>
          <a:xfrm>
            <a:off x="540000" y="1260000"/>
            <a:ext cx="11159250" cy="304800"/>
          </a:xfrm>
          <a:prstGeom prst="rect">
            <a:avLst/>
          </a:prstGeom>
          <a:noFill/>
          <a:ln w="0">
            <a:noFill/>
            <a:prstDash val="solid"/>
          </a:ln>
        </p:spPr>
        <p:txBody>
          <a:bodyPr anchor="ctr"/>
          <a:lstStyle/>
          <a:p>
            <a:pPr algn="l">
              <a:defRPr sz="1425" b="0">
                <a:solidFill>
                  <a:srgbClr val="746B5F"/>
                </a:solidFill>
              </a:defRPr>
            </a:pPr>
            <a:r>
              <a:rPr sz="1425" b="0" dirty="0">
                <a:solidFill>
                  <a:srgbClr val="746B5F"/>
                </a:solidFill>
              </a:rPr>
              <a:t>Hybrid Retrieval </a:t>
            </a:r>
            <a:r>
              <a:rPr sz="1425" b="0" dirty="0" err="1">
                <a:solidFill>
                  <a:srgbClr val="746B5F"/>
                </a:solidFill>
              </a:rPr>
              <a:t>findet</a:t>
            </a:r>
            <a:r>
              <a:rPr sz="1425" b="0" dirty="0">
                <a:solidFill>
                  <a:srgbClr val="746B5F"/>
                </a:solidFill>
              </a:rPr>
              <a:t> </a:t>
            </a:r>
            <a:r>
              <a:rPr sz="1425" b="0" dirty="0" err="1">
                <a:solidFill>
                  <a:srgbClr val="746B5F"/>
                </a:solidFill>
              </a:rPr>
              <a:t>relevante</a:t>
            </a:r>
            <a:r>
              <a:rPr sz="1425" b="0" dirty="0">
                <a:solidFill>
                  <a:srgbClr val="746B5F"/>
                </a:solidFill>
              </a:rPr>
              <a:t> </a:t>
            </a:r>
            <a:r>
              <a:rPr sz="1425" b="0" dirty="0" err="1">
                <a:solidFill>
                  <a:srgbClr val="746B5F"/>
                </a:solidFill>
              </a:rPr>
              <a:t>Passagen</a:t>
            </a:r>
            <a:r>
              <a:rPr sz="1425" b="0" dirty="0">
                <a:solidFill>
                  <a:srgbClr val="746B5F"/>
                </a:solidFill>
              </a:rPr>
              <a:t>. Der Graph </a:t>
            </a:r>
            <a:r>
              <a:rPr sz="1425" b="0" dirty="0" err="1">
                <a:solidFill>
                  <a:srgbClr val="746B5F"/>
                </a:solidFill>
              </a:rPr>
              <a:t>erweitert</a:t>
            </a:r>
            <a:r>
              <a:rPr sz="1425" b="0" dirty="0">
                <a:solidFill>
                  <a:srgbClr val="746B5F"/>
                </a:solidFill>
              </a:rPr>
              <a:t> </a:t>
            </a:r>
            <a:r>
              <a:rPr sz="1425" b="0" dirty="0" err="1">
                <a:solidFill>
                  <a:srgbClr val="746B5F"/>
                </a:solidFill>
              </a:rPr>
              <a:t>sie</a:t>
            </a:r>
            <a:r>
              <a:rPr sz="1425" b="0" dirty="0">
                <a:solidFill>
                  <a:srgbClr val="746B5F"/>
                </a:solidFill>
              </a:rPr>
              <a:t> </a:t>
            </a:r>
            <a:r>
              <a:rPr sz="1425" b="0" dirty="0" err="1">
                <a:solidFill>
                  <a:srgbClr val="746B5F"/>
                </a:solidFill>
              </a:rPr>
              <a:t>gezielt</a:t>
            </a:r>
            <a:r>
              <a:rPr sz="1425" b="0" dirty="0">
                <a:solidFill>
                  <a:srgbClr val="746B5F"/>
                </a:solidFill>
              </a:rPr>
              <a:t> um </a:t>
            </a:r>
            <a:r>
              <a:rPr sz="1425" b="0" dirty="0" err="1">
                <a:solidFill>
                  <a:srgbClr val="746B5F"/>
                </a:solidFill>
              </a:rPr>
              <a:t>Kontext</a:t>
            </a:r>
            <a:r>
              <a:rPr sz="1425" b="0" dirty="0">
                <a:solidFill>
                  <a:srgbClr val="746B5F"/>
                </a:solidFill>
              </a:rPr>
              <a:t>.</a:t>
            </a:r>
          </a:p>
        </p:txBody>
      </p:sp>
      <p:sp>
        <p:nvSpPr>
          <p:cNvPr id="4" name="flow-1">
            <a:extLst>
              <a:ext uri="{FF2B5EF4-FFF2-40B4-BE49-F238E27FC236}">
                <a16:creationId xmlns:a16="http://schemas.microsoft.com/office/drawing/2014/main" id="{B220FF84-877B-4A53-AEEE-B36C2DCD5C24}"/>
              </a:ext>
            </a:extLst>
          </p:cNvPr>
          <p:cNvSpPr/>
          <p:nvPr/>
        </p:nvSpPr>
        <p:spPr>
          <a:xfrm>
            <a:off x="2049150" y="3111340"/>
            <a:ext cx="266700" cy="438150"/>
          </a:xfrm>
          <a:prstGeom prst="chevron">
            <a:avLst/>
          </a:prstGeom>
          <a:solidFill>
            <a:srgbClr val="B8C1C6"/>
          </a:solidFill>
          <a:ln w="0">
            <a:solidFill>
              <a:srgbClr val="B8C1C6"/>
            </a:solidFill>
            <a:prstDash val="solid"/>
          </a:ln>
        </p:spPr>
        <p:txBody>
          <a:bodyPr/>
          <a:lstStyle/>
          <a:p>
            <a:endParaRPr lang="de-CH"/>
          </a:p>
        </p:txBody>
      </p:sp>
      <p:sp>
        <p:nvSpPr>
          <p:cNvPr id="5" name="flow-2">
            <a:extLst>
              <a:ext uri="{FF2B5EF4-FFF2-40B4-BE49-F238E27FC236}">
                <a16:creationId xmlns:a16="http://schemas.microsoft.com/office/drawing/2014/main" id="{289C28BA-8205-41D3-8895-860805D26B50}"/>
              </a:ext>
            </a:extLst>
          </p:cNvPr>
          <p:cNvSpPr/>
          <p:nvPr/>
        </p:nvSpPr>
        <p:spPr>
          <a:xfrm>
            <a:off x="5154150" y="3111340"/>
            <a:ext cx="266700" cy="438150"/>
          </a:xfrm>
          <a:prstGeom prst="chevron">
            <a:avLst/>
          </a:prstGeom>
          <a:solidFill>
            <a:srgbClr val="B8C1C6"/>
          </a:solidFill>
          <a:ln w="0">
            <a:solidFill>
              <a:srgbClr val="B8C1C6"/>
            </a:solidFill>
            <a:prstDash val="solid"/>
          </a:ln>
        </p:spPr>
        <p:txBody>
          <a:bodyPr/>
          <a:lstStyle/>
          <a:p>
            <a:endParaRPr lang="de-CH"/>
          </a:p>
        </p:txBody>
      </p:sp>
      <p:sp>
        <p:nvSpPr>
          <p:cNvPr id="6" name="flow-3">
            <a:extLst>
              <a:ext uri="{FF2B5EF4-FFF2-40B4-BE49-F238E27FC236}">
                <a16:creationId xmlns:a16="http://schemas.microsoft.com/office/drawing/2014/main" id="{7CE22AC2-4395-4F46-ADB7-4E6F9713071E}"/>
              </a:ext>
            </a:extLst>
          </p:cNvPr>
          <p:cNvSpPr/>
          <p:nvPr/>
        </p:nvSpPr>
        <p:spPr>
          <a:xfrm>
            <a:off x="6819150" y="3111340"/>
            <a:ext cx="266700" cy="438150"/>
          </a:xfrm>
          <a:prstGeom prst="chevron">
            <a:avLst/>
          </a:prstGeom>
          <a:solidFill>
            <a:srgbClr val="B8C1C6"/>
          </a:solidFill>
          <a:ln w="0">
            <a:solidFill>
              <a:srgbClr val="B8C1C6"/>
            </a:solidFill>
            <a:prstDash val="solid"/>
          </a:ln>
        </p:spPr>
        <p:txBody>
          <a:bodyPr/>
          <a:lstStyle/>
          <a:p>
            <a:endParaRPr lang="de-CH"/>
          </a:p>
        </p:txBody>
      </p:sp>
      <p:sp>
        <p:nvSpPr>
          <p:cNvPr id="7" name="flow-4">
            <a:extLst>
              <a:ext uri="{FF2B5EF4-FFF2-40B4-BE49-F238E27FC236}">
                <a16:creationId xmlns:a16="http://schemas.microsoft.com/office/drawing/2014/main" id="{809A29F3-7038-4A3C-B6F0-A12C8EE3AB96}"/>
              </a:ext>
            </a:extLst>
          </p:cNvPr>
          <p:cNvSpPr/>
          <p:nvPr/>
        </p:nvSpPr>
        <p:spPr>
          <a:xfrm>
            <a:off x="9180000" y="3111340"/>
            <a:ext cx="266700" cy="438150"/>
          </a:xfrm>
          <a:prstGeom prst="chevron">
            <a:avLst/>
          </a:prstGeom>
          <a:solidFill>
            <a:srgbClr val="B8C1C6"/>
          </a:solidFill>
          <a:ln w="0">
            <a:solidFill>
              <a:srgbClr val="B8C1C6"/>
            </a:solidFill>
            <a:prstDash val="solid"/>
          </a:ln>
        </p:spPr>
        <p:txBody>
          <a:bodyPr/>
          <a:lstStyle/>
          <a:p>
            <a:endParaRPr lang="de-CH"/>
          </a:p>
        </p:txBody>
      </p:sp>
      <p:sp>
        <p:nvSpPr>
          <p:cNvPr id="8" name="stage1-label">
            <a:extLst>
              <a:ext uri="{FF2B5EF4-FFF2-40B4-BE49-F238E27FC236}">
                <a16:creationId xmlns:a16="http://schemas.microsoft.com/office/drawing/2014/main" id="{AD68111B-D580-47F9-B9FB-95523347BFD8}"/>
              </a:ext>
            </a:extLst>
          </p:cNvPr>
          <p:cNvSpPr/>
          <p:nvPr/>
        </p:nvSpPr>
        <p:spPr>
          <a:xfrm>
            <a:off x="540000" y="1980000"/>
            <a:ext cx="1440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1  FRAGE</a:t>
            </a:r>
          </a:p>
        </p:txBody>
      </p:sp>
      <p:sp>
        <p:nvSpPr>
          <p:cNvPr id="9" name="question">
            <a:extLst>
              <a:ext uri="{FF2B5EF4-FFF2-40B4-BE49-F238E27FC236}">
                <a16:creationId xmlns:a16="http://schemas.microsoft.com/office/drawing/2014/main" id="{7244B46F-B457-42A2-B523-06F11FB1D894}"/>
              </a:ext>
            </a:extLst>
          </p:cNvPr>
          <p:cNvSpPr/>
          <p:nvPr/>
        </p:nvSpPr>
        <p:spPr>
          <a:xfrm>
            <a:off x="540000" y="2340000"/>
            <a:ext cx="1440000" cy="1980000"/>
          </a:xfrm>
          <a:prstGeom prst="roundRect">
            <a:avLst>
              <a:gd name="adj" fmla="val 7500"/>
            </a:avLst>
          </a:prstGeom>
          <a:solidFill>
            <a:srgbClr val="304452"/>
          </a:solidFill>
          <a:ln w="0">
            <a:solidFill>
              <a:srgbClr val="304452"/>
            </a:solidFill>
            <a:prstDash val="solid"/>
          </a:ln>
        </p:spPr>
        <p:txBody>
          <a:bodyPr/>
          <a:lstStyle/>
          <a:p>
            <a:pPr algn="ctr">
              <a:defRPr sz="1500" b="1">
                <a:solidFill>
                  <a:srgbClr val="FFFFFF"/>
                </a:solidFill>
              </a:defRPr>
            </a:pPr>
            <a:r>
              <a:rPr lang="de-CH" sz="4000" b="1" dirty="0">
                <a:solidFill>
                  <a:srgbClr val="FFFFFF"/>
                </a:solidFill>
              </a:rPr>
              <a:t>?</a:t>
            </a:r>
          </a:p>
          <a:p>
            <a:pPr algn="ctr">
              <a:defRPr sz="1500" b="1">
                <a:solidFill>
                  <a:srgbClr val="FFFFFF"/>
                </a:solidFill>
              </a:defRPr>
            </a:pPr>
            <a:endParaRPr lang="de-DE" sz="1600" b="1" dirty="0">
              <a:solidFill>
                <a:srgbClr val="FFFFFF"/>
              </a:solidFill>
            </a:endParaRPr>
          </a:p>
          <a:p>
            <a:pPr algn="ctr">
              <a:defRPr sz="1500" b="1">
                <a:solidFill>
                  <a:srgbClr val="FFFFFF"/>
                </a:solidFill>
              </a:defRPr>
            </a:pPr>
            <a:r>
              <a:rPr lang="de-DE" sz="1600" b="1" dirty="0">
                <a:solidFill>
                  <a:srgbClr val="FFFFFF"/>
                </a:solidFill>
              </a:rPr>
              <a:t>Was gilt nach</a:t>
            </a:r>
          </a:p>
          <a:p>
            <a:pPr algn="ctr">
              <a:defRPr sz="1500" b="1">
                <a:solidFill>
                  <a:srgbClr val="FFFFFF"/>
                </a:solidFill>
              </a:defRPr>
            </a:pPr>
            <a:r>
              <a:rPr lang="de-DE" sz="1600" b="1" dirty="0">
                <a:solidFill>
                  <a:srgbClr val="FFFFFF"/>
                </a:solidFill>
              </a:rPr>
              <a:t>Art. 1 OR?</a:t>
            </a:r>
          </a:p>
          <a:p>
            <a:endParaRPr lang="de-CH" dirty="0"/>
          </a:p>
        </p:txBody>
      </p:sp>
      <p:sp>
        <p:nvSpPr>
          <p:cNvPr id="12" name="stage2-label">
            <a:extLst>
              <a:ext uri="{FF2B5EF4-FFF2-40B4-BE49-F238E27FC236}">
                <a16:creationId xmlns:a16="http://schemas.microsoft.com/office/drawing/2014/main" id="{76B3E30B-6E9C-49C4-A4D9-623170EB133B}"/>
              </a:ext>
            </a:extLst>
          </p:cNvPr>
          <p:cNvSpPr/>
          <p:nvPr/>
        </p:nvSpPr>
        <p:spPr>
          <a:xfrm>
            <a:off x="2385000" y="1980000"/>
            <a:ext cx="2700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2  HYBRID SUCHEN</a:t>
            </a:r>
          </a:p>
        </p:txBody>
      </p:sp>
      <p:sp>
        <p:nvSpPr>
          <p:cNvPr id="15" name="semantic-title">
            <a:extLst>
              <a:ext uri="{FF2B5EF4-FFF2-40B4-BE49-F238E27FC236}">
                <a16:creationId xmlns:a16="http://schemas.microsoft.com/office/drawing/2014/main" id="{4E361F9E-9187-4347-A714-B3A84599E622}"/>
              </a:ext>
            </a:extLst>
          </p:cNvPr>
          <p:cNvSpPr/>
          <p:nvPr/>
        </p:nvSpPr>
        <p:spPr>
          <a:xfrm>
            <a:off x="2700000" y="2520000"/>
            <a:ext cx="1866900" cy="209550"/>
          </a:xfrm>
          <a:prstGeom prst="rect">
            <a:avLst/>
          </a:prstGeom>
          <a:noFill/>
          <a:ln w="0">
            <a:noFill/>
            <a:prstDash val="solid"/>
          </a:ln>
        </p:spPr>
        <p:txBody>
          <a:bodyPr anchor="ctr"/>
          <a:lstStyle/>
          <a:p>
            <a:pPr algn="ctr">
              <a:defRPr sz="975" b="1">
                <a:solidFill>
                  <a:srgbClr val="D20A32"/>
                </a:solidFill>
              </a:defRPr>
            </a:pPr>
            <a:endParaRPr sz="975" b="1" dirty="0">
              <a:solidFill>
                <a:srgbClr val="D20A32"/>
              </a:solidFill>
            </a:endParaRPr>
          </a:p>
        </p:txBody>
      </p:sp>
      <p:sp>
        <p:nvSpPr>
          <p:cNvPr id="19" name="lexical-copy">
            <a:extLst>
              <a:ext uri="{FF2B5EF4-FFF2-40B4-BE49-F238E27FC236}">
                <a16:creationId xmlns:a16="http://schemas.microsoft.com/office/drawing/2014/main" id="{9FFDED9B-C5A8-4D35-AED5-08B8808E6621}"/>
              </a:ext>
            </a:extLst>
          </p:cNvPr>
          <p:cNvSpPr/>
          <p:nvPr/>
        </p:nvSpPr>
        <p:spPr>
          <a:xfrm>
            <a:off x="2700000" y="3780000"/>
            <a:ext cx="1866900" cy="209550"/>
          </a:xfrm>
          <a:prstGeom prst="rect">
            <a:avLst/>
          </a:prstGeom>
          <a:noFill/>
          <a:ln w="0">
            <a:noFill/>
            <a:prstDash val="solid"/>
          </a:ln>
        </p:spPr>
        <p:txBody>
          <a:bodyPr anchor="ctr"/>
          <a:lstStyle/>
          <a:p>
            <a:pPr algn="ctr">
              <a:defRPr sz="1125" b="0">
                <a:solidFill>
                  <a:srgbClr val="304452"/>
                </a:solidFill>
              </a:defRPr>
            </a:pPr>
            <a:endParaRPr sz="1125" b="0" dirty="0">
              <a:solidFill>
                <a:srgbClr val="304452"/>
              </a:solidFill>
            </a:endParaRPr>
          </a:p>
        </p:txBody>
      </p:sp>
      <p:sp>
        <p:nvSpPr>
          <p:cNvPr id="20" name="stage3-label">
            <a:extLst>
              <a:ext uri="{FF2B5EF4-FFF2-40B4-BE49-F238E27FC236}">
                <a16:creationId xmlns:a16="http://schemas.microsoft.com/office/drawing/2014/main" id="{235356C2-D245-426F-8CBE-5E61C6210532}"/>
              </a:ext>
            </a:extLst>
          </p:cNvPr>
          <p:cNvSpPr/>
          <p:nvPr/>
        </p:nvSpPr>
        <p:spPr>
          <a:xfrm>
            <a:off x="5484000" y="1980000"/>
            <a:ext cx="1266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3  FUSIONIEREN</a:t>
            </a:r>
          </a:p>
        </p:txBody>
      </p:sp>
      <p:sp>
        <p:nvSpPr>
          <p:cNvPr id="21" name="rrf-circle">
            <a:extLst>
              <a:ext uri="{FF2B5EF4-FFF2-40B4-BE49-F238E27FC236}">
                <a16:creationId xmlns:a16="http://schemas.microsoft.com/office/drawing/2014/main" id="{D4B349E2-9E52-4F2E-B8F2-230B2D6416A5}"/>
              </a:ext>
            </a:extLst>
          </p:cNvPr>
          <p:cNvSpPr/>
          <p:nvPr/>
        </p:nvSpPr>
        <p:spPr>
          <a:xfrm>
            <a:off x="5490000" y="2700000"/>
            <a:ext cx="1260000" cy="1260000"/>
          </a:xfrm>
          <a:prstGeom prst="ellipse">
            <a:avLst/>
          </a:prstGeom>
          <a:solidFill>
            <a:srgbClr val="834A78"/>
          </a:solidFill>
          <a:ln w="0">
            <a:solidFill>
              <a:srgbClr val="834A78"/>
            </a:solidFill>
            <a:prstDash val="solid"/>
          </a:ln>
        </p:spPr>
        <p:txBody>
          <a:bodyPr anchor="ctr"/>
          <a:lstStyle/>
          <a:p>
            <a:pPr algn="ctr"/>
            <a:r>
              <a:rPr lang="de-CH" b="1" dirty="0">
                <a:solidFill>
                  <a:srgbClr val="FFFFFF"/>
                </a:solidFill>
              </a:rPr>
              <a:t>RRF</a:t>
            </a:r>
            <a:endParaRPr lang="de-CH" dirty="0"/>
          </a:p>
        </p:txBody>
      </p:sp>
      <p:sp>
        <p:nvSpPr>
          <p:cNvPr id="23" name="rrf-copy">
            <a:extLst>
              <a:ext uri="{FF2B5EF4-FFF2-40B4-BE49-F238E27FC236}">
                <a16:creationId xmlns:a16="http://schemas.microsoft.com/office/drawing/2014/main" id="{7628CD87-A2E9-4DE0-A32F-092CF186B32D}"/>
              </a:ext>
            </a:extLst>
          </p:cNvPr>
          <p:cNvSpPr/>
          <p:nvPr/>
        </p:nvSpPr>
        <p:spPr>
          <a:xfrm>
            <a:off x="5490000" y="3960000"/>
            <a:ext cx="1254000" cy="457200"/>
          </a:xfrm>
          <a:prstGeom prst="rect">
            <a:avLst/>
          </a:prstGeom>
          <a:noFill/>
          <a:ln w="0">
            <a:noFill/>
            <a:prstDash val="solid"/>
          </a:ln>
        </p:spPr>
        <p:txBody>
          <a:bodyPr lIns="0" tIns="0" rIns="0" bIns="0" anchor="ctr"/>
          <a:lstStyle/>
          <a:p>
            <a:pPr algn="ctr">
              <a:defRPr sz="1125" b="1">
                <a:solidFill>
                  <a:srgbClr val="834A78"/>
                </a:solidFill>
              </a:defRPr>
            </a:pPr>
            <a:r>
              <a:rPr sz="1100" dirty="0" err="1">
                <a:solidFill>
                  <a:srgbClr val="834A78"/>
                </a:solidFill>
              </a:rPr>
              <a:t>ein</a:t>
            </a:r>
            <a:r>
              <a:rPr sz="1100" dirty="0">
                <a:solidFill>
                  <a:srgbClr val="834A78"/>
                </a:solidFill>
              </a:rPr>
              <a:t> </a:t>
            </a:r>
            <a:r>
              <a:rPr sz="1100" dirty="0" err="1">
                <a:solidFill>
                  <a:srgbClr val="834A78"/>
                </a:solidFill>
              </a:rPr>
              <a:t>gemeinsames</a:t>
            </a:r>
            <a:endParaRPr sz="1100" dirty="0">
              <a:solidFill>
                <a:srgbClr val="834A78"/>
              </a:solidFill>
            </a:endParaRPr>
          </a:p>
          <a:p>
            <a:pPr algn="ctr">
              <a:defRPr sz="1125" b="1">
                <a:solidFill>
                  <a:srgbClr val="834A78"/>
                </a:solidFill>
              </a:defRPr>
            </a:pPr>
            <a:r>
              <a:rPr sz="1100" dirty="0">
                <a:solidFill>
                  <a:srgbClr val="834A78"/>
                </a:solidFill>
              </a:rPr>
              <a:t>Ranking</a:t>
            </a:r>
          </a:p>
        </p:txBody>
      </p:sp>
      <p:sp>
        <p:nvSpPr>
          <p:cNvPr id="24" name="stage4-label">
            <a:extLst>
              <a:ext uri="{FF2B5EF4-FFF2-40B4-BE49-F238E27FC236}">
                <a16:creationId xmlns:a16="http://schemas.microsoft.com/office/drawing/2014/main" id="{7121B195-CD04-42B9-857A-7411FCE0D2AE}"/>
              </a:ext>
            </a:extLst>
          </p:cNvPr>
          <p:cNvSpPr/>
          <p:nvPr/>
        </p:nvSpPr>
        <p:spPr>
          <a:xfrm>
            <a:off x="7200000" y="1980000"/>
            <a:ext cx="1800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4  GRAPH ERWEITERT</a:t>
            </a:r>
          </a:p>
        </p:txBody>
      </p:sp>
      <p:sp>
        <p:nvSpPr>
          <p:cNvPr id="25" name="graph-shell">
            <a:extLst>
              <a:ext uri="{FF2B5EF4-FFF2-40B4-BE49-F238E27FC236}">
                <a16:creationId xmlns:a16="http://schemas.microsoft.com/office/drawing/2014/main" id="{87E6382C-B553-4245-B050-7CD41D1EFB82}"/>
              </a:ext>
            </a:extLst>
          </p:cNvPr>
          <p:cNvSpPr/>
          <p:nvPr/>
        </p:nvSpPr>
        <p:spPr>
          <a:xfrm>
            <a:off x="7200000" y="2340000"/>
            <a:ext cx="1800000" cy="1980000"/>
          </a:xfrm>
          <a:prstGeom prst="roundRect">
            <a:avLst>
              <a:gd name="adj" fmla="val 5217"/>
            </a:avLst>
          </a:prstGeom>
          <a:solidFill>
            <a:srgbClr val="FBF3DF"/>
          </a:solidFill>
          <a:ln w="9525">
            <a:solidFill>
              <a:srgbClr val="E5D4AA"/>
            </a:solidFill>
            <a:prstDash val="solid"/>
          </a:ln>
        </p:spPr>
        <p:txBody>
          <a:bodyPr anchor="b"/>
          <a:lstStyle/>
          <a:p>
            <a:pPr algn="ctr">
              <a:defRPr sz="1125" b="1">
                <a:solidFill>
                  <a:srgbClr val="304452"/>
                </a:solidFill>
              </a:defRPr>
            </a:pPr>
            <a:r>
              <a:rPr lang="de-CH" b="1" dirty="0">
                <a:solidFill>
                  <a:srgbClr val="304452"/>
                </a:solidFill>
              </a:rPr>
              <a:t>relevante Nachbarn</a:t>
            </a:r>
          </a:p>
          <a:p>
            <a:pPr algn="ctr">
              <a:defRPr sz="1125" b="1">
                <a:solidFill>
                  <a:srgbClr val="304452"/>
                </a:solidFill>
              </a:defRPr>
            </a:pPr>
            <a:r>
              <a:rPr lang="de-CH" b="1" dirty="0">
                <a:solidFill>
                  <a:srgbClr val="304452"/>
                </a:solidFill>
              </a:rPr>
              <a:t>gezielt ergänzen</a:t>
            </a:r>
          </a:p>
        </p:txBody>
      </p:sp>
      <p:grpSp>
        <p:nvGrpSpPr>
          <p:cNvPr id="47" name="Gruppieren 46">
            <a:extLst>
              <a:ext uri="{FF2B5EF4-FFF2-40B4-BE49-F238E27FC236}">
                <a16:creationId xmlns:a16="http://schemas.microsoft.com/office/drawing/2014/main" id="{AA403698-CB16-7E63-EC7D-91BFBE43C7AF}"/>
              </a:ext>
            </a:extLst>
          </p:cNvPr>
          <p:cNvGrpSpPr/>
          <p:nvPr/>
        </p:nvGrpSpPr>
        <p:grpSpPr>
          <a:xfrm>
            <a:off x="7380000" y="2520000"/>
            <a:ext cx="1485000" cy="1305000"/>
            <a:chOff x="7380000" y="2520000"/>
            <a:chExt cx="1485000" cy="1305000"/>
          </a:xfrm>
        </p:grpSpPr>
        <p:sp>
          <p:nvSpPr>
            <p:cNvPr id="26" name="edge-a">
              <a:extLst>
                <a:ext uri="{FF2B5EF4-FFF2-40B4-BE49-F238E27FC236}">
                  <a16:creationId xmlns:a16="http://schemas.microsoft.com/office/drawing/2014/main" id="{7B9FB8E1-886E-4AE5-939D-AB152D87E07E}"/>
                </a:ext>
              </a:extLst>
            </p:cNvPr>
            <p:cNvSpPr/>
            <p:nvPr/>
          </p:nvSpPr>
          <p:spPr>
            <a:xfrm flipV="1">
              <a:off x="7659150" y="2830425"/>
              <a:ext cx="710850" cy="316275"/>
            </a:xfrm>
            <a:prstGeom prst="line">
              <a:avLst/>
            </a:prstGeom>
            <a:noFill/>
            <a:ln w="19050">
              <a:solidFill>
                <a:srgbClr val="304452"/>
              </a:solidFill>
              <a:prstDash val="solid"/>
            </a:ln>
          </p:spPr>
          <p:txBody>
            <a:bodyPr/>
            <a:lstStyle/>
            <a:p>
              <a:endParaRPr lang="de-CH"/>
            </a:p>
          </p:txBody>
        </p:sp>
        <p:sp>
          <p:nvSpPr>
            <p:cNvPr id="27" name="edge-b">
              <a:extLst>
                <a:ext uri="{FF2B5EF4-FFF2-40B4-BE49-F238E27FC236}">
                  <a16:creationId xmlns:a16="http://schemas.microsoft.com/office/drawing/2014/main" id="{AC5CC76D-E5AD-4B63-A324-2CB690352918}"/>
                </a:ext>
              </a:extLst>
            </p:cNvPr>
            <p:cNvSpPr/>
            <p:nvPr/>
          </p:nvSpPr>
          <p:spPr>
            <a:xfrm>
              <a:off x="7659150" y="3146700"/>
              <a:ext cx="917100" cy="366600"/>
            </a:xfrm>
            <a:prstGeom prst="line">
              <a:avLst/>
            </a:prstGeom>
            <a:noFill/>
            <a:ln w="19050">
              <a:solidFill>
                <a:srgbClr val="304452"/>
              </a:solidFill>
              <a:prstDash val="solid"/>
            </a:ln>
          </p:spPr>
          <p:txBody>
            <a:bodyPr/>
            <a:lstStyle/>
            <a:p>
              <a:endParaRPr lang="de-CH"/>
            </a:p>
          </p:txBody>
        </p:sp>
        <p:sp>
          <p:nvSpPr>
            <p:cNvPr id="28" name="edge-c">
              <a:extLst>
                <a:ext uri="{FF2B5EF4-FFF2-40B4-BE49-F238E27FC236}">
                  <a16:creationId xmlns:a16="http://schemas.microsoft.com/office/drawing/2014/main" id="{EAC8DC4F-3E13-4478-BA01-2FAEA4D054D4}"/>
                </a:ext>
              </a:extLst>
            </p:cNvPr>
            <p:cNvSpPr/>
            <p:nvPr/>
          </p:nvSpPr>
          <p:spPr>
            <a:xfrm>
              <a:off x="8393100" y="2830424"/>
              <a:ext cx="183150" cy="675541"/>
            </a:xfrm>
            <a:prstGeom prst="line">
              <a:avLst/>
            </a:prstGeom>
            <a:noFill/>
            <a:ln w="19050">
              <a:solidFill>
                <a:srgbClr val="304452"/>
              </a:solidFill>
              <a:prstDash val="solid"/>
            </a:ln>
          </p:spPr>
          <p:txBody>
            <a:bodyPr/>
            <a:lstStyle/>
            <a:p>
              <a:endParaRPr lang="de-CH"/>
            </a:p>
          </p:txBody>
        </p:sp>
        <p:sp>
          <p:nvSpPr>
            <p:cNvPr id="29" name="node-main">
              <a:extLst>
                <a:ext uri="{FF2B5EF4-FFF2-40B4-BE49-F238E27FC236}">
                  <a16:creationId xmlns:a16="http://schemas.microsoft.com/office/drawing/2014/main" id="{E0D88280-E72C-4BF1-AA0D-01F27726CF1B}"/>
                </a:ext>
              </a:extLst>
            </p:cNvPr>
            <p:cNvSpPr/>
            <p:nvPr/>
          </p:nvSpPr>
          <p:spPr>
            <a:xfrm>
              <a:off x="7380000" y="2880000"/>
              <a:ext cx="630000" cy="630000"/>
            </a:xfrm>
            <a:prstGeom prst="ellipse">
              <a:avLst/>
            </a:prstGeom>
            <a:solidFill>
              <a:srgbClr val="D49400"/>
            </a:solidFill>
            <a:ln w="19050">
              <a:solidFill>
                <a:srgbClr val="FFFFFF"/>
              </a:solidFill>
              <a:prstDash val="solid"/>
            </a:ln>
          </p:spPr>
          <p:txBody>
            <a:bodyPr lIns="0" tIns="0" rIns="0" bIns="0" anchor="ctr" anchorCtr="1"/>
            <a:lstStyle/>
            <a:p>
              <a:r>
                <a:rPr lang="de-CH" sz="900" b="1" dirty="0">
                  <a:solidFill>
                    <a:srgbClr val="FFFFFF"/>
                  </a:solidFill>
                </a:rPr>
                <a:t>Art. 1</a:t>
              </a:r>
            </a:p>
          </p:txBody>
        </p:sp>
        <p:sp>
          <p:nvSpPr>
            <p:cNvPr id="30" name="node-neighbor-1">
              <a:extLst>
                <a:ext uri="{FF2B5EF4-FFF2-40B4-BE49-F238E27FC236}">
                  <a16:creationId xmlns:a16="http://schemas.microsoft.com/office/drawing/2014/main" id="{75FEA930-0C69-4D20-BBBF-D441480D64A8}"/>
                </a:ext>
              </a:extLst>
            </p:cNvPr>
            <p:cNvSpPr/>
            <p:nvPr/>
          </p:nvSpPr>
          <p:spPr>
            <a:xfrm>
              <a:off x="8100000" y="2520000"/>
              <a:ext cx="630000" cy="630000"/>
            </a:xfrm>
            <a:prstGeom prst="ellipse">
              <a:avLst/>
            </a:prstGeom>
            <a:solidFill>
              <a:srgbClr val="307F87"/>
            </a:solidFill>
            <a:ln w="19050">
              <a:solidFill>
                <a:srgbClr val="FFFFFF"/>
              </a:solidFill>
              <a:prstDash val="solid"/>
            </a:ln>
          </p:spPr>
          <p:txBody>
            <a:bodyPr lIns="0" tIns="0" rIns="0" bIns="0" anchor="ctr" anchorCtr="1"/>
            <a:lstStyle/>
            <a:p>
              <a:r>
                <a:rPr lang="de-CH" sz="900" b="1" dirty="0">
                  <a:solidFill>
                    <a:srgbClr val="FFFFFF"/>
                  </a:solidFill>
                </a:rPr>
                <a:t>Begriff</a:t>
              </a:r>
              <a:endParaRPr lang="de-CH" sz="900" dirty="0"/>
            </a:p>
          </p:txBody>
        </p:sp>
        <p:sp>
          <p:nvSpPr>
            <p:cNvPr id="31" name="node-neighbor-2">
              <a:extLst>
                <a:ext uri="{FF2B5EF4-FFF2-40B4-BE49-F238E27FC236}">
                  <a16:creationId xmlns:a16="http://schemas.microsoft.com/office/drawing/2014/main" id="{79228D47-291B-4A14-8451-268CE67330B9}"/>
                </a:ext>
              </a:extLst>
            </p:cNvPr>
            <p:cNvSpPr/>
            <p:nvPr/>
          </p:nvSpPr>
          <p:spPr>
            <a:xfrm>
              <a:off x="8235000" y="3195000"/>
              <a:ext cx="630000" cy="630000"/>
            </a:xfrm>
            <a:prstGeom prst="ellipse">
              <a:avLst/>
            </a:prstGeom>
            <a:solidFill>
              <a:srgbClr val="8A7D66"/>
            </a:solidFill>
            <a:ln w="19050">
              <a:solidFill>
                <a:srgbClr val="FFFFFF"/>
              </a:solidFill>
              <a:prstDash val="solid"/>
            </a:ln>
          </p:spPr>
          <p:txBody>
            <a:bodyPr lIns="0" tIns="0" rIns="0" bIns="0" anchor="ctr" anchorCtr="1"/>
            <a:lstStyle/>
            <a:p>
              <a:r>
                <a:rPr lang="de-CH" sz="900" b="1" dirty="0">
                  <a:solidFill>
                    <a:srgbClr val="FFFFFF"/>
                  </a:solidFill>
                </a:rPr>
                <a:t>Verweis</a:t>
              </a:r>
              <a:endParaRPr lang="de-CH" sz="900" dirty="0"/>
            </a:p>
          </p:txBody>
        </p:sp>
      </p:grpSp>
      <p:sp>
        <p:nvSpPr>
          <p:cNvPr id="36" name="stage5-label">
            <a:extLst>
              <a:ext uri="{FF2B5EF4-FFF2-40B4-BE49-F238E27FC236}">
                <a16:creationId xmlns:a16="http://schemas.microsoft.com/office/drawing/2014/main" id="{D2446592-1FE5-4105-BA2B-CE0893685701}"/>
              </a:ext>
            </a:extLst>
          </p:cNvPr>
          <p:cNvSpPr/>
          <p:nvPr/>
        </p:nvSpPr>
        <p:spPr>
          <a:xfrm>
            <a:off x="9539250" y="1980000"/>
            <a:ext cx="2160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5  KONTEXT</a:t>
            </a:r>
          </a:p>
        </p:txBody>
      </p:sp>
      <p:sp>
        <p:nvSpPr>
          <p:cNvPr id="37" name="context">
            <a:extLst>
              <a:ext uri="{FF2B5EF4-FFF2-40B4-BE49-F238E27FC236}">
                <a16:creationId xmlns:a16="http://schemas.microsoft.com/office/drawing/2014/main" id="{296F1C51-5F1D-4F1F-80AF-8E958467C608}"/>
              </a:ext>
            </a:extLst>
          </p:cNvPr>
          <p:cNvSpPr/>
          <p:nvPr/>
        </p:nvSpPr>
        <p:spPr>
          <a:xfrm>
            <a:off x="9540000" y="2340000"/>
            <a:ext cx="2160000" cy="1980000"/>
          </a:xfrm>
          <a:prstGeom prst="roundRect">
            <a:avLst>
              <a:gd name="adj" fmla="val 5505"/>
            </a:avLst>
          </a:prstGeom>
          <a:solidFill>
            <a:srgbClr val="304452"/>
          </a:solidFill>
          <a:ln w="0">
            <a:solidFill>
              <a:srgbClr val="304452"/>
            </a:solidFill>
            <a:prstDash val="solid"/>
          </a:ln>
        </p:spPr>
        <p:txBody>
          <a:bodyPr tIns="90000" anchor="ctr"/>
          <a:lstStyle/>
          <a:p>
            <a:pPr algn="ctr">
              <a:defRPr sz="1350" b="1">
                <a:solidFill>
                  <a:srgbClr val="FFFFFF"/>
                </a:solidFill>
              </a:defRPr>
            </a:pPr>
            <a:r>
              <a:rPr lang="de-CH" b="1" dirty="0">
                <a:solidFill>
                  <a:srgbClr val="FFFFFF"/>
                </a:solidFill>
              </a:rPr>
              <a:t>KURATIERTER</a:t>
            </a:r>
          </a:p>
          <a:p>
            <a:pPr algn="ctr">
              <a:defRPr sz="1350" b="1">
                <a:solidFill>
                  <a:srgbClr val="FFFFFF"/>
                </a:solidFill>
              </a:defRPr>
            </a:pPr>
            <a:r>
              <a:rPr lang="de-CH" b="1" dirty="0">
                <a:solidFill>
                  <a:srgbClr val="FFFFFF"/>
                </a:solidFill>
              </a:rPr>
              <a:t>KONTEXT</a:t>
            </a:r>
          </a:p>
          <a:p>
            <a:pPr algn="ctr">
              <a:defRPr sz="1350" b="1">
                <a:solidFill>
                  <a:srgbClr val="FFFFFF"/>
                </a:solidFill>
              </a:defRPr>
            </a:pPr>
            <a:endParaRPr lang="de-CH" b="1" dirty="0">
              <a:solidFill>
                <a:srgbClr val="FFFFFF"/>
              </a:solidFill>
            </a:endParaRPr>
          </a:p>
          <a:p>
            <a:pPr algn="ctr">
              <a:defRPr sz="1350" b="1">
                <a:solidFill>
                  <a:srgbClr val="FFFFFF"/>
                </a:solidFill>
              </a:defRPr>
            </a:pPr>
            <a:endParaRPr lang="de-CH" b="1" dirty="0">
              <a:solidFill>
                <a:srgbClr val="FFFFFF"/>
              </a:solidFill>
            </a:endParaRPr>
          </a:p>
          <a:p>
            <a:pPr algn="ctr">
              <a:defRPr sz="1125" b="0">
                <a:solidFill>
                  <a:srgbClr val="FFFFFF"/>
                </a:solidFill>
              </a:defRPr>
            </a:pPr>
            <a:r>
              <a:rPr lang="de-DE" sz="1400" dirty="0">
                <a:solidFill>
                  <a:srgbClr val="FFFFFF"/>
                </a:solidFill>
              </a:rPr>
              <a:t>• beste Treffer</a:t>
            </a:r>
          </a:p>
          <a:p>
            <a:pPr algn="ctr">
              <a:defRPr sz="1125" b="0">
                <a:solidFill>
                  <a:srgbClr val="FFFFFF"/>
                </a:solidFill>
              </a:defRPr>
            </a:pPr>
            <a:r>
              <a:rPr lang="de-DE" sz="1400" dirty="0">
                <a:solidFill>
                  <a:srgbClr val="FFFFFF"/>
                </a:solidFill>
              </a:rPr>
              <a:t>• passende Nachbarn</a:t>
            </a:r>
          </a:p>
          <a:p>
            <a:pPr algn="ctr">
              <a:defRPr sz="1125" b="0">
                <a:solidFill>
                  <a:srgbClr val="FFFFFF"/>
                </a:solidFill>
              </a:defRPr>
            </a:pPr>
            <a:r>
              <a:rPr lang="de-DE" sz="1400" dirty="0">
                <a:solidFill>
                  <a:srgbClr val="FFFFFF"/>
                </a:solidFill>
              </a:rPr>
              <a:t>• innerhalb des Limits</a:t>
            </a:r>
            <a:endParaRPr lang="de-CH" b="1" dirty="0">
              <a:solidFill>
                <a:srgbClr val="FFFFFF"/>
              </a:solidFill>
            </a:endParaRPr>
          </a:p>
        </p:txBody>
      </p:sp>
      <p:sp>
        <p:nvSpPr>
          <p:cNvPr id="39" name="context-rule">
            <a:extLst>
              <a:ext uri="{FF2B5EF4-FFF2-40B4-BE49-F238E27FC236}">
                <a16:creationId xmlns:a16="http://schemas.microsoft.com/office/drawing/2014/main" id="{0502F995-463E-4825-8FE2-0C53FB9F416D}"/>
              </a:ext>
            </a:extLst>
          </p:cNvPr>
          <p:cNvSpPr/>
          <p:nvPr/>
        </p:nvSpPr>
        <p:spPr>
          <a:xfrm>
            <a:off x="9900000" y="3199342"/>
            <a:ext cx="1524000" cy="0"/>
          </a:xfrm>
          <a:prstGeom prst="line">
            <a:avLst/>
          </a:prstGeom>
          <a:noFill/>
          <a:ln w="9525">
            <a:solidFill>
              <a:srgbClr val="80909A"/>
            </a:solidFill>
            <a:prstDash val="solid"/>
          </a:ln>
        </p:spPr>
        <p:txBody>
          <a:bodyPr/>
          <a:lstStyle/>
          <a:p>
            <a:endParaRPr lang="de-CH"/>
          </a:p>
        </p:txBody>
      </p:sp>
      <p:sp>
        <p:nvSpPr>
          <p:cNvPr id="41" name="takeaway">
            <a:extLst>
              <a:ext uri="{FF2B5EF4-FFF2-40B4-BE49-F238E27FC236}">
                <a16:creationId xmlns:a16="http://schemas.microsoft.com/office/drawing/2014/main" id="{8D67E1C2-6641-4B1A-BC5F-F5469ACC23E4}"/>
              </a:ext>
            </a:extLst>
          </p:cNvPr>
          <p:cNvSpPr/>
          <p:nvPr/>
        </p:nvSpPr>
        <p:spPr>
          <a:xfrm>
            <a:off x="2818071" y="5298150"/>
            <a:ext cx="6555858" cy="720000"/>
          </a:xfrm>
          <a:prstGeom prst="roundRect">
            <a:avLst>
              <a:gd name="adj" fmla="val 16667"/>
            </a:avLst>
          </a:prstGeom>
          <a:solidFill>
            <a:srgbClr val="304452"/>
          </a:solidFill>
          <a:ln w="0">
            <a:solidFill>
              <a:srgbClr val="304452"/>
            </a:solidFill>
            <a:prstDash val="solid"/>
          </a:ln>
        </p:spPr>
        <p:txBody>
          <a:bodyPr anchor="ctr"/>
          <a:lstStyle/>
          <a:p>
            <a:pPr algn="ctr">
              <a:defRPr sz="1275" b="1">
                <a:solidFill>
                  <a:srgbClr val="FFFFFF"/>
                </a:solidFill>
              </a:defRPr>
            </a:pPr>
            <a:r>
              <a:rPr lang="de-DE" sz="1600" b="1" dirty="0">
                <a:solidFill>
                  <a:srgbClr val="FFFFFF"/>
                </a:solidFill>
              </a:rPr>
              <a:t>Reihenfolge zählt:</a:t>
            </a:r>
            <a:br>
              <a:rPr lang="de-DE" sz="1600" b="1" dirty="0">
                <a:solidFill>
                  <a:srgbClr val="FFFFFF"/>
                </a:solidFill>
              </a:rPr>
            </a:br>
            <a:r>
              <a:rPr lang="de-DE" sz="1600" b="1" dirty="0">
                <a:solidFill>
                  <a:srgbClr val="FFFFFF"/>
                </a:solidFill>
              </a:rPr>
              <a:t>erst Treffer fusionieren, dann Beziehungen ergänzen.</a:t>
            </a:r>
          </a:p>
        </p:txBody>
      </p:sp>
      <p:sp>
        <p:nvSpPr>
          <p:cNvPr id="44" name="page">
            <a:extLst>
              <a:ext uri="{FF2B5EF4-FFF2-40B4-BE49-F238E27FC236}">
                <a16:creationId xmlns:a16="http://schemas.microsoft.com/office/drawing/2014/main" id="{FA5986F7-ED63-474F-8ABE-805440A84E62}"/>
              </a:ext>
            </a:extLst>
          </p:cNvPr>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16</a:t>
            </a:r>
          </a:p>
        </p:txBody>
      </p:sp>
      <p:sp>
        <p:nvSpPr>
          <p:cNvPr id="45" name="date">
            <a:extLst>
              <a:ext uri="{FF2B5EF4-FFF2-40B4-BE49-F238E27FC236}">
                <a16:creationId xmlns:a16="http://schemas.microsoft.com/office/drawing/2014/main" id="{C8C00A7A-1BAC-469B-98B0-317D78BCFDCE}"/>
              </a:ext>
            </a:extLst>
          </p:cNvPr>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8" name="Titel 1"/>
          <p:cNvSpPr>
            <a:spLocks noGrp="1"/>
          </p:cNvSpPr>
          <p:nvPr>
            <p:ph type="title"/>
          </p:nvPr>
        </p:nvSpPr>
        <p:spPr>
          <a:xfrm>
            <a:off x="482461" y="346633"/>
            <a:ext cx="11230114" cy="767605"/>
          </a:xfrm>
        </p:spPr>
        <p:txBody>
          <a:bodyPr/>
          <a:lstStyle/>
          <a:p>
            <a:r>
              <a:rPr lang="de-CH" sz="3600" dirty="0"/>
              <a:t>GraphRAG verbindet mehrere Suchsignale</a:t>
            </a:r>
          </a:p>
        </p:txBody>
      </p:sp>
      <p:grpSp>
        <p:nvGrpSpPr>
          <p:cNvPr id="46" name="Gruppieren 45">
            <a:extLst>
              <a:ext uri="{FF2B5EF4-FFF2-40B4-BE49-F238E27FC236}">
                <a16:creationId xmlns:a16="http://schemas.microsoft.com/office/drawing/2014/main" id="{35E6DBF7-F0BC-BD2E-E848-593EE7BCF77D}"/>
              </a:ext>
            </a:extLst>
          </p:cNvPr>
          <p:cNvGrpSpPr/>
          <p:nvPr/>
        </p:nvGrpSpPr>
        <p:grpSpPr>
          <a:xfrm>
            <a:off x="2385000" y="2340000"/>
            <a:ext cx="2700000" cy="1980000"/>
            <a:chOff x="2385000" y="2304664"/>
            <a:chExt cx="2700000" cy="1980000"/>
          </a:xfrm>
        </p:grpSpPr>
        <p:sp>
          <p:nvSpPr>
            <p:cNvPr id="13" name="retrieval-shell">
              <a:extLst>
                <a:ext uri="{FF2B5EF4-FFF2-40B4-BE49-F238E27FC236}">
                  <a16:creationId xmlns:a16="http://schemas.microsoft.com/office/drawing/2014/main" id="{9857F60E-DF60-4A5E-A0C5-581D2A407A1B}"/>
                </a:ext>
              </a:extLst>
            </p:cNvPr>
            <p:cNvSpPr/>
            <p:nvPr/>
          </p:nvSpPr>
          <p:spPr>
            <a:xfrm>
              <a:off x="2385000" y="2304664"/>
              <a:ext cx="2700000" cy="1980000"/>
            </a:xfrm>
            <a:prstGeom prst="roundRect">
              <a:avLst>
                <a:gd name="adj" fmla="val 5217"/>
              </a:avLst>
            </a:prstGeom>
            <a:solidFill>
              <a:srgbClr val="F6F7F7"/>
            </a:solidFill>
            <a:ln w="9525">
              <a:solidFill>
                <a:srgbClr val="D7DDDF"/>
              </a:solidFill>
              <a:prstDash val="solid"/>
            </a:ln>
          </p:spPr>
          <p:txBody>
            <a:bodyPr/>
            <a:lstStyle/>
            <a:p>
              <a:endParaRPr lang="de-CH"/>
            </a:p>
          </p:txBody>
        </p:sp>
        <p:sp>
          <p:nvSpPr>
            <p:cNvPr id="14" name="semantic">
              <a:extLst>
                <a:ext uri="{FF2B5EF4-FFF2-40B4-BE49-F238E27FC236}">
                  <a16:creationId xmlns:a16="http://schemas.microsoft.com/office/drawing/2014/main" id="{2BB447C8-B808-4FA8-84BC-424411EDDFFC}"/>
                </a:ext>
              </a:extLst>
            </p:cNvPr>
            <p:cNvSpPr/>
            <p:nvPr/>
          </p:nvSpPr>
          <p:spPr>
            <a:xfrm>
              <a:off x="2655000" y="2520000"/>
              <a:ext cx="2160000" cy="720000"/>
            </a:xfrm>
            <a:prstGeom prst="roundRect">
              <a:avLst>
                <a:gd name="adj" fmla="val 10667"/>
              </a:avLst>
            </a:prstGeom>
            <a:solidFill>
              <a:srgbClr val="FAEDF0"/>
            </a:solidFill>
            <a:ln w="11430">
              <a:solidFill>
                <a:srgbClr val="D20A32"/>
              </a:solidFill>
              <a:prstDash val="solid"/>
            </a:ln>
          </p:spPr>
          <p:txBody>
            <a:bodyPr anchor="ctr"/>
            <a:lstStyle/>
            <a:p>
              <a:pPr algn="ctr"/>
              <a:r>
                <a:rPr lang="de-CH" sz="1400" b="1" dirty="0">
                  <a:solidFill>
                    <a:srgbClr val="D20A32"/>
                  </a:solidFill>
                </a:rPr>
                <a:t>SEMANTISCH </a:t>
              </a:r>
              <a:br>
                <a:rPr lang="de-CH" sz="1400" b="1" dirty="0">
                  <a:solidFill>
                    <a:srgbClr val="D20A32"/>
                  </a:solidFill>
                </a:rPr>
              </a:br>
              <a:r>
                <a:rPr lang="de-CH" sz="1400" dirty="0">
                  <a:solidFill>
                    <a:srgbClr val="304452"/>
                  </a:solidFill>
                </a:rPr>
                <a:t>ähnliche Bedeutung</a:t>
              </a:r>
            </a:p>
          </p:txBody>
        </p:sp>
        <p:sp>
          <p:nvSpPr>
            <p:cNvPr id="2" name="Rechteck: abgerundete Ecken 1">
              <a:extLst>
                <a:ext uri="{FF2B5EF4-FFF2-40B4-BE49-F238E27FC236}">
                  <a16:creationId xmlns:a16="http://schemas.microsoft.com/office/drawing/2014/main" id="{952F4388-68B4-8A39-FBE9-D6AA017F2C61}"/>
                </a:ext>
              </a:extLst>
            </p:cNvPr>
            <p:cNvSpPr/>
            <p:nvPr/>
          </p:nvSpPr>
          <p:spPr>
            <a:xfrm>
              <a:off x="2655000" y="3349328"/>
              <a:ext cx="2160000" cy="718372"/>
            </a:xfrm>
            <a:prstGeom prst="roundRect">
              <a:avLst/>
            </a:prstGeom>
            <a:solidFill>
              <a:srgbClr val="EAF4F4"/>
            </a:solidFill>
            <a:ln w="11430">
              <a:solidFill>
                <a:srgbClr val="307F87"/>
              </a:solidFill>
              <a:prstDash val="solid"/>
            </a:ln>
          </p:spPr>
          <p:txBody>
            <a:bodyPr anchor="ctr"/>
            <a:lstStyle/>
            <a:p>
              <a:pPr algn="ctr"/>
              <a:r>
                <a:rPr lang="de-CH" sz="1400" b="1" dirty="0">
                  <a:solidFill>
                    <a:srgbClr val="307F87"/>
                  </a:solidFill>
                </a:rPr>
                <a:t>LEXIKALISCH</a:t>
              </a:r>
            </a:p>
            <a:p>
              <a:pPr algn="ctr"/>
              <a:r>
                <a:rPr lang="de-CH" sz="1400" dirty="0">
                  <a:solidFill>
                    <a:schemeClr val="bg2">
                      <a:lumMod val="10000"/>
                    </a:schemeClr>
                  </a:solidFill>
                </a:rPr>
                <a:t>Begriffe, Titel, Artikel</a:t>
              </a:r>
            </a:p>
          </p:txBody>
        </p:sp>
      </p:grpSp>
    </p:spTree>
    <p:extLst>
      <p:ext uri="{BB962C8B-B14F-4D97-AF65-F5344CB8AC3E}">
        <p14:creationId xmlns:p14="http://schemas.microsoft.com/office/powerpoint/2010/main" val="1069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nodePh="1">
                                  <p:stCondLst>
                                    <p:cond delay="0"/>
                                  </p:stCondLst>
                                  <p:endCondLst>
                                    <p:cond evt="begin" delay="0">
                                      <p:tn val="9"/>
                                    </p:cond>
                                  </p:end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grpId="0" nodeType="withEffect" nodePh="1">
                                  <p:stCondLst>
                                    <p:cond delay="0"/>
                                  </p:stCondLst>
                                  <p:endCondLst>
                                    <p:cond evt="begin" delay="0">
                                      <p:tn val="11"/>
                                    </p:cond>
                                  </p:endCondLst>
                                  <p:childTnLst>
                                    <p:set>
                                      <p:cBhvr>
                                        <p:cTn id="12" dur="1" fill="hold">
                                          <p:stCondLst>
                                            <p:cond delay="0"/>
                                          </p:stCondLst>
                                        </p:cTn>
                                        <p:tgtEl>
                                          <p:spTgt spid="1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7"/>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7"/>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9"/>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2" grpId="0"/>
      <p:bldP spid="15" grpId="0"/>
      <p:bldP spid="19" grpId="0"/>
      <p:bldP spid="20" grpId="0"/>
      <p:bldP spid="21" grpId="0" animBg="1"/>
      <p:bldP spid="23" grpId="0"/>
      <p:bldP spid="24" grpId="0"/>
      <p:bldP spid="25" grpId="0" animBg="1"/>
      <p:bldP spid="36" grpId="0"/>
      <p:bldP spid="37" grpId="0" animBg="1"/>
      <p:bldP spid="39" grpId="0" animBg="1"/>
      <p:bldP spid="41"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600"/>
              <a:t>Hybrider GraphRAG verbindet mehrere Suchsignale</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20.08.2026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21</a:t>
            </a:fld>
            <a:endParaRPr lang="de-CH" dirty="0"/>
          </a:p>
        </p:txBody>
      </p:sp>
      <p:grpSp>
        <p:nvGrpSpPr>
          <p:cNvPr id="100" name="Gruppe Chroma Index"/>
          <p:cNvGrpSpPr/>
          <p:nvPr/>
        </p:nvGrpSpPr>
        <p:grpSpPr>
          <a:xfrm>
            <a:off x="360000" y="1620000"/>
            <a:ext cx="1440000" cy="867600"/>
            <a:chOff x="5005715" y="2776165"/>
            <a:chExt cx="1440000" cy="867600"/>
          </a:xfrm>
        </p:grpSpPr>
        <p:sp>
          <p:nvSpPr>
            <p:cNvPr id="101"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Chroma Index</a:t>
              </a:r>
              <a:endParaRPr sz="900" b="1" dirty="0">
                <a:solidFill>
                  <a:schemeClr val="bg2">
                    <a:lumMod val="10000"/>
                  </a:schemeClr>
                </a:solidFill>
              </a:endParaRPr>
            </a:p>
          </p:txBody>
        </p:sp>
        <p:pic>
          <p:nvPicPr>
            <p:cNvPr id="102"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95715" y="3120245"/>
              <a:ext cx="468000" cy="468000"/>
            </a:xfrm>
            <a:prstGeom prst="rect">
              <a:avLst/>
            </a:prstGeom>
          </p:spPr>
        </p:pic>
        <p:sp>
          <p:nvSpPr>
            <p:cNvPr id="103"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04" name="Info Chroma Index"/>
            <p:cNvSpPr/>
            <p:nvPr/>
          </p:nvSpPr>
          <p:spPr>
            <a:xfrm>
              <a:off x="5599715" y="3064726"/>
              <a:ext cx="792000" cy="579039"/>
            </a:xfrm>
            <a:prstGeom prst="rect">
              <a:avLst/>
            </a:prstGeom>
            <a:noFill/>
          </p:spPr>
          <p:txBody>
            <a:bodyPr wrap="square" lIns="0" tIns="18000" rIns="18000" bIns="18000" anchor="ctr"/>
            <a:lstStyle/>
            <a:p>
              <a:pPr algn="l"/>
              <a:r>
                <a:rPr lang="de-CH" sz="900" dirty="0">
                  <a:solidFill>
                    <a:srgbClr val="404040"/>
                  </a:solidFill>
                  <a:latin typeface="Arial"/>
                </a:rPr>
                <a:t>Chunks + Embeddings</a:t>
              </a:r>
            </a:p>
          </p:txBody>
        </p:sp>
      </p:grpSp>
      <p:grpSp>
        <p:nvGrpSpPr>
          <p:cNvPr id="105" name="Gruppe Graph Aufbau">
            <a:extLst>
              <a:ext uri="{FF2B5EF4-FFF2-40B4-BE49-F238E27FC236}">
                <a16:creationId xmlns:a16="http://schemas.microsoft.com/office/drawing/2014/main" id="{D25D0927-7500-9C4D-B2AC-C86A40E321DD}"/>
              </a:ext>
            </a:extLst>
          </p:cNvPr>
          <p:cNvGrpSpPr/>
          <p:nvPr/>
        </p:nvGrpSpPr>
        <p:grpSpPr>
          <a:xfrm>
            <a:off x="2340000" y="1620000"/>
            <a:ext cx="1440000" cy="867600"/>
            <a:chOff x="2783916" y="1570799"/>
            <a:chExt cx="1440000" cy="867600"/>
          </a:xfrm>
        </p:grpSpPr>
        <p:sp>
          <p:nvSpPr>
            <p:cNvPr id="106"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Aufbau</a:t>
              </a:r>
              <a:endParaRPr sz="900" b="1" dirty="0">
                <a:solidFill>
                  <a:schemeClr val="bg2">
                    <a:lumMod val="10000"/>
                  </a:schemeClr>
                </a:solidFill>
              </a:endParaRPr>
            </a:p>
          </p:txBody>
        </p:sp>
        <p:pic>
          <p:nvPicPr>
            <p:cNvPr id="107"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873916" y="1914879"/>
              <a:ext cx="468000" cy="468000"/>
            </a:xfrm>
            <a:prstGeom prst="rect">
              <a:avLst/>
            </a:prstGeom>
          </p:spPr>
        </p:pic>
        <p:sp>
          <p:nvSpPr>
            <p:cNvPr id="108"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09" name="Info Graph Aufbau"/>
            <p:cNvSpPr/>
            <p:nvPr/>
          </p:nvSpPr>
          <p:spPr>
            <a:xfrm>
              <a:off x="3377916"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Nachbar-Chunks + Artikelverweise</a:t>
              </a:r>
            </a:p>
          </p:txBody>
        </p:sp>
      </p:grpSp>
      <p:grpSp>
        <p:nvGrpSpPr>
          <p:cNvPr id="110" name="Gruppe Retrieval-Graph">
            <a:extLst>
              <a:ext uri="{FF2B5EF4-FFF2-40B4-BE49-F238E27FC236}">
                <a16:creationId xmlns:a16="http://schemas.microsoft.com/office/drawing/2014/main" id="{BFB423DB-992A-5876-26AC-811D2AA99C40}"/>
              </a:ext>
            </a:extLst>
          </p:cNvPr>
          <p:cNvGrpSpPr/>
          <p:nvPr/>
        </p:nvGrpSpPr>
        <p:grpSpPr>
          <a:xfrm>
            <a:off x="4320000" y="1620000"/>
            <a:ext cx="1440000" cy="867600"/>
            <a:chOff x="5005715" y="2776165"/>
            <a:chExt cx="1440000" cy="867600"/>
          </a:xfrm>
        </p:grpSpPr>
        <p:sp>
          <p:nvSpPr>
            <p:cNvPr id="111"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Retrieval-Graph</a:t>
              </a:r>
              <a:endParaRPr sz="900" b="1" dirty="0">
                <a:solidFill>
                  <a:schemeClr val="bg2">
                    <a:lumMod val="10000"/>
                  </a:schemeClr>
                </a:solidFill>
              </a:endParaRPr>
            </a:p>
          </p:txBody>
        </p:sp>
        <p:pic>
          <p:nvPicPr>
            <p:cNvPr id="112"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95715" y="3120245"/>
              <a:ext cx="468000" cy="468000"/>
            </a:xfrm>
            <a:prstGeom prst="rect">
              <a:avLst/>
            </a:prstGeom>
          </p:spPr>
        </p:pic>
        <p:sp>
          <p:nvSpPr>
            <p:cNvPr id="113"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14" name="Info Retrieval-Graph"/>
            <p:cNvSpPr/>
            <p:nvPr/>
          </p:nvSpPr>
          <p:spPr>
            <a:xfrm>
              <a:off x="5599715" y="3064726"/>
              <a:ext cx="792000" cy="579039"/>
            </a:xfrm>
            <a:prstGeom prst="rect">
              <a:avLst/>
            </a:prstGeom>
            <a:noFill/>
          </p:spPr>
          <p:txBody>
            <a:bodyPr wrap="square" lIns="0" tIns="18000" rIns="18000" bIns="18000" anchor="ctr"/>
            <a:lstStyle/>
            <a:p>
              <a:pPr algn="l"/>
              <a:r>
                <a:rPr lang="de-CH" sz="900" dirty="0">
                  <a:solidFill>
                    <a:srgbClr val="404040"/>
                  </a:solidFill>
                  <a:latin typeface="Arial"/>
                </a:rPr>
                <a:t>JSON, versioniert</a:t>
              </a:r>
            </a:p>
          </p:txBody>
        </p:sp>
      </p:grpSp>
      <p:grpSp>
        <p:nvGrpSpPr>
          <p:cNvPr id="115" name="Gruppe Frage"/>
          <p:cNvGrpSpPr/>
          <p:nvPr/>
        </p:nvGrpSpPr>
        <p:grpSpPr>
          <a:xfrm>
            <a:off x="360000" y="3780000"/>
            <a:ext cx="1440000" cy="867600"/>
            <a:chOff x="10196840" y="1570799"/>
            <a:chExt cx="1440000" cy="867600"/>
          </a:xfrm>
        </p:grpSpPr>
        <p:sp>
          <p:nvSpPr>
            <p:cNvPr id="116"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Frage</a:t>
              </a:r>
              <a:endParaRPr sz="900" b="1" dirty="0">
                <a:solidFill>
                  <a:schemeClr val="bg2">
                    <a:lumMod val="10000"/>
                  </a:schemeClr>
                </a:solidFill>
              </a:endParaRPr>
            </a:p>
          </p:txBody>
        </p:sp>
        <p:pic>
          <p:nvPicPr>
            <p:cNvPr id="117"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286840" y="1914879"/>
              <a:ext cx="468000" cy="468000"/>
            </a:xfrm>
            <a:prstGeom prst="rect">
              <a:avLst/>
            </a:prstGeom>
          </p:spPr>
        </p:pic>
        <p:sp>
          <p:nvSpPr>
            <p:cNvPr id="118"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19" name="Info Frage"/>
            <p:cNvSpPr/>
            <p:nvPr/>
          </p:nvSpPr>
          <p:spPr>
            <a:xfrm>
              <a:off x="10790840"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z. B. Probezeit</a:t>
              </a:r>
            </a:p>
          </p:txBody>
        </p:sp>
      </p:grpSp>
      <p:grpSp>
        <p:nvGrpSpPr>
          <p:cNvPr id="120" name="Gruppe Semantik">
            <a:extLst>
              <a:ext uri="{FF2B5EF4-FFF2-40B4-BE49-F238E27FC236}">
                <a16:creationId xmlns:a16="http://schemas.microsoft.com/office/drawing/2014/main" id="{62657446-9BFF-60C0-3E07-97265A6E0278}"/>
              </a:ext>
            </a:extLst>
          </p:cNvPr>
          <p:cNvGrpSpPr/>
          <p:nvPr/>
        </p:nvGrpSpPr>
        <p:grpSpPr>
          <a:xfrm>
            <a:off x="2340000" y="2880000"/>
            <a:ext cx="1440000" cy="867600"/>
            <a:chOff x="2783916" y="1570799"/>
            <a:chExt cx="1440000" cy="867600"/>
          </a:xfrm>
        </p:grpSpPr>
        <p:sp>
          <p:nvSpPr>
            <p:cNvPr id="12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Semantik</a:t>
              </a:r>
              <a:endParaRPr sz="900" b="1" dirty="0">
                <a:solidFill>
                  <a:schemeClr val="bg2">
                    <a:lumMod val="10000"/>
                  </a:schemeClr>
                </a:solidFill>
              </a:endParaRPr>
            </a:p>
          </p:txBody>
        </p:sp>
        <p:pic>
          <p:nvPicPr>
            <p:cNvPr id="122"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873916" y="1914879"/>
              <a:ext cx="468000" cy="468000"/>
            </a:xfrm>
            <a:prstGeom prst="rect">
              <a:avLst/>
            </a:prstGeom>
          </p:spPr>
        </p:pic>
        <p:sp>
          <p:nvSpPr>
            <p:cNvPr id="123"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24" name="Info Semantik"/>
            <p:cNvSpPr/>
            <p:nvPr/>
          </p:nvSpPr>
          <p:spPr>
            <a:xfrm>
              <a:off x="3377916"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Top 3 Vektor-Treffer</a:t>
              </a:r>
            </a:p>
          </p:txBody>
        </p:sp>
      </p:grpSp>
      <p:grpSp>
        <p:nvGrpSpPr>
          <p:cNvPr id="125" name="Gruppe Lexik + Zitat">
            <a:extLst>
              <a:ext uri="{FF2B5EF4-FFF2-40B4-BE49-F238E27FC236}">
                <a16:creationId xmlns:a16="http://schemas.microsoft.com/office/drawing/2014/main" id="{62657446-9BFF-60C0-3E07-97265A6E0278}"/>
              </a:ext>
            </a:extLst>
          </p:cNvPr>
          <p:cNvGrpSpPr/>
          <p:nvPr/>
        </p:nvGrpSpPr>
        <p:grpSpPr>
          <a:xfrm>
            <a:off x="2340000" y="4680000"/>
            <a:ext cx="1440000" cy="867600"/>
            <a:chOff x="2783916" y="1570799"/>
            <a:chExt cx="1440000" cy="867600"/>
          </a:xfrm>
        </p:grpSpPr>
        <p:sp>
          <p:nvSpPr>
            <p:cNvPr id="126"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Lexik + Zitat</a:t>
              </a:r>
              <a:endParaRPr sz="900" b="1" dirty="0">
                <a:solidFill>
                  <a:schemeClr val="bg2">
                    <a:lumMod val="10000"/>
                  </a:schemeClr>
                </a:solidFill>
              </a:endParaRPr>
            </a:p>
          </p:txBody>
        </p:sp>
        <p:pic>
          <p:nvPicPr>
            <p:cNvPr id="12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873916" y="1914879"/>
              <a:ext cx="468000" cy="468000"/>
            </a:xfrm>
            <a:prstGeom prst="rect">
              <a:avLst/>
            </a:prstGeom>
          </p:spPr>
        </p:pic>
        <p:sp>
          <p:nvSpPr>
            <p:cNvPr id="12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29" name="Info Lexik + Zitat"/>
            <p:cNvSpPr/>
            <p:nvPr/>
          </p:nvSpPr>
          <p:spPr>
            <a:xfrm>
              <a:off x="3377916"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Top 2 Artikel-Matches</a:t>
              </a:r>
            </a:p>
          </p:txBody>
        </p:sp>
      </p:grpSp>
      <p:grpSp>
        <p:nvGrpSpPr>
          <p:cNvPr id="130" name="Gruppe Graph erweitern">
            <a:extLst>
              <a:ext uri="{FF2B5EF4-FFF2-40B4-BE49-F238E27FC236}">
                <a16:creationId xmlns:a16="http://schemas.microsoft.com/office/drawing/2014/main" id="{D25D0927-7500-9C4D-B2AC-C86A40E321DD}"/>
              </a:ext>
            </a:extLst>
          </p:cNvPr>
          <p:cNvGrpSpPr/>
          <p:nvPr/>
        </p:nvGrpSpPr>
        <p:grpSpPr>
          <a:xfrm>
            <a:off x="4320000" y="3780000"/>
            <a:ext cx="1440000" cy="867600"/>
            <a:chOff x="2783916" y="1570799"/>
            <a:chExt cx="1440000" cy="867600"/>
          </a:xfrm>
        </p:grpSpPr>
        <p:sp>
          <p:nvSpPr>
            <p:cNvPr id="131"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erweitern</a:t>
              </a:r>
              <a:endParaRPr sz="900" b="1" dirty="0">
                <a:solidFill>
                  <a:schemeClr val="bg2">
                    <a:lumMod val="10000"/>
                  </a:schemeClr>
                </a:solidFill>
              </a:endParaRPr>
            </a:p>
          </p:txBody>
        </p:sp>
        <p:pic>
          <p:nvPicPr>
            <p:cNvPr id="132"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873916" y="1914879"/>
              <a:ext cx="468000" cy="468000"/>
            </a:xfrm>
            <a:prstGeom prst="rect">
              <a:avLst/>
            </a:prstGeom>
          </p:spPr>
        </p:pic>
        <p:sp>
          <p:nvSpPr>
            <p:cNvPr id="133"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34" name="Info Graph erweitern"/>
            <p:cNvSpPr/>
            <p:nvPr/>
          </p:nvSpPr>
          <p:spPr>
            <a:xfrm>
              <a:off x="3377916"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Nachbarn + Referenzziele</a:t>
              </a:r>
            </a:p>
          </p:txBody>
        </p:sp>
      </p:grpSp>
      <p:grpSp>
        <p:nvGrpSpPr>
          <p:cNvPr id="135" name="Gruppe Kontext ≤ 6"/>
          <p:cNvGrpSpPr/>
          <p:nvPr/>
        </p:nvGrpSpPr>
        <p:grpSpPr>
          <a:xfrm>
            <a:off x="6300000" y="3780000"/>
            <a:ext cx="1440000" cy="867600"/>
            <a:chOff x="5005715" y="5161353"/>
            <a:chExt cx="1440000" cy="867600"/>
          </a:xfrm>
        </p:grpSpPr>
        <p:sp>
          <p:nvSpPr>
            <p:cNvPr id="136"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Kontext ≤ 6</a:t>
              </a:r>
              <a:endParaRPr sz="900" b="1" dirty="0">
                <a:solidFill>
                  <a:schemeClr val="bg2">
                    <a:lumMod val="10000"/>
                  </a:schemeClr>
                </a:solidFill>
              </a:endParaRPr>
            </a:p>
          </p:txBody>
        </p:sp>
        <p:pic>
          <p:nvPicPr>
            <p:cNvPr id="137"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095715" y="5505433"/>
              <a:ext cx="468000" cy="468000"/>
            </a:xfrm>
            <a:prstGeom prst="rect">
              <a:avLst/>
            </a:prstGeom>
          </p:spPr>
        </p:pic>
        <p:sp>
          <p:nvSpPr>
            <p:cNvPr id="138"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39" name="Info Kontext ≤ 6"/>
            <p:cNvSpPr/>
            <p:nvPr/>
          </p:nvSpPr>
          <p:spPr>
            <a:xfrm>
              <a:off x="5599715" y="5449914"/>
              <a:ext cx="792000" cy="579039"/>
            </a:xfrm>
            <a:prstGeom prst="rect">
              <a:avLst/>
            </a:prstGeom>
            <a:noFill/>
          </p:spPr>
          <p:txBody>
            <a:bodyPr wrap="square" lIns="0" tIns="18000" rIns="18000" bIns="18000" anchor="ctr"/>
            <a:lstStyle/>
            <a:p>
              <a:pPr algn="l"/>
              <a:r>
                <a:rPr lang="de-CH" sz="900" dirty="0">
                  <a:solidFill>
                    <a:srgbClr val="404040"/>
                  </a:solidFill>
                  <a:latin typeface="Arial"/>
                </a:rPr>
                <a:t>Chunks mit Quelle</a:t>
              </a:r>
            </a:p>
          </p:txBody>
        </p:sp>
      </p:grpSp>
      <p:grpSp>
        <p:nvGrpSpPr>
          <p:cNvPr id="140" name="Gruppe LLM">
            <a:extLst>
              <a:ext uri="{FF2B5EF4-FFF2-40B4-BE49-F238E27FC236}">
                <a16:creationId xmlns:a16="http://schemas.microsoft.com/office/drawing/2014/main" id="{CC8957DA-7EEF-07E6-4817-4A1CAB29C56A}"/>
              </a:ext>
            </a:extLst>
          </p:cNvPr>
          <p:cNvGrpSpPr/>
          <p:nvPr/>
        </p:nvGrpSpPr>
        <p:grpSpPr>
          <a:xfrm>
            <a:off x="8280000" y="3780000"/>
            <a:ext cx="1440000" cy="867600"/>
            <a:chOff x="8006090" y="5161353"/>
            <a:chExt cx="1440000" cy="867600"/>
          </a:xfrm>
        </p:grpSpPr>
        <p:sp>
          <p:nvSpPr>
            <p:cNvPr id="141"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42"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096090" y="5505433"/>
              <a:ext cx="468000" cy="468000"/>
            </a:xfrm>
            <a:prstGeom prst="rect">
              <a:avLst/>
            </a:prstGeom>
          </p:spPr>
        </p:pic>
        <p:sp>
          <p:nvSpPr>
            <p:cNvPr id="143"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44" name="Info LLM"/>
            <p:cNvSpPr/>
            <p:nvPr/>
          </p:nvSpPr>
          <p:spPr>
            <a:xfrm>
              <a:off x="8600090" y="5449914"/>
              <a:ext cx="792000" cy="579039"/>
            </a:xfrm>
            <a:prstGeom prst="rect">
              <a:avLst/>
            </a:prstGeom>
            <a:noFill/>
          </p:spPr>
          <p:txBody>
            <a:bodyPr wrap="square" lIns="0" tIns="18000" rIns="18000" bIns="18000" anchor="ctr"/>
            <a:lstStyle/>
            <a:p>
              <a:pPr algn="l"/>
              <a:r>
                <a:rPr lang="de-CH" sz="900" dirty="0">
                  <a:solidFill>
                    <a:srgbClr val="404040"/>
                  </a:solidFill>
                  <a:latin typeface="Arial"/>
                </a:rPr>
                <a:t>llama3.2, nur aus dem Kontext</a:t>
              </a:r>
            </a:p>
          </p:txBody>
        </p:sp>
      </p:grpSp>
      <p:grpSp>
        <p:nvGrpSpPr>
          <p:cNvPr id="145" name="Gruppe Antwort"/>
          <p:cNvGrpSpPr/>
          <p:nvPr/>
        </p:nvGrpSpPr>
        <p:grpSpPr>
          <a:xfrm>
            <a:off x="10260000" y="3780000"/>
            <a:ext cx="1440000" cy="867600"/>
            <a:chOff x="10196840" y="5161353"/>
            <a:chExt cx="1440000" cy="867600"/>
          </a:xfrm>
        </p:grpSpPr>
        <p:sp>
          <p:nvSpPr>
            <p:cNvPr id="146"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Antwort</a:t>
              </a:r>
              <a:endParaRPr sz="900" b="1" dirty="0">
                <a:solidFill>
                  <a:schemeClr val="bg2">
                    <a:lumMod val="10000"/>
                  </a:schemeClr>
                </a:solidFill>
              </a:endParaRPr>
            </a:p>
          </p:txBody>
        </p:sp>
        <p:pic>
          <p:nvPicPr>
            <p:cNvPr id="147"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286840" y="5505433"/>
              <a:ext cx="468000" cy="468000"/>
            </a:xfrm>
            <a:prstGeom prst="rect">
              <a:avLst/>
            </a:prstGeom>
          </p:spPr>
        </p:pic>
        <p:sp>
          <p:nvSpPr>
            <p:cNvPr id="148"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49" name="Info Antwort"/>
            <p:cNvSpPr/>
            <p:nvPr/>
          </p:nvSpPr>
          <p:spPr>
            <a:xfrm>
              <a:off x="10790840" y="5449914"/>
              <a:ext cx="792000" cy="579039"/>
            </a:xfrm>
            <a:prstGeom prst="rect">
              <a:avLst/>
            </a:prstGeom>
            <a:noFill/>
          </p:spPr>
          <p:txBody>
            <a:bodyPr wrap="square" lIns="0" tIns="18000" rIns="18000" bIns="18000" anchor="ctr"/>
            <a:lstStyle/>
            <a:p>
              <a:pPr algn="l"/>
              <a:r>
                <a:rPr lang="de-CH" sz="900" dirty="0">
                  <a:solidFill>
                    <a:srgbClr val="404040"/>
                  </a:solidFill>
                  <a:latin typeface="Arial"/>
                </a:rPr>
                <a:t>mit Gesetz und Artikel</a:t>
              </a:r>
            </a:p>
          </p:txBody>
        </p:sp>
      </p:grpSp>
      <p:cxnSp>
        <p:nvCxnSpPr>
          <p:cNvPr id="150" name="Pfeil chroma-aufbau">
            <a:extLst>
              <a:ext uri="{FF2B5EF4-FFF2-40B4-BE49-F238E27FC236}">
                <a16:creationId xmlns:a16="http://schemas.microsoft.com/office/drawing/2014/main" id="{0BDDCE84-4016-2B9D-139E-B6028861F673}"/>
              </a:ext>
            </a:extLst>
          </p:cNvPr>
          <p:cNvCxnSpPr>
            <a:cxnSpLocks/>
            <a:stCxn id="101" idx="3"/>
            <a:endCxn id="106" idx="1"/>
          </p:cNvCxnSpPr>
          <p:nvPr/>
        </p:nvCxnSpPr>
        <p:spPr>
          <a:xfrm>
            <a:off x="1800000" y="205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1" name="Pfeil aufbau-rgraph">
            <a:extLst>
              <a:ext uri="{FF2B5EF4-FFF2-40B4-BE49-F238E27FC236}">
                <a16:creationId xmlns:a16="http://schemas.microsoft.com/office/drawing/2014/main" id="{0BDDCE84-4016-2B9D-139E-B6028861F673}"/>
              </a:ext>
            </a:extLst>
          </p:cNvPr>
          <p:cNvCxnSpPr>
            <a:cxnSpLocks/>
            <a:stCxn id="106" idx="3"/>
            <a:endCxn id="111" idx="1"/>
          </p:cNvCxnSpPr>
          <p:nvPr/>
        </p:nvCxnSpPr>
        <p:spPr>
          <a:xfrm>
            <a:off x="3780000" y="205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2" name="Pfeil rgraph-erweitern">
            <a:extLst>
              <a:ext uri="{FF2B5EF4-FFF2-40B4-BE49-F238E27FC236}">
                <a16:creationId xmlns:a16="http://schemas.microsoft.com/office/drawing/2014/main" id="{0BDDCE84-4016-2B9D-139E-B6028861F673}"/>
              </a:ext>
            </a:extLst>
          </p:cNvPr>
          <p:cNvCxnSpPr>
            <a:cxnSpLocks/>
            <a:stCxn id="111" idx="2"/>
            <a:endCxn id="131" idx="0"/>
          </p:cNvCxnSpPr>
          <p:nvPr/>
        </p:nvCxnSpPr>
        <p:spPr>
          <a:xfrm>
            <a:off x="5040000" y="2487600"/>
            <a:ext cx="0" cy="12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3" name="Pfeil chroma-semantik">
            <a:extLst>
              <a:ext uri="{FF2B5EF4-FFF2-40B4-BE49-F238E27FC236}">
                <a16:creationId xmlns:a16="http://schemas.microsoft.com/office/drawing/2014/main" id="{0BDDCE84-4016-2B9D-139E-B6028861F673}"/>
              </a:ext>
            </a:extLst>
          </p:cNvPr>
          <p:cNvCxnSpPr>
            <a:cxnSpLocks/>
            <a:stCxn id="101" idx="3"/>
            <a:endCxn id="121" idx="1"/>
          </p:cNvCxnSpPr>
          <p:nvPr/>
        </p:nvCxnSpPr>
        <p:spPr>
          <a:xfrm>
            <a:off x="1800000" y="2053800"/>
            <a:ext cx="540000" cy="126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4" name="Pfeil frage-semantik">
            <a:extLst>
              <a:ext uri="{FF2B5EF4-FFF2-40B4-BE49-F238E27FC236}">
                <a16:creationId xmlns:a16="http://schemas.microsoft.com/office/drawing/2014/main" id="{0BDDCE84-4016-2B9D-139E-B6028861F673}"/>
              </a:ext>
            </a:extLst>
          </p:cNvPr>
          <p:cNvCxnSpPr>
            <a:cxnSpLocks/>
            <a:stCxn id="116" idx="3"/>
            <a:endCxn id="121" idx="1"/>
          </p:cNvCxnSpPr>
          <p:nvPr/>
        </p:nvCxnSpPr>
        <p:spPr>
          <a:xfrm flipV="1">
            <a:off x="1800000" y="3313800"/>
            <a:ext cx="540000" cy="90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5" name="Pfeil frage-lexik">
            <a:extLst>
              <a:ext uri="{FF2B5EF4-FFF2-40B4-BE49-F238E27FC236}">
                <a16:creationId xmlns:a16="http://schemas.microsoft.com/office/drawing/2014/main" id="{0BDDCE84-4016-2B9D-139E-B6028861F673}"/>
              </a:ext>
            </a:extLst>
          </p:cNvPr>
          <p:cNvCxnSpPr>
            <a:cxnSpLocks/>
            <a:stCxn id="116" idx="3"/>
            <a:endCxn id="126" idx="1"/>
          </p:cNvCxnSpPr>
          <p:nvPr/>
        </p:nvCxnSpPr>
        <p:spPr>
          <a:xfrm>
            <a:off x="1800000" y="4213800"/>
            <a:ext cx="540000" cy="90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6" name="Pfeil semantik-erweitern">
            <a:extLst>
              <a:ext uri="{FF2B5EF4-FFF2-40B4-BE49-F238E27FC236}">
                <a16:creationId xmlns:a16="http://schemas.microsoft.com/office/drawing/2014/main" id="{0BDDCE84-4016-2B9D-139E-B6028861F673}"/>
              </a:ext>
            </a:extLst>
          </p:cNvPr>
          <p:cNvCxnSpPr>
            <a:cxnSpLocks/>
            <a:stCxn id="121" idx="3"/>
            <a:endCxn id="131" idx="1"/>
          </p:cNvCxnSpPr>
          <p:nvPr/>
        </p:nvCxnSpPr>
        <p:spPr>
          <a:xfrm>
            <a:off x="3780000" y="3313800"/>
            <a:ext cx="540000" cy="90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7" name="Pfeil lexik-erweitern">
            <a:extLst>
              <a:ext uri="{FF2B5EF4-FFF2-40B4-BE49-F238E27FC236}">
                <a16:creationId xmlns:a16="http://schemas.microsoft.com/office/drawing/2014/main" id="{0BDDCE84-4016-2B9D-139E-B6028861F673}"/>
              </a:ext>
            </a:extLst>
          </p:cNvPr>
          <p:cNvCxnSpPr>
            <a:cxnSpLocks/>
            <a:stCxn id="126" idx="3"/>
            <a:endCxn id="131" idx="1"/>
          </p:cNvCxnSpPr>
          <p:nvPr/>
        </p:nvCxnSpPr>
        <p:spPr>
          <a:xfrm flipV="1">
            <a:off x="3780000" y="4213800"/>
            <a:ext cx="540000" cy="90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8" name="Pfeil erweitern-kontext">
            <a:extLst>
              <a:ext uri="{FF2B5EF4-FFF2-40B4-BE49-F238E27FC236}">
                <a16:creationId xmlns:a16="http://schemas.microsoft.com/office/drawing/2014/main" id="{0BDDCE84-4016-2B9D-139E-B6028861F673}"/>
              </a:ext>
            </a:extLst>
          </p:cNvPr>
          <p:cNvCxnSpPr>
            <a:cxnSpLocks/>
            <a:stCxn id="131" idx="3"/>
            <a:endCxn id="136" idx="1"/>
          </p:cNvCxnSpPr>
          <p:nvPr/>
        </p:nvCxnSpPr>
        <p:spPr>
          <a:xfrm>
            <a:off x="5760000" y="421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9" name="Pfeil kontext-llm">
            <a:extLst>
              <a:ext uri="{FF2B5EF4-FFF2-40B4-BE49-F238E27FC236}">
                <a16:creationId xmlns:a16="http://schemas.microsoft.com/office/drawing/2014/main" id="{0BDDCE84-4016-2B9D-139E-B6028861F673}"/>
              </a:ext>
            </a:extLst>
          </p:cNvPr>
          <p:cNvCxnSpPr>
            <a:cxnSpLocks/>
            <a:stCxn id="136" idx="3"/>
            <a:endCxn id="141" idx="1"/>
          </p:cNvCxnSpPr>
          <p:nvPr/>
        </p:nvCxnSpPr>
        <p:spPr>
          <a:xfrm>
            <a:off x="7740000" y="421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60" name="Pfeil llm-antwort">
            <a:extLst>
              <a:ext uri="{FF2B5EF4-FFF2-40B4-BE49-F238E27FC236}">
                <a16:creationId xmlns:a16="http://schemas.microsoft.com/office/drawing/2014/main" id="{0BDDCE84-4016-2B9D-139E-B6028861F673}"/>
              </a:ext>
            </a:extLst>
          </p:cNvPr>
          <p:cNvCxnSpPr>
            <a:cxnSpLocks/>
            <a:stCxn id="141" idx="3"/>
            <a:endCxn id="146" idx="1"/>
          </p:cNvCxnSpPr>
          <p:nvPr/>
        </p:nvCxnSpPr>
        <p:spPr>
          <a:xfrm>
            <a:off x="9720000" y="421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61" name="Label Indexierung"/>
          <p:cNvSpPr/>
          <p:nvPr/>
        </p:nvSpPr>
        <p:spPr>
          <a:xfrm>
            <a:off x="360000" y="1296000"/>
            <a:ext cx="2880000" cy="216000"/>
          </a:xfrm>
          <a:prstGeom prst="rect">
            <a:avLst/>
          </a:prstGeom>
          <a:noFill/>
        </p:spPr>
        <p:txBody>
          <a:bodyPr wrap="square" lIns="0" tIns="0" rIns="0" bIns="0" anchor="ctr"/>
          <a:lstStyle/>
          <a:p>
            <a:pPr algn="l"/>
            <a:r>
              <a:rPr lang="de-CH" sz="1200" b="1" dirty="0">
                <a:solidFill>
                  <a:srgbClr val="595959"/>
                </a:solidFill>
                <a:latin typeface="Arial"/>
              </a:rPr>
              <a:t>INDEXIERUNG · EINMALIG</a:t>
            </a:r>
          </a:p>
        </p:txBody>
      </p:sp>
      <p:sp>
        <p:nvSpPr>
          <p:cNvPr id="162" name="Label Retrieval"/>
          <p:cNvSpPr/>
          <p:nvPr/>
        </p:nvSpPr>
        <p:spPr>
          <a:xfrm>
            <a:off x="360000" y="3456000"/>
            <a:ext cx="2880000" cy="216000"/>
          </a:xfrm>
          <a:prstGeom prst="rect">
            <a:avLst/>
          </a:prstGeom>
          <a:noFill/>
        </p:spPr>
        <p:txBody>
          <a:bodyPr wrap="square" lIns="0" tIns="0" rIns="0" bIns="0" anchor="ctr"/>
          <a:lstStyle/>
          <a:p>
            <a:pPr algn="l"/>
            <a:r>
              <a:rPr lang="de-CH" sz="1200" b="1" dirty="0">
                <a:solidFill>
                  <a:srgbClr val="595959"/>
                </a:solidFill>
                <a:latin typeface="Arial"/>
              </a:rPr>
              <a:t>RETRIEVAL · PRO FRAGE</a:t>
            </a:r>
          </a:p>
        </p:txBody>
      </p:sp>
      <p:sp>
        <p:nvSpPr>
          <p:cNvPr id="163" name="Takeaway"/>
          <p:cNvSpPr/>
          <p:nvPr/>
        </p:nvSpPr>
        <p:spPr>
          <a:xfrm>
            <a:off x="360000" y="5760000"/>
            <a:ext cx="11340000" cy="540000"/>
          </a:xfrm>
          <a:prstGeom prst="roundRect">
            <a:avLst>
              <a:gd name="adj" fmla="val 18000"/>
            </a:avLst>
          </a:prstGeom>
          <a:solidFill>
            <a:srgbClr val="2D3F4B"/>
          </a:solidFill>
          <a:ln>
            <a:noFill/>
          </a:ln>
        </p:spPr>
        <p:txBody>
          <a:bodyPr wrap="square" anchor="ctr"/>
          <a:lstStyle/>
          <a:p>
            <a:pPr algn="ctr"/>
            <a:r>
              <a:rPr lang="de-CH" sz="1400" b="1" dirty="0">
                <a:solidFill>
                  <a:srgbClr val="FFFFFF"/>
                </a:solidFill>
                <a:latin typeface="Arial"/>
              </a:rPr>
              <a:t>Semantik + Lexik + explizite Zitate → Graph-Nachbarn → begrenzter Kontext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3"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subtitle">
            <a:extLst>
              <a:ext uri="{FF2B5EF4-FFF2-40B4-BE49-F238E27FC236}">
                <a16:creationId xmlns:a16="http://schemas.microsoft.com/office/drawing/2014/main" id="{D4843392-06B7-4F34-8C77-0B596171C446}"/>
              </a:ext>
            </a:extLst>
          </p:cNvPr>
          <p:cNvSpPr/>
          <p:nvPr/>
        </p:nvSpPr>
        <p:spPr>
          <a:xfrm>
            <a:off x="540000" y="1440000"/>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0">
                <a:solidFill>
                  <a:srgbClr val="81725E"/>
                </a:solidFill>
                <a:latin typeface="Arial"/>
                <a:ea typeface="Arial"/>
                <a:cs typeface="Arial"/>
              </a:rPr>
              <a:t>Reranking verbessert die Rangfolge; GraphRAG ergänzt exakte Artikelauflösung.</a:t>
            </a:r>
          </a:p>
        </p:txBody>
      </p:sp>
      <p:sp>
        <p:nvSpPr>
          <p:cNvPr id="5" name="page-number">
            <a:extLst>
              <a:ext uri="{FF2B5EF4-FFF2-40B4-BE49-F238E27FC236}">
                <a16:creationId xmlns:a16="http://schemas.microsoft.com/office/drawing/2014/main" id="{FA6800FF-1EDC-425C-A287-9EAA2429BC64}"/>
              </a:ext>
            </a:extLst>
          </p:cNvPr>
          <p:cNvSpPr/>
          <p:nvPr/>
        </p:nvSpPr>
        <p:spPr>
          <a:xfrm>
            <a:off x="540000" y="6300000"/>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p:nvPr/>
        </p:nvSpPr>
        <p:spPr>
          <a:xfrm>
            <a:off x="900000" y="6300000"/>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grpSp>
        <p:nvGrpSpPr>
          <p:cNvPr id="40" name="Gruppieren 39">
            <a:extLst>
              <a:ext uri="{FF2B5EF4-FFF2-40B4-BE49-F238E27FC236}">
                <a16:creationId xmlns:a16="http://schemas.microsoft.com/office/drawing/2014/main" id="{19F8F4D5-38BD-8426-E955-3F3DA91F3F81}"/>
              </a:ext>
            </a:extLst>
          </p:cNvPr>
          <p:cNvGrpSpPr/>
          <p:nvPr/>
        </p:nvGrpSpPr>
        <p:grpSpPr>
          <a:xfrm>
            <a:off x="1080000" y="1980000"/>
            <a:ext cx="2880000" cy="2520000"/>
            <a:chOff x="1080000" y="1980000"/>
            <a:chExt cx="2880000" cy="2520000"/>
          </a:xfrm>
        </p:grpSpPr>
        <p:sp>
          <p:nvSpPr>
            <p:cNvPr id="7" name="ARTICLE RECALL@K-label">
              <a:extLst>
                <a:ext uri="{FF2B5EF4-FFF2-40B4-BE49-F238E27FC236}">
                  <a16:creationId xmlns:a16="http://schemas.microsoft.com/office/drawing/2014/main" id="{EF3CBA10-81F9-496B-9B1B-D5798E9DEA26}"/>
                </a:ext>
              </a:extLst>
            </p:cNvPr>
            <p:cNvSpPr/>
            <p:nvPr/>
          </p:nvSpPr>
          <p:spPr>
            <a:xfrm>
              <a:off x="1080000" y="1980000"/>
              <a:ext cx="2879995" cy="266700"/>
            </a:xfrm>
            <a:prstGeom prst="rect">
              <a:avLst/>
            </a:prstGeom>
            <a:noFill/>
            <a:ln w="0">
              <a:noFill/>
              <a:prstDash val="solid"/>
            </a:ln>
          </p:spPr>
          <p:txBody>
            <a:bodyPr anchor="t"/>
            <a:lstStyle/>
            <a:p>
              <a:pPr algn="ctr">
                <a:buNone/>
                <a:defRPr sz="1200" b="1">
                  <a:solidFill>
                    <a:srgbClr val="C60C30"/>
                  </a:solidFill>
                  <a:latin typeface="Arial"/>
                  <a:ea typeface="Arial"/>
                  <a:cs typeface="Arial"/>
                </a:defRPr>
              </a:pPr>
              <a:r>
                <a:rPr sz="1200" b="1" dirty="0">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p:nvPr/>
          </p:nvSpPr>
          <p:spPr>
            <a:xfrm>
              <a:off x="1080000" y="2340000"/>
              <a:ext cx="2880000" cy="2160000"/>
            </a:xfrm>
            <a:prstGeom prst="roundRect">
              <a:avLst>
                <a:gd name="adj" fmla="val 7660"/>
              </a:avLst>
            </a:prstGeom>
            <a:solidFill>
              <a:srgbClr val="EAE8E5"/>
            </a:solidFill>
            <a:ln w="11430">
              <a:solidFill>
                <a:srgbClr val="C3BBB2"/>
              </a:solidFill>
              <a:prstDash val="solid"/>
            </a:ln>
          </p:spPr>
          <p:txBody>
            <a:bodyPr/>
            <a:lstStyle/>
            <a:p>
              <a:endParaRPr/>
            </a:p>
          </p:txBody>
        </p:sp>
        <p:grpSp>
          <p:nvGrpSpPr>
            <p:cNvPr id="2" name="Gruppieren 1">
              <a:extLst>
                <a:ext uri="{FF2B5EF4-FFF2-40B4-BE49-F238E27FC236}">
                  <a16:creationId xmlns:a16="http://schemas.microsoft.com/office/drawing/2014/main" id="{58F4AE17-A10A-607C-53CB-C11338F32BC9}"/>
                </a:ext>
              </a:extLst>
            </p:cNvPr>
            <p:cNvGrpSpPr/>
            <p:nvPr/>
          </p:nvGrpSpPr>
          <p:grpSpPr>
            <a:xfrm>
              <a:off x="1080000" y="2700000"/>
              <a:ext cx="1440000" cy="900000"/>
              <a:chOff x="899999" y="2700000"/>
              <a:chExt cx="1260000" cy="948600"/>
            </a:xfrm>
          </p:grpSpPr>
          <p:sp>
            <p:nvSpPr>
              <p:cNvPr id="9" name="ARTICLE RECALL@K-vector-label">
                <a:extLst>
                  <a:ext uri="{FF2B5EF4-FFF2-40B4-BE49-F238E27FC236}">
                    <a16:creationId xmlns:a16="http://schemas.microsoft.com/office/drawing/2014/main" id="{6807D616-2734-411A-9F80-248B050D6544}"/>
                  </a:ext>
                </a:extLst>
              </p:cNvPr>
              <p:cNvSpPr/>
              <p:nvPr/>
            </p:nvSpPr>
            <p:spPr>
              <a:xfrm>
                <a:off x="899999" y="2700000"/>
                <a:ext cx="1260000" cy="40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SEMANTIC</a:t>
                </a:r>
              </a:p>
            </p:txBody>
          </p:sp>
          <p:sp>
            <p:nvSpPr>
              <p:cNvPr id="10" name="ARTICLE RECALL@K-vector">
                <a:extLst>
                  <a:ext uri="{FF2B5EF4-FFF2-40B4-BE49-F238E27FC236}">
                    <a16:creationId xmlns:a16="http://schemas.microsoft.com/office/drawing/2014/main" id="{D9C1AC8B-20E7-4FC6-B1E1-7135C819100A}"/>
                  </a:ext>
                </a:extLst>
              </p:cNvPr>
              <p:cNvSpPr/>
              <p:nvPr/>
            </p:nvSpPr>
            <p:spPr>
              <a:xfrm>
                <a:off x="899999" y="3108600"/>
                <a:ext cx="1260000" cy="54000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54 %</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33 %</a:t>
                </a:r>
              </a:p>
            </p:txBody>
          </p:sp>
        </p:grpSp>
        <p:grpSp>
          <p:nvGrpSpPr>
            <p:cNvPr id="3" name="Gruppieren 2">
              <a:extLst>
                <a:ext uri="{FF2B5EF4-FFF2-40B4-BE49-F238E27FC236}">
                  <a16:creationId xmlns:a16="http://schemas.microsoft.com/office/drawing/2014/main" id="{CE1C2434-3A1F-4655-57E9-7BD0D75BBA0E}"/>
                </a:ext>
              </a:extLst>
            </p:cNvPr>
            <p:cNvGrpSpPr/>
            <p:nvPr/>
          </p:nvGrpSpPr>
          <p:grpSpPr>
            <a:xfrm>
              <a:off x="2520000" y="2700000"/>
              <a:ext cx="1440000" cy="900000"/>
              <a:chOff x="2339999" y="2700000"/>
              <a:chExt cx="1260001" cy="948600"/>
            </a:xfrm>
          </p:grpSpPr>
          <p:sp>
            <p:nvSpPr>
              <p:cNvPr id="11" name="ARTICLE RECALL@K-graph-label">
                <a:extLst>
                  <a:ext uri="{FF2B5EF4-FFF2-40B4-BE49-F238E27FC236}">
                    <a16:creationId xmlns:a16="http://schemas.microsoft.com/office/drawing/2014/main" id="{547E2263-E275-431C-90EE-995868326356}"/>
                  </a:ext>
                </a:extLst>
              </p:cNvPr>
              <p:cNvSpPr/>
              <p:nvPr/>
            </p:nvSpPr>
            <p:spPr>
              <a:xfrm>
                <a:off x="2339999" y="2700000"/>
                <a:ext cx="1260000" cy="40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p:nvPr/>
            </p:nvSpPr>
            <p:spPr>
              <a:xfrm>
                <a:off x="2340000" y="3108600"/>
                <a:ext cx="1260000" cy="54000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dirty="0">
                    <a:solidFill>
                      <a:srgbClr val="4B9298"/>
                    </a:solidFill>
                    <a:latin typeface="Arial"/>
                    <a:ea typeface="Arial"/>
                    <a:cs typeface="Arial"/>
                  </a:rPr>
                  <a:t>71 %</a:t>
                </a:r>
              </a:p>
              <a:p>
                <a:pPr algn="ctr">
                  <a:buNone/>
                  <a:defRPr sz="1725" b="1">
                    <a:solidFill>
                      <a:srgbClr val="4B9298"/>
                    </a:solidFill>
                    <a:latin typeface="Arial"/>
                    <a:ea typeface="Arial"/>
                    <a:cs typeface="Arial"/>
                  </a:defRPr>
                </a:pPr>
                <a:r>
                  <a:rPr sz="1725" b="1" dirty="0">
                    <a:solidFill>
                      <a:srgbClr val="4B9298"/>
                    </a:solidFill>
                    <a:latin typeface="Arial"/>
                    <a:ea typeface="Arial"/>
                    <a:cs typeface="Arial"/>
                  </a:rPr>
                  <a:t>88 %</a:t>
                </a:r>
              </a:p>
            </p:txBody>
          </p:sp>
        </p:grpSp>
        <p:sp>
          <p:nvSpPr>
            <p:cNvPr id="13" name="ARTICLE RECALL@K-divider">
              <a:extLst>
                <a:ext uri="{FF2B5EF4-FFF2-40B4-BE49-F238E27FC236}">
                  <a16:creationId xmlns:a16="http://schemas.microsoft.com/office/drawing/2014/main" id="{60C88283-300A-41E7-BA4D-36B297E1C6AD}"/>
                </a:ext>
              </a:extLst>
            </p:cNvPr>
            <p:cNvSpPr/>
            <p:nvPr/>
          </p:nvSpPr>
          <p:spPr>
            <a:xfrm>
              <a:off x="2520000" y="2700000"/>
              <a:ext cx="0" cy="952500"/>
            </a:xfrm>
            <a:prstGeom prst="line">
              <a:avLst/>
            </a:prstGeom>
            <a:ln w="11430">
              <a:solidFill>
                <a:srgbClr val="C3BBB2"/>
              </a:solidFill>
              <a:prstDash val="solid"/>
            </a:ln>
          </p:spPr>
          <p:txBody>
            <a:bodyPr/>
            <a:lstStyle/>
            <a:p>
              <a:endParaRPr/>
            </a:p>
          </p:txBody>
        </p:sp>
        <p:sp>
          <p:nvSpPr>
            <p:cNvPr id="14" name="ARTICLE RECALL@K-note">
              <a:extLst>
                <a:ext uri="{FF2B5EF4-FFF2-40B4-BE49-F238E27FC236}">
                  <a16:creationId xmlns:a16="http://schemas.microsoft.com/office/drawing/2014/main" id="{65BAC4C0-738D-4FD4-9F9C-DC3CABA4D556}"/>
                </a:ext>
              </a:extLst>
            </p:cNvPr>
            <p:cNvSpPr/>
            <p:nvPr/>
          </p:nvSpPr>
          <p:spPr>
            <a:xfrm>
              <a:off x="1080000" y="3780000"/>
              <a:ext cx="288000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Graph </a:t>
              </a:r>
              <a:r>
                <a:rPr sz="1050" b="1" dirty="0" err="1">
                  <a:solidFill>
                    <a:srgbClr val="304554"/>
                  </a:solidFill>
                  <a:latin typeface="Arial"/>
                  <a:ea typeface="Arial"/>
                  <a:cs typeface="Arial"/>
                </a:rPr>
                <a:t>liefert</a:t>
              </a:r>
              <a:r>
                <a:rPr sz="1050" b="1" dirty="0">
                  <a:solidFill>
                    <a:srgbClr val="304554"/>
                  </a:solidFill>
                  <a:latin typeface="Arial"/>
                  <a:ea typeface="Arial"/>
                  <a:cs typeface="Arial"/>
                </a:rPr>
                <a:t> den </a:t>
              </a:r>
              <a:r>
                <a:rPr sz="1050" b="1" dirty="0" err="1">
                  <a:solidFill>
                    <a:srgbClr val="304554"/>
                  </a:solidFill>
                  <a:latin typeface="Arial"/>
                  <a:ea typeface="Arial"/>
                  <a:cs typeface="Arial"/>
                </a:rPr>
                <a:t>höchsten</a:t>
              </a:r>
              <a:r>
                <a:rPr sz="1050" b="1" dirty="0">
                  <a:solidFill>
                    <a:srgbClr val="304554"/>
                  </a:solidFill>
                  <a:latin typeface="Arial"/>
                  <a:ea typeface="Arial"/>
                  <a:cs typeface="Arial"/>
                </a:rPr>
                <a:t> Recall</a:t>
              </a:r>
            </a:p>
          </p:txBody>
        </p:sp>
      </p:grpSp>
      <p:grpSp>
        <p:nvGrpSpPr>
          <p:cNvPr id="39" name="Gruppieren 38">
            <a:extLst>
              <a:ext uri="{FF2B5EF4-FFF2-40B4-BE49-F238E27FC236}">
                <a16:creationId xmlns:a16="http://schemas.microsoft.com/office/drawing/2014/main" id="{9EA5AB0A-42E4-DBBA-9B20-7429173E37C8}"/>
              </a:ext>
            </a:extLst>
          </p:cNvPr>
          <p:cNvGrpSpPr/>
          <p:nvPr/>
        </p:nvGrpSpPr>
        <p:grpSpPr>
          <a:xfrm>
            <a:off x="4589999" y="1980000"/>
            <a:ext cx="2880001" cy="2520000"/>
            <a:chOff x="4679999" y="1980000"/>
            <a:chExt cx="2880001" cy="2520000"/>
          </a:xfrm>
        </p:grpSpPr>
        <p:sp>
          <p:nvSpPr>
            <p:cNvPr id="15" name="ARTICLE MRR-label">
              <a:extLst>
                <a:ext uri="{FF2B5EF4-FFF2-40B4-BE49-F238E27FC236}">
                  <a16:creationId xmlns:a16="http://schemas.microsoft.com/office/drawing/2014/main" id="{428A152A-7185-4B7C-9D9F-F04877D61454}"/>
                </a:ext>
              </a:extLst>
            </p:cNvPr>
            <p:cNvSpPr/>
            <p:nvPr/>
          </p:nvSpPr>
          <p:spPr>
            <a:xfrm>
              <a:off x="4680000" y="1980000"/>
              <a:ext cx="2879995" cy="266700"/>
            </a:xfrm>
            <a:prstGeom prst="rect">
              <a:avLst/>
            </a:prstGeom>
            <a:noFill/>
            <a:ln w="0">
              <a:noFill/>
              <a:prstDash val="solid"/>
            </a:ln>
          </p:spPr>
          <p:txBody>
            <a:bodyPr anchor="t"/>
            <a:lstStyle/>
            <a:p>
              <a:pPr algn="ctr">
                <a:buNone/>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p:nvPr/>
          </p:nvSpPr>
          <p:spPr>
            <a:xfrm>
              <a:off x="4680000" y="2340000"/>
              <a:ext cx="2880000" cy="2160000"/>
            </a:xfrm>
            <a:prstGeom prst="roundRect">
              <a:avLst>
                <a:gd name="adj" fmla="val 7660"/>
              </a:avLst>
            </a:prstGeom>
            <a:solidFill>
              <a:srgbClr val="EAE8E5"/>
            </a:solidFill>
            <a:ln w="11430">
              <a:solidFill>
                <a:srgbClr val="C3BBB2"/>
              </a:solidFill>
              <a:prstDash val="solid"/>
            </a:ln>
          </p:spPr>
          <p:txBody>
            <a:bodyPr/>
            <a:lstStyle/>
            <a:p>
              <a:endParaRPr/>
            </a:p>
          </p:txBody>
        </p:sp>
        <p:grpSp>
          <p:nvGrpSpPr>
            <p:cNvPr id="34" name="Gruppieren 33">
              <a:extLst>
                <a:ext uri="{FF2B5EF4-FFF2-40B4-BE49-F238E27FC236}">
                  <a16:creationId xmlns:a16="http://schemas.microsoft.com/office/drawing/2014/main" id="{EA017B8D-C6B9-EB55-C0E4-B1502E161B61}"/>
                </a:ext>
              </a:extLst>
            </p:cNvPr>
            <p:cNvGrpSpPr/>
            <p:nvPr/>
          </p:nvGrpSpPr>
          <p:grpSpPr>
            <a:xfrm>
              <a:off x="4680000" y="2700000"/>
              <a:ext cx="1440000" cy="900000"/>
              <a:chOff x="4319999" y="2700000"/>
              <a:chExt cx="1260001" cy="948600"/>
            </a:xfrm>
          </p:grpSpPr>
          <p:sp>
            <p:nvSpPr>
              <p:cNvPr id="17" name="ARTICLE MRR-vector-label">
                <a:extLst>
                  <a:ext uri="{FF2B5EF4-FFF2-40B4-BE49-F238E27FC236}">
                    <a16:creationId xmlns:a16="http://schemas.microsoft.com/office/drawing/2014/main" id="{231458E9-0363-4E1A-909E-88E4A78AF7E5}"/>
                  </a:ext>
                </a:extLst>
              </p:cNvPr>
              <p:cNvSpPr/>
              <p:nvPr/>
            </p:nvSpPr>
            <p:spPr>
              <a:xfrm>
                <a:off x="4319999" y="2700000"/>
                <a:ext cx="1260000" cy="40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SEMANTIC</a:t>
                </a:r>
              </a:p>
            </p:txBody>
          </p:sp>
          <p:sp>
            <p:nvSpPr>
              <p:cNvPr id="18" name="ARTICLE MRR-vector">
                <a:extLst>
                  <a:ext uri="{FF2B5EF4-FFF2-40B4-BE49-F238E27FC236}">
                    <a16:creationId xmlns:a16="http://schemas.microsoft.com/office/drawing/2014/main" id="{C57CA6CF-6455-4AE6-8EAA-CFE4AB39514B}"/>
                  </a:ext>
                </a:extLst>
              </p:cNvPr>
              <p:cNvSpPr/>
              <p:nvPr/>
            </p:nvSpPr>
            <p:spPr>
              <a:xfrm>
                <a:off x="4320000" y="3108600"/>
                <a:ext cx="1260000" cy="54000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0.43</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0.25</a:t>
                </a:r>
              </a:p>
            </p:txBody>
          </p:sp>
        </p:grpSp>
        <p:grpSp>
          <p:nvGrpSpPr>
            <p:cNvPr id="33" name="Gruppieren 32">
              <a:extLst>
                <a:ext uri="{FF2B5EF4-FFF2-40B4-BE49-F238E27FC236}">
                  <a16:creationId xmlns:a16="http://schemas.microsoft.com/office/drawing/2014/main" id="{478926ED-6920-8D6B-6060-A543468EE399}"/>
                </a:ext>
              </a:extLst>
            </p:cNvPr>
            <p:cNvGrpSpPr/>
            <p:nvPr/>
          </p:nvGrpSpPr>
          <p:grpSpPr>
            <a:xfrm>
              <a:off x="6120000" y="2700000"/>
              <a:ext cx="1440000" cy="900000"/>
              <a:chOff x="5759999" y="2700000"/>
              <a:chExt cx="1260001" cy="948600"/>
            </a:xfrm>
          </p:grpSpPr>
          <p:sp>
            <p:nvSpPr>
              <p:cNvPr id="19" name="ARTICLE MRR-graph-label">
                <a:extLst>
                  <a:ext uri="{FF2B5EF4-FFF2-40B4-BE49-F238E27FC236}">
                    <a16:creationId xmlns:a16="http://schemas.microsoft.com/office/drawing/2014/main" id="{34D2D5AD-316C-4BC7-AB0E-006E3CD5A7A1}"/>
                  </a:ext>
                </a:extLst>
              </p:cNvPr>
              <p:cNvSpPr/>
              <p:nvPr/>
            </p:nvSpPr>
            <p:spPr>
              <a:xfrm>
                <a:off x="5759999" y="2700000"/>
                <a:ext cx="1260000" cy="40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p:nvPr/>
            </p:nvSpPr>
            <p:spPr>
              <a:xfrm>
                <a:off x="5760000" y="3108600"/>
                <a:ext cx="1260000" cy="54000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dirty="0">
                    <a:solidFill>
                      <a:srgbClr val="4B9298"/>
                    </a:solidFill>
                    <a:latin typeface="Arial"/>
                    <a:ea typeface="Arial"/>
                    <a:cs typeface="Arial"/>
                  </a:rPr>
                  <a:t>0.68</a:t>
                </a:r>
              </a:p>
              <a:p>
                <a:pPr algn="ctr">
                  <a:buNone/>
                  <a:defRPr sz="1725" b="1">
                    <a:solidFill>
                      <a:srgbClr val="4B9298"/>
                    </a:solidFill>
                    <a:latin typeface="Arial"/>
                    <a:ea typeface="Arial"/>
                    <a:cs typeface="Arial"/>
                  </a:defRPr>
                </a:pPr>
                <a:r>
                  <a:rPr sz="1725" b="1" dirty="0">
                    <a:solidFill>
                      <a:srgbClr val="4B9298"/>
                    </a:solidFill>
                    <a:latin typeface="Arial"/>
                    <a:ea typeface="Arial"/>
                    <a:cs typeface="Arial"/>
                  </a:rPr>
                  <a:t>0.52</a:t>
                </a:r>
              </a:p>
            </p:txBody>
          </p:sp>
        </p:grpSp>
        <p:sp>
          <p:nvSpPr>
            <p:cNvPr id="21" name="ARTICLE MRR-divider">
              <a:extLst>
                <a:ext uri="{FF2B5EF4-FFF2-40B4-BE49-F238E27FC236}">
                  <a16:creationId xmlns:a16="http://schemas.microsoft.com/office/drawing/2014/main" id="{AF3DB5C0-E728-477B-889B-6F68B673147F}"/>
                </a:ext>
              </a:extLst>
            </p:cNvPr>
            <p:cNvSpPr/>
            <p:nvPr/>
          </p:nvSpPr>
          <p:spPr>
            <a:xfrm>
              <a:off x="6120000" y="2700000"/>
              <a:ext cx="0" cy="952500"/>
            </a:xfrm>
            <a:prstGeom prst="line">
              <a:avLst/>
            </a:prstGeom>
            <a:ln w="11430">
              <a:solidFill>
                <a:srgbClr val="C3BBB2"/>
              </a:solidFill>
              <a:prstDash val="solid"/>
            </a:ln>
          </p:spPr>
          <p:txBody>
            <a:bodyPr/>
            <a:lstStyle/>
            <a:p>
              <a:endParaRPr/>
            </a:p>
          </p:txBody>
        </p:sp>
        <p:sp>
          <p:nvSpPr>
            <p:cNvPr id="22" name="ARTICLE MRR-note">
              <a:extLst>
                <a:ext uri="{FF2B5EF4-FFF2-40B4-BE49-F238E27FC236}">
                  <a16:creationId xmlns:a16="http://schemas.microsoft.com/office/drawing/2014/main" id="{17CB93E4-3093-4C24-808C-3EA62722BD80}"/>
                </a:ext>
              </a:extLst>
            </p:cNvPr>
            <p:cNvSpPr/>
            <p:nvPr/>
          </p:nvSpPr>
          <p:spPr>
            <a:xfrm>
              <a:off x="4679999" y="3780000"/>
              <a:ext cx="2879997"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err="1">
                  <a:solidFill>
                    <a:srgbClr val="304554"/>
                  </a:solidFill>
                  <a:latin typeface="Arial"/>
                  <a:ea typeface="Arial"/>
                  <a:cs typeface="Arial"/>
                </a:rPr>
                <a:t>Reranker</a:t>
              </a:r>
              <a:r>
                <a:rPr sz="1050" b="1" dirty="0">
                  <a:solidFill>
                    <a:srgbClr val="304554"/>
                  </a:solidFill>
                  <a:latin typeface="Arial"/>
                  <a:ea typeface="Arial"/>
                  <a:cs typeface="Arial"/>
                </a:rPr>
                <a:t> </a:t>
              </a:r>
              <a:r>
                <a:rPr sz="1050" b="1" dirty="0" err="1">
                  <a:solidFill>
                    <a:srgbClr val="304554"/>
                  </a:solidFill>
                  <a:latin typeface="Arial"/>
                  <a:ea typeface="Arial"/>
                  <a:cs typeface="Arial"/>
                </a:rPr>
                <a:t>ordnet</a:t>
              </a:r>
              <a:r>
                <a:rPr sz="1050" b="1" dirty="0">
                  <a:solidFill>
                    <a:srgbClr val="304554"/>
                  </a:solidFill>
                  <a:latin typeface="Arial"/>
                  <a:ea typeface="Arial"/>
                  <a:cs typeface="Arial"/>
                </a:rPr>
                <a:t> Treffer am </a:t>
              </a:r>
              <a:r>
                <a:rPr sz="1050" b="1" dirty="0" err="1">
                  <a:solidFill>
                    <a:srgbClr val="304554"/>
                  </a:solidFill>
                  <a:latin typeface="Arial"/>
                  <a:ea typeface="Arial"/>
                  <a:cs typeface="Arial"/>
                </a:rPr>
                <a:t>besten</a:t>
              </a:r>
              <a:endParaRPr sz="1050" b="1" dirty="0">
                <a:solidFill>
                  <a:srgbClr val="304554"/>
                </a:solidFill>
                <a:latin typeface="Arial"/>
                <a:ea typeface="Arial"/>
                <a:cs typeface="Arial"/>
              </a:endParaRPr>
            </a:p>
          </p:txBody>
        </p:sp>
      </p:grpSp>
      <p:grpSp>
        <p:nvGrpSpPr>
          <p:cNvPr id="38" name="Gruppieren 37">
            <a:extLst>
              <a:ext uri="{FF2B5EF4-FFF2-40B4-BE49-F238E27FC236}">
                <a16:creationId xmlns:a16="http://schemas.microsoft.com/office/drawing/2014/main" id="{FD890A52-9E28-BD03-9461-B689DD2F4364}"/>
              </a:ext>
            </a:extLst>
          </p:cNvPr>
          <p:cNvGrpSpPr/>
          <p:nvPr/>
        </p:nvGrpSpPr>
        <p:grpSpPr>
          <a:xfrm>
            <a:off x="8100000" y="1980000"/>
            <a:ext cx="2880000" cy="2520000"/>
            <a:chOff x="7560000" y="1980000"/>
            <a:chExt cx="2880000" cy="2520000"/>
          </a:xfrm>
        </p:grpSpPr>
        <p:sp>
          <p:nvSpPr>
            <p:cNvPr id="23" name="Ø KONTEXT-TOKENS-label">
              <a:extLst>
                <a:ext uri="{FF2B5EF4-FFF2-40B4-BE49-F238E27FC236}">
                  <a16:creationId xmlns:a16="http://schemas.microsoft.com/office/drawing/2014/main" id="{55D09288-0EF6-4C48-BD66-8A8F092889F5}"/>
                </a:ext>
              </a:extLst>
            </p:cNvPr>
            <p:cNvSpPr/>
            <p:nvPr/>
          </p:nvSpPr>
          <p:spPr>
            <a:xfrm>
              <a:off x="7560000" y="1980000"/>
              <a:ext cx="2879995" cy="266700"/>
            </a:xfrm>
            <a:prstGeom prst="rect">
              <a:avLst/>
            </a:prstGeom>
            <a:noFill/>
            <a:ln w="0">
              <a:noFill/>
              <a:prstDash val="solid"/>
            </a:ln>
          </p:spPr>
          <p:txBody>
            <a:bodyPr anchor="t"/>
            <a:lstStyle/>
            <a:p>
              <a:pPr algn="ctr">
                <a:buNone/>
                <a:defRPr sz="1200" b="1">
                  <a:solidFill>
                    <a:srgbClr val="C9960F"/>
                  </a:solidFill>
                  <a:latin typeface="Arial"/>
                  <a:ea typeface="Arial"/>
                  <a:cs typeface="Arial"/>
                </a:defRPr>
              </a:pPr>
              <a:r>
                <a:rPr sz="1200" b="1" dirty="0">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p:nvPr/>
          </p:nvSpPr>
          <p:spPr>
            <a:xfrm>
              <a:off x="7560000" y="2340000"/>
              <a:ext cx="2880000" cy="2160000"/>
            </a:xfrm>
            <a:prstGeom prst="roundRect">
              <a:avLst>
                <a:gd name="adj" fmla="val 7660"/>
              </a:avLst>
            </a:prstGeom>
            <a:solidFill>
              <a:srgbClr val="EAE8E5"/>
            </a:solidFill>
            <a:ln w="11430">
              <a:solidFill>
                <a:srgbClr val="C3BBB2"/>
              </a:solidFill>
              <a:prstDash val="solid"/>
            </a:ln>
          </p:spPr>
          <p:txBody>
            <a:bodyPr/>
            <a:lstStyle/>
            <a:p>
              <a:endParaRPr/>
            </a:p>
          </p:txBody>
        </p:sp>
        <p:grpSp>
          <p:nvGrpSpPr>
            <p:cNvPr id="35" name="Gruppieren 34">
              <a:extLst>
                <a:ext uri="{FF2B5EF4-FFF2-40B4-BE49-F238E27FC236}">
                  <a16:creationId xmlns:a16="http://schemas.microsoft.com/office/drawing/2014/main" id="{39E951EB-21A8-3BCA-9924-A7A0B8E85324}"/>
                </a:ext>
              </a:extLst>
            </p:cNvPr>
            <p:cNvGrpSpPr/>
            <p:nvPr/>
          </p:nvGrpSpPr>
          <p:grpSpPr>
            <a:xfrm>
              <a:off x="7560000" y="2700000"/>
              <a:ext cx="1440000" cy="900000"/>
              <a:chOff x="7739999" y="2700000"/>
              <a:chExt cx="1260001" cy="948600"/>
            </a:xfrm>
          </p:grpSpPr>
          <p:sp>
            <p:nvSpPr>
              <p:cNvPr id="25" name="Ø KONTEXT-TOKENS-vector-label">
                <a:extLst>
                  <a:ext uri="{FF2B5EF4-FFF2-40B4-BE49-F238E27FC236}">
                    <a16:creationId xmlns:a16="http://schemas.microsoft.com/office/drawing/2014/main" id="{D47DBC2B-B2FA-49FF-B10A-1CA89217518E}"/>
                  </a:ext>
                </a:extLst>
              </p:cNvPr>
              <p:cNvSpPr/>
              <p:nvPr/>
            </p:nvSpPr>
            <p:spPr>
              <a:xfrm>
                <a:off x="7739999" y="2700000"/>
                <a:ext cx="1260000" cy="40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SEMANTIC</a:t>
                </a:r>
              </a:p>
            </p:txBody>
          </p:sp>
          <p:sp>
            <p:nvSpPr>
              <p:cNvPr id="26" name="Ø KONTEXT-TOKENS-vector">
                <a:extLst>
                  <a:ext uri="{FF2B5EF4-FFF2-40B4-BE49-F238E27FC236}">
                    <a16:creationId xmlns:a16="http://schemas.microsoft.com/office/drawing/2014/main" id="{B7396388-1560-49C3-9812-48B1D9941EE2}"/>
                  </a:ext>
                </a:extLst>
              </p:cNvPr>
              <p:cNvSpPr/>
              <p:nvPr/>
            </p:nvSpPr>
            <p:spPr>
              <a:xfrm>
                <a:off x="7740000" y="3108600"/>
                <a:ext cx="1260000" cy="54000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1 289</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892</a:t>
                </a:r>
              </a:p>
            </p:txBody>
          </p:sp>
        </p:grpSp>
        <p:grpSp>
          <p:nvGrpSpPr>
            <p:cNvPr id="37" name="Gruppieren 36">
              <a:extLst>
                <a:ext uri="{FF2B5EF4-FFF2-40B4-BE49-F238E27FC236}">
                  <a16:creationId xmlns:a16="http://schemas.microsoft.com/office/drawing/2014/main" id="{098DE64C-2F4B-878B-49E4-63A2EF9465C7}"/>
                </a:ext>
              </a:extLst>
            </p:cNvPr>
            <p:cNvGrpSpPr/>
            <p:nvPr/>
          </p:nvGrpSpPr>
          <p:grpSpPr>
            <a:xfrm>
              <a:off x="9000000" y="2700000"/>
              <a:ext cx="1440000" cy="900000"/>
              <a:chOff x="9359999" y="2700000"/>
              <a:chExt cx="1260001" cy="948600"/>
            </a:xfrm>
          </p:grpSpPr>
          <p:sp>
            <p:nvSpPr>
              <p:cNvPr id="27" name="Ø KONTEXT-TOKENS-graph-label">
                <a:extLst>
                  <a:ext uri="{FF2B5EF4-FFF2-40B4-BE49-F238E27FC236}">
                    <a16:creationId xmlns:a16="http://schemas.microsoft.com/office/drawing/2014/main" id="{5ADB093D-5CA8-470A-B582-671D3E476C43}"/>
                  </a:ext>
                </a:extLst>
              </p:cNvPr>
              <p:cNvSpPr/>
              <p:nvPr/>
            </p:nvSpPr>
            <p:spPr>
              <a:xfrm>
                <a:off x="9359999" y="2700000"/>
                <a:ext cx="1260000" cy="40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p:nvPr/>
            </p:nvSpPr>
            <p:spPr>
              <a:xfrm>
                <a:off x="9360000" y="3108600"/>
                <a:ext cx="1260000" cy="54000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dirty="0">
                    <a:solidFill>
                      <a:srgbClr val="4B9298"/>
                    </a:solidFill>
                    <a:latin typeface="Arial"/>
                    <a:ea typeface="Arial"/>
                    <a:cs typeface="Arial"/>
                  </a:rPr>
                  <a:t>923</a:t>
                </a:r>
              </a:p>
              <a:p>
                <a:pPr algn="ctr">
                  <a:buNone/>
                  <a:defRPr sz="1725" b="1">
                    <a:solidFill>
                      <a:srgbClr val="4B9298"/>
                    </a:solidFill>
                    <a:latin typeface="Arial"/>
                    <a:ea typeface="Arial"/>
                    <a:cs typeface="Arial"/>
                  </a:defRPr>
                </a:pPr>
                <a:r>
                  <a:rPr sz="1725" b="1" dirty="0">
                    <a:solidFill>
                      <a:srgbClr val="4B9298"/>
                    </a:solidFill>
                    <a:latin typeface="Arial"/>
                    <a:ea typeface="Arial"/>
                    <a:cs typeface="Arial"/>
                  </a:rPr>
                  <a:t>802</a:t>
                </a:r>
              </a:p>
            </p:txBody>
          </p:sp>
        </p:grpSp>
        <p:sp>
          <p:nvSpPr>
            <p:cNvPr id="29" name="Ø KONTEXT-TOKENS-divider">
              <a:extLst>
                <a:ext uri="{FF2B5EF4-FFF2-40B4-BE49-F238E27FC236}">
                  <a16:creationId xmlns:a16="http://schemas.microsoft.com/office/drawing/2014/main" id="{145BFBDE-E6FD-49B8-BBC5-524B55F1BA5C}"/>
                </a:ext>
              </a:extLst>
            </p:cNvPr>
            <p:cNvSpPr/>
            <p:nvPr/>
          </p:nvSpPr>
          <p:spPr>
            <a:xfrm>
              <a:off x="9000000" y="2700000"/>
              <a:ext cx="0" cy="952500"/>
            </a:xfrm>
            <a:prstGeom prst="line">
              <a:avLst/>
            </a:prstGeom>
            <a:ln w="11430">
              <a:solidFill>
                <a:srgbClr val="C3BBB2"/>
              </a:solidFill>
              <a:prstDash val="solid"/>
            </a:ln>
          </p:spPr>
          <p:txBody>
            <a:bodyPr/>
            <a:lstStyle/>
            <a:p>
              <a:endParaRPr/>
            </a:p>
          </p:txBody>
        </p:sp>
        <p:sp>
          <p:nvSpPr>
            <p:cNvPr id="30" name="Ø KONTEXT-TOKENS-note">
              <a:extLst>
                <a:ext uri="{FF2B5EF4-FFF2-40B4-BE49-F238E27FC236}">
                  <a16:creationId xmlns:a16="http://schemas.microsoft.com/office/drawing/2014/main" id="{4C16585F-8D37-419B-AAB3-5B9A97F84267}"/>
                </a:ext>
              </a:extLst>
            </p:cNvPr>
            <p:cNvSpPr/>
            <p:nvPr/>
          </p:nvSpPr>
          <p:spPr>
            <a:xfrm>
              <a:off x="7560000" y="3780000"/>
              <a:ext cx="2879995"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Graph: 10 % </a:t>
              </a:r>
              <a:r>
                <a:rPr sz="1050" b="1" dirty="0" err="1">
                  <a:solidFill>
                    <a:srgbClr val="304554"/>
                  </a:solidFill>
                  <a:latin typeface="Arial"/>
                  <a:ea typeface="Arial"/>
                  <a:cs typeface="Arial"/>
                </a:rPr>
                <a:t>weniger</a:t>
              </a:r>
              <a:r>
                <a:rPr sz="1050" b="1" dirty="0">
                  <a:solidFill>
                    <a:srgbClr val="304554"/>
                  </a:solidFill>
                  <a:latin typeface="Arial"/>
                  <a:ea typeface="Arial"/>
                  <a:cs typeface="Arial"/>
                </a:rPr>
                <a:t> </a:t>
              </a:r>
              <a:r>
                <a:rPr sz="1050" b="1" dirty="0" err="1">
                  <a:solidFill>
                    <a:srgbClr val="304554"/>
                  </a:solidFill>
                  <a:latin typeface="Arial"/>
                  <a:ea typeface="Arial"/>
                  <a:cs typeface="Arial"/>
                </a:rPr>
                <a:t>als</a:t>
              </a:r>
              <a:r>
                <a:rPr sz="1050" b="1" dirty="0">
                  <a:solidFill>
                    <a:srgbClr val="304554"/>
                  </a:solidFill>
                  <a:latin typeface="Arial"/>
                  <a:ea typeface="Arial"/>
                  <a:cs typeface="Arial"/>
                </a:rPr>
                <a:t> Semantic</a:t>
              </a:r>
            </a:p>
          </p:txBody>
        </p:sp>
      </p:grpSp>
      <p:sp>
        <p:nvSpPr>
          <p:cNvPr id="36" name="Titel 1">
            <a:extLst>
              <a:ext uri="{FF2B5EF4-FFF2-40B4-BE49-F238E27FC236}">
                <a16:creationId xmlns:a16="http://schemas.microsoft.com/office/drawing/2014/main" id="{C2C3951A-6174-5B25-11EA-FD430B5FD51F}"/>
              </a:ext>
            </a:extLst>
          </p:cNvPr>
          <p:cNvSpPr>
            <a:spLocks noGrp="1"/>
          </p:cNvSpPr>
          <p:nvPr>
            <p:ph type="title"/>
          </p:nvPr>
        </p:nvSpPr>
        <p:spPr>
          <a:xfrm>
            <a:off x="482461" y="346633"/>
            <a:ext cx="11230114" cy="767605"/>
          </a:xfrm>
        </p:spPr>
        <p:txBody>
          <a:bodyPr/>
          <a:lstStyle/>
          <a:p>
            <a:r>
              <a:rPr lang="de-DE" sz="3600" dirty="0" err="1"/>
              <a:t>GraphRAG</a:t>
            </a:r>
            <a:r>
              <a:rPr lang="de-DE" sz="3600" dirty="0"/>
              <a:t>: höchster </a:t>
            </a:r>
            <a:r>
              <a:rPr lang="de-DE" sz="3600" dirty="0" err="1"/>
              <a:t>Article</a:t>
            </a:r>
            <a:r>
              <a:rPr lang="de-DE" sz="3600" dirty="0"/>
              <a:t>-Recall, kleinster Kontext</a:t>
            </a:r>
            <a:endParaRPr lang="de-CH" sz="3600" dirty="0"/>
          </a:p>
        </p:txBody>
      </p:sp>
      <p:sp>
        <p:nvSpPr>
          <p:cNvPr id="32" name="answer-takeaway">
            <a:extLst>
              <a:ext uri="{FF2B5EF4-FFF2-40B4-BE49-F238E27FC236}">
                <a16:creationId xmlns:a16="http://schemas.microsoft.com/office/drawing/2014/main" id="{3376AB4E-6BA1-5ED0-2685-40CC6EAA7E88}"/>
              </a:ext>
            </a:extLst>
          </p:cNvPr>
          <p:cNvSpPr/>
          <p:nvPr/>
        </p:nvSpPr>
        <p:spPr>
          <a:xfrm>
            <a:off x="1080000" y="5220000"/>
            <a:ext cx="9900000" cy="540000"/>
          </a:xfrm>
          <a:prstGeom prst="roundRect">
            <a:avLst>
              <a:gd name="adj" fmla="val 24194"/>
            </a:avLst>
          </a:prstGeom>
          <a:solidFill>
            <a:srgbClr val="2D3F4B"/>
          </a:solidFill>
          <a:ln w="0">
            <a:solidFill>
              <a:srgbClr val="2D3F4B"/>
            </a:solidFill>
            <a:prstDash val="solid"/>
          </a:ln>
        </p:spPr>
        <p:txBody>
          <a:bodyPr anchor="ctr"/>
          <a:lstStyle/>
          <a:p>
            <a:pPr algn="ctr"/>
            <a:r>
              <a:rPr lang="de-DE" sz="1600" b="1" dirty="0">
                <a:solidFill>
                  <a:srgbClr val="FFFFFF"/>
                </a:solidFill>
                <a:ea typeface="Arial"/>
                <a:cs typeface="Arial"/>
              </a:rPr>
              <a:t>Retrieval ≠ Antwortqualität: Der richtige Artikel muss im Kontext sein – und korrekt genutzt werden.</a:t>
            </a:r>
          </a:p>
        </p:txBody>
      </p:sp>
    </p:spTree>
    <p:extLst>
      <p:ext uri="{BB962C8B-B14F-4D97-AF65-F5344CB8AC3E}">
        <p14:creationId xmlns:p14="http://schemas.microsoft.com/office/powerpoint/2010/main" val="109984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itel 1"/>
          <p:cNvSpPr>
            <a:spLocks noGrp="1"/>
          </p:cNvSpPr>
          <p:nvPr>
            <p:ph type="title"/>
          </p:nvPr>
        </p:nvSpPr>
        <p:spPr>
          <a:xfrm>
            <a:off x="482461" y="346633"/>
            <a:ext cx="11230114" cy="767605"/>
          </a:xfrm>
        </p:spPr>
        <p:txBody>
          <a:bodyPr/>
          <a:lstStyle/>
          <a:p>
            <a:r>
              <a:rPr lang="de-CH" sz="2800" dirty="0"/>
              <a:t>Besseres Retrieval verbessert Antworten – garantiert sie aber nicht</a:t>
            </a:r>
          </a:p>
        </p:txBody>
      </p:sp>
      <p:sp>
        <p:nvSpPr>
          <p:cNvPr id="4" name="slide-subtitle">
            <a:extLst>
              <a:ext uri="{FF2B5EF4-FFF2-40B4-BE49-F238E27FC236}">
                <a16:creationId xmlns:a16="http://schemas.microsoft.com/office/drawing/2014/main" id="{4E8CE74E-69E1-4652-A334-2E118021F7D4}"/>
              </a:ext>
            </a:extLst>
          </p:cNvPr>
          <p:cNvSpPr/>
          <p:nvPr/>
        </p:nvSpPr>
        <p:spPr>
          <a:xfrm>
            <a:off x="540000" y="1440000"/>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lang="de-DE" sz="1650" b="1" dirty="0">
                <a:solidFill>
                  <a:srgbClr val="2D3F4B"/>
                </a:solidFill>
                <a:latin typeface="Arial"/>
                <a:ea typeface="Arial"/>
                <a:cs typeface="Arial"/>
              </a:rPr>
              <a:t>Faktenabdeckung</a:t>
            </a:r>
            <a:r>
              <a:rPr sz="1650" b="0" dirty="0">
                <a:solidFill>
                  <a:srgbClr val="81725E"/>
                </a:solidFill>
                <a:latin typeface="Arial"/>
                <a:ea typeface="Arial"/>
                <a:cs typeface="Arial"/>
              </a:rPr>
              <a:t> </a:t>
            </a:r>
            <a:r>
              <a:rPr sz="1650" b="0" dirty="0">
                <a:solidFill>
                  <a:schemeClr val="accent3"/>
                </a:solidFill>
                <a:latin typeface="Arial"/>
                <a:ea typeface="Arial"/>
                <a:cs typeface="Arial"/>
              </a:rPr>
              <a:t>und</a:t>
            </a:r>
            <a:r>
              <a:rPr sz="1650" b="0" dirty="0">
                <a:solidFill>
                  <a:srgbClr val="81725E"/>
                </a:solidFill>
                <a:latin typeface="Arial"/>
                <a:ea typeface="Arial"/>
                <a:cs typeface="Arial"/>
              </a:rPr>
              <a:t> </a:t>
            </a:r>
            <a:r>
              <a:rPr sz="1650" b="1" dirty="0" err="1">
                <a:solidFill>
                  <a:schemeClr val="accent5"/>
                </a:solidFill>
                <a:latin typeface="Arial"/>
                <a:ea typeface="Arial"/>
                <a:cs typeface="Arial"/>
              </a:rPr>
              <a:t>Zitationsvollständigkeit</a:t>
            </a:r>
            <a:r>
              <a:rPr sz="1650" b="0" dirty="0">
                <a:solidFill>
                  <a:srgbClr val="81725E"/>
                </a:solidFill>
                <a:latin typeface="Arial"/>
                <a:ea typeface="Arial"/>
                <a:cs typeface="Arial"/>
              </a:rPr>
              <a:t> </a:t>
            </a:r>
            <a:r>
              <a:rPr sz="1650" b="0" dirty="0" err="1">
                <a:solidFill>
                  <a:srgbClr val="81725E"/>
                </a:solidFill>
                <a:latin typeface="Arial"/>
                <a:ea typeface="Arial"/>
                <a:cs typeface="Arial"/>
              </a:rPr>
              <a:t>bleiben</a:t>
            </a:r>
            <a:r>
              <a:rPr sz="1650" b="0" dirty="0">
                <a:solidFill>
                  <a:srgbClr val="81725E"/>
                </a:solidFill>
                <a:latin typeface="Arial"/>
                <a:ea typeface="Arial"/>
                <a:cs typeface="Arial"/>
              </a:rPr>
              <a:t> </a:t>
            </a:r>
            <a:r>
              <a:rPr sz="1650" b="0" dirty="0" err="1">
                <a:solidFill>
                  <a:srgbClr val="81725E"/>
                </a:solidFill>
                <a:latin typeface="Arial"/>
                <a:ea typeface="Arial"/>
                <a:cs typeface="Arial"/>
              </a:rPr>
              <a:t>vom</a:t>
            </a:r>
            <a:r>
              <a:rPr sz="1650" b="0" dirty="0">
                <a:solidFill>
                  <a:srgbClr val="81725E"/>
                </a:solidFill>
                <a:latin typeface="Arial"/>
                <a:ea typeface="Arial"/>
                <a:cs typeface="Arial"/>
              </a:rPr>
              <a:t> </a:t>
            </a:r>
            <a:r>
              <a:rPr sz="1650" b="0" dirty="0" err="1">
                <a:solidFill>
                  <a:srgbClr val="81725E"/>
                </a:solidFill>
                <a:latin typeface="Arial"/>
                <a:ea typeface="Arial"/>
                <a:cs typeface="Arial"/>
              </a:rPr>
              <a:t>generierenden</a:t>
            </a:r>
            <a:r>
              <a:rPr sz="1650" b="0" dirty="0">
                <a:solidFill>
                  <a:srgbClr val="81725E"/>
                </a:solidFill>
                <a:latin typeface="Arial"/>
                <a:ea typeface="Arial"/>
                <a:cs typeface="Arial"/>
              </a:rPr>
              <a:t> Modell </a:t>
            </a:r>
            <a:r>
              <a:rPr sz="1650" b="0" dirty="0" err="1">
                <a:solidFill>
                  <a:srgbClr val="81725E"/>
                </a:solidFill>
                <a:latin typeface="Arial"/>
                <a:ea typeface="Arial"/>
                <a:cs typeface="Arial"/>
              </a:rPr>
              <a:t>abhängig</a:t>
            </a:r>
            <a:r>
              <a:rPr sz="1650" b="0" dirty="0">
                <a:solidFill>
                  <a:srgbClr val="81725E"/>
                </a:solidFill>
                <a:latin typeface="Arial"/>
                <a:ea typeface="Arial"/>
                <a:cs typeface="Arial"/>
              </a:rPr>
              <a:t>.</a:t>
            </a:r>
          </a:p>
        </p:txBody>
      </p:sp>
      <p:sp>
        <p:nvSpPr>
          <p:cNvPr id="5" name="page-number">
            <a:extLst>
              <a:ext uri="{FF2B5EF4-FFF2-40B4-BE49-F238E27FC236}">
                <a16:creationId xmlns:a16="http://schemas.microsoft.com/office/drawing/2014/main" id="{6F5DB894-47F0-45EE-961A-FA84C16F5063}"/>
              </a:ext>
            </a:extLst>
          </p:cNvPr>
          <p:cNvSpPr/>
          <p:nvPr/>
        </p:nvSpPr>
        <p:spPr>
          <a:xfrm>
            <a:off x="540000" y="6300000"/>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p:nvPr/>
        </p:nvSpPr>
        <p:spPr>
          <a:xfrm>
            <a:off x="900000" y="6300000"/>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p:nvPr/>
        </p:nvSpPr>
        <p:spPr>
          <a:xfrm>
            <a:off x="5871075" y="1951837"/>
            <a:ext cx="1238250" cy="340950"/>
          </a:xfrm>
          <a:prstGeom prst="rect">
            <a:avLst/>
          </a:prstGeom>
          <a:noFill/>
          <a:ln w="0">
            <a:noFill/>
            <a:prstDash val="solid"/>
          </a:ln>
        </p:spPr>
        <p:txBody>
          <a:bodyPr anchor="t"/>
          <a:lstStyle/>
          <a:p>
            <a:pPr algn="ctr">
              <a:buNone/>
              <a:defRPr sz="900" b="1">
                <a:solidFill>
                  <a:srgbClr val="304554"/>
                </a:solidFill>
                <a:latin typeface="Arial"/>
                <a:ea typeface="Arial"/>
                <a:cs typeface="Arial"/>
              </a:defRPr>
            </a:pPr>
            <a:r>
              <a:rPr sz="1600" b="1" dirty="0">
                <a:solidFill>
                  <a:srgbClr val="304554"/>
                </a:solidFill>
                <a:latin typeface="Arial"/>
                <a:ea typeface="Arial"/>
                <a:cs typeface="Arial"/>
              </a:rPr>
              <a:t>FAKTEN</a:t>
            </a:r>
          </a:p>
        </p:txBody>
      </p:sp>
      <p:sp>
        <p:nvSpPr>
          <p:cNvPr id="8" name="graph-legend">
            <a:extLst>
              <a:ext uri="{FF2B5EF4-FFF2-40B4-BE49-F238E27FC236}">
                <a16:creationId xmlns:a16="http://schemas.microsoft.com/office/drawing/2014/main" id="{182E2D9D-9544-42BF-B9FE-8FA6D5B68094}"/>
              </a:ext>
            </a:extLst>
          </p:cNvPr>
          <p:cNvSpPr/>
          <p:nvPr/>
        </p:nvSpPr>
        <p:spPr>
          <a:xfrm>
            <a:off x="9291075" y="1951837"/>
            <a:ext cx="1238250" cy="340950"/>
          </a:xfrm>
          <a:prstGeom prst="rect">
            <a:avLst/>
          </a:prstGeom>
          <a:noFill/>
          <a:ln w="0">
            <a:noFill/>
            <a:prstDash val="solid"/>
          </a:ln>
        </p:spPr>
        <p:txBody>
          <a:bodyPr anchor="t"/>
          <a:lstStyle/>
          <a:p>
            <a:pPr algn="ctr">
              <a:buNone/>
              <a:defRPr sz="900" b="1">
                <a:solidFill>
                  <a:srgbClr val="4B9298"/>
                </a:solidFill>
                <a:latin typeface="Arial"/>
                <a:ea typeface="Arial"/>
                <a:cs typeface="Arial"/>
              </a:defRPr>
            </a:pPr>
            <a:r>
              <a:rPr sz="1600" b="1">
                <a:solidFill>
                  <a:srgbClr val="4B9298"/>
                </a:solidFill>
                <a:latin typeface="Arial"/>
                <a:ea typeface="Arial"/>
                <a:cs typeface="Arial"/>
              </a:rPr>
              <a:t>ZITATE</a:t>
            </a:r>
          </a:p>
        </p:txBody>
      </p:sp>
      <p:sp>
        <p:nvSpPr>
          <p:cNvPr id="9" name="answer-label-0">
            <a:extLst>
              <a:ext uri="{FF2B5EF4-FFF2-40B4-BE49-F238E27FC236}">
                <a16:creationId xmlns:a16="http://schemas.microsoft.com/office/drawing/2014/main" id="{F644021E-4EA3-4333-B6C6-71447EA970FD}"/>
              </a:ext>
            </a:extLst>
          </p:cNvPr>
          <p:cNvSpPr/>
          <p:nvPr/>
        </p:nvSpPr>
        <p:spPr>
          <a:xfrm>
            <a:off x="720000" y="2339999"/>
            <a:ext cx="2381250" cy="361949"/>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600" b="1" dirty="0">
                <a:solidFill>
                  <a:srgbClr val="304554"/>
                </a:solidFill>
                <a:latin typeface="Arial"/>
                <a:ea typeface="Arial"/>
                <a:cs typeface="Arial"/>
              </a:rPr>
              <a:t>FIXED VECTOR</a:t>
            </a:r>
          </a:p>
        </p:txBody>
      </p:sp>
      <p:sp>
        <p:nvSpPr>
          <p:cNvPr id="10" name="answer-track-0">
            <a:extLst>
              <a:ext uri="{FF2B5EF4-FFF2-40B4-BE49-F238E27FC236}">
                <a16:creationId xmlns:a16="http://schemas.microsoft.com/office/drawing/2014/main" id="{CD52C4E7-8EAC-4232-B810-8D9CE953E96F}"/>
              </a:ext>
            </a:extLst>
          </p:cNvPr>
          <p:cNvSpPr/>
          <p:nvPr/>
        </p:nvSpPr>
        <p:spPr>
          <a:xfrm>
            <a:off x="3420000" y="234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1" name="answer-vector-0">
            <a:extLst>
              <a:ext uri="{FF2B5EF4-FFF2-40B4-BE49-F238E27FC236}">
                <a16:creationId xmlns:a16="http://schemas.microsoft.com/office/drawing/2014/main" id="{D815D55A-0D7C-44A8-AA50-EC90B2002923}"/>
              </a:ext>
            </a:extLst>
          </p:cNvPr>
          <p:cNvSpPr/>
          <p:nvPr/>
        </p:nvSpPr>
        <p:spPr>
          <a:xfrm>
            <a:off x="3420000" y="2340000"/>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2" name="answer-graph-0">
            <a:extLst>
              <a:ext uri="{FF2B5EF4-FFF2-40B4-BE49-F238E27FC236}">
                <a16:creationId xmlns:a16="http://schemas.microsoft.com/office/drawing/2014/main" id="{BB53964E-818F-4DC4-AE34-6E8EDDF08C88}"/>
              </a:ext>
            </a:extLst>
          </p:cNvPr>
          <p:cNvSpPr/>
          <p:nvPr/>
        </p:nvSpPr>
        <p:spPr>
          <a:xfrm>
            <a:off x="3420000" y="2520000"/>
            <a:ext cx="268033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3" name="answer-vector-value-0">
            <a:extLst>
              <a:ext uri="{FF2B5EF4-FFF2-40B4-BE49-F238E27FC236}">
                <a16:creationId xmlns:a16="http://schemas.microsoft.com/office/drawing/2014/main" id="{15FC6A3E-1FB8-4F11-8DDF-D10B06C1F5D8}"/>
              </a:ext>
            </a:extLst>
          </p:cNvPr>
          <p:cNvSpPr/>
          <p:nvPr/>
        </p:nvSpPr>
        <p:spPr>
          <a:xfrm>
            <a:off x="5940000" y="2340000"/>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61 %</a:t>
            </a:r>
          </a:p>
        </p:txBody>
      </p:sp>
      <p:sp>
        <p:nvSpPr>
          <p:cNvPr id="14" name="answer-graph-value-0">
            <a:extLst>
              <a:ext uri="{FF2B5EF4-FFF2-40B4-BE49-F238E27FC236}">
                <a16:creationId xmlns:a16="http://schemas.microsoft.com/office/drawing/2014/main" id="{5B66303E-CD5B-4104-9851-08AF5483B83C}"/>
              </a:ext>
            </a:extLst>
          </p:cNvPr>
          <p:cNvSpPr/>
          <p:nvPr/>
        </p:nvSpPr>
        <p:spPr>
          <a:xfrm>
            <a:off x="9360000" y="2340000"/>
            <a:ext cx="1238250" cy="3619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15" name="answer-label-1">
            <a:extLst>
              <a:ext uri="{FF2B5EF4-FFF2-40B4-BE49-F238E27FC236}">
                <a16:creationId xmlns:a16="http://schemas.microsoft.com/office/drawing/2014/main" id="{5D2739FB-2E39-4684-8ABD-8687D59B98F9}"/>
              </a:ext>
            </a:extLst>
          </p:cNvPr>
          <p:cNvSpPr/>
          <p:nvPr/>
        </p:nvSpPr>
        <p:spPr>
          <a:xfrm>
            <a:off x="720000" y="3059999"/>
            <a:ext cx="2381250" cy="361949"/>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600" b="1">
                <a:solidFill>
                  <a:srgbClr val="304554"/>
                </a:solidFill>
                <a:latin typeface="Arial"/>
                <a:ea typeface="Arial"/>
                <a:cs typeface="Arial"/>
              </a:rPr>
              <a:t>SEMANTIC VECTOR</a:t>
            </a:r>
          </a:p>
        </p:txBody>
      </p:sp>
      <p:sp>
        <p:nvSpPr>
          <p:cNvPr id="16" name="answer-track-1">
            <a:extLst>
              <a:ext uri="{FF2B5EF4-FFF2-40B4-BE49-F238E27FC236}">
                <a16:creationId xmlns:a16="http://schemas.microsoft.com/office/drawing/2014/main" id="{0E22B5BF-ED28-4C12-844F-DF49548A172A}"/>
              </a:ext>
            </a:extLst>
          </p:cNvPr>
          <p:cNvSpPr/>
          <p:nvPr/>
        </p:nvSpPr>
        <p:spPr>
          <a:xfrm>
            <a:off x="3420000" y="306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7" name="answer-vector-1">
            <a:extLst>
              <a:ext uri="{FF2B5EF4-FFF2-40B4-BE49-F238E27FC236}">
                <a16:creationId xmlns:a16="http://schemas.microsoft.com/office/drawing/2014/main" id="{7F4BC1FE-F1FA-4BE2-AD4B-4FA5DD6F8674}"/>
              </a:ext>
            </a:extLst>
          </p:cNvPr>
          <p:cNvSpPr/>
          <p:nvPr/>
        </p:nvSpPr>
        <p:spPr>
          <a:xfrm>
            <a:off x="3420000" y="3060000"/>
            <a:ext cx="154876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8" name="answer-graph-1">
            <a:extLst>
              <a:ext uri="{FF2B5EF4-FFF2-40B4-BE49-F238E27FC236}">
                <a16:creationId xmlns:a16="http://schemas.microsoft.com/office/drawing/2014/main" id="{4AE258E7-C0C6-4ABC-B2D2-F8CB86EBBE56}"/>
              </a:ext>
            </a:extLst>
          </p:cNvPr>
          <p:cNvSpPr/>
          <p:nvPr/>
        </p:nvSpPr>
        <p:spPr>
          <a:xfrm>
            <a:off x="3420000" y="3240000"/>
            <a:ext cx="113157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9" name="answer-vector-value-1">
            <a:extLst>
              <a:ext uri="{FF2B5EF4-FFF2-40B4-BE49-F238E27FC236}">
                <a16:creationId xmlns:a16="http://schemas.microsoft.com/office/drawing/2014/main" id="{14483468-A4B8-4F79-A663-AE547265F0BD}"/>
              </a:ext>
            </a:extLst>
          </p:cNvPr>
          <p:cNvSpPr/>
          <p:nvPr/>
        </p:nvSpPr>
        <p:spPr>
          <a:xfrm>
            <a:off x="5940000" y="3060000"/>
            <a:ext cx="1238250" cy="2667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31 %</a:t>
            </a:r>
          </a:p>
        </p:txBody>
      </p:sp>
      <p:sp>
        <p:nvSpPr>
          <p:cNvPr id="20" name="answer-graph-value-1">
            <a:extLst>
              <a:ext uri="{FF2B5EF4-FFF2-40B4-BE49-F238E27FC236}">
                <a16:creationId xmlns:a16="http://schemas.microsoft.com/office/drawing/2014/main" id="{7F61F969-D311-4122-B5D0-77EEBB5FF900}"/>
              </a:ext>
            </a:extLst>
          </p:cNvPr>
          <p:cNvSpPr/>
          <p:nvPr/>
        </p:nvSpPr>
        <p:spPr>
          <a:xfrm>
            <a:off x="9360000" y="3060000"/>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21" name="answer-label-2">
            <a:extLst>
              <a:ext uri="{FF2B5EF4-FFF2-40B4-BE49-F238E27FC236}">
                <a16:creationId xmlns:a16="http://schemas.microsoft.com/office/drawing/2014/main" id="{D328B61F-A548-4C86-905D-BCC6969EEF3F}"/>
              </a:ext>
            </a:extLst>
          </p:cNvPr>
          <p:cNvSpPr/>
          <p:nvPr/>
        </p:nvSpPr>
        <p:spPr>
          <a:xfrm>
            <a:off x="720000" y="3779999"/>
            <a:ext cx="2381250" cy="361949"/>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600" b="1">
                <a:solidFill>
                  <a:srgbClr val="304554"/>
                </a:solidFill>
                <a:latin typeface="Arial"/>
                <a:ea typeface="Arial"/>
                <a:cs typeface="Arial"/>
              </a:rPr>
              <a:t>RERANK</a:t>
            </a:r>
          </a:p>
        </p:txBody>
      </p:sp>
      <p:sp>
        <p:nvSpPr>
          <p:cNvPr id="22" name="answer-track-2">
            <a:extLst>
              <a:ext uri="{FF2B5EF4-FFF2-40B4-BE49-F238E27FC236}">
                <a16:creationId xmlns:a16="http://schemas.microsoft.com/office/drawing/2014/main" id="{29E716F6-82C1-4CF3-94ED-DD12A5CFC24D}"/>
              </a:ext>
            </a:extLst>
          </p:cNvPr>
          <p:cNvSpPr/>
          <p:nvPr/>
        </p:nvSpPr>
        <p:spPr>
          <a:xfrm>
            <a:off x="3420000" y="378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3" name="answer-vector-2">
            <a:extLst>
              <a:ext uri="{FF2B5EF4-FFF2-40B4-BE49-F238E27FC236}">
                <a16:creationId xmlns:a16="http://schemas.microsoft.com/office/drawing/2014/main" id="{C7FE44CB-CE2E-4AB9-8B83-B7CDCB1FF94B}"/>
              </a:ext>
            </a:extLst>
          </p:cNvPr>
          <p:cNvSpPr/>
          <p:nvPr/>
        </p:nvSpPr>
        <p:spPr>
          <a:xfrm>
            <a:off x="3420000" y="3780000"/>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24" name="answer-graph-2">
            <a:extLst>
              <a:ext uri="{FF2B5EF4-FFF2-40B4-BE49-F238E27FC236}">
                <a16:creationId xmlns:a16="http://schemas.microsoft.com/office/drawing/2014/main" id="{745C60FD-E4CA-48A4-A1ED-078A87DF842E}"/>
              </a:ext>
            </a:extLst>
          </p:cNvPr>
          <p:cNvSpPr/>
          <p:nvPr/>
        </p:nvSpPr>
        <p:spPr>
          <a:xfrm>
            <a:off x="3420000" y="3960000"/>
            <a:ext cx="226314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25" name="answer-vector-value-2">
            <a:extLst>
              <a:ext uri="{FF2B5EF4-FFF2-40B4-BE49-F238E27FC236}">
                <a16:creationId xmlns:a16="http://schemas.microsoft.com/office/drawing/2014/main" id="{4D669E4F-7E72-4113-85F1-5B8620FC673A}"/>
              </a:ext>
            </a:extLst>
          </p:cNvPr>
          <p:cNvSpPr/>
          <p:nvPr/>
        </p:nvSpPr>
        <p:spPr>
          <a:xfrm>
            <a:off x="5940000" y="3780000"/>
            <a:ext cx="1238250" cy="3238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46 %</a:t>
            </a:r>
          </a:p>
        </p:txBody>
      </p:sp>
      <p:sp>
        <p:nvSpPr>
          <p:cNvPr id="26" name="answer-graph-value-2">
            <a:extLst>
              <a:ext uri="{FF2B5EF4-FFF2-40B4-BE49-F238E27FC236}">
                <a16:creationId xmlns:a16="http://schemas.microsoft.com/office/drawing/2014/main" id="{4104BA02-0CB7-4307-83BC-5DC51EADA8F7}"/>
              </a:ext>
            </a:extLst>
          </p:cNvPr>
          <p:cNvSpPr/>
          <p:nvPr/>
        </p:nvSpPr>
        <p:spPr>
          <a:xfrm>
            <a:off x="9360000" y="3780000"/>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67 %</a:t>
            </a:r>
          </a:p>
        </p:txBody>
      </p:sp>
      <p:sp>
        <p:nvSpPr>
          <p:cNvPr id="27" name="answer-label-3">
            <a:extLst>
              <a:ext uri="{FF2B5EF4-FFF2-40B4-BE49-F238E27FC236}">
                <a16:creationId xmlns:a16="http://schemas.microsoft.com/office/drawing/2014/main" id="{76AFE1D7-C283-4335-8E11-05DE644D4A08}"/>
              </a:ext>
            </a:extLst>
          </p:cNvPr>
          <p:cNvSpPr/>
          <p:nvPr/>
        </p:nvSpPr>
        <p:spPr>
          <a:xfrm>
            <a:off x="720000" y="4499999"/>
            <a:ext cx="2381250" cy="361949"/>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600" b="1">
                <a:solidFill>
                  <a:srgbClr val="304554"/>
                </a:solidFill>
                <a:latin typeface="Arial"/>
                <a:ea typeface="Arial"/>
                <a:cs typeface="Arial"/>
              </a:rPr>
              <a:t>GRAPH</a:t>
            </a:r>
          </a:p>
        </p:txBody>
      </p:sp>
      <p:sp>
        <p:nvSpPr>
          <p:cNvPr id="28" name="answer-track-3">
            <a:extLst>
              <a:ext uri="{FF2B5EF4-FFF2-40B4-BE49-F238E27FC236}">
                <a16:creationId xmlns:a16="http://schemas.microsoft.com/office/drawing/2014/main" id="{89582727-F40A-4A51-BB3A-0AE3BE8B8D07}"/>
              </a:ext>
            </a:extLst>
          </p:cNvPr>
          <p:cNvSpPr/>
          <p:nvPr/>
        </p:nvSpPr>
        <p:spPr>
          <a:xfrm>
            <a:off x="3420000" y="450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9" name="answer-vector-3">
            <a:extLst>
              <a:ext uri="{FF2B5EF4-FFF2-40B4-BE49-F238E27FC236}">
                <a16:creationId xmlns:a16="http://schemas.microsoft.com/office/drawing/2014/main" id="{ED35D6E3-1C58-4383-9FDA-E579FEF736CC}"/>
              </a:ext>
            </a:extLst>
          </p:cNvPr>
          <p:cNvSpPr/>
          <p:nvPr/>
        </p:nvSpPr>
        <p:spPr>
          <a:xfrm>
            <a:off x="3420000" y="4500000"/>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30" name="answer-graph-3">
            <a:extLst>
              <a:ext uri="{FF2B5EF4-FFF2-40B4-BE49-F238E27FC236}">
                <a16:creationId xmlns:a16="http://schemas.microsoft.com/office/drawing/2014/main" id="{E0D3BA54-4C52-486E-AE48-EF82B2146E4C}"/>
              </a:ext>
            </a:extLst>
          </p:cNvPr>
          <p:cNvSpPr/>
          <p:nvPr/>
        </p:nvSpPr>
        <p:spPr>
          <a:xfrm>
            <a:off x="3420000" y="4680000"/>
            <a:ext cx="214312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31" name="answer-vector-value-3">
            <a:extLst>
              <a:ext uri="{FF2B5EF4-FFF2-40B4-BE49-F238E27FC236}">
                <a16:creationId xmlns:a16="http://schemas.microsoft.com/office/drawing/2014/main" id="{22847C93-13B2-4FCD-884C-339530532C0C}"/>
              </a:ext>
            </a:extLst>
          </p:cNvPr>
          <p:cNvSpPr/>
          <p:nvPr/>
        </p:nvSpPr>
        <p:spPr>
          <a:xfrm>
            <a:off x="5940000" y="4500000"/>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56 %</a:t>
            </a:r>
          </a:p>
        </p:txBody>
      </p:sp>
      <p:sp>
        <p:nvSpPr>
          <p:cNvPr id="32" name="answer-graph-value-3">
            <a:extLst>
              <a:ext uri="{FF2B5EF4-FFF2-40B4-BE49-F238E27FC236}">
                <a16:creationId xmlns:a16="http://schemas.microsoft.com/office/drawing/2014/main" id="{3B732BA7-C587-498C-9592-C4835650E0B4}"/>
              </a:ext>
            </a:extLst>
          </p:cNvPr>
          <p:cNvSpPr/>
          <p:nvPr/>
        </p:nvSpPr>
        <p:spPr>
          <a:xfrm>
            <a:off x="9360000" y="4500000"/>
            <a:ext cx="1238250" cy="3238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a:solidFill>
                  <a:srgbClr val="4B9298"/>
                </a:solidFill>
                <a:latin typeface="Arial"/>
                <a:ea typeface="Arial"/>
                <a:cs typeface="Arial"/>
              </a:rPr>
              <a:t>67 %</a:t>
            </a:r>
          </a:p>
        </p:txBody>
      </p:sp>
      <p:sp>
        <p:nvSpPr>
          <p:cNvPr id="33" name="answer-takeaway">
            <a:extLst>
              <a:ext uri="{FF2B5EF4-FFF2-40B4-BE49-F238E27FC236}">
                <a16:creationId xmlns:a16="http://schemas.microsoft.com/office/drawing/2014/main" id="{2AA0DE22-934A-4C0E-96FA-E40C29FEBB03}"/>
              </a:ext>
            </a:extLst>
          </p:cNvPr>
          <p:cNvSpPr/>
          <p:nvPr/>
        </p:nvSpPr>
        <p:spPr>
          <a:xfrm>
            <a:off x="1080000" y="5220000"/>
            <a:ext cx="9900000" cy="540000"/>
          </a:xfrm>
          <a:prstGeom prst="roundRect">
            <a:avLst>
              <a:gd name="adj" fmla="val 24194"/>
            </a:avLst>
          </a:prstGeom>
          <a:solidFill>
            <a:srgbClr val="2D3F4B"/>
          </a:solidFill>
          <a:ln w="0">
            <a:solidFill>
              <a:srgbClr val="2D3F4B"/>
            </a:solidFill>
            <a:prstDash val="solid"/>
          </a:ln>
        </p:spPr>
        <p:txBody>
          <a:bodyPr anchor="ctr"/>
          <a:lstStyle/>
          <a:p>
            <a:pPr algn="ctr"/>
            <a:r>
              <a:rPr lang="de-DE" sz="1600" b="1" dirty="0">
                <a:solidFill>
                  <a:srgbClr val="FFFFFF"/>
                </a:solidFill>
                <a:ea typeface="Arial"/>
                <a:cs typeface="Arial"/>
              </a:rPr>
              <a:t>Graph maximiert den Recall · Antwortqualität bleibt ein eigener Prüfschritt</a:t>
            </a:r>
          </a:p>
        </p:txBody>
      </p:sp>
    </p:spTree>
    <p:extLst>
      <p:ext uri="{BB962C8B-B14F-4D97-AF65-F5344CB8AC3E}">
        <p14:creationId xmlns:p14="http://schemas.microsoft.com/office/powerpoint/2010/main" val="1197368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Titel 1"/>
          <p:cNvSpPr>
            <a:spLocks noGrp="1"/>
          </p:cNvSpPr>
          <p:nvPr>
            <p:ph type="title"/>
          </p:nvPr>
        </p:nvSpPr>
        <p:spPr>
          <a:xfrm>
            <a:off x="482461" y="346633"/>
            <a:ext cx="11230114" cy="767605"/>
          </a:xfrm>
        </p:spPr>
        <p:txBody>
          <a:bodyPr/>
          <a:lstStyle/>
          <a:p>
            <a:r>
              <a:rPr lang="de-CH" sz="3600" dirty="0"/>
              <a:t>Wahlmodul: Drei Gruppen, ein gemeinsamer Befund</a:t>
            </a:r>
          </a:p>
        </p:txBody>
      </p:sp>
      <p:sp>
        <p:nvSpPr>
          <p:cNvPr id="4" name="slide-subtitle">
            <a:extLst>
              <a:ext uri="{FF2B5EF4-FFF2-40B4-BE49-F238E27FC236}">
                <a16:creationId xmlns:a16="http://schemas.microsoft.com/office/drawing/2014/main" id="{70ADD6C2-1AC9-4217-B4C9-AF01182573B5}"/>
              </a:ext>
            </a:extLst>
          </p:cNvPr>
          <p:cNvSpPr/>
          <p:nvPr/>
        </p:nvSpPr>
        <p:spPr>
          <a:xfrm>
            <a:off x="540000" y="1440000"/>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p:nvPr/>
        </p:nvSpPr>
        <p:spPr>
          <a:xfrm>
            <a:off x="5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p:nvPr/>
        </p:nvSpPr>
        <p:spPr>
          <a:xfrm>
            <a:off x="720000" y="2340000"/>
            <a:ext cx="540000" cy="54000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p:nvPr/>
        </p:nvSpPr>
        <p:spPr>
          <a:xfrm>
            <a:off x="1440000" y="23400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p:nvPr/>
        </p:nvSpPr>
        <p:spPr>
          <a:xfrm>
            <a:off x="720000" y="3060000"/>
            <a:ext cx="2905125" cy="428625"/>
          </a:xfrm>
          <a:prstGeom prst="roundRect">
            <a:avLst>
              <a:gd name="adj" fmla="val 22222"/>
            </a:avLst>
          </a:prstGeom>
          <a:solidFill>
            <a:srgbClr val="2D3F4B"/>
          </a:solidFill>
          <a:ln w="0">
            <a:solidFill>
              <a:srgbClr val="2D3F4B"/>
            </a:solidFill>
            <a:prstDash val="solid"/>
          </a:ln>
        </p:spPr>
        <p:txBody>
          <a:bodyPr anchor="ctr"/>
          <a:lstStyle/>
          <a:p>
            <a:pPr algn="ctr"/>
            <a:r>
              <a:rPr lang="de-CH" sz="1200" b="1" dirty="0">
                <a:solidFill>
                  <a:srgbClr val="FFFFFF"/>
                </a:solidFil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p:nvPr/>
        </p:nvSpPr>
        <p:spPr>
          <a:xfrm>
            <a:off x="539999" y="3780000"/>
            <a:ext cx="3240001" cy="1080000"/>
          </a:xfrm>
          <a:prstGeom prst="rect">
            <a:avLst/>
          </a:prstGeom>
          <a:noFill/>
          <a:ln w="0">
            <a:noFill/>
            <a:prstDash val="solid"/>
          </a:ln>
        </p:spPr>
        <p:txBody>
          <a:bodyPr lIns="216000" anchor="t"/>
          <a:lstStyle/>
          <a:p>
            <a:pPr algn="l">
              <a:defRPr sz="1425" b="0">
                <a:solidFill>
                  <a:srgbClr val="2D3F4B"/>
                </a:solidFill>
                <a:latin typeface="Arial"/>
                <a:ea typeface="Arial"/>
                <a:cs typeface="Arial"/>
              </a:defRPr>
            </a:pPr>
            <a:r>
              <a:rPr sz="1425" b="0" dirty="0">
                <a:solidFill>
                  <a:srgbClr val="2D3F4B"/>
                </a:solidFill>
                <a:latin typeface="Arial"/>
                <a:ea typeface="Arial"/>
                <a:cs typeface="Arial"/>
              </a:rPr>
              <a:t>3 Chunks </a:t>
            </a:r>
            <a:r>
              <a:rPr sz="1425" b="0" dirty="0" err="1">
                <a:solidFill>
                  <a:srgbClr val="2D3F4B"/>
                </a:solidFill>
                <a:latin typeface="Arial"/>
                <a:ea typeface="Arial"/>
                <a:cs typeface="Arial"/>
              </a:rPr>
              <a:t>prüfen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Satz-/</a:t>
            </a:r>
            <a:r>
              <a:rPr sz="1425" b="0" dirty="0" err="1">
                <a:solidFill>
                  <a:srgbClr val="2D3F4B"/>
                </a:solidFill>
                <a:latin typeface="Arial"/>
                <a:ea typeface="Arial"/>
                <a:cs typeface="Arial"/>
              </a:rPr>
              <a:t>Artikelgrenzen</a:t>
            </a:r>
            <a:r>
              <a:rPr sz="1425" b="0" dirty="0">
                <a:solidFill>
                  <a:srgbClr val="2D3F4B"/>
                </a:solidFill>
                <a:latin typeface="Arial"/>
                <a:ea typeface="Arial"/>
                <a:cs typeface="Arial"/>
              </a:rPr>
              <a:t> </a:t>
            </a:r>
            <a:r>
              <a:rPr sz="1425" b="0" dirty="0" err="1">
                <a:solidFill>
                  <a:srgbClr val="2D3F4B"/>
                </a:solidFill>
                <a:latin typeface="Arial"/>
                <a:ea typeface="Arial"/>
                <a:cs typeface="Arial"/>
              </a:rPr>
              <a:t>markieren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err="1">
                <a:solidFill>
                  <a:srgbClr val="2D3F4B"/>
                </a:solidFill>
                <a:latin typeface="Arial"/>
                <a:ea typeface="Arial"/>
                <a:cs typeface="Arial"/>
              </a:rPr>
              <a:t>Rauschen</a:t>
            </a:r>
            <a:r>
              <a:rPr sz="1425" b="0" dirty="0">
                <a:solidFill>
                  <a:srgbClr val="2D3F4B"/>
                </a:solidFill>
                <a:latin typeface="Arial"/>
                <a:ea typeface="Arial"/>
                <a:cs typeface="Arial"/>
              </a:rPr>
              <a:t> </a:t>
            </a:r>
            <a:r>
              <a:rPr sz="1425" b="0" dirty="0" err="1">
                <a:solidFill>
                  <a:srgbClr val="2D3F4B"/>
                </a:solidFill>
                <a:latin typeface="Arial"/>
                <a:ea typeface="Arial"/>
                <a:cs typeface="Arial"/>
              </a:rPr>
              <a:t>benennen</a:t>
            </a:r>
            <a:endParaRPr sz="1425" b="0" dirty="0">
              <a:solidFill>
                <a:srgbClr val="2D3F4B"/>
              </a:solidFill>
              <a:latin typeface="Arial"/>
              <a:ea typeface="Arial"/>
              <a:cs typeface="Arial"/>
            </a:endParaRPr>
          </a:p>
        </p:txBody>
      </p:sp>
      <p:sp>
        <p:nvSpPr>
          <p:cNvPr id="13" name="group-B">
            <a:extLst>
              <a:ext uri="{FF2B5EF4-FFF2-40B4-BE49-F238E27FC236}">
                <a16:creationId xmlns:a16="http://schemas.microsoft.com/office/drawing/2014/main" id="{300F9B10-87A9-44F1-A7FD-E55CB172AA3A}"/>
              </a:ext>
            </a:extLst>
          </p:cNvPr>
          <p:cNvSpPr/>
          <p:nvPr/>
        </p:nvSpPr>
        <p:spPr>
          <a:xfrm>
            <a:off x="41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p:nvPr/>
        </p:nvSpPr>
        <p:spPr>
          <a:xfrm>
            <a:off x="4320000" y="2340000"/>
            <a:ext cx="540000" cy="54000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p:nvPr/>
        </p:nvSpPr>
        <p:spPr>
          <a:xfrm>
            <a:off x="5040000" y="23400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p:nvPr/>
        </p:nvSpPr>
        <p:spPr>
          <a:xfrm>
            <a:off x="4320000" y="3060000"/>
            <a:ext cx="2905125" cy="428625"/>
          </a:xfrm>
          <a:prstGeom prst="roundRect">
            <a:avLst>
              <a:gd name="adj" fmla="val 22222"/>
            </a:avLst>
          </a:prstGeom>
          <a:solidFill>
            <a:srgbClr val="2D3F4B"/>
          </a:solidFill>
          <a:ln w="0">
            <a:solidFill>
              <a:srgbClr val="2D3F4B"/>
            </a:solidFill>
            <a:prstDash val="solid"/>
          </a:ln>
        </p:spPr>
        <p:txBody>
          <a:bodyPr anchor="ctr"/>
          <a:lstStyle/>
          <a:p>
            <a:pPr algn="ctr"/>
            <a:r>
              <a:rPr lang="de-CH" sz="1200" b="1" dirty="0">
                <a:solidFill>
                  <a:srgbClr val="FFFFFF"/>
                </a:solidFil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p:nvPr/>
        </p:nvSpPr>
        <p:spPr>
          <a:xfrm>
            <a:off x="4139999" y="3780000"/>
            <a:ext cx="3239999" cy="1080000"/>
          </a:xfrm>
          <a:prstGeom prst="rect">
            <a:avLst/>
          </a:prstGeom>
          <a:noFill/>
          <a:ln w="0">
            <a:noFill/>
            <a:prstDash val="solid"/>
          </a:ln>
        </p:spPr>
        <p:txBody>
          <a:bodyPr lIns="216000" anchor="t"/>
          <a:lstStyle/>
          <a:p>
            <a:pPr algn="l">
              <a:defRPr sz="1425" b="0">
                <a:solidFill>
                  <a:srgbClr val="2D3F4B"/>
                </a:solidFill>
                <a:latin typeface="Arial"/>
                <a:ea typeface="Arial"/>
                <a:cs typeface="Arial"/>
              </a:defRPr>
            </a:pPr>
            <a:r>
              <a:rPr sz="1425" b="0" dirty="0" err="1">
                <a:solidFill>
                  <a:srgbClr val="2D3F4B"/>
                </a:solidFill>
                <a:latin typeface="Arial"/>
                <a:ea typeface="Arial"/>
                <a:cs typeface="Arial"/>
              </a:rPr>
              <a:t>gleiche</a:t>
            </a:r>
            <a:r>
              <a:rPr sz="1425" b="0" dirty="0">
                <a:solidFill>
                  <a:srgbClr val="2D3F4B"/>
                </a:solidFill>
                <a:latin typeface="Arial"/>
                <a:ea typeface="Arial"/>
                <a:cs typeface="Arial"/>
              </a:rPr>
              <a:t> Frage </a:t>
            </a:r>
            <a:r>
              <a:rPr sz="1425" b="0" dirty="0" err="1">
                <a:solidFill>
                  <a:srgbClr val="2D3F4B"/>
                </a:solidFill>
                <a:latin typeface="Arial"/>
                <a:ea typeface="Arial"/>
                <a:cs typeface="Arial"/>
              </a:rPr>
              <a:t>verwenden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Vector- und </a:t>
            </a:r>
            <a:r>
              <a:rPr sz="1425" b="0" dirty="0" err="1">
                <a:solidFill>
                  <a:srgbClr val="2D3F4B"/>
                </a:solidFill>
                <a:latin typeface="Arial"/>
                <a:ea typeface="Arial"/>
                <a:cs typeface="Arial"/>
              </a:rPr>
              <a:t>Rerank</a:t>
            </a:r>
            <a:r>
              <a:rPr sz="1425" b="0" dirty="0">
                <a:solidFill>
                  <a:srgbClr val="2D3F4B"/>
                </a:solidFill>
                <a:latin typeface="Arial"/>
                <a:ea typeface="Arial"/>
                <a:cs typeface="Arial"/>
              </a:rPr>
              <a:t>-Rang </a:t>
            </a:r>
            <a:r>
              <a:rPr sz="1425" b="0" dirty="0" err="1">
                <a:solidFill>
                  <a:srgbClr val="2D3F4B"/>
                </a:solidFill>
                <a:latin typeface="Arial"/>
                <a:ea typeface="Arial"/>
                <a:cs typeface="Arial"/>
              </a:rPr>
              <a:t>vergleichen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Recall-</a:t>
            </a:r>
            <a:r>
              <a:rPr sz="1425" b="0" dirty="0" err="1">
                <a:solidFill>
                  <a:srgbClr val="2D3F4B"/>
                </a:solidFill>
                <a:latin typeface="Arial"/>
                <a:ea typeface="Arial"/>
                <a:cs typeface="Arial"/>
              </a:rPr>
              <a:t>Grenze</a:t>
            </a:r>
            <a:r>
              <a:rPr sz="1425" b="0" dirty="0">
                <a:solidFill>
                  <a:srgbClr val="2D3F4B"/>
                </a:solidFill>
                <a:latin typeface="Arial"/>
                <a:ea typeface="Arial"/>
                <a:cs typeface="Arial"/>
              </a:rPr>
              <a:t> </a:t>
            </a:r>
            <a:r>
              <a:rPr sz="1425" b="0" dirty="0" err="1">
                <a:solidFill>
                  <a:srgbClr val="2D3F4B"/>
                </a:solidFill>
                <a:latin typeface="Arial"/>
                <a:ea typeface="Arial"/>
                <a:cs typeface="Arial"/>
              </a:rPr>
              <a:t>benennen</a:t>
            </a:r>
            <a:endParaRPr sz="1425" b="0" dirty="0">
              <a:solidFill>
                <a:srgbClr val="2D3F4B"/>
              </a:solidFill>
              <a:latin typeface="Arial"/>
              <a:ea typeface="Arial"/>
              <a:cs typeface="Arial"/>
            </a:endParaRPr>
          </a:p>
        </p:txBody>
      </p:sp>
      <p:sp>
        <p:nvSpPr>
          <p:cNvPr id="19" name="group-C">
            <a:extLst>
              <a:ext uri="{FF2B5EF4-FFF2-40B4-BE49-F238E27FC236}">
                <a16:creationId xmlns:a16="http://schemas.microsoft.com/office/drawing/2014/main" id="{4BF2D0CF-269B-4C1A-A991-8138B0BD86DE}"/>
              </a:ext>
            </a:extLst>
          </p:cNvPr>
          <p:cNvSpPr/>
          <p:nvPr/>
        </p:nvSpPr>
        <p:spPr>
          <a:xfrm>
            <a:off x="77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p:nvPr/>
        </p:nvSpPr>
        <p:spPr>
          <a:xfrm>
            <a:off x="7920000" y="2340000"/>
            <a:ext cx="540000" cy="54000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p:nvPr/>
        </p:nvSpPr>
        <p:spPr>
          <a:xfrm>
            <a:off x="8640000" y="23400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p:nvPr/>
        </p:nvSpPr>
        <p:spPr>
          <a:xfrm>
            <a:off x="7920000" y="3060000"/>
            <a:ext cx="2905125" cy="428625"/>
          </a:xfrm>
          <a:prstGeom prst="roundRect">
            <a:avLst>
              <a:gd name="adj" fmla="val 22222"/>
            </a:avLst>
          </a:prstGeom>
          <a:solidFill>
            <a:srgbClr val="2D3F4B"/>
          </a:solidFill>
          <a:ln w="0">
            <a:solidFill>
              <a:srgbClr val="2D3F4B"/>
            </a:solidFill>
            <a:prstDash val="solid"/>
          </a:ln>
        </p:spPr>
        <p:txBody>
          <a:bodyPr anchor="ctr"/>
          <a:lstStyle/>
          <a:p>
            <a:pPr algn="ctr"/>
            <a:r>
              <a:rPr lang="de-CH" sz="1200" b="1" dirty="0">
                <a:solidFill>
                  <a:srgbClr val="FFFFFF"/>
                </a:solidFil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p:nvPr/>
        </p:nvSpPr>
        <p:spPr>
          <a:xfrm>
            <a:off x="7739998" y="3780000"/>
            <a:ext cx="3240000" cy="1080000"/>
          </a:xfrm>
          <a:prstGeom prst="rect">
            <a:avLst/>
          </a:prstGeom>
          <a:noFill/>
          <a:ln w="0">
            <a:noFill/>
            <a:prstDash val="solid"/>
          </a:ln>
        </p:spPr>
        <p:txBody>
          <a:bodyPr lIns="216000" anchor="t"/>
          <a:lstStyle/>
          <a:p>
            <a:pPr algn="l">
              <a:defRPr sz="1425" b="0">
                <a:solidFill>
                  <a:srgbClr val="2D3F4B"/>
                </a:solidFill>
                <a:latin typeface="Arial"/>
                <a:ea typeface="Arial"/>
                <a:cs typeface="Arial"/>
              </a:defRPr>
            </a:pPr>
            <a:r>
              <a:rPr sz="1425" b="0" dirty="0" err="1">
                <a:solidFill>
                  <a:srgbClr val="2D3F4B"/>
                </a:solidFill>
                <a:latin typeface="Arial"/>
                <a:ea typeface="Arial"/>
                <a:cs typeface="Arial"/>
              </a:rPr>
              <a:t>Referenzfrage</a:t>
            </a:r>
            <a:r>
              <a:rPr sz="1425" b="0" dirty="0">
                <a:solidFill>
                  <a:srgbClr val="2D3F4B"/>
                </a:solidFill>
                <a:latin typeface="Arial"/>
                <a:ea typeface="Arial"/>
                <a:cs typeface="Arial"/>
              </a:rPr>
              <a:t> </a:t>
            </a:r>
            <a:r>
              <a:rPr sz="1425" b="0" dirty="0" err="1">
                <a:solidFill>
                  <a:srgbClr val="2D3F4B"/>
                </a:solidFill>
                <a:latin typeface="Arial"/>
                <a:ea typeface="Arial"/>
                <a:cs typeface="Arial"/>
              </a:rPr>
              <a:t>testen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Vector und Graph </a:t>
            </a:r>
            <a:r>
              <a:rPr sz="1425" b="0" dirty="0" err="1">
                <a:solidFill>
                  <a:srgbClr val="2D3F4B"/>
                </a:solidFill>
                <a:latin typeface="Arial"/>
                <a:ea typeface="Arial"/>
                <a:cs typeface="Arial"/>
              </a:rPr>
              <a:t>vergleichen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Token-Trade-off </a:t>
            </a:r>
            <a:r>
              <a:rPr sz="1425" b="0" dirty="0" err="1">
                <a:solidFill>
                  <a:srgbClr val="2D3F4B"/>
                </a:solidFill>
                <a:latin typeface="Arial"/>
                <a:ea typeface="Arial"/>
                <a:cs typeface="Arial"/>
              </a:rPr>
              <a:t>erklären</a:t>
            </a:r>
            <a:endParaRPr sz="1425" b="0" dirty="0">
              <a:solidFill>
                <a:srgbClr val="2D3F4B"/>
              </a:solidFill>
              <a:latin typeface="Arial"/>
              <a:ea typeface="Arial"/>
              <a:cs typeface="Arial"/>
            </a:endParaRPr>
          </a:p>
        </p:txBody>
      </p:sp>
      <p:sp>
        <p:nvSpPr>
          <p:cNvPr id="25" name="group-output">
            <a:extLst>
              <a:ext uri="{FF2B5EF4-FFF2-40B4-BE49-F238E27FC236}">
                <a16:creationId xmlns:a16="http://schemas.microsoft.com/office/drawing/2014/main" id="{52A6162D-5932-436E-A042-07A49271FBD3}"/>
              </a:ext>
            </a:extLst>
          </p:cNvPr>
          <p:cNvSpPr/>
          <p:nvPr/>
        </p:nvSpPr>
        <p:spPr>
          <a:xfrm>
            <a:off x="2160000" y="5220000"/>
            <a:ext cx="7740000" cy="540000"/>
          </a:xfrm>
          <a:prstGeom prst="roundRect">
            <a:avLst>
              <a:gd name="adj" fmla="val 25000"/>
            </a:avLst>
          </a:prstGeom>
          <a:solidFill>
            <a:srgbClr val="2D3F4B"/>
          </a:solidFill>
          <a:ln w="0">
            <a:solidFill>
              <a:srgbClr val="2D3F4B"/>
            </a:solidFill>
            <a:prstDash val="solid"/>
          </a:ln>
        </p:spPr>
        <p:txBody>
          <a:bodyPr anchor="ctr" anchorCtr="1"/>
          <a:lstStyle/>
          <a:p>
            <a:r>
              <a:rPr lang="de-DE" b="1" dirty="0">
                <a:solidFill>
                  <a:srgbClr val="FFFFFF"/>
                </a:solidFil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itel 1"/>
          <p:cNvSpPr>
            <a:spLocks noGrp="1"/>
          </p:cNvSpPr>
          <p:nvPr>
            <p:ph type="title"/>
          </p:nvPr>
        </p:nvSpPr>
        <p:spPr>
          <a:xfrm>
            <a:off x="482461" y="346633"/>
            <a:ext cx="11230114" cy="767605"/>
          </a:xfrm>
        </p:spPr>
        <p:txBody>
          <a:bodyPr/>
          <a:lstStyle/>
          <a:p>
            <a:r>
              <a:rPr lang="de-CH" sz="3600" dirty="0"/>
              <a:t>Frameworkwahl ist eine Betriebsentscheidung</a:t>
            </a:r>
          </a:p>
        </p:txBody>
      </p:sp>
      <p:sp>
        <p:nvSpPr>
          <p:cNvPr id="4" name="slide-subtitle">
            <a:extLst>
              <a:ext uri="{FF2B5EF4-FFF2-40B4-BE49-F238E27FC236}">
                <a16:creationId xmlns:a16="http://schemas.microsoft.com/office/drawing/2014/main" id="{19E3B18D-0B98-4491-AD8E-10927075BBBF}"/>
              </a:ext>
            </a:extLst>
          </p:cNvPr>
          <p:cNvSpPr/>
          <p:nvPr/>
        </p:nvSpPr>
        <p:spPr>
          <a:xfrm>
            <a:off x="540000" y="1440000"/>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p:nvPr/>
        </p:nvSpPr>
        <p:spPr>
          <a:xfrm>
            <a:off x="1800000" y="4860000"/>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p:nvPr/>
        </p:nvSpPr>
        <p:spPr>
          <a:xfrm>
            <a:off x="1800000" y="1980000"/>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p:nvPr/>
        </p:nvSpPr>
        <p:spPr>
          <a:xfrm>
            <a:off x="1800000" y="5040000"/>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Kontrolle</a:t>
            </a:r>
            <a:endParaRPr sz="1125" b="0" dirty="0">
              <a:solidFill>
                <a:srgbClr val="81725E"/>
              </a:solidFill>
              <a:latin typeface="Arial"/>
              <a:ea typeface="Arial"/>
              <a:cs typeface="Arial"/>
            </a:endParaRPr>
          </a:p>
        </p:txBody>
      </p:sp>
      <p:sp>
        <p:nvSpPr>
          <p:cNvPr id="10" name="x-right">
            <a:extLst>
              <a:ext uri="{FF2B5EF4-FFF2-40B4-BE49-F238E27FC236}">
                <a16:creationId xmlns:a16="http://schemas.microsoft.com/office/drawing/2014/main" id="{FF49C5B0-8F5A-4726-A35B-46A99C4D985C}"/>
              </a:ext>
            </a:extLst>
          </p:cNvPr>
          <p:cNvSpPr/>
          <p:nvPr/>
        </p:nvSpPr>
        <p:spPr>
          <a:xfrm>
            <a:off x="8460000" y="5040000"/>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dirty="0" err="1">
                <a:solidFill>
                  <a:srgbClr val="81725E"/>
                </a:solidFill>
                <a:latin typeface="Arial"/>
                <a:ea typeface="Arial"/>
                <a:cs typeface="Arial"/>
              </a:rPr>
              <a:t>schneller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produktiv</a:t>
            </a:r>
            <a:endParaRPr sz="1125" b="0" dirty="0">
              <a:solidFill>
                <a:srgbClr val="81725E"/>
              </a:solidFill>
              <a:latin typeface="Arial"/>
              <a:ea typeface="Arial"/>
              <a:cs typeface="Arial"/>
            </a:endParaRPr>
          </a:p>
        </p:txBody>
      </p:sp>
      <p:sp>
        <p:nvSpPr>
          <p:cNvPr id="11" name="y-top">
            <a:extLst>
              <a:ext uri="{FF2B5EF4-FFF2-40B4-BE49-F238E27FC236}">
                <a16:creationId xmlns:a16="http://schemas.microsoft.com/office/drawing/2014/main" id="{16EA4B36-BD1C-4C7D-9C9B-33A770181DCA}"/>
              </a:ext>
            </a:extLst>
          </p:cNvPr>
          <p:cNvSpPr/>
          <p:nvPr/>
        </p:nvSpPr>
        <p:spPr>
          <a:xfrm>
            <a:off x="540000" y="1800000"/>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Betriebsaufwand</a:t>
            </a:r>
            <a:endParaRPr sz="1125" b="0" dirty="0">
              <a:solidFill>
                <a:srgbClr val="81725E"/>
              </a:solidFill>
              <a:latin typeface="Arial"/>
              <a:ea typeface="Arial"/>
              <a:cs typeface="Arial"/>
            </a:endParaRPr>
          </a:p>
        </p:txBody>
      </p:sp>
      <p:sp>
        <p:nvSpPr>
          <p:cNvPr id="12" name="y-bottom">
            <a:extLst>
              <a:ext uri="{FF2B5EF4-FFF2-40B4-BE49-F238E27FC236}">
                <a16:creationId xmlns:a16="http://schemas.microsoft.com/office/drawing/2014/main" id="{396F6BF1-1DD0-44B1-A1A6-960B58C529A3}"/>
              </a:ext>
            </a:extLst>
          </p:cNvPr>
          <p:cNvSpPr/>
          <p:nvPr/>
        </p:nvSpPr>
        <p:spPr>
          <a:xfrm>
            <a:off x="540000" y="4860000"/>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weniger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Eigenbetrieb</a:t>
            </a:r>
            <a:endParaRPr sz="1125" b="0" dirty="0">
              <a:solidFill>
                <a:srgbClr val="81725E"/>
              </a:solidFill>
              <a:latin typeface="Arial"/>
              <a:ea typeface="Arial"/>
              <a:cs typeface="Arial"/>
            </a:endParaRPr>
          </a:p>
        </p:txBody>
      </p:sp>
      <p:sp>
        <p:nvSpPr>
          <p:cNvPr id="13" name="FROM SCRATCH-dot">
            <a:extLst>
              <a:ext uri="{FF2B5EF4-FFF2-40B4-BE49-F238E27FC236}">
                <a16:creationId xmlns:a16="http://schemas.microsoft.com/office/drawing/2014/main" id="{9780354F-5B02-4472-84DB-86CF8A93F4C1}"/>
              </a:ext>
            </a:extLst>
          </p:cNvPr>
          <p:cNvSpPr/>
          <p:nvPr/>
        </p:nvSpPr>
        <p:spPr>
          <a:xfrm>
            <a:off x="2700000" y="2340000"/>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p:nvPr/>
        </p:nvSpPr>
        <p:spPr>
          <a:xfrm>
            <a:off x="1980000" y="1980000"/>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p:nvPr/>
        </p:nvSpPr>
        <p:spPr>
          <a:xfrm>
            <a:off x="1800000" y="288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p:nvPr/>
        </p:nvSpPr>
        <p:spPr>
          <a:xfrm>
            <a:off x="5220000" y="3240000"/>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p:nvPr/>
        </p:nvSpPr>
        <p:spPr>
          <a:xfrm>
            <a:off x="4500000" y="2880000"/>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p:nvPr/>
        </p:nvSpPr>
        <p:spPr>
          <a:xfrm>
            <a:off x="4320000" y="360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p:nvPr/>
        </p:nvSpPr>
        <p:spPr>
          <a:xfrm>
            <a:off x="7020000" y="2340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p:nvPr/>
        </p:nvSpPr>
        <p:spPr>
          <a:xfrm>
            <a:off x="6300000" y="198000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p:nvPr/>
        </p:nvSpPr>
        <p:spPr>
          <a:xfrm>
            <a:off x="6120000" y="270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p:nvPr/>
        </p:nvSpPr>
        <p:spPr>
          <a:xfrm>
            <a:off x="8640000" y="3780000"/>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p:nvPr/>
        </p:nvSpPr>
        <p:spPr>
          <a:xfrm>
            <a:off x="7920000" y="3420000"/>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p:nvPr/>
        </p:nvSpPr>
        <p:spPr>
          <a:xfrm>
            <a:off x="7740000" y="432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p:nvPr/>
        </p:nvSpPr>
        <p:spPr>
          <a:xfrm>
            <a:off x="1800001" y="5533350"/>
            <a:ext cx="8191500" cy="719999"/>
          </a:xfrm>
          <a:prstGeom prst="roundRect">
            <a:avLst>
              <a:gd name="adj" fmla="val 28571"/>
            </a:avLst>
          </a:prstGeom>
          <a:solidFill>
            <a:srgbClr val="2D3F4B"/>
          </a:solidFill>
          <a:ln w="0">
            <a:solidFill>
              <a:srgbClr val="2D3F4B"/>
            </a:solidFill>
            <a:prstDash val="solid"/>
          </a:ln>
        </p:spPr>
        <p:txBody>
          <a:bodyPr anchor="ctr"/>
          <a:lstStyle/>
          <a:p>
            <a:pPr algn="ctr"/>
            <a:r>
              <a:rPr lang="de-DE" sz="1600" b="1" dirty="0">
                <a:solidFill>
                  <a:srgbClr val="FFFFFF"/>
                </a:solidFill>
                <a:ea typeface="Arial"/>
                <a:cs typeface="Arial"/>
              </a:rPr>
              <a:t>Entscheidend: Datenresidenz · Berechtigungen · </a:t>
            </a:r>
            <a:r>
              <a:rPr lang="de-DE" sz="1600" b="1" dirty="0" err="1">
                <a:solidFill>
                  <a:srgbClr val="FFFFFF"/>
                </a:solidFill>
                <a:ea typeface="Arial"/>
                <a:cs typeface="Arial"/>
              </a:rPr>
              <a:t>Observability</a:t>
            </a:r>
            <a:r>
              <a:rPr lang="de-DE" sz="1600" b="1" dirty="0">
                <a:solidFill>
                  <a:srgbClr val="FFFFFF"/>
                </a:solidFill>
                <a:ea typeface="Arial"/>
                <a:cs typeface="Arial"/>
              </a:rPr>
              <a:t> · Lock-in</a:t>
            </a:r>
          </a:p>
        </p:txBody>
      </p:sp>
    </p:spTree>
    <p:extLst>
      <p:ext uri="{BB962C8B-B14F-4D97-AF65-F5344CB8AC3E}">
        <p14:creationId xmlns:p14="http://schemas.microsoft.com/office/powerpoint/2010/main" val="1141647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el 1"/>
          <p:cNvSpPr>
            <a:spLocks noGrp="1"/>
          </p:cNvSpPr>
          <p:nvPr>
            <p:ph type="title"/>
          </p:nvPr>
        </p:nvSpPr>
        <p:spPr>
          <a:xfrm>
            <a:off x="482461" y="346633"/>
            <a:ext cx="11230114" cy="767605"/>
          </a:xfrm>
        </p:spPr>
        <p:txBody>
          <a:bodyPr/>
          <a:lstStyle/>
          <a:p>
            <a:r>
              <a:rPr lang="de-CH" sz="3600" dirty="0"/>
              <a:t>Drei Leitlinien für gutes RAG</a:t>
            </a:r>
          </a:p>
        </p:txBody>
      </p:sp>
      <p:sp>
        <p:nvSpPr>
          <p:cNvPr id="4" name="slide-subtitle">
            <a:extLst>
              <a:ext uri="{FF2B5EF4-FFF2-40B4-BE49-F238E27FC236}">
                <a16:creationId xmlns:a16="http://schemas.microsoft.com/office/drawing/2014/main" id="{BDF0D373-FA57-4027-8FD3-996257B19EC7}"/>
              </a:ext>
            </a:extLst>
          </p:cNvPr>
          <p:cNvSpPr/>
          <p:nvPr/>
        </p:nvSpPr>
        <p:spPr>
          <a:xfrm>
            <a:off x="540000" y="1440000"/>
            <a:ext cx="11239500"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lang="de-DE" sz="1650" b="0" noProof="0" dirty="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p:nvPr/>
        </p:nvSpPr>
        <p:spPr>
          <a:xfrm>
            <a:off x="900000" y="2160000"/>
            <a:ext cx="720000" cy="7200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p:nvPr/>
        </p:nvSpPr>
        <p:spPr>
          <a:xfrm>
            <a:off x="1800000" y="2159999"/>
            <a:ext cx="3429000" cy="718031"/>
          </a:xfrm>
          <a:prstGeom prst="rect">
            <a:avLst/>
          </a:prstGeom>
          <a:noFill/>
          <a:ln w="0">
            <a:noFill/>
            <a:prstDash val="solid"/>
          </a:ln>
        </p:spPr>
        <p:txBody>
          <a:bodyPr anchor="ctr"/>
          <a:lstStyle/>
          <a:p>
            <a:pPr algn="l">
              <a:defRPr sz="1875" b="1">
                <a:solidFill>
                  <a:srgbClr val="C60C30"/>
                </a:solidFill>
                <a:latin typeface="Arial"/>
                <a:ea typeface="Arial"/>
                <a:cs typeface="Arial"/>
              </a:defRPr>
            </a:pPr>
            <a:r>
              <a:rPr lang="de-DE" sz="1875" b="1" noProof="0" dirty="0">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p:nvPr/>
        </p:nvSpPr>
        <p:spPr>
          <a:xfrm>
            <a:off x="5400000" y="2159999"/>
            <a:ext cx="5760000" cy="718025"/>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p:nvPr/>
        </p:nvSpPr>
        <p:spPr>
          <a:xfrm>
            <a:off x="1800000" y="3060000"/>
            <a:ext cx="9286875" cy="0"/>
          </a:xfrm>
          <a:prstGeom prst="line">
            <a:avLst/>
          </a:prstGeom>
          <a:ln w="11430">
            <a:solidFill>
              <a:srgbClr val="C3BBB2"/>
            </a:solidFill>
            <a:prstDash val="solid"/>
          </a:ln>
        </p:spPr>
        <p:txBody>
          <a:bodyPr/>
          <a:lstStyle/>
          <a:p>
            <a:endParaRPr lang="de-DE" noProof="0" dirty="0"/>
          </a:p>
        </p:txBody>
      </p:sp>
      <p:sp>
        <p:nvSpPr>
          <p:cNvPr id="11" name="principle-02">
            <a:extLst>
              <a:ext uri="{FF2B5EF4-FFF2-40B4-BE49-F238E27FC236}">
                <a16:creationId xmlns:a16="http://schemas.microsoft.com/office/drawing/2014/main" id="{D9957B7D-2649-421E-B490-97CC2C34C027}"/>
              </a:ext>
            </a:extLst>
          </p:cNvPr>
          <p:cNvSpPr/>
          <p:nvPr/>
        </p:nvSpPr>
        <p:spPr>
          <a:xfrm>
            <a:off x="900000" y="3240000"/>
            <a:ext cx="720000" cy="7200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p:nvPr/>
        </p:nvSpPr>
        <p:spPr>
          <a:xfrm>
            <a:off x="1800000" y="3239999"/>
            <a:ext cx="3429000" cy="718043"/>
          </a:xfrm>
          <a:prstGeom prst="rect">
            <a:avLst/>
          </a:prstGeom>
          <a:noFill/>
          <a:ln w="0">
            <a:noFill/>
            <a:prstDash val="solid"/>
          </a:ln>
        </p:spPr>
        <p:txBody>
          <a:bodyPr anchor="ctr"/>
          <a:lstStyle/>
          <a:p>
            <a:pPr algn="l">
              <a:defRPr sz="1875" b="1">
                <a:solidFill>
                  <a:srgbClr val="43858A"/>
                </a:solidFill>
                <a:latin typeface="Arial"/>
                <a:ea typeface="Arial"/>
                <a:cs typeface="Arial"/>
              </a:defRPr>
            </a:pPr>
            <a:r>
              <a:rPr lang="de-DE" sz="1875" b="1" noProof="0" dirty="0">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p:nvPr/>
        </p:nvSpPr>
        <p:spPr>
          <a:xfrm>
            <a:off x="5400000" y="3240000"/>
            <a:ext cx="5760000" cy="718024"/>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p:nvPr/>
        </p:nvSpPr>
        <p:spPr>
          <a:xfrm>
            <a:off x="1800000" y="4140000"/>
            <a:ext cx="9286875" cy="0"/>
          </a:xfrm>
          <a:prstGeom prst="line">
            <a:avLst/>
          </a:prstGeom>
          <a:ln w="11430">
            <a:solidFill>
              <a:srgbClr val="C3BBB2"/>
            </a:solidFill>
            <a:prstDash val="solid"/>
          </a:ln>
        </p:spPr>
        <p:txBody>
          <a:bodyPr/>
          <a:lstStyle/>
          <a:p>
            <a:endParaRPr lang="de-DE" noProof="0" dirty="0"/>
          </a:p>
        </p:txBody>
      </p:sp>
      <p:sp>
        <p:nvSpPr>
          <p:cNvPr id="15" name="principle-03">
            <a:extLst>
              <a:ext uri="{FF2B5EF4-FFF2-40B4-BE49-F238E27FC236}">
                <a16:creationId xmlns:a16="http://schemas.microsoft.com/office/drawing/2014/main" id="{7AA5CCBE-8DB4-4B54-8173-B99501498DBB}"/>
              </a:ext>
            </a:extLst>
          </p:cNvPr>
          <p:cNvSpPr/>
          <p:nvPr/>
        </p:nvSpPr>
        <p:spPr>
          <a:xfrm>
            <a:off x="900000" y="4320000"/>
            <a:ext cx="720000" cy="7200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p:nvPr/>
        </p:nvSpPr>
        <p:spPr>
          <a:xfrm>
            <a:off x="1800000" y="4320000"/>
            <a:ext cx="3429000" cy="720000"/>
          </a:xfrm>
          <a:prstGeom prst="rect">
            <a:avLst/>
          </a:prstGeom>
          <a:noFill/>
          <a:ln w="0">
            <a:noFill/>
            <a:prstDash val="solid"/>
          </a:ln>
        </p:spPr>
        <p:txBody>
          <a:bodyPr anchor="ctr"/>
          <a:lstStyle/>
          <a:p>
            <a:pPr algn="l">
              <a:defRPr sz="1875" b="1">
                <a:solidFill>
                  <a:srgbClr val="C9960F"/>
                </a:solidFill>
                <a:latin typeface="Arial"/>
                <a:ea typeface="Arial"/>
                <a:cs typeface="Arial"/>
              </a:defRPr>
            </a:pPr>
            <a:r>
              <a:rPr lang="de-DE" sz="1875" b="1" noProof="0" dirty="0">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p:nvPr/>
        </p:nvSpPr>
        <p:spPr>
          <a:xfrm>
            <a:off x="5400000" y="4319999"/>
            <a:ext cx="5760000" cy="718011"/>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p:nvPr/>
        </p:nvSpPr>
        <p:spPr>
          <a:xfrm>
            <a:off x="2520000" y="5580000"/>
            <a:ext cx="7239000" cy="400050"/>
          </a:xfrm>
          <a:prstGeom prst="roundRect">
            <a:avLst>
              <a:gd name="adj" fmla="val 28571"/>
            </a:avLst>
          </a:prstGeom>
          <a:solidFill>
            <a:srgbClr val="2D3F4B"/>
          </a:solidFill>
          <a:ln w="0">
            <a:solidFill>
              <a:srgbClr val="2D3F4B"/>
            </a:solidFill>
            <a:prstDash val="solid"/>
          </a:ln>
        </p:spPr>
        <p:txBody>
          <a:bodyPr anchor="ctr"/>
          <a:lstStyle/>
          <a:p>
            <a:pPr algn="ctr"/>
            <a:r>
              <a:rPr lang="de-DE" b="1" dirty="0">
                <a:solidFill>
                  <a:srgbClr val="FFFFFF"/>
                </a:solidFil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P spid="16" grpId="0"/>
      <p:bldP spid="17" grpId="0"/>
      <p:bldP spid="18"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20.08.2026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27</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540000" y="1440000"/>
            <a:ext cx="1980000" cy="1980000"/>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20000" y="1440000"/>
            <a:ext cx="1980000" cy="1980000"/>
          </a:xfrm>
          <a:prstGeom prst="ellipse">
            <a:avLst/>
          </a:prstGeom>
          <a:blipFill dpi="0" rotWithShape="1">
            <a:blip r:embed="rId4">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20000" y="3600000"/>
            <a:ext cx="3420000" cy="1980000"/>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customXml/itemProps3.xml><?xml version="1.0" encoding="utf-8"?>
<ds:datastoreItem xmlns:ds="http://schemas.openxmlformats.org/officeDocument/2006/customXml" ds:itemID="{334436CE-240F-4EE4-9FC5-4255E6874223}">
  <ds:schemaRefs>
    <ds:schemaRef ds:uri="http://schemas.microsoft.com/sharepoint/v3/contenttype/forms"/>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3950</Words>
  <Application>Microsoft Office PowerPoint</Application>
  <PresentationFormat>Breitbild</PresentationFormat>
  <Paragraphs>634</Paragraphs>
  <Slides>27</Slides>
  <Notes>20</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27</vt:i4>
      </vt:variant>
    </vt:vector>
  </HeadingPairs>
  <TitlesOfParts>
    <vt:vector size="31" baseType="lpstr">
      <vt:lpstr>Arial</vt:lpstr>
      <vt:lpstr>Courier New</vt:lpstr>
      <vt:lpstr>AKROS</vt:lpstr>
      <vt:lpstr>think-cell Folie</vt:lpstr>
      <vt:lpstr>Retrieval-Augmented Generator (RAG)</vt:lpstr>
      <vt:lpstr>Agenda</vt:lpstr>
      <vt:lpstr>Was Ihr heute mitnehmen könnt</vt:lpstr>
      <vt:lpstr>Was ist RAG?</vt:lpstr>
      <vt:lpstr>Reine LLMs haben drei blinde Flecken</vt:lpstr>
      <vt:lpstr>RAG verschiebt die Aufgabe</vt:lpstr>
      <vt:lpstr>Vier Bausteine formen den LLM-Kontext</vt:lpstr>
      <vt:lpstr>Aufbau eines Full RAGs</vt:lpstr>
      <vt:lpstr>Vom Modellaufruf zum messbaren RAG</vt:lpstr>
      <vt:lpstr>Hands-on</vt:lpstr>
      <vt:lpstr>Stufe 1 · Chat ohne RAG</vt:lpstr>
      <vt:lpstr>Vom Setup zur ersten belegbaren Antwort</vt:lpstr>
      <vt:lpstr>Stufe 2a · Ingest</vt:lpstr>
      <vt:lpstr>Stufe 2b · Retrieval</vt:lpstr>
      <vt:lpstr>Advanced RAG</vt:lpstr>
      <vt:lpstr>Stufe 3 · Chunking und Reranking</vt:lpstr>
      <vt:lpstr>Chunking entscheidet, was auffindbar bleibt</vt:lpstr>
      <vt:lpstr>Reranking sortiert Kandidaten – es findet keine neuen</vt:lpstr>
      <vt:lpstr>Stufe 4 · GraphRAG</vt:lpstr>
      <vt:lpstr>GraphRAG verbindet mehrere Suchsignale</vt:lpstr>
      <vt:lpstr>Hybrider GraphRAG verbindet mehrere Suchsignale</vt:lpstr>
      <vt:lpstr>GraphRAG: höchster Article-Recall, kleinster Kontext</vt:lpstr>
      <vt:lpstr>Besseres Retrieval verbessert Antworten – garantiert sie aber nicht</vt:lpstr>
      <vt:lpstr>Wahlmodul: Drei Gruppen, ein gemeinsamer Befund</vt:lpstr>
      <vt:lpstr>Frameworkwahl ist eine Betriebsentscheidung</vt:lpstr>
      <vt:lpstr>Drei Leitlinien für gutes RAG</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Mehltretter Stephanie</cp:lastModifiedBy>
  <cp:revision>70</cp:revision>
  <dcterms:created xsi:type="dcterms:W3CDTF">2026-08-04T12:09:36Z</dcterms:created>
  <dcterms:modified xsi:type="dcterms:W3CDTF">2026-08-20T18:11:30Z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