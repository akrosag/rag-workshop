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08" r:id="rId15"/>
    <p:sldId id="256" r:id="rId16"/>
    <p:sldId id="313" r:id="rId1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3F4B"/>
    <a:srgbClr val="81725E"/>
    <a:srgbClr val="C3BBB2"/>
    <a:srgbClr val="C60C30"/>
    <a:srgbClr val="FA94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79298" autoAdjust="0"/>
  </p:normalViewPr>
  <p:slideViewPr>
    <p:cSldViewPr snapToGrid="0">
      <p:cViewPr varScale="1">
        <p:scale>
          <a:sx n="95" d="100"/>
          <a:sy n="95" d="100"/>
        </p:scale>
        <p:origin x="1110" y="66"/>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gs" Target="tags/tag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07.08.2026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07.08.2026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07.08.2026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07.08.2026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07.08.2026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ags" Target="../tags/tag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07.08.2026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8.svg"/><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12"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0" Type="http://schemas.openxmlformats.org/officeDocument/2006/relationships/image" Target="../media/image16.png"/><Relationship Id="rId4" Type="http://schemas.openxmlformats.org/officeDocument/2006/relationships/image" Target="../media/image10.png"/><Relationship Id="rId9" Type="http://schemas.openxmlformats.org/officeDocument/2006/relationships/image" Target="../media/image1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AkrosAG/RAG-Workshop.git"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07.08.2026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971475"/>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07.08.2026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07.08.2026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8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07.08.2026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6" name="Gerader Verbinder 15">
            <a:extLst>
              <a:ext uri="{FF2B5EF4-FFF2-40B4-BE49-F238E27FC236}">
                <a16:creationId xmlns:a16="http://schemas.microsoft.com/office/drawing/2014/main" id="{621D734A-AA3D-9433-3900-9BF6EE3CF590}"/>
              </a:ext>
            </a:extLst>
          </p:cNvPr>
          <p:cNvSpPr>
            <a:spLocks noGrp="1"/>
          </p:cNvSpPr>
          <p:nvPr/>
        </p:nvSpPr>
        <p:spPr>
          <a:xfrm>
            <a:off x="3634826" y="4758515"/>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94296"/>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54814"/>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394296"/>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37142" y="4977897"/>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0396" y="4198347"/>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sp>
        <p:nvSpPr>
          <p:cNvPr id="10" name="Rechteck: abgerundete Ecken 9">
            <a:extLst>
              <a:ext uri="{FF2B5EF4-FFF2-40B4-BE49-F238E27FC236}">
                <a16:creationId xmlns:a16="http://schemas.microsoft.com/office/drawing/2014/main" id="{B38993B1-D63F-B962-E43D-16CB3FBB6F39}"/>
              </a:ext>
            </a:extLst>
          </p:cNvPr>
          <p:cNvSpPr>
            <a:spLocks noGrp="1"/>
          </p:cNvSpPr>
          <p:nvPr/>
        </p:nvSpPr>
        <p:spPr>
          <a:xfrm>
            <a:off x="714375" y="514350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Textfeld 74">
            <a:extLst>
              <a:ext uri="{FF2B5EF4-FFF2-40B4-BE49-F238E27FC236}">
                <a16:creationId xmlns:a16="http://schemas.microsoft.com/office/drawing/2014/main" id="{DECF3306-686E-CFF1-9A40-27FB67140A18}"/>
              </a:ext>
            </a:extLst>
          </p:cNvPr>
          <p:cNvSpPr>
            <a:spLocks noGrp="1"/>
          </p:cNvSpPr>
          <p:nvPr/>
        </p:nvSpPr>
        <p:spPr>
          <a:xfrm>
            <a:off x="701754" y="5162179"/>
            <a:ext cx="1259680" cy="276999"/>
          </a:xfrm>
          <a:prstGeom prst="rect">
            <a:avLst/>
          </a:prstGeom>
          <a:noFill/>
        </p:spPr>
        <p:txBody>
          <a:bodyPr wrap="square">
            <a:spAutoFit/>
          </a:bodyPr>
          <a:lstStyle/>
          <a:p>
            <a:pPr algn="ctr">
              <a:buNone/>
            </a:pPr>
            <a:r>
              <a:rPr sz="1200"/>
              <a:t>Raw Data Files</a:t>
            </a:r>
          </a:p>
        </p:txBody>
      </p:sp>
      <p:sp>
        <p:nvSpPr>
          <p:cNvPr id="14" name="Gerader Verbinder 13">
            <a:extLst>
              <a:ext uri="{FF2B5EF4-FFF2-40B4-BE49-F238E27FC236}">
                <a16:creationId xmlns:a16="http://schemas.microsoft.com/office/drawing/2014/main" id="{CD93CF7F-4061-47BC-D2DF-7546F2E82AED}"/>
              </a:ext>
            </a:extLst>
          </p:cNvPr>
          <p:cNvSpPr>
            <a:spLocks noGrp="1"/>
          </p:cNvSpPr>
          <p:nvPr/>
        </p:nvSpPr>
        <p:spPr>
          <a:xfrm>
            <a:off x="714375" y="5439178"/>
            <a:ext cx="125968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3"/>
          <a:stretch>
            <a:fillRect/>
          </a:stretch>
        </p:blipFill>
        <p:spPr>
          <a:xfrm flipH="1">
            <a:off x="1133584" y="5503383"/>
            <a:ext cx="415070" cy="480063"/>
          </a:xfrm>
          <a:prstGeom prst="rect">
            <a:avLst/>
          </a:prstGeom>
        </p:spPr>
      </p:pic>
      <p:sp>
        <p:nvSpPr>
          <p:cNvPr id="18" name="Rechteck: abgerundete Ecken 17">
            <a:extLst>
              <a:ext uri="{FF2B5EF4-FFF2-40B4-BE49-F238E27FC236}">
                <a16:creationId xmlns:a16="http://schemas.microsoft.com/office/drawing/2014/main" id="{D9E7FE46-B6BE-8721-269A-6415AA075AA3}"/>
              </a:ext>
            </a:extLst>
          </p:cNvPr>
          <p:cNvSpPr>
            <a:spLocks noGrp="1"/>
          </p:cNvSpPr>
          <p:nvPr/>
        </p:nvSpPr>
        <p:spPr>
          <a:xfrm>
            <a:off x="10287000" y="1571625"/>
            <a:ext cx="1259680" cy="866775"/>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4"/>
          <a:stretch>
            <a:fillRect/>
          </a:stretch>
        </p:blipFill>
        <p:spPr>
          <a:xfrm flipH="1">
            <a:off x="10611919" y="1867303"/>
            <a:ext cx="609861" cy="566720"/>
          </a:xfrm>
          <a:prstGeom prst="rect">
            <a:avLst/>
          </a:prstGeom>
        </p:spPr>
      </p:pic>
      <p:sp>
        <p:nvSpPr>
          <p:cNvPr id="22" name="Textfeld 51">
            <a:extLst>
              <a:ext uri="{FF2B5EF4-FFF2-40B4-BE49-F238E27FC236}">
                <a16:creationId xmlns:a16="http://schemas.microsoft.com/office/drawing/2014/main" id="{E9B671B8-ADBD-7C77-A761-7D4C7F8DC77F}"/>
              </a:ext>
            </a:extLst>
          </p:cNvPr>
          <p:cNvSpPr>
            <a:spLocks noGrp="1"/>
          </p:cNvSpPr>
          <p:nvPr/>
        </p:nvSpPr>
        <p:spPr>
          <a:xfrm>
            <a:off x="10274379" y="1590304"/>
            <a:ext cx="1259680" cy="276999"/>
          </a:xfrm>
          <a:prstGeom prst="rect">
            <a:avLst/>
          </a:prstGeom>
          <a:noFill/>
        </p:spPr>
        <p:txBody>
          <a:bodyPr wrap="square">
            <a:spAutoFit/>
          </a:bodyPr>
          <a:lstStyle/>
          <a:p>
            <a:pPr algn="ctr">
              <a:buNone/>
            </a:pPr>
            <a:r>
              <a:rPr sz="1200">
                <a:solidFill>
                  <a:schemeClr val="bg1"/>
                </a:solidFill>
              </a:rPr>
              <a:t>Query</a:t>
            </a:r>
          </a:p>
        </p:txBody>
      </p:sp>
      <p:sp>
        <p:nvSpPr>
          <p:cNvPr id="24" name="Rechteck: abgerundete Ecken 23">
            <a:extLst>
              <a:ext uri="{FF2B5EF4-FFF2-40B4-BE49-F238E27FC236}">
                <a16:creationId xmlns:a16="http://schemas.microsoft.com/office/drawing/2014/main" id="{EF7C69F7-3BA6-3716-FB87-C6056C54CA0B}"/>
              </a:ext>
            </a:extLst>
          </p:cNvPr>
          <p:cNvSpPr>
            <a:spLocks noGrp="1"/>
          </p:cNvSpPr>
          <p:nvPr/>
        </p:nvSpPr>
        <p:spPr>
          <a:xfrm>
            <a:off x="10287000" y="4619625"/>
            <a:ext cx="1259680" cy="866775"/>
          </a:xfrm>
          <a:prstGeom prst="roundRect">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5"/>
          <a:stretch>
            <a:fillRect/>
          </a:stretch>
        </p:blipFill>
        <p:spPr>
          <a:xfrm flipH="1">
            <a:off x="10596787" y="4903297"/>
            <a:ext cx="614864" cy="571508"/>
          </a:xfrm>
          <a:prstGeom prst="rect">
            <a:avLst/>
          </a:prstGeom>
        </p:spPr>
      </p:pic>
      <p:sp>
        <p:nvSpPr>
          <p:cNvPr id="31" name="Textfeld 54">
            <a:extLst>
              <a:ext uri="{FF2B5EF4-FFF2-40B4-BE49-F238E27FC236}">
                <a16:creationId xmlns:a16="http://schemas.microsoft.com/office/drawing/2014/main" id="{D4C33B49-7891-AAA7-51F9-90B1FAAF4FA6}"/>
              </a:ext>
            </a:extLst>
          </p:cNvPr>
          <p:cNvSpPr>
            <a:spLocks noGrp="1"/>
          </p:cNvSpPr>
          <p:nvPr/>
        </p:nvSpPr>
        <p:spPr>
          <a:xfrm>
            <a:off x="10274379" y="4638304"/>
            <a:ext cx="1259680" cy="276999"/>
          </a:xfrm>
          <a:prstGeom prst="rect">
            <a:avLst/>
          </a:prstGeom>
          <a:noFill/>
        </p:spPr>
        <p:txBody>
          <a:bodyPr wrap="square">
            <a:spAutoFit/>
          </a:bodyPr>
          <a:lstStyle/>
          <a:p>
            <a:pPr algn="ctr">
              <a:buNone/>
            </a:pPr>
            <a:r>
              <a:rPr sz="1200">
                <a:solidFill>
                  <a:schemeClr val="bg1"/>
                </a:solidFill>
              </a:rPr>
              <a:t>Response</a:t>
            </a:r>
          </a:p>
        </p:txBody>
      </p:sp>
      <p:sp>
        <p:nvSpPr>
          <p:cNvPr id="37" name="Rechteck: abgerundete Ecken 36">
            <a:extLst>
              <a:ext uri="{FF2B5EF4-FFF2-40B4-BE49-F238E27FC236}">
                <a16:creationId xmlns:a16="http://schemas.microsoft.com/office/drawing/2014/main" id="{955C229C-DF37-3394-7852-D2530C311E3D}"/>
              </a:ext>
            </a:extLst>
          </p:cNvPr>
          <p:cNvSpPr>
            <a:spLocks noGrp="1"/>
          </p:cNvSpPr>
          <p:nvPr/>
        </p:nvSpPr>
        <p:spPr>
          <a:xfrm>
            <a:off x="523875" y="3952875"/>
            <a:ext cx="1658163"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6"/>
          <a:stretch>
            <a:fillRect/>
          </a:stretch>
        </p:blipFill>
        <p:spPr>
          <a:xfrm flipH="1">
            <a:off x="1119276" y="4248553"/>
            <a:ext cx="467360" cy="559581"/>
          </a:xfrm>
          <a:prstGeom prst="rect">
            <a:avLst/>
          </a:prstGeom>
        </p:spPr>
      </p:pic>
      <p:sp>
        <p:nvSpPr>
          <p:cNvPr id="43" name="Textfeld 48">
            <a:extLst>
              <a:ext uri="{FF2B5EF4-FFF2-40B4-BE49-F238E27FC236}">
                <a16:creationId xmlns:a16="http://schemas.microsoft.com/office/drawing/2014/main" id="{2441BB71-C515-3F41-6A7B-CFE04B47BE00}"/>
              </a:ext>
            </a:extLst>
          </p:cNvPr>
          <p:cNvSpPr>
            <a:spLocks noGrp="1"/>
          </p:cNvSpPr>
          <p:nvPr/>
        </p:nvSpPr>
        <p:spPr>
          <a:xfrm>
            <a:off x="511254" y="3971554"/>
            <a:ext cx="1733633" cy="276999"/>
          </a:xfrm>
          <a:prstGeom prst="rect">
            <a:avLst/>
          </a:prstGeom>
          <a:noFill/>
        </p:spPr>
        <p:txBody>
          <a:bodyPr wrap="square">
            <a:spAutoFit/>
          </a:bodyPr>
          <a:lstStyle/>
          <a:p>
            <a:pPr algn="ctr">
              <a:buNone/>
            </a:pPr>
            <a:r>
              <a:rPr sz="1200"/>
              <a:t>Information Extraction</a:t>
            </a:r>
          </a:p>
        </p:txBody>
      </p:sp>
      <p:sp>
        <p:nvSpPr>
          <p:cNvPr id="44" name="Gerader Verbinder 43">
            <a:extLst>
              <a:ext uri="{FF2B5EF4-FFF2-40B4-BE49-F238E27FC236}">
                <a16:creationId xmlns:a16="http://schemas.microsoft.com/office/drawing/2014/main" id="{6BF87FBA-FFD4-A870-8990-3B36EDECACE0}"/>
              </a:ext>
            </a:extLst>
          </p:cNvPr>
          <p:cNvSpPr>
            <a:spLocks noGrp="1"/>
          </p:cNvSpPr>
          <p:nvPr/>
        </p:nvSpPr>
        <p:spPr>
          <a:xfrm>
            <a:off x="523875" y="4248553"/>
            <a:ext cx="1658163"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45" name="Rechteck: abgerundete Ecken 44">
            <a:extLst>
              <a:ext uri="{FF2B5EF4-FFF2-40B4-BE49-F238E27FC236}">
                <a16:creationId xmlns:a16="http://schemas.microsoft.com/office/drawing/2014/main" id="{D48A7F4F-BE6B-CD6F-E690-688E3245F2C5}"/>
              </a:ext>
            </a:extLst>
          </p:cNvPr>
          <p:cNvSpPr>
            <a:spLocks noGrp="1"/>
          </p:cNvSpPr>
          <p:nvPr/>
        </p:nvSpPr>
        <p:spPr>
          <a:xfrm>
            <a:off x="714375" y="276225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7"/>
          <a:stretch>
            <a:fillRect/>
          </a:stretch>
        </p:blipFill>
        <p:spPr>
          <a:xfrm flipH="1">
            <a:off x="1116684" y="3076607"/>
            <a:ext cx="455061" cy="530359"/>
          </a:xfrm>
          <a:prstGeom prst="rect">
            <a:avLst/>
          </a:prstGeom>
        </p:spPr>
      </p:pic>
      <p:sp>
        <p:nvSpPr>
          <p:cNvPr id="48" name="Textfeld 60">
            <a:extLst>
              <a:ext uri="{FF2B5EF4-FFF2-40B4-BE49-F238E27FC236}">
                <a16:creationId xmlns:a16="http://schemas.microsoft.com/office/drawing/2014/main" id="{9300C327-65D2-42BB-19E9-6CBA235D48A3}"/>
              </a:ext>
            </a:extLst>
          </p:cNvPr>
          <p:cNvSpPr>
            <a:spLocks noGrp="1"/>
          </p:cNvSpPr>
          <p:nvPr/>
        </p:nvSpPr>
        <p:spPr>
          <a:xfrm>
            <a:off x="701754" y="2780929"/>
            <a:ext cx="1259680" cy="276999"/>
          </a:xfrm>
          <a:prstGeom prst="rect">
            <a:avLst/>
          </a:prstGeom>
          <a:noFill/>
        </p:spPr>
        <p:txBody>
          <a:bodyPr wrap="square">
            <a:spAutoFit/>
          </a:bodyPr>
          <a:lstStyle/>
          <a:p>
            <a:pPr algn="ctr">
              <a:buNone/>
            </a:pPr>
            <a:r>
              <a:rPr sz="1200"/>
              <a:t>Chunking</a:t>
            </a:r>
          </a:p>
        </p:txBody>
      </p:sp>
      <p:sp>
        <p:nvSpPr>
          <p:cNvPr id="51" name="Gerader Verbinder 50">
            <a:extLst>
              <a:ext uri="{FF2B5EF4-FFF2-40B4-BE49-F238E27FC236}">
                <a16:creationId xmlns:a16="http://schemas.microsoft.com/office/drawing/2014/main" id="{329E3D98-43F4-135D-5087-525B26A0404F}"/>
              </a:ext>
            </a:extLst>
          </p:cNvPr>
          <p:cNvSpPr>
            <a:spLocks noGrp="1"/>
          </p:cNvSpPr>
          <p:nvPr/>
        </p:nvSpPr>
        <p:spPr>
          <a:xfrm>
            <a:off x="701754" y="3054904"/>
            <a:ext cx="1272301"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54" name="Rechteck: abgerundete Ecken 53">
            <a:extLst>
              <a:ext uri="{FF2B5EF4-FFF2-40B4-BE49-F238E27FC236}">
                <a16:creationId xmlns:a16="http://schemas.microsoft.com/office/drawing/2014/main" id="{F6937E87-FFDC-5644-BE6B-D3AF0FCBAA56}"/>
              </a:ext>
            </a:extLst>
          </p:cNvPr>
          <p:cNvSpPr>
            <a:spLocks noGrp="1"/>
          </p:cNvSpPr>
          <p:nvPr/>
        </p:nvSpPr>
        <p:spPr>
          <a:xfrm>
            <a:off x="5119500" y="1578909"/>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8"/>
          <a:stretch>
            <a:fillRect/>
          </a:stretch>
        </p:blipFill>
        <p:spPr>
          <a:xfrm flipH="1">
            <a:off x="5478577" y="1886883"/>
            <a:ext cx="541526" cy="571097"/>
          </a:xfrm>
          <a:prstGeom prst="rect">
            <a:avLst/>
          </a:prstGeom>
        </p:spPr>
      </p:pic>
      <p:sp>
        <p:nvSpPr>
          <p:cNvPr id="57" name="Textfeld 34">
            <a:extLst>
              <a:ext uri="{FF2B5EF4-FFF2-40B4-BE49-F238E27FC236}">
                <a16:creationId xmlns:a16="http://schemas.microsoft.com/office/drawing/2014/main" id="{957FA4FE-DEF6-E882-2842-2649F9966023}"/>
              </a:ext>
            </a:extLst>
          </p:cNvPr>
          <p:cNvSpPr>
            <a:spLocks noGrp="1"/>
          </p:cNvSpPr>
          <p:nvPr/>
        </p:nvSpPr>
        <p:spPr>
          <a:xfrm>
            <a:off x="5106879" y="1597588"/>
            <a:ext cx="1259680" cy="276999"/>
          </a:xfrm>
          <a:prstGeom prst="rect">
            <a:avLst/>
          </a:prstGeom>
          <a:noFill/>
        </p:spPr>
        <p:txBody>
          <a:bodyPr wrap="square">
            <a:spAutoFit/>
          </a:bodyPr>
          <a:lstStyle/>
          <a:p>
            <a:pPr algn="ctr">
              <a:buNone/>
            </a:pPr>
            <a:r>
              <a:rPr sz="1200"/>
              <a:t>Embedding</a:t>
            </a:r>
          </a:p>
        </p:txBody>
      </p:sp>
      <p:sp>
        <p:nvSpPr>
          <p:cNvPr id="58" name="Gerader Verbinder 57">
            <a:extLst>
              <a:ext uri="{FF2B5EF4-FFF2-40B4-BE49-F238E27FC236}">
                <a16:creationId xmlns:a16="http://schemas.microsoft.com/office/drawing/2014/main" id="{2358A794-930F-1800-2F3C-5B5ECED2E77E}"/>
              </a:ext>
            </a:extLst>
          </p:cNvPr>
          <p:cNvSpPr>
            <a:spLocks noGrp="1"/>
          </p:cNvSpPr>
          <p:nvPr/>
        </p:nvSpPr>
        <p:spPr>
          <a:xfrm flipV="1">
            <a:off x="5119500" y="1874587"/>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60" name="Rechteck: abgerundete Ecken 59">
            <a:extLst>
              <a:ext uri="{FF2B5EF4-FFF2-40B4-BE49-F238E27FC236}">
                <a16:creationId xmlns:a16="http://schemas.microsoft.com/office/drawing/2014/main" id="{0F97695A-AB9E-12B2-E874-0BCD324FB8A7}"/>
              </a:ext>
            </a:extLst>
          </p:cNvPr>
          <p:cNvSpPr>
            <a:spLocks noGrp="1"/>
          </p:cNvSpPr>
          <p:nvPr/>
        </p:nvSpPr>
        <p:spPr>
          <a:xfrm>
            <a:off x="8096250" y="304800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63" name="Grafik 12">
            <a:extLst>
              <a:ext uri="{FF2B5EF4-FFF2-40B4-BE49-F238E27FC236}">
                <a16:creationId xmlns:a16="http://schemas.microsoft.com/office/drawing/2014/main" id="{E86CBA64-1F16-70AF-49B8-BA3DAF1F453E}"/>
              </a:ext>
            </a:extLst>
          </p:cNvPr>
          <p:cNvPicPr>
            <a:picLocks noChangeAspect="1"/>
          </p:cNvPicPr>
          <p:nvPr/>
        </p:nvPicPr>
        <p:blipFill>
          <a:blip r:embed="rId8"/>
          <a:stretch>
            <a:fillRect/>
          </a:stretch>
        </p:blipFill>
        <p:spPr>
          <a:xfrm flipH="1">
            <a:off x="8455327" y="3355974"/>
            <a:ext cx="541526" cy="571097"/>
          </a:xfrm>
          <a:prstGeom prst="rect">
            <a:avLst/>
          </a:prstGeom>
        </p:spPr>
      </p:pic>
      <p:sp>
        <p:nvSpPr>
          <p:cNvPr id="67" name="Textfeld 31">
            <a:extLst>
              <a:ext uri="{FF2B5EF4-FFF2-40B4-BE49-F238E27FC236}">
                <a16:creationId xmlns:a16="http://schemas.microsoft.com/office/drawing/2014/main" id="{93602E7B-DC37-F2CD-0924-065EFB64C7BA}"/>
              </a:ext>
            </a:extLst>
          </p:cNvPr>
          <p:cNvSpPr>
            <a:spLocks noGrp="1"/>
          </p:cNvSpPr>
          <p:nvPr/>
        </p:nvSpPr>
        <p:spPr>
          <a:xfrm>
            <a:off x="8083629" y="3066679"/>
            <a:ext cx="1259680" cy="276999"/>
          </a:xfrm>
          <a:prstGeom prst="rect">
            <a:avLst/>
          </a:prstGeom>
          <a:noFill/>
        </p:spPr>
        <p:txBody>
          <a:bodyPr wrap="square">
            <a:spAutoFit/>
          </a:bodyPr>
          <a:lstStyle/>
          <a:p>
            <a:pPr algn="ctr">
              <a:buNone/>
            </a:pPr>
            <a:r>
              <a:rPr sz="1200"/>
              <a:t>Embedding</a:t>
            </a:r>
          </a:p>
        </p:txBody>
      </p:sp>
      <p:sp>
        <p:nvSpPr>
          <p:cNvPr id="69" name="Gerader Verbinder 68">
            <a:extLst>
              <a:ext uri="{FF2B5EF4-FFF2-40B4-BE49-F238E27FC236}">
                <a16:creationId xmlns:a16="http://schemas.microsoft.com/office/drawing/2014/main" id="{919036DE-C489-76A0-3FDD-88C13187B396}"/>
              </a:ext>
            </a:extLst>
          </p:cNvPr>
          <p:cNvSpPr>
            <a:spLocks noGrp="1"/>
          </p:cNvSpPr>
          <p:nvPr/>
        </p:nvSpPr>
        <p:spPr>
          <a:xfrm flipV="1">
            <a:off x="8096250" y="3343678"/>
            <a:ext cx="1259680" cy="12296"/>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72" name="Rechteck: abgerundete Ecken 71">
            <a:extLst>
              <a:ext uri="{FF2B5EF4-FFF2-40B4-BE49-F238E27FC236}">
                <a16:creationId xmlns:a16="http://schemas.microsoft.com/office/drawing/2014/main" id="{E9A14601-129B-5663-F0ED-B2E1BD20F945}"/>
              </a:ext>
            </a:extLst>
          </p:cNvPr>
          <p:cNvSpPr>
            <a:spLocks noGrp="1"/>
          </p:cNvSpPr>
          <p:nvPr/>
        </p:nvSpPr>
        <p:spPr>
          <a:xfrm>
            <a:off x="5095875" y="304800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9"/>
          <a:stretch>
            <a:fillRect/>
          </a:stretch>
        </p:blipFill>
        <p:spPr>
          <a:xfrm flipH="1">
            <a:off x="5405249" y="3397860"/>
            <a:ext cx="631298" cy="547851"/>
          </a:xfrm>
          <a:prstGeom prst="rect">
            <a:avLst/>
          </a:prstGeom>
        </p:spPr>
      </p:pic>
      <p:sp>
        <p:nvSpPr>
          <p:cNvPr id="77" name="Textfeld 25">
            <a:extLst>
              <a:ext uri="{FF2B5EF4-FFF2-40B4-BE49-F238E27FC236}">
                <a16:creationId xmlns:a16="http://schemas.microsoft.com/office/drawing/2014/main" id="{1C80D23E-AF36-ADDD-DF87-F60A5AC8096B}"/>
              </a:ext>
            </a:extLst>
          </p:cNvPr>
          <p:cNvSpPr>
            <a:spLocks noGrp="1"/>
          </p:cNvSpPr>
          <p:nvPr/>
        </p:nvSpPr>
        <p:spPr>
          <a:xfrm>
            <a:off x="5083254" y="3066679"/>
            <a:ext cx="1341782" cy="285750"/>
          </a:xfrm>
          <a:prstGeom prst="rect">
            <a:avLst/>
          </a:prstGeom>
          <a:noFill/>
        </p:spPr>
        <p:txBody>
          <a:bodyPr wrap="square">
            <a:spAutoFit/>
          </a:bodyPr>
          <a:lstStyle/>
          <a:p>
            <a:pPr algn="ctr">
              <a:buNone/>
            </a:pPr>
            <a:r>
              <a:rPr sz="1200" dirty="0"/>
              <a:t>Vector Database</a:t>
            </a:r>
          </a:p>
        </p:txBody>
      </p:sp>
      <p:sp>
        <p:nvSpPr>
          <p:cNvPr id="79" name="Gerader Verbinder 78">
            <a:extLst>
              <a:ext uri="{FF2B5EF4-FFF2-40B4-BE49-F238E27FC236}">
                <a16:creationId xmlns:a16="http://schemas.microsoft.com/office/drawing/2014/main" id="{89A0E0B7-A2BB-83F8-DDEA-7BF8AF689E44}"/>
              </a:ext>
            </a:extLst>
          </p:cNvPr>
          <p:cNvSpPr>
            <a:spLocks noGrp="1"/>
          </p:cNvSpPr>
          <p:nvPr/>
        </p:nvSpPr>
        <p:spPr>
          <a:xfrm>
            <a:off x="5095875" y="3352429"/>
            <a:ext cx="1252223"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81" name="Rechteck: abgerundete Ecken 80">
            <a:extLst>
              <a:ext uri="{FF2B5EF4-FFF2-40B4-BE49-F238E27FC236}">
                <a16:creationId xmlns:a16="http://schemas.microsoft.com/office/drawing/2014/main" id="{299209A1-E60D-B54F-BCE0-B59442B6BA9E}"/>
              </a:ext>
            </a:extLst>
          </p:cNvPr>
          <p:cNvSpPr>
            <a:spLocks noGrp="1"/>
          </p:cNvSpPr>
          <p:nvPr/>
        </p:nvSpPr>
        <p:spPr>
          <a:xfrm>
            <a:off x="5095875" y="4619625"/>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10"/>
          <a:stretch>
            <a:fillRect/>
          </a:stretch>
        </p:blipFill>
        <p:spPr>
          <a:xfrm flipH="1">
            <a:off x="5365621" y="4886943"/>
            <a:ext cx="694946" cy="618136"/>
          </a:xfrm>
          <a:prstGeom prst="rect">
            <a:avLst/>
          </a:prstGeom>
        </p:spPr>
      </p:pic>
      <p:sp>
        <p:nvSpPr>
          <p:cNvPr id="87" name="Textfeld 28">
            <a:extLst>
              <a:ext uri="{FF2B5EF4-FFF2-40B4-BE49-F238E27FC236}">
                <a16:creationId xmlns:a16="http://schemas.microsoft.com/office/drawing/2014/main" id="{97FD2241-5B61-D9A8-9B5C-DE6B07A2BCBE}"/>
              </a:ext>
            </a:extLst>
          </p:cNvPr>
          <p:cNvSpPr>
            <a:spLocks noGrp="1"/>
          </p:cNvSpPr>
          <p:nvPr/>
        </p:nvSpPr>
        <p:spPr>
          <a:xfrm>
            <a:off x="5083254" y="4638304"/>
            <a:ext cx="1259680" cy="276999"/>
          </a:xfrm>
          <a:prstGeom prst="rect">
            <a:avLst/>
          </a:prstGeom>
          <a:noFill/>
        </p:spPr>
        <p:txBody>
          <a:bodyPr wrap="square">
            <a:spAutoFit/>
          </a:bodyPr>
          <a:lstStyle/>
          <a:p>
            <a:pPr algn="ctr">
              <a:buNone/>
            </a:pPr>
            <a:r>
              <a:rPr sz="1200"/>
              <a:t>Relevant Data</a:t>
            </a:r>
          </a:p>
        </p:txBody>
      </p:sp>
      <p:sp>
        <p:nvSpPr>
          <p:cNvPr id="90" name="Gerader Verbinder 89">
            <a:extLst>
              <a:ext uri="{FF2B5EF4-FFF2-40B4-BE49-F238E27FC236}">
                <a16:creationId xmlns:a16="http://schemas.microsoft.com/office/drawing/2014/main" id="{28E3CEA1-5C20-114C-95BF-87C047395FE4}"/>
              </a:ext>
            </a:extLst>
          </p:cNvPr>
          <p:cNvSpPr>
            <a:spLocks noGrp="1"/>
          </p:cNvSpPr>
          <p:nvPr/>
        </p:nvSpPr>
        <p:spPr>
          <a:xfrm>
            <a:off x="5083254" y="4915303"/>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93" name="Rechteck: abgerundete Ecken 92">
            <a:extLst>
              <a:ext uri="{FF2B5EF4-FFF2-40B4-BE49-F238E27FC236}">
                <a16:creationId xmlns:a16="http://schemas.microsoft.com/office/drawing/2014/main" id="{AD79A1D2-E83B-1112-88E6-A41F8B4E30C4}"/>
              </a:ext>
            </a:extLst>
          </p:cNvPr>
          <p:cNvSpPr>
            <a:spLocks noGrp="1"/>
          </p:cNvSpPr>
          <p:nvPr/>
        </p:nvSpPr>
        <p:spPr>
          <a:xfrm>
            <a:off x="8096250" y="1571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1"/>
          <a:stretch>
            <a:fillRect/>
          </a:stretch>
        </p:blipFill>
        <p:spPr>
          <a:xfrm flipH="1">
            <a:off x="8437495" y="1867303"/>
            <a:ext cx="584924" cy="593680"/>
          </a:xfrm>
          <a:prstGeom prst="rect">
            <a:avLst/>
          </a:prstGeom>
        </p:spPr>
      </p:pic>
      <p:sp>
        <p:nvSpPr>
          <p:cNvPr id="99" name="Textfeld 40">
            <a:extLst>
              <a:ext uri="{FF2B5EF4-FFF2-40B4-BE49-F238E27FC236}">
                <a16:creationId xmlns:a16="http://schemas.microsoft.com/office/drawing/2014/main" id="{39ADD9CF-0CDD-69E9-2A07-C125FCAA3B7D}"/>
              </a:ext>
            </a:extLst>
          </p:cNvPr>
          <p:cNvSpPr>
            <a:spLocks noGrp="1"/>
          </p:cNvSpPr>
          <p:nvPr/>
        </p:nvSpPr>
        <p:spPr>
          <a:xfrm>
            <a:off x="8050449" y="1571625"/>
            <a:ext cx="1414131" cy="276999"/>
          </a:xfrm>
          <a:prstGeom prst="rect">
            <a:avLst/>
          </a:prstGeom>
          <a:noFill/>
        </p:spPr>
        <p:txBody>
          <a:bodyPr wrap="square">
            <a:spAutoFit/>
          </a:bodyPr>
          <a:lstStyle/>
          <a:p>
            <a:pPr algn="ctr">
              <a:buNone/>
            </a:pPr>
            <a:r>
              <a:rPr sz="1200" dirty="0"/>
              <a:t>Embedding LLM</a:t>
            </a:r>
          </a:p>
        </p:txBody>
      </p:sp>
      <p:sp>
        <p:nvSpPr>
          <p:cNvPr id="101" name="Gerader Verbinder 100">
            <a:extLst>
              <a:ext uri="{FF2B5EF4-FFF2-40B4-BE49-F238E27FC236}">
                <a16:creationId xmlns:a16="http://schemas.microsoft.com/office/drawing/2014/main" id="{E72F8E13-9942-DFD0-1B23-F1C4A1D4EC76}"/>
              </a:ext>
            </a:extLst>
          </p:cNvPr>
          <p:cNvSpPr>
            <a:spLocks noGrp="1"/>
          </p:cNvSpPr>
          <p:nvPr/>
        </p:nvSpPr>
        <p:spPr>
          <a:xfrm>
            <a:off x="8096250" y="1855424"/>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02" name="Rechteck: abgerundete Ecken 101">
            <a:extLst>
              <a:ext uri="{FF2B5EF4-FFF2-40B4-BE49-F238E27FC236}">
                <a16:creationId xmlns:a16="http://schemas.microsoft.com/office/drawing/2014/main" id="{CCD2EF0F-009E-7BB9-2850-8D80476CA421}"/>
              </a:ext>
            </a:extLst>
          </p:cNvPr>
          <p:cNvSpPr>
            <a:spLocks noGrp="1"/>
          </p:cNvSpPr>
          <p:nvPr/>
        </p:nvSpPr>
        <p:spPr>
          <a:xfrm>
            <a:off x="8096250" y="4619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11"/>
          <a:stretch>
            <a:fillRect/>
          </a:stretch>
        </p:blipFill>
        <p:spPr>
          <a:xfrm flipH="1">
            <a:off x="8437495" y="4915303"/>
            <a:ext cx="584924" cy="593680"/>
          </a:xfrm>
          <a:prstGeom prst="rect">
            <a:avLst/>
          </a:prstGeom>
        </p:spPr>
      </p:pic>
      <p:sp>
        <p:nvSpPr>
          <p:cNvPr id="105" name="Textfeld 37">
            <a:extLst>
              <a:ext uri="{FF2B5EF4-FFF2-40B4-BE49-F238E27FC236}">
                <a16:creationId xmlns:a16="http://schemas.microsoft.com/office/drawing/2014/main" id="{50BD9ACB-9327-9657-F19C-720F9C5F935E}"/>
              </a:ext>
            </a:extLst>
          </p:cNvPr>
          <p:cNvSpPr>
            <a:spLocks noGrp="1"/>
          </p:cNvSpPr>
          <p:nvPr/>
        </p:nvSpPr>
        <p:spPr>
          <a:xfrm>
            <a:off x="8155543" y="4665605"/>
            <a:ext cx="1128128" cy="276999"/>
          </a:xfrm>
          <a:prstGeom prst="rect">
            <a:avLst/>
          </a:prstGeom>
          <a:solidFill>
            <a:schemeClr val="accent6">
              <a:lumMod val="40000"/>
              <a:lumOff val="60000"/>
            </a:schemeClr>
          </a:solidFill>
          <a:ln>
            <a:noFill/>
          </a:ln>
        </p:spPr>
        <p:txBody>
          <a:bodyPr wrap="square">
            <a:spAutoFit/>
          </a:bodyPr>
          <a:lstStyle/>
          <a:p>
            <a:pPr algn="ctr">
              <a:buNone/>
            </a:pPr>
            <a:r>
              <a:rPr sz="1200"/>
              <a:t>LLM</a:t>
            </a:r>
          </a:p>
        </p:txBody>
      </p:sp>
      <p:sp>
        <p:nvSpPr>
          <p:cNvPr id="106" name="Gerader Verbinder 105">
            <a:extLst>
              <a:ext uri="{FF2B5EF4-FFF2-40B4-BE49-F238E27FC236}">
                <a16:creationId xmlns:a16="http://schemas.microsoft.com/office/drawing/2014/main" id="{C25ABEB4-F7C7-3DF5-DEEF-6DD6C45FCF01}"/>
              </a:ext>
            </a:extLst>
          </p:cNvPr>
          <p:cNvSpPr>
            <a:spLocks noGrp="1"/>
          </p:cNvSpPr>
          <p:nvPr/>
        </p:nvSpPr>
        <p:spPr>
          <a:xfrm flipV="1">
            <a:off x="8083629" y="4908186"/>
            <a:ext cx="1272301" cy="7117"/>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07" name="Gerade Verbindung mit Pfeil 114">
            <a:extLst>
              <a:ext uri="{FF2B5EF4-FFF2-40B4-BE49-F238E27FC236}">
                <a16:creationId xmlns:a16="http://schemas.microsoft.com/office/drawing/2014/main" id="{C51FF297-FBDC-ECF0-D713-029BB7225127}"/>
              </a:ext>
            </a:extLst>
          </p:cNvPr>
          <p:cNvCxnSpPr>
            <a:cxnSpLocks/>
            <a:stCxn id="10" idx="0"/>
            <a:endCxn id="137" idx="2"/>
          </p:cNvCxnSpPr>
          <p:nvPr/>
        </p:nvCxnSpPr>
        <p:spPr>
          <a:xfrm flipV="1">
            <a:off x="1344215" y="2438400"/>
            <a:ext cx="2159701" cy="270510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8" name="Gerade Verbindung mit Pfeil 116">
            <a:extLst>
              <a:ext uri="{FF2B5EF4-FFF2-40B4-BE49-F238E27FC236}">
                <a16:creationId xmlns:a16="http://schemas.microsoft.com/office/drawing/2014/main" id="{0BDDCE84-4016-2B9D-139E-B6028861F673}"/>
              </a:ext>
            </a:extLst>
          </p:cNvPr>
          <p:cNvCxnSpPr>
            <a:stCxn id="37" idx="0"/>
            <a:endCxn id="45" idx="2"/>
          </p:cNvCxnSpPr>
          <p:nvPr/>
        </p:nvCxnSpPr>
        <p:spPr>
          <a:xfrm flipH="1" flipV="1">
            <a:off x="1344215" y="3629025"/>
            <a:ext cx="8742" cy="32385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stCxn id="48" idx="0"/>
            <a:endCxn id="121" idx="2"/>
          </p:cNvCxnSpPr>
          <p:nvPr/>
        </p:nvCxnSpPr>
        <p:spPr>
          <a:xfrm flipV="1">
            <a:off x="1331594" y="2438400"/>
            <a:ext cx="12621" cy="34252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0" name="Gerade Verbindung mit Pfeil 131">
            <a:extLst>
              <a:ext uri="{FF2B5EF4-FFF2-40B4-BE49-F238E27FC236}">
                <a16:creationId xmlns:a16="http://schemas.microsoft.com/office/drawing/2014/main" id="{5251572B-350B-C100-8968-FD93BB1542C3}"/>
              </a:ext>
            </a:extLst>
          </p:cNvPr>
          <p:cNvCxnSpPr>
            <a:stCxn id="54" idx="3"/>
            <a:endCxn id="77" idx="0"/>
          </p:cNvCxnSpPr>
          <p:nvPr/>
        </p:nvCxnSpPr>
        <p:spPr>
          <a:xfrm flipH="1">
            <a:off x="5754145" y="2012297"/>
            <a:ext cx="625035" cy="1054382"/>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1" name="Gerade Verbindung mit Pfeil 140">
            <a:extLst>
              <a:ext uri="{FF2B5EF4-FFF2-40B4-BE49-F238E27FC236}">
                <a16:creationId xmlns:a16="http://schemas.microsoft.com/office/drawing/2014/main" id="{E5BD5263-3B5A-0D1D-357B-F50C33F87BA3}"/>
              </a:ext>
            </a:extLst>
          </p:cNvPr>
          <p:cNvCxnSpPr>
            <a:cxnSpLocks/>
          </p:cNvCxnSpPr>
          <p:nvPr/>
        </p:nvCxnSpPr>
        <p:spPr>
          <a:xfrm flipH="1">
            <a:off x="6224316" y="5508983"/>
            <a:ext cx="6013" cy="36674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stCxn id="81" idx="3"/>
            <a:endCxn id="102" idx="1"/>
          </p:cNvCxnSpPr>
          <p:nvPr/>
        </p:nvCxnSpPr>
        <p:spPr>
          <a:xfrm>
            <a:off x="6355555" y="5053013"/>
            <a:ext cx="1740695" cy="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3" name="Gerade Verbindung mit Pfeil 146">
            <a:extLst>
              <a:ext uri="{FF2B5EF4-FFF2-40B4-BE49-F238E27FC236}">
                <a16:creationId xmlns:a16="http://schemas.microsoft.com/office/drawing/2014/main" id="{931477AF-1141-F35E-70BA-9FF1B2A8B638}"/>
              </a:ext>
            </a:extLst>
          </p:cNvPr>
          <p:cNvCxnSpPr>
            <a:endCxn id="24" idx="0"/>
          </p:cNvCxnSpPr>
          <p:nvPr/>
        </p:nvCxnSpPr>
        <p:spPr>
          <a:xfrm flipV="1">
            <a:off x="7969527" y="4619625"/>
            <a:ext cx="2947313" cy="88262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stCxn id="60" idx="1"/>
            <a:endCxn id="72" idx="3"/>
          </p:cNvCxnSpPr>
          <p:nvPr/>
        </p:nvCxnSpPr>
        <p:spPr>
          <a:xfrm flipH="1">
            <a:off x="6355555" y="3481388"/>
            <a:ext cx="1740695" cy="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6" name="Gerade Verbindung mit Pfeil 153">
            <a:extLst>
              <a:ext uri="{FF2B5EF4-FFF2-40B4-BE49-F238E27FC236}">
                <a16:creationId xmlns:a16="http://schemas.microsoft.com/office/drawing/2014/main" id="{D607BF0C-A131-1483-6422-39F2657F50BA}"/>
              </a:ext>
            </a:extLst>
          </p:cNvPr>
          <p:cNvCxnSpPr>
            <a:stCxn id="93" idx="1"/>
          </p:cNvCxnSpPr>
          <p:nvPr/>
        </p:nvCxnSpPr>
        <p:spPr>
          <a:xfrm flipH="1">
            <a:off x="4365106" y="1891405"/>
            <a:ext cx="3003894" cy="893383"/>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8" name="Gerade Verbindung mit Pfeil 154">
            <a:extLst>
              <a:ext uri="{FF2B5EF4-FFF2-40B4-BE49-F238E27FC236}">
                <a16:creationId xmlns:a16="http://schemas.microsoft.com/office/drawing/2014/main" id="{834D9059-9B1E-06B1-21DE-CCB1F5E0CF41}"/>
              </a:ext>
            </a:extLst>
          </p:cNvPr>
          <p:cNvCxnSpPr/>
          <p:nvPr/>
        </p:nvCxnSpPr>
        <p:spPr>
          <a:xfrm>
            <a:off x="8589017" y="2354960"/>
            <a:ext cx="1139991" cy="1310591"/>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0" name="Gerade Verbindung mit Pfeil 158">
            <a:extLst>
              <a:ext uri="{FF2B5EF4-FFF2-40B4-BE49-F238E27FC236}">
                <a16:creationId xmlns:a16="http://schemas.microsoft.com/office/drawing/2014/main" id="{325B0423-E42C-0888-4607-AF9A76A04358}"/>
              </a:ext>
            </a:extLst>
          </p:cNvPr>
          <p:cNvCxnSpPr>
            <a:stCxn id="18" idx="1"/>
            <a:endCxn id="60" idx="3"/>
          </p:cNvCxnSpPr>
          <p:nvPr/>
        </p:nvCxnSpPr>
        <p:spPr>
          <a:xfrm flipH="1">
            <a:off x="9355930" y="2005013"/>
            <a:ext cx="931070" cy="1476375"/>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1" name="Rechteck: abgerundete Ecken 120">
            <a:extLst>
              <a:ext uri="{FF2B5EF4-FFF2-40B4-BE49-F238E27FC236}">
                <a16:creationId xmlns:a16="http://schemas.microsoft.com/office/drawing/2014/main" id="{AD7B8046-A7E5-977B-9789-31E7E99EC995}"/>
              </a:ext>
            </a:extLst>
          </p:cNvPr>
          <p:cNvSpPr>
            <a:spLocks noGrp="1"/>
          </p:cNvSpPr>
          <p:nvPr/>
        </p:nvSpPr>
        <p:spPr>
          <a:xfrm>
            <a:off x="714375" y="1571625"/>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2"/>
          <a:stretch>
            <a:fillRect/>
          </a:stretch>
        </p:blipFill>
        <p:spPr>
          <a:xfrm>
            <a:off x="1064972" y="1970328"/>
            <a:ext cx="515265" cy="403725"/>
          </a:xfrm>
          <a:prstGeom prst="rect">
            <a:avLst/>
          </a:prstGeom>
        </p:spPr>
      </p:pic>
      <p:sp>
        <p:nvSpPr>
          <p:cNvPr id="123" name="Textfeld 171">
            <a:extLst>
              <a:ext uri="{FF2B5EF4-FFF2-40B4-BE49-F238E27FC236}">
                <a16:creationId xmlns:a16="http://schemas.microsoft.com/office/drawing/2014/main" id="{94B0B414-3457-95E7-777A-E27F72556F9D}"/>
              </a:ext>
            </a:extLst>
          </p:cNvPr>
          <p:cNvSpPr>
            <a:spLocks noGrp="1"/>
          </p:cNvSpPr>
          <p:nvPr/>
        </p:nvSpPr>
        <p:spPr>
          <a:xfrm>
            <a:off x="701754" y="1590304"/>
            <a:ext cx="1259680" cy="276999"/>
          </a:xfrm>
          <a:prstGeom prst="rect">
            <a:avLst/>
          </a:prstGeom>
          <a:noFill/>
        </p:spPr>
        <p:txBody>
          <a:bodyPr wrap="square">
            <a:spAutoFit/>
          </a:bodyPr>
          <a:lstStyle/>
          <a:p>
            <a:pPr algn="ctr">
              <a:buNone/>
            </a:pPr>
            <a:r>
              <a:rPr sz="1200"/>
              <a:t>Chunks</a:t>
            </a:r>
          </a:p>
        </p:txBody>
      </p:sp>
      <p:sp>
        <p:nvSpPr>
          <p:cNvPr id="124" name="Gerader Verbinder 123">
            <a:extLst>
              <a:ext uri="{FF2B5EF4-FFF2-40B4-BE49-F238E27FC236}">
                <a16:creationId xmlns:a16="http://schemas.microsoft.com/office/drawing/2014/main" id="{E1830494-1611-ADE7-C919-BF9ADBCD7AEF}"/>
              </a:ext>
            </a:extLst>
          </p:cNvPr>
          <p:cNvSpPr>
            <a:spLocks noGrp="1"/>
          </p:cNvSpPr>
          <p:nvPr/>
        </p:nvSpPr>
        <p:spPr>
          <a:xfrm flipV="1">
            <a:off x="714375" y="1867303"/>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25" name="Gerade Verbindung mit Pfeil 175">
            <a:extLst>
              <a:ext uri="{FF2B5EF4-FFF2-40B4-BE49-F238E27FC236}">
                <a16:creationId xmlns:a16="http://schemas.microsoft.com/office/drawing/2014/main" id="{C72D8DE9-33EF-8199-896F-3B4B34E4C33F}"/>
              </a:ext>
            </a:extLst>
          </p:cNvPr>
          <p:cNvCxnSpPr>
            <a:stCxn id="121" idx="3"/>
            <a:endCxn id="54" idx="1"/>
          </p:cNvCxnSpPr>
          <p:nvPr/>
        </p:nvCxnSpPr>
        <p:spPr>
          <a:xfrm>
            <a:off x="1974055" y="2005013"/>
            <a:ext cx="3145445" cy="7284"/>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6" name="Gerade Verbindung mit Pfeil 125">
            <a:extLst>
              <a:ext uri="{FF2B5EF4-FFF2-40B4-BE49-F238E27FC236}">
                <a16:creationId xmlns:a16="http://schemas.microsoft.com/office/drawing/2014/main" id="{2F8AE9B7-7DF2-DD44-666C-0F46DF7C984C}"/>
              </a:ext>
            </a:extLst>
          </p:cNvPr>
          <p:cNvCxnSpPr>
            <a:stCxn id="10" idx="0"/>
            <a:endCxn id="37" idx="2"/>
          </p:cNvCxnSpPr>
          <p:nvPr/>
        </p:nvCxnSpPr>
        <p:spPr>
          <a:xfrm flipV="1">
            <a:off x="1344215" y="4819650"/>
            <a:ext cx="8742" cy="323850"/>
          </a:xfrm>
          <a:prstGeom prst="straightConnector1">
            <a:avLst/>
          </a:prstGeom>
          <a:ln w="20955">
            <a:solidFill>
              <a:srgbClr val="304554"/>
            </a:solidFill>
            <a:prstDash val="solid"/>
            <a:tailEnd type="triangle" w="sm" len="sm"/>
          </a:ln>
        </p:spPr>
      </p:cxnSp>
      <p:cxnSp>
        <p:nvCxnSpPr>
          <p:cNvPr id="127" name="Gerade Verbindung mit Pfeil 126">
            <a:extLst>
              <a:ext uri="{FF2B5EF4-FFF2-40B4-BE49-F238E27FC236}">
                <a16:creationId xmlns:a16="http://schemas.microsoft.com/office/drawing/2014/main" id="{3D560821-5CFC-8CEA-9E6D-08367593D66A}"/>
              </a:ext>
            </a:extLst>
          </p:cNvPr>
          <p:cNvCxnSpPr>
            <a:stCxn id="37" idx="0"/>
            <a:endCxn id="45" idx="2"/>
          </p:cNvCxnSpPr>
          <p:nvPr/>
        </p:nvCxnSpPr>
        <p:spPr>
          <a:xfrm flipH="1" flipV="1">
            <a:off x="1344215" y="3629025"/>
            <a:ext cx="8742" cy="323850"/>
          </a:xfrm>
          <a:prstGeom prst="straightConnector1">
            <a:avLst/>
          </a:prstGeom>
          <a:ln w="20955">
            <a:solidFill>
              <a:srgbClr val="304554"/>
            </a:solidFill>
            <a:prstDash val="solid"/>
            <a:tailEnd type="triangle" w="sm" len="sm"/>
          </a:ln>
        </p:spPr>
      </p:cxnSp>
      <p:cxnSp>
        <p:nvCxnSpPr>
          <p:cNvPr id="128" name="Gerade Verbindung mit Pfeil 127">
            <a:extLst>
              <a:ext uri="{FF2B5EF4-FFF2-40B4-BE49-F238E27FC236}">
                <a16:creationId xmlns:a16="http://schemas.microsoft.com/office/drawing/2014/main" id="{A1F75876-635A-EB2E-14AF-3E3B0E315CAF}"/>
              </a:ext>
            </a:extLst>
          </p:cNvPr>
          <p:cNvCxnSpPr>
            <a:stCxn id="45" idx="0"/>
            <a:endCxn id="121" idx="2"/>
          </p:cNvCxnSpPr>
          <p:nvPr/>
        </p:nvCxnSpPr>
        <p:spPr>
          <a:xfrm flipV="1">
            <a:off x="1344215" y="2438400"/>
            <a:ext cx="0" cy="323850"/>
          </a:xfrm>
          <a:prstGeom prst="straightConnector1">
            <a:avLst/>
          </a:prstGeom>
          <a:ln w="20955">
            <a:solidFill>
              <a:srgbClr val="304554"/>
            </a:solidFill>
            <a:prstDash val="solid"/>
            <a:tailEnd type="triangle" w="sm" len="sm"/>
          </a:ln>
        </p:spPr>
      </p:cxnSp>
      <p:cxnSp>
        <p:nvCxnSpPr>
          <p:cNvPr id="129" name="Gerade Verbindung mit Pfeil 128">
            <a:extLst>
              <a:ext uri="{FF2B5EF4-FFF2-40B4-BE49-F238E27FC236}">
                <a16:creationId xmlns:a16="http://schemas.microsoft.com/office/drawing/2014/main" id="{11AAC394-26E2-4C16-5C24-E25FD3E7D705}"/>
              </a:ext>
            </a:extLst>
          </p:cNvPr>
          <p:cNvCxnSpPr>
            <a:cxnSpLocks/>
            <a:stCxn id="121" idx="3"/>
            <a:endCxn id="137" idx="1"/>
          </p:cNvCxnSpPr>
          <p:nvPr/>
        </p:nvCxnSpPr>
        <p:spPr>
          <a:xfrm>
            <a:off x="1974055" y="2005013"/>
            <a:ext cx="900021" cy="0"/>
          </a:xfrm>
          <a:prstGeom prst="straightConnector1">
            <a:avLst/>
          </a:prstGeom>
          <a:ln w="20955">
            <a:solidFill>
              <a:srgbClr val="304554"/>
            </a:solidFill>
            <a:prstDash val="solid"/>
            <a:tailEnd type="triangle" w="sm" len="sm"/>
          </a:ln>
        </p:spPr>
      </p:cxnSp>
      <p:cxnSp>
        <p:nvCxnSpPr>
          <p:cNvPr id="130" name="Gerade Verbindung mit Pfeil 129">
            <a:extLst>
              <a:ext uri="{FF2B5EF4-FFF2-40B4-BE49-F238E27FC236}">
                <a16:creationId xmlns:a16="http://schemas.microsoft.com/office/drawing/2014/main" id="{572FB2CE-8851-3537-32C3-B05BFCE5D204}"/>
              </a:ext>
            </a:extLst>
          </p:cNvPr>
          <p:cNvCxnSpPr>
            <a:stCxn id="18" idx="1"/>
            <a:endCxn id="93" idx="3"/>
          </p:cNvCxnSpPr>
          <p:nvPr/>
        </p:nvCxnSpPr>
        <p:spPr>
          <a:xfrm flipH="1">
            <a:off x="9355930" y="2005013"/>
            <a:ext cx="931070" cy="0"/>
          </a:xfrm>
          <a:prstGeom prst="straightConnector1">
            <a:avLst/>
          </a:prstGeom>
          <a:ln w="20955">
            <a:solidFill>
              <a:srgbClr val="8D8271"/>
            </a:solidFill>
            <a:prstDash val="solid"/>
            <a:tailEnd type="triangle" w="sm" len="sm"/>
          </a:ln>
        </p:spPr>
      </p:cxnSp>
      <p:cxnSp>
        <p:nvCxnSpPr>
          <p:cNvPr id="131" name="Gerade Verbindung mit Pfeil 130">
            <a:extLst>
              <a:ext uri="{FF2B5EF4-FFF2-40B4-BE49-F238E27FC236}">
                <a16:creationId xmlns:a16="http://schemas.microsoft.com/office/drawing/2014/main" id="{8D4278C3-96BC-BBC5-2E76-E6FCA97DDB47}"/>
              </a:ext>
            </a:extLst>
          </p:cNvPr>
          <p:cNvCxnSpPr>
            <a:stCxn id="93" idx="2"/>
            <a:endCxn id="60" idx="0"/>
          </p:cNvCxnSpPr>
          <p:nvPr/>
        </p:nvCxnSpPr>
        <p:spPr>
          <a:xfrm>
            <a:off x="8726090" y="2438400"/>
            <a:ext cx="0" cy="609600"/>
          </a:xfrm>
          <a:prstGeom prst="straightConnector1">
            <a:avLst/>
          </a:prstGeom>
          <a:ln w="20955">
            <a:solidFill>
              <a:srgbClr val="8D8271"/>
            </a:solidFill>
            <a:prstDash val="solid"/>
            <a:tailEnd type="triangle" w="sm" len="sm"/>
          </a:ln>
        </p:spPr>
      </p:cxnSp>
      <p:cxnSp>
        <p:nvCxnSpPr>
          <p:cNvPr id="133" name="Gerade Verbindung mit Pfeil 132">
            <a:extLst>
              <a:ext uri="{FF2B5EF4-FFF2-40B4-BE49-F238E27FC236}">
                <a16:creationId xmlns:a16="http://schemas.microsoft.com/office/drawing/2014/main" id="{2D067BCA-65FF-5D06-9747-239393946F3C}"/>
              </a:ext>
            </a:extLst>
          </p:cNvPr>
          <p:cNvCxnSpPr>
            <a:stCxn id="60" idx="1"/>
            <a:endCxn id="72" idx="3"/>
          </p:cNvCxnSpPr>
          <p:nvPr/>
        </p:nvCxnSpPr>
        <p:spPr>
          <a:xfrm flipH="1">
            <a:off x="6355555" y="3481388"/>
            <a:ext cx="1740695" cy="0"/>
          </a:xfrm>
          <a:prstGeom prst="straightConnector1">
            <a:avLst/>
          </a:prstGeom>
          <a:ln w="20955">
            <a:solidFill>
              <a:srgbClr val="8D8271"/>
            </a:solidFill>
            <a:prstDash val="solid"/>
            <a:tailEnd type="triangle" w="sm" len="sm"/>
          </a:ln>
        </p:spPr>
      </p:cxnSp>
      <p:cxnSp>
        <p:nvCxnSpPr>
          <p:cNvPr id="134" name="Gerade Verbindung mit Pfeil 133">
            <a:extLst>
              <a:ext uri="{FF2B5EF4-FFF2-40B4-BE49-F238E27FC236}">
                <a16:creationId xmlns:a16="http://schemas.microsoft.com/office/drawing/2014/main" id="{71E25062-8F3D-DDAB-DCED-4672C3BE29B3}"/>
              </a:ext>
            </a:extLst>
          </p:cNvPr>
          <p:cNvCxnSpPr>
            <a:stCxn id="72" idx="2"/>
            <a:endCxn id="81" idx="0"/>
          </p:cNvCxnSpPr>
          <p:nvPr/>
        </p:nvCxnSpPr>
        <p:spPr>
          <a:xfrm>
            <a:off x="5725715" y="3914775"/>
            <a:ext cx="0" cy="704850"/>
          </a:xfrm>
          <a:prstGeom prst="straightConnector1">
            <a:avLst/>
          </a:prstGeom>
          <a:ln w="20955">
            <a:solidFill>
              <a:srgbClr val="8D8271"/>
            </a:solidFill>
            <a:prstDash val="solid"/>
            <a:tailEnd type="triangle" w="sm" len="sm"/>
          </a:ln>
        </p:spPr>
      </p:cxnSp>
      <p:cxnSp>
        <p:nvCxnSpPr>
          <p:cNvPr id="135" name="Gerade Verbindung mit Pfeil 134">
            <a:extLst>
              <a:ext uri="{FF2B5EF4-FFF2-40B4-BE49-F238E27FC236}">
                <a16:creationId xmlns:a16="http://schemas.microsoft.com/office/drawing/2014/main" id="{C9AE14A9-3DBE-E4A2-3659-9E3080C717DF}"/>
              </a:ext>
            </a:extLst>
          </p:cNvPr>
          <p:cNvCxnSpPr>
            <a:stCxn id="81" idx="3"/>
            <a:endCxn id="102" idx="1"/>
          </p:cNvCxnSpPr>
          <p:nvPr/>
        </p:nvCxnSpPr>
        <p:spPr>
          <a:xfrm>
            <a:off x="6355555" y="5053013"/>
            <a:ext cx="1740695" cy="0"/>
          </a:xfrm>
          <a:prstGeom prst="straightConnector1">
            <a:avLst/>
          </a:prstGeom>
          <a:ln w="22860">
            <a:solidFill>
              <a:srgbClr val="CF062E"/>
            </a:solidFill>
            <a:prstDash val="solid"/>
            <a:tailEnd type="triangle" w="sm" len="sm"/>
          </a:ln>
        </p:spPr>
      </p:cxnSp>
      <p:cxnSp>
        <p:nvCxnSpPr>
          <p:cNvPr id="136" name="Gerade Verbindung mit Pfeil 135">
            <a:extLst>
              <a:ext uri="{FF2B5EF4-FFF2-40B4-BE49-F238E27FC236}">
                <a16:creationId xmlns:a16="http://schemas.microsoft.com/office/drawing/2014/main" id="{911C4D5D-F807-983E-E278-9B3558601794}"/>
              </a:ext>
            </a:extLst>
          </p:cNvPr>
          <p:cNvCxnSpPr>
            <a:stCxn id="102" idx="3"/>
            <a:endCxn id="24" idx="1"/>
          </p:cNvCxnSpPr>
          <p:nvPr/>
        </p:nvCxnSpPr>
        <p:spPr>
          <a:xfrm>
            <a:off x="9355930" y="5053013"/>
            <a:ext cx="931070" cy="0"/>
          </a:xfrm>
          <a:prstGeom prst="straightConnector1">
            <a:avLst/>
          </a:prstGeom>
          <a:ln w="22860">
            <a:solidFill>
              <a:srgbClr val="CF062E"/>
            </a:solidFill>
            <a:prstDash val="solid"/>
            <a:tailEnd type="triangle" w="sm" len="sm"/>
          </a:ln>
        </p:spPr>
      </p:cxnSp>
      <p:sp>
        <p:nvSpPr>
          <p:cNvPr id="137" name="Rechteck: abgerundete Ecken 136">
            <a:extLst>
              <a:ext uri="{FF2B5EF4-FFF2-40B4-BE49-F238E27FC236}">
                <a16:creationId xmlns:a16="http://schemas.microsoft.com/office/drawing/2014/main" id="{2F0E7FDF-A2C6-F785-F1E7-936F202EF2F8}"/>
              </a:ext>
            </a:extLst>
          </p:cNvPr>
          <p:cNvSpPr>
            <a:spLocks noGrp="1"/>
          </p:cNvSpPr>
          <p:nvPr/>
        </p:nvSpPr>
        <p:spPr>
          <a:xfrm>
            <a:off x="2874076" y="1571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1"/>
          <a:stretch>
            <a:fillRect/>
          </a:stretch>
        </p:blipFill>
        <p:spPr>
          <a:xfrm flipH="1">
            <a:off x="3215321" y="1867303"/>
            <a:ext cx="584924" cy="593680"/>
          </a:xfrm>
          <a:prstGeom prst="rect">
            <a:avLst/>
          </a:prstGeom>
        </p:spPr>
      </p:pic>
      <p:sp>
        <p:nvSpPr>
          <p:cNvPr id="139" name="Textfeld 40">
            <a:extLst>
              <a:ext uri="{FF2B5EF4-FFF2-40B4-BE49-F238E27FC236}">
                <a16:creationId xmlns:a16="http://schemas.microsoft.com/office/drawing/2014/main" id="{F5202F32-CF94-B0E2-B061-FC87820AD558}"/>
              </a:ext>
            </a:extLst>
          </p:cNvPr>
          <p:cNvSpPr>
            <a:spLocks noGrp="1"/>
          </p:cNvSpPr>
          <p:nvPr/>
        </p:nvSpPr>
        <p:spPr>
          <a:xfrm>
            <a:off x="2828275" y="1571625"/>
            <a:ext cx="1414131" cy="276999"/>
          </a:xfrm>
          <a:prstGeom prst="rect">
            <a:avLst/>
          </a:prstGeom>
          <a:noFill/>
        </p:spPr>
        <p:txBody>
          <a:bodyPr wrap="square">
            <a:spAutoFit/>
          </a:bodyPr>
          <a:lstStyle/>
          <a:p>
            <a:pPr algn="ctr">
              <a:buNone/>
            </a:pPr>
            <a:r>
              <a:rPr sz="1200" dirty="0"/>
              <a:t>Embedding LLM</a:t>
            </a:r>
          </a:p>
        </p:txBody>
      </p:sp>
      <p:sp>
        <p:nvSpPr>
          <p:cNvPr id="140" name="Gerader Verbinder 139">
            <a:extLst>
              <a:ext uri="{FF2B5EF4-FFF2-40B4-BE49-F238E27FC236}">
                <a16:creationId xmlns:a16="http://schemas.microsoft.com/office/drawing/2014/main" id="{FAE015C5-0604-FCE4-AE8F-E2A5506C996F}"/>
              </a:ext>
            </a:extLst>
          </p:cNvPr>
          <p:cNvSpPr>
            <a:spLocks noGrp="1"/>
          </p:cNvSpPr>
          <p:nvPr/>
        </p:nvSpPr>
        <p:spPr>
          <a:xfrm>
            <a:off x="2874076" y="1855424"/>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42" name="Gerade Verbindung mit Pfeil 141">
            <a:extLst>
              <a:ext uri="{FF2B5EF4-FFF2-40B4-BE49-F238E27FC236}">
                <a16:creationId xmlns:a16="http://schemas.microsoft.com/office/drawing/2014/main" id="{250A82F1-6D5C-250C-1CB6-877ACFE32D37}"/>
              </a:ext>
            </a:extLst>
          </p:cNvPr>
          <p:cNvCxnSpPr>
            <a:cxnSpLocks/>
            <a:stCxn id="137" idx="3"/>
            <a:endCxn id="54" idx="1"/>
          </p:cNvCxnSpPr>
          <p:nvPr/>
        </p:nvCxnSpPr>
        <p:spPr>
          <a:xfrm>
            <a:off x="4133756" y="2005013"/>
            <a:ext cx="985744" cy="7284"/>
          </a:xfrm>
          <a:prstGeom prst="straightConnector1">
            <a:avLst/>
          </a:prstGeom>
          <a:ln w="20955">
            <a:solidFill>
              <a:srgbClr val="304554"/>
            </a:solidFill>
            <a:prstDash val="solid"/>
            <a:tailEnd type="triangle" w="sm" len="sm"/>
          </a:ln>
        </p:spPr>
      </p:cxnSp>
      <p:cxnSp>
        <p:nvCxnSpPr>
          <p:cNvPr id="143" name="Gerade Verbindung mit Pfeil 142">
            <a:extLst>
              <a:ext uri="{FF2B5EF4-FFF2-40B4-BE49-F238E27FC236}">
                <a16:creationId xmlns:a16="http://schemas.microsoft.com/office/drawing/2014/main" id="{3CECE63A-21C4-476A-975A-5AC5E3A1EB5E}"/>
              </a:ext>
            </a:extLst>
          </p:cNvPr>
          <p:cNvCxnSpPr>
            <a:cxnSpLocks/>
          </p:cNvCxnSpPr>
          <p:nvPr/>
        </p:nvCxnSpPr>
        <p:spPr>
          <a:xfrm>
            <a:off x="5749340" y="2448836"/>
            <a:ext cx="4805" cy="608699"/>
          </a:xfrm>
          <a:prstGeom prst="straightConnector1">
            <a:avLst/>
          </a:prstGeom>
          <a:ln w="20955">
            <a:solidFill>
              <a:srgbClr val="304554"/>
            </a:solidFill>
            <a:prstDash val="solid"/>
            <a:tailEnd type="triangle" w="sm" len="sm"/>
          </a:ln>
        </p:spPr>
      </p:cxnSp>
      <p:sp>
        <p:nvSpPr>
          <p:cNvPr id="145" name="Textfeld 144">
            <a:extLst>
              <a:ext uri="{FF2B5EF4-FFF2-40B4-BE49-F238E27FC236}">
                <a16:creationId xmlns:a16="http://schemas.microsoft.com/office/drawing/2014/main" id="{8C156430-C202-53BD-8023-A0D5C9A9CCB0}"/>
              </a:ext>
            </a:extLst>
          </p:cNvPr>
          <p:cNvSpPr txBox="1"/>
          <p:nvPr/>
        </p:nvSpPr>
        <p:spPr>
          <a:xfrm>
            <a:off x="6838721" y="4799945"/>
            <a:ext cx="922500" cy="276999"/>
          </a:xfrm>
          <a:prstGeom prst="rect">
            <a:avLst/>
          </a:prstGeom>
          <a:noFill/>
        </p:spPr>
        <p:txBody>
          <a:bodyPr wrap="square" rtlCol="0">
            <a:spAutoFit/>
          </a:bodyPr>
          <a:lstStyle/>
          <a:p>
            <a:r>
              <a:rPr lang="de-CH" sz="1200" dirty="0" err="1"/>
              <a:t>Context</a:t>
            </a:r>
            <a:endParaRPr lang="de-CH" sz="1200" dirty="0"/>
          </a:p>
        </p:txBody>
      </p:sp>
    </p:spTree>
    <p:extLst>
      <p:ext uri="{BB962C8B-B14F-4D97-AF65-F5344CB8AC3E}">
        <p14:creationId xmlns:p14="http://schemas.microsoft.com/office/powerpoint/2010/main" val="2074129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4"/>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2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48"/>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09"/>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2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2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24"/>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2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21"/>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1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40"/>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42"/>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39"/>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54"/>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56"/>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5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43"/>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93"/>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9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31"/>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9"/>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60"/>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63"/>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6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9"/>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133"/>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81"/>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84"/>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87"/>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90"/>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111"/>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134"/>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 presetClass="entr" presetSubtype="0" fill="hold" grpId="0" nodeType="clickEffect">
                                  <p:stCondLst>
                                    <p:cond delay="0"/>
                                  </p:stCondLst>
                                  <p:childTnLst>
                                    <p:set>
                                      <p:cBhvr>
                                        <p:cTn id="128" dur="1" fill="hold">
                                          <p:stCondLst>
                                            <p:cond delay="0"/>
                                          </p:stCondLst>
                                        </p:cTn>
                                        <p:tgtEl>
                                          <p:spTgt spid="102"/>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104"/>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5"/>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6"/>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45"/>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135"/>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nodeType="clickEffect">
                                  <p:stCondLst>
                                    <p:cond delay="0"/>
                                  </p:stCondLst>
                                  <p:childTnLst>
                                    <p:set>
                                      <p:cBhvr>
                                        <p:cTn id="142" dur="1" fill="hold">
                                          <p:stCondLst>
                                            <p:cond delay="0"/>
                                          </p:stCondLst>
                                        </p:cTn>
                                        <p:tgtEl>
                                          <p:spTgt spid="136"/>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24"/>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2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p:bldP spid="14" grpId="0" animBg="1"/>
      <p:bldP spid="24" grpId="0" animBg="1"/>
      <p:bldP spid="31" grpId="0"/>
      <p:bldP spid="37" grpId="0" animBg="1"/>
      <p:bldP spid="43" grpId="0"/>
      <p:bldP spid="44" grpId="0" animBg="1"/>
      <p:bldP spid="45" grpId="0" animBg="1"/>
      <p:bldP spid="48" grpId="0"/>
      <p:bldP spid="51" grpId="0" animBg="1"/>
      <p:bldP spid="54" grpId="0" animBg="1"/>
      <p:bldP spid="57" grpId="0"/>
      <p:bldP spid="58" grpId="0" animBg="1"/>
      <p:bldP spid="60" grpId="0" animBg="1"/>
      <p:bldP spid="67" grpId="0"/>
      <p:bldP spid="69" grpId="0" animBg="1"/>
      <p:bldP spid="72" grpId="0" animBg="1"/>
      <p:bldP spid="77" grpId="0"/>
      <p:bldP spid="79" grpId="0" animBg="1"/>
      <p:bldP spid="81" grpId="0" animBg="1"/>
      <p:bldP spid="87" grpId="0"/>
      <p:bldP spid="90" grpId="0" animBg="1"/>
      <p:bldP spid="93" grpId="0" animBg="1"/>
      <p:bldP spid="99" grpId="0"/>
      <p:bldP spid="101" grpId="0" animBg="1"/>
      <p:bldP spid="102" grpId="0" animBg="1"/>
      <p:bldP spid="105" grpId="0" animBg="1"/>
      <p:bldP spid="106" grpId="0" animBg="1"/>
      <p:bldP spid="121" grpId="0" animBg="1"/>
      <p:bldP spid="123" grpId="0"/>
      <p:bldP spid="124" grpId="0" animBg="1"/>
      <p:bldP spid="137" grpId="0" animBg="1"/>
      <p:bldP spid="139" grpId="0"/>
      <p:bldP spid="140" grpId="0" animBg="1"/>
      <p:bldP spid="14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76250" y="342900"/>
            <a:ext cx="11239500" cy="742950"/>
          </a:xfrm>
        </p:spPr>
        <p:txBody>
          <a:bodyPr anchor="ctr"/>
          <a:lstStyle/>
          <a:p>
            <a:pPr algn="l">
              <a:buNone/>
              <a:defRPr sz="2850">
                <a:solidFill>
                  <a:srgbClr val="2D3F4B"/>
                </a:solidFill>
                <a:latin typeface="Arial"/>
                <a:ea typeface="Arial"/>
                <a:cs typeface="Arial"/>
              </a:defRPr>
            </a:pPr>
            <a:r>
              <a:rPr sz="2850" dirty="0" err="1">
                <a:solidFill>
                  <a:srgbClr val="2D3F4B"/>
                </a:solidFill>
                <a:latin typeface="Arial"/>
                <a:ea typeface="Arial"/>
                <a:cs typeface="Arial"/>
              </a:rPr>
              <a:t>Vom</a:t>
            </a:r>
            <a:r>
              <a:rPr sz="2850" dirty="0">
                <a:solidFill>
                  <a:srgbClr val="2D3F4B"/>
                </a:solidFill>
                <a:latin typeface="Arial"/>
                <a:ea typeface="Arial"/>
                <a:cs typeface="Arial"/>
              </a:rPr>
              <a:t> </a:t>
            </a:r>
            <a:r>
              <a:rPr sz="2850" dirty="0" err="1">
                <a:solidFill>
                  <a:srgbClr val="2D3F4B"/>
                </a:solidFill>
                <a:latin typeface="Arial"/>
                <a:ea typeface="Arial"/>
                <a:cs typeface="Arial"/>
              </a:rPr>
              <a:t>Modellaufruf</a:t>
            </a:r>
            <a:r>
              <a:rPr sz="2850" dirty="0">
                <a:solidFill>
                  <a:srgbClr val="2D3F4B"/>
                </a:solidFill>
                <a:latin typeface="Arial"/>
                <a:ea typeface="Arial"/>
                <a:cs typeface="Arial"/>
              </a:rPr>
              <a:t> </a:t>
            </a:r>
            <a:r>
              <a:rPr sz="2850" dirty="0" err="1">
                <a:solidFill>
                  <a:srgbClr val="2D3F4B"/>
                </a:solidFill>
                <a:latin typeface="Arial"/>
                <a:ea typeface="Arial"/>
                <a:cs typeface="Arial"/>
              </a:rPr>
              <a:t>zum</a:t>
            </a:r>
            <a:r>
              <a:rPr sz="2850" dirty="0">
                <a:solidFill>
                  <a:srgbClr val="2D3F4B"/>
                </a:solidFill>
                <a:latin typeface="Arial"/>
                <a:ea typeface="Arial"/>
                <a:cs typeface="Arial"/>
              </a:rPr>
              <a:t> </a:t>
            </a:r>
            <a:r>
              <a:rPr sz="2850" dirty="0" err="1">
                <a:solidFill>
                  <a:srgbClr val="2D3F4B"/>
                </a:solidFill>
                <a:latin typeface="Arial"/>
                <a:ea typeface="Arial"/>
                <a:cs typeface="Arial"/>
              </a:rPr>
              <a:t>messbaren</a:t>
            </a:r>
            <a:r>
              <a:rPr sz="2850" dirty="0">
                <a:solidFill>
                  <a:srgbClr val="2D3F4B"/>
                </a:solidFill>
                <a:latin typeface="Arial"/>
                <a:ea typeface="Arial"/>
                <a:cs typeface="Arial"/>
              </a:rPr>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idx="10"/>
          </p:nvPr>
        </p:nvSpPr>
        <p:spPr/>
        <p:txBody>
          <a:bodyPr/>
          <a:lstStyle/>
          <a:p>
            <a:fld id="{1EB7C1D4-D1F3-40CB-8780-B2B6A9133392}" type="datetime1">
              <a:rPr lang="de-DE"/>
              <a:t>07.08.2026</a:t>
            </a:fld>
            <a:endParaRPr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idx="12"/>
          </p:nvPr>
        </p:nvSpPr>
        <p:spPr/>
        <p:txBody>
          <a:bodyPr/>
          <a:lstStyle/>
          <a:p>
            <a:fld id="{CE7E00E2-F08D-429A-AD9B-1ECBEC02F4DB}" type="slidenum">
              <a:rPr/>
              <a:t>8</a:t>
            </a:fld>
            <a:endParaRPr/>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07.08.2026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2850" dirty="0">
                <a:solidFill>
                  <a:srgbClr val="2D3F4B"/>
                </a:solidFill>
                <a:latin typeface="Arial"/>
                <a:ea typeface="Arial"/>
                <a:cs typeface="Arial"/>
              </a:rPr>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Reranking sortiert Kandidaten – es findet keine neuen</a:t>
            </a: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r>
              <a:rPr sz="2550" b="1">
                <a:solidFill>
                  <a:srgbClr val="FFFFFF"/>
                </a:solidFill>
                <a:latin typeface="Arial"/>
                <a:ea typeface="Arial"/>
                <a:cs typeface="Arial"/>
              </a:rPr>
              <a:t>×</a:t>
            </a: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65"/>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52450" y="12668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52450" y="33242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45745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10540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562100" y="28575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781800" y="28575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4310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673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1342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74395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39375" y="4238625"/>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609600" y="1676400"/>
            <a:ext cx="1714500" cy="120015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42950" y="17907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171575" y="207645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42950" y="24765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19400" y="1676400"/>
            <a:ext cx="2152650" cy="120015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2990850" y="17907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09900" y="21717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48300" y="1457325"/>
            <a:ext cx="2667000" cy="1419225"/>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657850" y="1565508"/>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267450" y="2213637"/>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267450" y="2213637"/>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791325" y="2042187"/>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038850" y="1994562"/>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591300" y="1823112"/>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29400" y="2299362"/>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067425" y="212791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19875" y="195646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57975" y="2432712"/>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19950" y="2466975"/>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609600" y="3752850"/>
            <a:ext cx="1200150" cy="131445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3900" y="3876675"/>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42975" y="417195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3900" y="4695825"/>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286000" y="3638550"/>
            <a:ext cx="2857500" cy="154305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476500" y="375285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457450" y="4057650"/>
            <a:ext cx="1200150" cy="8763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33650" y="4143375"/>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33650" y="440055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52850" y="4057650"/>
            <a:ext cx="1219200" cy="8763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819525" y="4143375"/>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819525" y="440055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619750" y="3752850"/>
            <a:ext cx="1390650" cy="131445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2625" y="3876675"/>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2625" y="443865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486650" y="3752850"/>
            <a:ext cx="1143000" cy="131445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600950" y="3876675"/>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05725" y="4191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600950" y="4638675"/>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86850" y="3752850"/>
            <a:ext cx="1028700" cy="131445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220200" y="3876675"/>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220200" y="4276725"/>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220200" y="4619625"/>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591800" y="3752850"/>
            <a:ext cx="1066800" cy="131445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9900" y="3876675"/>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10875" y="4200525"/>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706100" y="4657725"/>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33600" y="5476875"/>
            <a:ext cx="7924800" cy="55245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81250" y="5591175"/>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2" name="slide-title">
            <a:extLst>
              <a:ext uri="{FF2B5EF4-FFF2-40B4-BE49-F238E27FC236}">
                <a16:creationId xmlns:a16="http://schemas.microsoft.com/office/drawing/2014/main" id="{239C4669-0BE9-772E-98E4-69BE8C283166}"/>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lang="de-DE" sz="2850" b="0" dirty="0">
                <a:solidFill>
                  <a:srgbClr val="2D3F4B"/>
                </a:solidFill>
                <a:latin typeface="Arial"/>
                <a:ea typeface="Arial"/>
                <a:cs typeface="Arial"/>
              </a:rPr>
              <a:t>Hybrider </a:t>
            </a: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80052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sz="2850" b="0" dirty="0" err="1">
                <a:solidFill>
                  <a:srgbClr val="2D3F4B"/>
                </a:solidFill>
                <a:latin typeface="Arial"/>
                <a:ea typeface="Arial"/>
                <a:cs typeface="Arial"/>
              </a:rPr>
              <a:t>Besseres</a:t>
            </a:r>
            <a:r>
              <a:rPr sz="2850" b="0" dirty="0">
                <a:solidFill>
                  <a:srgbClr val="2D3F4B"/>
                </a:solidFill>
                <a:latin typeface="Arial"/>
                <a:ea typeface="Arial"/>
                <a:cs typeface="Arial"/>
              </a:rPr>
              <a:t> Retrieval </a:t>
            </a:r>
            <a:r>
              <a:rPr sz="2850" b="0" dirty="0" err="1">
                <a:solidFill>
                  <a:srgbClr val="2D3F4B"/>
                </a:solidFill>
                <a:latin typeface="Arial"/>
                <a:ea typeface="Arial"/>
                <a:cs typeface="Arial"/>
              </a:rPr>
              <a:t>verbessert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Antworten</a:t>
            </a:r>
            <a:r>
              <a:rPr sz="2850" b="0" dirty="0">
                <a:solidFill>
                  <a:srgbClr val="2D3F4B"/>
                </a:solidFill>
                <a:latin typeface="Arial"/>
                <a:ea typeface="Arial"/>
                <a:cs typeface="Arial"/>
              </a:rPr>
              <a:t> – </a:t>
            </a:r>
            <a:r>
              <a:rPr sz="2850" b="0" dirty="0" err="1">
                <a:solidFill>
                  <a:srgbClr val="2D3F4B"/>
                </a:solidFill>
                <a:latin typeface="Arial"/>
                <a:ea typeface="Arial"/>
                <a:cs typeface="Arial"/>
              </a:rPr>
              <a:t>garantiert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sie</a:t>
            </a:r>
            <a:r>
              <a:rPr sz="2850" b="0" dirty="0">
                <a:solidFill>
                  <a:srgbClr val="2D3F4B"/>
                </a:solidFill>
                <a:latin typeface="Arial"/>
                <a:ea typeface="Arial"/>
                <a:cs typeface="Arial"/>
              </a:rPr>
              <a:t> </a:t>
            </a:r>
            <a:r>
              <a:rPr sz="2850" b="0" dirty="0" err="1">
                <a:solidFill>
                  <a:srgbClr val="2D3F4B"/>
                </a:solidFill>
                <a:latin typeface="Arial"/>
                <a:ea typeface="Arial"/>
                <a:cs typeface="Arial"/>
              </a:rPr>
              <a:t>aber</a:t>
            </a:r>
            <a:r>
              <a:rPr sz="2850" b="0" dirty="0">
                <a:solidFill>
                  <a:srgbClr val="2D3F4B"/>
                </a:solidFill>
                <a:latin typeface="Arial"/>
                <a:ea typeface="Arial"/>
                <a:cs typeface="Arial"/>
              </a:rPr>
              <a:t> </a:t>
            </a:r>
            <a:r>
              <a:rPr sz="2850" b="0" dirty="0" err="1">
                <a:solidFill>
                  <a:srgbClr val="2D3F4B"/>
                </a:solidFill>
                <a:latin typeface="Arial"/>
                <a:ea typeface="Arial"/>
                <a:cs typeface="Arial"/>
              </a:rPr>
              <a:t>nicht</a:t>
            </a:r>
            <a:endParaRPr sz="2850" b="0" dirty="0">
              <a:solidFill>
                <a:srgbClr val="2D3F4B"/>
              </a:solidFill>
              <a:latin typeface="Arial"/>
              <a:ea typeface="Arial"/>
              <a:cs typeface="Arial"/>
            </a:endParaRP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07.08.2026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Props1.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2.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3967</Words>
  <Application>Microsoft Office PowerPoint</Application>
  <PresentationFormat>Breitbild</PresentationFormat>
  <Paragraphs>564</Paragraphs>
  <Slides>21</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25</cp:revision>
  <dcterms:created xsi:type="dcterms:W3CDTF">2026-08-04T12:09:36Z</dcterms:created>
  <dcterms:modified xsi:type="dcterms:W3CDTF">2026-08-07T13:29:21Z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