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28.xml" ContentType="application/vnd.openxmlformats-officedocument.presentationml.slide+xml"/>
  <Override PartName="/ppt/notesSlides/notesSlide21.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2"/>
  </p:notesMasterIdLst>
  <p:handoutMasterIdLst>
    <p:handoutMasterId r:id="rId33"/>
  </p:handoutMasterIdLst>
  <p:sldIdLst>
    <p:sldId id="290" r:id="rId5"/>
    <p:sldId id="279" r:id="rId6"/>
    <p:sldId id="329" r:id="rId39"/>
    <p:sldId id="296" r:id="rId7"/>
    <p:sldId id="301" r:id="rId8"/>
    <p:sldId id="263" r:id="rId9"/>
    <p:sldId id="317" r:id="rId10"/>
    <p:sldId id="319" r:id="rId11"/>
    <p:sldId id="266" r:id="rId12"/>
    <p:sldId id="307" r:id="rId13"/>
    <p:sldId id="323" r:id="rId14"/>
    <p:sldId id="322" r:id="rId15"/>
    <p:sldId id="324" r:id="rId16"/>
    <p:sldId id="325" r:id="rId17"/>
    <p:sldId id="308" r:id="rId18"/>
    <p:sldId id="326" r:id="rId19"/>
    <p:sldId id="256" r:id="rId20"/>
    <p:sldId id="313" r:id="rId21"/>
    <p:sldId id="327" r:id="rId22"/>
    <p:sldId id="320" r:id="rId23"/>
    <p:sldId id="321" r:id="rId24"/>
    <p:sldId id="328" r:id="rId25"/>
    <p:sldId id="271" r:id="rId26"/>
    <p:sldId id="272" r:id="rId27"/>
    <p:sldId id="274" r:id="rId28"/>
    <p:sldId id="275" r:id="rId29"/>
    <p:sldId id="276" r:id="rId30"/>
    <p:sldId id="295" r:id="rId31"/>
  </p:sldIdLst>
  <p:sldSz cx="12192000" cy="6858000"/>
  <p:notesSz cx="6858000" cy="9144000"/>
  <p:custDataLst>
    <p:tags r:id="rId34"/>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3"/>
            <p14:sldId id="322"/>
            <p14:sldId id="324"/>
            <p14:sldId id="325"/>
            <p14:sldId id="308"/>
            <p14:sldId id="326"/>
            <p14:sldId id="256"/>
            <p14:sldId id="313"/>
            <p14:sldId id="327"/>
            <p14:sldId id="320"/>
            <p14:sldId id="321"/>
            <p14:sldId id="328"/>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CFC"/>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varScale="1">
        <p:scale>
          <a:sx n="104" d="100"/>
          <a:sy n="104" d="100"/>
        </p:scale>
        <p:origin x="69" y="207"/>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tags" Target="tags/tag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 Id="rId39"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10.08.2026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10.08.2026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rPr lang="de-DE" dirty="0"/>
              <a:t>Es ist richtig schön, dass ihr den Weg zu diesem Workshop über RAGs gefunden habt. RAGs sind sog. Knowledge Worker und wir werden heute nicht nur die Theorie erklären, sondern auch die Implementierung eines solchen in der Praxis sehen. &lt;Kernbotschaft&gt;Dabei möchten wir die Mechanik eines belastbaren RAG-Systems aufzeigen. &lt;/Kernbotschaft&gt;</a:t>
            </a:r>
          </a:p>
          <a:p>
            <a:endParaRPr dirty="0"/>
          </a:p>
          <a:p>
            <a:r>
              <a:rPr dirty="0"/>
              <a:t>Als </a:t>
            </a:r>
            <a:r>
              <a:rPr dirty="0" err="1"/>
              <a:t>durchgängiges</a:t>
            </a:r>
            <a:r>
              <a:rPr dirty="0"/>
              <a:t> </a:t>
            </a:r>
            <a:r>
              <a:rPr dirty="0" err="1"/>
              <a:t>Beispiel</a:t>
            </a:r>
            <a:r>
              <a:rPr dirty="0"/>
              <a:t> </a:t>
            </a:r>
            <a:r>
              <a:rPr dirty="0" err="1"/>
              <a:t>verwenden</a:t>
            </a:r>
            <a:r>
              <a:rPr dirty="0"/>
              <a:t> </a:t>
            </a:r>
            <a:r>
              <a:rPr dirty="0" err="1"/>
              <a:t>wir</a:t>
            </a:r>
            <a:r>
              <a:rPr dirty="0"/>
              <a:t> Schweizer </a:t>
            </a:r>
            <a:r>
              <a:rPr dirty="0" err="1"/>
              <a:t>Gesetzestexte</a:t>
            </a:r>
            <a:r>
              <a:rPr dirty="0"/>
              <a:t>. </a:t>
            </a:r>
            <a:r>
              <a:rPr dirty="0" err="1"/>
              <a:t>Dadurch</a:t>
            </a:r>
            <a:r>
              <a:rPr dirty="0"/>
              <a:t> </a:t>
            </a:r>
            <a:r>
              <a:rPr dirty="0" err="1"/>
              <a:t>können</a:t>
            </a:r>
            <a:r>
              <a:rPr dirty="0"/>
              <a:t> </a:t>
            </a:r>
            <a:r>
              <a:rPr dirty="0" err="1"/>
              <a:t>wir</a:t>
            </a:r>
            <a:r>
              <a:rPr dirty="0"/>
              <a:t> </a:t>
            </a:r>
            <a:r>
              <a:rPr dirty="0" err="1"/>
              <a:t>sehr</a:t>
            </a:r>
            <a:r>
              <a:rPr dirty="0"/>
              <a:t> </a:t>
            </a:r>
            <a:r>
              <a:rPr dirty="0" err="1"/>
              <a:t>konkret</a:t>
            </a:r>
            <a:r>
              <a:rPr dirty="0"/>
              <a:t> </a:t>
            </a:r>
            <a:r>
              <a:rPr dirty="0" err="1"/>
              <a:t>prüfen</a:t>
            </a:r>
            <a:r>
              <a:rPr dirty="0"/>
              <a:t>, </a:t>
            </a:r>
            <a:endParaRPr lang="de-DE" dirty="0"/>
          </a:p>
          <a:p>
            <a:pPr lvl="1"/>
            <a:r>
              <a:rPr dirty="0" err="1"/>
              <a:t>ob</a:t>
            </a:r>
            <a:r>
              <a:rPr dirty="0"/>
              <a:t> </a:t>
            </a:r>
            <a:r>
              <a:rPr dirty="0" err="1"/>
              <a:t>ein</a:t>
            </a:r>
            <a:r>
              <a:rPr dirty="0"/>
              <a:t> System den </a:t>
            </a:r>
            <a:r>
              <a:rPr dirty="0" err="1"/>
              <a:t>richtigen</a:t>
            </a:r>
            <a:r>
              <a:rPr dirty="0"/>
              <a:t> </a:t>
            </a:r>
            <a:r>
              <a:rPr dirty="0" err="1"/>
              <a:t>Erlass</a:t>
            </a:r>
            <a:r>
              <a:rPr dirty="0"/>
              <a:t> </a:t>
            </a:r>
            <a:r>
              <a:rPr dirty="0" err="1"/>
              <a:t>findet</a:t>
            </a:r>
            <a:r>
              <a:rPr dirty="0"/>
              <a:t>,</a:t>
            </a:r>
            <a:endParaRPr lang="de-DE" dirty="0"/>
          </a:p>
          <a:p>
            <a:pPr lvl="1"/>
            <a:r>
              <a:rPr dirty="0" err="1"/>
              <a:t>ob</a:t>
            </a:r>
            <a:r>
              <a:rPr dirty="0"/>
              <a:t> es </a:t>
            </a:r>
            <a:r>
              <a:rPr dirty="0" err="1"/>
              <a:t>Quellen</a:t>
            </a:r>
            <a:r>
              <a:rPr dirty="0"/>
              <a:t> </a:t>
            </a:r>
            <a:r>
              <a:rPr dirty="0" err="1"/>
              <a:t>nennt</a:t>
            </a:r>
            <a:r>
              <a:rPr dirty="0"/>
              <a:t> </a:t>
            </a:r>
            <a:endParaRPr lang="de-DE" dirty="0"/>
          </a:p>
          <a:p>
            <a:pPr lvl="1"/>
            <a:r>
              <a:rPr dirty="0"/>
              <a:t>und </a:t>
            </a:r>
            <a:r>
              <a:rPr dirty="0" err="1"/>
              <a:t>wie</a:t>
            </a:r>
            <a:r>
              <a:rPr dirty="0"/>
              <a:t> </a:t>
            </a:r>
            <a:r>
              <a:rPr dirty="0" err="1"/>
              <a:t>viel</a:t>
            </a:r>
            <a:r>
              <a:rPr dirty="0"/>
              <a:t> </a:t>
            </a:r>
            <a:r>
              <a:rPr dirty="0" err="1"/>
              <a:t>Kontext</a:t>
            </a:r>
            <a:r>
              <a:rPr dirty="0"/>
              <a:t> es </a:t>
            </a:r>
            <a:r>
              <a:rPr dirty="0" err="1"/>
              <a:t>dafür</a:t>
            </a:r>
            <a:r>
              <a:rPr dirty="0"/>
              <a:t> </a:t>
            </a:r>
            <a:r>
              <a:rPr dirty="0" err="1"/>
              <a:t>benötigt</a:t>
            </a:r>
            <a:r>
              <a:rPr dirty="0"/>
              <a:t>. </a:t>
            </a:r>
            <a:endParaRPr lang="de-DE" dirty="0"/>
          </a:p>
          <a:p>
            <a:pPr marL="216000" lvl="1" indent="0">
              <a:buNone/>
            </a:pPr>
            <a:r>
              <a:rPr dirty="0"/>
              <a:t>Am Ende </a:t>
            </a:r>
            <a:r>
              <a:rPr dirty="0" err="1"/>
              <a:t>sollt</a:t>
            </a:r>
            <a:r>
              <a:rPr dirty="0"/>
              <a:t> </a:t>
            </a:r>
            <a:r>
              <a:rPr dirty="0" err="1"/>
              <a:t>ihr</a:t>
            </a:r>
            <a:r>
              <a:rPr dirty="0"/>
              <a:t> die </a:t>
            </a:r>
            <a:r>
              <a:rPr dirty="0" err="1"/>
              <a:t>wichtigsten</a:t>
            </a:r>
            <a:r>
              <a:rPr dirty="0"/>
              <a:t> </a:t>
            </a:r>
            <a:r>
              <a:rPr dirty="0" err="1"/>
              <a:t>Qualitätshebel</a:t>
            </a:r>
            <a:r>
              <a:rPr dirty="0"/>
              <a:t> – Chunking, Retrieval, Reranking und Evaluation – </a:t>
            </a:r>
            <a:r>
              <a:rPr dirty="0" err="1"/>
              <a:t>bewusst</a:t>
            </a:r>
            <a:r>
              <a:rPr dirty="0"/>
              <a:t> </a:t>
            </a:r>
            <a:r>
              <a:rPr lang="de-DE" dirty="0"/>
              <a:t>einsetzen</a:t>
            </a:r>
            <a:r>
              <a:rPr dirty="0"/>
              <a:t> </a:t>
            </a:r>
            <a:r>
              <a:rPr dirty="0" err="1"/>
              <a:t>können</a:t>
            </a:r>
            <a:r>
              <a:rPr dirty="0"/>
              <a:t>.</a:t>
            </a:r>
          </a:p>
          <a:p>
            <a:pPr marL="0" indent="0">
              <a:buNone/>
            </a:pPr>
            <a:endParaRPr dirty="0"/>
          </a:p>
          <a:p>
            <a:r>
              <a:rPr dirty="0" err="1"/>
              <a:t>Übergang</a:t>
            </a:r>
            <a:r>
              <a:rPr dirty="0"/>
              <a:t>: </a:t>
            </a:r>
            <a:r>
              <a:rPr dirty="0" err="1"/>
              <a:t>Schauen</a:t>
            </a:r>
            <a:r>
              <a:rPr dirty="0"/>
              <a:t> </a:t>
            </a:r>
            <a:r>
              <a:rPr dirty="0" err="1"/>
              <a:t>wir</a:t>
            </a:r>
            <a:r>
              <a:rPr dirty="0"/>
              <a:t> </a:t>
            </a:r>
            <a:r>
              <a:rPr dirty="0" err="1"/>
              <a:t>zuerst</a:t>
            </a:r>
            <a:r>
              <a:rPr dirty="0"/>
              <a:t> auf den </a:t>
            </a:r>
            <a:r>
              <a:rPr dirty="0" err="1"/>
              <a:t>Ablauf</a:t>
            </a:r>
            <a:r>
              <a:rPr dirty="0"/>
              <a:t> und das Ziel der </a:t>
            </a:r>
            <a:r>
              <a:rPr dirty="0" err="1"/>
              <a:t>kommenden</a:t>
            </a:r>
            <a:r>
              <a:rPr dirty="0"/>
              <a:t>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endParaRPr dirty="0"/>
          </a:p>
          <a:p>
            <a:r>
              <a:rPr dirty="0" err="1"/>
              <a:t>Zuerst</a:t>
            </a:r>
            <a:r>
              <a:rPr dirty="0"/>
              <a:t> </a:t>
            </a:r>
            <a:r>
              <a:rPr dirty="0" err="1"/>
              <a:t>klären</a:t>
            </a:r>
            <a:r>
              <a:rPr dirty="0"/>
              <a:t> </a:t>
            </a:r>
            <a:r>
              <a:rPr dirty="0" err="1"/>
              <a:t>wir</a:t>
            </a:r>
            <a:r>
              <a:rPr dirty="0"/>
              <a:t>, welches Problem</a:t>
            </a:r>
            <a:r>
              <a:rPr lang="de-DE" dirty="0"/>
              <a:t> ein</a:t>
            </a:r>
            <a:r>
              <a:rPr dirty="0"/>
              <a:t> RAG </a:t>
            </a:r>
            <a:r>
              <a:rPr dirty="0" err="1"/>
              <a:t>löst</a:t>
            </a:r>
            <a:r>
              <a:rPr dirty="0"/>
              <a:t>. </a:t>
            </a:r>
            <a:endParaRPr lang="de-DE" dirty="0"/>
          </a:p>
          <a:p>
            <a:r>
              <a:rPr dirty="0" err="1"/>
              <a:t>Danach</a:t>
            </a:r>
            <a:r>
              <a:rPr dirty="0"/>
              <a:t> </a:t>
            </a:r>
            <a:r>
              <a:rPr dirty="0" err="1"/>
              <a:t>bauen</a:t>
            </a:r>
            <a:r>
              <a:rPr dirty="0"/>
              <a:t> </a:t>
            </a:r>
            <a:r>
              <a:rPr dirty="0" err="1"/>
              <a:t>wir</a:t>
            </a:r>
            <a:r>
              <a:rPr dirty="0"/>
              <a:t> </a:t>
            </a:r>
            <a:r>
              <a:rPr dirty="0" err="1"/>
              <a:t>eine</a:t>
            </a:r>
            <a:r>
              <a:rPr dirty="0"/>
              <a:t> </a:t>
            </a:r>
            <a:r>
              <a:rPr dirty="0" err="1"/>
              <a:t>einfache</a:t>
            </a:r>
            <a:r>
              <a:rPr dirty="0"/>
              <a:t> Pipeline, </a:t>
            </a:r>
            <a:r>
              <a:rPr dirty="0" err="1"/>
              <a:t>verbessern</a:t>
            </a:r>
            <a:r>
              <a:rPr dirty="0"/>
              <a:t> das Chunking, </a:t>
            </a:r>
            <a:r>
              <a:rPr dirty="0" err="1"/>
              <a:t>ergänzen</a:t>
            </a:r>
            <a:r>
              <a:rPr dirty="0"/>
              <a:t> Reranking und </a:t>
            </a:r>
            <a:r>
              <a:rPr dirty="0" err="1"/>
              <a:t>schließlich</a:t>
            </a:r>
            <a:r>
              <a:rPr dirty="0"/>
              <a:t> </a:t>
            </a:r>
            <a:r>
              <a:rPr dirty="0" err="1"/>
              <a:t>GraphRAG</a:t>
            </a:r>
            <a:r>
              <a:rPr dirty="0"/>
              <a:t>. </a:t>
            </a:r>
            <a:endParaRPr lang="de-DE" dirty="0"/>
          </a:p>
          <a:p>
            <a:r>
              <a:rPr dirty="0"/>
              <a:t>Die Evaluation </a:t>
            </a:r>
            <a:r>
              <a:rPr dirty="0" err="1"/>
              <a:t>läuft</a:t>
            </a:r>
            <a:r>
              <a:rPr dirty="0"/>
              <a:t> nicht </a:t>
            </a:r>
            <a:r>
              <a:rPr dirty="0" err="1"/>
              <a:t>nur</a:t>
            </a:r>
            <a:r>
              <a:rPr dirty="0"/>
              <a:t> am Ende: Sie </a:t>
            </a:r>
            <a:r>
              <a:rPr dirty="0" err="1"/>
              <a:t>begleitet</a:t>
            </a:r>
            <a:r>
              <a:rPr dirty="0"/>
              <a:t> </a:t>
            </a:r>
            <a:r>
              <a:rPr dirty="0" err="1"/>
              <a:t>jede</a:t>
            </a:r>
            <a:r>
              <a:rPr dirty="0"/>
              <a:t> </a:t>
            </a:r>
            <a:r>
              <a:rPr dirty="0" err="1"/>
              <a:t>Stufe</a:t>
            </a:r>
            <a:r>
              <a:rPr dirty="0"/>
              <a:t>, </a:t>
            </a:r>
            <a:r>
              <a:rPr dirty="0" err="1"/>
              <a:t>damit</a:t>
            </a:r>
            <a:r>
              <a:rPr dirty="0"/>
              <a:t> </a:t>
            </a:r>
            <a:r>
              <a:rPr dirty="0" err="1"/>
              <a:t>wir</a:t>
            </a:r>
            <a:r>
              <a:rPr dirty="0"/>
              <a:t> </a:t>
            </a:r>
            <a:r>
              <a:rPr dirty="0" err="1"/>
              <a:t>sehen</a:t>
            </a:r>
            <a:r>
              <a:rPr dirty="0"/>
              <a:t>, </a:t>
            </a:r>
            <a:r>
              <a:rPr dirty="0" err="1"/>
              <a:t>welche</a:t>
            </a:r>
            <a:r>
              <a:rPr dirty="0"/>
              <a:t> </a:t>
            </a:r>
            <a:r>
              <a:rPr dirty="0" err="1"/>
              <a:t>Änderung</a:t>
            </a:r>
            <a:r>
              <a:rPr dirty="0"/>
              <a:t> </a:t>
            </a:r>
            <a:r>
              <a:rPr dirty="0" err="1"/>
              <a:t>tatsächlich</a:t>
            </a:r>
            <a:r>
              <a:rPr dirty="0"/>
              <a:t> </a:t>
            </a:r>
            <a:r>
              <a:rPr dirty="0" err="1"/>
              <a:t>einen</a:t>
            </a:r>
            <a:r>
              <a:rPr dirty="0"/>
              <a:t> </a:t>
            </a:r>
            <a:r>
              <a:rPr dirty="0" err="1"/>
              <a:t>messbaren</a:t>
            </a:r>
            <a:r>
              <a:rPr dirty="0"/>
              <a:t> </a:t>
            </a:r>
            <a:r>
              <a:rPr dirty="0" err="1"/>
              <a:t>Effekt</a:t>
            </a:r>
            <a:r>
              <a:rPr dirty="0"/>
              <a:t> hat.</a:t>
            </a:r>
          </a:p>
          <a:p>
            <a:endParaRPr dirty="0"/>
          </a:p>
          <a:p>
            <a:r>
              <a:rPr dirty="0" err="1"/>
              <a:t>Publikumsfrage</a:t>
            </a:r>
            <a:r>
              <a:rPr dirty="0"/>
              <a:t>: </a:t>
            </a:r>
            <a:r>
              <a:rPr dirty="0" err="1"/>
              <a:t>Wer</a:t>
            </a:r>
            <a:r>
              <a:rPr dirty="0"/>
              <a:t> hat </a:t>
            </a:r>
            <a:r>
              <a:rPr dirty="0" err="1"/>
              <a:t>bereits</a:t>
            </a:r>
            <a:r>
              <a:rPr dirty="0"/>
              <a:t> </a:t>
            </a:r>
            <a:r>
              <a:rPr dirty="0" err="1"/>
              <a:t>selbst</a:t>
            </a:r>
            <a:r>
              <a:rPr dirty="0"/>
              <a:t> </a:t>
            </a:r>
            <a:r>
              <a:rPr dirty="0" err="1"/>
              <a:t>ein</a:t>
            </a:r>
            <a:r>
              <a:rPr dirty="0"/>
              <a:t> RAG-System </a:t>
            </a:r>
            <a:r>
              <a:rPr dirty="0" err="1"/>
              <a:t>gebaut</a:t>
            </a:r>
            <a:r>
              <a:rPr dirty="0"/>
              <a:t> </a:t>
            </a:r>
            <a:r>
              <a:rPr dirty="0" err="1"/>
              <a:t>oder</a:t>
            </a:r>
            <a:r>
              <a:rPr dirty="0"/>
              <a:t> </a:t>
            </a:r>
            <a:r>
              <a:rPr dirty="0" err="1"/>
              <a:t>eine</a:t>
            </a:r>
            <a:r>
              <a:rPr dirty="0"/>
              <a:t> </a:t>
            </a:r>
            <a:r>
              <a:rPr dirty="0" err="1"/>
              <a:t>Vektordatenbank</a:t>
            </a:r>
            <a:r>
              <a:rPr dirty="0"/>
              <a:t> </a:t>
            </a:r>
            <a:r>
              <a:rPr dirty="0" err="1"/>
              <a:t>verwendet</a:t>
            </a:r>
            <a:r>
              <a:rPr dirty="0"/>
              <a:t>?</a:t>
            </a:r>
            <a:endParaRPr lang="de-DE" dirty="0"/>
          </a:p>
          <a:p>
            <a:endParaRPr lang="de-DE" dirty="0"/>
          </a:p>
          <a:p>
            <a:r>
              <a:rPr lang="de-DE" dirty="0"/>
              <a:t>Übergang: Dann schauen wir noch kurz auf die Dinge, die ihr heute mitnehmen könnt:</a:t>
            </a:r>
          </a:p>
          <a:p>
            <a:endParaRPr lang="de-DE" dirty="0"/>
          </a:p>
          <a:p>
            <a:endParaRPr dirty="0"/>
          </a:p>
          <a:p>
            <a:pPr marL="0" indent="0">
              <a:buNone/>
            </a:pP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rPr dirty="0" err="1"/>
              <a:t>Kernbotschaft</a:t>
            </a:r>
            <a:r>
              <a:rPr dirty="0"/>
              <a:t>: RAG, MCP, Skills und </a:t>
            </a:r>
            <a:r>
              <a:rPr dirty="0" err="1"/>
              <a:t>große</a:t>
            </a:r>
            <a:r>
              <a:rPr dirty="0"/>
              <a:t> </a:t>
            </a:r>
            <a:r>
              <a:rPr dirty="0" err="1"/>
              <a:t>Kontextfenster</a:t>
            </a:r>
            <a:r>
              <a:rPr dirty="0"/>
              <a:t> </a:t>
            </a:r>
            <a:r>
              <a:rPr dirty="0" err="1"/>
              <a:t>lösen</a:t>
            </a:r>
            <a:r>
              <a:rPr dirty="0"/>
              <a:t> </a:t>
            </a:r>
            <a:r>
              <a:rPr dirty="0" err="1"/>
              <a:t>unterschiedliche</a:t>
            </a:r>
            <a:r>
              <a:rPr dirty="0"/>
              <a:t> </a:t>
            </a:r>
            <a:r>
              <a:rPr dirty="0" err="1"/>
              <a:t>Aufgaben</a:t>
            </a:r>
            <a:r>
              <a:rPr dirty="0"/>
              <a:t> </a:t>
            </a:r>
            <a:r>
              <a:rPr dirty="0" err="1"/>
              <a:t>im</a:t>
            </a:r>
            <a:r>
              <a:rPr dirty="0"/>
              <a:t> Context Engineering.</a:t>
            </a:r>
          </a:p>
          <a:p>
            <a:endParaRPr dirty="0"/>
          </a:p>
          <a:p>
            <a:r>
              <a:rPr dirty="0" err="1"/>
              <a:t>Sprechtext</a:t>
            </a:r>
            <a:r>
              <a:rPr dirty="0"/>
              <a:t>: RAG </a:t>
            </a:r>
            <a:r>
              <a:rPr dirty="0" err="1"/>
              <a:t>ruft</a:t>
            </a:r>
            <a:r>
              <a:rPr dirty="0"/>
              <a:t> </a:t>
            </a:r>
            <a:r>
              <a:rPr dirty="0" err="1"/>
              <a:t>relevante</a:t>
            </a:r>
            <a:r>
              <a:rPr dirty="0"/>
              <a:t> </a:t>
            </a:r>
            <a:r>
              <a:rPr dirty="0" err="1"/>
              <a:t>Dokument</a:t>
            </a:r>
            <a:r>
              <a:rPr dirty="0"/>
              <a:t>-Chunks </a:t>
            </a:r>
            <a:r>
              <a:rPr dirty="0" err="1"/>
              <a:t>bei</a:t>
            </a:r>
            <a:r>
              <a:rPr dirty="0"/>
              <a:t> </a:t>
            </a:r>
            <a:r>
              <a:rPr dirty="0" err="1"/>
              <a:t>Bedarf</a:t>
            </a:r>
            <a:r>
              <a:rPr dirty="0"/>
              <a:t> ab. MCP </a:t>
            </a:r>
            <a:r>
              <a:rPr dirty="0" err="1"/>
              <a:t>macht</a:t>
            </a:r>
            <a:r>
              <a:rPr dirty="0"/>
              <a:t> </a:t>
            </a:r>
            <a:r>
              <a:rPr dirty="0" err="1"/>
              <a:t>Datenquellen</a:t>
            </a:r>
            <a:r>
              <a:rPr dirty="0"/>
              <a:t> </a:t>
            </a:r>
            <a:r>
              <a:rPr dirty="0" err="1"/>
              <a:t>oder</a:t>
            </a:r>
            <a:r>
              <a:rPr dirty="0"/>
              <a:t> </a:t>
            </a:r>
            <a:r>
              <a:rPr dirty="0" err="1"/>
              <a:t>Aktionen</a:t>
            </a:r>
            <a:r>
              <a:rPr dirty="0"/>
              <a:t> </a:t>
            </a:r>
            <a:r>
              <a:rPr dirty="0" err="1"/>
              <a:t>über</a:t>
            </a:r>
            <a:r>
              <a:rPr dirty="0"/>
              <a:t> </a:t>
            </a:r>
            <a:r>
              <a:rPr dirty="0" err="1"/>
              <a:t>standardisierte</a:t>
            </a:r>
            <a:r>
              <a:rPr dirty="0"/>
              <a:t> </a:t>
            </a:r>
            <a:r>
              <a:rPr dirty="0" err="1"/>
              <a:t>Connectoren</a:t>
            </a:r>
            <a:r>
              <a:rPr dirty="0"/>
              <a:t> </a:t>
            </a:r>
            <a:r>
              <a:rPr dirty="0" err="1"/>
              <a:t>verfügbar</a:t>
            </a:r>
            <a:r>
              <a:rPr dirty="0"/>
              <a:t>. Skills </a:t>
            </a:r>
            <a:r>
              <a:rPr dirty="0" err="1"/>
              <a:t>bündeln</a:t>
            </a:r>
            <a:r>
              <a:rPr dirty="0"/>
              <a:t> </a:t>
            </a:r>
            <a:r>
              <a:rPr dirty="0" err="1"/>
              <a:t>spezialisierte</a:t>
            </a:r>
            <a:r>
              <a:rPr dirty="0"/>
              <a:t> </a:t>
            </a:r>
            <a:r>
              <a:rPr dirty="0" err="1"/>
              <a:t>Anweisungen</a:t>
            </a:r>
            <a:r>
              <a:rPr dirty="0"/>
              <a:t> und </a:t>
            </a:r>
            <a:r>
              <a:rPr dirty="0" err="1"/>
              <a:t>Arbeitsabläufe</a:t>
            </a:r>
            <a:r>
              <a:rPr dirty="0"/>
              <a:t>, die </a:t>
            </a:r>
            <a:r>
              <a:rPr dirty="0" err="1"/>
              <a:t>nur</a:t>
            </a:r>
            <a:r>
              <a:rPr dirty="0"/>
              <a:t> </a:t>
            </a:r>
            <a:r>
              <a:rPr dirty="0" err="1"/>
              <a:t>bei</a:t>
            </a:r>
            <a:r>
              <a:rPr dirty="0"/>
              <a:t> </a:t>
            </a:r>
            <a:r>
              <a:rPr dirty="0" err="1"/>
              <a:t>Bedarf</a:t>
            </a:r>
            <a:r>
              <a:rPr dirty="0"/>
              <a:t> </a:t>
            </a:r>
            <a:r>
              <a:rPr dirty="0" err="1"/>
              <a:t>geladen</a:t>
            </a:r>
            <a:r>
              <a:rPr dirty="0"/>
              <a:t> </a:t>
            </a:r>
            <a:r>
              <a:rPr dirty="0" err="1"/>
              <a:t>werden</a:t>
            </a:r>
            <a:r>
              <a:rPr dirty="0"/>
              <a:t>. Ein </a:t>
            </a:r>
            <a:r>
              <a:rPr dirty="0" err="1"/>
              <a:t>großes</a:t>
            </a:r>
            <a:r>
              <a:rPr dirty="0"/>
              <a:t> </a:t>
            </a:r>
            <a:r>
              <a:rPr dirty="0" err="1"/>
              <a:t>Kontextfenster</a:t>
            </a:r>
            <a:r>
              <a:rPr dirty="0"/>
              <a:t> </a:t>
            </a:r>
            <a:r>
              <a:rPr dirty="0" err="1"/>
              <a:t>kann</a:t>
            </a:r>
            <a:r>
              <a:rPr dirty="0"/>
              <a:t> </a:t>
            </a:r>
            <a:r>
              <a:rPr dirty="0" err="1"/>
              <a:t>viel</a:t>
            </a:r>
            <a:r>
              <a:rPr dirty="0"/>
              <a:t> Material </a:t>
            </a:r>
            <a:r>
              <a:rPr dirty="0" err="1"/>
              <a:t>direkt</a:t>
            </a:r>
            <a:r>
              <a:rPr dirty="0"/>
              <a:t> </a:t>
            </a:r>
            <a:r>
              <a:rPr dirty="0" err="1"/>
              <a:t>aufnehmen</a:t>
            </a:r>
            <a:r>
              <a:rPr dirty="0"/>
              <a:t>, </a:t>
            </a:r>
            <a:r>
              <a:rPr dirty="0" err="1"/>
              <a:t>ist</a:t>
            </a:r>
            <a:r>
              <a:rPr dirty="0"/>
              <a:t> </a:t>
            </a:r>
            <a:r>
              <a:rPr dirty="0" err="1"/>
              <a:t>aber</a:t>
            </a:r>
            <a:r>
              <a:rPr dirty="0"/>
              <a:t> </a:t>
            </a:r>
            <a:r>
              <a:rPr dirty="0" err="1"/>
              <a:t>häufig</a:t>
            </a:r>
            <a:r>
              <a:rPr dirty="0"/>
              <a:t> die </a:t>
            </a:r>
            <a:r>
              <a:rPr dirty="0" err="1"/>
              <a:t>teuerste</a:t>
            </a:r>
            <a:r>
              <a:rPr dirty="0"/>
              <a:t> und </a:t>
            </a:r>
            <a:r>
              <a:rPr dirty="0" err="1"/>
              <a:t>unpräziseste</a:t>
            </a:r>
            <a:r>
              <a:rPr dirty="0"/>
              <a:t> Brute-Force-</a:t>
            </a:r>
            <a:r>
              <a:rPr dirty="0" err="1"/>
              <a:t>Variante</a:t>
            </a:r>
            <a:r>
              <a:rPr dirty="0"/>
              <a:t>.</a:t>
            </a:r>
          </a:p>
          <a:p>
            <a:endParaRPr dirty="0"/>
          </a:p>
          <a:p>
            <a:r>
              <a:rPr dirty="0" err="1"/>
              <a:t>Wichtig</a:t>
            </a:r>
            <a:r>
              <a:rPr dirty="0"/>
              <a:t>: Ein Skill </a:t>
            </a:r>
            <a:r>
              <a:rPr dirty="0" err="1"/>
              <a:t>ist</a:t>
            </a:r>
            <a:r>
              <a:rPr dirty="0"/>
              <a:t> nicht </a:t>
            </a:r>
            <a:r>
              <a:rPr dirty="0" err="1"/>
              <a:t>einfach</a:t>
            </a:r>
            <a:r>
              <a:rPr dirty="0"/>
              <a:t> </a:t>
            </a:r>
            <a:r>
              <a:rPr dirty="0" err="1"/>
              <a:t>eine</a:t>
            </a:r>
            <a:r>
              <a:rPr dirty="0"/>
              <a:t> </a:t>
            </a:r>
            <a:r>
              <a:rPr dirty="0" err="1"/>
              <a:t>Wissensdatenbank</a:t>
            </a:r>
            <a:r>
              <a:rPr dirty="0"/>
              <a:t>. Er </a:t>
            </a:r>
            <a:r>
              <a:rPr dirty="0" err="1"/>
              <a:t>beschreibt</a:t>
            </a:r>
            <a:r>
              <a:rPr dirty="0"/>
              <a:t> </a:t>
            </a:r>
            <a:r>
              <a:rPr dirty="0" err="1"/>
              <a:t>vor</a:t>
            </a:r>
            <a:r>
              <a:rPr dirty="0"/>
              <a:t> </a:t>
            </a:r>
            <a:r>
              <a:rPr dirty="0" err="1"/>
              <a:t>allem</a:t>
            </a:r>
            <a:r>
              <a:rPr dirty="0"/>
              <a:t>, </a:t>
            </a:r>
            <a:r>
              <a:rPr dirty="0" err="1"/>
              <a:t>wie</a:t>
            </a:r>
            <a:r>
              <a:rPr dirty="0"/>
              <a:t> </a:t>
            </a:r>
            <a:r>
              <a:rPr dirty="0" err="1"/>
              <a:t>eine</a:t>
            </a:r>
            <a:r>
              <a:rPr dirty="0"/>
              <a:t> Aufgabe </a:t>
            </a:r>
            <a:r>
              <a:rPr dirty="0" err="1"/>
              <a:t>ausgeführt</a:t>
            </a:r>
            <a:r>
              <a:rPr dirty="0"/>
              <a:t> </a:t>
            </a:r>
            <a:r>
              <a:rPr dirty="0" err="1"/>
              <a:t>werden</a:t>
            </a:r>
            <a:r>
              <a:rPr dirty="0"/>
              <a:t> </a:t>
            </a:r>
            <a:r>
              <a:rPr dirty="0" err="1"/>
              <a:t>soll</a:t>
            </a:r>
            <a:r>
              <a:rPr dirty="0"/>
              <a:t>; RAG </a:t>
            </a:r>
            <a:r>
              <a:rPr dirty="0" err="1"/>
              <a:t>liefert</a:t>
            </a:r>
            <a:r>
              <a:rPr dirty="0"/>
              <a:t> </a:t>
            </a:r>
            <a:r>
              <a:rPr dirty="0" err="1"/>
              <a:t>dagegen</a:t>
            </a:r>
            <a:r>
              <a:rPr dirty="0"/>
              <a:t> die </a:t>
            </a:r>
            <a:r>
              <a:rPr dirty="0" err="1"/>
              <a:t>konkreten</a:t>
            </a:r>
            <a:r>
              <a:rPr dirty="0"/>
              <a:t> </a:t>
            </a:r>
            <a:r>
              <a:rPr dirty="0" err="1"/>
              <a:t>Dokumentinhalte</a:t>
            </a:r>
            <a:r>
              <a:rPr dirty="0"/>
              <a:t>.</a:t>
            </a:r>
          </a:p>
          <a:p>
            <a:pPr marL="0" indent="0">
              <a:buNone/>
            </a:pPr>
            <a:endParaRPr lang="de-DE" dirty="0"/>
          </a:p>
          <a:p>
            <a:pPr marL="0" indent="0">
              <a:buNone/>
            </a:pPr>
            <a:endParaRPr lang="de-DE" dirty="0"/>
          </a:p>
          <a:p>
            <a:pPr marL="0" indent="0">
              <a:buNone/>
            </a:pPr>
            <a:r>
              <a:rPr lang="de-DE" dirty="0"/>
              <a:t>Daniel wird uns jetzt den Aufbau eines Full RAGs zeigen:</a:t>
            </a:r>
            <a:endParaRPr lang="de-CH" dirty="0"/>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dirty="0" err="1"/>
              <a:t>Kernbotschaft</a:t>
            </a:r>
            <a:r>
              <a:rPr dirty="0"/>
              <a:t>: Chunking </a:t>
            </a:r>
            <a:r>
              <a:rPr dirty="0" err="1"/>
              <a:t>bestimmt</a:t>
            </a:r>
            <a:r>
              <a:rPr dirty="0"/>
              <a:t>, </a:t>
            </a:r>
            <a:r>
              <a:rPr dirty="0" err="1"/>
              <a:t>welche</a:t>
            </a:r>
            <a:r>
              <a:rPr dirty="0"/>
              <a:t> </a:t>
            </a:r>
            <a:r>
              <a:rPr dirty="0" err="1"/>
              <a:t>Bedeutungseinheiten</a:t>
            </a:r>
            <a:r>
              <a:rPr dirty="0"/>
              <a:t> </a:t>
            </a:r>
            <a:r>
              <a:rPr dirty="0" err="1"/>
              <a:t>später</a:t>
            </a:r>
            <a:r>
              <a:rPr dirty="0"/>
              <a:t> </a:t>
            </a:r>
            <a:r>
              <a:rPr dirty="0" err="1"/>
              <a:t>überhaupt</a:t>
            </a:r>
            <a:r>
              <a:rPr dirty="0"/>
              <a:t> </a:t>
            </a:r>
            <a:r>
              <a:rPr dirty="0" err="1"/>
              <a:t>als</a:t>
            </a:r>
            <a:r>
              <a:rPr dirty="0"/>
              <a:t> Treffer </a:t>
            </a:r>
            <a:r>
              <a:rPr dirty="0" err="1"/>
              <a:t>zurückkommen</a:t>
            </a:r>
            <a:r>
              <a:rPr dirty="0"/>
              <a:t> </a:t>
            </a:r>
            <a:r>
              <a:rPr dirty="0" err="1"/>
              <a:t>können</a:t>
            </a:r>
            <a:r>
              <a:rPr dirty="0"/>
              <a:t>.</a:t>
            </a:r>
          </a:p>
          <a:p>
            <a:endParaRPr dirty="0"/>
          </a:p>
          <a:p>
            <a:r>
              <a:rPr dirty="0" err="1"/>
              <a:t>Sprechtext</a:t>
            </a:r>
            <a:r>
              <a:rPr dirty="0"/>
              <a:t>: Links </a:t>
            </a:r>
            <a:r>
              <a:rPr dirty="0" err="1"/>
              <a:t>sehen</a:t>
            </a:r>
            <a:r>
              <a:rPr dirty="0"/>
              <a:t> </a:t>
            </a:r>
            <a:r>
              <a:rPr dirty="0" err="1"/>
              <a:t>wir</a:t>
            </a:r>
            <a:r>
              <a:rPr dirty="0"/>
              <a:t> Fixed-Size-Chunking </a:t>
            </a:r>
            <a:r>
              <a:rPr dirty="0" err="1"/>
              <a:t>mit</a:t>
            </a:r>
            <a:r>
              <a:rPr dirty="0"/>
              <a:t> </a:t>
            </a:r>
            <a:r>
              <a:rPr dirty="0" err="1"/>
              <a:t>einem</a:t>
            </a:r>
            <a:r>
              <a:rPr dirty="0"/>
              <a:t> </a:t>
            </a:r>
            <a:r>
              <a:rPr dirty="0" err="1"/>
              <a:t>starren</a:t>
            </a:r>
            <a:r>
              <a:rPr dirty="0"/>
              <a:t> Budget von 800 </a:t>
            </a:r>
            <a:r>
              <a:rPr dirty="0" err="1"/>
              <a:t>Zeichen</a:t>
            </a:r>
            <a:r>
              <a:rPr dirty="0"/>
              <a:t>. Die </a:t>
            </a:r>
            <a:r>
              <a:rPr dirty="0" err="1"/>
              <a:t>Grenze</a:t>
            </a:r>
            <a:r>
              <a:rPr dirty="0"/>
              <a:t> </a:t>
            </a:r>
            <a:r>
              <a:rPr dirty="0" err="1"/>
              <a:t>kann</a:t>
            </a:r>
            <a:r>
              <a:rPr dirty="0"/>
              <a:t> mitten in </a:t>
            </a:r>
            <a:r>
              <a:rPr dirty="0" err="1"/>
              <a:t>einem</a:t>
            </a:r>
            <a:r>
              <a:rPr dirty="0"/>
              <a:t> Satz </a:t>
            </a:r>
            <a:r>
              <a:rPr dirty="0" err="1"/>
              <a:t>oder</a:t>
            </a:r>
            <a:r>
              <a:rPr dirty="0"/>
              <a:t> </a:t>
            </a:r>
            <a:r>
              <a:rPr dirty="0" err="1"/>
              <a:t>direkt</a:t>
            </a:r>
            <a:r>
              <a:rPr dirty="0"/>
              <a:t> </a:t>
            </a:r>
            <a:r>
              <a:rPr dirty="0" err="1"/>
              <a:t>vor</a:t>
            </a:r>
            <a:r>
              <a:rPr dirty="0"/>
              <a:t> dem </a:t>
            </a:r>
            <a:r>
              <a:rPr dirty="0" err="1"/>
              <a:t>nächsten</a:t>
            </a:r>
            <a:r>
              <a:rPr dirty="0"/>
              <a:t> Artikel </a:t>
            </a:r>
            <a:r>
              <a:rPr dirty="0" err="1"/>
              <a:t>liegen</a:t>
            </a:r>
            <a:r>
              <a:rPr dirty="0"/>
              <a:t>. </a:t>
            </a:r>
            <a:r>
              <a:rPr dirty="0" err="1"/>
              <a:t>Dadurch</a:t>
            </a:r>
            <a:r>
              <a:rPr dirty="0"/>
              <a:t> </a:t>
            </a:r>
            <a:r>
              <a:rPr dirty="0" err="1"/>
              <a:t>verliert</a:t>
            </a:r>
            <a:r>
              <a:rPr dirty="0"/>
              <a:t> </a:t>
            </a:r>
            <a:r>
              <a:rPr dirty="0" err="1"/>
              <a:t>ein</a:t>
            </a:r>
            <a:r>
              <a:rPr dirty="0"/>
              <a:t> Treffer </a:t>
            </a:r>
            <a:r>
              <a:rPr dirty="0" err="1"/>
              <a:t>Kontext</a:t>
            </a:r>
            <a:r>
              <a:rPr dirty="0"/>
              <a:t> </a:t>
            </a:r>
            <a:r>
              <a:rPr dirty="0" err="1"/>
              <a:t>oder</a:t>
            </a:r>
            <a:r>
              <a:rPr dirty="0"/>
              <a:t> </a:t>
            </a:r>
            <a:r>
              <a:rPr dirty="0" err="1"/>
              <a:t>vermischt</a:t>
            </a:r>
            <a:r>
              <a:rPr dirty="0"/>
              <a:t> </a:t>
            </a:r>
            <a:r>
              <a:rPr dirty="0" err="1"/>
              <a:t>mehrere</a:t>
            </a:r>
            <a:r>
              <a:rPr dirty="0"/>
              <a:t> Artikel. </a:t>
            </a:r>
            <a:r>
              <a:rPr dirty="0" err="1"/>
              <a:t>Rechts</a:t>
            </a:r>
            <a:r>
              <a:rPr dirty="0"/>
              <a:t> </a:t>
            </a:r>
            <a:r>
              <a:rPr dirty="0" err="1"/>
              <a:t>orientiert</a:t>
            </a:r>
            <a:r>
              <a:rPr dirty="0"/>
              <a:t> </a:t>
            </a:r>
            <a:r>
              <a:rPr dirty="0" err="1"/>
              <a:t>sich</a:t>
            </a:r>
            <a:r>
              <a:rPr dirty="0"/>
              <a:t> </a:t>
            </a:r>
            <a:r>
              <a:rPr dirty="0" err="1"/>
              <a:t>unser</a:t>
            </a:r>
            <a:r>
              <a:rPr dirty="0"/>
              <a:t> </a:t>
            </a:r>
            <a:r>
              <a:rPr dirty="0" err="1"/>
              <a:t>verbessertes</a:t>
            </a:r>
            <a:r>
              <a:rPr dirty="0"/>
              <a:t> </a:t>
            </a:r>
            <a:r>
              <a:rPr dirty="0" err="1"/>
              <a:t>Verfahren</a:t>
            </a:r>
            <a:r>
              <a:rPr dirty="0"/>
              <a:t> </a:t>
            </a:r>
            <a:r>
              <a:rPr dirty="0" err="1"/>
              <a:t>primär</a:t>
            </a:r>
            <a:r>
              <a:rPr dirty="0"/>
              <a:t> an Markdown- und </a:t>
            </a:r>
            <a:r>
              <a:rPr dirty="0" err="1"/>
              <a:t>Artikelüberschriften</a:t>
            </a:r>
            <a:r>
              <a:rPr dirty="0"/>
              <a:t>. </a:t>
            </a:r>
            <a:r>
              <a:rPr dirty="0" err="1"/>
              <a:t>Übergroße</a:t>
            </a:r>
            <a:r>
              <a:rPr dirty="0"/>
              <a:t> Artikel </a:t>
            </a:r>
            <a:r>
              <a:rPr dirty="0" err="1"/>
              <a:t>werden</a:t>
            </a:r>
            <a:r>
              <a:rPr dirty="0"/>
              <a:t> </a:t>
            </a:r>
            <a:r>
              <a:rPr dirty="0" err="1"/>
              <a:t>zusätzlich</a:t>
            </a:r>
            <a:r>
              <a:rPr dirty="0"/>
              <a:t> an </a:t>
            </a:r>
            <a:r>
              <a:rPr dirty="0" err="1"/>
              <a:t>Satzgrenzen</a:t>
            </a:r>
            <a:r>
              <a:rPr dirty="0"/>
              <a:t> </a:t>
            </a:r>
            <a:r>
              <a:rPr dirty="0" err="1"/>
              <a:t>geteilt</a:t>
            </a:r>
            <a:r>
              <a:rPr dirty="0"/>
              <a:t>; </a:t>
            </a:r>
            <a:r>
              <a:rPr dirty="0" err="1"/>
              <a:t>kleine</a:t>
            </a:r>
            <a:r>
              <a:rPr dirty="0"/>
              <a:t> </a:t>
            </a:r>
            <a:r>
              <a:rPr dirty="0" err="1"/>
              <a:t>zusammengehörige</a:t>
            </a:r>
            <a:r>
              <a:rPr dirty="0"/>
              <a:t> </a:t>
            </a:r>
            <a:r>
              <a:rPr dirty="0" err="1"/>
              <a:t>Blöcke</a:t>
            </a:r>
            <a:r>
              <a:rPr dirty="0"/>
              <a:t> </a:t>
            </a:r>
            <a:r>
              <a:rPr dirty="0" err="1"/>
              <a:t>werden</a:t>
            </a:r>
            <a:r>
              <a:rPr dirty="0"/>
              <a:t> bis </a:t>
            </a:r>
            <a:r>
              <a:rPr dirty="0" err="1"/>
              <a:t>zum</a:t>
            </a:r>
            <a:r>
              <a:rPr dirty="0"/>
              <a:t> Budget </a:t>
            </a:r>
            <a:r>
              <a:rPr dirty="0" err="1"/>
              <a:t>verbunden</a:t>
            </a:r>
            <a:r>
              <a:rPr dirty="0"/>
              <a:t>.</a:t>
            </a:r>
          </a:p>
          <a:p>
            <a:endParaRPr dirty="0"/>
          </a:p>
          <a:p>
            <a:r>
              <a:rPr dirty="0" err="1"/>
              <a:t>Präzisierung</a:t>
            </a:r>
            <a:r>
              <a:rPr dirty="0"/>
              <a:t>: Unser Budget </a:t>
            </a:r>
            <a:r>
              <a:rPr dirty="0" err="1"/>
              <a:t>beträgt</a:t>
            </a:r>
            <a:r>
              <a:rPr dirty="0"/>
              <a:t> 800 </a:t>
            </a:r>
            <a:r>
              <a:rPr dirty="0" err="1"/>
              <a:t>Zeichen</a:t>
            </a:r>
            <a:r>
              <a:rPr dirty="0"/>
              <a:t>, nicht 800 Tokens. Das </a:t>
            </a:r>
            <a:r>
              <a:rPr dirty="0" err="1"/>
              <a:t>Verfahren</a:t>
            </a:r>
            <a:r>
              <a:rPr dirty="0"/>
              <a:t> </a:t>
            </a:r>
            <a:r>
              <a:rPr dirty="0" err="1"/>
              <a:t>ist</a:t>
            </a:r>
            <a:r>
              <a:rPr dirty="0"/>
              <a:t> </a:t>
            </a:r>
            <a:r>
              <a:rPr dirty="0" err="1"/>
              <a:t>deshalb</a:t>
            </a:r>
            <a:r>
              <a:rPr dirty="0"/>
              <a:t> </a:t>
            </a:r>
            <a:r>
              <a:rPr dirty="0" err="1"/>
              <a:t>besser</a:t>
            </a:r>
            <a:r>
              <a:rPr dirty="0"/>
              <a:t> </a:t>
            </a:r>
            <a:r>
              <a:rPr dirty="0" err="1"/>
              <a:t>als</a:t>
            </a:r>
            <a:r>
              <a:rPr dirty="0"/>
              <a:t> „</a:t>
            </a:r>
            <a:r>
              <a:rPr dirty="0" err="1"/>
              <a:t>strukturorientiertes</a:t>
            </a:r>
            <a:r>
              <a:rPr dirty="0"/>
              <a:t> Chunking“ </a:t>
            </a:r>
            <a:r>
              <a:rPr dirty="0" err="1"/>
              <a:t>beschrieben</a:t>
            </a:r>
            <a:r>
              <a:rPr dirty="0"/>
              <a:t>; es </a:t>
            </a:r>
            <a:r>
              <a:rPr dirty="0" err="1"/>
              <a:t>ist</a:t>
            </a:r>
            <a:r>
              <a:rPr dirty="0"/>
              <a:t> </a:t>
            </a:r>
            <a:r>
              <a:rPr dirty="0" err="1"/>
              <a:t>kein</a:t>
            </a:r>
            <a:r>
              <a:rPr dirty="0"/>
              <a:t> LLM-</a:t>
            </a:r>
            <a:r>
              <a:rPr dirty="0" err="1"/>
              <a:t>basiertes</a:t>
            </a:r>
            <a:r>
              <a:rPr dirty="0"/>
              <a:t> </a:t>
            </a:r>
            <a:r>
              <a:rPr dirty="0" err="1"/>
              <a:t>semantisches</a:t>
            </a:r>
            <a:r>
              <a:rPr dirty="0"/>
              <a:t> Chunking.</a:t>
            </a:r>
          </a:p>
          <a:p>
            <a:endParaRPr dirty="0"/>
          </a:p>
          <a:p>
            <a:r>
              <a:rPr dirty="0" err="1"/>
              <a:t>Zusätzlich</a:t>
            </a:r>
            <a:r>
              <a:rPr dirty="0"/>
              <a:t> </a:t>
            </a:r>
            <a:r>
              <a:rPr dirty="0" err="1"/>
              <a:t>entfernen</a:t>
            </a:r>
            <a:r>
              <a:rPr dirty="0"/>
              <a:t> </a:t>
            </a:r>
            <a:r>
              <a:rPr dirty="0" err="1"/>
              <a:t>wir</a:t>
            </a:r>
            <a:r>
              <a:rPr dirty="0"/>
              <a:t> </a:t>
            </a:r>
            <a:r>
              <a:rPr dirty="0" err="1"/>
              <a:t>typisches</a:t>
            </a:r>
            <a:r>
              <a:rPr dirty="0"/>
              <a:t> PDF-</a:t>
            </a:r>
            <a:r>
              <a:rPr dirty="0" err="1"/>
              <a:t>Rauschen</a:t>
            </a:r>
            <a:r>
              <a:rPr dirty="0"/>
              <a:t> </a:t>
            </a:r>
            <a:r>
              <a:rPr dirty="0" err="1"/>
              <a:t>wie</a:t>
            </a:r>
            <a:r>
              <a:rPr dirty="0"/>
              <a:t> </a:t>
            </a:r>
            <a:r>
              <a:rPr dirty="0" err="1"/>
              <a:t>Seitenmarker</a:t>
            </a:r>
            <a:r>
              <a:rPr dirty="0"/>
              <a:t>, </a:t>
            </a:r>
            <a:r>
              <a:rPr dirty="0" err="1"/>
              <a:t>Inhaltsverzeichnisse</a:t>
            </a:r>
            <a:r>
              <a:rPr dirty="0"/>
              <a:t> und </a:t>
            </a:r>
            <a:r>
              <a:rPr dirty="0" err="1"/>
              <a:t>isolierte</a:t>
            </a:r>
            <a:r>
              <a:rPr dirty="0"/>
              <a:t> </a:t>
            </a:r>
            <a:r>
              <a:rPr dirty="0" err="1"/>
              <a:t>Fundstellenblöcke</a:t>
            </a:r>
            <a:r>
              <a:rPr dirty="0"/>
              <a:t>. </a:t>
            </a:r>
            <a:r>
              <a:rPr dirty="0" err="1"/>
              <a:t>Quellen</a:t>
            </a:r>
            <a:r>
              <a:rPr dirty="0"/>
              <a:t>, die </a:t>
            </a:r>
            <a:r>
              <a:rPr dirty="0" err="1"/>
              <a:t>zum</a:t>
            </a:r>
            <a:r>
              <a:rPr dirty="0"/>
              <a:t> </a:t>
            </a:r>
            <a:r>
              <a:rPr dirty="0" err="1"/>
              <a:t>Gesetzesinhalt</a:t>
            </a:r>
            <a:r>
              <a:rPr dirty="0"/>
              <a:t> </a:t>
            </a:r>
            <a:r>
              <a:rPr dirty="0" err="1"/>
              <a:t>gehören</a:t>
            </a:r>
            <a:r>
              <a:rPr dirty="0"/>
              <a:t>, </a:t>
            </a:r>
            <a:r>
              <a:rPr dirty="0" err="1"/>
              <a:t>werden</a:t>
            </a:r>
            <a:r>
              <a:rPr dirty="0"/>
              <a:t> nicht </a:t>
            </a:r>
            <a:r>
              <a:rPr dirty="0" err="1"/>
              <a:t>pauschal</a:t>
            </a:r>
            <a:r>
              <a:rPr dirty="0"/>
              <a:t> </a:t>
            </a:r>
            <a:r>
              <a:rPr dirty="0" err="1"/>
              <a:t>gelöscht</a:t>
            </a:r>
            <a:r>
              <a:rPr dirty="0"/>
              <a:t>.</a:t>
            </a:r>
          </a:p>
          <a:p>
            <a:endParaRPr dirty="0"/>
          </a:p>
          <a:p>
            <a:pPr marL="0" indent="0">
              <a:buNone/>
            </a:pPr>
            <a:endParaRPr dirty="0"/>
          </a:p>
          <a:p>
            <a:r>
              <a:rPr dirty="0" err="1"/>
              <a:t>Übergang</a:t>
            </a:r>
            <a:r>
              <a:rPr dirty="0"/>
              <a:t>: Gute Chunks </a:t>
            </a:r>
            <a:r>
              <a:rPr dirty="0" err="1"/>
              <a:t>erzeugen</a:t>
            </a:r>
            <a:r>
              <a:rPr dirty="0"/>
              <a:t> </a:t>
            </a:r>
            <a:r>
              <a:rPr dirty="0" err="1"/>
              <a:t>bessere</a:t>
            </a:r>
            <a:r>
              <a:rPr dirty="0"/>
              <a:t> </a:t>
            </a:r>
            <a:r>
              <a:rPr dirty="0" err="1"/>
              <a:t>Kandidaten</a:t>
            </a:r>
            <a:r>
              <a:rPr dirty="0"/>
              <a:t>. Als </a:t>
            </a:r>
            <a:r>
              <a:rPr dirty="0" err="1"/>
              <a:t>Nächstes</a:t>
            </a:r>
            <a:r>
              <a:rPr dirty="0"/>
              <a:t> </a:t>
            </a:r>
            <a:r>
              <a:rPr dirty="0" err="1"/>
              <a:t>verbessern</a:t>
            </a:r>
            <a:r>
              <a:rPr dirty="0"/>
              <a:t> </a:t>
            </a:r>
            <a:r>
              <a:rPr dirty="0" err="1"/>
              <a:t>wir</a:t>
            </a:r>
            <a:r>
              <a:rPr dirty="0"/>
              <a:t> </a:t>
            </a:r>
            <a:r>
              <a:rPr dirty="0" err="1"/>
              <a:t>deren</a:t>
            </a:r>
            <a:r>
              <a:rPr dirty="0"/>
              <a:t> </a:t>
            </a:r>
            <a:r>
              <a:rPr dirty="0" err="1"/>
              <a:t>Reihenfolge</a:t>
            </a:r>
            <a:r>
              <a:rPr dirty="0"/>
              <a:t>.</a:t>
            </a:r>
          </a:p>
          <a:p>
            <a:endParaRPr dirty="0"/>
          </a:p>
          <a:p>
            <a:r>
              <a:rPr dirty="0"/>
              <a:t>[Sources]</a:t>
            </a:r>
          </a:p>
          <a:p>
            <a:r>
              <a:rPr dirty="0"/>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dirty="0" err="1"/>
              <a:t>Kernbotschaft</a:t>
            </a:r>
            <a:r>
              <a:rPr dirty="0"/>
              <a:t>: Reranking </a:t>
            </a:r>
            <a:r>
              <a:rPr dirty="0" err="1"/>
              <a:t>sortiert</a:t>
            </a:r>
            <a:r>
              <a:rPr dirty="0"/>
              <a:t> </a:t>
            </a:r>
            <a:r>
              <a:rPr dirty="0" err="1"/>
              <a:t>gefundene</a:t>
            </a:r>
            <a:r>
              <a:rPr dirty="0"/>
              <a:t> </a:t>
            </a:r>
            <a:r>
              <a:rPr dirty="0" err="1"/>
              <a:t>Kandidaten</a:t>
            </a:r>
            <a:r>
              <a:rPr dirty="0"/>
              <a:t> neu; es </a:t>
            </a:r>
            <a:r>
              <a:rPr dirty="0" err="1"/>
              <a:t>kann</a:t>
            </a:r>
            <a:r>
              <a:rPr dirty="0"/>
              <a:t> </a:t>
            </a:r>
            <a:r>
              <a:rPr dirty="0" err="1"/>
              <a:t>keinen</a:t>
            </a:r>
            <a:r>
              <a:rPr dirty="0"/>
              <a:t> </a:t>
            </a:r>
            <a:r>
              <a:rPr dirty="0" err="1"/>
              <a:t>fehlenden</a:t>
            </a:r>
            <a:r>
              <a:rPr dirty="0"/>
              <a:t> Artikel </a:t>
            </a:r>
            <a:r>
              <a:rPr dirty="0" err="1"/>
              <a:t>herbeizaubern</a:t>
            </a:r>
            <a:r>
              <a:rPr dirty="0"/>
              <a:t>.</a:t>
            </a:r>
          </a:p>
          <a:p>
            <a:endParaRPr dirty="0"/>
          </a:p>
          <a:p>
            <a:r>
              <a:rPr dirty="0" err="1"/>
              <a:t>Sprechtext</a:t>
            </a:r>
            <a:r>
              <a:rPr dirty="0"/>
              <a:t>: Die </a:t>
            </a:r>
            <a:r>
              <a:rPr dirty="0" err="1"/>
              <a:t>Vektorsuche</a:t>
            </a:r>
            <a:r>
              <a:rPr dirty="0"/>
              <a:t> holt </a:t>
            </a:r>
            <a:r>
              <a:rPr dirty="0" err="1"/>
              <a:t>zunächst</a:t>
            </a:r>
            <a:r>
              <a:rPr dirty="0"/>
              <a:t> </a:t>
            </a:r>
            <a:r>
              <a:rPr dirty="0" err="1"/>
              <a:t>eine</a:t>
            </a:r>
            <a:r>
              <a:rPr dirty="0"/>
              <a:t> </a:t>
            </a:r>
            <a:r>
              <a:rPr dirty="0" err="1"/>
              <a:t>größere</a:t>
            </a:r>
            <a:r>
              <a:rPr dirty="0"/>
              <a:t> </a:t>
            </a:r>
            <a:r>
              <a:rPr dirty="0" err="1"/>
              <a:t>Kandidatenmenge</a:t>
            </a:r>
            <a:r>
              <a:rPr dirty="0"/>
              <a:t>. Unser Cross-Encoder BAAI/bge-reranker-v2-m3 </a:t>
            </a:r>
            <a:r>
              <a:rPr dirty="0" err="1"/>
              <a:t>liest</a:t>
            </a:r>
            <a:r>
              <a:rPr dirty="0"/>
              <a:t> Frage und Chunk </a:t>
            </a:r>
            <a:r>
              <a:rPr dirty="0" err="1"/>
              <a:t>gemeinsam</a:t>
            </a:r>
            <a:r>
              <a:rPr dirty="0"/>
              <a:t> und </a:t>
            </a:r>
            <a:r>
              <a:rPr dirty="0" err="1"/>
              <a:t>bewertet</a:t>
            </a:r>
            <a:r>
              <a:rPr dirty="0"/>
              <a:t> </a:t>
            </a:r>
            <a:r>
              <a:rPr dirty="0" err="1"/>
              <a:t>ihre</a:t>
            </a:r>
            <a:r>
              <a:rPr dirty="0"/>
              <a:t> </a:t>
            </a:r>
            <a:r>
              <a:rPr dirty="0" err="1"/>
              <a:t>Relevanz</a:t>
            </a:r>
            <a:r>
              <a:rPr dirty="0"/>
              <a:t> </a:t>
            </a:r>
            <a:r>
              <a:rPr dirty="0" err="1"/>
              <a:t>genauer</a:t>
            </a:r>
            <a:r>
              <a:rPr dirty="0"/>
              <a:t> </a:t>
            </a:r>
            <a:r>
              <a:rPr dirty="0" err="1"/>
              <a:t>als</a:t>
            </a:r>
            <a:r>
              <a:rPr dirty="0"/>
              <a:t> der </a:t>
            </a:r>
            <a:r>
              <a:rPr dirty="0" err="1"/>
              <a:t>reine</a:t>
            </a:r>
            <a:r>
              <a:rPr dirty="0"/>
              <a:t> </a:t>
            </a:r>
            <a:r>
              <a:rPr dirty="0" err="1"/>
              <a:t>Vektorabstand</a:t>
            </a:r>
            <a:r>
              <a:rPr dirty="0"/>
              <a:t>. Für die Evaluation </a:t>
            </a:r>
            <a:r>
              <a:rPr dirty="0" err="1"/>
              <a:t>bleiben</a:t>
            </a:r>
            <a:r>
              <a:rPr dirty="0"/>
              <a:t> </a:t>
            </a:r>
            <a:r>
              <a:rPr dirty="0" err="1"/>
              <a:t>nach</a:t>
            </a:r>
            <a:r>
              <a:rPr dirty="0"/>
              <a:t> dem Reranking </a:t>
            </a:r>
            <a:r>
              <a:rPr dirty="0" err="1"/>
              <a:t>sechs</a:t>
            </a:r>
            <a:r>
              <a:rPr dirty="0"/>
              <a:t> Chunks </a:t>
            </a:r>
            <a:r>
              <a:rPr dirty="0" err="1"/>
              <a:t>im</a:t>
            </a:r>
            <a:r>
              <a:rPr dirty="0"/>
              <a:t> </a:t>
            </a:r>
            <a:r>
              <a:rPr dirty="0" err="1"/>
              <a:t>gemeinsamen</a:t>
            </a:r>
            <a:r>
              <a:rPr dirty="0"/>
              <a:t> </a:t>
            </a:r>
            <a:r>
              <a:rPr dirty="0" err="1"/>
              <a:t>Kontextbudget</a:t>
            </a:r>
            <a:r>
              <a:rPr dirty="0"/>
              <a:t>; der </a:t>
            </a:r>
            <a:r>
              <a:rPr dirty="0" err="1"/>
              <a:t>interaktive</a:t>
            </a:r>
            <a:r>
              <a:rPr dirty="0"/>
              <a:t> Chat </a:t>
            </a:r>
            <a:r>
              <a:rPr dirty="0" err="1"/>
              <a:t>verwendet</a:t>
            </a:r>
            <a:r>
              <a:rPr dirty="0"/>
              <a:t> </a:t>
            </a:r>
            <a:r>
              <a:rPr dirty="0" err="1"/>
              <a:t>standardmäßig</a:t>
            </a:r>
            <a:r>
              <a:rPr dirty="0"/>
              <a:t> vier.</a:t>
            </a:r>
          </a:p>
          <a:p>
            <a:endParaRPr dirty="0"/>
          </a:p>
          <a:p>
            <a:r>
              <a:rPr dirty="0"/>
              <a:t>Der </a:t>
            </a:r>
            <a:r>
              <a:rPr dirty="0" err="1"/>
              <a:t>wichtigste</a:t>
            </a:r>
            <a:r>
              <a:rPr dirty="0"/>
              <a:t> </a:t>
            </a:r>
            <a:r>
              <a:rPr dirty="0" err="1"/>
              <a:t>Unterschied</a:t>
            </a:r>
            <a:r>
              <a:rPr dirty="0"/>
              <a:t>: Ein Bi-Encoder </a:t>
            </a:r>
            <a:r>
              <a:rPr dirty="0" err="1"/>
              <a:t>berechnet</a:t>
            </a:r>
            <a:r>
              <a:rPr dirty="0"/>
              <a:t> </a:t>
            </a:r>
            <a:r>
              <a:rPr dirty="0" err="1"/>
              <a:t>Dokument</a:t>
            </a:r>
            <a:r>
              <a:rPr dirty="0"/>
              <a:t>- und Query-</a:t>
            </a:r>
            <a:r>
              <a:rPr dirty="0" err="1"/>
              <a:t>Vektoren</a:t>
            </a:r>
            <a:r>
              <a:rPr dirty="0"/>
              <a:t> </a:t>
            </a:r>
            <a:r>
              <a:rPr dirty="0" err="1"/>
              <a:t>getrennt</a:t>
            </a:r>
            <a:r>
              <a:rPr dirty="0"/>
              <a:t> und </a:t>
            </a:r>
            <a:r>
              <a:rPr dirty="0" err="1"/>
              <a:t>ist</a:t>
            </a:r>
            <a:r>
              <a:rPr dirty="0"/>
              <a:t> schnell. Ein Cross-Encoder </a:t>
            </a:r>
            <a:r>
              <a:rPr dirty="0" err="1"/>
              <a:t>betrachtet</a:t>
            </a:r>
            <a:r>
              <a:rPr dirty="0"/>
              <a:t> </a:t>
            </a:r>
            <a:r>
              <a:rPr dirty="0" err="1"/>
              <a:t>beide</a:t>
            </a:r>
            <a:r>
              <a:rPr dirty="0"/>
              <a:t> Texte </a:t>
            </a:r>
            <a:r>
              <a:rPr dirty="0" err="1"/>
              <a:t>gemeinsam</a:t>
            </a:r>
            <a:r>
              <a:rPr dirty="0"/>
              <a:t> und </a:t>
            </a:r>
            <a:r>
              <a:rPr dirty="0" err="1"/>
              <a:t>ist</a:t>
            </a:r>
            <a:r>
              <a:rPr dirty="0"/>
              <a:t> </a:t>
            </a:r>
            <a:r>
              <a:rPr dirty="0" err="1"/>
              <a:t>präziser</a:t>
            </a:r>
            <a:r>
              <a:rPr dirty="0"/>
              <a:t>, </a:t>
            </a:r>
            <a:r>
              <a:rPr dirty="0" err="1"/>
              <a:t>aber</a:t>
            </a:r>
            <a:r>
              <a:rPr dirty="0"/>
              <a:t> </a:t>
            </a:r>
            <a:r>
              <a:rPr dirty="0" err="1"/>
              <a:t>langsamer</a:t>
            </a:r>
            <a:r>
              <a:rPr dirty="0"/>
              <a:t>. </a:t>
            </a:r>
            <a:r>
              <a:rPr dirty="0" err="1"/>
              <a:t>Deshalb</a:t>
            </a:r>
            <a:r>
              <a:rPr dirty="0"/>
              <a:t> </a:t>
            </a:r>
            <a:r>
              <a:rPr dirty="0" err="1"/>
              <a:t>wird</a:t>
            </a:r>
            <a:r>
              <a:rPr dirty="0"/>
              <a:t> er erst auf </a:t>
            </a:r>
            <a:r>
              <a:rPr dirty="0" err="1"/>
              <a:t>einer</a:t>
            </a:r>
            <a:r>
              <a:rPr dirty="0"/>
              <a:t> </a:t>
            </a:r>
            <a:r>
              <a:rPr dirty="0" err="1"/>
              <a:t>kleinen</a:t>
            </a:r>
            <a:r>
              <a:rPr dirty="0"/>
              <a:t> </a:t>
            </a:r>
            <a:r>
              <a:rPr dirty="0" err="1"/>
              <a:t>Kandidatenliste</a:t>
            </a:r>
            <a:r>
              <a:rPr dirty="0"/>
              <a:t> </a:t>
            </a:r>
            <a:r>
              <a:rPr dirty="0" err="1"/>
              <a:t>eingesetzt</a:t>
            </a:r>
            <a:r>
              <a:rPr dirty="0"/>
              <a:t>.</a:t>
            </a:r>
          </a:p>
          <a:p>
            <a:endParaRPr dirty="0"/>
          </a:p>
          <a:p>
            <a:r>
              <a:rPr dirty="0" err="1"/>
              <a:t>Publikumsfrage</a:t>
            </a:r>
            <a:r>
              <a:rPr dirty="0"/>
              <a:t>: Was </a:t>
            </a:r>
            <a:r>
              <a:rPr dirty="0" err="1"/>
              <a:t>passiert</a:t>
            </a:r>
            <a:r>
              <a:rPr dirty="0"/>
              <a:t>, </a:t>
            </a:r>
            <a:r>
              <a:rPr dirty="0" err="1"/>
              <a:t>wenn</a:t>
            </a:r>
            <a:r>
              <a:rPr dirty="0"/>
              <a:t> Art</a:t>
            </a:r>
            <a:r>
              <a:rPr lang="de-DE" dirty="0"/>
              <a:t> 335 </a:t>
            </a:r>
            <a:r>
              <a:rPr dirty="0"/>
              <a:t>in den </a:t>
            </a:r>
            <a:r>
              <a:rPr dirty="0" err="1"/>
              <a:t>ersten</a:t>
            </a:r>
            <a:r>
              <a:rPr dirty="0"/>
              <a:t> </a:t>
            </a:r>
            <a:r>
              <a:rPr dirty="0" err="1"/>
              <a:t>Kandidaten</a:t>
            </a:r>
            <a:r>
              <a:rPr dirty="0"/>
              <a:t> </a:t>
            </a:r>
            <a:r>
              <a:rPr dirty="0" err="1"/>
              <a:t>überhaupt</a:t>
            </a:r>
            <a:r>
              <a:rPr dirty="0"/>
              <a:t> nicht </a:t>
            </a:r>
            <a:r>
              <a:rPr dirty="0" err="1"/>
              <a:t>enthalten</a:t>
            </a:r>
            <a:r>
              <a:rPr dirty="0"/>
              <a:t> </a:t>
            </a:r>
            <a:r>
              <a:rPr dirty="0" err="1"/>
              <a:t>ist</a:t>
            </a:r>
            <a:r>
              <a:rPr dirty="0"/>
              <a:t>?</a:t>
            </a:r>
          </a:p>
          <a:p>
            <a:endParaRPr dirty="0"/>
          </a:p>
          <a:p>
            <a:r>
              <a:rPr dirty="0" err="1"/>
              <a:t>Erwartete</a:t>
            </a:r>
            <a:r>
              <a:rPr dirty="0"/>
              <a:t> </a:t>
            </a:r>
            <a:r>
              <a:rPr dirty="0" err="1"/>
              <a:t>Antwort</a:t>
            </a:r>
            <a:r>
              <a:rPr dirty="0"/>
              <a:t>: Der </a:t>
            </a:r>
            <a:r>
              <a:rPr dirty="0" err="1"/>
              <a:t>Reranker</a:t>
            </a:r>
            <a:r>
              <a:rPr dirty="0"/>
              <a:t> </a:t>
            </a:r>
            <a:r>
              <a:rPr dirty="0" err="1"/>
              <a:t>kann</a:t>
            </a:r>
            <a:r>
              <a:rPr dirty="0"/>
              <a:t> </a:t>
            </a:r>
            <a:r>
              <a:rPr dirty="0" err="1"/>
              <a:t>ihn</a:t>
            </a:r>
            <a:r>
              <a:rPr dirty="0"/>
              <a:t> nicht </a:t>
            </a:r>
            <a:r>
              <a:rPr dirty="0" err="1"/>
              <a:t>auswählen</a:t>
            </a:r>
            <a:r>
              <a:rPr dirty="0"/>
              <a:t>; </a:t>
            </a:r>
            <a:r>
              <a:rPr dirty="0" err="1"/>
              <a:t>dafür</a:t>
            </a:r>
            <a:r>
              <a:rPr dirty="0"/>
              <a:t> </a:t>
            </a:r>
            <a:r>
              <a:rPr dirty="0" err="1"/>
              <a:t>brauchen</a:t>
            </a:r>
            <a:r>
              <a:rPr dirty="0"/>
              <a:t> </a:t>
            </a:r>
            <a:r>
              <a:rPr dirty="0" err="1"/>
              <a:t>wir</a:t>
            </a:r>
            <a:r>
              <a:rPr dirty="0"/>
              <a:t> </a:t>
            </a:r>
            <a:r>
              <a:rPr dirty="0" err="1"/>
              <a:t>besseren</a:t>
            </a:r>
            <a:r>
              <a:rPr dirty="0"/>
              <a:t> Recall </a:t>
            </a:r>
            <a:r>
              <a:rPr dirty="0" err="1"/>
              <a:t>im</a:t>
            </a:r>
            <a:r>
              <a:rPr dirty="0"/>
              <a:t> </a:t>
            </a:r>
            <a:r>
              <a:rPr dirty="0" err="1"/>
              <a:t>vorgelagerten</a:t>
            </a:r>
            <a:r>
              <a:rPr dirty="0"/>
              <a:t> Retrieval.</a:t>
            </a:r>
          </a:p>
          <a:p>
            <a:endParaRPr dirty="0"/>
          </a:p>
          <a:p>
            <a:r>
              <a:rPr dirty="0" err="1"/>
              <a:t>Übergang</a:t>
            </a:r>
            <a:r>
              <a:rPr dirty="0"/>
              <a:t>: </a:t>
            </a:r>
            <a:r>
              <a:rPr dirty="0" err="1"/>
              <a:t>Genau</a:t>
            </a:r>
            <a:r>
              <a:rPr dirty="0"/>
              <a:t> </a:t>
            </a:r>
            <a:r>
              <a:rPr dirty="0" err="1"/>
              <a:t>dort</a:t>
            </a:r>
            <a:r>
              <a:rPr dirty="0"/>
              <a:t> </a:t>
            </a:r>
            <a:r>
              <a:rPr dirty="0" err="1"/>
              <a:t>setzt</a:t>
            </a:r>
            <a:r>
              <a:rPr dirty="0"/>
              <a:t> die </a:t>
            </a:r>
            <a:r>
              <a:rPr dirty="0" err="1"/>
              <a:t>hybride</a:t>
            </a:r>
            <a:r>
              <a:rPr dirty="0"/>
              <a:t> und </a:t>
            </a:r>
            <a:r>
              <a:rPr dirty="0" err="1"/>
              <a:t>graphbasierte</a:t>
            </a:r>
            <a:r>
              <a:rPr dirty="0"/>
              <a:t> </a:t>
            </a:r>
            <a:r>
              <a:rPr dirty="0" err="1"/>
              <a:t>Suche</a:t>
            </a:r>
            <a:r>
              <a:rPr dirty="0"/>
              <a:t> an.</a:t>
            </a:r>
          </a:p>
          <a:p>
            <a:endParaRPr dirty="0"/>
          </a:p>
          <a:p>
            <a:r>
              <a:rPr dirty="0"/>
              <a:t>[Sources]</a:t>
            </a:r>
          </a:p>
          <a:p>
            <a:r>
              <a:rPr dirty="0"/>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081088" y="617538"/>
            <a:ext cx="4695825" cy="2641600"/>
          </a:xfrm>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042C5124-4C40-4574-A599-2A4750070F64}" type="slidenum">
              <a:rPr lang="de-DE" smtClean="0"/>
              <a:pPr/>
              <a:t>3</a:t>
            </a:fld>
            <a:endParaRPr lang="de-DE"/>
          </a:p>
        </p:txBody>
      </p:sp>
    </p:spTree>
    <p:extLst>
      <p:ext uri="{BB962C8B-B14F-4D97-AF65-F5344CB8AC3E}">
        <p14:creationId xmlns:p14="http://schemas.microsoft.com/office/powerpoint/2010/main" val="229803429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10.08.2026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10.08.2026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10.08.2026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10.08.2026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2"/>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3" imgW="306" imgH="306" progId="TCLayout.ActiveDocument.1">
                  <p:embed/>
                </p:oleObj>
              </mc:Choice>
              <mc:Fallback>
                <p:oleObj name="think-cell Folie" r:id="rId13" imgW="306" imgH="306" progId="TCLayout.ActiveDocument.1">
                  <p:embed/>
                  <p:pic>
                    <p:nvPicPr>
                      <p:cNvPr id="0" name=""/>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10.08.2026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5"/>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4.svg"/><Relationship Id="rId13" Type="http://schemas.openxmlformats.org/officeDocument/2006/relationships/image" Target="../media/image19.svg"/><Relationship Id="rId3" Type="http://schemas.openxmlformats.org/officeDocument/2006/relationships/image" Target="../media/image9.svg"/><Relationship Id="rId7" Type="http://schemas.openxmlformats.org/officeDocument/2006/relationships/image" Target="../media/image13.svg"/><Relationship Id="rId12" Type="http://schemas.openxmlformats.org/officeDocument/2006/relationships/image" Target="../media/image18.svg"/><Relationship Id="rId2" Type="http://schemas.openxmlformats.org/officeDocument/2006/relationships/notesSlide" Target="../notesSlides/notesSlide7.xml"/><Relationship Id="rId16" Type="http://schemas.openxmlformats.org/officeDocument/2006/relationships/image" Target="../media/image22.svg"/><Relationship Id="rId1" Type="http://schemas.openxmlformats.org/officeDocument/2006/relationships/slideLayout" Target="../slideLayouts/slideLayout3.xml"/><Relationship Id="rId6" Type="http://schemas.openxmlformats.org/officeDocument/2006/relationships/image" Target="../media/image12.svg"/><Relationship Id="rId11" Type="http://schemas.openxmlformats.org/officeDocument/2006/relationships/image" Target="../media/image17.svg"/><Relationship Id="rId5" Type="http://schemas.openxmlformats.org/officeDocument/2006/relationships/image" Target="../media/image11.svg"/><Relationship Id="rId15" Type="http://schemas.openxmlformats.org/officeDocument/2006/relationships/image" Target="../media/image21.sv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svg"/><Relationship Id="rId14" Type="http://schemas.openxmlformats.org/officeDocument/2006/relationships/image" Target="../media/image20.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8" Type="http://schemas.openxmlformats.org/officeDocument/2006/relationships/image" Target="../media/image17.svg"/><Relationship Id="rId13" Type="http://schemas.openxmlformats.org/officeDocument/2006/relationships/image" Target="../media/image10.svg"/><Relationship Id="rId3" Type="http://schemas.openxmlformats.org/officeDocument/2006/relationships/image" Target="../media/image12.svg"/><Relationship Id="rId7" Type="http://schemas.openxmlformats.org/officeDocument/2006/relationships/image" Target="../media/image16.svg"/><Relationship Id="rId12" Type="http://schemas.openxmlformats.org/officeDocument/2006/relationships/image" Target="../media/image22.svg"/><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5.svg"/><Relationship Id="rId11" Type="http://schemas.openxmlformats.org/officeDocument/2006/relationships/image" Target="../media/image21.svg"/><Relationship Id="rId5" Type="http://schemas.openxmlformats.org/officeDocument/2006/relationships/image" Target="../media/image14.svg"/><Relationship Id="rId15" Type="http://schemas.openxmlformats.org/officeDocument/2006/relationships/image" Target="../media/image18.svg"/><Relationship Id="rId10" Type="http://schemas.openxmlformats.org/officeDocument/2006/relationships/image" Target="../media/image20.svg"/><Relationship Id="rId4" Type="http://schemas.openxmlformats.org/officeDocument/2006/relationships/image" Target="../media/image13.svg"/><Relationship Id="rId9" Type="http://schemas.openxmlformats.org/officeDocument/2006/relationships/image" Target="../media/image19.svg"/><Relationship Id="rId14" Type="http://schemas.openxmlformats.org/officeDocument/2006/relationships/image" Target="../media/image11.svg"/></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8" Type="http://schemas.openxmlformats.org/officeDocument/2006/relationships/image" Target="../media/image9.svg"/><Relationship Id="rId13" Type="http://schemas.openxmlformats.org/officeDocument/2006/relationships/image" Target="../media/image15.svg"/><Relationship Id="rId3" Type="http://schemas.openxmlformats.org/officeDocument/2006/relationships/image" Target="../media/image17.svg"/><Relationship Id="rId7" Type="http://schemas.openxmlformats.org/officeDocument/2006/relationships/image" Target="../media/image22.svg"/><Relationship Id="rId12" Type="http://schemas.openxmlformats.org/officeDocument/2006/relationships/image" Target="../media/image13.svg"/><Relationship Id="rId2" Type="http://schemas.openxmlformats.org/officeDocument/2006/relationships/image" Target="../media/image16.svg"/><Relationship Id="rId1" Type="http://schemas.openxmlformats.org/officeDocument/2006/relationships/slideLayout" Target="../slideLayouts/slideLayout3.xml"/><Relationship Id="rId6" Type="http://schemas.openxmlformats.org/officeDocument/2006/relationships/image" Target="../media/image21.svg"/><Relationship Id="rId11" Type="http://schemas.openxmlformats.org/officeDocument/2006/relationships/image" Target="../media/image12.svg"/><Relationship Id="rId5" Type="http://schemas.openxmlformats.org/officeDocument/2006/relationships/image" Target="../media/image20.svg"/><Relationship Id="rId15" Type="http://schemas.openxmlformats.org/officeDocument/2006/relationships/image" Target="../media/image19.svg"/><Relationship Id="rId10" Type="http://schemas.openxmlformats.org/officeDocument/2006/relationships/image" Target="../media/image11.svg"/><Relationship Id="rId4" Type="http://schemas.openxmlformats.org/officeDocument/2006/relationships/image" Target="../media/image14.svg"/><Relationship Id="rId9" Type="http://schemas.openxmlformats.org/officeDocument/2006/relationships/image" Target="../media/image10.svg"/><Relationship Id="rId14" Type="http://schemas.openxmlformats.org/officeDocument/2006/relationships/image" Target="../media/image18.svg"/></Relationships>
</file>

<file path=ppt/slides/_rels/slide13.xml.rels><?xml version="1.0" encoding="UTF-8" standalone="yes"?>
<Relationships xmlns="http://schemas.openxmlformats.org/package/2006/relationships"><Relationship Id="rId8" Type="http://schemas.openxmlformats.org/officeDocument/2006/relationships/image" Target="../media/image20.svg"/><Relationship Id="rId13" Type="http://schemas.openxmlformats.org/officeDocument/2006/relationships/image" Target="../media/image16.svg"/><Relationship Id="rId3" Type="http://schemas.openxmlformats.org/officeDocument/2006/relationships/image" Target="../media/image12.svg"/><Relationship Id="rId7" Type="http://schemas.openxmlformats.org/officeDocument/2006/relationships/image" Target="../media/image19.svg"/><Relationship Id="rId12" Type="http://schemas.openxmlformats.org/officeDocument/2006/relationships/image" Target="../media/image15.svg"/><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7.svg"/><Relationship Id="rId11" Type="http://schemas.openxmlformats.org/officeDocument/2006/relationships/image" Target="../media/image11.svg"/><Relationship Id="rId5" Type="http://schemas.openxmlformats.org/officeDocument/2006/relationships/image" Target="../media/image14.svg"/><Relationship Id="rId15" Type="http://schemas.openxmlformats.org/officeDocument/2006/relationships/image" Target="../media/image22.svg"/><Relationship Id="rId10" Type="http://schemas.openxmlformats.org/officeDocument/2006/relationships/image" Target="../media/image10.svg"/><Relationship Id="rId4" Type="http://schemas.openxmlformats.org/officeDocument/2006/relationships/image" Target="../media/image13.svg"/><Relationship Id="rId9" Type="http://schemas.openxmlformats.org/officeDocument/2006/relationships/image" Target="../media/image21.svg"/><Relationship Id="rId14" Type="http://schemas.openxmlformats.org/officeDocument/2006/relationships/image" Target="../media/image18.sv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8" Type="http://schemas.openxmlformats.org/officeDocument/2006/relationships/image" Target="../media/image13.svg"/><Relationship Id="rId13" Type="http://schemas.openxmlformats.org/officeDocument/2006/relationships/image" Target="../media/image18.svg"/><Relationship Id="rId3" Type="http://schemas.openxmlformats.org/officeDocument/2006/relationships/image" Target="../media/image21.svg"/><Relationship Id="rId7" Type="http://schemas.openxmlformats.org/officeDocument/2006/relationships/image" Target="../media/image12.svg"/><Relationship Id="rId12" Type="http://schemas.openxmlformats.org/officeDocument/2006/relationships/image" Target="../media/image17.svg"/><Relationship Id="rId2" Type="http://schemas.openxmlformats.org/officeDocument/2006/relationships/image" Target="../media/image20.svg"/><Relationship Id="rId1" Type="http://schemas.openxmlformats.org/officeDocument/2006/relationships/slideLayout" Target="../slideLayouts/slideLayout3.xml"/><Relationship Id="rId6" Type="http://schemas.openxmlformats.org/officeDocument/2006/relationships/image" Target="../media/image11.svg"/><Relationship Id="rId11" Type="http://schemas.openxmlformats.org/officeDocument/2006/relationships/image" Target="../media/image16.svg"/><Relationship Id="rId5" Type="http://schemas.openxmlformats.org/officeDocument/2006/relationships/image" Target="../media/image10.svg"/><Relationship Id="rId15" Type="http://schemas.openxmlformats.org/officeDocument/2006/relationships/image" Target="../media/image22.svg"/><Relationship Id="rId10" Type="http://schemas.openxmlformats.org/officeDocument/2006/relationships/image" Target="../media/image15.svg"/><Relationship Id="rId4" Type="http://schemas.openxmlformats.org/officeDocument/2006/relationships/image" Target="../media/image9.svg"/><Relationship Id="rId9" Type="http://schemas.openxmlformats.org/officeDocument/2006/relationships/image" Target="../media/image14.svg"/><Relationship Id="rId14" Type="http://schemas.openxmlformats.org/officeDocument/2006/relationships/image" Target="../media/image19.sv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8" Type="http://schemas.openxmlformats.org/officeDocument/2006/relationships/image" Target="../media/image10.svg"/><Relationship Id="rId13" Type="http://schemas.openxmlformats.org/officeDocument/2006/relationships/image" Target="../media/image20.svg"/><Relationship Id="rId3" Type="http://schemas.openxmlformats.org/officeDocument/2006/relationships/image" Target="../media/image14.svg"/><Relationship Id="rId7" Type="http://schemas.openxmlformats.org/officeDocument/2006/relationships/image" Target="../media/image9.svg"/><Relationship Id="rId12" Type="http://schemas.openxmlformats.org/officeDocument/2006/relationships/image" Target="../media/image18.svg"/><Relationship Id="rId2" Type="http://schemas.openxmlformats.org/officeDocument/2006/relationships/image" Target="../media/image13.svg"/><Relationship Id="rId1" Type="http://schemas.openxmlformats.org/officeDocument/2006/relationships/slideLayout" Target="../slideLayouts/slideLayout3.xml"/><Relationship Id="rId6" Type="http://schemas.openxmlformats.org/officeDocument/2006/relationships/image" Target="../media/image19.svg"/><Relationship Id="rId11" Type="http://schemas.openxmlformats.org/officeDocument/2006/relationships/image" Target="../media/image16.svg"/><Relationship Id="rId5" Type="http://schemas.openxmlformats.org/officeDocument/2006/relationships/image" Target="../media/image17.svg"/><Relationship Id="rId15" Type="http://schemas.openxmlformats.org/officeDocument/2006/relationships/image" Target="../media/image22.svg"/><Relationship Id="rId10" Type="http://schemas.openxmlformats.org/officeDocument/2006/relationships/image" Target="../media/image12.svg"/><Relationship Id="rId4" Type="http://schemas.openxmlformats.org/officeDocument/2006/relationships/image" Target="../media/image15.svg"/><Relationship Id="rId9" Type="http://schemas.openxmlformats.org/officeDocument/2006/relationships/image" Target="../media/image11.svg"/><Relationship Id="rId14" Type="http://schemas.openxmlformats.org/officeDocument/2006/relationships/image" Target="../media/image21.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image" Target="../media/image15.svg"/><Relationship Id="rId1" Type="http://schemas.openxmlformats.org/officeDocument/2006/relationships/slideLayout" Target="../slideLayouts/slideLayout9.xml"/><Relationship Id="rId6" Type="http://schemas.openxmlformats.org/officeDocument/2006/relationships/image" Target="../media/image14.svg"/><Relationship Id="rId5" Type="http://schemas.openxmlformats.org/officeDocument/2006/relationships/image" Target="../media/image10.svg"/><Relationship Id="rId10" Type="http://schemas.openxmlformats.org/officeDocument/2006/relationships/image" Target="../media/image11.svg"/><Relationship Id="rId4" Type="http://schemas.openxmlformats.org/officeDocument/2006/relationships/image" Target="../media/image21.svg"/><Relationship Id="rId9" Type="http://schemas.openxmlformats.org/officeDocument/2006/relationships/image" Target="../media/image18.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10.08.2026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540000" y="3600000"/>
            <a:ext cx="6120000" cy="900000"/>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10.08.2026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10.08.2026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540000" y="3780000"/>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p:nvPr/>
        </p:nvSpPr>
        <p:spPr>
          <a:xfrm>
            <a:off x="540000" y="2700000"/>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p:nvPr/>
        </p:nvSpPr>
        <p:spPr>
          <a:xfrm>
            <a:off x="4500000" y="2700000"/>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p:nvPr/>
        </p:nvSpPr>
        <p:spPr>
          <a:xfrm>
            <a:off x="8460000" y="2700000"/>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540000" y="2880000"/>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500000" y="2880000"/>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60000" y="2880000"/>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540000" y="4860000"/>
            <a:ext cx="10980000" cy="10800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720000" y="1620000"/>
            <a:ext cx="4500000" cy="2880000"/>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7020000" y="1620000"/>
            <a:ext cx="4500000" cy="2880000"/>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10.08.2026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p:nvPr/>
        </p:nvSpPr>
        <p:spPr>
          <a:xfrm>
            <a:off x="720000" y="1620000"/>
            <a:ext cx="4500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p:nvPr/>
        </p:nvSpPr>
        <p:spPr>
          <a:xfrm>
            <a:off x="7020000" y="1620000"/>
            <a:ext cx="4500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p:nvPr/>
        </p:nvSpPr>
        <p:spPr>
          <a:xfrm>
            <a:off x="5490000" y="2700000"/>
            <a:ext cx="1260000" cy="72000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p:nvPr/>
        </p:nvSpPr>
        <p:spPr>
          <a:xfrm>
            <a:off x="720000" y="4860000"/>
            <a:ext cx="85725" cy="1028700"/>
          </a:xfrm>
          <a:prstGeom prst="rect">
            <a:avLst/>
          </a:prstGeom>
          <a:solidFill>
            <a:srgbClr val="C9960F"/>
          </a:solidFill>
          <a:ln w="0">
            <a:solidFill>
              <a:srgbClr val="C9960F"/>
            </a:solidFill>
            <a:prstDash val="solid"/>
          </a:ln>
        </p:spPr>
        <p:txBody>
          <a:bodyPr/>
          <a:lstStyle/>
          <a:p>
            <a:endParaRPr lang="de-CH"/>
          </a:p>
        </p:txBody>
      </p:sp>
      <p:pic>
        <p:nvPicPr>
          <p:cNvPr id="27" name="Icon Komprimiere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0000" y="1980000"/>
            <a:ext cx="1080000" cy="1080000"/>
          </a:xfrm>
          <a:prstGeom prst="rect">
            <a:avLst/>
          </a:prstGeom>
        </p:spPr>
      </p:pic>
      <p:sp>
        <p:nvSpPr>
          <p:cNvPr id="28" name="Rechteck 27">
            <a:extLst>
              <a:ext uri="{FF2B5EF4-FFF2-40B4-BE49-F238E27FC236}">
                <a16:creationId xmlns:a16="http://schemas.microsoft.com/office/drawing/2014/main" id="{EEACB154-8F23-4F3B-90DA-78C963ADE415}"/>
              </a:ext>
            </a:extLst>
          </p:cNvPr>
          <p:cNvSpPr/>
          <p:nvPr/>
        </p:nvSpPr>
        <p:spPr>
          <a:xfrm>
            <a:off x="8460000" y="19800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p:nvPr/>
        </p:nvSpPr>
        <p:spPr>
          <a:xfrm>
            <a:off x="8460000" y="23400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p:nvPr/>
        </p:nvSpPr>
        <p:spPr>
          <a:xfrm>
            <a:off x="7200000" y="3240000"/>
            <a:ext cx="3960000" cy="90000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pic>
        <p:nvPicPr>
          <p:cNvPr id="35" name="Icon Expandiere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80000" y="1980000"/>
            <a:ext cx="1080000" cy="1080000"/>
          </a:xfrm>
          <a:prstGeom prst="rect">
            <a:avLst/>
          </a:prstGeom>
        </p:spPr>
      </p:pic>
      <p:sp>
        <p:nvSpPr>
          <p:cNvPr id="36" name="Rechteck 35">
            <a:extLst>
              <a:ext uri="{FF2B5EF4-FFF2-40B4-BE49-F238E27FC236}">
                <a16:creationId xmlns:a16="http://schemas.microsoft.com/office/drawing/2014/main" id="{9C059803-0FCD-4255-82D1-E5486EDB1ABE}"/>
              </a:ext>
            </a:extLst>
          </p:cNvPr>
          <p:cNvSpPr/>
          <p:nvPr/>
        </p:nvSpPr>
        <p:spPr>
          <a:xfrm>
            <a:off x="2160000" y="19800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p:nvPr/>
        </p:nvSpPr>
        <p:spPr>
          <a:xfrm>
            <a:off x="2160000" y="23400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dirty="0" err="1">
                <a:solidFill>
                  <a:srgbClr val="2D3F4B"/>
                </a:solidFill>
                <a:latin typeface="Arial"/>
                <a:ea typeface="Arial"/>
                <a:cs typeface="Arial"/>
              </a:rPr>
              <a:t>Expandieren</a:t>
            </a:r>
            <a:endParaRPr sz="2550" b="1" dirty="0">
              <a:solidFill>
                <a:srgbClr val="2D3F4B"/>
              </a:solidFill>
              <a:latin typeface="Arial"/>
              <a:ea typeface="Arial"/>
              <a:cs typeface="Arial"/>
            </a:endParaRPr>
          </a:p>
        </p:txBody>
      </p:sp>
      <p:sp>
        <p:nvSpPr>
          <p:cNvPr id="38" name="Rechteck 37">
            <a:extLst>
              <a:ext uri="{FF2B5EF4-FFF2-40B4-BE49-F238E27FC236}">
                <a16:creationId xmlns:a16="http://schemas.microsoft.com/office/drawing/2014/main" id="{ACFCC35B-9CB1-45B1-9CAA-5FC9371705C0}"/>
              </a:ext>
            </a:extLst>
          </p:cNvPr>
          <p:cNvSpPr/>
          <p:nvPr/>
        </p:nvSpPr>
        <p:spPr>
          <a:xfrm>
            <a:off x="1080000" y="3240000"/>
            <a:ext cx="3960000" cy="90000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Icon Translatieren"/>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0000" y="4854216"/>
            <a:ext cx="1034484" cy="1034484"/>
          </a:xfrm>
          <a:prstGeom prst="rect">
            <a:avLst/>
          </a:prstGeom>
        </p:spPr>
      </p:pic>
      <p:sp>
        <p:nvSpPr>
          <p:cNvPr id="42" name="Rechteck 41">
            <a:extLst>
              <a:ext uri="{FF2B5EF4-FFF2-40B4-BE49-F238E27FC236}">
                <a16:creationId xmlns:a16="http://schemas.microsoft.com/office/drawing/2014/main" id="{D3F77ACE-A9C1-407A-8F7A-E075BA0C63A1}"/>
              </a:ext>
            </a:extLst>
          </p:cNvPr>
          <p:cNvSpPr/>
          <p:nvPr/>
        </p:nvSpPr>
        <p:spPr>
          <a:xfrm>
            <a:off x="1934484" y="4874580"/>
            <a:ext cx="2246766" cy="525420"/>
          </a:xfrm>
          <a:prstGeom prst="rect">
            <a:avLst/>
          </a:prstGeom>
          <a:noFill/>
          <a:ln w="0">
            <a:noFill/>
            <a:prstDash val="solid"/>
          </a:ln>
        </p:spPr>
        <p:txBody>
          <a:bodyPr anchor="t"/>
          <a:lstStyle/>
          <a:p>
            <a:pPr>
              <a:defRPr sz="2025" b="1">
                <a:solidFill>
                  <a:srgbClr val="2D3F4B"/>
                </a:solidFill>
                <a:latin typeface="Arial"/>
                <a:ea typeface="Arial"/>
                <a:cs typeface="Arial"/>
              </a:defRPr>
            </a:pPr>
            <a:r>
              <a:rPr sz="2550" b="1" dirty="0" err="1">
                <a:solidFill>
                  <a:srgbClr val="2D3F4B"/>
                </a:solidFill>
                <a:latin typeface="Arial"/>
                <a:ea typeface="Arial"/>
                <a:cs typeface="Arial"/>
              </a:rPr>
              <a:t>Translatieren</a:t>
            </a:r>
            <a:endParaRPr sz="2550"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p:nvPr/>
        </p:nvSpPr>
        <p:spPr>
          <a:xfrm>
            <a:off x="1934484" y="5400000"/>
            <a:ext cx="9415104"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730" dirty="0">
                <a:solidFill>
                  <a:srgbClr val="2D3F4B"/>
                </a:solidFill>
                <a:latin typeface="Arial"/>
                <a:ea typeface="Arial"/>
                <a:cs typeface="Arial"/>
              </a:rPr>
              <a:t>Gleicher </a:t>
            </a:r>
            <a:r>
              <a:rPr sz="1730" dirty="0" err="1">
                <a:solidFill>
                  <a:srgbClr val="2D3F4B"/>
                </a:solidFill>
                <a:latin typeface="Arial"/>
                <a:ea typeface="Arial"/>
                <a:cs typeface="Arial"/>
              </a:rPr>
              <a:t>Inhalt</a:t>
            </a:r>
            <a:r>
              <a:rPr sz="1730" dirty="0">
                <a:solidFill>
                  <a:srgbClr val="2D3F4B"/>
                </a:solidFill>
                <a:latin typeface="Arial"/>
                <a:ea typeface="Arial"/>
                <a:cs typeface="Arial"/>
              </a:rPr>
              <a:t> → </a:t>
            </a:r>
            <a:r>
              <a:rPr sz="1730" dirty="0" err="1">
                <a:solidFill>
                  <a:srgbClr val="2D3F4B"/>
                </a:solidFill>
                <a:latin typeface="Arial"/>
                <a:ea typeface="Arial"/>
                <a:cs typeface="Arial"/>
              </a:rPr>
              <a:t>andere</a:t>
            </a:r>
            <a:r>
              <a:rPr sz="1730" dirty="0">
                <a:solidFill>
                  <a:srgbClr val="2D3F4B"/>
                </a:solidFill>
                <a:latin typeface="Arial"/>
                <a:ea typeface="Arial"/>
                <a:cs typeface="Arial"/>
              </a:rPr>
              <a:t> </a:t>
            </a:r>
            <a:r>
              <a:rPr sz="1730" dirty="0" err="1">
                <a:solidFill>
                  <a:srgbClr val="2D3F4B"/>
                </a:solidFill>
                <a:latin typeface="Arial"/>
                <a:ea typeface="Arial"/>
                <a:cs typeface="Arial"/>
              </a:rPr>
              <a:t>Sprache</a:t>
            </a:r>
            <a:r>
              <a:rPr sz="1730" dirty="0">
                <a:solidFill>
                  <a:srgbClr val="2D3F4B"/>
                </a:solidFill>
                <a:latin typeface="Arial"/>
                <a:ea typeface="Arial"/>
                <a:cs typeface="Arial"/>
              </a:rPr>
              <a:t>, Form </a:t>
            </a:r>
            <a:r>
              <a:rPr sz="1730" dirty="0" err="1">
                <a:solidFill>
                  <a:srgbClr val="2D3F4B"/>
                </a:solidFill>
                <a:latin typeface="Arial"/>
                <a:ea typeface="Arial"/>
                <a:cs typeface="Arial"/>
              </a:rPr>
              <a:t>oder</a:t>
            </a:r>
            <a:r>
              <a:rPr sz="1730" dirty="0">
                <a:solidFill>
                  <a:srgbClr val="2D3F4B"/>
                </a:solidFill>
                <a:latin typeface="Arial"/>
                <a:ea typeface="Arial"/>
                <a:cs typeface="Arial"/>
              </a:rPr>
              <a:t> </a:t>
            </a:r>
            <a:r>
              <a:rPr sz="1730" dirty="0" err="1">
                <a:solidFill>
                  <a:srgbClr val="2D3F4B"/>
                </a:solidFill>
                <a:latin typeface="Arial"/>
                <a:ea typeface="Arial"/>
                <a:cs typeface="Arial"/>
              </a:rPr>
              <a:t>Struktur</a:t>
            </a:r>
            <a:r>
              <a:rPr sz="1730" dirty="0">
                <a:solidFill>
                  <a:srgbClr val="2D3F4B"/>
                </a:solidFill>
                <a:latin typeface="Arial"/>
                <a:ea typeface="Arial"/>
                <a:cs typeface="Arial"/>
              </a:rPr>
              <a:t>. RAG </a:t>
            </a:r>
            <a:r>
              <a:rPr sz="1730" dirty="0" err="1">
                <a:solidFill>
                  <a:srgbClr val="2D3F4B"/>
                </a:solidFill>
                <a:latin typeface="Arial"/>
                <a:ea typeface="Arial"/>
                <a:cs typeface="Arial"/>
              </a:rPr>
              <a:t>ist</a:t>
            </a:r>
            <a:r>
              <a:rPr sz="1730" dirty="0">
                <a:solidFill>
                  <a:srgbClr val="2D3F4B"/>
                </a:solidFill>
                <a:latin typeface="Arial"/>
                <a:ea typeface="Arial"/>
                <a:cs typeface="Arial"/>
              </a:rPr>
              <a:t> </a:t>
            </a:r>
            <a:r>
              <a:rPr sz="1730" dirty="0" err="1">
                <a:solidFill>
                  <a:srgbClr val="2D3F4B"/>
                </a:solidFill>
                <a:latin typeface="Arial"/>
                <a:ea typeface="Arial"/>
                <a:cs typeface="Arial"/>
              </a:rPr>
              <a:t>dafür</a:t>
            </a:r>
            <a:r>
              <a:rPr sz="1730" dirty="0">
                <a:solidFill>
                  <a:srgbClr val="2D3F4B"/>
                </a:solidFill>
                <a:latin typeface="Arial"/>
                <a:ea typeface="Arial"/>
                <a:cs typeface="Arial"/>
              </a:rPr>
              <a:t> nicht </a:t>
            </a:r>
            <a:r>
              <a:rPr sz="1730" dirty="0" err="1">
                <a:solidFill>
                  <a:srgbClr val="2D3F4B"/>
                </a:solidFill>
                <a:latin typeface="Arial"/>
                <a:ea typeface="Arial"/>
                <a:cs typeface="Arial"/>
              </a:rPr>
              <a:t>zwingend</a:t>
            </a:r>
            <a:r>
              <a:rPr sz="1730" dirty="0">
                <a:solidFill>
                  <a:srgbClr val="2D3F4B"/>
                </a:solidFill>
                <a:latin typeface="Arial"/>
                <a:ea typeface="Arial"/>
                <a:cs typeface="Arial"/>
              </a:rPr>
              <a:t> </a:t>
            </a:r>
            <a:r>
              <a:rPr sz="1730" dirty="0" err="1">
                <a:solidFill>
                  <a:srgbClr val="2D3F4B"/>
                </a:solidFill>
                <a:latin typeface="Arial"/>
                <a:ea typeface="Arial"/>
                <a:cs typeface="Arial"/>
              </a:rPr>
              <a:t>nötig</a:t>
            </a:r>
            <a:r>
              <a:rPr sz="1730" dirty="0">
                <a:solidFill>
                  <a:srgbClr val="2D3F4B"/>
                </a:solidFill>
                <a:latin typeface="Arial"/>
                <a:ea typeface="Arial"/>
                <a:cs typeface="Arial"/>
              </a:rPr>
              <a:t>.</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6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0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72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10.08.2026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p:nvPr/>
        </p:nvSpPr>
        <p:spPr>
          <a:xfrm>
            <a:off x="719999" y="4680000"/>
            <a:ext cx="2520000"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p:nvPr/>
        </p:nvSpPr>
        <p:spPr>
          <a:xfrm>
            <a:off x="72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p:nvPr/>
        </p:nvSpPr>
        <p:spPr>
          <a:xfrm>
            <a:off x="720000" y="4680000"/>
            <a:ext cx="2520000" cy="900000"/>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p:nvPr/>
        </p:nvSpPr>
        <p:spPr>
          <a:xfrm>
            <a:off x="3599999" y="4245340"/>
            <a:ext cx="2520000" cy="433898"/>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p:nvPr/>
        </p:nvSpPr>
        <p:spPr>
          <a:xfrm>
            <a:off x="360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p:nvPr/>
        </p:nvSpPr>
        <p:spPr>
          <a:xfrm>
            <a:off x="6480000" y="4680000"/>
            <a:ext cx="2520000"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p:nvPr/>
        </p:nvSpPr>
        <p:spPr>
          <a:xfrm>
            <a:off x="648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p:nvPr/>
        </p:nvSpPr>
        <p:spPr>
          <a:xfrm>
            <a:off x="648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Anweisungen</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p:nvPr/>
        </p:nvSpPr>
        <p:spPr>
          <a:xfrm>
            <a:off x="9359999" y="4680000"/>
            <a:ext cx="2520000"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p:nvPr/>
        </p:nvSpPr>
        <p:spPr>
          <a:xfrm>
            <a:off x="9360000" y="4233355"/>
            <a:ext cx="2520000" cy="44588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err="1">
                <a:solidFill>
                  <a:srgbClr val="2D3F4B"/>
                </a:solidFill>
                <a:latin typeface="Arial"/>
                <a:ea typeface="Arial"/>
                <a:cs typeface="Arial"/>
              </a:rPr>
              <a:t>Kontextfenster</a:t>
            </a:r>
            <a:endParaRPr sz="1800" b="1" dirty="0">
              <a:solidFill>
                <a:srgbClr val="2D3F4B"/>
              </a:solidFill>
              <a:latin typeface="Arial"/>
              <a:ea typeface="Arial"/>
              <a:cs typeface="Arial"/>
            </a:endParaRPr>
          </a:p>
        </p:txBody>
      </p:sp>
      <p:sp>
        <p:nvSpPr>
          <p:cNvPr id="31" name="Textfeld 30">
            <a:extLst>
              <a:ext uri="{FF2B5EF4-FFF2-40B4-BE49-F238E27FC236}">
                <a16:creationId xmlns:a16="http://schemas.microsoft.com/office/drawing/2014/main" id="{ACB039CC-F485-C051-649D-630116902526}"/>
              </a:ext>
            </a:extLst>
          </p:cNvPr>
          <p:cNvSpPr/>
          <p:nvPr/>
        </p:nvSpPr>
        <p:spPr>
          <a:xfrm>
            <a:off x="9359999" y="4671659"/>
            <a:ext cx="2520000" cy="908341"/>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p:nvPr/>
        </p:nvSpPr>
        <p:spPr>
          <a:xfrm>
            <a:off x="4320000" y="2520000"/>
            <a:ext cx="3600000" cy="90000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de-CH" b="1" dirty="0">
                <a:solidFill>
                  <a:srgbClr val="2D3F4B"/>
                </a:solidFill>
                <a:ea typeface="Arial"/>
                <a:cs typeface="Arial"/>
              </a:rPr>
              <a:t>LLM-KONTEXT</a:t>
            </a:r>
            <a:endParaRPr lang="de-CH" sz="2000" b="1" dirty="0">
              <a:solidFill>
                <a:srgbClr val="2D3F4B"/>
              </a:solidFil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3" idx="1"/>
          </p:cNvCxnSpPr>
          <p:nvPr/>
        </p:nvCxnSpPr>
        <p:spPr>
          <a:xfrm flipV="1">
            <a:off x="1979999" y="2970000"/>
            <a:ext cx="2340001" cy="1170000"/>
          </a:xfrm>
          <a:prstGeom prst="straightConnector1">
            <a:avLst/>
          </a:prstGeom>
          <a:ln w="50800" cap="rnd">
            <a:solidFill>
              <a:srgbClr val="C60C30"/>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a:stCxn id="55" idx="0"/>
          </p:cNvCxnSpPr>
          <p:nvPr/>
        </p:nvCxnSpPr>
        <p:spPr>
          <a:xfrm flipV="1">
            <a:off x="4859999" y="3420000"/>
            <a:ext cx="543691" cy="720000"/>
          </a:xfrm>
          <a:prstGeom prst="straightConnector1">
            <a:avLst/>
          </a:prstGeom>
          <a:ln w="50800" cap="rnd">
            <a:solidFill>
              <a:srgbClr val="9BC7EE"/>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a:stCxn id="56" idx="0"/>
          </p:cNvCxnSpPr>
          <p:nvPr/>
        </p:nvCxnSpPr>
        <p:spPr>
          <a:xfrm flipH="1" flipV="1">
            <a:off x="7131401" y="3420000"/>
            <a:ext cx="608598" cy="720000"/>
          </a:xfrm>
          <a:prstGeom prst="straightConnector1">
            <a:avLst/>
          </a:prstGeom>
          <a:ln w="50800" cap="rnd">
            <a:solidFill>
              <a:srgbClr val="43858A"/>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3" idx="3"/>
          </p:cNvCxnSpPr>
          <p:nvPr/>
        </p:nvCxnSpPr>
        <p:spPr>
          <a:xfrm flipH="1" flipV="1">
            <a:off x="7920000" y="2970000"/>
            <a:ext cx="2699999" cy="1170000"/>
          </a:xfrm>
          <a:prstGeom prst="straightConnector1">
            <a:avLst/>
          </a:prstGeom>
          <a:ln w="50800" cap="rnd">
            <a:solidFill>
              <a:srgbClr val="C9960F"/>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p:nvPr/>
        </p:nvSpPr>
        <p:spPr>
          <a:xfrm>
            <a:off x="719999" y="4140000"/>
            <a:ext cx="2520000"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p:nvPr/>
        </p:nvSpPr>
        <p:spPr>
          <a:xfrm>
            <a:off x="3599999" y="4140000"/>
            <a:ext cx="2520000"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p:nvPr/>
        </p:nvSpPr>
        <p:spPr>
          <a:xfrm>
            <a:off x="6479999" y="4140000"/>
            <a:ext cx="2520000"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p:nvPr/>
        </p:nvSpPr>
        <p:spPr>
          <a:xfrm>
            <a:off x="9359999" y="4140000"/>
            <a:ext cx="2520000"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p:nvPr/>
        </p:nvSpPr>
        <p:spPr>
          <a:xfrm>
            <a:off x="4320000" y="198000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p:nvPr/>
        </p:nvSpPr>
        <p:spPr>
          <a:xfrm>
            <a:off x="3600000" y="4680000"/>
            <a:ext cx="2520000"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10.08.2026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11" name="repo-progression-subtitle">
            <a:extLst>
              <a:ext uri="{FF2B5EF4-FFF2-40B4-BE49-F238E27FC236}">
                <a16:creationId xmlns:a16="http://schemas.microsoft.com/office/drawing/2014/main" id="{93070F9C-1D73-491A-AA83-B0CD1488E27D}"/>
              </a:ext>
            </a:extLst>
          </p:cNvPr>
          <p:cNvSpPr/>
          <p:nvPr/>
        </p:nvSpPr>
        <p:spPr>
          <a:xfrm>
            <a:off x="540000" y="14400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p:nvPr/>
        </p:nvSpPr>
        <p:spPr>
          <a:xfrm>
            <a:off x="1259999" y="2502900"/>
            <a:ext cx="9432508"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p:nvPr/>
        </p:nvSpPr>
        <p:spPr>
          <a:xfrm>
            <a:off x="1440000" y="2160000"/>
            <a:ext cx="720000" cy="7200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p:nvPr/>
        </p:nvSpPr>
        <p:spPr>
          <a:xfrm>
            <a:off x="720000" y="3060000"/>
            <a:ext cx="2160000"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lang="de-CH" sz="1200" b="1" dirty="0">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p:nvPr/>
        </p:nvSpPr>
        <p:spPr>
          <a:xfrm>
            <a:off x="7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LLM-</a:t>
            </a:r>
            <a:r>
              <a:rPr sz="1800" b="1" dirty="0" err="1">
                <a:solidFill>
                  <a:srgbClr val="2D3F4B"/>
                </a:solidFill>
                <a:latin typeface="Arial"/>
                <a:ea typeface="Arial"/>
                <a:cs typeface="Arial"/>
              </a:rPr>
              <a:t>Aufruf</a:t>
            </a:r>
            <a:endParaRPr sz="1800" b="1" dirty="0">
              <a:solidFill>
                <a:srgbClr val="2D3F4B"/>
              </a:solidFill>
              <a:latin typeface="Arial"/>
              <a:ea typeface="Arial"/>
              <a:cs typeface="Arial"/>
            </a:endParaRPr>
          </a:p>
        </p:txBody>
      </p:sp>
      <p:sp>
        <p:nvSpPr>
          <p:cNvPr id="16" name="stage-1-copy">
            <a:extLst>
              <a:ext uri="{FF2B5EF4-FFF2-40B4-BE49-F238E27FC236}">
                <a16:creationId xmlns:a16="http://schemas.microsoft.com/office/drawing/2014/main" id="{C5B9BC2D-8807-4358-9EC7-F52D82CC6BF4}"/>
              </a:ext>
            </a:extLst>
          </p:cNvPr>
          <p:cNvSpPr/>
          <p:nvPr/>
        </p:nvSpPr>
        <p:spPr>
          <a:xfrm>
            <a:off x="7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Prompt </a:t>
            </a:r>
            <a:r>
              <a:rPr sz="1500" dirty="0" err="1">
                <a:solidFill>
                  <a:srgbClr val="2D3F4B"/>
                </a:solidFill>
                <a:latin typeface="Arial"/>
                <a:ea typeface="Arial"/>
                <a:cs typeface="Arial"/>
              </a:rPr>
              <a:t>senden</a:t>
            </a:r>
            <a:endParaRPr sz="1500" dirty="0">
              <a:solidFill>
                <a:srgbClr val="2D3F4B"/>
              </a:solidFill>
              <a:latin typeface="Arial"/>
              <a:ea typeface="Arial"/>
              <a:cs typeface="Arial"/>
            </a:endParaRP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Antwort</a:t>
            </a:r>
            <a:r>
              <a:rPr sz="1500" dirty="0">
                <a:solidFill>
                  <a:srgbClr val="2D3F4B"/>
                </a:solidFill>
                <a:latin typeface="Arial"/>
                <a:ea typeface="Arial"/>
                <a:cs typeface="Arial"/>
              </a:rPr>
              <a:t> </a:t>
            </a:r>
            <a:r>
              <a:rPr sz="1500" dirty="0" err="1">
                <a:solidFill>
                  <a:srgbClr val="2D3F4B"/>
                </a:solidFill>
                <a:latin typeface="Arial"/>
                <a:ea typeface="Arial"/>
                <a:cs typeface="Arial"/>
              </a:rPr>
              <a:t>erhalten</a:t>
            </a:r>
            <a:endParaRPr sz="1500" dirty="0">
              <a:solidFill>
                <a:srgbClr val="2D3F4B"/>
              </a:solidFill>
              <a:latin typeface="Arial"/>
              <a:ea typeface="Arial"/>
              <a:cs typeface="Arial"/>
            </a:endParaRPr>
          </a:p>
        </p:txBody>
      </p:sp>
      <p:sp>
        <p:nvSpPr>
          <p:cNvPr id="17" name="stage-2-circle">
            <a:extLst>
              <a:ext uri="{FF2B5EF4-FFF2-40B4-BE49-F238E27FC236}">
                <a16:creationId xmlns:a16="http://schemas.microsoft.com/office/drawing/2014/main" id="{788267D1-787C-48BB-921D-457EA3D4064D}"/>
              </a:ext>
            </a:extLst>
          </p:cNvPr>
          <p:cNvSpPr/>
          <p:nvPr/>
        </p:nvSpPr>
        <p:spPr>
          <a:xfrm>
            <a:off x="4230000" y="2160000"/>
            <a:ext cx="720000" cy="7200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p:nvPr/>
        </p:nvSpPr>
        <p:spPr>
          <a:xfrm>
            <a:off x="3480000" y="3060000"/>
            <a:ext cx="2160000"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p:nvPr/>
        </p:nvSpPr>
        <p:spPr>
          <a:xfrm>
            <a:off x="34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p:nvPr/>
        </p:nvSpPr>
        <p:spPr>
          <a:xfrm>
            <a:off x="34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p:nvPr/>
        </p:nvSpPr>
        <p:spPr>
          <a:xfrm>
            <a:off x="7020000" y="2160000"/>
            <a:ext cx="720000" cy="7200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dirty="0">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p:nvPr/>
        </p:nvSpPr>
        <p:spPr>
          <a:xfrm>
            <a:off x="6240000" y="3060000"/>
            <a:ext cx="2160000"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p:nvPr/>
        </p:nvSpPr>
        <p:spPr>
          <a:xfrm>
            <a:off x="63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p:nvPr/>
        </p:nvSpPr>
        <p:spPr>
          <a:xfrm>
            <a:off x="63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Suche</a:t>
            </a:r>
            <a:r>
              <a:rPr sz="1500" dirty="0">
                <a:solidFill>
                  <a:srgbClr val="2D3F4B"/>
                </a:solidFill>
                <a:latin typeface="Arial"/>
                <a:ea typeface="Arial"/>
                <a:cs typeface="Arial"/>
              </a:rPr>
              <a:t> + Reranking</a:t>
            </a:r>
          </a:p>
        </p:txBody>
      </p:sp>
      <p:sp>
        <p:nvSpPr>
          <p:cNvPr id="25" name="stage-4-circle">
            <a:extLst>
              <a:ext uri="{FF2B5EF4-FFF2-40B4-BE49-F238E27FC236}">
                <a16:creationId xmlns:a16="http://schemas.microsoft.com/office/drawing/2014/main" id="{1D3AC8DC-9B1D-4449-B0CF-7DCD74368364}"/>
              </a:ext>
            </a:extLst>
          </p:cNvPr>
          <p:cNvSpPr/>
          <p:nvPr/>
        </p:nvSpPr>
        <p:spPr>
          <a:xfrm>
            <a:off x="9720000" y="2160000"/>
            <a:ext cx="720000" cy="7200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p:nvPr/>
        </p:nvSpPr>
        <p:spPr>
          <a:xfrm>
            <a:off x="9000000" y="3060000"/>
            <a:ext cx="2160000" cy="36000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dirty="0">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p:nvPr/>
        </p:nvSpPr>
        <p:spPr>
          <a:xfrm>
            <a:off x="90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p:nvPr/>
        </p:nvSpPr>
        <p:spPr>
          <a:xfrm>
            <a:off x="90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p:nvPr/>
        </p:nvSpPr>
        <p:spPr>
          <a:xfrm>
            <a:off x="1260000" y="5040000"/>
            <a:ext cx="9900000" cy="72000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1 · Chat ohne 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10</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4575600"/>
          </a:xfrm>
          <a:prstGeom prst="rect">
            <a:avLst/>
          </a:prstGeom>
          <a:solidFill>
            <a:srgbClr val="FFFFFF">
              <a:alpha val="70000"/>
            </a:srgbClr>
          </a:solidFill>
          <a:ln>
            <a:noFill/>
          </a:ln>
        </p:spPr>
        <p:txBody>
          <a:bodyPr/>
          <a:lstStyle/>
          <a:p>
            <a:endParaRPr/>
          </a:p>
        </p:txBody>
      </p: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LLM"/>
          <p:cNvSpPr/>
          <p:nvPr/>
        </p:nvSpPr>
        <p:spPr>
          <a:xfrm>
            <a:off x="7696800" y="4996800"/>
            <a:ext cx="1526400" cy="954000"/>
          </a:xfrm>
          <a:prstGeom prst="roundRect">
            <a:avLst/>
          </a:prstGeom>
          <a:noFill/>
          <a:ln w="28575">
            <a:solidFill>
              <a:srgbClr val="C60C30"/>
            </a:solidFill>
            <a:prstDash val="dash"/>
          </a:ln>
        </p:spPr>
        <p:txBody>
          <a:bodyPr/>
          <a:lstStyle/>
          <a:p>
            <a:endParaRPr/>
          </a:p>
        </p:txBody>
      </p:sp>
      <p:sp>
        <p:nvSpPr>
          <p:cNvPr id="2001" name="Marker Query"/>
          <p:cNvSpPr/>
          <p:nvPr/>
        </p:nvSpPr>
        <p:spPr>
          <a:xfrm>
            <a:off x="9496800" y="1396800"/>
            <a:ext cx="1526400" cy="954000"/>
          </a:xfrm>
          <a:prstGeom prst="roundRect">
            <a:avLst/>
          </a:prstGeom>
          <a:noFill/>
          <a:ln w="28575">
            <a:solidFill>
              <a:srgbClr val="C60C30"/>
            </a:solidFill>
            <a:prstDash val="dash"/>
          </a:ln>
        </p:spPr>
        <p:txBody>
          <a:bodyPr/>
          <a:lstStyle/>
          <a:p>
            <a:endParaRPr/>
          </a:p>
        </p:txBody>
      </p:sp>
      <p:sp>
        <p:nvSpPr>
          <p:cNvPr id="2002" name="Marker Response"/>
          <p:cNvSpPr/>
          <p:nvPr/>
        </p:nvSpPr>
        <p:spPr>
          <a:xfrm>
            <a:off x="94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2a · Ingest</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12</a:t>
            </a:fld>
            <a:endParaRPr lang="de-CH"/>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1386000"/>
            <a:ext cx="7668000" cy="45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Chunks"/>
          <p:cNvSpPr/>
          <p:nvPr/>
        </p:nvSpPr>
        <p:spPr>
          <a:xfrm>
            <a:off x="496800" y="1396800"/>
            <a:ext cx="1526400" cy="954000"/>
          </a:xfrm>
          <a:prstGeom prst="roundRect">
            <a:avLst/>
          </a:prstGeom>
          <a:noFill/>
          <a:ln w="28575">
            <a:solidFill>
              <a:srgbClr val="C60C30"/>
            </a:solidFill>
            <a:prstDash val="dash"/>
          </a:ln>
        </p:spPr>
        <p:txBody>
          <a:bodyPr/>
          <a:lstStyle/>
          <a:p>
            <a:endParaRPr/>
          </a:p>
        </p:txBody>
      </p:sp>
      <p:sp>
        <p:nvSpPr>
          <p:cNvPr id="2002" name="Marker Embedding LLM@4140000"/>
          <p:cNvSpPr/>
          <p:nvPr/>
        </p:nvSpPr>
        <p:spPr>
          <a:xfrm>
            <a:off x="4096800" y="1396800"/>
            <a:ext cx="1526400" cy="954000"/>
          </a:xfrm>
          <a:prstGeom prst="roundRect">
            <a:avLst/>
          </a:prstGeom>
          <a:noFill/>
          <a:ln w="28575">
            <a:solidFill>
              <a:srgbClr val="C60C30"/>
            </a:solidFill>
            <a:prstDash val="dash"/>
          </a:ln>
        </p:spPr>
        <p:txBody>
          <a:bodyPr/>
          <a:lstStyle/>
          <a:p>
            <a:endParaRPr/>
          </a:p>
        </p:txBody>
      </p:sp>
      <p:sp>
        <p:nvSpPr>
          <p:cNvPr id="2003" name="Marker Embeddings@4140000"/>
          <p:cNvSpPr/>
          <p:nvPr/>
        </p:nvSpPr>
        <p:spPr>
          <a:xfrm>
            <a:off x="4096800" y="2656800"/>
            <a:ext cx="1526400" cy="954000"/>
          </a:xfrm>
          <a:prstGeom prst="roundRect">
            <a:avLst/>
          </a:prstGeom>
          <a:noFill/>
          <a:ln w="28575">
            <a:solidFill>
              <a:srgbClr val="C60C30"/>
            </a:solidFill>
            <a:prstDash val="dash"/>
          </a:ln>
        </p:spPr>
        <p:txBody>
          <a:bodyPr/>
          <a:lstStyle/>
          <a:p>
            <a:endParaRPr/>
          </a:p>
        </p:txBody>
      </p:sp>
      <p:sp>
        <p:nvSpPr>
          <p:cNvPr id="2004" name="Marker Information Extraction"/>
          <p:cNvSpPr/>
          <p:nvPr/>
        </p:nvSpPr>
        <p:spPr>
          <a:xfrm>
            <a:off x="496800" y="3736800"/>
            <a:ext cx="1526400" cy="954000"/>
          </a:xfrm>
          <a:prstGeom prst="roundRect">
            <a:avLst/>
          </a:prstGeom>
          <a:noFill/>
          <a:ln w="28575">
            <a:solidFill>
              <a:srgbClr val="C60C30"/>
            </a:solidFill>
            <a:prstDash val="dash"/>
          </a:ln>
        </p:spPr>
        <p:txBody>
          <a:bodyPr/>
          <a:lstStyle/>
          <a:p>
            <a:endParaRPr/>
          </a:p>
        </p:txBody>
      </p:sp>
      <p:sp>
        <p:nvSpPr>
          <p:cNvPr id="2005" name="Marker Raw Data Files"/>
          <p:cNvSpPr/>
          <p:nvPr/>
        </p:nvSpPr>
        <p:spPr>
          <a:xfrm>
            <a:off x="496800" y="4996800"/>
            <a:ext cx="1526400" cy="954000"/>
          </a:xfrm>
          <a:prstGeom prst="roundRect">
            <a:avLst/>
          </a:prstGeom>
          <a:noFill/>
          <a:ln w="28575">
            <a:solidFill>
              <a:srgbClr val="C60C30"/>
            </a:solidFill>
            <a:prstDash val="dash"/>
          </a:ln>
        </p:spPr>
        <p:txBody>
          <a:bodyPr/>
          <a:lstStyle/>
          <a:p>
            <a:endParaRPr/>
          </a:p>
        </p:txBody>
      </p:sp>
      <p:sp>
        <p:nvSpPr>
          <p:cNvPr id="2006" name="Marker Vector Database"/>
          <p:cNvSpPr/>
          <p:nvPr/>
        </p:nvSpPr>
        <p:spPr>
          <a:xfrm>
            <a:off x="5896800" y="265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2b · Retrieval</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13</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5508000" cy="45756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Embedding LLM@7740000"/>
          <p:cNvSpPr/>
          <p:nvPr/>
        </p:nvSpPr>
        <p:spPr>
          <a:xfrm>
            <a:off x="7696800" y="1396800"/>
            <a:ext cx="1526400" cy="954000"/>
          </a:xfrm>
          <a:prstGeom prst="roundRect">
            <a:avLst/>
          </a:prstGeom>
          <a:noFill/>
          <a:ln w="28575">
            <a:solidFill>
              <a:srgbClr val="C60C30"/>
            </a:solidFill>
            <a:prstDash val="dash"/>
          </a:ln>
        </p:spPr>
        <p:txBody>
          <a:bodyPr/>
          <a:lstStyle/>
          <a:p>
            <a:endParaRPr/>
          </a:p>
        </p:txBody>
      </p:sp>
      <p:sp>
        <p:nvSpPr>
          <p:cNvPr id="2001" name="Marker Embeddings@7740000"/>
          <p:cNvSpPr/>
          <p:nvPr/>
        </p:nvSpPr>
        <p:spPr>
          <a:xfrm>
            <a:off x="7696800" y="2656800"/>
            <a:ext cx="1526400" cy="954000"/>
          </a:xfrm>
          <a:prstGeom prst="roundRect">
            <a:avLst/>
          </a:prstGeom>
          <a:noFill/>
          <a:ln w="28575">
            <a:solidFill>
              <a:srgbClr val="C60C30"/>
            </a:solidFill>
            <a:prstDash val="dash"/>
          </a:ln>
        </p:spPr>
        <p:txBody>
          <a:bodyPr/>
          <a:lstStyle/>
          <a:p>
            <a:endParaRPr/>
          </a:p>
        </p:txBody>
      </p:sp>
      <p:sp>
        <p:nvSpPr>
          <p:cNvPr id="2002"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
        <p:nvSpPr>
          <p:cNvPr id="2003" name="Marker Relevant Data"/>
          <p:cNvSpPr/>
          <p:nvPr/>
        </p:nvSpPr>
        <p:spPr>
          <a:xfrm>
            <a:off x="58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14</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3 · Chunking und Reranking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15</a:t>
            </a:fld>
            <a:endParaRPr lang="de-CH"/>
          </a:p>
        </p:txBody>
      </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3726000"/>
            <a:ext cx="4068000" cy="9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p:nvPr/>
        </p:nvSpPr>
        <p:spPr>
          <a:xfrm>
            <a:off x="540000" y="12600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p:nvPr/>
        </p:nvSpPr>
        <p:spPr>
          <a:xfrm>
            <a:off x="540000" y="1800000"/>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p:nvPr/>
        </p:nvSpPr>
        <p:spPr>
          <a:xfrm>
            <a:off x="540000" y="19800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p:nvPr/>
        </p:nvSpPr>
        <p:spPr>
          <a:xfrm>
            <a:off x="6300000" y="1800000"/>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p:nvPr/>
        </p:nvSpPr>
        <p:spPr>
          <a:xfrm>
            <a:off x="6300000" y="19800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p:nvPr/>
        </p:nvSpPr>
        <p:spPr>
          <a:xfrm>
            <a:off x="540000" y="2340000"/>
            <a:ext cx="5220000" cy="28800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p:nvPr/>
        </p:nvSpPr>
        <p:spPr>
          <a:xfrm>
            <a:off x="6300000" y="2340000"/>
            <a:ext cx="5400000" cy="28800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p:nvPr/>
        </p:nvSpPr>
        <p:spPr>
          <a:xfrm>
            <a:off x="7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p:nvPr/>
        </p:nvSpPr>
        <p:spPr>
          <a:xfrm>
            <a:off x="720000" y="2880000"/>
            <a:ext cx="2160000" cy="1440000"/>
          </a:xfrm>
          <a:prstGeom prst="rect">
            <a:avLst/>
          </a:prstGeom>
          <a:noFill/>
          <a:ln w="0">
            <a:noFill/>
            <a:prstDash val="solid"/>
          </a:ln>
        </p:spPr>
        <p:txBody>
          <a:bodyPr anchor="ctr"/>
          <a:lstStyle/>
          <a:p>
            <a:pPr algn="l">
              <a:defRPr sz="1350" b="0">
                <a:solidFill>
                  <a:srgbClr val="304452"/>
                </a:solidFill>
              </a:defRPr>
            </a:pPr>
            <a:r>
              <a:rPr sz="1350" b="0" dirty="0">
                <a:solidFill>
                  <a:srgbClr val="304452"/>
                </a:solidFill>
              </a:rPr>
              <a:t>Art. 335b · </a:t>
            </a:r>
            <a:r>
              <a:rPr sz="1350" b="0" dirty="0" err="1">
                <a:solidFill>
                  <a:srgbClr val="304452"/>
                </a:solidFill>
              </a:rPr>
              <a:t>Probezeit</a:t>
            </a:r>
            <a:endParaRPr sz="1350" b="0" dirty="0">
              <a:solidFill>
                <a:srgbClr val="304452"/>
              </a:solidFill>
            </a:endParaRPr>
          </a:p>
          <a:p>
            <a:pPr algn="l">
              <a:defRPr sz="1350" b="0">
                <a:solidFill>
                  <a:srgbClr val="304452"/>
                </a:solidFill>
              </a:defRPr>
            </a:pPr>
            <a:r>
              <a:rPr sz="1350" b="0" dirty="0">
                <a:solidFill>
                  <a:srgbClr val="304452"/>
                </a:solidFill>
              </a:rPr>
              <a:t>Die </a:t>
            </a:r>
            <a:r>
              <a:rPr sz="1350" b="0" dirty="0" err="1">
                <a:solidFill>
                  <a:srgbClr val="304452"/>
                </a:solidFill>
              </a:rPr>
              <a:t>Probezeit</a:t>
            </a:r>
            <a:r>
              <a:rPr sz="1350" b="0" dirty="0">
                <a:solidFill>
                  <a:srgbClr val="304452"/>
                </a:solidFill>
              </a:rPr>
              <a:t> </a:t>
            </a:r>
            <a:r>
              <a:rPr sz="1350" b="0" dirty="0" err="1">
                <a:solidFill>
                  <a:srgbClr val="304452"/>
                </a:solidFill>
              </a:rPr>
              <a:t>beträgt</a:t>
            </a:r>
            <a:r>
              <a:rPr sz="1350" b="0" dirty="0">
                <a:solidFill>
                  <a:srgbClr val="304452"/>
                </a:solidFill>
              </a:rPr>
              <a:t> </a:t>
            </a:r>
            <a:r>
              <a:rPr sz="1350" b="0" dirty="0" err="1">
                <a:solidFill>
                  <a:srgbClr val="304452"/>
                </a:solidFill>
              </a:rPr>
              <a:t>grundsätzlich</a:t>
            </a:r>
            <a:r>
              <a:rPr sz="1350" b="0" dirty="0">
                <a:solidFill>
                  <a:srgbClr val="304452"/>
                </a:solidFill>
              </a:rPr>
              <a:t> den </a:t>
            </a:r>
            <a:r>
              <a:rPr sz="1350" b="0" dirty="0" err="1">
                <a:solidFill>
                  <a:srgbClr val="304452"/>
                </a:solidFill>
              </a:rPr>
              <a:t>ersten</a:t>
            </a:r>
            <a:r>
              <a:rPr sz="1350" b="0" dirty="0">
                <a:solidFill>
                  <a:srgbClr val="304452"/>
                </a:solidFill>
              </a:rPr>
              <a:t> Monat. Sie </a:t>
            </a:r>
            <a:r>
              <a:rPr sz="1350" b="0" dirty="0" err="1">
                <a:solidFill>
                  <a:srgbClr val="304452"/>
                </a:solidFill>
              </a:rPr>
              <a:t>kann</a:t>
            </a:r>
            <a:r>
              <a:rPr sz="1350" b="0" dirty="0">
                <a:solidFill>
                  <a:srgbClr val="304452"/>
                </a:solidFill>
              </a:rPr>
              <a:t> auf </a:t>
            </a:r>
            <a:r>
              <a:rPr sz="1350" b="0" dirty="0" err="1">
                <a:solidFill>
                  <a:srgbClr val="304452"/>
                </a:solidFill>
              </a:rPr>
              <a:t>höchstens</a:t>
            </a:r>
            <a:r>
              <a:rPr sz="1350" b="0" dirty="0">
                <a:solidFill>
                  <a:srgbClr val="304452"/>
                </a:solidFill>
              </a:rPr>
              <a:t> </a:t>
            </a:r>
            <a:r>
              <a:rPr sz="1350" b="0" dirty="0" err="1">
                <a:solidFill>
                  <a:srgbClr val="304452"/>
                </a:solidFill>
              </a:rPr>
              <a:t>drei</a:t>
            </a:r>
            <a:r>
              <a:rPr sz="1350" b="0" dirty="0">
                <a:solidFill>
                  <a:srgbClr val="304452"/>
                </a:solidFill>
              </a:rPr>
              <a:t> </a:t>
            </a:r>
            <a:r>
              <a:rPr sz="1350" b="0" dirty="0" err="1">
                <a:solidFill>
                  <a:srgbClr val="304452"/>
                </a:solidFill>
              </a:rPr>
              <a:t>Monate</a:t>
            </a:r>
            <a:r>
              <a:rPr sz="1350" b="0" dirty="0">
                <a:solidFill>
                  <a:srgbClr val="304452"/>
                </a:solidFill>
              </a:rPr>
              <a:t> </a:t>
            </a:r>
            <a:r>
              <a:rPr sz="1350" b="0" dirty="0" err="1">
                <a:solidFill>
                  <a:srgbClr val="304452"/>
                </a:solidFill>
              </a:rPr>
              <a:t>verlän</a:t>
            </a:r>
            <a:r>
              <a:rPr sz="1350" b="0" dirty="0">
                <a:solidFill>
                  <a:srgbClr val="304452"/>
                </a:solidFill>
              </a:rPr>
              <a:t>-</a:t>
            </a:r>
          </a:p>
        </p:txBody>
      </p:sp>
      <p:sp>
        <p:nvSpPr>
          <p:cNvPr id="12" name="chunk18">
            <a:extLst>
              <a:ext uri="{FF2B5EF4-FFF2-40B4-BE49-F238E27FC236}">
                <a16:creationId xmlns:a16="http://schemas.microsoft.com/office/drawing/2014/main" id="{F7A34B1E-6B6D-4093-A46C-5EE5D8C2BE3A}"/>
              </a:ext>
            </a:extLst>
          </p:cNvPr>
          <p:cNvSpPr/>
          <p:nvPr/>
        </p:nvSpPr>
        <p:spPr>
          <a:xfrm>
            <a:off x="34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p:nvPr/>
        </p:nvSpPr>
        <p:spPr>
          <a:xfrm>
            <a:off x="3420000" y="2880000"/>
            <a:ext cx="1980000" cy="1440000"/>
          </a:xfrm>
          <a:prstGeom prst="rect">
            <a:avLst/>
          </a:prstGeom>
          <a:noFill/>
          <a:ln w="0">
            <a:noFill/>
            <a:prstDash val="solid"/>
          </a:ln>
        </p:spPr>
        <p:txBody>
          <a:bodyPr anchor="ctr"/>
          <a:lstStyle/>
          <a:p>
            <a:pPr algn="l">
              <a:defRPr sz="1350" b="0">
                <a:solidFill>
                  <a:srgbClr val="304452"/>
                </a:solidFill>
              </a:defRPr>
            </a:pPr>
            <a:r>
              <a:rPr sz="1350" b="0" dirty="0" err="1">
                <a:solidFill>
                  <a:srgbClr val="304452"/>
                </a:solidFill>
              </a:rPr>
              <a:t>gert</a:t>
            </a:r>
            <a:r>
              <a:rPr sz="1350" b="0" dirty="0">
                <a:solidFill>
                  <a:srgbClr val="304452"/>
                </a:solidFill>
              </a:rPr>
              <a:t> </a:t>
            </a:r>
            <a:r>
              <a:rPr sz="1350" b="0" dirty="0" err="1">
                <a:solidFill>
                  <a:srgbClr val="304452"/>
                </a:solidFill>
              </a:rPr>
              <a:t>werden</a:t>
            </a:r>
            <a:r>
              <a:rPr sz="1350" b="0" dirty="0">
                <a:solidFill>
                  <a:srgbClr val="304452"/>
                </a:solidFill>
              </a:rPr>
              <a:t>. Bei </a:t>
            </a:r>
            <a:r>
              <a:rPr sz="1350" b="0" dirty="0" err="1">
                <a:solidFill>
                  <a:srgbClr val="304452"/>
                </a:solidFill>
              </a:rPr>
              <a:t>Krankheit</a:t>
            </a:r>
            <a:r>
              <a:rPr sz="1350" b="0" dirty="0">
                <a:solidFill>
                  <a:srgbClr val="304452"/>
                </a:solidFill>
              </a:rPr>
              <a:t> …</a:t>
            </a:r>
          </a:p>
          <a:p>
            <a:endParaRPr sz="1350" b="0" dirty="0">
              <a:solidFill>
                <a:srgbClr val="304452"/>
              </a:solidFill>
            </a:endParaRPr>
          </a:p>
          <a:p>
            <a:pPr algn="l">
              <a:defRPr sz="1350" b="0">
                <a:solidFill>
                  <a:srgbClr val="304452"/>
                </a:solidFill>
              </a:defRPr>
            </a:pPr>
            <a:r>
              <a:rPr sz="1350" b="0" dirty="0">
                <a:solidFill>
                  <a:srgbClr val="304452"/>
                </a:solidFill>
              </a:rPr>
              <a:t>Art. 335c</a:t>
            </a:r>
          </a:p>
          <a:p>
            <a:pPr algn="l">
              <a:defRPr sz="1350" b="0">
                <a:solidFill>
                  <a:srgbClr val="304452"/>
                </a:solidFill>
              </a:defRPr>
            </a:pPr>
            <a:r>
              <a:rPr sz="1350" b="0" dirty="0" err="1">
                <a:solidFill>
                  <a:srgbClr val="304452"/>
                </a:solidFill>
              </a:rPr>
              <a:t>Kündigungsfristen</a:t>
            </a:r>
            <a:r>
              <a:rPr sz="1350" b="0" dirty="0">
                <a:solidFill>
                  <a:srgbClr val="304452"/>
                </a:solidFill>
              </a:rPr>
              <a:t> …</a:t>
            </a:r>
          </a:p>
        </p:txBody>
      </p:sp>
      <p:sp>
        <p:nvSpPr>
          <p:cNvPr id="14" name="hard-boundary">
            <a:extLst>
              <a:ext uri="{FF2B5EF4-FFF2-40B4-BE49-F238E27FC236}">
                <a16:creationId xmlns:a16="http://schemas.microsoft.com/office/drawing/2014/main" id="{3A8DD313-725B-4E1C-9433-3901D5DAF639}"/>
              </a:ext>
            </a:extLst>
          </p:cNvPr>
          <p:cNvSpPr/>
          <p:nvPr/>
        </p:nvSpPr>
        <p:spPr>
          <a:xfrm>
            <a:off x="3150000" y="252000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p:nvPr/>
        </p:nvSpPr>
        <p:spPr>
          <a:xfrm>
            <a:off x="2721375" y="4320000"/>
            <a:ext cx="857250" cy="400050"/>
          </a:xfrm>
          <a:prstGeom prst="rect">
            <a:avLst/>
          </a:prstGeom>
          <a:noFill/>
          <a:ln w="0">
            <a:noFill/>
            <a:prstDash val="solid"/>
          </a:ln>
        </p:spPr>
        <p:txBody>
          <a:bodyPr anchor="ctr"/>
          <a:lstStyle/>
          <a:p>
            <a:pPr algn="ctr">
              <a:defRPr sz="825" b="1">
                <a:solidFill>
                  <a:srgbClr val="D20A32"/>
                </a:solidFill>
              </a:defRPr>
            </a:pPr>
            <a:r>
              <a:rPr sz="825" b="1" dirty="0">
                <a:solidFill>
                  <a:srgbClr val="D20A32"/>
                </a:solidFill>
              </a:rPr>
              <a:t>STARRE</a:t>
            </a:r>
          </a:p>
          <a:p>
            <a:pPr algn="ctr">
              <a:defRPr sz="825" b="1">
                <a:solidFill>
                  <a:srgbClr val="D20A32"/>
                </a:solidFill>
              </a:defRPr>
            </a:pPr>
            <a:r>
              <a:rPr sz="825" b="1" dirty="0">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p:nvPr/>
        </p:nvSpPr>
        <p:spPr>
          <a:xfrm>
            <a:off x="883050" y="4680000"/>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p:nvPr/>
        </p:nvSpPr>
        <p:spPr>
          <a:xfrm>
            <a:off x="6660000" y="2520000"/>
            <a:ext cx="4680000" cy="1080000"/>
          </a:xfrm>
          <a:prstGeom prst="roundRect">
            <a:avLst>
              <a:gd name="adj" fmla="val 7273"/>
            </a:avLst>
          </a:prstGeom>
          <a:solidFill>
            <a:srgbClr val="FFFFFF"/>
          </a:solidFill>
          <a:ln w="12700">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p:nvPr/>
        </p:nvSpPr>
        <p:spPr>
          <a:xfrm>
            <a:off x="6840000" y="270000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p:nvPr/>
        </p:nvSpPr>
        <p:spPr>
          <a:xfrm>
            <a:off x="6840000" y="288000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r>
              <a:rPr lang="de-CH" sz="1350" b="1" dirty="0">
                <a:solidFill>
                  <a:srgbClr val="304452"/>
                </a:solidFill>
              </a:rPr>
              <a:t> </a:t>
            </a: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3" name="result-chip">
            <a:extLst>
              <a:ext uri="{FF2B5EF4-FFF2-40B4-BE49-F238E27FC236}">
                <a16:creationId xmlns:a16="http://schemas.microsoft.com/office/drawing/2014/main" id="{7BBF8A2F-B0CE-4AF3-A58D-9B9260B96072}"/>
              </a:ext>
            </a:extLst>
          </p:cNvPr>
          <p:cNvSpPr/>
          <p:nvPr/>
        </p:nvSpPr>
        <p:spPr>
          <a:xfrm>
            <a:off x="7380000" y="4320000"/>
            <a:ext cx="3238500" cy="457200"/>
          </a:xfrm>
          <a:prstGeom prst="roundRect">
            <a:avLst>
              <a:gd name="adj" fmla="val 16667"/>
            </a:avLst>
          </a:prstGeom>
          <a:solidFill>
            <a:srgbClr val="EAF4F4"/>
          </a:solidFill>
          <a:ln w="12700">
            <a:solidFill>
              <a:srgbClr val="307F87"/>
            </a:solidFill>
            <a:prstDash val="solid"/>
          </a:ln>
        </p:spPr>
        <p:txBody>
          <a:bodyPr anchor="ctr"/>
          <a:lstStyle/>
          <a:p>
            <a:pPr algn="ctr"/>
            <a:r>
              <a:rPr lang="de-CH" sz="1400" b="1" dirty="0">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p:nvPr/>
        </p:nvSpPr>
        <p:spPr>
          <a:xfrm>
            <a:off x="2160000" y="5400000"/>
            <a:ext cx="7920000" cy="7200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p:nvPr/>
        </p:nvSpPr>
        <p:spPr>
          <a:xfrm>
            <a:off x="2340000" y="55800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791735" y="3989550"/>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73340" y="3106154"/>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29" name="Gerade Verbindung mit Pfeil 28">
            <a:extLst>
              <a:ext uri="{FF2B5EF4-FFF2-40B4-BE49-F238E27FC236}">
                <a16:creationId xmlns:a16="http://schemas.microsoft.com/office/drawing/2014/main" id="{D8CAD5DB-1C3A-7209-B0FF-1D186D705450}"/>
              </a:ext>
            </a:extLst>
          </p:cNvPr>
          <p:cNvCxnSpPr>
            <a:stCxn id="23" idx="0"/>
            <a:endCxn id="17" idx="2"/>
          </p:cNvCxnSpPr>
          <p:nvPr/>
        </p:nvCxnSpPr>
        <p:spPr>
          <a:xfrm flipV="1">
            <a:off x="8999250" y="3600000"/>
            <a:ext cx="750" cy="720000"/>
          </a:xfrm>
          <a:prstGeom prst="straightConnector1">
            <a:avLst/>
          </a:prstGeom>
          <a:solidFill>
            <a:srgbClr val="EAF4F4"/>
          </a:solidFill>
          <a:ln w="12700">
            <a:solidFill>
              <a:srgbClr val="307F87"/>
            </a:solidFill>
            <a:prstDash val="solid"/>
          </a:ln>
        </p:spPr>
      </p:cxnSp>
      <p:sp>
        <p:nvSpPr>
          <p:cNvPr id="21" name="oversize-note">
            <a:extLst>
              <a:ext uri="{FF2B5EF4-FFF2-40B4-BE49-F238E27FC236}">
                <a16:creationId xmlns:a16="http://schemas.microsoft.com/office/drawing/2014/main" id="{6557A38C-4E89-4CDC-8237-FCB0C661E68A}"/>
              </a:ext>
            </a:extLst>
          </p:cNvPr>
          <p:cNvSpPr/>
          <p:nvPr/>
        </p:nvSpPr>
        <p:spPr>
          <a:xfrm>
            <a:off x="7125750" y="3826650"/>
            <a:ext cx="4095750" cy="266700"/>
          </a:xfrm>
          <a:prstGeom prst="rect">
            <a:avLst/>
          </a:prstGeom>
          <a:solidFill>
            <a:srgbClr val="F8FCFC"/>
          </a:solidFill>
          <a:ln w="0">
            <a:noFill/>
            <a:prstDash val="solid"/>
          </a:ln>
        </p:spPr>
        <p:txBody>
          <a:bodyPr anchor="ctr"/>
          <a:lstStyle/>
          <a:p>
            <a:pPr algn="ctr">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3" grpId="0" animBg="1"/>
      <p:bldP spid="25" grpId="0" animBg="1"/>
      <p:bldP spid="26" grpId="0"/>
      <p:bldP spid="2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Titel 1"/>
          <p:cNvSpPr>
            <a:spLocks noGrp="1"/>
          </p:cNvSpPr>
          <p:nvPr>
            <p:ph type="title"/>
          </p:nvPr>
        </p:nvSpPr>
        <p:spPr>
          <a:xfrm>
            <a:off x="482461" y="346633"/>
            <a:ext cx="11230114" cy="767605"/>
          </a:xfrm>
        </p:spPr>
        <p:txBody>
          <a:bodyPr/>
          <a:lstStyle/>
          <a:p>
            <a:r>
              <a:rPr lang="de-CH" sz="3600" dirty="0"/>
              <a:t>Reranking sortiert Kandidaten – es findet keine neuen</a:t>
            </a:r>
          </a:p>
        </p:txBody>
      </p:sp>
      <p:sp>
        <p:nvSpPr>
          <p:cNvPr id="19" name="slide-subtitle">
            <a:extLst>
              <a:ext uri="{FF2B5EF4-FFF2-40B4-BE49-F238E27FC236}">
                <a16:creationId xmlns:a16="http://schemas.microsoft.com/office/drawing/2014/main" id="{2B01E572-7675-4F03-90C2-090B6A8A6308}"/>
              </a:ext>
            </a:extLst>
          </p:cNvPr>
          <p:cNvSpPr/>
          <p:nvPr/>
        </p:nvSpPr>
        <p:spPr>
          <a:xfrm>
            <a:off x="540000" y="1376382"/>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dirty="0">
                <a:solidFill>
                  <a:srgbClr val="81725E"/>
                </a:solidFill>
                <a:latin typeface="Arial"/>
                <a:ea typeface="Arial"/>
                <a:cs typeface="Arial"/>
              </a:rPr>
              <a:t>Retrieval </a:t>
            </a:r>
            <a:r>
              <a:rPr sz="1650" b="0" dirty="0" err="1">
                <a:solidFill>
                  <a:srgbClr val="81725E"/>
                </a:solidFill>
                <a:latin typeface="Arial"/>
                <a:ea typeface="Arial"/>
                <a:cs typeface="Arial"/>
              </a:rPr>
              <a:t>maximiert</a:t>
            </a:r>
            <a:r>
              <a:rPr sz="1650" b="0" dirty="0">
                <a:solidFill>
                  <a:srgbClr val="81725E"/>
                </a:solidFill>
                <a:latin typeface="Arial"/>
                <a:ea typeface="Arial"/>
                <a:cs typeface="Arial"/>
              </a:rPr>
              <a:t> Recall; der Cross-Encoder </a:t>
            </a:r>
            <a:r>
              <a:rPr sz="1650" b="0" dirty="0" err="1">
                <a:solidFill>
                  <a:srgbClr val="81725E"/>
                </a:solidFill>
                <a:latin typeface="Arial"/>
                <a:ea typeface="Arial"/>
                <a:cs typeface="Arial"/>
              </a:rPr>
              <a:t>verbessert</a:t>
            </a:r>
            <a:r>
              <a:rPr sz="1650" b="0" dirty="0">
                <a:solidFill>
                  <a:srgbClr val="81725E"/>
                </a:solidFill>
                <a:latin typeface="Arial"/>
                <a:ea typeface="Arial"/>
                <a:cs typeface="Arial"/>
              </a:rPr>
              <a:t> </a:t>
            </a:r>
            <a:r>
              <a:rPr sz="1650" b="0" dirty="0" err="1">
                <a:solidFill>
                  <a:srgbClr val="81725E"/>
                </a:solidFill>
                <a:latin typeface="Arial"/>
                <a:ea typeface="Arial"/>
                <a:cs typeface="Arial"/>
              </a:rPr>
              <a:t>danach</a:t>
            </a:r>
            <a:r>
              <a:rPr sz="1650" b="0" dirty="0">
                <a:solidFill>
                  <a:srgbClr val="81725E"/>
                </a:solidFill>
                <a:latin typeface="Arial"/>
                <a:ea typeface="Arial"/>
                <a:cs typeface="Arial"/>
              </a:rPr>
              <a:t> die </a:t>
            </a:r>
            <a:r>
              <a:rPr sz="1650" b="0" dirty="0" err="1">
                <a:solidFill>
                  <a:srgbClr val="81725E"/>
                </a:solidFill>
                <a:latin typeface="Arial"/>
                <a:ea typeface="Arial"/>
                <a:cs typeface="Arial"/>
              </a:rPr>
              <a:t>Reihenfolge</a:t>
            </a:r>
            <a:r>
              <a:rPr sz="1650" b="0" dirty="0">
                <a:solidFill>
                  <a:srgbClr val="81725E"/>
                </a:solidFill>
                <a:latin typeface="Arial"/>
                <a:ea typeface="Arial"/>
                <a:cs typeface="Arial"/>
              </a:rPr>
              <a:t>.</a:t>
            </a:r>
          </a:p>
        </p:txBody>
      </p:sp>
      <p:sp>
        <p:nvSpPr>
          <p:cNvPr id="20" name="page-number">
            <a:extLst>
              <a:ext uri="{FF2B5EF4-FFF2-40B4-BE49-F238E27FC236}">
                <a16:creationId xmlns:a16="http://schemas.microsoft.com/office/drawing/2014/main" id="{19B956D9-D2CE-4318-AEFE-02BD0C4DF8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p:nvPr/>
        </p:nvSpPr>
        <p:spPr>
          <a:xfrm>
            <a:off x="719999" y="1972649"/>
            <a:ext cx="2159999"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p:nvPr/>
        </p:nvSpPr>
        <p:spPr>
          <a:xfrm>
            <a:off x="720000" y="2695635"/>
            <a:ext cx="2160000" cy="720000"/>
          </a:xfrm>
          <a:prstGeom prst="roundRect">
            <a:avLst>
              <a:gd name="adj" fmla="val 19512"/>
            </a:avLst>
          </a:prstGeom>
          <a:solidFill>
            <a:srgbClr val="2D3F4B"/>
          </a:solidFill>
          <a:ln w="0">
            <a:solidFill>
              <a:srgbClr val="2D3F4B"/>
            </a:solidFill>
            <a:prstDash val="solid"/>
          </a:ln>
        </p:spPr>
        <p:txBody>
          <a:bodyPr anchor="ctr"/>
          <a:lstStyle/>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p:nvPr/>
        </p:nvSpPr>
        <p:spPr>
          <a:xfrm>
            <a:off x="2957273" y="3055635"/>
            <a:ext cx="717499"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p:nvPr/>
        </p:nvSpPr>
        <p:spPr>
          <a:xfrm>
            <a:off x="3780000" y="1972649"/>
            <a:ext cx="2619374"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grpSp>
        <p:nvGrpSpPr>
          <p:cNvPr id="3" name="Gruppieren 2">
            <a:extLst>
              <a:ext uri="{FF2B5EF4-FFF2-40B4-BE49-F238E27FC236}">
                <a16:creationId xmlns:a16="http://schemas.microsoft.com/office/drawing/2014/main" id="{1FB2134F-2371-6C77-AF8C-D1C3FCBA96EC}"/>
              </a:ext>
            </a:extLst>
          </p:cNvPr>
          <p:cNvGrpSpPr/>
          <p:nvPr/>
        </p:nvGrpSpPr>
        <p:grpSpPr>
          <a:xfrm>
            <a:off x="3780000" y="2340000"/>
            <a:ext cx="2619375" cy="409575"/>
            <a:chOff x="3780000" y="2340000"/>
            <a:chExt cx="2619375" cy="409575"/>
          </a:xfrm>
        </p:grpSpPr>
        <p:sp>
          <p:nvSpPr>
            <p:cNvPr id="27" name="vector-row-0">
              <a:extLst>
                <a:ext uri="{FF2B5EF4-FFF2-40B4-BE49-F238E27FC236}">
                  <a16:creationId xmlns:a16="http://schemas.microsoft.com/office/drawing/2014/main" id="{75716B28-0E31-46C2-A3C5-56EECC949C2B}"/>
                </a:ext>
              </a:extLst>
            </p:cNvPr>
            <p:cNvSpPr/>
            <p:nvPr/>
          </p:nvSpPr>
          <p:spPr>
            <a:xfrm>
              <a:off x="3780000" y="23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p:nvPr/>
          </p:nvSpPr>
          <p:spPr>
            <a:xfrm>
              <a:off x="3960000" y="242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p:nvPr/>
          </p:nvSpPr>
          <p:spPr>
            <a:xfrm>
              <a:off x="4320000" y="242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Kündigungsfrist</a:t>
              </a:r>
              <a:endParaRPr sz="1275" b="0" dirty="0">
                <a:solidFill>
                  <a:srgbClr val="2D3F4B"/>
                </a:solidFill>
                <a:latin typeface="Arial"/>
                <a:ea typeface="Arial"/>
                <a:cs typeface="Arial"/>
              </a:endParaRPr>
            </a:p>
          </p:txBody>
        </p:sp>
        <p:sp>
          <p:nvSpPr>
            <p:cNvPr id="30" name="vector-score-0">
              <a:extLst>
                <a:ext uri="{FF2B5EF4-FFF2-40B4-BE49-F238E27FC236}">
                  <a16:creationId xmlns:a16="http://schemas.microsoft.com/office/drawing/2014/main" id="{F3A744E8-F2AE-463C-86F7-923304CFAC8C}"/>
                </a:ext>
              </a:extLst>
            </p:cNvPr>
            <p:cNvSpPr/>
            <p:nvPr/>
          </p:nvSpPr>
          <p:spPr>
            <a:xfrm>
              <a:off x="576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grpSp>
      <p:grpSp>
        <p:nvGrpSpPr>
          <p:cNvPr id="4" name="Gruppieren 3">
            <a:extLst>
              <a:ext uri="{FF2B5EF4-FFF2-40B4-BE49-F238E27FC236}">
                <a16:creationId xmlns:a16="http://schemas.microsoft.com/office/drawing/2014/main" id="{141B6B71-8143-2108-063C-D8853593EB6D}"/>
              </a:ext>
            </a:extLst>
          </p:cNvPr>
          <p:cNvGrpSpPr/>
          <p:nvPr/>
        </p:nvGrpSpPr>
        <p:grpSpPr>
          <a:xfrm>
            <a:off x="3780000" y="2823013"/>
            <a:ext cx="2619375" cy="409575"/>
            <a:chOff x="3780000" y="2880000"/>
            <a:chExt cx="2619375" cy="409575"/>
          </a:xfrm>
        </p:grpSpPr>
        <p:sp>
          <p:nvSpPr>
            <p:cNvPr id="31" name="vector-row-1">
              <a:extLst>
                <a:ext uri="{FF2B5EF4-FFF2-40B4-BE49-F238E27FC236}">
                  <a16:creationId xmlns:a16="http://schemas.microsoft.com/office/drawing/2014/main" id="{F450F738-BD5A-48AD-9A41-9FF11D6A9169}"/>
                </a:ext>
              </a:extLst>
            </p:cNvPr>
            <p:cNvSpPr/>
            <p:nvPr/>
          </p:nvSpPr>
          <p:spPr>
            <a:xfrm>
              <a:off x="3780000" y="2880000"/>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p:nvPr/>
          </p:nvSpPr>
          <p:spPr>
            <a:xfrm>
              <a:off x="3960000" y="296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p:nvPr/>
          </p:nvSpPr>
          <p:spPr>
            <a:xfrm>
              <a:off x="4320000" y="296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p:nvPr/>
          </p:nvSpPr>
          <p:spPr>
            <a:xfrm>
              <a:off x="576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grpSp>
      <p:grpSp>
        <p:nvGrpSpPr>
          <p:cNvPr id="5" name="Gruppieren 4">
            <a:extLst>
              <a:ext uri="{FF2B5EF4-FFF2-40B4-BE49-F238E27FC236}">
                <a16:creationId xmlns:a16="http://schemas.microsoft.com/office/drawing/2014/main" id="{E1AEB315-AE4C-75B6-BD5A-A4C2BA26F968}"/>
              </a:ext>
            </a:extLst>
          </p:cNvPr>
          <p:cNvGrpSpPr/>
          <p:nvPr/>
        </p:nvGrpSpPr>
        <p:grpSpPr>
          <a:xfrm>
            <a:off x="3780000" y="3306026"/>
            <a:ext cx="2619375" cy="409575"/>
            <a:chOff x="3780000" y="3335760"/>
            <a:chExt cx="2619375" cy="409575"/>
          </a:xfrm>
        </p:grpSpPr>
        <p:sp>
          <p:nvSpPr>
            <p:cNvPr id="35" name="vector-row-2">
              <a:extLst>
                <a:ext uri="{FF2B5EF4-FFF2-40B4-BE49-F238E27FC236}">
                  <a16:creationId xmlns:a16="http://schemas.microsoft.com/office/drawing/2014/main" id="{A0FCE584-190B-47B3-8C38-C35AD8DA58CA}"/>
                </a:ext>
              </a:extLst>
            </p:cNvPr>
            <p:cNvSpPr/>
            <p:nvPr/>
          </p:nvSpPr>
          <p:spPr>
            <a:xfrm>
              <a:off x="3780000" y="333576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p:nvPr/>
          </p:nvSpPr>
          <p:spPr>
            <a:xfrm>
              <a:off x="3960000" y="341672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p:nvPr/>
          </p:nvSpPr>
          <p:spPr>
            <a:xfrm>
              <a:off x="4320000" y="341672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p:nvPr/>
          </p:nvSpPr>
          <p:spPr>
            <a:xfrm>
              <a:off x="5760000" y="341672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dirty="0">
                  <a:solidFill>
                    <a:srgbClr val="81725E"/>
                  </a:solidFill>
                  <a:latin typeface="Arial"/>
                  <a:ea typeface="Arial"/>
                  <a:cs typeface="Arial"/>
                </a:rPr>
                <a:t>0.79</a:t>
              </a:r>
            </a:p>
          </p:txBody>
        </p:sp>
      </p:grpSp>
      <p:grpSp>
        <p:nvGrpSpPr>
          <p:cNvPr id="6" name="Gruppieren 5">
            <a:extLst>
              <a:ext uri="{FF2B5EF4-FFF2-40B4-BE49-F238E27FC236}">
                <a16:creationId xmlns:a16="http://schemas.microsoft.com/office/drawing/2014/main" id="{5E76CAC2-D564-2846-6F19-8A1C030627FF}"/>
              </a:ext>
            </a:extLst>
          </p:cNvPr>
          <p:cNvGrpSpPr/>
          <p:nvPr/>
        </p:nvGrpSpPr>
        <p:grpSpPr>
          <a:xfrm>
            <a:off x="3780000" y="3789038"/>
            <a:ext cx="2619375" cy="409575"/>
            <a:chOff x="3780000" y="3789038"/>
            <a:chExt cx="2619375" cy="409575"/>
          </a:xfrm>
        </p:grpSpPr>
        <p:sp>
          <p:nvSpPr>
            <p:cNvPr id="39" name="vector-row-3">
              <a:extLst>
                <a:ext uri="{FF2B5EF4-FFF2-40B4-BE49-F238E27FC236}">
                  <a16:creationId xmlns:a16="http://schemas.microsoft.com/office/drawing/2014/main" id="{A778CD48-FBE7-45F1-B1D9-E5C11B2F386B}"/>
                </a:ext>
              </a:extLst>
            </p:cNvPr>
            <p:cNvSpPr/>
            <p:nvPr/>
          </p:nvSpPr>
          <p:spPr>
            <a:xfrm>
              <a:off x="3780000" y="3789038"/>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p:nvPr/>
          </p:nvSpPr>
          <p:spPr>
            <a:xfrm>
              <a:off x="3960000" y="387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p:nvPr/>
          </p:nvSpPr>
          <p:spPr>
            <a:xfrm>
              <a:off x="4320000" y="387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p:nvPr/>
          </p:nvSpPr>
          <p:spPr>
            <a:xfrm>
              <a:off x="5760000" y="3870000"/>
              <a:ext cx="552450" cy="247650"/>
            </a:xfrm>
            <a:prstGeom prst="rect">
              <a:avLst/>
            </a:prstGeom>
            <a:noFill/>
            <a:ln w="0">
              <a:noFill/>
              <a:prstDash val="solid"/>
            </a:ln>
          </p:spPr>
          <p:txBody>
            <a:bodyPr anchor="t"/>
            <a:lstStyle/>
            <a:p>
              <a:endParaRPr/>
            </a:p>
          </p:txBody>
        </p:sp>
      </p:grpSp>
      <p:sp>
        <p:nvSpPr>
          <p:cNvPr id="43" name="vector-to-rerank">
            <a:extLst>
              <a:ext uri="{FF2B5EF4-FFF2-40B4-BE49-F238E27FC236}">
                <a16:creationId xmlns:a16="http://schemas.microsoft.com/office/drawing/2014/main" id="{8361C6C7-88AF-4C6F-9197-06086CD53D46}"/>
              </a:ext>
            </a:extLst>
          </p:cNvPr>
          <p:cNvSpPr/>
          <p:nvPr/>
        </p:nvSpPr>
        <p:spPr>
          <a:xfrm>
            <a:off x="6480000" y="3060000"/>
            <a:ext cx="762000" cy="0"/>
          </a:xfrm>
          <a:prstGeom prst="line">
            <a:avLst/>
          </a:prstGeom>
          <a:ln w="23813">
            <a:solidFill>
              <a:srgbClr val="43858A"/>
            </a:solidFill>
            <a:prstDash val="solid"/>
          </a:ln>
        </p:spPr>
        <p:txBody>
          <a:bodyPr/>
          <a:lstStyle/>
          <a:p>
            <a:endParaRPr lang="de-CH"/>
          </a:p>
        </p:txBody>
      </p:sp>
      <p:sp>
        <p:nvSpPr>
          <p:cNvPr id="45" name="cross-label">
            <a:extLst>
              <a:ext uri="{FF2B5EF4-FFF2-40B4-BE49-F238E27FC236}">
                <a16:creationId xmlns:a16="http://schemas.microsoft.com/office/drawing/2014/main" id="{7DBDADD9-B218-4FA9-8FE1-859807B1D72A}"/>
              </a:ext>
            </a:extLst>
          </p:cNvPr>
          <p:cNvSpPr/>
          <p:nvPr/>
        </p:nvSpPr>
        <p:spPr>
          <a:xfrm>
            <a:off x="6884163" y="1972649"/>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dirty="0">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p:nvPr/>
        </p:nvSpPr>
        <p:spPr>
          <a:xfrm>
            <a:off x="6807750" y="3429000"/>
            <a:ext cx="1724451"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liest</a:t>
            </a:r>
            <a:r>
              <a:rPr sz="1275" b="0" dirty="0">
                <a:solidFill>
                  <a:srgbClr val="2D3F4B"/>
                </a:solidFill>
                <a:latin typeface="Arial"/>
                <a:ea typeface="Arial"/>
                <a:cs typeface="Arial"/>
              </a:rPr>
              <a:t> Frage + Chunk</a:t>
            </a:r>
          </a:p>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gemeinsam</a:t>
            </a:r>
            <a:endParaRPr sz="1275" b="0" dirty="0">
              <a:solidFill>
                <a:srgbClr val="2D3F4B"/>
              </a:solidFill>
              <a:latin typeface="Arial"/>
              <a:ea typeface="Arial"/>
              <a:cs typeface="Arial"/>
            </a:endParaRPr>
          </a:p>
        </p:txBody>
      </p:sp>
      <p:sp>
        <p:nvSpPr>
          <p:cNvPr id="47" name="rerank-to-top">
            <a:extLst>
              <a:ext uri="{FF2B5EF4-FFF2-40B4-BE49-F238E27FC236}">
                <a16:creationId xmlns:a16="http://schemas.microsoft.com/office/drawing/2014/main" id="{67DC0688-D565-480D-8784-C0ED88D57A86}"/>
              </a:ext>
            </a:extLst>
          </p:cNvPr>
          <p:cNvSpPr/>
          <p:nvPr/>
        </p:nvSpPr>
        <p:spPr>
          <a:xfrm>
            <a:off x="8100000" y="30600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p:nvPr/>
        </p:nvSpPr>
        <p:spPr>
          <a:xfrm>
            <a:off x="8820000" y="1972649"/>
            <a:ext cx="2714624"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dirty="0">
                <a:solidFill>
                  <a:srgbClr val="C9960F"/>
                </a:solidFill>
                <a:latin typeface="Arial"/>
                <a:ea typeface="Arial"/>
                <a:cs typeface="Arial"/>
              </a:rPr>
              <a:t>TOP-4 IN DEN PROMPT</a:t>
            </a:r>
          </a:p>
        </p:txBody>
      </p:sp>
      <p:grpSp>
        <p:nvGrpSpPr>
          <p:cNvPr id="7" name="Gruppieren 6">
            <a:extLst>
              <a:ext uri="{FF2B5EF4-FFF2-40B4-BE49-F238E27FC236}">
                <a16:creationId xmlns:a16="http://schemas.microsoft.com/office/drawing/2014/main" id="{96B33F7E-F940-E975-D647-C60CAC87F958}"/>
              </a:ext>
            </a:extLst>
          </p:cNvPr>
          <p:cNvGrpSpPr/>
          <p:nvPr/>
        </p:nvGrpSpPr>
        <p:grpSpPr>
          <a:xfrm>
            <a:off x="8820000" y="2340000"/>
            <a:ext cx="2714625" cy="409575"/>
            <a:chOff x="8820000" y="2340000"/>
            <a:chExt cx="2714625" cy="409575"/>
          </a:xfrm>
        </p:grpSpPr>
        <p:sp>
          <p:nvSpPr>
            <p:cNvPr id="49" name="rerank-row-0">
              <a:extLst>
                <a:ext uri="{FF2B5EF4-FFF2-40B4-BE49-F238E27FC236}">
                  <a16:creationId xmlns:a16="http://schemas.microsoft.com/office/drawing/2014/main" id="{DF31896F-4FA2-4656-9746-FB94EE4BD9AF}"/>
                </a:ext>
              </a:extLst>
            </p:cNvPr>
            <p:cNvSpPr/>
            <p:nvPr/>
          </p:nvSpPr>
          <p:spPr>
            <a:xfrm>
              <a:off x="8820000" y="234000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p:nvPr/>
          </p:nvSpPr>
          <p:spPr>
            <a:xfrm>
              <a:off x="8820000" y="242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p:nvPr/>
          </p:nvSpPr>
          <p:spPr>
            <a:xfrm>
              <a:off x="9180000" y="242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p:nvPr/>
          </p:nvSpPr>
          <p:spPr>
            <a:xfrm>
              <a:off x="1080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grpSp>
      <p:grpSp>
        <p:nvGrpSpPr>
          <p:cNvPr id="8" name="Gruppieren 7">
            <a:extLst>
              <a:ext uri="{FF2B5EF4-FFF2-40B4-BE49-F238E27FC236}">
                <a16:creationId xmlns:a16="http://schemas.microsoft.com/office/drawing/2014/main" id="{08255C8E-C511-B08E-3F5A-42E18623C2FF}"/>
              </a:ext>
            </a:extLst>
          </p:cNvPr>
          <p:cNvGrpSpPr/>
          <p:nvPr/>
        </p:nvGrpSpPr>
        <p:grpSpPr>
          <a:xfrm>
            <a:off x="8820000" y="2823013"/>
            <a:ext cx="2714625" cy="409575"/>
            <a:chOff x="8820000" y="2880000"/>
            <a:chExt cx="2714625" cy="409575"/>
          </a:xfrm>
        </p:grpSpPr>
        <p:sp>
          <p:nvSpPr>
            <p:cNvPr id="53" name="rerank-row-1">
              <a:extLst>
                <a:ext uri="{FF2B5EF4-FFF2-40B4-BE49-F238E27FC236}">
                  <a16:creationId xmlns:a16="http://schemas.microsoft.com/office/drawing/2014/main" id="{43762E83-CA22-40AA-A126-60AE96C1F805}"/>
                </a:ext>
              </a:extLst>
            </p:cNvPr>
            <p:cNvSpPr/>
            <p:nvPr/>
          </p:nvSpPr>
          <p:spPr>
            <a:xfrm>
              <a:off x="8820000" y="28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p:nvPr/>
          </p:nvSpPr>
          <p:spPr>
            <a:xfrm>
              <a:off x="8820000" y="296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p:nvPr/>
          </p:nvSpPr>
          <p:spPr>
            <a:xfrm>
              <a:off x="9180000" y="296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Lehrvertrag</a:t>
              </a:r>
              <a:endParaRPr sz="1275" b="0" dirty="0">
                <a:solidFill>
                  <a:srgbClr val="2D3F4B"/>
                </a:solidFill>
                <a:latin typeface="Arial"/>
                <a:ea typeface="Arial"/>
                <a:cs typeface="Arial"/>
              </a:endParaRPr>
            </a:p>
          </p:txBody>
        </p:sp>
        <p:sp>
          <p:nvSpPr>
            <p:cNvPr id="56" name="rerank-score-1">
              <a:extLst>
                <a:ext uri="{FF2B5EF4-FFF2-40B4-BE49-F238E27FC236}">
                  <a16:creationId xmlns:a16="http://schemas.microsoft.com/office/drawing/2014/main" id="{1E43AC17-5C2E-4C76-B5E9-D9550B9C083A}"/>
                </a:ext>
              </a:extLst>
            </p:cNvPr>
            <p:cNvSpPr/>
            <p:nvPr/>
          </p:nvSpPr>
          <p:spPr>
            <a:xfrm>
              <a:off x="1080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grpSp>
      <p:grpSp>
        <p:nvGrpSpPr>
          <p:cNvPr id="9" name="Gruppieren 8">
            <a:extLst>
              <a:ext uri="{FF2B5EF4-FFF2-40B4-BE49-F238E27FC236}">
                <a16:creationId xmlns:a16="http://schemas.microsoft.com/office/drawing/2014/main" id="{2DF2A836-AA57-844A-1BF3-271CE5CE71EE}"/>
              </a:ext>
            </a:extLst>
          </p:cNvPr>
          <p:cNvGrpSpPr/>
          <p:nvPr/>
        </p:nvGrpSpPr>
        <p:grpSpPr>
          <a:xfrm>
            <a:off x="8820000" y="3306026"/>
            <a:ext cx="2714625" cy="409575"/>
            <a:chOff x="8820000" y="3249038"/>
            <a:chExt cx="2714625" cy="409575"/>
          </a:xfrm>
        </p:grpSpPr>
        <p:sp>
          <p:nvSpPr>
            <p:cNvPr id="57" name="rerank-row-2">
              <a:extLst>
                <a:ext uri="{FF2B5EF4-FFF2-40B4-BE49-F238E27FC236}">
                  <a16:creationId xmlns:a16="http://schemas.microsoft.com/office/drawing/2014/main" id="{C609C74F-E2A9-4EBA-9133-D289232429B9}"/>
                </a:ext>
              </a:extLst>
            </p:cNvPr>
            <p:cNvSpPr/>
            <p:nvPr/>
          </p:nvSpPr>
          <p:spPr>
            <a:xfrm>
              <a:off x="8820000" y="324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p:nvPr/>
          </p:nvSpPr>
          <p:spPr>
            <a:xfrm>
              <a:off x="8820000" y="333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p:nvPr/>
          </p:nvSpPr>
          <p:spPr>
            <a:xfrm>
              <a:off x="9180000" y="333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p:nvPr/>
          </p:nvSpPr>
          <p:spPr>
            <a:xfrm>
              <a:off x="10800000" y="333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grpSp>
      <p:grpSp>
        <p:nvGrpSpPr>
          <p:cNvPr id="10" name="Gruppieren 9">
            <a:extLst>
              <a:ext uri="{FF2B5EF4-FFF2-40B4-BE49-F238E27FC236}">
                <a16:creationId xmlns:a16="http://schemas.microsoft.com/office/drawing/2014/main" id="{483BA689-0BEA-AB9C-9943-A97B94BA0EB8}"/>
              </a:ext>
            </a:extLst>
          </p:cNvPr>
          <p:cNvGrpSpPr/>
          <p:nvPr/>
        </p:nvGrpSpPr>
        <p:grpSpPr>
          <a:xfrm>
            <a:off x="8820000" y="3789038"/>
            <a:ext cx="2714625" cy="409575"/>
            <a:chOff x="8820000" y="3789038"/>
            <a:chExt cx="2714625" cy="409575"/>
          </a:xfrm>
        </p:grpSpPr>
        <p:sp>
          <p:nvSpPr>
            <p:cNvPr id="61" name="rerank-row-3">
              <a:extLst>
                <a:ext uri="{FF2B5EF4-FFF2-40B4-BE49-F238E27FC236}">
                  <a16:creationId xmlns:a16="http://schemas.microsoft.com/office/drawing/2014/main" id="{DB51D4B7-0DE8-4353-94F1-A0704F80CAF9}"/>
                </a:ext>
              </a:extLst>
            </p:cNvPr>
            <p:cNvSpPr/>
            <p:nvPr/>
          </p:nvSpPr>
          <p:spPr>
            <a:xfrm>
              <a:off x="8820000" y="378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p:nvPr/>
          </p:nvSpPr>
          <p:spPr>
            <a:xfrm>
              <a:off x="8820000" y="387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p:nvPr/>
          </p:nvSpPr>
          <p:spPr>
            <a:xfrm>
              <a:off x="9180000" y="387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p:nvPr/>
          </p:nvSpPr>
          <p:spPr>
            <a:xfrm>
              <a:off x="10800000" y="3870000"/>
              <a:ext cx="552450" cy="247650"/>
            </a:xfrm>
            <a:prstGeom prst="rect">
              <a:avLst/>
            </a:prstGeom>
            <a:noFill/>
            <a:ln w="0">
              <a:noFill/>
              <a:prstDash val="solid"/>
            </a:ln>
          </p:spPr>
          <p:txBody>
            <a:bodyPr anchor="t"/>
            <a:lstStyle/>
            <a:p>
              <a:endParaRPr/>
            </a:p>
          </p:txBody>
        </p:sp>
      </p:grpSp>
      <p:sp>
        <p:nvSpPr>
          <p:cNvPr id="65" name="rerank-limit">
            <a:extLst>
              <a:ext uri="{FF2B5EF4-FFF2-40B4-BE49-F238E27FC236}">
                <a16:creationId xmlns:a16="http://schemas.microsoft.com/office/drawing/2014/main" id="{ED2A38C4-D755-44FC-9EA4-1E947591FFC9}"/>
              </a:ext>
            </a:extLst>
          </p:cNvPr>
          <p:cNvSpPr/>
          <p:nvPr/>
        </p:nvSpPr>
        <p:spPr>
          <a:xfrm>
            <a:off x="2159999" y="5040000"/>
            <a:ext cx="8591625" cy="720000"/>
          </a:xfrm>
          <a:prstGeom prst="roundRect">
            <a:avLst>
              <a:gd name="adj" fmla="val 20000"/>
            </a:avLst>
          </a:prstGeom>
          <a:solidFill>
            <a:srgbClr val="2D3F4B"/>
          </a:solidFill>
          <a:ln w="0">
            <a:solidFill>
              <a:srgbClr val="2D3F4B"/>
            </a:solidFill>
            <a:prstDash val="solid"/>
          </a:ln>
        </p:spPr>
        <p:txBody>
          <a:bodyPr anchor="ctr"/>
          <a:lstStyle/>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Fehlt der richtige Chunk in den Top-10, kann </a:t>
            </a:r>
            <a:r>
              <a:rPr lang="de-DE" sz="1600" b="1" dirty="0" err="1">
                <a:solidFill>
                  <a:srgbClr val="FFFFFF"/>
                </a:solidFill>
                <a:latin typeface="Arial"/>
                <a:ea typeface="Arial"/>
                <a:cs typeface="Arial"/>
              </a:rPr>
              <a:t>Reranking</a:t>
            </a:r>
            <a:r>
              <a:rPr lang="de-DE" sz="1600" b="1" dirty="0">
                <a:solidFill>
                  <a:srgbClr val="FFFFFF"/>
                </a:solidFill>
                <a:latin typeface="Arial"/>
                <a:ea typeface="Arial"/>
                <a:cs typeface="Arial"/>
              </a:rPr>
              <a:t> ihn nicht zurückholen.</a:t>
            </a:r>
          </a:p>
        </p:txBody>
      </p:sp>
      <p:pic>
        <p:nvPicPr>
          <p:cNvPr id="2" name="Icon Cross-Encoder">
            <a:extLst>
              <a:ext uri="{FF2B5EF4-FFF2-40B4-BE49-F238E27FC236}">
                <a16:creationId xmlns:a16="http://schemas.microsoft.com/office/drawing/2014/main" id="{010C40FB-D25D-CD65-BF09-E9CF2713632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09975" y="2700000"/>
            <a:ext cx="720000" cy="72000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43" grpId="0" animBg="1"/>
      <p:bldP spid="45" grpId="0"/>
      <p:bldP spid="46" grpId="0"/>
      <p:bldP spid="47" grpId="0" animBg="1"/>
      <p:bldP spid="48" grpId="0"/>
      <p:bldP spid="65"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4 · GraphRAG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18</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24480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Graph Database"/>
          <p:cNvSpPr/>
          <p:nvPr/>
        </p:nvSpPr>
        <p:spPr>
          <a:xfrm>
            <a:off x="4096800" y="3736800"/>
            <a:ext cx="1526400" cy="954000"/>
          </a:xfrm>
          <a:prstGeom prst="roundRect">
            <a:avLst/>
          </a:prstGeom>
          <a:noFill/>
          <a:ln w="28575">
            <a:solidFill>
              <a:srgbClr val="C60C30"/>
            </a:solidFill>
            <a:prstDash val="dash"/>
          </a:ln>
        </p:spPr>
        <p:txBody>
          <a:bodyPr/>
          <a:lstStyle/>
          <a:p>
            <a:endParaRPr/>
          </a:p>
        </p:txBody>
      </p:sp>
      <p:sp>
        <p:nvSpPr>
          <p:cNvPr id="2001" name="Marker Graph Engine"/>
          <p:cNvSpPr/>
          <p:nvPr/>
        </p:nvSpPr>
        <p:spPr>
          <a:xfrm>
            <a:off x="22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p:nvPr/>
        </p:nvSpPr>
        <p:spPr>
          <a:xfrm>
            <a:off x="540000" y="1260000"/>
            <a:ext cx="11159250" cy="304800"/>
          </a:xfrm>
          <a:prstGeom prst="rect">
            <a:avLst/>
          </a:prstGeom>
          <a:noFill/>
          <a:ln w="0">
            <a:noFill/>
            <a:prstDash val="solid"/>
          </a:ln>
        </p:spPr>
        <p:txBody>
          <a:bodyPr anchor="ctr"/>
          <a:lstStyle/>
          <a:p>
            <a:pPr algn="l">
              <a:defRPr sz="1425" b="0">
                <a:solidFill>
                  <a:srgbClr val="746B5F"/>
                </a:solidFill>
              </a:defRPr>
            </a:pPr>
            <a:r>
              <a:rPr sz="1425" b="0" dirty="0">
                <a:solidFill>
                  <a:srgbClr val="746B5F"/>
                </a:solidFill>
              </a:rPr>
              <a:t>Hybrid Retrieval </a:t>
            </a:r>
            <a:r>
              <a:rPr sz="1425" b="0" dirty="0" err="1">
                <a:solidFill>
                  <a:srgbClr val="746B5F"/>
                </a:solidFill>
              </a:rPr>
              <a:t>findet</a:t>
            </a:r>
            <a:r>
              <a:rPr sz="1425" b="0" dirty="0">
                <a:solidFill>
                  <a:srgbClr val="746B5F"/>
                </a:solidFill>
              </a:rPr>
              <a:t> </a:t>
            </a:r>
            <a:r>
              <a:rPr sz="1425" b="0" dirty="0" err="1">
                <a:solidFill>
                  <a:srgbClr val="746B5F"/>
                </a:solidFill>
              </a:rPr>
              <a:t>relevante</a:t>
            </a:r>
            <a:r>
              <a:rPr sz="1425" b="0" dirty="0">
                <a:solidFill>
                  <a:srgbClr val="746B5F"/>
                </a:solidFill>
              </a:rPr>
              <a:t> </a:t>
            </a:r>
            <a:r>
              <a:rPr sz="1425" b="0" dirty="0" err="1">
                <a:solidFill>
                  <a:srgbClr val="746B5F"/>
                </a:solidFill>
              </a:rPr>
              <a:t>Passagen</a:t>
            </a:r>
            <a:r>
              <a:rPr sz="1425" b="0" dirty="0">
                <a:solidFill>
                  <a:srgbClr val="746B5F"/>
                </a:solidFill>
              </a:rPr>
              <a:t>. Der Graph </a:t>
            </a:r>
            <a:r>
              <a:rPr sz="1425" b="0" dirty="0" err="1">
                <a:solidFill>
                  <a:srgbClr val="746B5F"/>
                </a:solidFill>
              </a:rPr>
              <a:t>erweitert</a:t>
            </a:r>
            <a:r>
              <a:rPr sz="1425" b="0" dirty="0">
                <a:solidFill>
                  <a:srgbClr val="746B5F"/>
                </a:solidFill>
              </a:rPr>
              <a:t> </a:t>
            </a:r>
            <a:r>
              <a:rPr sz="1425" b="0" dirty="0" err="1">
                <a:solidFill>
                  <a:srgbClr val="746B5F"/>
                </a:solidFill>
              </a:rPr>
              <a:t>sie</a:t>
            </a:r>
            <a:r>
              <a:rPr sz="1425" b="0" dirty="0">
                <a:solidFill>
                  <a:srgbClr val="746B5F"/>
                </a:solidFill>
              </a:rPr>
              <a:t> </a:t>
            </a:r>
            <a:r>
              <a:rPr sz="1425" b="0" dirty="0" err="1">
                <a:solidFill>
                  <a:srgbClr val="746B5F"/>
                </a:solidFill>
              </a:rPr>
              <a:t>gezielt</a:t>
            </a:r>
            <a:r>
              <a:rPr sz="1425" b="0" dirty="0">
                <a:solidFill>
                  <a:srgbClr val="746B5F"/>
                </a:solidFill>
              </a:rPr>
              <a:t> um </a:t>
            </a:r>
            <a:r>
              <a:rPr sz="1425" b="0" dirty="0" err="1">
                <a:solidFill>
                  <a:srgbClr val="746B5F"/>
                </a:solidFill>
              </a:rPr>
              <a:t>Kontext</a:t>
            </a:r>
            <a:r>
              <a:rPr sz="1425" b="0" dirty="0">
                <a:solidFill>
                  <a:srgbClr val="746B5F"/>
                </a:solidFill>
              </a:rPr>
              <a:t>.</a:t>
            </a:r>
          </a:p>
        </p:txBody>
      </p:sp>
      <p:sp>
        <p:nvSpPr>
          <p:cNvPr id="4" name="flow-1">
            <a:extLst>
              <a:ext uri="{FF2B5EF4-FFF2-40B4-BE49-F238E27FC236}">
                <a16:creationId xmlns:a16="http://schemas.microsoft.com/office/drawing/2014/main" id="{B220FF84-877B-4A53-AEEE-B36C2DCD5C24}"/>
              </a:ext>
            </a:extLst>
          </p:cNvPr>
          <p:cNvSpPr/>
          <p:nvPr/>
        </p:nvSpPr>
        <p:spPr>
          <a:xfrm>
            <a:off x="204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p:nvPr/>
        </p:nvSpPr>
        <p:spPr>
          <a:xfrm>
            <a:off x="5154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p:nvPr/>
        </p:nvSpPr>
        <p:spPr>
          <a:xfrm>
            <a:off x="681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p:nvPr/>
        </p:nvSpPr>
        <p:spPr>
          <a:xfrm>
            <a:off x="918000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p:nvPr/>
        </p:nvSpPr>
        <p:spPr>
          <a:xfrm>
            <a:off x="540000" y="1980000"/>
            <a:ext cx="144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p:nvPr/>
        </p:nvSpPr>
        <p:spPr>
          <a:xfrm>
            <a:off x="540000" y="2340000"/>
            <a:ext cx="1440000" cy="1980000"/>
          </a:xfrm>
          <a:prstGeom prst="roundRect">
            <a:avLst>
              <a:gd name="adj" fmla="val 7500"/>
            </a:avLst>
          </a:prstGeom>
          <a:solidFill>
            <a:srgbClr val="304452"/>
          </a:solidFill>
          <a:ln w="0">
            <a:solidFill>
              <a:srgbClr val="304452"/>
            </a:solidFill>
            <a:prstDash val="solid"/>
          </a:ln>
        </p:spPr>
        <p:txBody>
          <a:bodyPr/>
          <a:lstStyle/>
          <a:p>
            <a:pPr algn="ctr">
              <a:defRPr sz="1500" b="1">
                <a:solidFill>
                  <a:srgbClr val="FFFFFF"/>
                </a:solidFill>
              </a:defRPr>
            </a:pPr>
            <a:r>
              <a:rPr lang="de-CH" sz="4000" b="1" dirty="0">
                <a:solidFill>
                  <a:srgbClr val="FFFFFF"/>
                </a:solidFill>
              </a:rPr>
              <a:t>?</a:t>
            </a:r>
          </a:p>
          <a:p>
            <a:pPr algn="ctr">
              <a:defRPr sz="1500" b="1">
                <a:solidFill>
                  <a:srgbClr val="FFFFFF"/>
                </a:solidFill>
              </a:defRPr>
            </a:pPr>
            <a:endParaRPr lang="de-DE" sz="1600" b="1" dirty="0">
              <a:solidFill>
                <a:srgbClr val="FFFFFF"/>
              </a:solidFill>
            </a:endParaRPr>
          </a:p>
          <a:p>
            <a:pPr algn="ctr">
              <a:defRPr sz="1500" b="1">
                <a:solidFill>
                  <a:srgbClr val="FFFFFF"/>
                </a:solidFill>
              </a:defRPr>
            </a:pPr>
            <a:r>
              <a:rPr lang="de-DE" sz="1600" b="1" dirty="0">
                <a:solidFill>
                  <a:srgbClr val="FFFFFF"/>
                </a:solidFill>
              </a:rPr>
              <a:t>Was gilt nach</a:t>
            </a:r>
          </a:p>
          <a:p>
            <a:pPr algn="ctr">
              <a:defRPr sz="1500" b="1">
                <a:solidFill>
                  <a:srgbClr val="FFFFFF"/>
                </a:solidFill>
              </a:defRPr>
            </a:pPr>
            <a:r>
              <a:rPr lang="de-DE" sz="1600" b="1" dirty="0">
                <a:solidFill>
                  <a:srgbClr val="FFFFFF"/>
                </a:solidFill>
              </a:rPr>
              <a:t>Art. 1 OR?</a:t>
            </a:r>
          </a:p>
          <a:p>
            <a:endParaRPr lang="de-CH" dirty="0"/>
          </a:p>
        </p:txBody>
      </p:sp>
      <p:sp>
        <p:nvSpPr>
          <p:cNvPr id="12" name="stage2-label">
            <a:extLst>
              <a:ext uri="{FF2B5EF4-FFF2-40B4-BE49-F238E27FC236}">
                <a16:creationId xmlns:a16="http://schemas.microsoft.com/office/drawing/2014/main" id="{76B3E30B-6E9C-49C4-A4D9-623170EB133B}"/>
              </a:ext>
            </a:extLst>
          </p:cNvPr>
          <p:cNvSpPr/>
          <p:nvPr/>
        </p:nvSpPr>
        <p:spPr>
          <a:xfrm>
            <a:off x="2385000" y="1980000"/>
            <a:ext cx="27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2  HYBRID SUCHEN</a:t>
            </a:r>
          </a:p>
        </p:txBody>
      </p:sp>
      <p:sp>
        <p:nvSpPr>
          <p:cNvPr id="15" name="semantic-title">
            <a:extLst>
              <a:ext uri="{FF2B5EF4-FFF2-40B4-BE49-F238E27FC236}">
                <a16:creationId xmlns:a16="http://schemas.microsoft.com/office/drawing/2014/main" id="{4E361F9E-9187-4347-A714-B3A84599E622}"/>
              </a:ext>
            </a:extLst>
          </p:cNvPr>
          <p:cNvSpPr/>
          <p:nvPr/>
        </p:nvSpPr>
        <p:spPr>
          <a:xfrm>
            <a:off x="2700000" y="2520000"/>
            <a:ext cx="1866900" cy="209550"/>
          </a:xfrm>
          <a:prstGeom prst="rect">
            <a:avLst/>
          </a:prstGeom>
          <a:noFill/>
          <a:ln w="0">
            <a:noFill/>
            <a:prstDash val="solid"/>
          </a:ln>
        </p:spPr>
        <p:txBody>
          <a:bodyPr anchor="ctr"/>
          <a:lstStyle/>
          <a:p>
            <a:pPr algn="ctr">
              <a:defRPr sz="975" b="1">
                <a:solidFill>
                  <a:srgbClr val="D20A32"/>
                </a:solidFill>
              </a:defRPr>
            </a:pPr>
            <a:endParaRPr sz="975" b="1" dirty="0">
              <a:solidFill>
                <a:srgbClr val="D20A32"/>
              </a:solidFill>
            </a:endParaRPr>
          </a:p>
        </p:txBody>
      </p:sp>
      <p:sp>
        <p:nvSpPr>
          <p:cNvPr id="19" name="lexical-copy">
            <a:extLst>
              <a:ext uri="{FF2B5EF4-FFF2-40B4-BE49-F238E27FC236}">
                <a16:creationId xmlns:a16="http://schemas.microsoft.com/office/drawing/2014/main" id="{9FFDED9B-C5A8-4D35-AED5-08B8808E6621}"/>
              </a:ext>
            </a:extLst>
          </p:cNvPr>
          <p:cNvSpPr/>
          <p:nvPr/>
        </p:nvSpPr>
        <p:spPr>
          <a:xfrm>
            <a:off x="2700000" y="3780000"/>
            <a:ext cx="1866900" cy="209550"/>
          </a:xfrm>
          <a:prstGeom prst="rect">
            <a:avLst/>
          </a:prstGeom>
          <a:noFill/>
          <a:ln w="0">
            <a:noFill/>
            <a:prstDash val="solid"/>
          </a:ln>
        </p:spPr>
        <p:txBody>
          <a:bodyPr anchor="ctr"/>
          <a:lstStyle/>
          <a:p>
            <a:pPr algn="ctr">
              <a:defRPr sz="1125" b="0">
                <a:solidFill>
                  <a:srgbClr val="304452"/>
                </a:solidFill>
              </a:defRPr>
            </a:pPr>
            <a:endParaRPr sz="1125" b="0" dirty="0">
              <a:solidFill>
                <a:srgbClr val="304452"/>
              </a:solidFill>
            </a:endParaRPr>
          </a:p>
        </p:txBody>
      </p:sp>
      <p:sp>
        <p:nvSpPr>
          <p:cNvPr id="20" name="stage3-label">
            <a:extLst>
              <a:ext uri="{FF2B5EF4-FFF2-40B4-BE49-F238E27FC236}">
                <a16:creationId xmlns:a16="http://schemas.microsoft.com/office/drawing/2014/main" id="{235356C2-D245-426F-8CBE-5E61C6210532}"/>
              </a:ext>
            </a:extLst>
          </p:cNvPr>
          <p:cNvSpPr/>
          <p:nvPr/>
        </p:nvSpPr>
        <p:spPr>
          <a:xfrm>
            <a:off x="5484000" y="1980000"/>
            <a:ext cx="1266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p:nvPr/>
        </p:nvSpPr>
        <p:spPr>
          <a:xfrm>
            <a:off x="5490000" y="2700000"/>
            <a:ext cx="1260000" cy="1260000"/>
          </a:xfrm>
          <a:prstGeom prst="ellipse">
            <a:avLst/>
          </a:prstGeom>
          <a:solidFill>
            <a:srgbClr val="834A78"/>
          </a:solidFill>
          <a:ln w="0">
            <a:solidFill>
              <a:srgbClr val="834A78"/>
            </a:solidFill>
            <a:prstDash val="solid"/>
          </a:ln>
        </p:spPr>
        <p:txBody>
          <a:bodyPr anchor="ctr"/>
          <a:lstStyle/>
          <a:p>
            <a:pPr algn="ctr"/>
            <a:r>
              <a:rPr lang="de-CH" b="1" dirty="0">
                <a:solidFill>
                  <a:srgbClr val="FFFFFF"/>
                </a:solidFill>
              </a:rPr>
              <a:t>RRF</a:t>
            </a:r>
            <a:endParaRPr lang="de-CH" dirty="0"/>
          </a:p>
        </p:txBody>
      </p:sp>
      <p:sp>
        <p:nvSpPr>
          <p:cNvPr id="23" name="rrf-copy">
            <a:extLst>
              <a:ext uri="{FF2B5EF4-FFF2-40B4-BE49-F238E27FC236}">
                <a16:creationId xmlns:a16="http://schemas.microsoft.com/office/drawing/2014/main" id="{7628CD87-A2E9-4DE0-A32F-092CF186B32D}"/>
              </a:ext>
            </a:extLst>
          </p:cNvPr>
          <p:cNvSpPr/>
          <p:nvPr/>
        </p:nvSpPr>
        <p:spPr>
          <a:xfrm>
            <a:off x="5490000" y="3960000"/>
            <a:ext cx="1254000" cy="457200"/>
          </a:xfrm>
          <a:prstGeom prst="rect">
            <a:avLst/>
          </a:prstGeom>
          <a:noFill/>
          <a:ln w="0">
            <a:noFill/>
            <a:prstDash val="solid"/>
          </a:ln>
        </p:spPr>
        <p:txBody>
          <a:bodyPr lIns="0" tIns="0" rIns="0" bIns="0" anchor="ctr"/>
          <a:lstStyle/>
          <a:p>
            <a:pPr algn="ctr">
              <a:defRPr sz="1125" b="1">
                <a:solidFill>
                  <a:srgbClr val="834A78"/>
                </a:solidFill>
              </a:defRPr>
            </a:pPr>
            <a:r>
              <a:rPr sz="1100" dirty="0" err="1">
                <a:solidFill>
                  <a:srgbClr val="834A78"/>
                </a:solidFill>
              </a:rPr>
              <a:t>ein</a:t>
            </a:r>
            <a:r>
              <a:rPr sz="1100" dirty="0">
                <a:solidFill>
                  <a:srgbClr val="834A78"/>
                </a:solidFill>
              </a:rPr>
              <a:t> </a:t>
            </a:r>
            <a:r>
              <a:rPr sz="1100" dirty="0" err="1">
                <a:solidFill>
                  <a:srgbClr val="834A78"/>
                </a:solidFill>
              </a:rPr>
              <a:t>gemeinsames</a:t>
            </a:r>
            <a:endParaRPr sz="1100" dirty="0">
              <a:solidFill>
                <a:srgbClr val="834A78"/>
              </a:solidFill>
            </a:endParaRPr>
          </a:p>
          <a:p>
            <a:pPr algn="ctr">
              <a:defRPr sz="1125" b="1">
                <a:solidFill>
                  <a:srgbClr val="834A78"/>
                </a:solidFill>
              </a:defRPr>
            </a:pPr>
            <a:r>
              <a:rPr sz="1100"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p:nvPr/>
        </p:nvSpPr>
        <p:spPr>
          <a:xfrm>
            <a:off x="7200000" y="1980000"/>
            <a:ext cx="18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p:nvPr/>
        </p:nvSpPr>
        <p:spPr>
          <a:xfrm>
            <a:off x="7200000" y="2340000"/>
            <a:ext cx="1800000" cy="1980000"/>
          </a:xfrm>
          <a:prstGeom prst="roundRect">
            <a:avLst>
              <a:gd name="adj" fmla="val 5217"/>
            </a:avLst>
          </a:prstGeom>
          <a:solidFill>
            <a:srgbClr val="FBF3DF"/>
          </a:solidFill>
          <a:ln w="9525">
            <a:solidFill>
              <a:srgbClr val="E5D4AA"/>
            </a:solidFill>
            <a:prstDash val="solid"/>
          </a:ln>
        </p:spPr>
        <p:txBody>
          <a:bodyPr anchor="b"/>
          <a:lstStyle/>
          <a:p>
            <a:pPr algn="ctr">
              <a:defRPr sz="1125" b="1">
                <a:solidFill>
                  <a:srgbClr val="304452"/>
                </a:solidFill>
              </a:defRPr>
            </a:pPr>
            <a:r>
              <a:rPr lang="de-CH" b="1" dirty="0">
                <a:solidFill>
                  <a:srgbClr val="304452"/>
                </a:solidFill>
              </a:rPr>
              <a:t>relevante Nachbarn</a:t>
            </a:r>
          </a:p>
          <a:p>
            <a:pPr algn="ctr">
              <a:defRPr sz="1125" b="1">
                <a:solidFill>
                  <a:srgbClr val="304452"/>
                </a:solidFill>
              </a:defRPr>
            </a:pPr>
            <a:r>
              <a:rPr lang="de-CH" b="1" dirty="0">
                <a:solidFill>
                  <a:srgbClr val="304452"/>
                </a:solidFill>
              </a:rPr>
              <a:t>gezielt ergänzen</a:t>
            </a:r>
          </a:p>
        </p:txBody>
      </p:sp>
      <p:grpSp>
        <p:nvGrpSpPr>
          <p:cNvPr id="47" name="Gruppieren 46">
            <a:extLst>
              <a:ext uri="{FF2B5EF4-FFF2-40B4-BE49-F238E27FC236}">
                <a16:creationId xmlns:a16="http://schemas.microsoft.com/office/drawing/2014/main" id="{AA403698-CB16-7E63-EC7D-91BFBE43C7AF}"/>
              </a:ext>
            </a:extLst>
          </p:cNvPr>
          <p:cNvGrpSpPr/>
          <p:nvPr/>
        </p:nvGrpSpPr>
        <p:grpSpPr>
          <a:xfrm>
            <a:off x="7380000" y="2520000"/>
            <a:ext cx="1485000" cy="1305000"/>
            <a:chOff x="7380000" y="2520000"/>
            <a:chExt cx="1485000" cy="1305000"/>
          </a:xfrm>
        </p:grpSpPr>
        <p:sp>
          <p:nvSpPr>
            <p:cNvPr id="26" name="edge-a">
              <a:extLst>
                <a:ext uri="{FF2B5EF4-FFF2-40B4-BE49-F238E27FC236}">
                  <a16:creationId xmlns:a16="http://schemas.microsoft.com/office/drawing/2014/main" id="{7B9FB8E1-886E-4AE5-939D-AB152D87E07E}"/>
                </a:ext>
              </a:extLst>
            </p:cNvPr>
            <p:cNvSpPr/>
            <p:nvPr/>
          </p:nvSpPr>
          <p:spPr>
            <a:xfrm flipV="1">
              <a:off x="7659150" y="2830425"/>
              <a:ext cx="710850" cy="316275"/>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p:nvPr/>
          </p:nvSpPr>
          <p:spPr>
            <a:xfrm>
              <a:off x="7659150" y="3146700"/>
              <a:ext cx="917100" cy="366600"/>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p:nvPr/>
          </p:nvSpPr>
          <p:spPr>
            <a:xfrm>
              <a:off x="8393100" y="2830424"/>
              <a:ext cx="183150" cy="675541"/>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p:nvPr/>
          </p:nvSpPr>
          <p:spPr>
            <a:xfrm>
              <a:off x="7380000" y="2880000"/>
              <a:ext cx="630000" cy="630000"/>
            </a:xfrm>
            <a:prstGeom prst="ellipse">
              <a:avLst/>
            </a:prstGeom>
            <a:solidFill>
              <a:srgbClr val="D49400"/>
            </a:solidFill>
            <a:ln w="19050">
              <a:solidFill>
                <a:srgbClr val="FFFFFF"/>
              </a:solidFill>
              <a:prstDash val="solid"/>
            </a:ln>
          </p:spPr>
          <p:txBody>
            <a:bodyPr lIns="0" tIns="0" rIns="0" bIns="0" anchor="ctr" anchorCtr="1"/>
            <a:lstStyle/>
            <a:p>
              <a:r>
                <a:rPr lang="de-CH" sz="900" b="1" dirty="0">
                  <a:solidFill>
                    <a:srgbClr val="FFFFFF"/>
                  </a:solidFill>
                </a:rPr>
                <a:t>Art. 1</a:t>
              </a:r>
            </a:p>
          </p:txBody>
        </p:sp>
        <p:sp>
          <p:nvSpPr>
            <p:cNvPr id="30" name="node-neighbor-1">
              <a:extLst>
                <a:ext uri="{FF2B5EF4-FFF2-40B4-BE49-F238E27FC236}">
                  <a16:creationId xmlns:a16="http://schemas.microsoft.com/office/drawing/2014/main" id="{75FEA930-0C69-4D20-BBBF-D441480D64A8}"/>
                </a:ext>
              </a:extLst>
            </p:cNvPr>
            <p:cNvSpPr/>
            <p:nvPr/>
          </p:nvSpPr>
          <p:spPr>
            <a:xfrm>
              <a:off x="8100000" y="2520000"/>
              <a:ext cx="630000" cy="630000"/>
            </a:xfrm>
            <a:prstGeom prst="ellipse">
              <a:avLst/>
            </a:prstGeom>
            <a:solidFill>
              <a:srgbClr val="307F87"/>
            </a:solidFill>
            <a:ln w="19050">
              <a:solidFill>
                <a:srgbClr val="FFFFFF"/>
              </a:solidFill>
              <a:prstDash val="solid"/>
            </a:ln>
          </p:spPr>
          <p:txBody>
            <a:bodyPr lIns="0" tIns="0" rIns="0" bIns="0" anchor="ctr" anchorCtr="1"/>
            <a:lstStyle/>
            <a:p>
              <a:r>
                <a:rPr lang="de-CH" sz="900" b="1" dirty="0">
                  <a:solidFill>
                    <a:srgbClr val="FFFFFF"/>
                  </a:solidFill>
                </a:rPr>
                <a:t>Begriff</a:t>
              </a:r>
              <a:endParaRPr lang="de-CH" sz="900" dirty="0"/>
            </a:p>
          </p:txBody>
        </p:sp>
        <p:sp>
          <p:nvSpPr>
            <p:cNvPr id="31" name="node-neighbor-2">
              <a:extLst>
                <a:ext uri="{FF2B5EF4-FFF2-40B4-BE49-F238E27FC236}">
                  <a16:creationId xmlns:a16="http://schemas.microsoft.com/office/drawing/2014/main" id="{79228D47-291B-4A14-8451-268CE67330B9}"/>
                </a:ext>
              </a:extLst>
            </p:cNvPr>
            <p:cNvSpPr/>
            <p:nvPr/>
          </p:nvSpPr>
          <p:spPr>
            <a:xfrm>
              <a:off x="8235000" y="3195000"/>
              <a:ext cx="630000" cy="630000"/>
            </a:xfrm>
            <a:prstGeom prst="ellipse">
              <a:avLst/>
            </a:prstGeom>
            <a:solidFill>
              <a:srgbClr val="8A7D66"/>
            </a:solidFill>
            <a:ln w="19050">
              <a:solidFill>
                <a:srgbClr val="FFFFFF"/>
              </a:solidFill>
              <a:prstDash val="solid"/>
            </a:ln>
          </p:spPr>
          <p:txBody>
            <a:bodyPr lIns="0" tIns="0" rIns="0" bIns="0" anchor="ctr" anchorCtr="1"/>
            <a:lstStyle/>
            <a:p>
              <a:r>
                <a:rPr lang="de-CH" sz="900" b="1" dirty="0">
                  <a:solidFill>
                    <a:srgbClr val="FFFFFF"/>
                  </a:solidFill>
                </a:rPr>
                <a:t>Verweis</a:t>
              </a:r>
              <a:endParaRPr lang="de-CH" sz="900" dirty="0"/>
            </a:p>
          </p:txBody>
        </p:sp>
      </p:grpSp>
      <p:sp>
        <p:nvSpPr>
          <p:cNvPr id="36" name="stage5-label">
            <a:extLst>
              <a:ext uri="{FF2B5EF4-FFF2-40B4-BE49-F238E27FC236}">
                <a16:creationId xmlns:a16="http://schemas.microsoft.com/office/drawing/2014/main" id="{D2446592-1FE5-4105-BA2B-CE0893685701}"/>
              </a:ext>
            </a:extLst>
          </p:cNvPr>
          <p:cNvSpPr/>
          <p:nvPr/>
        </p:nvSpPr>
        <p:spPr>
          <a:xfrm>
            <a:off x="9539250" y="1980000"/>
            <a:ext cx="216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p:nvPr/>
        </p:nvSpPr>
        <p:spPr>
          <a:xfrm>
            <a:off x="9540000" y="2340000"/>
            <a:ext cx="2160000" cy="1980000"/>
          </a:xfrm>
          <a:prstGeom prst="roundRect">
            <a:avLst>
              <a:gd name="adj" fmla="val 5505"/>
            </a:avLst>
          </a:prstGeom>
          <a:solidFill>
            <a:srgbClr val="304452"/>
          </a:solidFill>
          <a:ln w="0">
            <a:solidFill>
              <a:srgbClr val="304452"/>
            </a:solidFill>
            <a:prstDash val="solid"/>
          </a:ln>
        </p:spPr>
        <p:txBody>
          <a:bodyPr tIns="90000" anchor="ctr"/>
          <a:lstStyle/>
          <a:p>
            <a:pPr algn="ctr">
              <a:defRPr sz="1350" b="1">
                <a:solidFill>
                  <a:srgbClr val="FFFFFF"/>
                </a:solidFill>
              </a:defRPr>
            </a:pPr>
            <a:r>
              <a:rPr lang="de-CH" b="1" dirty="0">
                <a:solidFill>
                  <a:srgbClr val="FFFFFF"/>
                </a:solidFill>
              </a:rPr>
              <a:t>KURATIERTER</a:t>
            </a:r>
          </a:p>
          <a:p>
            <a:pPr algn="ctr">
              <a:defRPr sz="1350" b="1">
                <a:solidFill>
                  <a:srgbClr val="FFFFFF"/>
                </a:solidFill>
              </a:defRPr>
            </a:pPr>
            <a:r>
              <a:rPr lang="de-CH" b="1" dirty="0">
                <a:solidFill>
                  <a:srgbClr val="FFFFFF"/>
                </a:solidFill>
              </a:rPr>
              <a:t>KONTEXT</a:t>
            </a:r>
          </a:p>
          <a:p>
            <a:pPr algn="ctr">
              <a:defRPr sz="1350" b="1">
                <a:solidFill>
                  <a:srgbClr val="FFFFFF"/>
                </a:solidFill>
              </a:defRPr>
            </a:pPr>
            <a:endParaRPr lang="de-CH" b="1" dirty="0">
              <a:solidFill>
                <a:srgbClr val="FFFFFF"/>
              </a:solidFill>
            </a:endParaRPr>
          </a:p>
          <a:p>
            <a:pPr algn="ctr">
              <a:defRPr sz="1350" b="1">
                <a:solidFill>
                  <a:srgbClr val="FFFFFF"/>
                </a:solidFill>
              </a:defRPr>
            </a:pPr>
            <a:endParaRPr lang="de-CH" b="1" dirty="0">
              <a:solidFill>
                <a:srgbClr val="FFFFFF"/>
              </a:solidFill>
            </a:endParaRPr>
          </a:p>
          <a:p>
            <a:pPr algn="ctr">
              <a:defRPr sz="1125" b="0">
                <a:solidFill>
                  <a:srgbClr val="FFFFFF"/>
                </a:solidFill>
              </a:defRPr>
            </a:pPr>
            <a:r>
              <a:rPr lang="de-DE" sz="1400" dirty="0">
                <a:solidFill>
                  <a:srgbClr val="FFFFFF"/>
                </a:solidFill>
              </a:rPr>
              <a:t>• beste Treffer</a:t>
            </a:r>
          </a:p>
          <a:p>
            <a:pPr algn="ctr">
              <a:defRPr sz="1125" b="0">
                <a:solidFill>
                  <a:srgbClr val="FFFFFF"/>
                </a:solidFill>
              </a:defRPr>
            </a:pPr>
            <a:r>
              <a:rPr lang="de-DE" sz="1400" dirty="0">
                <a:solidFill>
                  <a:srgbClr val="FFFFFF"/>
                </a:solidFill>
              </a:rPr>
              <a:t>• passende Nachbarn</a:t>
            </a:r>
          </a:p>
          <a:p>
            <a:pPr algn="ctr">
              <a:defRPr sz="1125" b="0">
                <a:solidFill>
                  <a:srgbClr val="FFFFFF"/>
                </a:solidFill>
              </a:defRPr>
            </a:pPr>
            <a:r>
              <a:rPr lang="de-DE" sz="1400" dirty="0">
                <a:solidFill>
                  <a:srgbClr val="FFFFFF"/>
                </a:solidFill>
              </a:rPr>
              <a:t>• innerhalb des Limits</a:t>
            </a:r>
            <a:endParaRPr lang="de-CH" b="1" dirty="0">
              <a:solidFill>
                <a:srgbClr val="FFFFFF"/>
              </a:solidFill>
            </a:endParaRPr>
          </a:p>
        </p:txBody>
      </p:sp>
      <p:sp>
        <p:nvSpPr>
          <p:cNvPr id="39" name="context-rule">
            <a:extLst>
              <a:ext uri="{FF2B5EF4-FFF2-40B4-BE49-F238E27FC236}">
                <a16:creationId xmlns:a16="http://schemas.microsoft.com/office/drawing/2014/main" id="{0502F995-463E-4825-8FE2-0C53FB9F416D}"/>
              </a:ext>
            </a:extLst>
          </p:cNvPr>
          <p:cNvSpPr/>
          <p:nvPr/>
        </p:nvSpPr>
        <p:spPr>
          <a:xfrm>
            <a:off x="9900000" y="3199342"/>
            <a:ext cx="1524000" cy="0"/>
          </a:xfrm>
          <a:prstGeom prst="line">
            <a:avLst/>
          </a:prstGeom>
          <a:noFill/>
          <a:ln w="9525">
            <a:solidFill>
              <a:srgbClr val="80909A"/>
            </a:solidFill>
            <a:prstDash val="solid"/>
          </a:ln>
        </p:spPr>
        <p:txBody>
          <a:bodyPr/>
          <a:lstStyle/>
          <a:p>
            <a:endParaRPr lang="de-CH"/>
          </a:p>
        </p:txBody>
      </p:sp>
      <p:sp>
        <p:nvSpPr>
          <p:cNvPr id="41" name="takeaway">
            <a:extLst>
              <a:ext uri="{FF2B5EF4-FFF2-40B4-BE49-F238E27FC236}">
                <a16:creationId xmlns:a16="http://schemas.microsoft.com/office/drawing/2014/main" id="{8D67E1C2-6641-4B1A-BC5F-F5469ACC23E4}"/>
              </a:ext>
            </a:extLst>
          </p:cNvPr>
          <p:cNvSpPr/>
          <p:nvPr/>
        </p:nvSpPr>
        <p:spPr>
          <a:xfrm>
            <a:off x="2818071" y="5298150"/>
            <a:ext cx="6555858" cy="720000"/>
          </a:xfrm>
          <a:prstGeom prst="roundRect">
            <a:avLst>
              <a:gd name="adj" fmla="val 16667"/>
            </a:avLst>
          </a:prstGeom>
          <a:solidFill>
            <a:srgbClr val="304452"/>
          </a:solidFill>
          <a:ln w="0">
            <a:solidFill>
              <a:srgbClr val="304452"/>
            </a:solidFill>
            <a:prstDash val="solid"/>
          </a:ln>
        </p:spPr>
        <p:txBody>
          <a:bodyPr anchor="ctr"/>
          <a:lstStyle/>
          <a:p>
            <a:pPr algn="ctr">
              <a:defRPr sz="1275" b="1">
                <a:solidFill>
                  <a:srgbClr val="FFFFFF"/>
                </a:solidFill>
              </a:defRPr>
            </a:pPr>
            <a:r>
              <a:rPr lang="de-DE" sz="1600" b="1" dirty="0">
                <a:solidFill>
                  <a:srgbClr val="FFFFFF"/>
                </a:solidFill>
              </a:rPr>
              <a:t>Reihenfolge zählt:</a:t>
            </a:r>
            <a:br>
              <a:rPr lang="de-DE" sz="1600" b="1" dirty="0">
                <a:solidFill>
                  <a:srgbClr val="FFFFFF"/>
                </a:solidFill>
              </a:rPr>
            </a:br>
            <a:r>
              <a:rPr lang="de-DE" sz="1600" b="1" dirty="0">
                <a:solidFill>
                  <a:srgbClr val="FFFFFF"/>
                </a:solidFill>
              </a:rPr>
              <a:t>erst Treffer fusionieren, dann Beziehungen ergänzen.</a:t>
            </a:r>
          </a:p>
        </p:txBody>
      </p:sp>
      <p:sp>
        <p:nvSpPr>
          <p:cNvPr id="44" name="page">
            <a:extLst>
              <a:ext uri="{FF2B5EF4-FFF2-40B4-BE49-F238E27FC236}">
                <a16:creationId xmlns:a16="http://schemas.microsoft.com/office/drawing/2014/main" id="{FA5986F7-ED63-474F-8ABE-805440A84E62}"/>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sz="3600" dirty="0"/>
              <a:t>GraphRAG verbindet mehrere Suchsignale</a:t>
            </a:r>
          </a:p>
        </p:txBody>
      </p:sp>
      <p:grpSp>
        <p:nvGrpSpPr>
          <p:cNvPr id="46" name="Gruppieren 45">
            <a:extLst>
              <a:ext uri="{FF2B5EF4-FFF2-40B4-BE49-F238E27FC236}">
                <a16:creationId xmlns:a16="http://schemas.microsoft.com/office/drawing/2014/main" id="{35E6DBF7-F0BC-BD2E-E848-593EE7BCF77D}"/>
              </a:ext>
            </a:extLst>
          </p:cNvPr>
          <p:cNvGrpSpPr/>
          <p:nvPr/>
        </p:nvGrpSpPr>
        <p:grpSpPr>
          <a:xfrm>
            <a:off x="2385000" y="2340000"/>
            <a:ext cx="2700000" cy="1980000"/>
            <a:chOff x="2385000" y="2304664"/>
            <a:chExt cx="2700000" cy="1980000"/>
          </a:xfrm>
        </p:grpSpPr>
        <p:sp>
          <p:nvSpPr>
            <p:cNvPr id="13" name="retrieval-shell">
              <a:extLst>
                <a:ext uri="{FF2B5EF4-FFF2-40B4-BE49-F238E27FC236}">
                  <a16:creationId xmlns:a16="http://schemas.microsoft.com/office/drawing/2014/main" id="{9857F60E-DF60-4A5E-A0C5-581D2A407A1B}"/>
                </a:ext>
              </a:extLst>
            </p:cNvPr>
            <p:cNvSpPr/>
            <p:nvPr/>
          </p:nvSpPr>
          <p:spPr>
            <a:xfrm>
              <a:off x="2385000" y="2304664"/>
              <a:ext cx="2700000" cy="198000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p:nvPr/>
          </p:nvSpPr>
          <p:spPr>
            <a:xfrm>
              <a:off x="2655000" y="2520000"/>
              <a:ext cx="2160000" cy="720000"/>
            </a:xfrm>
            <a:prstGeom prst="roundRect">
              <a:avLst>
                <a:gd name="adj" fmla="val 10667"/>
              </a:avLst>
            </a:prstGeom>
            <a:solidFill>
              <a:srgbClr val="FAEDF0"/>
            </a:solidFill>
            <a:ln w="11430">
              <a:solidFill>
                <a:srgbClr val="D20A32"/>
              </a:solidFill>
              <a:prstDash val="solid"/>
            </a:ln>
          </p:spPr>
          <p:txBody>
            <a:bodyPr anchor="ctr"/>
            <a:lstStyle/>
            <a:p>
              <a:pPr algn="ctr"/>
              <a:r>
                <a:rPr lang="de-CH" sz="1400" b="1" dirty="0">
                  <a:solidFill>
                    <a:srgbClr val="D20A32"/>
                  </a:solidFill>
                </a:rPr>
                <a:t>SEMANTISCH </a:t>
              </a:r>
              <a:br>
                <a:rPr lang="de-CH" sz="1400" b="1" dirty="0">
                  <a:solidFill>
                    <a:srgbClr val="D20A32"/>
                  </a:solidFill>
                </a:rPr>
              </a:br>
              <a:r>
                <a:rPr lang="de-CH" sz="1400" dirty="0">
                  <a:solidFill>
                    <a:srgbClr val="304452"/>
                  </a:solidFill>
                </a:rPr>
                <a:t>ähnliche Bedeutung</a:t>
              </a:r>
            </a:p>
          </p:txBody>
        </p:sp>
        <p:sp>
          <p:nvSpPr>
            <p:cNvPr id="2" name="Rechteck: abgerundete Ecken 1">
              <a:extLst>
                <a:ext uri="{FF2B5EF4-FFF2-40B4-BE49-F238E27FC236}">
                  <a16:creationId xmlns:a16="http://schemas.microsoft.com/office/drawing/2014/main" id="{952F4388-68B4-8A39-FBE9-D6AA017F2C61}"/>
                </a:ext>
              </a:extLst>
            </p:cNvPr>
            <p:cNvSpPr/>
            <p:nvPr/>
          </p:nvSpPr>
          <p:spPr>
            <a:xfrm>
              <a:off x="2655000" y="3349328"/>
              <a:ext cx="2160000" cy="718372"/>
            </a:xfrm>
            <a:prstGeom prst="roundRect">
              <a:avLst/>
            </a:prstGeom>
            <a:solidFill>
              <a:srgbClr val="EAF4F4"/>
            </a:solidFill>
            <a:ln w="11430">
              <a:solidFill>
                <a:srgbClr val="307F87"/>
              </a:solidFill>
              <a:prstDash val="solid"/>
            </a:ln>
          </p:spPr>
          <p:txBody>
            <a:bodyPr anchor="ctr"/>
            <a:lstStyle/>
            <a:p>
              <a:pPr algn="ctr"/>
              <a:r>
                <a:rPr lang="de-CH" sz="1400" b="1" dirty="0">
                  <a:solidFill>
                    <a:srgbClr val="307F87"/>
                  </a:solidFill>
                </a:rPr>
                <a:t>LEXIKALISCH</a:t>
              </a:r>
            </a:p>
            <a:p>
              <a:pPr algn="ctr"/>
              <a:r>
                <a:rPr lang="de-CH" sz="1400" dirty="0">
                  <a:solidFill>
                    <a:schemeClr val="bg2">
                      <a:lumMod val="10000"/>
                    </a:schemeClr>
                  </a:solidFill>
                </a:rPr>
                <a:t>Begriffe, Titel, Artikel</a:t>
              </a:r>
            </a:p>
          </p:txBody>
        </p:sp>
      </p:gr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nodePh="1">
                                  <p:stCondLst>
                                    <p:cond delay="0"/>
                                  </p:stCondLst>
                                  <p:endCondLst>
                                    <p:cond evt="begin" delay="0">
                                      <p:tn val="9"/>
                                    </p:cond>
                                  </p:end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nodePh="1">
                                  <p:stCondLst>
                                    <p:cond delay="0"/>
                                  </p:stCondLst>
                                  <p:endCondLst>
                                    <p:cond evt="begin" delay="0">
                                      <p:tn val="11"/>
                                    </p:cond>
                                  </p:end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5" grpId="0"/>
      <p:bldP spid="19" grpId="0"/>
      <p:bldP spid="20" grpId="0"/>
      <p:bldP spid="21" grpId="0" animBg="1"/>
      <p:bldP spid="23" grpId="0"/>
      <p:bldP spid="24" grpId="0"/>
      <p:bldP spid="25" grpId="0" animBg="1"/>
      <p:bldP spid="36" grpId="0"/>
      <p:bldP spid="37" grpId="0" animBg="1"/>
      <p:bldP spid="39" grpId="0" animBg="1"/>
      <p:bldP spid="4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p:nvPr/>
        </p:nvSpPr>
        <p:spPr>
          <a:xfrm>
            <a:off x="540000" y="126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p:nvPr/>
        </p:nvSpPr>
        <p:spPr>
          <a:xfrm>
            <a:off x="540000" y="324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p:nvPr/>
        </p:nvSpPr>
        <p:spPr>
          <a:xfrm>
            <a:off x="2490937"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p:nvPr/>
        </p:nvSpPr>
        <p:spPr>
          <a:xfrm>
            <a:off x="5128508"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p:nvPr/>
        </p:nvSpPr>
        <p:spPr>
          <a:xfrm>
            <a:off x="1620000" y="28800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p:nvPr/>
        </p:nvSpPr>
        <p:spPr>
          <a:xfrm>
            <a:off x="6840000" y="28800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p:nvPr/>
        </p:nvSpPr>
        <p:spPr>
          <a:xfrm>
            <a:off x="198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p:nvPr/>
        </p:nvSpPr>
        <p:spPr>
          <a:xfrm>
            <a:off x="52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p:nvPr/>
        </p:nvSpPr>
        <p:spPr>
          <a:xfrm>
            <a:off x="720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p:nvPr/>
        </p:nvSpPr>
        <p:spPr>
          <a:xfrm>
            <a:off x="88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p:nvPr/>
        </p:nvSpPr>
        <p:spPr>
          <a:xfrm>
            <a:off x="10260000" y="4320000"/>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p:nvPr/>
        </p:nvSpPr>
        <p:spPr>
          <a:xfrm>
            <a:off x="540000" y="1620000"/>
            <a:ext cx="1800000" cy="1260000"/>
          </a:xfrm>
          <a:prstGeom prst="roundRect">
            <a:avLst>
              <a:gd name="adj" fmla="val 9524"/>
            </a:avLst>
          </a:prstGeom>
          <a:solidFill>
            <a:srgbClr val="EAF4FB"/>
          </a:solidFill>
          <a:ln w="12383">
            <a:solidFill>
              <a:srgbClr val="7D9AB0"/>
            </a:solidFill>
            <a:prstDash val="solid"/>
          </a:ln>
        </p:spPr>
        <p:txBody>
          <a:bodyPr/>
          <a:lstStyle/>
          <a:p>
            <a:pPr algn="ctr"/>
            <a:r>
              <a:rPr lang="de-CH" sz="1400" b="1" dirty="0">
                <a:solidFill>
                  <a:srgbClr val="304452"/>
                </a:solidFill>
              </a:rPr>
              <a:t>CHROMA INDEX</a:t>
            </a:r>
          </a:p>
          <a:p>
            <a:pPr algn="ctr"/>
            <a:r>
              <a:rPr lang="de-CH" sz="1400" b="1" dirty="0">
                <a:solidFill>
                  <a:srgbClr val="438B92"/>
                </a:solidFill>
              </a:rPr>
              <a:t>≋</a:t>
            </a:r>
            <a:endParaRPr lang="de-CH" sz="1400" b="1" dirty="0">
              <a:solidFill>
                <a:srgbClr val="304452"/>
              </a:solidFill>
            </a:endParaRPr>
          </a:p>
          <a:p>
            <a:pPr algn="ctr"/>
            <a:r>
              <a:rPr lang="de-CH" sz="1400" dirty="0">
                <a:solidFill>
                  <a:srgbClr val="304452"/>
                </a:solidFill>
              </a:rPr>
              <a:t>Chunks + </a:t>
            </a:r>
            <a:r>
              <a:rPr lang="de-CH" sz="1400" dirty="0" err="1">
                <a:solidFill>
                  <a:srgbClr val="304452"/>
                </a:solidFill>
              </a:rPr>
              <a:t>Embeddings</a:t>
            </a:r>
            <a:endParaRPr lang="de-CH" sz="1400" b="1" dirty="0">
              <a:solidFill>
                <a:srgbClr val="304452"/>
              </a:solidFill>
            </a:endParaRPr>
          </a:p>
        </p:txBody>
      </p:sp>
      <p:sp>
        <p:nvSpPr>
          <p:cNvPr id="18" name="graph-builder">
            <a:extLst>
              <a:ext uri="{FF2B5EF4-FFF2-40B4-BE49-F238E27FC236}">
                <a16:creationId xmlns:a16="http://schemas.microsoft.com/office/drawing/2014/main" id="{7403451D-2936-47A8-987E-8CB23B3AD79B}"/>
              </a:ext>
            </a:extLst>
          </p:cNvPr>
          <p:cNvSpPr/>
          <p:nvPr/>
        </p:nvSpPr>
        <p:spPr>
          <a:xfrm>
            <a:off x="2880000" y="1620000"/>
            <a:ext cx="2160000" cy="1260000"/>
          </a:xfrm>
          <a:prstGeom prst="roundRect">
            <a:avLst>
              <a:gd name="adj" fmla="val 9524"/>
            </a:avLst>
          </a:prstGeom>
          <a:solidFill>
            <a:srgbClr val="FFF7DE"/>
          </a:solidFill>
          <a:ln w="12383">
            <a:solidFill>
              <a:srgbClr val="D4B873"/>
            </a:solidFill>
            <a:prstDash val="solid"/>
          </a:ln>
        </p:spPr>
        <p:txBody>
          <a:bodyPr/>
          <a:lstStyle/>
          <a:p>
            <a:pPr algn="ctr"/>
            <a:r>
              <a:rPr lang="de-CH" sz="1400" b="1" dirty="0">
                <a:solidFill>
                  <a:srgbClr val="304452"/>
                </a:solidFill>
              </a:rPr>
              <a:t>GRAPH AUFBAU</a:t>
            </a:r>
          </a:p>
          <a:p>
            <a:pPr algn="ctr">
              <a:defRPr sz="1125" b="0">
                <a:solidFill>
                  <a:srgbClr val="304452"/>
                </a:solidFill>
              </a:defRPr>
            </a:pPr>
            <a:r>
              <a:rPr lang="de-CH" sz="1400" dirty="0">
                <a:solidFill>
                  <a:srgbClr val="304452"/>
                </a:solidFill>
              </a:rPr>
              <a:t>Nachbar-Chunks verbinden</a:t>
            </a:r>
          </a:p>
          <a:p>
            <a:pPr algn="ctr">
              <a:defRPr sz="1125" b="0">
                <a:solidFill>
                  <a:srgbClr val="304452"/>
                </a:solidFill>
              </a:defRPr>
            </a:pPr>
            <a:r>
              <a:rPr lang="de-CH" sz="1400" dirty="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p:nvPr/>
        </p:nvSpPr>
        <p:spPr>
          <a:xfrm>
            <a:off x="5450545" y="1624186"/>
            <a:ext cx="2700000" cy="1440000"/>
          </a:xfrm>
          <a:prstGeom prst="roundRect">
            <a:avLst>
              <a:gd name="adj" fmla="val 9524"/>
            </a:avLst>
          </a:prstGeom>
          <a:solidFill>
            <a:srgbClr val="FBF3DF"/>
          </a:solidFill>
          <a:ln w="12383">
            <a:solidFill>
              <a:srgbClr val="D4B873"/>
            </a:solidFill>
            <a:prstDash val="solid"/>
          </a:ln>
        </p:spPr>
        <p:txBody>
          <a:bodyPr/>
          <a:lstStyle/>
          <a:p>
            <a:r>
              <a:rPr lang="de-CH" sz="1400" b="1" dirty="0">
                <a:solidFill>
                  <a:srgbClr val="304452"/>
                </a:solidFill>
              </a:rPr>
              <a:t>RETRIEVAL-GRAPH</a:t>
            </a:r>
          </a:p>
          <a:p>
            <a:endParaRPr lang="de-CH" sz="1400" b="1" dirty="0">
              <a:solidFill>
                <a:srgbClr val="304452"/>
              </a:solidFill>
            </a:endParaRPr>
          </a:p>
          <a:p>
            <a:endParaRPr lang="de-CH" sz="1400" b="1" dirty="0">
              <a:solidFill>
                <a:srgbClr val="304452"/>
              </a:solidFill>
            </a:endParaRPr>
          </a:p>
          <a:p>
            <a:endParaRPr lang="de-CH" sz="1400" b="1" dirty="0">
              <a:solidFill>
                <a:srgbClr val="304452"/>
              </a:solidFill>
            </a:endParaRPr>
          </a:p>
          <a:p>
            <a:endParaRPr lang="de-CH" sz="1400" b="1" dirty="0">
              <a:solidFill>
                <a:srgbClr val="304452"/>
              </a:solidFill>
            </a:endParaRPr>
          </a:p>
          <a:p>
            <a:r>
              <a:rPr lang="de-CH" sz="1400" dirty="0">
                <a:solidFill>
                  <a:srgbClr val="746B5F"/>
                </a:solidFill>
              </a:rPr>
              <a:t>JSON · versioniert</a:t>
            </a:r>
            <a:endParaRPr lang="de-CH" sz="1400" b="1" dirty="0">
              <a:solidFill>
                <a:srgbClr val="304452"/>
              </a:solidFill>
            </a:endParaRPr>
          </a:p>
          <a:p>
            <a:endParaRPr lang="de-DE" sz="1400" dirty="0"/>
          </a:p>
        </p:txBody>
      </p:sp>
      <p:sp>
        <p:nvSpPr>
          <p:cNvPr id="33" name="query">
            <a:extLst>
              <a:ext uri="{FF2B5EF4-FFF2-40B4-BE49-F238E27FC236}">
                <a16:creationId xmlns:a16="http://schemas.microsoft.com/office/drawing/2014/main" id="{89EEF038-DF75-4FD3-8420-37BD6E68EC96}"/>
              </a:ext>
            </a:extLst>
          </p:cNvPr>
          <p:cNvSpPr/>
          <p:nvPr/>
        </p:nvSpPr>
        <p:spPr>
          <a:xfrm>
            <a:off x="540000" y="3780000"/>
            <a:ext cx="1260000" cy="126000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p:nvPr/>
        </p:nvSpPr>
        <p:spPr>
          <a:xfrm>
            <a:off x="720000" y="3960000"/>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p:nvPr/>
        </p:nvSpPr>
        <p:spPr>
          <a:xfrm>
            <a:off x="900000" y="4140000"/>
            <a:ext cx="533400" cy="457200"/>
          </a:xfrm>
          <a:prstGeom prst="rect">
            <a:avLst/>
          </a:prstGeom>
          <a:noFill/>
          <a:ln w="0">
            <a:noFill/>
            <a:prstDash val="solid"/>
          </a:ln>
        </p:spPr>
        <p:txBody>
          <a:bodyPr anchor="ctr"/>
          <a:lstStyle/>
          <a:p>
            <a:pPr algn="ctr">
              <a:defRPr sz="2700" b="1">
                <a:solidFill>
                  <a:srgbClr val="FFFFFF"/>
                </a:solidFill>
              </a:defRPr>
            </a:pPr>
            <a:r>
              <a:rPr lang="de-CH" sz="2700" b="1" dirty="0">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p:nvPr/>
        </p:nvSpPr>
        <p:spPr>
          <a:xfrm>
            <a:off x="720000" y="4680000"/>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p:nvPr/>
        </p:nvSpPr>
        <p:spPr>
          <a:xfrm>
            <a:off x="2340000" y="3600000"/>
            <a:ext cx="2880000" cy="162000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p:nvPr/>
        </p:nvSpPr>
        <p:spPr>
          <a:xfrm>
            <a:off x="2520000" y="378000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p:nvPr/>
        </p:nvSpPr>
        <p:spPr>
          <a:xfrm>
            <a:off x="2520000" y="4140000"/>
            <a:ext cx="1260000" cy="9000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p:nvPr/>
        </p:nvSpPr>
        <p:spPr>
          <a:xfrm>
            <a:off x="2520000" y="4140000"/>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p:nvPr/>
        </p:nvSpPr>
        <p:spPr>
          <a:xfrm>
            <a:off x="2520000" y="432000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p:nvPr/>
        </p:nvSpPr>
        <p:spPr>
          <a:xfrm>
            <a:off x="3780000" y="4140000"/>
            <a:ext cx="1260000" cy="9000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p:nvPr/>
        </p:nvSpPr>
        <p:spPr>
          <a:xfrm>
            <a:off x="3780000" y="4140000"/>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p:nvPr/>
        </p:nvSpPr>
        <p:spPr>
          <a:xfrm>
            <a:off x="3780000" y="432000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p:nvPr/>
        </p:nvSpPr>
        <p:spPr>
          <a:xfrm>
            <a:off x="5580000" y="3780000"/>
            <a:ext cx="1440000" cy="126000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p:nvPr/>
        </p:nvSpPr>
        <p:spPr>
          <a:xfrm>
            <a:off x="5760000" y="3960000"/>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p:nvPr/>
        </p:nvSpPr>
        <p:spPr>
          <a:xfrm>
            <a:off x="5760000" y="450000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p:nvPr/>
        </p:nvSpPr>
        <p:spPr>
          <a:xfrm>
            <a:off x="7560000" y="3780000"/>
            <a:ext cx="1080000" cy="126000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p:nvPr/>
        </p:nvSpPr>
        <p:spPr>
          <a:xfrm>
            <a:off x="7560000" y="3960000"/>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p:nvPr/>
        </p:nvSpPr>
        <p:spPr>
          <a:xfrm>
            <a:off x="7740000" y="4140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p:nvPr/>
        </p:nvSpPr>
        <p:spPr>
          <a:xfrm>
            <a:off x="7560000" y="4680000"/>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p:nvPr/>
        </p:nvSpPr>
        <p:spPr>
          <a:xfrm>
            <a:off x="9000000" y="3780000"/>
            <a:ext cx="1080000" cy="126000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p:nvPr/>
        </p:nvSpPr>
        <p:spPr>
          <a:xfrm>
            <a:off x="9180000" y="3960000"/>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p:nvPr/>
        </p:nvSpPr>
        <p:spPr>
          <a:xfrm>
            <a:off x="9180000" y="4320000"/>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p:nvPr/>
        </p:nvSpPr>
        <p:spPr>
          <a:xfrm>
            <a:off x="9180000" y="4680000"/>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p:nvPr/>
        </p:nvSpPr>
        <p:spPr>
          <a:xfrm>
            <a:off x="10620000" y="3780000"/>
            <a:ext cx="1080000" cy="126000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p:nvPr/>
        </p:nvSpPr>
        <p:spPr>
          <a:xfrm>
            <a:off x="10620000" y="3960000"/>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p:nvPr/>
        </p:nvSpPr>
        <p:spPr>
          <a:xfrm>
            <a:off x="10800000" y="4140000"/>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p:nvPr/>
        </p:nvSpPr>
        <p:spPr>
          <a:xfrm>
            <a:off x="10620000" y="4680000"/>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p:nvPr/>
        </p:nvSpPr>
        <p:spPr>
          <a:xfrm>
            <a:off x="2160000" y="5400000"/>
            <a:ext cx="7920000" cy="54000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p:nvPr/>
        </p:nvSpPr>
        <p:spPr>
          <a:xfrm>
            <a:off x="2340000" y="5580000"/>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3" name="Titel 1"/>
          <p:cNvSpPr>
            <a:spLocks noGrp="1"/>
          </p:cNvSpPr>
          <p:nvPr>
            <p:ph type="title"/>
          </p:nvPr>
        </p:nvSpPr>
        <p:spPr>
          <a:xfrm>
            <a:off x="482461" y="346633"/>
            <a:ext cx="11230114" cy="767605"/>
          </a:xfrm>
        </p:spPr>
        <p:txBody>
          <a:bodyPr/>
          <a:lstStyle/>
          <a:p>
            <a:r>
              <a:rPr lang="de-CH" sz="3600" dirty="0"/>
              <a:t>Hybrider GraphRAG verbindet mehrere Suchsignale</a:t>
            </a:r>
          </a:p>
        </p:txBody>
      </p:sp>
      <p:grpSp>
        <p:nvGrpSpPr>
          <p:cNvPr id="2" name="Gruppieren 1">
            <a:extLst>
              <a:ext uri="{FF2B5EF4-FFF2-40B4-BE49-F238E27FC236}">
                <a16:creationId xmlns:a16="http://schemas.microsoft.com/office/drawing/2014/main" id="{72E379B3-099D-9B7B-DCB0-D4063D4FAAD2}"/>
              </a:ext>
            </a:extLst>
          </p:cNvPr>
          <p:cNvGrpSpPr/>
          <p:nvPr/>
        </p:nvGrpSpPr>
        <p:grpSpPr>
          <a:xfrm>
            <a:off x="6628695" y="1708805"/>
            <a:ext cx="1485000" cy="1305000"/>
            <a:chOff x="7380000" y="2520000"/>
            <a:chExt cx="1485000" cy="1305000"/>
          </a:xfrm>
        </p:grpSpPr>
        <p:sp>
          <p:nvSpPr>
            <p:cNvPr id="128" name="edge-a">
              <a:extLst>
                <a:ext uri="{FF2B5EF4-FFF2-40B4-BE49-F238E27FC236}">
                  <a16:creationId xmlns:a16="http://schemas.microsoft.com/office/drawing/2014/main" id="{B41D3A01-C151-E634-F0C1-BCD5F55A484D}"/>
                </a:ext>
              </a:extLst>
            </p:cNvPr>
            <p:cNvSpPr/>
            <p:nvPr/>
          </p:nvSpPr>
          <p:spPr>
            <a:xfrm flipV="1">
              <a:off x="7659150" y="2830425"/>
              <a:ext cx="710850" cy="316275"/>
            </a:xfrm>
            <a:prstGeom prst="line">
              <a:avLst/>
            </a:prstGeom>
            <a:noFill/>
            <a:ln w="19050">
              <a:solidFill>
                <a:srgbClr val="304452"/>
              </a:solidFill>
              <a:prstDash val="solid"/>
            </a:ln>
          </p:spPr>
          <p:txBody>
            <a:bodyPr/>
            <a:lstStyle/>
            <a:p>
              <a:endParaRPr lang="de-CH"/>
            </a:p>
          </p:txBody>
        </p:sp>
        <p:sp>
          <p:nvSpPr>
            <p:cNvPr id="129" name="edge-b">
              <a:extLst>
                <a:ext uri="{FF2B5EF4-FFF2-40B4-BE49-F238E27FC236}">
                  <a16:creationId xmlns:a16="http://schemas.microsoft.com/office/drawing/2014/main" id="{762CB202-B4CA-9A1F-9F2F-27B9832D52C1}"/>
                </a:ext>
              </a:extLst>
            </p:cNvPr>
            <p:cNvSpPr/>
            <p:nvPr/>
          </p:nvSpPr>
          <p:spPr>
            <a:xfrm>
              <a:off x="7659150" y="3146700"/>
              <a:ext cx="917100" cy="366600"/>
            </a:xfrm>
            <a:prstGeom prst="line">
              <a:avLst/>
            </a:prstGeom>
            <a:noFill/>
            <a:ln w="19050">
              <a:solidFill>
                <a:srgbClr val="304452"/>
              </a:solidFill>
              <a:prstDash val="solid"/>
            </a:ln>
          </p:spPr>
          <p:txBody>
            <a:bodyPr/>
            <a:lstStyle/>
            <a:p>
              <a:endParaRPr lang="de-CH"/>
            </a:p>
          </p:txBody>
        </p:sp>
        <p:sp>
          <p:nvSpPr>
            <p:cNvPr id="130" name="edge-c">
              <a:extLst>
                <a:ext uri="{FF2B5EF4-FFF2-40B4-BE49-F238E27FC236}">
                  <a16:creationId xmlns:a16="http://schemas.microsoft.com/office/drawing/2014/main" id="{9B302D92-15BE-E306-2286-6E957EDC9401}"/>
                </a:ext>
              </a:extLst>
            </p:cNvPr>
            <p:cNvSpPr/>
            <p:nvPr/>
          </p:nvSpPr>
          <p:spPr>
            <a:xfrm>
              <a:off x="8393100" y="2830424"/>
              <a:ext cx="183150" cy="675541"/>
            </a:xfrm>
            <a:prstGeom prst="line">
              <a:avLst/>
            </a:prstGeom>
            <a:noFill/>
            <a:ln w="19050">
              <a:solidFill>
                <a:srgbClr val="304452"/>
              </a:solidFill>
              <a:prstDash val="solid"/>
            </a:ln>
          </p:spPr>
          <p:txBody>
            <a:bodyPr/>
            <a:lstStyle/>
            <a:p>
              <a:endParaRPr lang="de-CH"/>
            </a:p>
          </p:txBody>
        </p:sp>
        <p:sp>
          <p:nvSpPr>
            <p:cNvPr id="131" name="node-main">
              <a:extLst>
                <a:ext uri="{FF2B5EF4-FFF2-40B4-BE49-F238E27FC236}">
                  <a16:creationId xmlns:a16="http://schemas.microsoft.com/office/drawing/2014/main" id="{000D9B39-3D89-B7AD-01A5-BC4F06430B07}"/>
                </a:ext>
              </a:extLst>
            </p:cNvPr>
            <p:cNvSpPr/>
            <p:nvPr/>
          </p:nvSpPr>
          <p:spPr>
            <a:xfrm>
              <a:off x="7380000" y="2880000"/>
              <a:ext cx="630000" cy="630000"/>
            </a:xfrm>
            <a:prstGeom prst="ellipse">
              <a:avLst/>
            </a:prstGeom>
            <a:solidFill>
              <a:srgbClr val="D49400"/>
            </a:solidFill>
            <a:ln w="19050">
              <a:solidFill>
                <a:srgbClr val="FFFFFF"/>
              </a:solidFill>
              <a:prstDash val="solid"/>
            </a:ln>
          </p:spPr>
          <p:txBody>
            <a:bodyPr lIns="0" tIns="0" rIns="0" bIns="0" anchor="ctr" anchorCtr="1"/>
            <a:lstStyle/>
            <a:p>
              <a:r>
                <a:rPr lang="de-CH" sz="900" b="1" dirty="0">
                  <a:solidFill>
                    <a:srgbClr val="FFFFFF"/>
                  </a:solidFill>
                </a:rPr>
                <a:t>Art. 1</a:t>
              </a:r>
            </a:p>
          </p:txBody>
        </p:sp>
        <p:sp>
          <p:nvSpPr>
            <p:cNvPr id="132" name="node-neighbor-1">
              <a:extLst>
                <a:ext uri="{FF2B5EF4-FFF2-40B4-BE49-F238E27FC236}">
                  <a16:creationId xmlns:a16="http://schemas.microsoft.com/office/drawing/2014/main" id="{E644E788-3E58-72C2-36D3-EDE36F5D71AA}"/>
                </a:ext>
              </a:extLst>
            </p:cNvPr>
            <p:cNvSpPr/>
            <p:nvPr/>
          </p:nvSpPr>
          <p:spPr>
            <a:xfrm>
              <a:off x="8100000" y="2520000"/>
              <a:ext cx="630000" cy="630000"/>
            </a:xfrm>
            <a:prstGeom prst="ellipse">
              <a:avLst/>
            </a:prstGeom>
            <a:solidFill>
              <a:srgbClr val="307F87"/>
            </a:solidFill>
            <a:ln w="19050">
              <a:solidFill>
                <a:srgbClr val="FFFFFF"/>
              </a:solidFill>
              <a:prstDash val="solid"/>
            </a:ln>
          </p:spPr>
          <p:txBody>
            <a:bodyPr lIns="0" tIns="0" rIns="0" bIns="0" anchor="ctr" anchorCtr="1"/>
            <a:lstStyle/>
            <a:p>
              <a:r>
                <a:rPr lang="de-CH" sz="900" b="1" dirty="0">
                  <a:solidFill>
                    <a:srgbClr val="FFFFFF"/>
                  </a:solidFill>
                </a:rPr>
                <a:t>Begriff</a:t>
              </a:r>
              <a:endParaRPr lang="de-CH" sz="900" dirty="0"/>
            </a:p>
          </p:txBody>
        </p:sp>
        <p:sp>
          <p:nvSpPr>
            <p:cNvPr id="134" name="node-neighbor-2">
              <a:extLst>
                <a:ext uri="{FF2B5EF4-FFF2-40B4-BE49-F238E27FC236}">
                  <a16:creationId xmlns:a16="http://schemas.microsoft.com/office/drawing/2014/main" id="{E7FC3BA0-6B77-6D06-6B12-1D0D63C35738}"/>
                </a:ext>
              </a:extLst>
            </p:cNvPr>
            <p:cNvSpPr/>
            <p:nvPr/>
          </p:nvSpPr>
          <p:spPr>
            <a:xfrm>
              <a:off x="8235000" y="3195000"/>
              <a:ext cx="630000" cy="630000"/>
            </a:xfrm>
            <a:prstGeom prst="ellipse">
              <a:avLst/>
            </a:prstGeom>
            <a:solidFill>
              <a:srgbClr val="8A7D66"/>
            </a:solidFill>
            <a:ln w="19050">
              <a:solidFill>
                <a:srgbClr val="FFFFFF"/>
              </a:solidFill>
              <a:prstDash val="solid"/>
            </a:ln>
          </p:spPr>
          <p:txBody>
            <a:bodyPr lIns="0" tIns="0" rIns="0" bIns="0" anchor="ctr" anchorCtr="1"/>
            <a:lstStyle/>
            <a:p>
              <a:r>
                <a:rPr lang="de-CH" sz="900" b="1" dirty="0">
                  <a:solidFill>
                    <a:srgbClr val="FFFFFF"/>
                  </a:solidFill>
                </a:rPr>
                <a:t>Verweis</a:t>
              </a:r>
              <a:endParaRPr lang="de-CH" sz="900" dirty="0"/>
            </a:p>
          </p:txBody>
        </p:sp>
      </p:grpSp>
    </p:spTree>
    <p:extLst>
      <p:ext uri="{BB962C8B-B14F-4D97-AF65-F5344CB8AC3E}">
        <p14:creationId xmlns:p14="http://schemas.microsoft.com/office/powerpoint/2010/main" val="10800522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a:t>Hybrider GraphRAG verbindet mehrere Suchsignale</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10.08.2026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21</a:t>
            </a:fld>
            <a:endParaRPr lang="de-CH" dirty="0"/>
          </a:p>
        </p:txBody>
      </p:sp>
      <p:grpSp>
        <p:nvGrpSpPr>
          <p:cNvPr id="100" name="Gruppe Chroma Index"/>
          <p:cNvGrpSpPr/>
          <p:nvPr/>
        </p:nvGrpSpPr>
        <p:grpSpPr>
          <a:xfrm>
            <a:off x="360000" y="1620000"/>
            <a:ext cx="1440000" cy="867600"/>
            <a:chOff x="5005715" y="2776165"/>
            <a:chExt cx="1440000" cy="867600"/>
          </a:xfrm>
        </p:grpSpPr>
        <p:sp>
          <p:nvSpPr>
            <p:cNvPr id="101"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Chroma Index</a:t>
              </a:r>
              <a:endParaRPr sz="900" b="1" dirty="0">
                <a:solidFill>
                  <a:schemeClr val="bg2">
                    <a:lumMod val="10000"/>
                  </a:schemeClr>
                </a:solidFill>
              </a:endParaRPr>
            </a:p>
          </p:txBody>
        </p:sp>
        <p:pic>
          <p:nvPicPr>
            <p:cNvPr id="102"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715" y="3120245"/>
              <a:ext cx="468000" cy="468000"/>
            </a:xfrm>
            <a:prstGeom prst="rect">
              <a:avLst/>
            </a:prstGeom>
          </p:spPr>
        </p:pic>
        <p:sp>
          <p:nvSpPr>
            <p:cNvPr id="103"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4" name="Info Chroma Index"/>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 Embeddings</a:t>
              </a:r>
            </a:p>
          </p:txBody>
        </p:sp>
      </p:grpSp>
      <p:grpSp>
        <p:nvGrpSpPr>
          <p:cNvPr id="105" name="Gruppe Graph Aufbau">
            <a:extLst>
              <a:ext uri="{FF2B5EF4-FFF2-40B4-BE49-F238E27FC236}">
                <a16:creationId xmlns:a16="http://schemas.microsoft.com/office/drawing/2014/main" id="{D25D0927-7500-9C4D-B2AC-C86A40E321DD}"/>
              </a:ext>
            </a:extLst>
          </p:cNvPr>
          <p:cNvGrpSpPr/>
          <p:nvPr/>
        </p:nvGrpSpPr>
        <p:grpSpPr>
          <a:xfrm>
            <a:off x="2340000" y="1620000"/>
            <a:ext cx="1440000" cy="867600"/>
            <a:chOff x="2783916" y="1570799"/>
            <a:chExt cx="1440000" cy="867600"/>
          </a:xfrm>
        </p:grpSpPr>
        <p:sp>
          <p:nvSpPr>
            <p:cNvPr id="106"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Aufbau</a:t>
              </a:r>
              <a:endParaRPr sz="900" b="1" dirty="0">
                <a:solidFill>
                  <a:schemeClr val="bg2">
                    <a:lumMod val="10000"/>
                  </a:schemeClr>
                </a:solidFill>
              </a:endParaRPr>
            </a:p>
          </p:txBody>
        </p:sp>
        <p:pic>
          <p:nvPicPr>
            <p:cNvPr id="107"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08"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9" name="Info Graph Aufbau"/>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Nachbar-Chunks + Artikelverweise</a:t>
              </a:r>
            </a:p>
          </p:txBody>
        </p:sp>
      </p:grpSp>
      <p:grpSp>
        <p:nvGrpSpPr>
          <p:cNvPr id="110" name="Gruppe Retrieval-Graph">
            <a:extLst>
              <a:ext uri="{FF2B5EF4-FFF2-40B4-BE49-F238E27FC236}">
                <a16:creationId xmlns:a16="http://schemas.microsoft.com/office/drawing/2014/main" id="{BFB423DB-992A-5876-26AC-811D2AA99C40}"/>
              </a:ext>
            </a:extLst>
          </p:cNvPr>
          <p:cNvGrpSpPr/>
          <p:nvPr/>
        </p:nvGrpSpPr>
        <p:grpSpPr>
          <a:xfrm>
            <a:off x="4320000" y="1620000"/>
            <a:ext cx="1440000" cy="867600"/>
            <a:chOff x="5005715" y="2776165"/>
            <a:chExt cx="1440000" cy="867600"/>
          </a:xfrm>
        </p:grpSpPr>
        <p:sp>
          <p:nvSpPr>
            <p:cNvPr id="111"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Retrieval-Graph</a:t>
              </a:r>
              <a:endParaRPr sz="900" b="1" dirty="0">
                <a:solidFill>
                  <a:schemeClr val="bg2">
                    <a:lumMod val="10000"/>
                  </a:schemeClr>
                </a:solidFill>
              </a:endParaRPr>
            </a:p>
          </p:txBody>
        </p:sp>
        <p:pic>
          <p:nvPicPr>
            <p:cNvPr id="112"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15" y="3120245"/>
              <a:ext cx="468000" cy="468000"/>
            </a:xfrm>
            <a:prstGeom prst="rect">
              <a:avLst/>
            </a:prstGeom>
          </p:spPr>
        </p:pic>
        <p:sp>
          <p:nvSpPr>
            <p:cNvPr id="113"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4" name="Info Retrieval-Graph"/>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JSON, versioniert</a:t>
              </a:r>
            </a:p>
          </p:txBody>
        </p:sp>
      </p:grpSp>
      <p:grpSp>
        <p:nvGrpSpPr>
          <p:cNvPr id="115" name="Gruppe Frage"/>
          <p:cNvGrpSpPr/>
          <p:nvPr/>
        </p:nvGrpSpPr>
        <p:grpSpPr>
          <a:xfrm>
            <a:off x="360000" y="3780000"/>
            <a:ext cx="1440000" cy="867600"/>
            <a:chOff x="10196840" y="1570799"/>
            <a:chExt cx="1440000" cy="867600"/>
          </a:xfrm>
        </p:grpSpPr>
        <p:sp>
          <p:nvSpPr>
            <p:cNvPr id="116"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Frage</a:t>
              </a:r>
              <a:endParaRPr sz="900" b="1" dirty="0">
                <a:solidFill>
                  <a:schemeClr val="bg2">
                    <a:lumMod val="10000"/>
                  </a:schemeClr>
                </a:solidFill>
              </a:endParaRPr>
            </a:p>
          </p:txBody>
        </p:sp>
        <p:pic>
          <p:nvPicPr>
            <p:cNvPr id="117"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286840" y="1914879"/>
              <a:ext cx="468000" cy="468000"/>
            </a:xfrm>
            <a:prstGeom prst="rect">
              <a:avLst/>
            </a:prstGeom>
          </p:spPr>
        </p:pic>
        <p:sp>
          <p:nvSpPr>
            <p:cNvPr id="118"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9" name="Info Frage"/>
            <p:cNvSpPr/>
            <p:nvPr/>
          </p:nvSpPr>
          <p:spPr>
            <a:xfrm>
              <a:off x="10790840"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z. B. Probezeit</a:t>
              </a:r>
            </a:p>
          </p:txBody>
        </p:sp>
      </p:grpSp>
      <p:grpSp>
        <p:nvGrpSpPr>
          <p:cNvPr id="120" name="Gruppe Semantik">
            <a:extLst>
              <a:ext uri="{FF2B5EF4-FFF2-40B4-BE49-F238E27FC236}">
                <a16:creationId xmlns:a16="http://schemas.microsoft.com/office/drawing/2014/main" id="{62657446-9BFF-60C0-3E07-97265A6E0278}"/>
              </a:ext>
            </a:extLst>
          </p:cNvPr>
          <p:cNvGrpSpPr/>
          <p:nvPr/>
        </p:nvGrpSpPr>
        <p:grpSpPr>
          <a:xfrm>
            <a:off x="2340000" y="2880000"/>
            <a:ext cx="1440000" cy="867600"/>
            <a:chOff x="2783916" y="1570799"/>
            <a:chExt cx="1440000" cy="867600"/>
          </a:xfrm>
        </p:grpSpPr>
        <p:sp>
          <p:nvSpPr>
            <p:cNvPr id="12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Semantik</a:t>
              </a:r>
              <a:endParaRPr sz="900" b="1" dirty="0">
                <a:solidFill>
                  <a:schemeClr val="bg2">
                    <a:lumMod val="10000"/>
                  </a:schemeClr>
                </a:solidFill>
              </a:endParaRPr>
            </a:p>
          </p:txBody>
        </p:sp>
        <p:pic>
          <p:nvPicPr>
            <p:cNvPr id="122"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73916" y="1914879"/>
              <a:ext cx="468000" cy="468000"/>
            </a:xfrm>
            <a:prstGeom prst="rect">
              <a:avLst/>
            </a:prstGeom>
          </p:spPr>
        </p:pic>
        <p:sp>
          <p:nvSpPr>
            <p:cNvPr id="123"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4" name="Info Semantik"/>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3 Vektor-Treffer</a:t>
              </a:r>
            </a:p>
          </p:txBody>
        </p:sp>
      </p:grpSp>
      <p:grpSp>
        <p:nvGrpSpPr>
          <p:cNvPr id="125" name="Gruppe Lexik + Zitat">
            <a:extLst>
              <a:ext uri="{FF2B5EF4-FFF2-40B4-BE49-F238E27FC236}">
                <a16:creationId xmlns:a16="http://schemas.microsoft.com/office/drawing/2014/main" id="{62657446-9BFF-60C0-3E07-97265A6E0278}"/>
              </a:ext>
            </a:extLst>
          </p:cNvPr>
          <p:cNvGrpSpPr/>
          <p:nvPr/>
        </p:nvGrpSpPr>
        <p:grpSpPr>
          <a:xfrm>
            <a:off x="2340000" y="4680000"/>
            <a:ext cx="1440000" cy="867600"/>
            <a:chOff x="2783916" y="1570799"/>
            <a:chExt cx="1440000" cy="867600"/>
          </a:xfrm>
        </p:grpSpPr>
        <p:sp>
          <p:nvSpPr>
            <p:cNvPr id="126"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Lexik + Zitat</a:t>
              </a:r>
              <a:endParaRPr sz="900" b="1" dirty="0">
                <a:solidFill>
                  <a:schemeClr val="bg2">
                    <a:lumMod val="10000"/>
                  </a:schemeClr>
                </a:solidFill>
              </a:endParaRPr>
            </a:p>
          </p:txBody>
        </p:sp>
        <p:pic>
          <p:nvPicPr>
            <p:cNvPr id="12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873916" y="1914879"/>
              <a:ext cx="468000" cy="468000"/>
            </a:xfrm>
            <a:prstGeom prst="rect">
              <a:avLst/>
            </a:prstGeom>
          </p:spPr>
        </p:pic>
        <p:sp>
          <p:nvSpPr>
            <p:cNvPr id="12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9" name="Info Lexik + Zitat"/>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2 Artikel-Matches</a:t>
              </a:r>
            </a:p>
          </p:txBody>
        </p:sp>
      </p:grpSp>
      <p:grpSp>
        <p:nvGrpSpPr>
          <p:cNvPr id="130" name="Gruppe Graph erweitern">
            <a:extLst>
              <a:ext uri="{FF2B5EF4-FFF2-40B4-BE49-F238E27FC236}">
                <a16:creationId xmlns:a16="http://schemas.microsoft.com/office/drawing/2014/main" id="{D25D0927-7500-9C4D-B2AC-C86A40E321DD}"/>
              </a:ext>
            </a:extLst>
          </p:cNvPr>
          <p:cNvGrpSpPr/>
          <p:nvPr/>
        </p:nvGrpSpPr>
        <p:grpSpPr>
          <a:xfrm>
            <a:off x="4320000" y="3780000"/>
            <a:ext cx="1440000" cy="867600"/>
            <a:chOff x="2783916" y="1570799"/>
            <a:chExt cx="1440000" cy="867600"/>
          </a:xfrm>
        </p:grpSpPr>
        <p:sp>
          <p:nvSpPr>
            <p:cNvPr id="131"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erweitern</a:t>
              </a:r>
              <a:endParaRPr sz="900" b="1" dirty="0">
                <a:solidFill>
                  <a:schemeClr val="bg2">
                    <a:lumMod val="10000"/>
                  </a:schemeClr>
                </a:solidFill>
              </a:endParaRPr>
            </a:p>
          </p:txBody>
        </p:sp>
        <p:pic>
          <p:nvPicPr>
            <p:cNvPr id="132"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33"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4" name="Info Graph erweitern"/>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Nachbarn + Referenzziele</a:t>
              </a:r>
            </a:p>
          </p:txBody>
        </p:sp>
      </p:grpSp>
      <p:grpSp>
        <p:nvGrpSpPr>
          <p:cNvPr id="135" name="Gruppe Kontext ≤ 6"/>
          <p:cNvGrpSpPr/>
          <p:nvPr/>
        </p:nvGrpSpPr>
        <p:grpSpPr>
          <a:xfrm>
            <a:off x="6300000" y="3780000"/>
            <a:ext cx="1440000" cy="867600"/>
            <a:chOff x="5005715" y="5161353"/>
            <a:chExt cx="1440000" cy="867600"/>
          </a:xfrm>
        </p:grpSpPr>
        <p:sp>
          <p:nvSpPr>
            <p:cNvPr id="136"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Kontext ≤ 6</a:t>
              </a:r>
              <a:endParaRPr sz="900" b="1" dirty="0">
                <a:solidFill>
                  <a:schemeClr val="bg2">
                    <a:lumMod val="10000"/>
                  </a:schemeClr>
                </a:solidFill>
              </a:endParaRPr>
            </a:p>
          </p:txBody>
        </p:sp>
        <p:pic>
          <p:nvPicPr>
            <p:cNvPr id="137"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5715" y="5505433"/>
              <a:ext cx="468000" cy="468000"/>
            </a:xfrm>
            <a:prstGeom prst="rect">
              <a:avLst/>
            </a:prstGeom>
          </p:spPr>
        </p:pic>
        <p:sp>
          <p:nvSpPr>
            <p:cNvPr id="138"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9" name="Info Kontext ≤ 6"/>
            <p:cNvSpPr/>
            <p:nvPr/>
          </p:nvSpPr>
          <p:spPr>
            <a:xfrm>
              <a:off x="5599715"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mit Quelle</a:t>
              </a:r>
            </a:p>
          </p:txBody>
        </p:sp>
      </p:grpSp>
      <p:grpSp>
        <p:nvGrpSpPr>
          <p:cNvPr id="140" name="Gruppe LLM">
            <a:extLst>
              <a:ext uri="{FF2B5EF4-FFF2-40B4-BE49-F238E27FC236}">
                <a16:creationId xmlns:a16="http://schemas.microsoft.com/office/drawing/2014/main" id="{CC8957DA-7EEF-07E6-4817-4A1CAB29C56A}"/>
              </a:ext>
            </a:extLst>
          </p:cNvPr>
          <p:cNvGrpSpPr/>
          <p:nvPr/>
        </p:nvGrpSpPr>
        <p:grpSpPr>
          <a:xfrm>
            <a:off x="8280000" y="3780000"/>
            <a:ext cx="1440000" cy="867600"/>
            <a:chOff x="8006090" y="5161353"/>
            <a:chExt cx="1440000" cy="867600"/>
          </a:xfrm>
        </p:grpSpPr>
        <p:sp>
          <p:nvSpPr>
            <p:cNvPr id="141"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42"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096090" y="5505433"/>
              <a:ext cx="468000" cy="468000"/>
            </a:xfrm>
            <a:prstGeom prst="rect">
              <a:avLst/>
            </a:prstGeom>
          </p:spPr>
        </p:pic>
        <p:sp>
          <p:nvSpPr>
            <p:cNvPr id="143"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4" name="Info LLM"/>
            <p:cNvSpPr/>
            <p:nvPr/>
          </p:nvSpPr>
          <p:spPr>
            <a:xfrm>
              <a:off x="860009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llama3.2, nur aus dem Kontext</a:t>
              </a:r>
            </a:p>
          </p:txBody>
        </p:sp>
      </p:grpSp>
      <p:grpSp>
        <p:nvGrpSpPr>
          <p:cNvPr id="145" name="Gruppe Antwort"/>
          <p:cNvGrpSpPr/>
          <p:nvPr/>
        </p:nvGrpSpPr>
        <p:grpSpPr>
          <a:xfrm>
            <a:off x="10260000" y="3780000"/>
            <a:ext cx="1440000" cy="867600"/>
            <a:chOff x="10196840" y="5161353"/>
            <a:chExt cx="1440000" cy="867600"/>
          </a:xfrm>
        </p:grpSpPr>
        <p:sp>
          <p:nvSpPr>
            <p:cNvPr id="146"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Antwort</a:t>
              </a:r>
              <a:endParaRPr sz="900" b="1" dirty="0">
                <a:solidFill>
                  <a:schemeClr val="bg2">
                    <a:lumMod val="10000"/>
                  </a:schemeClr>
                </a:solidFill>
              </a:endParaRPr>
            </a:p>
          </p:txBody>
        </p:sp>
        <p:pic>
          <p:nvPicPr>
            <p:cNvPr id="147"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286840" y="5505433"/>
              <a:ext cx="468000" cy="468000"/>
            </a:xfrm>
            <a:prstGeom prst="rect">
              <a:avLst/>
            </a:prstGeom>
          </p:spPr>
        </p:pic>
        <p:sp>
          <p:nvSpPr>
            <p:cNvPr id="148"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9" name="Info Antwort"/>
            <p:cNvSpPr/>
            <p:nvPr/>
          </p:nvSpPr>
          <p:spPr>
            <a:xfrm>
              <a:off x="1079084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mit Gesetz und Artikel</a:t>
              </a:r>
            </a:p>
          </p:txBody>
        </p:sp>
      </p:grpSp>
      <p:cxnSp>
        <p:nvCxnSpPr>
          <p:cNvPr id="150" name="Pfeil chroma-aufbau">
            <a:extLst>
              <a:ext uri="{FF2B5EF4-FFF2-40B4-BE49-F238E27FC236}">
                <a16:creationId xmlns:a16="http://schemas.microsoft.com/office/drawing/2014/main" id="{0BDDCE84-4016-2B9D-139E-B6028861F673}"/>
              </a:ext>
            </a:extLst>
          </p:cNvPr>
          <p:cNvCxnSpPr>
            <a:cxnSpLocks/>
            <a:stCxn id="101" idx="3"/>
            <a:endCxn id="106" idx="1"/>
          </p:cNvCxnSpPr>
          <p:nvPr/>
        </p:nvCxnSpPr>
        <p:spPr>
          <a:xfrm>
            <a:off x="180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1" name="Pfeil aufbau-rgraph">
            <a:extLst>
              <a:ext uri="{FF2B5EF4-FFF2-40B4-BE49-F238E27FC236}">
                <a16:creationId xmlns:a16="http://schemas.microsoft.com/office/drawing/2014/main" id="{0BDDCE84-4016-2B9D-139E-B6028861F673}"/>
              </a:ext>
            </a:extLst>
          </p:cNvPr>
          <p:cNvCxnSpPr>
            <a:cxnSpLocks/>
            <a:stCxn id="106" idx="3"/>
            <a:endCxn id="111" idx="1"/>
          </p:cNvCxnSpPr>
          <p:nvPr/>
        </p:nvCxnSpPr>
        <p:spPr>
          <a:xfrm>
            <a:off x="378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2" name="Pfeil rgraph-erweitern">
            <a:extLst>
              <a:ext uri="{FF2B5EF4-FFF2-40B4-BE49-F238E27FC236}">
                <a16:creationId xmlns:a16="http://schemas.microsoft.com/office/drawing/2014/main" id="{0BDDCE84-4016-2B9D-139E-B6028861F673}"/>
              </a:ext>
            </a:extLst>
          </p:cNvPr>
          <p:cNvCxnSpPr>
            <a:cxnSpLocks/>
            <a:stCxn id="111" idx="2"/>
            <a:endCxn id="131" idx="0"/>
          </p:cNvCxnSpPr>
          <p:nvPr/>
        </p:nvCxnSpPr>
        <p:spPr>
          <a:xfrm>
            <a:off x="5040000" y="2487600"/>
            <a:ext cx="0" cy="12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3" name="Pfeil chroma-semantik">
            <a:extLst>
              <a:ext uri="{FF2B5EF4-FFF2-40B4-BE49-F238E27FC236}">
                <a16:creationId xmlns:a16="http://schemas.microsoft.com/office/drawing/2014/main" id="{0BDDCE84-4016-2B9D-139E-B6028861F673}"/>
              </a:ext>
            </a:extLst>
          </p:cNvPr>
          <p:cNvCxnSpPr>
            <a:cxnSpLocks/>
            <a:stCxn id="101" idx="3"/>
            <a:endCxn id="121" idx="1"/>
          </p:cNvCxnSpPr>
          <p:nvPr/>
        </p:nvCxnSpPr>
        <p:spPr>
          <a:xfrm>
            <a:off x="1800000" y="2053800"/>
            <a:ext cx="540000" cy="126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4" name="Pfeil frage-semantik">
            <a:extLst>
              <a:ext uri="{FF2B5EF4-FFF2-40B4-BE49-F238E27FC236}">
                <a16:creationId xmlns:a16="http://schemas.microsoft.com/office/drawing/2014/main" id="{0BDDCE84-4016-2B9D-139E-B6028861F673}"/>
              </a:ext>
            </a:extLst>
          </p:cNvPr>
          <p:cNvCxnSpPr>
            <a:cxnSpLocks/>
            <a:stCxn id="116" idx="3"/>
            <a:endCxn id="121" idx="1"/>
          </p:cNvCxnSpPr>
          <p:nvPr/>
        </p:nvCxnSpPr>
        <p:spPr>
          <a:xfrm flipV="1">
            <a:off x="180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5" name="Pfeil frage-lexik">
            <a:extLst>
              <a:ext uri="{FF2B5EF4-FFF2-40B4-BE49-F238E27FC236}">
                <a16:creationId xmlns:a16="http://schemas.microsoft.com/office/drawing/2014/main" id="{0BDDCE84-4016-2B9D-139E-B6028861F673}"/>
              </a:ext>
            </a:extLst>
          </p:cNvPr>
          <p:cNvCxnSpPr>
            <a:cxnSpLocks/>
            <a:stCxn id="116" idx="3"/>
            <a:endCxn id="126" idx="1"/>
          </p:cNvCxnSpPr>
          <p:nvPr/>
        </p:nvCxnSpPr>
        <p:spPr>
          <a:xfrm>
            <a:off x="180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6" name="Pfeil semantik-erweitern">
            <a:extLst>
              <a:ext uri="{FF2B5EF4-FFF2-40B4-BE49-F238E27FC236}">
                <a16:creationId xmlns:a16="http://schemas.microsoft.com/office/drawing/2014/main" id="{0BDDCE84-4016-2B9D-139E-B6028861F673}"/>
              </a:ext>
            </a:extLst>
          </p:cNvPr>
          <p:cNvCxnSpPr>
            <a:cxnSpLocks/>
            <a:stCxn id="121" idx="3"/>
            <a:endCxn id="131" idx="1"/>
          </p:cNvCxnSpPr>
          <p:nvPr/>
        </p:nvCxnSpPr>
        <p:spPr>
          <a:xfrm>
            <a:off x="378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7" name="Pfeil lexik-erweitern">
            <a:extLst>
              <a:ext uri="{FF2B5EF4-FFF2-40B4-BE49-F238E27FC236}">
                <a16:creationId xmlns:a16="http://schemas.microsoft.com/office/drawing/2014/main" id="{0BDDCE84-4016-2B9D-139E-B6028861F673}"/>
              </a:ext>
            </a:extLst>
          </p:cNvPr>
          <p:cNvCxnSpPr>
            <a:cxnSpLocks/>
            <a:stCxn id="126" idx="3"/>
            <a:endCxn id="131" idx="1"/>
          </p:cNvCxnSpPr>
          <p:nvPr/>
        </p:nvCxnSpPr>
        <p:spPr>
          <a:xfrm flipV="1">
            <a:off x="378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8" name="Pfeil erweitern-kontext">
            <a:extLst>
              <a:ext uri="{FF2B5EF4-FFF2-40B4-BE49-F238E27FC236}">
                <a16:creationId xmlns:a16="http://schemas.microsoft.com/office/drawing/2014/main" id="{0BDDCE84-4016-2B9D-139E-B6028861F673}"/>
              </a:ext>
            </a:extLst>
          </p:cNvPr>
          <p:cNvCxnSpPr>
            <a:cxnSpLocks/>
            <a:stCxn id="131" idx="3"/>
            <a:endCxn id="136" idx="1"/>
          </p:cNvCxnSpPr>
          <p:nvPr/>
        </p:nvCxnSpPr>
        <p:spPr>
          <a:xfrm>
            <a:off x="576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9" name="Pfeil kontext-llm">
            <a:extLst>
              <a:ext uri="{FF2B5EF4-FFF2-40B4-BE49-F238E27FC236}">
                <a16:creationId xmlns:a16="http://schemas.microsoft.com/office/drawing/2014/main" id="{0BDDCE84-4016-2B9D-139E-B6028861F673}"/>
              </a:ext>
            </a:extLst>
          </p:cNvPr>
          <p:cNvCxnSpPr>
            <a:cxnSpLocks/>
            <a:stCxn id="136" idx="3"/>
            <a:endCxn id="141" idx="1"/>
          </p:cNvCxnSpPr>
          <p:nvPr/>
        </p:nvCxnSpPr>
        <p:spPr>
          <a:xfrm>
            <a:off x="774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60" name="Pfeil llm-antwort">
            <a:extLst>
              <a:ext uri="{FF2B5EF4-FFF2-40B4-BE49-F238E27FC236}">
                <a16:creationId xmlns:a16="http://schemas.microsoft.com/office/drawing/2014/main" id="{0BDDCE84-4016-2B9D-139E-B6028861F673}"/>
              </a:ext>
            </a:extLst>
          </p:cNvPr>
          <p:cNvCxnSpPr>
            <a:cxnSpLocks/>
            <a:stCxn id="141" idx="3"/>
            <a:endCxn id="146" idx="1"/>
          </p:cNvCxnSpPr>
          <p:nvPr/>
        </p:nvCxnSpPr>
        <p:spPr>
          <a:xfrm>
            <a:off x="972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61" name="Label Indexierung"/>
          <p:cNvSpPr/>
          <p:nvPr/>
        </p:nvSpPr>
        <p:spPr>
          <a:xfrm>
            <a:off x="360000" y="1296000"/>
            <a:ext cx="2880000" cy="216000"/>
          </a:xfrm>
          <a:prstGeom prst="rect">
            <a:avLst/>
          </a:prstGeom>
          <a:noFill/>
        </p:spPr>
        <p:txBody>
          <a:bodyPr wrap="square" lIns="0" tIns="0" rIns="0" bIns="0" anchor="ctr"/>
          <a:lstStyle/>
          <a:p>
            <a:pPr algn="l"/>
            <a:r>
              <a:rPr lang="de-CH" sz="1200" b="1" dirty="0">
                <a:solidFill>
                  <a:srgbClr val="595959"/>
                </a:solidFill>
                <a:latin typeface="Arial"/>
              </a:rPr>
              <a:t>INDEXIERUNG · EINMALIG</a:t>
            </a:r>
          </a:p>
        </p:txBody>
      </p:sp>
      <p:sp>
        <p:nvSpPr>
          <p:cNvPr id="162" name="Label Retrieval"/>
          <p:cNvSpPr/>
          <p:nvPr/>
        </p:nvSpPr>
        <p:spPr>
          <a:xfrm>
            <a:off x="360000" y="3456000"/>
            <a:ext cx="2880000" cy="216000"/>
          </a:xfrm>
          <a:prstGeom prst="rect">
            <a:avLst/>
          </a:prstGeom>
          <a:noFill/>
        </p:spPr>
        <p:txBody>
          <a:bodyPr wrap="square" lIns="0" tIns="0" rIns="0" bIns="0" anchor="ctr"/>
          <a:lstStyle/>
          <a:p>
            <a:pPr algn="l"/>
            <a:r>
              <a:rPr lang="de-CH" sz="1200" b="1" dirty="0">
                <a:solidFill>
                  <a:srgbClr val="595959"/>
                </a:solidFill>
                <a:latin typeface="Arial"/>
              </a:rPr>
              <a:t>RETRIEVAL · PRO FRAGE</a:t>
            </a:r>
          </a:p>
        </p:txBody>
      </p:sp>
      <p:sp>
        <p:nvSpPr>
          <p:cNvPr id="163" name="Takeaway"/>
          <p:cNvSpPr/>
          <p:nvPr/>
        </p:nvSpPr>
        <p:spPr>
          <a:xfrm>
            <a:off x="360000" y="5760000"/>
            <a:ext cx="11340000" cy="540000"/>
          </a:xfrm>
          <a:prstGeom prst="roundRect">
            <a:avLst>
              <a:gd name="adj" fmla="val 18000"/>
            </a:avLst>
          </a:prstGeom>
          <a:solidFill>
            <a:srgbClr val="2D3F4B"/>
          </a:solidFill>
          <a:ln>
            <a:noFill/>
          </a:ln>
        </p:spPr>
        <p:txBody>
          <a:bodyPr wrap="square" anchor="ctr"/>
          <a:lstStyle/>
          <a:p>
            <a:pPr algn="ctr"/>
            <a:r>
              <a:rPr lang="de-CH" sz="1400" b="1" dirty="0">
                <a:solidFill>
                  <a:srgbClr val="FFFFFF"/>
                </a:solidFill>
                <a:latin typeface="Arial"/>
              </a:rPr>
              <a:t>Semantik + Lexik + explizite Zitate → Graph-Nachbarn → begrenzter Kontext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subtitle">
            <a:extLst>
              <a:ext uri="{FF2B5EF4-FFF2-40B4-BE49-F238E27FC236}">
                <a16:creationId xmlns:a16="http://schemas.microsoft.com/office/drawing/2014/main" id="{D4843392-06B7-4F34-8C77-0B596171C446}"/>
              </a:ext>
            </a:extLst>
          </p:cNvPr>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p:nvPr/>
        </p:nvSpPr>
        <p:spPr>
          <a:xfrm>
            <a:off x="540000" y="1980000"/>
            <a:ext cx="2879995"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dirty="0">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p:nvPr/>
        </p:nvSpPr>
        <p:spPr>
          <a:xfrm>
            <a:off x="54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2" name="Gruppieren 1">
            <a:extLst>
              <a:ext uri="{FF2B5EF4-FFF2-40B4-BE49-F238E27FC236}">
                <a16:creationId xmlns:a16="http://schemas.microsoft.com/office/drawing/2014/main" id="{58F4AE17-A10A-607C-53CB-C11338F32BC9}"/>
              </a:ext>
            </a:extLst>
          </p:cNvPr>
          <p:cNvGrpSpPr/>
          <p:nvPr/>
        </p:nvGrpSpPr>
        <p:grpSpPr>
          <a:xfrm>
            <a:off x="540000" y="2700000"/>
            <a:ext cx="1440000" cy="900000"/>
            <a:chOff x="899999" y="2700000"/>
            <a:chExt cx="1260000" cy="948600"/>
          </a:xfrm>
        </p:grpSpPr>
        <p:sp>
          <p:nvSpPr>
            <p:cNvPr id="9" name="ARTICLE RECALL@K-vector-label">
              <a:extLst>
                <a:ext uri="{FF2B5EF4-FFF2-40B4-BE49-F238E27FC236}">
                  <a16:creationId xmlns:a16="http://schemas.microsoft.com/office/drawing/2014/main" id="{6807D616-2734-411A-9F80-248B050D6544}"/>
                </a:ext>
              </a:extLst>
            </p:cNvPr>
            <p:cNvSpPr/>
            <p:nvPr/>
          </p:nvSpPr>
          <p:spPr>
            <a:xfrm>
              <a:off x="89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p:nvPr/>
          </p:nvSpPr>
          <p:spPr>
            <a:xfrm>
              <a:off x="899999"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33 %</a:t>
              </a:r>
            </a:p>
          </p:txBody>
        </p:sp>
      </p:grpSp>
      <p:grpSp>
        <p:nvGrpSpPr>
          <p:cNvPr id="3" name="Gruppieren 2">
            <a:extLst>
              <a:ext uri="{FF2B5EF4-FFF2-40B4-BE49-F238E27FC236}">
                <a16:creationId xmlns:a16="http://schemas.microsoft.com/office/drawing/2014/main" id="{CE1C2434-3A1F-4655-57E9-7BD0D75BBA0E}"/>
              </a:ext>
            </a:extLst>
          </p:cNvPr>
          <p:cNvGrpSpPr/>
          <p:nvPr/>
        </p:nvGrpSpPr>
        <p:grpSpPr>
          <a:xfrm>
            <a:off x="1980000" y="2700000"/>
            <a:ext cx="1440000" cy="900000"/>
            <a:chOff x="2339999" y="2700000"/>
            <a:chExt cx="1260001" cy="948600"/>
          </a:xfrm>
        </p:grpSpPr>
        <p:sp>
          <p:nvSpPr>
            <p:cNvPr id="11" name="ARTICLE RECALL@K-graph-label">
              <a:extLst>
                <a:ext uri="{FF2B5EF4-FFF2-40B4-BE49-F238E27FC236}">
                  <a16:creationId xmlns:a16="http://schemas.microsoft.com/office/drawing/2014/main" id="{547E2263-E275-431C-90EE-995868326356}"/>
                </a:ext>
              </a:extLst>
            </p:cNvPr>
            <p:cNvSpPr/>
            <p:nvPr/>
          </p:nvSpPr>
          <p:spPr>
            <a:xfrm>
              <a:off x="233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p:nvPr/>
          </p:nvSpPr>
          <p:spPr>
            <a:xfrm>
              <a:off x="234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88 %</a:t>
              </a:r>
            </a:p>
          </p:txBody>
        </p:sp>
      </p:grpSp>
      <p:sp>
        <p:nvSpPr>
          <p:cNvPr id="13" name="ARTICLE RECALL@K-divider">
            <a:extLst>
              <a:ext uri="{FF2B5EF4-FFF2-40B4-BE49-F238E27FC236}">
                <a16:creationId xmlns:a16="http://schemas.microsoft.com/office/drawing/2014/main" id="{60C88283-300A-41E7-BA4D-36B297E1C6AD}"/>
              </a:ext>
            </a:extLst>
          </p:cNvPr>
          <p:cNvSpPr/>
          <p:nvPr/>
        </p:nvSpPr>
        <p:spPr>
          <a:xfrm>
            <a:off x="1980000" y="270000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p:nvPr/>
        </p:nvSpPr>
        <p:spPr>
          <a:xfrm>
            <a:off x="540000" y="3780000"/>
            <a:ext cx="288000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Graph </a:t>
            </a:r>
            <a:r>
              <a:rPr sz="1050" b="1" dirty="0" err="1">
                <a:solidFill>
                  <a:srgbClr val="304554"/>
                </a:solidFill>
                <a:latin typeface="Arial"/>
                <a:ea typeface="Arial"/>
                <a:cs typeface="Arial"/>
              </a:rPr>
              <a:t>liefert</a:t>
            </a:r>
            <a:r>
              <a:rPr sz="1050" b="1" dirty="0">
                <a:solidFill>
                  <a:srgbClr val="304554"/>
                </a:solidFill>
                <a:latin typeface="Arial"/>
                <a:ea typeface="Arial"/>
                <a:cs typeface="Arial"/>
              </a:rPr>
              <a:t> den </a:t>
            </a:r>
            <a:r>
              <a:rPr sz="1050" b="1" dirty="0" err="1">
                <a:solidFill>
                  <a:srgbClr val="304554"/>
                </a:solidFill>
                <a:latin typeface="Arial"/>
                <a:ea typeface="Arial"/>
                <a:cs typeface="Arial"/>
              </a:rPr>
              <a:t>höchsten</a:t>
            </a:r>
            <a:r>
              <a:rPr sz="1050" b="1" dirty="0">
                <a:solidFill>
                  <a:srgbClr val="304554"/>
                </a:solidFill>
                <a:latin typeface="Arial"/>
                <a:ea typeface="Arial"/>
                <a:cs typeface="Arial"/>
              </a:rPr>
              <a:t> Recall</a:t>
            </a:r>
          </a:p>
        </p:txBody>
      </p:sp>
      <p:sp>
        <p:nvSpPr>
          <p:cNvPr id="15" name="ARTICLE MRR-label">
            <a:extLst>
              <a:ext uri="{FF2B5EF4-FFF2-40B4-BE49-F238E27FC236}">
                <a16:creationId xmlns:a16="http://schemas.microsoft.com/office/drawing/2014/main" id="{428A152A-7185-4B7C-9D9F-F04877D61454}"/>
              </a:ext>
            </a:extLst>
          </p:cNvPr>
          <p:cNvSpPr/>
          <p:nvPr/>
        </p:nvSpPr>
        <p:spPr>
          <a:xfrm>
            <a:off x="4140000" y="1980000"/>
            <a:ext cx="2879995"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p:nvPr/>
        </p:nvSpPr>
        <p:spPr>
          <a:xfrm>
            <a:off x="414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34" name="Gruppieren 33">
            <a:extLst>
              <a:ext uri="{FF2B5EF4-FFF2-40B4-BE49-F238E27FC236}">
                <a16:creationId xmlns:a16="http://schemas.microsoft.com/office/drawing/2014/main" id="{EA017B8D-C6B9-EB55-C0E4-B1502E161B61}"/>
              </a:ext>
            </a:extLst>
          </p:cNvPr>
          <p:cNvGrpSpPr/>
          <p:nvPr/>
        </p:nvGrpSpPr>
        <p:grpSpPr>
          <a:xfrm>
            <a:off x="4140000" y="2700000"/>
            <a:ext cx="1440000" cy="900000"/>
            <a:chOff x="4319999" y="2700000"/>
            <a:chExt cx="1260001" cy="948600"/>
          </a:xfrm>
        </p:grpSpPr>
        <p:sp>
          <p:nvSpPr>
            <p:cNvPr id="17" name="ARTICLE MRR-vector-label">
              <a:extLst>
                <a:ext uri="{FF2B5EF4-FFF2-40B4-BE49-F238E27FC236}">
                  <a16:creationId xmlns:a16="http://schemas.microsoft.com/office/drawing/2014/main" id="{231458E9-0363-4E1A-909E-88E4A78AF7E5}"/>
                </a:ext>
              </a:extLst>
            </p:cNvPr>
            <p:cNvSpPr/>
            <p:nvPr/>
          </p:nvSpPr>
          <p:spPr>
            <a:xfrm>
              <a:off x="431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p:nvPr/>
          </p:nvSpPr>
          <p:spPr>
            <a:xfrm>
              <a:off x="432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0.25</a:t>
              </a:r>
            </a:p>
          </p:txBody>
        </p:sp>
      </p:grpSp>
      <p:grpSp>
        <p:nvGrpSpPr>
          <p:cNvPr id="33" name="Gruppieren 32">
            <a:extLst>
              <a:ext uri="{FF2B5EF4-FFF2-40B4-BE49-F238E27FC236}">
                <a16:creationId xmlns:a16="http://schemas.microsoft.com/office/drawing/2014/main" id="{478926ED-6920-8D6B-6060-A543468EE399}"/>
              </a:ext>
            </a:extLst>
          </p:cNvPr>
          <p:cNvGrpSpPr/>
          <p:nvPr/>
        </p:nvGrpSpPr>
        <p:grpSpPr>
          <a:xfrm>
            <a:off x="5580000" y="2700000"/>
            <a:ext cx="1440000" cy="900000"/>
            <a:chOff x="5759999" y="2700000"/>
            <a:chExt cx="1260001" cy="948600"/>
          </a:xfrm>
        </p:grpSpPr>
        <p:sp>
          <p:nvSpPr>
            <p:cNvPr id="19" name="ARTICLE MRR-graph-label">
              <a:extLst>
                <a:ext uri="{FF2B5EF4-FFF2-40B4-BE49-F238E27FC236}">
                  <a16:creationId xmlns:a16="http://schemas.microsoft.com/office/drawing/2014/main" id="{34D2D5AD-316C-4BC7-AB0E-006E3CD5A7A1}"/>
                </a:ext>
              </a:extLst>
            </p:cNvPr>
            <p:cNvSpPr/>
            <p:nvPr/>
          </p:nvSpPr>
          <p:spPr>
            <a:xfrm>
              <a:off x="575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p:nvPr/>
          </p:nvSpPr>
          <p:spPr>
            <a:xfrm>
              <a:off x="57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0.52</a:t>
              </a:r>
            </a:p>
          </p:txBody>
        </p:sp>
      </p:grpSp>
      <p:sp>
        <p:nvSpPr>
          <p:cNvPr id="21" name="ARTICLE MRR-divider">
            <a:extLst>
              <a:ext uri="{FF2B5EF4-FFF2-40B4-BE49-F238E27FC236}">
                <a16:creationId xmlns:a16="http://schemas.microsoft.com/office/drawing/2014/main" id="{AF3DB5C0-E728-477B-889B-6F68B673147F}"/>
              </a:ext>
            </a:extLst>
          </p:cNvPr>
          <p:cNvSpPr/>
          <p:nvPr/>
        </p:nvSpPr>
        <p:spPr>
          <a:xfrm>
            <a:off x="5580000" y="270000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p:nvPr/>
        </p:nvSpPr>
        <p:spPr>
          <a:xfrm>
            <a:off x="4139999" y="3780000"/>
            <a:ext cx="2879997"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err="1">
                <a:solidFill>
                  <a:srgbClr val="304554"/>
                </a:solidFill>
                <a:latin typeface="Arial"/>
                <a:ea typeface="Arial"/>
                <a:cs typeface="Arial"/>
              </a:rPr>
              <a:t>Reranker</a:t>
            </a:r>
            <a:r>
              <a:rPr sz="1050" b="1" dirty="0">
                <a:solidFill>
                  <a:srgbClr val="304554"/>
                </a:solidFill>
                <a:latin typeface="Arial"/>
                <a:ea typeface="Arial"/>
                <a:cs typeface="Arial"/>
              </a:rPr>
              <a:t> </a:t>
            </a:r>
            <a:r>
              <a:rPr sz="1050" b="1" dirty="0" err="1">
                <a:solidFill>
                  <a:srgbClr val="304554"/>
                </a:solidFill>
                <a:latin typeface="Arial"/>
                <a:ea typeface="Arial"/>
                <a:cs typeface="Arial"/>
              </a:rPr>
              <a:t>ordnet</a:t>
            </a:r>
            <a:r>
              <a:rPr sz="1050" b="1" dirty="0">
                <a:solidFill>
                  <a:srgbClr val="304554"/>
                </a:solidFill>
                <a:latin typeface="Arial"/>
                <a:ea typeface="Arial"/>
                <a:cs typeface="Arial"/>
              </a:rPr>
              <a:t> Treffer am </a:t>
            </a:r>
            <a:r>
              <a:rPr sz="1050" b="1" dirty="0" err="1">
                <a:solidFill>
                  <a:srgbClr val="304554"/>
                </a:solidFill>
                <a:latin typeface="Arial"/>
                <a:ea typeface="Arial"/>
                <a:cs typeface="Arial"/>
              </a:rPr>
              <a:t>besten</a:t>
            </a:r>
            <a:endParaRPr sz="1050" b="1" dirty="0">
              <a:solidFill>
                <a:srgbClr val="304554"/>
              </a:solidFill>
              <a:latin typeface="Arial"/>
              <a:ea typeface="Arial"/>
              <a:cs typeface="Arial"/>
            </a:endParaRPr>
          </a:p>
        </p:txBody>
      </p:sp>
      <p:grpSp>
        <p:nvGrpSpPr>
          <p:cNvPr id="38" name="Gruppieren 37">
            <a:extLst>
              <a:ext uri="{FF2B5EF4-FFF2-40B4-BE49-F238E27FC236}">
                <a16:creationId xmlns:a16="http://schemas.microsoft.com/office/drawing/2014/main" id="{FD890A52-9E28-BD03-9461-B689DD2F4364}"/>
              </a:ext>
            </a:extLst>
          </p:cNvPr>
          <p:cNvGrpSpPr/>
          <p:nvPr/>
        </p:nvGrpSpPr>
        <p:grpSpPr>
          <a:xfrm>
            <a:off x="7740000" y="1980000"/>
            <a:ext cx="2880000" cy="2520000"/>
            <a:chOff x="7560000" y="1980000"/>
            <a:chExt cx="2880000" cy="2520000"/>
          </a:xfrm>
        </p:grpSpPr>
        <p:sp>
          <p:nvSpPr>
            <p:cNvPr id="23" name="Ø KONTEXT-TOKENS-label">
              <a:extLst>
                <a:ext uri="{FF2B5EF4-FFF2-40B4-BE49-F238E27FC236}">
                  <a16:creationId xmlns:a16="http://schemas.microsoft.com/office/drawing/2014/main" id="{55D09288-0EF6-4C48-BD66-8A8F092889F5}"/>
                </a:ext>
              </a:extLst>
            </p:cNvPr>
            <p:cNvSpPr/>
            <p:nvPr/>
          </p:nvSpPr>
          <p:spPr>
            <a:xfrm>
              <a:off x="7560000" y="1980000"/>
              <a:ext cx="2879995"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dirty="0">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p:nvPr/>
          </p:nvSpPr>
          <p:spPr>
            <a:xfrm>
              <a:off x="756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35" name="Gruppieren 34">
              <a:extLst>
                <a:ext uri="{FF2B5EF4-FFF2-40B4-BE49-F238E27FC236}">
                  <a16:creationId xmlns:a16="http://schemas.microsoft.com/office/drawing/2014/main" id="{39E951EB-21A8-3BCA-9924-A7A0B8E85324}"/>
                </a:ext>
              </a:extLst>
            </p:cNvPr>
            <p:cNvGrpSpPr/>
            <p:nvPr/>
          </p:nvGrpSpPr>
          <p:grpSpPr>
            <a:xfrm>
              <a:off x="7560000" y="2700000"/>
              <a:ext cx="1440000" cy="900000"/>
              <a:chOff x="7739999" y="2700000"/>
              <a:chExt cx="1260001" cy="948600"/>
            </a:xfrm>
          </p:grpSpPr>
          <p:sp>
            <p:nvSpPr>
              <p:cNvPr id="25" name="Ø KONTEXT-TOKENS-vector-label">
                <a:extLst>
                  <a:ext uri="{FF2B5EF4-FFF2-40B4-BE49-F238E27FC236}">
                    <a16:creationId xmlns:a16="http://schemas.microsoft.com/office/drawing/2014/main" id="{D47DBC2B-B2FA-49FF-B10A-1CA89217518E}"/>
                  </a:ext>
                </a:extLst>
              </p:cNvPr>
              <p:cNvSpPr/>
              <p:nvPr/>
            </p:nvSpPr>
            <p:spPr>
              <a:xfrm>
                <a:off x="773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p:nvPr/>
            </p:nvSpPr>
            <p:spPr>
              <a:xfrm>
                <a:off x="774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grpSp>
        <p:grpSp>
          <p:nvGrpSpPr>
            <p:cNvPr id="37" name="Gruppieren 36">
              <a:extLst>
                <a:ext uri="{FF2B5EF4-FFF2-40B4-BE49-F238E27FC236}">
                  <a16:creationId xmlns:a16="http://schemas.microsoft.com/office/drawing/2014/main" id="{098DE64C-2F4B-878B-49E4-63A2EF9465C7}"/>
                </a:ext>
              </a:extLst>
            </p:cNvPr>
            <p:cNvGrpSpPr/>
            <p:nvPr/>
          </p:nvGrpSpPr>
          <p:grpSpPr>
            <a:xfrm>
              <a:off x="9000000" y="2700000"/>
              <a:ext cx="1440000" cy="900000"/>
              <a:chOff x="9359999" y="2700000"/>
              <a:chExt cx="1260001" cy="948600"/>
            </a:xfrm>
          </p:grpSpPr>
          <p:sp>
            <p:nvSpPr>
              <p:cNvPr id="27" name="Ø KONTEXT-TOKENS-graph-label">
                <a:extLst>
                  <a:ext uri="{FF2B5EF4-FFF2-40B4-BE49-F238E27FC236}">
                    <a16:creationId xmlns:a16="http://schemas.microsoft.com/office/drawing/2014/main" id="{5ADB093D-5CA8-470A-B582-671D3E476C43}"/>
                  </a:ext>
                </a:extLst>
              </p:cNvPr>
              <p:cNvSpPr/>
              <p:nvPr/>
            </p:nvSpPr>
            <p:spPr>
              <a:xfrm>
                <a:off x="935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p:nvPr/>
            </p:nvSpPr>
            <p:spPr>
              <a:xfrm>
                <a:off x="93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802</a:t>
                </a:r>
              </a:p>
            </p:txBody>
          </p:sp>
        </p:grpSp>
        <p:sp>
          <p:nvSpPr>
            <p:cNvPr id="29" name="Ø KONTEXT-TOKENS-divider">
              <a:extLst>
                <a:ext uri="{FF2B5EF4-FFF2-40B4-BE49-F238E27FC236}">
                  <a16:creationId xmlns:a16="http://schemas.microsoft.com/office/drawing/2014/main" id="{145BFBDE-E6FD-49B8-BBC5-524B55F1BA5C}"/>
                </a:ext>
              </a:extLst>
            </p:cNvPr>
            <p:cNvSpPr/>
            <p:nvPr/>
          </p:nvSpPr>
          <p:spPr>
            <a:xfrm>
              <a:off x="9000000" y="270000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p:nvPr/>
          </p:nvSpPr>
          <p:spPr>
            <a:xfrm>
              <a:off x="7560000" y="3780000"/>
              <a:ext cx="2879995"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Graph: 10 % </a:t>
              </a:r>
              <a:r>
                <a:rPr sz="1050" b="1" dirty="0" err="1">
                  <a:solidFill>
                    <a:srgbClr val="304554"/>
                  </a:solidFill>
                  <a:latin typeface="Arial"/>
                  <a:ea typeface="Arial"/>
                  <a:cs typeface="Arial"/>
                </a:rPr>
                <a:t>weniger</a:t>
              </a:r>
              <a:r>
                <a:rPr sz="1050" b="1" dirty="0">
                  <a:solidFill>
                    <a:srgbClr val="304554"/>
                  </a:solidFill>
                  <a:latin typeface="Arial"/>
                  <a:ea typeface="Arial"/>
                  <a:cs typeface="Arial"/>
                </a:rPr>
                <a:t> </a:t>
              </a:r>
              <a:r>
                <a:rPr sz="1050" b="1" dirty="0" err="1">
                  <a:solidFill>
                    <a:srgbClr val="304554"/>
                  </a:solidFill>
                  <a:latin typeface="Arial"/>
                  <a:ea typeface="Arial"/>
                  <a:cs typeface="Arial"/>
                </a:rPr>
                <a:t>als</a:t>
              </a:r>
              <a:r>
                <a:rPr sz="1050" b="1" dirty="0">
                  <a:solidFill>
                    <a:srgbClr val="304554"/>
                  </a:solidFill>
                  <a:latin typeface="Arial"/>
                  <a:ea typeface="Arial"/>
                  <a:cs typeface="Arial"/>
                </a:rPr>
                <a:t> Semantic</a:t>
              </a:r>
            </a:p>
          </p:txBody>
        </p:sp>
      </p:grpSp>
      <p:sp>
        <p:nvSpPr>
          <p:cNvPr id="31" name="retrieval-warning">
            <a:extLst>
              <a:ext uri="{FF2B5EF4-FFF2-40B4-BE49-F238E27FC236}">
                <a16:creationId xmlns:a16="http://schemas.microsoft.com/office/drawing/2014/main" id="{2F201B38-0977-4C2C-9102-295F9B84C078}"/>
              </a:ext>
            </a:extLst>
          </p:cNvPr>
          <p:cNvSpPr/>
          <p:nvPr/>
        </p:nvSpPr>
        <p:spPr>
          <a:xfrm>
            <a:off x="1619997" y="5133300"/>
            <a:ext cx="7920000" cy="720000"/>
          </a:xfrm>
          <a:prstGeom prst="roundRect">
            <a:avLst>
              <a:gd name="adj" fmla="val 22857"/>
            </a:avLst>
          </a:prstGeom>
          <a:solidFill>
            <a:srgbClr val="2D3F4B"/>
          </a:solidFill>
          <a:ln w="0">
            <a:solidFill>
              <a:srgbClr val="2D3F4B"/>
            </a:solidFill>
            <a:prstDash val="solid"/>
          </a:ln>
        </p:spPr>
        <p:txBody>
          <a:bodyPr/>
          <a:lstStyle/>
          <a:p>
            <a:pPr algn="ctr"/>
            <a:r>
              <a:rPr lang="de-DE" sz="1600" b="1" dirty="0">
                <a:solidFill>
                  <a:srgbClr val="FFFFFF"/>
                </a:solidFil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p:cNvSpPr>
            <a:spLocks noGrp="1"/>
          </p:cNvSpPr>
          <p:nvPr>
            <p:ph type="title"/>
          </p:nvPr>
        </p:nvSpPr>
        <p:spPr>
          <a:xfrm>
            <a:off x="482461" y="346633"/>
            <a:ext cx="11230114" cy="767605"/>
          </a:xfrm>
        </p:spPr>
        <p:txBody>
          <a:bodyPr/>
          <a:lstStyle/>
          <a:p>
            <a:r>
              <a:rPr lang="de-CH" sz="2800" dirty="0"/>
              <a:t>Besseres Retrieval verbessert Antworten – garantiert sie aber nicht</a:t>
            </a:r>
          </a:p>
        </p:txBody>
      </p:sp>
      <p:sp>
        <p:nvSpPr>
          <p:cNvPr id="4" name="slide-subtitle">
            <a:extLst>
              <a:ext uri="{FF2B5EF4-FFF2-40B4-BE49-F238E27FC236}">
                <a16:creationId xmlns:a16="http://schemas.microsoft.com/office/drawing/2014/main" id="{4E8CE74E-69E1-4652-A334-2E118021F7D4}"/>
              </a:ext>
            </a:extLst>
          </p:cNvPr>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p:nvPr/>
        </p:nvSpPr>
        <p:spPr>
          <a:xfrm>
            <a:off x="5871075" y="1951837"/>
            <a:ext cx="1238250" cy="34095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1600" b="1" dirty="0">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p:nvPr/>
        </p:nvSpPr>
        <p:spPr>
          <a:xfrm>
            <a:off x="9291075" y="1951837"/>
            <a:ext cx="1238250" cy="34095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16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p:nvPr/>
        </p:nvSpPr>
        <p:spPr>
          <a:xfrm>
            <a:off x="720000" y="233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dirty="0">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p:nvPr/>
        </p:nvSpPr>
        <p:spPr>
          <a:xfrm>
            <a:off x="3420000" y="234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p:nvPr/>
        </p:nvSpPr>
        <p:spPr>
          <a:xfrm>
            <a:off x="3420000" y="234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p:nvPr/>
        </p:nvSpPr>
        <p:spPr>
          <a:xfrm>
            <a:off x="3420000" y="2520000"/>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p:nvPr/>
        </p:nvSpPr>
        <p:spPr>
          <a:xfrm>
            <a:off x="5940000" y="234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p:nvPr/>
        </p:nvSpPr>
        <p:spPr>
          <a:xfrm>
            <a:off x="9360000" y="2340000"/>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p:nvPr/>
        </p:nvSpPr>
        <p:spPr>
          <a:xfrm>
            <a:off x="720000" y="305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p:nvPr/>
        </p:nvSpPr>
        <p:spPr>
          <a:xfrm>
            <a:off x="3420000" y="306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p:nvPr/>
        </p:nvSpPr>
        <p:spPr>
          <a:xfrm>
            <a:off x="3420000" y="3060000"/>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p:nvPr/>
        </p:nvSpPr>
        <p:spPr>
          <a:xfrm>
            <a:off x="3420000" y="3240000"/>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p:nvPr/>
        </p:nvSpPr>
        <p:spPr>
          <a:xfrm>
            <a:off x="5940000" y="3060000"/>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p:nvPr/>
        </p:nvSpPr>
        <p:spPr>
          <a:xfrm>
            <a:off x="9360000" y="306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p:nvPr/>
        </p:nvSpPr>
        <p:spPr>
          <a:xfrm>
            <a:off x="720000" y="377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p:nvPr/>
        </p:nvSpPr>
        <p:spPr>
          <a:xfrm>
            <a:off x="3420000" y="378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p:nvPr/>
        </p:nvSpPr>
        <p:spPr>
          <a:xfrm>
            <a:off x="3420000" y="378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p:nvPr/>
        </p:nvSpPr>
        <p:spPr>
          <a:xfrm>
            <a:off x="3420000" y="3960000"/>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p:nvPr/>
        </p:nvSpPr>
        <p:spPr>
          <a:xfrm>
            <a:off x="5940000" y="3780000"/>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p:nvPr/>
        </p:nvSpPr>
        <p:spPr>
          <a:xfrm>
            <a:off x="9360000" y="378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p:nvPr/>
        </p:nvSpPr>
        <p:spPr>
          <a:xfrm>
            <a:off x="720000" y="449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p:nvPr/>
        </p:nvSpPr>
        <p:spPr>
          <a:xfrm>
            <a:off x="3420000" y="450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p:nvPr/>
        </p:nvSpPr>
        <p:spPr>
          <a:xfrm>
            <a:off x="3420000" y="450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p:nvPr/>
        </p:nvSpPr>
        <p:spPr>
          <a:xfrm>
            <a:off x="3420000" y="4680000"/>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p:nvPr/>
        </p:nvSpPr>
        <p:spPr>
          <a:xfrm>
            <a:off x="5940000" y="450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p:nvPr/>
        </p:nvSpPr>
        <p:spPr>
          <a:xfrm>
            <a:off x="9360000" y="4500000"/>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sz="3600" dirty="0"/>
              <a:t>Wahlmodul: Drei Gruppen, ein gemeinsamer Befund</a:t>
            </a:r>
          </a:p>
        </p:txBody>
      </p:sp>
      <p:sp>
        <p:nvSpPr>
          <p:cNvPr id="4" name="slide-subtitle">
            <a:extLst>
              <a:ext uri="{FF2B5EF4-FFF2-40B4-BE49-F238E27FC236}">
                <a16:creationId xmlns:a16="http://schemas.microsoft.com/office/drawing/2014/main" id="{70ADD6C2-1AC9-4217-B4C9-AF01182573B5}"/>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p:nvPr/>
        </p:nvSpPr>
        <p:spPr>
          <a:xfrm>
            <a:off x="5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p:nvPr/>
        </p:nvSpPr>
        <p:spPr>
          <a:xfrm>
            <a:off x="720000" y="2340000"/>
            <a:ext cx="540000" cy="54000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p:nvPr/>
        </p:nvSpPr>
        <p:spPr>
          <a:xfrm>
            <a:off x="1440000" y="23400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p:nvPr/>
        </p:nvSpPr>
        <p:spPr>
          <a:xfrm>
            <a:off x="7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p:nvPr/>
        </p:nvSpPr>
        <p:spPr>
          <a:xfrm>
            <a:off x="539999" y="3780000"/>
            <a:ext cx="3240001"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a:solidFill>
                  <a:srgbClr val="2D3F4B"/>
                </a:solidFill>
                <a:latin typeface="Arial"/>
                <a:ea typeface="Arial"/>
                <a:cs typeface="Arial"/>
              </a:rPr>
              <a:t>3 Chunks </a:t>
            </a:r>
            <a:r>
              <a:rPr sz="1425" b="0" dirty="0" err="1">
                <a:solidFill>
                  <a:srgbClr val="2D3F4B"/>
                </a:solidFill>
                <a:latin typeface="Arial"/>
                <a:ea typeface="Arial"/>
                <a:cs typeface="Arial"/>
              </a:rPr>
              <a:t>prüfen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Satz-/</a:t>
            </a:r>
            <a:r>
              <a:rPr sz="1425" b="0" dirty="0" err="1">
                <a:solidFill>
                  <a:srgbClr val="2D3F4B"/>
                </a:solidFill>
                <a:latin typeface="Arial"/>
                <a:ea typeface="Arial"/>
                <a:cs typeface="Arial"/>
              </a:rPr>
              <a:t>Artikelgrenzen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markieren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Rauschen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3" name="group-B">
            <a:extLst>
              <a:ext uri="{FF2B5EF4-FFF2-40B4-BE49-F238E27FC236}">
                <a16:creationId xmlns:a16="http://schemas.microsoft.com/office/drawing/2014/main" id="{300F9B10-87A9-44F1-A7FD-E55CB172AA3A}"/>
              </a:ext>
            </a:extLst>
          </p:cNvPr>
          <p:cNvSpPr/>
          <p:nvPr/>
        </p:nvSpPr>
        <p:spPr>
          <a:xfrm>
            <a:off x="41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p:nvPr/>
        </p:nvSpPr>
        <p:spPr>
          <a:xfrm>
            <a:off x="4320000" y="2340000"/>
            <a:ext cx="540000" cy="54000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p:nvPr/>
        </p:nvSpPr>
        <p:spPr>
          <a:xfrm>
            <a:off x="5040000" y="23400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p:nvPr/>
        </p:nvSpPr>
        <p:spPr>
          <a:xfrm>
            <a:off x="43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p:nvPr/>
        </p:nvSpPr>
        <p:spPr>
          <a:xfrm>
            <a:off x="4139999" y="3780000"/>
            <a:ext cx="3239999"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gleiche</a:t>
            </a:r>
            <a:r>
              <a:rPr sz="1425" b="0" dirty="0">
                <a:solidFill>
                  <a:srgbClr val="2D3F4B"/>
                </a:solidFill>
                <a:latin typeface="Arial"/>
                <a:ea typeface="Arial"/>
                <a:cs typeface="Arial"/>
              </a:rPr>
              <a:t> Frage </a:t>
            </a:r>
            <a:r>
              <a:rPr sz="1425" b="0" dirty="0" err="1">
                <a:solidFill>
                  <a:srgbClr val="2D3F4B"/>
                </a:solidFill>
                <a:latin typeface="Arial"/>
                <a:ea typeface="Arial"/>
                <a:cs typeface="Arial"/>
              </a:rPr>
              <a:t>verwenden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a:t>
            </a:r>
            <a:r>
              <a:rPr sz="1425" b="0" dirty="0" err="1">
                <a:solidFill>
                  <a:srgbClr val="2D3F4B"/>
                </a:solidFill>
                <a:latin typeface="Arial"/>
                <a:ea typeface="Arial"/>
                <a:cs typeface="Arial"/>
              </a:rPr>
              <a:t>Rerank</a:t>
            </a:r>
            <a:r>
              <a:rPr sz="1425" b="0" dirty="0">
                <a:solidFill>
                  <a:srgbClr val="2D3F4B"/>
                </a:solidFill>
                <a:latin typeface="Arial"/>
                <a:ea typeface="Arial"/>
                <a:cs typeface="Arial"/>
              </a:rPr>
              <a:t>-Rang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Recall-</a:t>
            </a:r>
            <a:r>
              <a:rPr sz="1425" b="0" dirty="0" err="1">
                <a:solidFill>
                  <a:srgbClr val="2D3F4B"/>
                </a:solidFill>
                <a:latin typeface="Arial"/>
                <a:ea typeface="Arial"/>
                <a:cs typeface="Arial"/>
              </a:rPr>
              <a:t>Grenze</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9" name="group-C">
            <a:extLst>
              <a:ext uri="{FF2B5EF4-FFF2-40B4-BE49-F238E27FC236}">
                <a16:creationId xmlns:a16="http://schemas.microsoft.com/office/drawing/2014/main" id="{4BF2D0CF-269B-4C1A-A991-8138B0BD86DE}"/>
              </a:ext>
            </a:extLst>
          </p:cNvPr>
          <p:cNvSpPr/>
          <p:nvPr/>
        </p:nvSpPr>
        <p:spPr>
          <a:xfrm>
            <a:off x="77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p:nvPr/>
        </p:nvSpPr>
        <p:spPr>
          <a:xfrm>
            <a:off x="7920000" y="2340000"/>
            <a:ext cx="540000" cy="54000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p:nvPr/>
        </p:nvSpPr>
        <p:spPr>
          <a:xfrm>
            <a:off x="8640000" y="23400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p:nvPr/>
        </p:nvSpPr>
        <p:spPr>
          <a:xfrm>
            <a:off x="79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p:nvPr/>
        </p:nvSpPr>
        <p:spPr>
          <a:xfrm>
            <a:off x="7739998" y="3780000"/>
            <a:ext cx="3240000"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Referenzfrage</a:t>
            </a:r>
            <a:r>
              <a:rPr sz="1425" b="0" dirty="0">
                <a:solidFill>
                  <a:srgbClr val="2D3F4B"/>
                </a:solidFill>
                <a:latin typeface="Arial"/>
                <a:ea typeface="Arial"/>
                <a:cs typeface="Arial"/>
              </a:rPr>
              <a:t> </a:t>
            </a:r>
            <a:r>
              <a:rPr sz="1425" b="0" dirty="0" err="1">
                <a:solidFill>
                  <a:srgbClr val="2D3F4B"/>
                </a:solidFill>
                <a:latin typeface="Arial"/>
                <a:ea typeface="Arial"/>
                <a:cs typeface="Arial"/>
              </a:rPr>
              <a:t>testen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Graph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Token-Trade-off </a:t>
            </a:r>
            <a:r>
              <a:rPr sz="1425" b="0" dirty="0" err="1">
                <a:solidFill>
                  <a:srgbClr val="2D3F4B"/>
                </a:solidFill>
                <a:latin typeface="Arial"/>
                <a:ea typeface="Arial"/>
                <a:cs typeface="Arial"/>
              </a:rPr>
              <a:t>erklären</a:t>
            </a:r>
            <a:endParaRPr sz="1425" b="0" dirty="0">
              <a:solidFill>
                <a:srgbClr val="2D3F4B"/>
              </a:solidFill>
              <a:latin typeface="Arial"/>
              <a:ea typeface="Arial"/>
              <a:cs typeface="Arial"/>
            </a:endParaRPr>
          </a:p>
        </p:txBody>
      </p:sp>
      <p:sp>
        <p:nvSpPr>
          <p:cNvPr id="25" name="group-output">
            <a:extLst>
              <a:ext uri="{FF2B5EF4-FFF2-40B4-BE49-F238E27FC236}">
                <a16:creationId xmlns:a16="http://schemas.microsoft.com/office/drawing/2014/main" id="{52A6162D-5932-436E-A042-07A49271FBD3}"/>
              </a:ext>
            </a:extLst>
          </p:cNvPr>
          <p:cNvSpPr/>
          <p:nvPr/>
        </p:nvSpPr>
        <p:spPr>
          <a:xfrm>
            <a:off x="2160000" y="5220000"/>
            <a:ext cx="7740000" cy="540000"/>
          </a:xfrm>
          <a:prstGeom prst="roundRect">
            <a:avLst>
              <a:gd name="adj" fmla="val 25000"/>
            </a:avLst>
          </a:prstGeom>
          <a:solidFill>
            <a:srgbClr val="2D3F4B"/>
          </a:solidFill>
          <a:ln w="0">
            <a:solidFill>
              <a:srgbClr val="2D3F4B"/>
            </a:solidFill>
            <a:prstDash val="solid"/>
          </a:ln>
        </p:spPr>
        <p:txBody>
          <a:bodyPr anchor="ctr" anchorCtr="1"/>
          <a:lstStyle/>
          <a:p>
            <a:r>
              <a:rPr lang="de-DE" b="1" dirty="0">
                <a:solidFill>
                  <a:srgbClr val="FFFFFF"/>
                </a:solidFil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sz="3600" dirty="0"/>
              <a:t>Frameworkwahl ist eine Betriebsentscheidung</a:t>
            </a:r>
          </a:p>
        </p:txBody>
      </p:sp>
      <p:sp>
        <p:nvSpPr>
          <p:cNvPr id="4" name="slide-subtitle">
            <a:extLst>
              <a:ext uri="{FF2B5EF4-FFF2-40B4-BE49-F238E27FC236}">
                <a16:creationId xmlns:a16="http://schemas.microsoft.com/office/drawing/2014/main" id="{19E3B18D-0B98-4491-AD8E-10927075BBBF}"/>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p:nvPr/>
        </p:nvSpPr>
        <p:spPr>
          <a:xfrm>
            <a:off x="1800000" y="4860000"/>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p:nvPr/>
        </p:nvSpPr>
        <p:spPr>
          <a:xfrm>
            <a:off x="1800000" y="1980000"/>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p:nvPr/>
        </p:nvSpPr>
        <p:spPr>
          <a:xfrm>
            <a:off x="1800000" y="5040000"/>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p:nvPr/>
        </p:nvSpPr>
        <p:spPr>
          <a:xfrm>
            <a:off x="8460000" y="504000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p:nvPr/>
        </p:nvSpPr>
        <p:spPr>
          <a:xfrm>
            <a:off x="540000" y="1800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p:nvPr/>
        </p:nvSpPr>
        <p:spPr>
          <a:xfrm>
            <a:off x="540000" y="486000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p:nvPr/>
        </p:nvSpPr>
        <p:spPr>
          <a:xfrm>
            <a:off x="2700000" y="2340000"/>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p:nvPr/>
        </p:nvSpPr>
        <p:spPr>
          <a:xfrm>
            <a:off x="1980000" y="1980000"/>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p:nvPr/>
        </p:nvSpPr>
        <p:spPr>
          <a:xfrm>
            <a:off x="1800000" y="288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p:nvPr/>
        </p:nvSpPr>
        <p:spPr>
          <a:xfrm>
            <a:off x="5220000" y="3240000"/>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p:nvPr/>
        </p:nvSpPr>
        <p:spPr>
          <a:xfrm>
            <a:off x="4500000" y="2880000"/>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p:nvPr/>
        </p:nvSpPr>
        <p:spPr>
          <a:xfrm>
            <a:off x="4320000" y="36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p:nvPr/>
        </p:nvSpPr>
        <p:spPr>
          <a:xfrm>
            <a:off x="7020000" y="2340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p:nvPr/>
        </p:nvSpPr>
        <p:spPr>
          <a:xfrm>
            <a:off x="6300000" y="198000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p:nvPr/>
        </p:nvSpPr>
        <p:spPr>
          <a:xfrm>
            <a:off x="6120000" y="27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p:nvPr/>
        </p:nvSpPr>
        <p:spPr>
          <a:xfrm>
            <a:off x="8640000" y="3780000"/>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p:nvPr/>
        </p:nvSpPr>
        <p:spPr>
          <a:xfrm>
            <a:off x="7920000" y="3420000"/>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p:nvPr/>
        </p:nvSpPr>
        <p:spPr>
          <a:xfrm>
            <a:off x="7740000" y="432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p:nvPr/>
        </p:nvSpPr>
        <p:spPr>
          <a:xfrm>
            <a:off x="1800001" y="5533350"/>
            <a:ext cx="8191500" cy="719999"/>
          </a:xfrm>
          <a:prstGeom prst="roundRect">
            <a:avLst>
              <a:gd name="adj" fmla="val 28571"/>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Entscheidend: Datenresidenz · Berechtigungen · </a:t>
            </a:r>
            <a:r>
              <a:rPr lang="de-DE" sz="1600" b="1" dirty="0" err="1">
                <a:solidFill>
                  <a:srgbClr val="FFFFFF"/>
                </a:solidFill>
                <a:ea typeface="Arial"/>
                <a:cs typeface="Arial"/>
              </a:rPr>
              <a:t>Observability</a:t>
            </a:r>
            <a:r>
              <a:rPr lang="de-DE" sz="1600" b="1" dirty="0">
                <a:solidFill>
                  <a:srgbClr val="FFFFFF"/>
                </a:solidFill>
                <a:ea typeface="Arial"/>
                <a:cs typeface="Arial"/>
              </a:rPr>
              <a:t> · Lock-in</a:t>
            </a:r>
          </a:p>
        </p:txBody>
      </p:sp>
    </p:spTree>
    <p:extLst>
      <p:ext uri="{BB962C8B-B14F-4D97-AF65-F5344CB8AC3E}">
        <p14:creationId xmlns:p14="http://schemas.microsoft.com/office/powerpoint/2010/main" val="11416475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sz="3600" dirty="0"/>
              <a:t>Drei Leitlinien für gutes RAG</a:t>
            </a:r>
          </a:p>
        </p:txBody>
      </p:sp>
      <p:sp>
        <p:nvSpPr>
          <p:cNvPr id="4" name="slide-subtitle">
            <a:extLst>
              <a:ext uri="{FF2B5EF4-FFF2-40B4-BE49-F238E27FC236}">
                <a16:creationId xmlns:a16="http://schemas.microsoft.com/office/drawing/2014/main" id="{BDF0D373-FA57-4027-8FD3-996257B19EC7}"/>
              </a:ext>
            </a:extLst>
          </p:cNvPr>
          <p:cNvSpPr/>
          <p:nvPr/>
        </p:nvSpPr>
        <p:spPr>
          <a:xfrm>
            <a:off x="540000" y="1440000"/>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p:nvPr/>
        </p:nvSpPr>
        <p:spPr>
          <a:xfrm>
            <a:off x="900000" y="2160000"/>
            <a:ext cx="720000" cy="7200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p:nvPr/>
        </p:nvSpPr>
        <p:spPr>
          <a:xfrm>
            <a:off x="1800000" y="2160000"/>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p:nvPr/>
        </p:nvSpPr>
        <p:spPr>
          <a:xfrm>
            <a:off x="5400000" y="216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p:nvPr/>
        </p:nvSpPr>
        <p:spPr>
          <a:xfrm>
            <a:off x="1800000" y="2880000"/>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p:nvPr/>
        </p:nvSpPr>
        <p:spPr>
          <a:xfrm>
            <a:off x="900000" y="3240000"/>
            <a:ext cx="720000" cy="7200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p:nvPr/>
        </p:nvSpPr>
        <p:spPr>
          <a:xfrm>
            <a:off x="1800000" y="3240000"/>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p:nvPr/>
        </p:nvSpPr>
        <p:spPr>
          <a:xfrm>
            <a:off x="5400000" y="324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p:nvPr/>
        </p:nvSpPr>
        <p:spPr>
          <a:xfrm>
            <a:off x="1800000" y="3960000"/>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p:nvPr/>
        </p:nvSpPr>
        <p:spPr>
          <a:xfrm>
            <a:off x="900000" y="4320000"/>
            <a:ext cx="720000" cy="7200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p:nvPr/>
        </p:nvSpPr>
        <p:spPr>
          <a:xfrm>
            <a:off x="1800000" y="4500000"/>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p:nvPr/>
        </p:nvSpPr>
        <p:spPr>
          <a:xfrm>
            <a:off x="5400000" y="432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p:nvPr/>
        </p:nvSpPr>
        <p:spPr>
          <a:xfrm>
            <a:off x="2520000" y="5580000"/>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p:nvPr/>
        </p:nvSpPr>
        <p:spPr>
          <a:xfrm>
            <a:off x="2700000" y="558000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10.08.2026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27</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540000" y="1440000"/>
            <a:ext cx="1980000" cy="1980000"/>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20000" y="1440000"/>
            <a:ext cx="1980000" cy="19800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20000" y="3600000"/>
            <a:ext cx="3420000" cy="1980000"/>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EA2CB40-4AA5-D7F7-B74C-FCE223109893}"/>
              </a:ext>
            </a:extLst>
          </p:cNvPr>
          <p:cNvSpPr>
            <a:spLocks noGrp="1"/>
          </p:cNvSpPr>
          <p:nvPr>
            <p:ph type="title"/>
          </p:nvPr>
        </p:nvSpPr>
        <p:spPr/>
        <p:txBody>
          <a:bodyPr/>
          <a:lstStyle/>
          <a:p>
            <a:r>
              <a:rPr lang="de-CH" dirty="0"/>
              <a:t>Was Ihr heute mitnehmen könnt</a:t>
            </a:r>
          </a:p>
        </p:txBody>
      </p:sp>
      <p:sp>
        <p:nvSpPr>
          <p:cNvPr id="3" name="Datumsplatzhalter 2">
            <a:extLst>
              <a:ext uri="{FF2B5EF4-FFF2-40B4-BE49-F238E27FC236}">
                <a16:creationId xmlns:a16="http://schemas.microsoft.com/office/drawing/2014/main" id="{2DA3CC93-C983-8492-6900-EF81C4EE1E1A}"/>
              </a:ext>
            </a:extLst>
          </p:cNvPr>
          <p:cNvSpPr>
            <a:spLocks noGrp="1"/>
          </p:cNvSpPr>
          <p:nvPr>
            <p:ph type="dt" sz="half" idx="10"/>
          </p:nvPr>
        </p:nvSpPr>
        <p:spPr/>
        <p:txBody>
          <a:bodyPr/>
          <a:lstStyle/>
          <a:p>
            <a:fld id="{3B96E7C6-F2CE-4756-8C9C-414CDB636DDE}" type="datetime1">
              <a:rPr lang="de-CH" smtClean="0"/>
              <a:t>20.08.2026</a:t>
            </a:fld>
            <a:endParaRPr lang="de-CH" dirty="0"/>
          </a:p>
        </p:txBody>
      </p:sp>
      <p:sp>
        <p:nvSpPr>
          <p:cNvPr id="4" name="Foliennummernplatzhalter 3">
            <a:extLst>
              <a:ext uri="{FF2B5EF4-FFF2-40B4-BE49-F238E27FC236}">
                <a16:creationId xmlns:a16="http://schemas.microsoft.com/office/drawing/2014/main" id="{9D321ECF-4452-34A1-FFA5-410A1D0BD724}"/>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5" name="Inhaltsplatzhalter 4">
            <a:extLst>
              <a:ext uri="{FF2B5EF4-FFF2-40B4-BE49-F238E27FC236}">
                <a16:creationId xmlns:a16="http://schemas.microsoft.com/office/drawing/2014/main" id="{B6185FCA-0204-7C49-ECBC-2383F8811DFB}"/>
              </a:ext>
            </a:extLst>
          </p:cNvPr>
          <p:cNvSpPr>
            <a:spLocks noGrp="1"/>
          </p:cNvSpPr>
          <p:nvPr>
            <p:ph sz="quarter" idx="13"/>
          </p:nvPr>
        </p:nvSpPr>
        <p:spPr/>
        <p:txBody>
          <a:bodyPr/>
          <a:lstStyle/>
          <a:p>
            <a:r>
              <a:rPr lang="de-DE" dirty="0"/>
              <a:t>Grenzen reiner LLMs erklären</a:t>
            </a:r>
          </a:p>
          <a:p>
            <a:r>
              <a:rPr lang="de-DE" dirty="0"/>
              <a:t>Die Bausteine einer RAG-Pipeline benennen und einordnen</a:t>
            </a:r>
          </a:p>
          <a:p>
            <a:r>
              <a:rPr lang="de-DE" dirty="0"/>
              <a:t>Selbst eine RAG-Pipeline in Betrieb nehmen</a:t>
            </a:r>
          </a:p>
          <a:p>
            <a:r>
              <a:rPr lang="de-DE" dirty="0"/>
              <a:t>Stellschrauben der Antwortqualität kennen</a:t>
            </a:r>
          </a:p>
          <a:p>
            <a:r>
              <a:rPr lang="de-DE" dirty="0"/>
              <a:t>Qualität messen statt vermuten</a:t>
            </a:r>
          </a:p>
          <a:p>
            <a:r>
              <a:rPr lang="de-DE" dirty="0"/>
              <a:t>Fundierte Architektur-Entscheide treffen</a:t>
            </a:r>
            <a:endParaRPr lang="de-CH" dirty="0"/>
          </a:p>
        </p:txBody>
      </p:sp>
    </p:spTree>
    <p:extLst>
      <p:ext uri="{BB962C8B-B14F-4D97-AF65-F5344CB8AC3E}">
        <p14:creationId xmlns:p14="http://schemas.microsoft.com/office/powerpoint/2010/main" val="206521409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4165</Words>
  <Application>Microsoft Office PowerPoint</Application>
  <PresentationFormat>Breitbild</PresentationFormat>
  <Paragraphs>677</Paragraphs>
  <Slides>27</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27</vt:i4>
      </vt:variant>
    </vt:vector>
  </HeadingPairs>
  <TitlesOfParts>
    <vt:vector size="31"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Stufe 1 · Chat ohne RAG</vt:lpstr>
      <vt:lpstr>Vom Setup zur ersten belegbaren Antwort</vt:lpstr>
      <vt:lpstr>Stufe 2a · Ingest</vt:lpstr>
      <vt:lpstr>Stufe 2b · Retrieval</vt:lpstr>
      <vt:lpstr>Advanced RAG</vt:lpstr>
      <vt:lpstr>Stufe 3 · Chunking und Reranking</vt:lpstr>
      <vt:lpstr>Chunking entscheidet, was auffindbar bleibt</vt:lpstr>
      <vt:lpstr>Reranking sortiert Kandidaten – es findet keine neuen</vt:lpstr>
      <vt:lpstr>Stufe 4 · GraphRAG</vt:lpstr>
      <vt:lpstr>GraphRAG verbindet mehrere Suchsignale</vt:lpstr>
      <vt:lpstr>Hybrider GraphRAG verbindet mehrere Suchsignale</vt:lpstr>
      <vt:lpstr>Hybrider GraphRAG verbindet mehrere Suchsignale</vt:lpstr>
      <vt:lpstr>GraphRAG: höchster Article-Recall, kleinster Kontext</vt:lpstr>
      <vt:lpstr>Besseres Retrieval verbessert Antworten – garantiert sie aber nicht</vt:lpstr>
      <vt:lpstr>Wahlmodul: Drei Gruppen, ein gemeinsamer Befund</vt:lpstr>
      <vt:lpstr>Frameworkwahl ist eine Betriebsentscheidung</vt:lpstr>
      <vt:lpstr>Drei Leitlinien für gutes RAG</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59</cp:revision>
  <dcterms:created xsi:type="dcterms:W3CDTF">2026-08-04T12:09:36Z</dcterms:created>
  <dcterms:modified xsi:type="dcterms:W3CDTF">2026-08-10T18:53:13Z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