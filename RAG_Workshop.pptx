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4.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9400"/>
    <a:srgbClr val="2D3F4B"/>
    <a:srgbClr val="81725E"/>
    <a:srgbClr val="C3BBB2"/>
    <a:srgbClr val="C60C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2" d="100"/>
          <a:sy n="102" d="100"/>
        </p:scale>
        <p:origin x="144" y="24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11" Type="http://schemas.openxmlformats.org/officeDocument/2006/relationships/image" Target="../media/image17.png"/><Relationship Id="rId13" Type="http://schemas.openxmlformats.org/officeDocument/2006/relationships/image" Target="../media/image23.png"/><Relationship Id="rId14" Type="http://schemas.openxmlformats.org/officeDocument/2006/relationships/image" Target="../media/image24.svg"/><Relationship Id="rId15" Type="http://schemas.openxmlformats.org/officeDocument/2006/relationships/image" Target="../media/image25.png"/><Relationship Id="rId16" Type="http://schemas.openxmlformats.org/officeDocument/2006/relationships/image" Target="../media/image26.svg"/><Relationship Id="rId17" Type="http://schemas.openxmlformats.org/officeDocument/2006/relationships/image" Target="../media/image27.png"/><Relationship Id="rId18" Type="http://schemas.openxmlformats.org/officeDocument/2006/relationships/image" Target="../media/image28.svg"/><Relationship Id="rId19" Type="http://schemas.openxmlformats.org/officeDocument/2006/relationships/image" Target="../media/image29.png"/><Relationship Id="rId20" Type="http://schemas.openxmlformats.org/officeDocument/2006/relationships/image" Target="../media/image30.svg"/><Relationship Id="rId21" Type="http://schemas.openxmlformats.org/officeDocument/2006/relationships/image" Target="../media/image31.png"/><Relationship Id="rId22" Type="http://schemas.openxmlformats.org/officeDocument/2006/relationships/image" Target="../media/image32.svg"/><Relationship Id="rId23" Type="http://schemas.openxmlformats.org/officeDocument/2006/relationships/image" Target="../media/image33.png"/><Relationship Id="rId24" Type="http://schemas.openxmlformats.org/officeDocument/2006/relationships/image" Target="../media/image34.svg"/><Relationship Id="rId25" Type="http://schemas.openxmlformats.org/officeDocument/2006/relationships/image" Target="../media/image35.png"/><Relationship Id="rId26" Type="http://schemas.openxmlformats.org/officeDocument/2006/relationships/image" Target="../media/image36.svg"/><Relationship Id="rId27" Type="http://schemas.openxmlformats.org/officeDocument/2006/relationships/image" Target="../media/image37.png"/><Relationship Id="rId28" Type="http://schemas.openxmlformats.org/officeDocument/2006/relationships/image" Target="../media/image38.svg"/><Relationship Id="rId29" Type="http://schemas.openxmlformats.org/officeDocument/2006/relationships/image" Target="../media/image39.png"/><Relationship Id="rId30" Type="http://schemas.openxmlformats.org/officeDocument/2006/relationships/image" Target="../media/image40.svg"/><Relationship Id="rId31" Type="http://schemas.openxmlformats.org/officeDocument/2006/relationships/image" Target="../media/image41.png"/><Relationship Id="rId32" Type="http://schemas.openxmlformats.org/officeDocument/2006/relationships/image" Target="../media/image42.svg"/><Relationship Id="rId33" Type="http://schemas.openxmlformats.org/officeDocument/2006/relationships/image" Target="../media/image43.png"/><Relationship Id="rId34" Type="http://schemas.openxmlformats.org/officeDocument/2006/relationships/image" Target="../media/image4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1.jpg"/><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624215" y="5142674"/>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Raw Data Files</a:t>
              </a:r>
              <a:endParaRPr sz="1000"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3">
              <a:extLst>
                <a:ext uri="{96DAC541-7B7A-43D3-8B79-37D633B846F1}">
                  <ns0:svgBlip xmlns:ns0="http://schemas.microsoft.com/office/drawing/2016/SVG/main" r:embed="rId14"/>
                </a:ext>
              </a:extLst>
            </a:blip>
            <a:stretch>
              <a:fillRect/>
            </a:stretch>
          </p:blipFill>
          <p:spPr>
            <a:xfrm>
              <a:off x="1110215" y="5478100"/>
              <a:ext cx="468000" cy="468000"/>
            </a:xfrm>
            <a:prstGeom prst="rect">
              <a:avLst/>
            </a:prstGeom>
          </p:spPr>
        </p:pic>
      </p:grpSp>
      <p:grpSp>
        <p:nvGrpSpPr>
          <p:cNvPr id="147" name="Gruppe Query"/>
          <p:cNvGrpSpPr/>
          <p:nvPr/>
        </p:nvGrpSpPr>
        <p:grpSpPr>
          <a:xfrm>
            <a:off x="10196840" y="1570799"/>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chemeClr val="accent1">
                <a:alpha val="5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Query</a:t>
              </a:r>
              <a:endParaRPr sz="1000"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5">
              <a:extLst>
                <a:ext uri="{96DAC541-7B7A-43D3-8B79-37D633B846F1}">
                  <ns1:svgBlip xmlns:ns1="http://schemas.microsoft.com/office/drawing/2016/SVG/main" r:embed="rId16"/>
                </a:ext>
              </a:extLst>
            </a:blip>
            <a:stretch>
              <a:fillRect/>
            </a:stretch>
          </p:blipFill>
          <p:spPr>
            <a:xfrm>
              <a:off x="10682840" y="1906225"/>
              <a:ext cx="468000" cy="468000"/>
            </a:xfrm>
            <a:prstGeom prst="rect">
              <a:avLst/>
            </a:prstGeom>
          </p:spPr>
        </p:pic>
        <p:sp>
          <p:nvSpPr>
            <p:cNvPr id="159" name="Gerader Verbinder 159"/>
            <p:cNvSpPr>
              <a:spLocks/>
            </p:cNvSpPr>
            <p:nvPr/>
          </p:nvSpPr>
          <p:spPr>
            <a:xfrm flipV="1">
              <a:off x="10196840" y="1859360"/>
              <a:ext cx="14400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8" name="Gruppe Response"/>
          <p:cNvGrpSpPr/>
          <p:nvPr/>
        </p:nvGrpSpPr>
        <p:grpSpPr>
          <a:xfrm>
            <a:off x="10196840" y="516135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chemeClr val="accent5">
                <a:alpha val="5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Response</a:t>
              </a:r>
              <a:endParaRPr sz="1000"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17">
              <a:extLst>
                <a:ext uri="{96DAC541-7B7A-43D3-8B79-37D633B846F1}">
                  <ns2:svgBlip xmlns:ns2="http://schemas.microsoft.com/office/drawing/2016/SVG/main" r:embed="rId18"/>
                </a:ext>
              </a:extLst>
            </a:blip>
            <a:stretch>
              <a:fillRect/>
            </a:stretch>
          </p:blipFill>
          <p:spPr>
            <a:xfrm>
              <a:off x="10682840" y="5496779"/>
              <a:ext cx="468000" cy="468000"/>
            </a:xfrm>
            <a:prstGeom prst="rect">
              <a:avLst/>
            </a:prstGeom>
          </p:spPr>
        </p:pic>
        <p:sp>
          <p:nvSpPr>
            <p:cNvPr id="160" name="Gerader Verbinder 160"/>
            <p:cNvSpPr>
              <a:spLocks/>
            </p:cNvSpPr>
            <p:nvPr/>
          </p:nvSpPr>
          <p:spPr>
            <a:xfrm flipV="1">
              <a:off x="10196840" y="5449914"/>
              <a:ext cx="1440000"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9" name="Gruppe Information Extraction"/>
          <p:cNvGrpSpPr/>
          <p:nvPr/>
        </p:nvGrpSpPr>
        <p:grpSpPr>
          <a:xfrm>
            <a:off x="472711" y="3952049"/>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anchor="t" bIns="90000"/>
            <a:lstStyle/>
            <a:p>
              <a:pPr algn="ctr">
                <a:buNone/>
              </a:pPr>
              <a:r>
                <a:rPr lang="de-CH" sz="1000" dirty="0">
                  <a:solidFill>
                    <a:schemeClr val="bg2">
                      <a:lumMod val="10000"/>
                    </a:schemeClr>
                  </a:solidFill>
                </a:rPr>
                <a:t>Information Extraction</a:t>
              </a:r>
              <a:endParaRPr sz="1000"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19">
              <a:extLst>
                <a:ext uri="{96DAC541-7B7A-43D3-8B79-37D633B846F1}">
                  <ns3:svgBlip xmlns:ns3="http://schemas.microsoft.com/office/drawing/2016/SVG/main" r:embed="rId20"/>
                </a:ext>
              </a:extLst>
            </a:blip>
            <a:stretch>
              <a:fillRect/>
            </a:stretch>
          </p:blipFill>
          <p:spPr>
            <a:xfrm>
              <a:off x="1108908" y="4287475"/>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1000"/>
            </a:p>
          </p:txBody>
        </p:sp>
      </p:grpSp>
      <p:grpSp>
        <p:nvGrpSpPr>
          <p:cNvPr id="50" name="Gruppieren 49">
            <a:extLst>
              <a:ext uri="{FF2B5EF4-FFF2-40B4-BE49-F238E27FC236}">
                <a16:creationId xmlns:a16="http://schemas.microsoft.com/office/drawing/2014/main" id="{8508E21A-AF16-CF37-8FB0-BF8A7BDA03CE}"/>
              </a:ext>
            </a:extLst>
          </p:cNvPr>
          <p:cNvGrpSpPr/>
          <p:nvPr/>
        </p:nvGrpSpPr>
        <p:grpSpPr>
          <a:xfrm>
            <a:off x="624215" y="2761424"/>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r>
                <a:rPr lang="de-CH" sz="1000" dirty="0">
                  <a:solidFill>
                    <a:schemeClr val="bg2">
                      <a:lumMod val="10000"/>
                    </a:schemeClr>
                  </a:solidFill>
                </a:rPr>
                <a:t>Chunking</a:t>
              </a:r>
              <a:endParaRPr sz="1000"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1">
              <a:extLst>
                <a:ext uri="{96DAC541-7B7A-43D3-8B79-37D633B846F1}">
                  <ns4:svgBlip xmlns:ns4="http://schemas.microsoft.com/office/drawing/2016/SVG/main" r:embed="rId22"/>
                </a:ext>
              </a:extLst>
            </a:blip>
            <a:stretch>
              <a:fillRect/>
            </a:stretch>
          </p:blipFill>
          <p:spPr>
            <a:xfrm>
              <a:off x="1110215" y="3096850"/>
              <a:ext cx="468000" cy="468000"/>
            </a:xfrm>
            <a:prstGeom prst="rect">
              <a:avLst/>
            </a:prstGeom>
          </p:spPr>
        </p:pic>
      </p:grpSp>
      <p:grpSp>
        <p:nvGrpSpPr>
          <p:cNvPr id="151" name="Gruppe Embedding"/>
          <p:cNvGrpSpPr/>
          <p:nvPr/>
        </p:nvGrpSpPr>
        <p:grpSpPr>
          <a:xfrm>
            <a:off x="5009244" y="1578083"/>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err="1">
                  <a:solidFill>
                    <a:schemeClr val="bg2">
                      <a:lumMod val="10000"/>
                    </a:schemeClr>
                  </a:solidFill>
                </a:rPr>
                <a:t>Embeddings</a:t>
              </a:r>
              <a:endParaRPr sz="1000"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3">
              <a:extLst>
                <a:ext uri="{96DAC541-7B7A-43D3-8B79-37D633B846F1}">
                  <ns5:svgBlip xmlns:ns5="http://schemas.microsoft.com/office/drawing/2016/SVG/main" r:embed="rId24"/>
                </a:ext>
              </a:extLst>
            </a:blip>
            <a:stretch>
              <a:fillRect/>
            </a:stretch>
          </p:blipFill>
          <p:spPr>
            <a:xfrm>
              <a:off x="5495244" y="1913509"/>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3" name="Gruppe Vector Database"/>
          <p:cNvGrpSpPr/>
          <p:nvPr/>
        </p:nvGrpSpPr>
        <p:grpSpPr>
          <a:xfrm>
            <a:off x="5005715" y="2761424"/>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Vector Database</a:t>
              </a:r>
              <a:endParaRPr sz="1000"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25">
              <a:extLst>
                <a:ext uri="{96DAC541-7B7A-43D3-8B79-37D633B846F1}">
                  <ns6:svgBlip xmlns:ns6="http://schemas.microsoft.com/office/drawing/2016/SVG/main" r:embed="rId26"/>
                </a:ext>
              </a:extLst>
            </a:blip>
            <a:stretch>
              <a:fillRect/>
            </a:stretch>
          </p:blipFill>
          <p:spPr>
            <a:xfrm>
              <a:off x="5491715" y="3111591"/>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4" name="Gruppe Relevant Data"/>
          <p:cNvGrpSpPr/>
          <p:nvPr/>
        </p:nvGrpSpPr>
        <p:grpSpPr>
          <a:xfrm>
            <a:off x="5005715" y="5161353"/>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Relevant Data</a:t>
              </a:r>
              <a:endParaRPr sz="1000"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7">
              <a:extLst>
                <a:ext uri="{96DAC541-7B7A-43D3-8B79-37D633B846F1}">
                  <ns7:svgBlip xmlns:ns7="http://schemas.microsoft.com/office/drawing/2016/SVG/main" r:embed="rId28"/>
                </a:ext>
              </a:extLst>
            </a:blip>
            <a:stretch>
              <a:fillRect/>
            </a:stretch>
          </p:blipFill>
          <p:spPr>
            <a:xfrm>
              <a:off x="5491715" y="5496779"/>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5" name="Gruppe Embedding LLM"/>
          <p:cNvGrpSpPr/>
          <p:nvPr/>
        </p:nvGrpSpPr>
        <p:grpSpPr>
          <a:xfrm>
            <a:off x="7996042" y="1570799"/>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29">
              <a:extLst>
                <a:ext uri="{96DAC541-7B7A-43D3-8B79-37D633B846F1}">
                  <ns8:svgBlip xmlns:ns8="http://schemas.microsoft.com/office/drawing/2016/SVG/main" r:embed="rId30"/>
                </a:ext>
              </a:extLst>
            </a:blip>
            <a:stretch>
              <a:fillRect/>
            </a:stretch>
          </p:blipFill>
          <p:spPr>
            <a:xfrm>
              <a:off x="8482042" y="1906225"/>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7" name="Gruppieren 26">
            <a:extLst>
              <a:ext uri="{FF2B5EF4-FFF2-40B4-BE49-F238E27FC236}">
                <a16:creationId xmlns:a16="http://schemas.microsoft.com/office/drawing/2014/main" id="{CC8957DA-7EEF-07E6-4817-4A1CAB29C56A}"/>
              </a:ext>
            </a:extLst>
          </p:cNvPr>
          <p:cNvGrpSpPr/>
          <p:nvPr/>
        </p:nvGrpSpPr>
        <p:grpSpPr>
          <a:xfrm>
            <a:off x="8006090" y="5161353"/>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LLM</a:t>
              </a:r>
              <a:endParaRPr sz="1000"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1">
              <a:extLst>
                <a:ext uri="{96DAC541-7B7A-43D3-8B79-37D633B846F1}">
                  <ns9:svgBlip xmlns:ns9="http://schemas.microsoft.com/office/drawing/2016/SVG/main" r:embed="rId32"/>
                </a:ext>
              </a:extLst>
            </a:blip>
            <a:stretch>
              <a:fillRect/>
            </a:stretch>
          </p:blipFill>
          <p:spPr>
            <a:xfrm>
              <a:off x="8492090" y="5496779"/>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399"/>
            <a:ext cx="2082204" cy="27042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192712" y="3629024"/>
            <a:ext cx="151503"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H="1" flipV="1">
            <a:off x="1337904" y="2438399"/>
            <a:ext cx="6311"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6114751" y="2012297"/>
            <a:ext cx="642461" cy="78337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6593315" y="5595153"/>
            <a:ext cx="126517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6593315" y="3195224"/>
            <a:ext cx="126517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cxnSpLocks/>
            <a:stCxn id="93" idx="1"/>
          </p:cNvCxnSpPr>
          <p:nvPr/>
        </p:nvCxnSpPr>
        <p:spPr>
          <a:xfrm flipH="1">
            <a:off x="4355058" y="2005013"/>
            <a:ext cx="3499473" cy="7797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cxnSpLocks/>
            <a:stCxn id="18" idx="1"/>
          </p:cNvCxnSpPr>
          <p:nvPr/>
        </p:nvCxnSpPr>
        <p:spPr>
          <a:xfrm flipH="1">
            <a:off x="9355930" y="2005013"/>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2205504" y="2004599"/>
            <a:ext cx="35331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706419" y="1570799"/>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29">
              <a:extLst>
                <a:ext uri="{96DAC541-7B7A-43D3-8B79-37D633B846F1}">
                  <ns10:svgBlip xmlns:ns10="http://schemas.microsoft.com/office/drawing/2016/SVG/main" r:embed="rId30"/>
                </a:ext>
              </a:extLst>
            </a:blip>
            <a:stretch>
              <a:fillRect/>
            </a:stretch>
          </p:blipFill>
          <p:spPr>
            <a:xfrm>
              <a:off x="3269916" y="1906225"/>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4294019" y="2004599"/>
            <a:ext cx="567625" cy="728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593690" y="5595153"/>
            <a:ext cx="45555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42" idx="2"/>
          </p:cNvCxnSpPr>
          <p:nvPr/>
        </p:nvCxnSpPr>
        <p:spPr>
          <a:xfrm flipH="1" flipV="1">
            <a:off x="1192712" y="4755475"/>
            <a:ext cx="151503" cy="387199"/>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583642" y="2004599"/>
            <a:ext cx="465598"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6" idx="2"/>
            <a:endCxn id="32" idx="0"/>
          </p:cNvCxnSpPr>
          <p:nvPr/>
        </p:nvCxnSpPr>
        <p:spPr>
          <a:xfrm>
            <a:off x="8716042" y="2374225"/>
            <a:ext cx="10048" cy="387199"/>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endCxn id="72" idx="0"/>
          </p:cNvCxnSpPr>
          <p:nvPr/>
        </p:nvCxnSpPr>
        <p:spPr>
          <a:xfrm>
            <a:off x="5713094" y="2445683"/>
            <a:ext cx="12621" cy="31574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81" idx="0"/>
          </p:cNvCxnSpPr>
          <p:nvPr/>
        </p:nvCxnSpPr>
        <p:spPr>
          <a:xfrm>
            <a:off x="5725715" y="3629024"/>
            <a:ext cx="0" cy="1532329"/>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617904" y="1570799"/>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Chunks</a:t>
              </a:r>
              <a:endParaRPr sz="1000"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1"/>
            <a:stretch>
              <a:fillRect/>
            </a:stretch>
          </p:blipFill>
          <p:spPr>
            <a:xfrm flipH="1">
              <a:off x="1137126" y="1906225"/>
              <a:ext cx="401555"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39" name="Gruppieren 38">
            <a:extLst>
              <a:ext uri="{FF2B5EF4-FFF2-40B4-BE49-F238E27FC236}">
                <a16:creationId xmlns:a16="http://schemas.microsoft.com/office/drawing/2014/main" id="{1CE371FF-AA8D-9463-C284-4D4EC69E806E}"/>
              </a:ext>
            </a:extLst>
          </p:cNvPr>
          <p:cNvGrpSpPr/>
          <p:nvPr/>
        </p:nvGrpSpPr>
        <p:grpSpPr>
          <a:xfrm>
            <a:off x="8006090" y="2761424"/>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r>
                <a:rPr lang="de-CH" sz="1000" dirty="0" err="1">
                  <a:solidFill>
                    <a:schemeClr val="bg2">
                      <a:lumMod val="10000"/>
                    </a:schemeClr>
                  </a:solidFill>
                </a:rPr>
                <a:t>Embeddings</a:t>
              </a:r>
              <a:endParaRPr sz="1000"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3">
              <a:extLst>
                <a:ext uri="{96DAC541-7B7A-43D3-8B79-37D633B846F1}">
                  <ns11:svgBlip xmlns:ns11="http://schemas.microsoft.com/office/drawing/2016/SVG/main" r:embed="rId24"/>
                </a:ext>
              </a:extLst>
            </a:blip>
            <a:stretch>
              <a:fillRect/>
            </a:stretch>
          </p:blipFill>
          <p:spPr>
            <a:xfrm>
              <a:off x="8492090" y="3129955"/>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3" name="Gruppe Embedding LLM">
            <a:extLst>
              <a:ext uri="{FF2B5EF4-FFF2-40B4-BE49-F238E27FC236}">
                <a16:creationId xmlns:a16="http://schemas.microsoft.com/office/drawing/2014/main" id="{D25D0927-7500-9C4D-B2AC-C86A40E321DD}"/>
              </a:ext>
            </a:extLst>
          </p:cNvPr>
          <p:cNvGrpSpPr/>
          <p:nvPr/>
        </p:nvGrpSpPr>
        <p:grpSpPr>
          <a:xfrm>
            <a:off x="2691315" y="3952049"/>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tIns="28800" anchor="t" lIns="54000" rIns="54000" bIns="90000"/>
            <a:lstStyle/>
            <a:p>
              <a:pPr algn="ctr">
                <a:buNone/>
              </a:pPr>
              <a:r>
                <a:rPr lang="de-CH" sz="1000" dirty="0">
                  <a:solidFill>
                    <a:schemeClr val="bg2">
                      <a:lumMod val="10000"/>
                    </a:schemeClr>
                  </a:solidFill>
                </a:rPr>
                <a:t>Graph Engine</a:t>
              </a:r>
              <a:endParaRPr sz="1000"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3">
              <a:extLst>
                <a:ext uri="{96DAC541-7B7A-43D3-8B79-37D633B846F1}">
                  <ns12:svgBlip xmlns:ns12="http://schemas.microsoft.com/office/drawing/2016/SVG/main" r:embed="rId34"/>
                </a:ext>
              </a:extLst>
            </a:blip>
            <a:stretch>
              <a:fillRect/>
            </a:stretch>
          </p:blipFill>
          <p:spPr>
            <a:xfrm>
              <a:off x="3269916" y="1906225"/>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10115" y="4385849"/>
            <a:ext cx="6336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4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9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9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0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8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11"/>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24"/>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8"/>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2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31"/>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animBg="1"/>
      <p:bldP spid="24" grpId="0" animBg="1"/>
      <p:bldP spid="37" grpId="0" animBg="1"/>
      <p:bldP spid="44" grpId="0" animBg="1"/>
      <p:bldP spid="45" grpId="0" animBg="1"/>
      <p:bldP spid="51" grpId="0" animBg="1"/>
      <p:bldP spid="54" grpId="0" animBg="1"/>
      <p:bldP spid="58" grpId="0" animBg="1"/>
      <p:bldP spid="72" grpId="0" animBg="1"/>
      <p:bldP spid="79" grpId="0" animBg="1"/>
      <p:bldP spid="81" grpId="0" animBg="1"/>
      <p:bldP spid="90" grpId="0" animBg="1"/>
      <p:bldP spid="93" grpId="0" animBg="1"/>
      <p:bldP spid="101" grpId="0" animBg="1"/>
      <p:bldP spid="102" grpId="0" animBg="1"/>
      <p:bldP spid="106" grpId="0" animBg="1"/>
      <p:bldP spid="137" grpId="0" animBg="1"/>
      <p:bldP spid="140" grpId="0" animBg="1"/>
      <p:bldP spid="121" grpId="0" animBg="1"/>
      <p:bldP spid="124" grpId="0" animBg="1"/>
      <p:bldP spid="32" grpId="0" animBg="1"/>
      <p:bldP spid="35" grpId="0" animBg="1"/>
      <p:bldP spid="25" grpId="0" animBg="1"/>
      <p:bldP spid="3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3967</Words>
  <Application>Microsoft Office PowerPoint</Application>
  <PresentationFormat>Breitbild</PresentationFormat>
  <Paragraphs>563</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38</cp:revision>
  <dcterms:created xsi:type="dcterms:W3CDTF">2026-08-04T12:09:36Z</dcterms:created>
  <dcterms:modified xsi:type="dcterms:W3CDTF">2026-08-07T16:10:29Z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