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05" r:id="rId10"/>
    <p:sldId id="317" r:id="rId11"/>
    <p:sldId id="277" r:id="rId12"/>
    <p:sldId id="319" r:id="rId13"/>
    <p:sldId id="266" r:id="rId14"/>
    <p:sldId id="307" r:id="rId15"/>
    <p:sldId id="308" r:id="rId16"/>
    <p:sldId id="256" r:id="rId17"/>
    <p:sldId id="313" r:id="rId18"/>
    <p:sldId id="320" r:id="rId19"/>
    <p:sldId id="315" r:id="rId20"/>
    <p:sldId id="316"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05"/>
            <p14:sldId id="317"/>
            <p14:sldId id="277"/>
            <p14:sldId id="319"/>
            <p14:sldId id="266"/>
            <p14:sldId id="307"/>
            <p14:sldId id="308"/>
            <p14:sldId id="256"/>
            <p14:sldId id="313"/>
            <p14:sldId id="320"/>
            <p14:sldId id="315"/>
            <p14:sldId id="316"/>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79298" autoAdjust="0"/>
  </p:normalViewPr>
  <p:slideViewPr>
    <p:cSldViewPr snapToGrid="0">
      <p:cViewPr varScale="1">
        <p:scale>
          <a:sx n="88" d="100"/>
          <a:sy n="88" d="100"/>
        </p:scale>
        <p:origin x="1470" y="7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06.08.2026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06.08.2026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Folie baut auf den drei Anfragearten der vorherigen Folie auf. Ohne Kontext muss das Modell fehlende Details expandieren. RAG liefert relevante Dokumentstellen und macht daraus eine Kompressionsaufgabe. Translation verändert dagegen primär Darstellung oder Sprache.</a:t>
            </a:r>
          </a:p>
          <a:p>
            <a:endParaRPr/>
          </a:p>
          <a:p>
            <a:r>
              <a:t>[Sources]</a:t>
            </a:r>
          </a:p>
          <a:p>
            <a:r>
              <a:t>- Workshop - RAG (Retrieval Augmented Generation), Confluence, Seite 321455241</a:t>
            </a:r>
          </a:p>
          <a:p>
            <a:r>
              <a:t>- Google Material Design Icons: open_in_full, compress, translate; Apache License 2.0</a:t>
            </a:r>
          </a:p>
          <a:p>
            <a:r>
              <a:t>- https://github.com/google/material-design-icons</a:t>
            </a:r>
          </a:p>
          <a:p>
            <a:r>
              <a:t>- https://github.com/google/material-design-icons/blob/master/LICENSE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Das Repository ist bewusst stufenweise aufgebaut. rag-1 zeigt nur den Modellaufruf. rag-2 ergänzt Fixed-Size-Chunking, Chroma und klassisches Vector Retrieval. rag-3 führt strukturorientiertes Legal-Chunking sowie optionales Cross-Encoder-Reranking ein. rag-4 ergänzt hybrides Retrieval und Graph-Nachbarn. evaluate.py vergleicht Retrieval, Antwortqualität und Tokenverbrauch. Die Stufen sind Lernschritte und keine konkurrierenden Produktversionen.</a:t>
            </a:r>
          </a:p>
          <a:p>
            <a:endParaRPr/>
          </a:p>
          <a:p>
            <a:r>
              <a:t>[Sources]</a:t>
            </a:r>
          </a:p>
          <a:p>
            <a:r>
              <a:t>- C:/Users/mehlst/Documents/RAG-Workshop/README.md</a:t>
            </a:r>
          </a:p>
          <a:p>
            <a:r>
              <a:t>- C:/Users/mehlst/Documents/RAG-Workshop/Workshop2026-RAG-Workshop-Script.txt</a:t>
            </a:r>
          </a:p>
          <a:p>
            <a:r>
              <a:t>- C:/Users/mehlst/Documents/RAG-Workshop/rag-1-chat.py</a:t>
            </a:r>
          </a:p>
          <a:p>
            <a:r>
              <a:t>- C:/Users/mehlst/Documents/RAG-Workshop/rag-2a-ingest.py</a:t>
            </a:r>
          </a:p>
          <a:p>
            <a:r>
              <a:t>- C:/Users/mehlst/Documents/RAG-Workshop/rag-3a-ingest.py</a:t>
            </a:r>
          </a:p>
          <a:p>
            <a:r>
              <a:t>- C:/Users/mehlst/Documents/RAG-Workshop/rag-4b-chat.py</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pPr marL="0" indent="0">
              <a:buNone/>
            </a:pPr>
            <a:r>
              <a:rPr lang="de-DE" dirty="0"/>
              <a:t>Semantische Chunking in unserer Implementierung:</a:t>
            </a:r>
          </a:p>
          <a:p>
            <a:r>
              <a:rPr lang="de-DE" dirty="0"/>
              <a:t>So funktioniert es:</a:t>
            </a:r>
          </a:p>
          <a:p>
            <a:r>
              <a:rPr lang="de-DE" dirty="0" err="1"/>
              <a:t>Markdown</a:t>
            </a:r>
            <a:r>
              <a:rPr lang="de-DE" dirty="0"/>
              <a:t> wird in Blöcke beziehungsweise Absätze zerlegt.</a:t>
            </a:r>
          </a:p>
          <a:p>
            <a:r>
              <a:rPr lang="de-DE" dirty="0"/>
              <a:t>PDF-Seitenmarker, Inhaltsverzeichnisse und isolierte Quellenfragmente werden entfernt.</a:t>
            </a:r>
          </a:p>
          <a:p>
            <a:r>
              <a:rPr lang="de-DE" dirty="0"/>
              <a:t>Eine Zeile mit </a:t>
            </a:r>
            <a:r>
              <a:rPr lang="de-DE" sz="1800" kern="1200" dirty="0">
                <a:solidFill>
                  <a:schemeClr val="tx1"/>
                </a:solidFill>
                <a:latin typeface="+mn-lt"/>
                <a:ea typeface="+mn-ea"/>
                <a:cs typeface="+mn-cs"/>
              </a:rPr>
              <a:t>Art. &lt;Nummer&gt;</a:t>
            </a:r>
            <a:r>
              <a:rPr lang="de-DE" dirty="0"/>
              <a:t> beginnt einen neuen Artikel-Chunk.</a:t>
            </a:r>
          </a:p>
          <a:p>
            <a:r>
              <a:rPr lang="de-DE" dirty="0"/>
              <a:t>Ein Artikel bleibt möglichst vollständig zusammen.</a:t>
            </a:r>
          </a:p>
          <a:p>
            <a:r>
              <a:rPr lang="de-DE" dirty="0"/>
              <a:t>Ist ein Artikel zu groß, wird bevorzugt getrennt an:</a:t>
            </a:r>
          </a:p>
          <a:p>
            <a:pPr lvl="1"/>
            <a:r>
              <a:rPr lang="de-DE" dirty="0"/>
              <a:t>Absätzen</a:t>
            </a:r>
          </a:p>
          <a:p>
            <a:pPr lvl="1"/>
            <a:r>
              <a:rPr lang="de-DE" dirty="0"/>
              <a:t>nummerierten Bestimmungen</a:t>
            </a:r>
          </a:p>
          <a:p>
            <a:pPr lvl="1"/>
            <a:r>
              <a:rPr lang="de-DE" dirty="0"/>
              <a:t>Satzgrenzen</a:t>
            </a:r>
          </a:p>
          <a:p>
            <a:pPr lvl="1"/>
            <a:r>
              <a:rPr lang="de-DE" dirty="0"/>
              <a:t>erst im Notfall an Leerzeichen beziehungsweise Zeichen</a:t>
            </a:r>
          </a:p>
          <a:p>
            <a:r>
              <a:rPr lang="de-DE" dirty="0"/>
              <a:t>Fortsetzungen erhalten einen Präfix wie:</a:t>
            </a:r>
          </a:p>
          <a:p>
            <a:pPr rtl="0"/>
            <a:r>
              <a:rPr lang="de-DE" sz="1800" kern="1200" dirty="0">
                <a:solidFill>
                  <a:schemeClr val="tx1"/>
                </a:solidFill>
                <a:latin typeface="+mn-lt"/>
                <a:ea typeface="+mn-ea"/>
                <a:cs typeface="+mn-cs"/>
              </a:rPr>
              <a:t>Art. 13 (Fortsetzung)</a:t>
            </a:r>
          </a:p>
          <a:p>
            <a:r>
              <a:rPr lang="de-DE" dirty="0"/>
              <a:t>Kleine Nicht-Artikel-Blöcke werden bis zum Größenbudget zusammengeführt.</a:t>
            </a:r>
          </a:p>
          <a:p>
            <a:endParaRPr lang="de-DE"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a:pPr>
            <a:r>
              <a:rPr lang="de-CH" sz="1800" kern="1200" dirty="0">
                <a:solidFill>
                  <a:schemeClr val="tx1"/>
                </a:solidFill>
                <a:latin typeface="+mn-lt"/>
                <a:ea typeface="+mn-ea"/>
                <a:cs typeface="+mn-cs"/>
              </a:rPr>
              <a:t>BAAI/bge-reranker-v2-m3 ist unser Cross-Encoder</a:t>
            </a:r>
          </a:p>
          <a:p>
            <a:pPr marL="0" marR="0" lvl="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a:pPr>
            <a:endParaRPr lang="de-DE" dirty="0"/>
          </a:p>
          <a:p>
            <a:r>
              <a:rPr dirty="0"/>
              <a:t>rag-3c holt </a:t>
            </a:r>
            <a:r>
              <a:rPr dirty="0" err="1"/>
              <a:t>zunächst</a:t>
            </a:r>
            <a:r>
              <a:rPr dirty="0"/>
              <a:t> Vector-</a:t>
            </a:r>
            <a:r>
              <a:rPr dirty="0" err="1"/>
              <a:t>Kandidaten</a:t>
            </a:r>
            <a:r>
              <a:rPr dirty="0"/>
              <a:t> und </a:t>
            </a:r>
            <a:r>
              <a:rPr dirty="0" err="1"/>
              <a:t>bewertet</a:t>
            </a:r>
            <a:r>
              <a:rPr dirty="0"/>
              <a:t> </a:t>
            </a:r>
            <a:r>
              <a:rPr dirty="0" err="1"/>
              <a:t>anschließend</a:t>
            </a:r>
            <a:r>
              <a:rPr dirty="0"/>
              <a:t> Frage und Chunk </a:t>
            </a:r>
            <a:r>
              <a:rPr dirty="0" err="1"/>
              <a:t>gemeinsam</a:t>
            </a:r>
            <a:r>
              <a:rPr dirty="0"/>
              <a:t> </a:t>
            </a:r>
            <a:r>
              <a:rPr dirty="0" err="1"/>
              <a:t>mit</a:t>
            </a:r>
            <a:r>
              <a:rPr dirty="0"/>
              <a:t> </a:t>
            </a:r>
            <a:r>
              <a:rPr dirty="0" err="1"/>
              <a:t>einem</a:t>
            </a:r>
            <a:r>
              <a:rPr dirty="0"/>
              <a:t> Cross-Encoder. Nur die </a:t>
            </a:r>
            <a:r>
              <a:rPr dirty="0" err="1"/>
              <a:t>bestbewerteten</a:t>
            </a:r>
            <a:r>
              <a:rPr dirty="0"/>
              <a:t> Chunks </a:t>
            </a:r>
            <a:r>
              <a:rPr dirty="0" err="1"/>
              <a:t>gehen</a:t>
            </a:r>
            <a:r>
              <a:rPr dirty="0"/>
              <a:t> in den Prompt. Reranking </a:t>
            </a:r>
            <a:r>
              <a:rPr dirty="0" err="1"/>
              <a:t>verbessert</a:t>
            </a:r>
            <a:r>
              <a:rPr dirty="0"/>
              <a:t> </a:t>
            </a:r>
            <a:r>
              <a:rPr dirty="0" err="1"/>
              <a:t>Präzision</a:t>
            </a:r>
            <a:r>
              <a:rPr dirty="0"/>
              <a:t> und </a:t>
            </a:r>
            <a:r>
              <a:rPr dirty="0" err="1"/>
              <a:t>Reihenfolge</a:t>
            </a:r>
            <a:r>
              <a:rPr dirty="0"/>
              <a:t>, </a:t>
            </a:r>
            <a:r>
              <a:rPr dirty="0" err="1"/>
              <a:t>aber</a:t>
            </a:r>
            <a:r>
              <a:rPr dirty="0"/>
              <a:t> </a:t>
            </a:r>
            <a:r>
              <a:rPr dirty="0" err="1"/>
              <a:t>nicht</a:t>
            </a:r>
            <a:r>
              <a:rPr dirty="0"/>
              <a:t> den </a:t>
            </a:r>
            <a:r>
              <a:rPr dirty="0" err="1"/>
              <a:t>Kandidaten</a:t>
            </a:r>
            <a:r>
              <a:rPr dirty="0"/>
              <a:t>-Recall.</a:t>
            </a:r>
          </a:p>
          <a:p>
            <a:endParaRPr dirty="0"/>
          </a:p>
          <a:p>
            <a:r>
              <a:rPr dirty="0"/>
              <a:t>[Sources]</a:t>
            </a:r>
          </a:p>
          <a:p>
            <a:r>
              <a:rPr dirty="0"/>
              <a:t>- C:/Users/mehlst/Documents/RAG-Workshop/rag-3c-chat-rerank.py</a:t>
            </a:r>
          </a:p>
          <a:p>
            <a:r>
              <a:rPr dirty="0"/>
              <a:t>- C:/Users/mehlst/Documents/RAG-Workshop/Workshop2026-RAG-Workshop-Script.txt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lang="de-CH" dirty="0" err="1"/>
              <a:t>graph_retrieve</a:t>
            </a:r>
            <a:r>
              <a:rPr lang="de-CH" dirty="0"/>
              <a:t> kombiniert semantische Treffer mit lexikalischen Artikelkandidaten. </a:t>
            </a:r>
            <a:r>
              <a:rPr lang="de-CH" dirty="0" err="1"/>
              <a:t>Reciprocal</a:t>
            </a:r>
            <a:r>
              <a:rPr lang="de-CH" dirty="0"/>
              <a:t> Rank Fusion führt die Rankings zusammen. Erst danach werden Graph-Nachbarn und erkannte Artikelverweise ergänzt. Der Graph ersetzt die Suche nicht, sondern erweitert gute Seeds.</a:t>
            </a:r>
          </a:p>
          <a:p>
            <a:endParaRPr lang="de-CH" dirty="0"/>
          </a:p>
          <a:p>
            <a:r>
              <a:rPr lang="de-CH" dirty="0"/>
              <a:t>[Sources]</a:t>
            </a:r>
          </a:p>
          <a:p>
            <a:r>
              <a:rPr lang="de-CH" dirty="0"/>
              <a:t>- C:/Users/mehlst/Documents/RAG-Workshop/graph_retrieval.py</a:t>
            </a:r>
          </a:p>
          <a:p>
            <a:r>
              <a:rPr lang="de-CH" dirty="0"/>
              <a:t>- C:/Users/mehlst/Documents/RAG-Workshop/rag-4b-chat.py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Im aktuellen Lauf erreichen Vector und Graph jeweils 100 Prozent Article Recall@K. Die MRR-Werte sind praktisch gleich. GraphRAG benötigt durchschnittlich 746 statt 857 Prompt-Kontext-Tokens, also 13 Prozent weniger. Diese Werte stammen aus acht Fragen und sind keine allgemeine Benchmark.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GraphRAG deckt im aktuellen Lauf mehr erwartete Fakten ab, liegt aber bei Expected-citation Precision, Citation Grounding und Citation Completeness hinter Vector-RAG. Deshalb müssen Retrieval- und Antwortmetriken gemeinsam interpretiert werden. Term Coverage bleibt nur eine Diagnosemetrik.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Gruppen arbeiten parallel an Chunking, Reranking oder Graph plus Evaluation. Jede Gruppe berichtet maximal zwei Minuten und beantwortet drei Fragen: Was wurde ausgeführt oder verändert? Was wurde besser oder schlechter? Welche Grenze bleibt bestehen?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Matrix ist eine qualitative Orientierung, keine Rangliste. From scratch maximiert Verständnis und Kontrolle. Frameworks reduzieren Implementierungsaufwand. LangGraph adressiert komplexere zustandsbasierte Abläufe. Managed Services reduzieren Eigenbetrieb, erhöhen aber Abhängigkeit und erfordern eine Prüfung von Datenresidenz, Berechtigungen, Kosten und Lock-in.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drei Leitlinien fassen den Workshop zusammen. Kontext ist ein Engineering-Artefakt. Retrieval und Antwortqualität brauchen getrennte Metriken. Komplexität wie Reranking oder GraphRAG sollte nur ergänzt werden, wenn ein konkretes Problem gemessen wurde.</a:t>
            </a:r>
          </a:p>
          <a:p>
            <a:endParaRPr/>
          </a:p>
          <a:p>
            <a:r>
              <a:t>[Sources]</a:t>
            </a:r>
          </a:p>
          <a:p>
            <a:r>
              <a:t>- C:/Users/mehlst/Documents/RAG-Workshop/Workshop2026-RAG-Workshop-Script.txt</a:t>
            </a:r>
          </a:p>
          <a:p>
            <a:r>
              <a:t>- C:/Users/mehlst/Documents/RAG-Workshop/evaluation/report.md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06.08.2026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06.08.2026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06.08.2026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06.08.2026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06.08.2026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jp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06.08.2026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06.08.2026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06.08.2026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06.08.2026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r:embed="rId3">
            <a:extLst>
              <a:ext uri="{96DAC541-7B7A-43D3-8B79-37D633B846F1}">
                <asvg:svgBlip xmlns:asvg="http://schemas.microsoft.com/office/drawing/2016/SVG/main" r:embed="rId4"/>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r:embed="rId5">
            <a:extLst>
              <a:ext uri="{96DAC541-7B7A-43D3-8B79-37D633B846F1}">
                <asvg:svgBlip xmlns:asvg="http://schemas.microsoft.com/office/drawing/2016/SVG/main" r:embed="rId6"/>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r:embed="rId7">
            <a:extLst>
              <a:ext uri="{96DAC541-7B7A-43D3-8B79-37D633B846F1}">
                <asvg:svgBlip xmlns:asvg="http://schemas.microsoft.com/office/drawing/2016/SVG/main" r:embed="rId8"/>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 name="Freihandform: Form 18">
            <a:extLst>
              <a:ext uri="{FF2B5EF4-FFF2-40B4-BE49-F238E27FC236}">
                <a16:creationId xmlns:a16="http://schemas.microsoft.com/office/drawing/2014/main" id="{1C893A98-4388-AF19-0A53-CE7DA15734D9}"/>
              </a:ext>
            </a:extLst>
          </p:cNvPr>
          <p:cNvSpPr/>
          <p:nvPr/>
        </p:nvSpPr>
        <p:spPr>
          <a:xfrm>
            <a:off x="9337998"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80928F5A-A620-D15B-309C-4D7E5896C25F}"/>
              </a:ext>
            </a:extLst>
          </p:cNvPr>
          <p:cNvSpPr/>
          <p:nvPr/>
        </p:nvSpPr>
        <p:spPr>
          <a:xfrm>
            <a:off x="6482361" y="2696887"/>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200D9A3D-276C-4D19-64AE-CC44B34F666E}"/>
              </a:ext>
            </a:extLst>
          </p:cNvPr>
          <p:cNvSpPr/>
          <p:nvPr/>
        </p:nvSpPr>
        <p:spPr>
          <a:xfrm>
            <a:off x="3627580"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3B9A958D-6F8C-2948-301A-E2807E08FBB0}"/>
              </a:ext>
            </a:extLst>
          </p:cNvPr>
          <p:cNvSpPr/>
          <p:nvPr/>
        </p:nvSpPr>
        <p:spPr>
          <a:xfrm>
            <a:off x="668204" y="2720889"/>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D3CAE26B-4865-C6F0-5B97-694858312949}"/>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B4438418-9676-7CB0-887F-B094922C97AC}"/>
              </a:ext>
            </a:extLst>
          </p:cNvPr>
          <p:cNvSpPr>
            <a:spLocks noGrp="1"/>
          </p:cNvSpPr>
          <p:nvPr>
            <p:ph type="dt" idx="10"/>
          </p:nvPr>
        </p:nvSpPr>
        <p:spPr/>
        <p:txBody>
          <a:bodyPr/>
          <a:lstStyle/>
          <a:p>
            <a:fld id="{E2111384-F462-4D90-9803-E7B6DB23FD1B}" type="datetime1">
              <a:rPr lang="de-DE"/>
              <a:t>06.08.2026</a:t>
            </a:fld>
            <a:endParaRPr/>
          </a:p>
        </p:txBody>
      </p:sp>
      <p:sp>
        <p:nvSpPr>
          <p:cNvPr id="4" name="Foliennummernplatzhalter 3">
            <a:extLst>
              <a:ext uri="{FF2B5EF4-FFF2-40B4-BE49-F238E27FC236}">
                <a16:creationId xmlns:a16="http://schemas.microsoft.com/office/drawing/2014/main" id="{A01BAB59-63EB-59FA-5985-3F6EC05966A0}"/>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EF25329D-BC93-CDC7-FF93-C91335CE3538}"/>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a:solidFill>
                  <a:srgbClr val="2D3F4B"/>
                </a:solidFill>
                <a:latin typeface="Arial"/>
                <a:ea typeface="Arial"/>
                <a:cs typeface="Arial"/>
              </a:rPr>
              <a:t>Context Engineering entscheidet, welche Informationen das Modell für die aktuelle Aufgabe tatsächlich sieht.</a:t>
            </a:r>
          </a:p>
        </p:txBody>
      </p:sp>
      <p:sp>
        <p:nvSpPr>
          <p:cNvPr id="9" name="Gerader Verbinder 8">
            <a:extLst>
              <a:ext uri="{FF2B5EF4-FFF2-40B4-BE49-F238E27FC236}">
                <a16:creationId xmlns:a16="http://schemas.microsoft.com/office/drawing/2014/main" id="{D9549AF6-D69C-4F01-92F6-62BF6C2E4D89}"/>
              </a:ext>
            </a:extLst>
          </p:cNvPr>
          <p:cNvSpPr>
            <a:spLocks noGrp="1"/>
          </p:cNvSpPr>
          <p:nvPr/>
        </p:nvSpPr>
        <p:spPr>
          <a:xfrm>
            <a:off x="668266" y="3279047"/>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7CF9C841-C1B0-9E1A-2159-076355393AA7}"/>
              </a:ext>
            </a:extLst>
          </p:cNvPr>
          <p:cNvSpPr>
            <a:spLocks noGrp="1"/>
          </p:cNvSpPr>
          <p:nvPr/>
        </p:nvSpPr>
        <p:spPr>
          <a:xfrm>
            <a:off x="668265" y="2923425"/>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DF95F684-B212-F433-4493-2B6CB6EA4ED0}"/>
              </a:ext>
            </a:extLst>
          </p:cNvPr>
          <p:cNvSpPr>
            <a:spLocks noGrp="1"/>
          </p:cNvSpPr>
          <p:nvPr/>
        </p:nvSpPr>
        <p:spPr>
          <a:xfrm>
            <a:off x="668263" y="3450033"/>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3B56A8C2-0070-4B78-8263-0D063BEB9F2B}"/>
              </a:ext>
            </a:extLst>
          </p:cNvPr>
          <p:cNvSpPr>
            <a:spLocks noGrp="1"/>
          </p:cNvSpPr>
          <p:nvPr/>
        </p:nvSpPr>
        <p:spPr>
          <a:xfrm>
            <a:off x="3634826" y="3248891"/>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80EE699B-3600-A474-540C-811337A86E65}"/>
              </a:ext>
            </a:extLst>
          </p:cNvPr>
          <p:cNvSpPr>
            <a:spLocks noGrp="1"/>
          </p:cNvSpPr>
          <p:nvPr/>
        </p:nvSpPr>
        <p:spPr>
          <a:xfrm>
            <a:off x="3627642" y="2865374"/>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DFEA7FD6-B342-BA72-3E4C-6A669CBD5463}"/>
              </a:ext>
            </a:extLst>
          </p:cNvPr>
          <p:cNvSpPr>
            <a:spLocks noGrp="1"/>
          </p:cNvSpPr>
          <p:nvPr/>
        </p:nvSpPr>
        <p:spPr>
          <a:xfrm>
            <a:off x="3634826" y="3408280"/>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DAA5B841-1404-4F3A-A17C-AA16A49EAAC9}"/>
              </a:ext>
            </a:extLst>
          </p:cNvPr>
          <p:cNvSpPr>
            <a:spLocks noGrp="1"/>
          </p:cNvSpPr>
          <p:nvPr/>
        </p:nvSpPr>
        <p:spPr>
          <a:xfrm>
            <a:off x="6489637" y="3248891"/>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3E91CA84-30F3-7882-F0B4-34A2AA9A47FE}"/>
              </a:ext>
            </a:extLst>
          </p:cNvPr>
          <p:cNvSpPr>
            <a:spLocks noGrp="1"/>
          </p:cNvSpPr>
          <p:nvPr/>
        </p:nvSpPr>
        <p:spPr>
          <a:xfrm>
            <a:off x="6489635" y="288527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1FFBAAC-2612-DE64-FB55-0C73CF85209A}"/>
              </a:ext>
            </a:extLst>
          </p:cNvPr>
          <p:cNvSpPr>
            <a:spLocks noGrp="1"/>
          </p:cNvSpPr>
          <p:nvPr/>
        </p:nvSpPr>
        <p:spPr>
          <a:xfrm>
            <a:off x="6489636" y="3425378"/>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3AF7B58B-63CE-4B5D-8393-7C3E960C87D2}"/>
              </a:ext>
            </a:extLst>
          </p:cNvPr>
          <p:cNvSpPr>
            <a:spLocks noGrp="1"/>
          </p:cNvSpPr>
          <p:nvPr/>
        </p:nvSpPr>
        <p:spPr>
          <a:xfrm>
            <a:off x="9344444" y="3281822"/>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55BD1810-2D8D-19B9-CDE7-6969A0F81BED}"/>
              </a:ext>
            </a:extLst>
          </p:cNvPr>
          <p:cNvSpPr>
            <a:spLocks noGrp="1"/>
          </p:cNvSpPr>
          <p:nvPr/>
        </p:nvSpPr>
        <p:spPr>
          <a:xfrm>
            <a:off x="9344442" y="2923425"/>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CCC7E1F5-DDF5-2B67-B021-454272284078}"/>
              </a:ext>
            </a:extLst>
          </p:cNvPr>
          <p:cNvSpPr>
            <a:spLocks noGrp="1"/>
          </p:cNvSpPr>
          <p:nvPr/>
        </p:nvSpPr>
        <p:spPr>
          <a:xfrm>
            <a:off x="9410700" y="3530741"/>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8C0DA19A-A848-5F86-B15F-117B973089E4}"/>
              </a:ext>
            </a:extLst>
          </p:cNvPr>
          <p:cNvSpPr>
            <a:spLocks noGrp="1"/>
          </p:cNvSpPr>
          <p:nvPr/>
        </p:nvSpPr>
        <p:spPr>
          <a:xfrm>
            <a:off x="4286250" y="490537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363D0D2F-6233-A6AA-8138-E4996E24545F}"/>
              </a:ext>
            </a:extLst>
          </p:cNvPr>
          <p:cNvSpPr>
            <a:spLocks noGrp="1"/>
          </p:cNvSpPr>
          <p:nvPr/>
        </p:nvSpPr>
        <p:spPr>
          <a:xfrm>
            <a:off x="4286250" y="516106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p:cNvCxnSpPr>
            <a:cxnSpLocks/>
            <a:endCxn id="35" idx="1"/>
          </p:cNvCxnSpPr>
          <p:nvPr/>
        </p:nvCxnSpPr>
        <p:spPr>
          <a:xfrm>
            <a:off x="1844618" y="4247075"/>
            <a:ext cx="2441632" cy="1067875"/>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p:cNvCxnSpPr>
            <a:cxnSpLocks/>
          </p:cNvCxnSpPr>
          <p:nvPr/>
        </p:nvCxnSpPr>
        <p:spPr>
          <a:xfrm>
            <a:off x="4815840" y="4215465"/>
            <a:ext cx="776897" cy="667860"/>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p:cNvCxnSpPr>
            <a:cxnSpLocks/>
          </p:cNvCxnSpPr>
          <p:nvPr/>
        </p:nvCxnSpPr>
        <p:spPr>
          <a:xfrm flipH="1">
            <a:off x="6510362" y="4215465"/>
            <a:ext cx="1239178" cy="667860"/>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p:cNvCxnSpPr>
            <a:cxnSpLocks/>
            <a:endCxn id="35" idx="3"/>
          </p:cNvCxnSpPr>
          <p:nvPr/>
        </p:nvCxnSpPr>
        <p:spPr>
          <a:xfrm flipH="1">
            <a:off x="7905750" y="4231270"/>
            <a:ext cx="2716530" cy="1083680"/>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9EC82F57-08FA-4E52-966F-E447140C1A50}"/>
              </a:ext>
            </a:extLst>
          </p:cNvPr>
          <p:cNvSpPr>
            <a:spLocks noGrp="1"/>
          </p:cNvSpPr>
          <p:nvPr/>
        </p:nvSpPr>
        <p:spPr>
          <a:xfrm>
            <a:off x="668274" y="2700708"/>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0634EF25-1DCC-428A-A386-E202ED0EBF10}"/>
              </a:ext>
            </a:extLst>
          </p:cNvPr>
          <p:cNvSpPr>
            <a:spLocks noGrp="1"/>
          </p:cNvSpPr>
          <p:nvPr/>
        </p:nvSpPr>
        <p:spPr>
          <a:xfrm>
            <a:off x="3620396" y="2688723"/>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FA8AE44F-41CA-4D1C-9E2E-0D254B53F9C9}"/>
              </a:ext>
            </a:extLst>
          </p:cNvPr>
          <p:cNvSpPr>
            <a:spLocks noGrp="1"/>
          </p:cNvSpPr>
          <p:nvPr/>
        </p:nvSpPr>
        <p:spPr>
          <a:xfrm>
            <a:off x="6475178" y="2696887"/>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01A6F93A-A880-43C5-A386-38FE5A35AE6A}"/>
              </a:ext>
            </a:extLst>
          </p:cNvPr>
          <p:cNvSpPr>
            <a:spLocks noGrp="1"/>
          </p:cNvSpPr>
          <p:nvPr/>
        </p:nvSpPr>
        <p:spPr>
          <a:xfrm>
            <a:off x="9329166" y="2688724"/>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590DE59E-99BD-42AC-AC8F-134CB047FA08}"/>
              </a:ext>
            </a:extLst>
          </p:cNvPr>
          <p:cNvSpPr>
            <a:spLocks noGrp="1"/>
          </p:cNvSpPr>
          <p:nvPr/>
        </p:nvSpPr>
        <p:spPr>
          <a:xfrm>
            <a:off x="4286250" y="581025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solidFill>
                  <a:schemeClr val="accent3"/>
                </a:solidFill>
                <a:latin typeface="Arial"/>
                <a:ea typeface="Arial"/>
                <a:cs typeface="Arial"/>
              </a:rPr>
              <a:t>Das Modell </a:t>
            </a:r>
            <a:r>
              <a:rPr sz="1200" dirty="0" err="1">
                <a:solidFill>
                  <a:schemeClr val="accent3"/>
                </a:solidFill>
                <a:latin typeface="Arial"/>
                <a:ea typeface="Arial"/>
                <a:cs typeface="Arial"/>
              </a:rPr>
              <a:t>kann</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nur</a:t>
            </a:r>
            <a:r>
              <a:rPr sz="1200" dirty="0">
                <a:solidFill>
                  <a:schemeClr val="accent3"/>
                </a:solidFill>
                <a:latin typeface="Arial"/>
                <a:ea typeface="Arial"/>
                <a:cs typeface="Arial"/>
              </a:rPr>
              <a:t> den </a:t>
            </a:r>
            <a:r>
              <a:rPr sz="1200" dirty="0" err="1">
                <a:solidFill>
                  <a:schemeClr val="accent3"/>
                </a:solidFill>
                <a:latin typeface="Arial"/>
                <a:ea typeface="Arial"/>
                <a:cs typeface="Arial"/>
              </a:rPr>
              <a:t>zusammengestellten</a:t>
            </a:r>
            <a:r>
              <a:rPr sz="1200" dirty="0">
                <a:solidFill>
                  <a:schemeClr val="accent3"/>
                </a:solidFill>
                <a:latin typeface="Arial"/>
                <a:ea typeface="Arial"/>
                <a:cs typeface="Arial"/>
              </a:rPr>
              <a:t> </a:t>
            </a:r>
            <a:r>
              <a:rPr sz="1200" dirty="0" err="1">
                <a:solidFill>
                  <a:schemeClr val="accent3"/>
                </a:solidFill>
                <a:latin typeface="Arial"/>
                <a:ea typeface="Arial"/>
                <a:cs typeface="Arial"/>
              </a:rPr>
              <a:t>Kontext</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nutzen</a:t>
            </a:r>
            <a:r>
              <a:rPr sz="1200" dirty="0">
                <a:solidFill>
                  <a:schemeClr val="accent3"/>
                </a:solidFill>
                <a:latin typeface="Arial"/>
                <a:ea typeface="Arial"/>
                <a:cs typeface="Arial"/>
              </a:rPr>
              <a:t>.</a:t>
            </a:r>
          </a:p>
        </p:txBody>
      </p:sp>
    </p:spTree>
    <p:extLst>
      <p:ext uri="{BB962C8B-B14F-4D97-AF65-F5344CB8AC3E}">
        <p14:creationId xmlns:p14="http://schemas.microsoft.com/office/powerpoint/2010/main" val="32307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06.08.2026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433049"/>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9657"/>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74998"/>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1790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9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35002"/>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433049"/>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410700" y="5040365"/>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80" name="Gruppieren 79">
            <a:extLst>
              <a:ext uri="{FF2B5EF4-FFF2-40B4-BE49-F238E27FC236}">
                <a16:creationId xmlns:a16="http://schemas.microsoft.com/office/drawing/2014/main" id="{35EF67A8-6E0F-D87C-9355-847DA954FCC0}"/>
              </a:ext>
            </a:extLst>
          </p:cNvPr>
          <p:cNvGrpSpPr/>
          <p:nvPr/>
        </p:nvGrpSpPr>
        <p:grpSpPr>
          <a:xfrm>
            <a:off x="1103830" y="5345702"/>
            <a:ext cx="1272301" cy="866775"/>
            <a:chOff x="1226958" y="5127406"/>
            <a:chExt cx="1272301" cy="866775"/>
          </a:xfrm>
        </p:grpSpPr>
        <p:grpSp>
          <p:nvGrpSpPr>
            <p:cNvPr id="76" name="Gruppieren 75">
              <a:extLst>
                <a:ext uri="{FF2B5EF4-FFF2-40B4-BE49-F238E27FC236}">
                  <a16:creationId xmlns:a16="http://schemas.microsoft.com/office/drawing/2014/main" id="{5D215EE7-620C-9782-29E0-98FF4F7D0645}"/>
                </a:ext>
              </a:extLst>
            </p:cNvPr>
            <p:cNvGrpSpPr/>
            <p:nvPr/>
          </p:nvGrpSpPr>
          <p:grpSpPr>
            <a:xfrm>
              <a:off x="1226958" y="5127406"/>
              <a:ext cx="1272301" cy="866775"/>
              <a:chOff x="4890639" y="2893270"/>
              <a:chExt cx="1272301" cy="866775"/>
            </a:xfrm>
          </p:grpSpPr>
          <p:sp>
            <p:nvSpPr>
              <p:cNvPr id="73" name="Rechteck: abgerundete Ecken 72">
                <a:extLst>
                  <a:ext uri="{FF2B5EF4-FFF2-40B4-BE49-F238E27FC236}">
                    <a16:creationId xmlns:a16="http://schemas.microsoft.com/office/drawing/2014/main" id="{9C56917C-2339-262D-9968-A61715FC7024}"/>
                  </a:ext>
                </a:extLst>
              </p:cNvPr>
              <p:cNvSpPr/>
              <p:nvPr/>
            </p:nvSpPr>
            <p:spPr>
              <a:xfrm>
                <a:off x="4903260" y="289327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75" name="Textfeld 74">
                <a:extLst>
                  <a:ext uri="{FF2B5EF4-FFF2-40B4-BE49-F238E27FC236}">
                    <a16:creationId xmlns:a16="http://schemas.microsoft.com/office/drawing/2014/main" id="{8FC51D48-34AF-E592-C1F4-813349B9E7DA}"/>
                  </a:ext>
                </a:extLst>
              </p:cNvPr>
              <p:cNvSpPr txBox="1"/>
              <p:nvPr/>
            </p:nvSpPr>
            <p:spPr>
              <a:xfrm>
                <a:off x="4890639" y="2911949"/>
                <a:ext cx="1259680" cy="276999"/>
              </a:xfrm>
              <a:prstGeom prst="rect">
                <a:avLst/>
              </a:prstGeom>
              <a:noFill/>
            </p:spPr>
            <p:txBody>
              <a:bodyPr wrap="square" rtlCol="0">
                <a:spAutoFit/>
              </a:bodyPr>
              <a:lstStyle/>
              <a:p>
                <a:pPr algn="ctr"/>
                <a:r>
                  <a:rPr lang="de-DE" sz="1200" dirty="0"/>
                  <a:t>Raw Data Files</a:t>
                </a:r>
                <a:endParaRPr lang="de-CH" sz="1200" dirty="0"/>
              </a:p>
            </p:txBody>
          </p:sp>
        </p:grpSp>
        <p:cxnSp>
          <p:nvCxnSpPr>
            <p:cNvPr id="78" name="Gerader Verbinder 77">
              <a:extLst>
                <a:ext uri="{FF2B5EF4-FFF2-40B4-BE49-F238E27FC236}">
                  <a16:creationId xmlns:a16="http://schemas.microsoft.com/office/drawing/2014/main" id="{D4970995-06E5-FC5E-2802-DCD9A41F1696}"/>
                </a:ext>
              </a:extLst>
            </p:cNvPr>
            <p:cNvCxnSpPr>
              <a:cxnSpLocks/>
            </p:cNvCxnSpPr>
            <p:nvPr/>
          </p:nvCxnSpPr>
          <p:spPr>
            <a:xfrm>
              <a:off x="1239579" y="5423084"/>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 name="Titel 1">
            <a:extLst>
              <a:ext uri="{FF2B5EF4-FFF2-40B4-BE49-F238E27FC236}">
                <a16:creationId xmlns:a16="http://schemas.microsoft.com/office/drawing/2014/main" id="{E6873658-8CED-F143-F036-E8624EF69F5C}"/>
              </a:ext>
            </a:extLst>
          </p:cNvPr>
          <p:cNvSpPr>
            <a:spLocks noGrp="1"/>
          </p:cNvSpPr>
          <p:nvPr>
            <p:ph type="title"/>
          </p:nvPr>
        </p:nvSpPr>
        <p:spPr/>
        <p:txBody>
          <a:bodyPr/>
          <a:lstStyle/>
          <a:p>
            <a:r>
              <a:rPr lang="de-DE" dirty="0"/>
              <a:t>Aufbau eines Vector RAGs</a:t>
            </a:r>
            <a:endParaRPr lang="de-CH" dirty="0"/>
          </a:p>
        </p:txBody>
      </p:sp>
      <p:sp>
        <p:nvSpPr>
          <p:cNvPr id="3" name="Datumsplatzhalter 2">
            <a:extLst>
              <a:ext uri="{FF2B5EF4-FFF2-40B4-BE49-F238E27FC236}">
                <a16:creationId xmlns:a16="http://schemas.microsoft.com/office/drawing/2014/main" id="{6255B8C4-E864-25CB-775B-BBF2DF3C1484}"/>
              </a:ext>
            </a:extLst>
          </p:cNvPr>
          <p:cNvSpPr>
            <a:spLocks noGrp="1"/>
          </p:cNvSpPr>
          <p:nvPr>
            <p:ph type="dt" idx="10"/>
          </p:nvPr>
        </p:nvSpPr>
        <p:spPr/>
        <p:txBody>
          <a:bodyPr/>
          <a:lstStyle/>
          <a:p>
            <a:fld id="{3B96E7C6-F2CE-4756-8C9C-414CDB636DDE}" type="datetime1">
              <a:rPr lang="de-CH" smtClean="0"/>
              <a:t>06.08.2026</a:t>
            </a:fld>
            <a:endParaRPr lang="de-CH"/>
          </a:p>
        </p:txBody>
      </p:sp>
      <p:sp>
        <p:nvSpPr>
          <p:cNvPr id="4" name="Foliennummernplatzhalter 3">
            <a:extLst>
              <a:ext uri="{FF2B5EF4-FFF2-40B4-BE49-F238E27FC236}">
                <a16:creationId xmlns:a16="http://schemas.microsoft.com/office/drawing/2014/main" id="{D423987F-8DF1-0E8D-A0B0-A859414B11F8}"/>
              </a:ext>
            </a:extLst>
          </p:cNvPr>
          <p:cNvSpPr>
            <a:spLocks noGrp="1"/>
          </p:cNvSpPr>
          <p:nvPr>
            <p:ph type="sldNum" idx="12"/>
          </p:nvPr>
        </p:nvSpPr>
        <p:spPr/>
        <p:txBody>
          <a:bodyPr/>
          <a:lstStyle/>
          <a:p>
            <a:fld id="{CE7E00E2-F08D-429A-AD9B-1ECBEC02F4DB}" type="slidenum">
              <a:rPr lang="de-CH" smtClean="0"/>
              <a:t>8</a:t>
            </a:fld>
            <a:endParaRPr lang="de-CH"/>
          </a:p>
        </p:txBody>
      </p:sp>
      <p:pic>
        <p:nvPicPr>
          <p:cNvPr id="7" name="Inhaltsplatzhalter 6" descr="Ein Bild, das Logo, Grafiken, Symbol, Schrift enthält.&#10;&#10;KI-generierte Inhalte können fehlerhaft sein.">
            <a:extLst>
              <a:ext uri="{FF2B5EF4-FFF2-40B4-BE49-F238E27FC236}">
                <a16:creationId xmlns:a16="http://schemas.microsoft.com/office/drawing/2014/main" id="{C2A384A5-1888-72D3-515F-D1C68FFCB651}"/>
              </a:ext>
            </a:extLst>
          </p:cNvPr>
          <p:cNvPicPr>
            <a:picLocks noGrp="1" noChangeAspect="1"/>
          </p:cNvPicPr>
          <p:nvPr>
            <p:ph idx="13"/>
          </p:nvPr>
        </p:nvPicPr>
        <p:blipFill>
          <a:blip r:embed="rId2">
            <a:extLst>
              <a:ext uri="{28A0092B-C50C-407E-A947-70E740481C1C}">
                <a14:useLocalDpi xmlns:a14="http://schemas.microsoft.com/office/drawing/2010/main" val="0"/>
              </a:ext>
            </a:extLst>
          </a:blip>
          <a:stretch>
            <a:fillRect/>
          </a:stretch>
        </p:blipFill>
        <p:spPr>
          <a:xfrm flipH="1">
            <a:off x="1535660" y="5705585"/>
            <a:ext cx="415070" cy="480063"/>
          </a:xfrm>
        </p:spPr>
      </p:pic>
      <p:grpSp>
        <p:nvGrpSpPr>
          <p:cNvPr id="70" name="Gruppieren 69">
            <a:extLst>
              <a:ext uri="{FF2B5EF4-FFF2-40B4-BE49-F238E27FC236}">
                <a16:creationId xmlns:a16="http://schemas.microsoft.com/office/drawing/2014/main" id="{A6F5EFFB-EC51-DF2D-733E-D1571D7A4299}"/>
              </a:ext>
            </a:extLst>
          </p:cNvPr>
          <p:cNvGrpSpPr/>
          <p:nvPr/>
        </p:nvGrpSpPr>
        <p:grpSpPr>
          <a:xfrm>
            <a:off x="10454192" y="3239467"/>
            <a:ext cx="1272301" cy="866775"/>
            <a:chOff x="8948019" y="4762500"/>
            <a:chExt cx="1272301" cy="866775"/>
          </a:xfrm>
        </p:grpSpPr>
        <p:sp>
          <p:nvSpPr>
            <p:cNvPr id="50" name="Rechteck: abgerundete Ecken 49">
              <a:extLst>
                <a:ext uri="{FF2B5EF4-FFF2-40B4-BE49-F238E27FC236}">
                  <a16:creationId xmlns:a16="http://schemas.microsoft.com/office/drawing/2014/main" id="{C5C186DB-05F0-E892-D082-2E845918CAD3}"/>
                </a:ext>
              </a:extLst>
            </p:cNvPr>
            <p:cNvSpPr/>
            <p:nvPr/>
          </p:nvSpPr>
          <p:spPr>
            <a:xfrm>
              <a:off x="8960640" y="4762500"/>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7" name="Grafik 16" descr="Ein Bild, das Grafiken, Kreis, Clipart, Kreativität enthält.&#10;&#10;KI-generierte Inhalte können fehlerhaft sein.">
              <a:extLst>
                <a:ext uri="{FF2B5EF4-FFF2-40B4-BE49-F238E27FC236}">
                  <a16:creationId xmlns:a16="http://schemas.microsoft.com/office/drawing/2014/main" id="{6A252D1B-4335-D4C7-3E0F-48D7B79476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9285559" y="5058178"/>
              <a:ext cx="609861" cy="566720"/>
            </a:xfrm>
            <a:prstGeom prst="rect">
              <a:avLst/>
            </a:prstGeom>
          </p:spPr>
        </p:pic>
        <p:sp>
          <p:nvSpPr>
            <p:cNvPr id="52" name="Textfeld 51">
              <a:extLst>
                <a:ext uri="{FF2B5EF4-FFF2-40B4-BE49-F238E27FC236}">
                  <a16:creationId xmlns:a16="http://schemas.microsoft.com/office/drawing/2014/main" id="{776F5CF1-4AC5-6177-6D3F-B8F61BE95CF2}"/>
                </a:ext>
              </a:extLst>
            </p:cNvPr>
            <p:cNvSpPr txBox="1"/>
            <p:nvPr/>
          </p:nvSpPr>
          <p:spPr>
            <a:xfrm>
              <a:off x="8948019" y="4781179"/>
              <a:ext cx="1259680" cy="276999"/>
            </a:xfrm>
            <a:prstGeom prst="rect">
              <a:avLst/>
            </a:prstGeom>
            <a:noFill/>
          </p:spPr>
          <p:txBody>
            <a:bodyPr wrap="square" rtlCol="0">
              <a:spAutoFit/>
            </a:bodyPr>
            <a:lstStyle/>
            <a:p>
              <a:pPr algn="ctr"/>
              <a:r>
                <a:rPr lang="de-DE" sz="1200" dirty="0">
                  <a:solidFill>
                    <a:schemeClr val="bg1"/>
                  </a:solidFill>
                </a:rPr>
                <a:t>Query</a:t>
              </a:r>
              <a:endParaRPr lang="de-CH" sz="1200" dirty="0">
                <a:solidFill>
                  <a:schemeClr val="bg1"/>
                </a:solidFill>
              </a:endParaRPr>
            </a:p>
          </p:txBody>
        </p:sp>
      </p:grpSp>
      <p:grpSp>
        <p:nvGrpSpPr>
          <p:cNvPr id="71" name="Gruppieren 70">
            <a:extLst>
              <a:ext uri="{FF2B5EF4-FFF2-40B4-BE49-F238E27FC236}">
                <a16:creationId xmlns:a16="http://schemas.microsoft.com/office/drawing/2014/main" id="{FEC94924-1CD9-0268-E8C2-7158A42060C4}"/>
              </a:ext>
            </a:extLst>
          </p:cNvPr>
          <p:cNvGrpSpPr/>
          <p:nvPr/>
        </p:nvGrpSpPr>
        <p:grpSpPr>
          <a:xfrm>
            <a:off x="7329337" y="5802887"/>
            <a:ext cx="1272301" cy="866775"/>
            <a:chOff x="10545239" y="4767389"/>
            <a:chExt cx="1272301" cy="866775"/>
          </a:xfrm>
        </p:grpSpPr>
        <p:sp>
          <p:nvSpPr>
            <p:cNvPr id="53" name="Rechteck: abgerundete Ecken 52">
              <a:extLst>
                <a:ext uri="{FF2B5EF4-FFF2-40B4-BE49-F238E27FC236}">
                  <a16:creationId xmlns:a16="http://schemas.microsoft.com/office/drawing/2014/main" id="{789B23F7-D694-BBAA-B06E-98BE67FC7501}"/>
                </a:ext>
              </a:extLst>
            </p:cNvPr>
            <p:cNvSpPr/>
            <p:nvPr/>
          </p:nvSpPr>
          <p:spPr>
            <a:xfrm>
              <a:off x="10557860" y="4767389"/>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3" name="Grafik 22" descr="Ein Bild, das Grafiken, Logo, Symbol, Clipart enthält.&#10;&#10;KI-generierte Inhalte können fehlerhaft sein.">
              <a:extLst>
                <a:ext uri="{FF2B5EF4-FFF2-40B4-BE49-F238E27FC236}">
                  <a16:creationId xmlns:a16="http://schemas.microsoft.com/office/drawing/2014/main" id="{237CCC1D-7613-CACF-613D-6DBF530826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0867647" y="5051061"/>
              <a:ext cx="614864" cy="571508"/>
            </a:xfrm>
            <a:prstGeom prst="rect">
              <a:avLst/>
            </a:prstGeom>
          </p:spPr>
        </p:pic>
        <p:sp>
          <p:nvSpPr>
            <p:cNvPr id="55" name="Textfeld 54">
              <a:extLst>
                <a:ext uri="{FF2B5EF4-FFF2-40B4-BE49-F238E27FC236}">
                  <a16:creationId xmlns:a16="http://schemas.microsoft.com/office/drawing/2014/main" id="{E36A76FE-B184-D9FC-DF9A-C97EF6D350A0}"/>
                </a:ext>
              </a:extLst>
            </p:cNvPr>
            <p:cNvSpPr txBox="1"/>
            <p:nvPr/>
          </p:nvSpPr>
          <p:spPr>
            <a:xfrm>
              <a:off x="10545239" y="4786068"/>
              <a:ext cx="1259680" cy="276999"/>
            </a:xfrm>
            <a:prstGeom prst="rect">
              <a:avLst/>
            </a:prstGeom>
            <a:noFill/>
          </p:spPr>
          <p:txBody>
            <a:bodyPr wrap="square" rtlCol="0">
              <a:spAutoFit/>
            </a:bodyPr>
            <a:lstStyle/>
            <a:p>
              <a:pPr algn="ctr"/>
              <a:r>
                <a:rPr lang="de-DE" sz="1200" dirty="0">
                  <a:solidFill>
                    <a:schemeClr val="bg1"/>
                  </a:solidFill>
                </a:rPr>
                <a:t>Response</a:t>
              </a:r>
              <a:endParaRPr lang="de-CH" sz="1200" dirty="0">
                <a:solidFill>
                  <a:schemeClr val="bg1"/>
                </a:solidFill>
              </a:endParaRPr>
            </a:p>
          </p:txBody>
        </p:sp>
      </p:grpSp>
      <p:grpSp>
        <p:nvGrpSpPr>
          <p:cNvPr id="83" name="Gruppieren 82">
            <a:extLst>
              <a:ext uri="{FF2B5EF4-FFF2-40B4-BE49-F238E27FC236}">
                <a16:creationId xmlns:a16="http://schemas.microsoft.com/office/drawing/2014/main" id="{E1481365-A530-979B-1592-96CA4D3FB6FC}"/>
              </a:ext>
            </a:extLst>
          </p:cNvPr>
          <p:cNvGrpSpPr/>
          <p:nvPr/>
        </p:nvGrpSpPr>
        <p:grpSpPr>
          <a:xfrm>
            <a:off x="907804" y="4246553"/>
            <a:ext cx="1733633" cy="866775"/>
            <a:chOff x="1082358" y="3670679"/>
            <a:chExt cx="1733633" cy="866775"/>
          </a:xfrm>
        </p:grpSpPr>
        <p:grpSp>
          <p:nvGrpSpPr>
            <p:cNvPr id="66" name="Gruppieren 65">
              <a:extLst>
                <a:ext uri="{FF2B5EF4-FFF2-40B4-BE49-F238E27FC236}">
                  <a16:creationId xmlns:a16="http://schemas.microsoft.com/office/drawing/2014/main" id="{3501F712-4058-2488-191A-2F3E7D2AB640}"/>
                </a:ext>
              </a:extLst>
            </p:cNvPr>
            <p:cNvGrpSpPr/>
            <p:nvPr/>
          </p:nvGrpSpPr>
          <p:grpSpPr>
            <a:xfrm>
              <a:off x="1082358" y="3670679"/>
              <a:ext cx="1733633" cy="866775"/>
              <a:chOff x="3219855" y="5577517"/>
              <a:chExt cx="1733633" cy="866775"/>
            </a:xfrm>
          </p:grpSpPr>
          <p:sp>
            <p:nvSpPr>
              <p:cNvPr id="47" name="Rechteck: abgerundete Ecken 46">
                <a:extLst>
                  <a:ext uri="{FF2B5EF4-FFF2-40B4-BE49-F238E27FC236}">
                    <a16:creationId xmlns:a16="http://schemas.microsoft.com/office/drawing/2014/main" id="{5B02DD4C-CADF-159A-186D-D77AFA00A13A}"/>
                  </a:ext>
                </a:extLst>
              </p:cNvPr>
              <p:cNvSpPr/>
              <p:nvPr/>
            </p:nvSpPr>
            <p:spPr>
              <a:xfrm>
                <a:off x="3232476" y="5577517"/>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9" name="Grafik 8" descr="Ein Bild, das Symbol, Screenshot, Grafiken, Logo enthält.&#10;&#10;KI-generierte Inhalte können fehlerhaft sein.">
                <a:extLst>
                  <a:ext uri="{FF2B5EF4-FFF2-40B4-BE49-F238E27FC236}">
                    <a16:creationId xmlns:a16="http://schemas.microsoft.com/office/drawing/2014/main" id="{3BF1CFDC-C9DA-13A5-778C-4BB5A0F1AB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3827877" y="5873195"/>
                <a:ext cx="467360" cy="559581"/>
              </a:xfrm>
              <a:prstGeom prst="rect">
                <a:avLst/>
              </a:prstGeom>
            </p:spPr>
          </p:pic>
          <p:sp>
            <p:nvSpPr>
              <p:cNvPr id="49" name="Textfeld 48">
                <a:extLst>
                  <a:ext uri="{FF2B5EF4-FFF2-40B4-BE49-F238E27FC236}">
                    <a16:creationId xmlns:a16="http://schemas.microsoft.com/office/drawing/2014/main" id="{B64127EB-FD02-C12D-C12C-332043D8B166}"/>
                  </a:ext>
                </a:extLst>
              </p:cNvPr>
              <p:cNvSpPr txBox="1"/>
              <p:nvPr/>
            </p:nvSpPr>
            <p:spPr>
              <a:xfrm>
                <a:off x="3219855" y="5596196"/>
                <a:ext cx="1733633" cy="276999"/>
              </a:xfrm>
              <a:prstGeom prst="rect">
                <a:avLst/>
              </a:prstGeom>
              <a:noFill/>
            </p:spPr>
            <p:txBody>
              <a:bodyPr wrap="square" rtlCol="0">
                <a:spAutoFit/>
              </a:bodyPr>
              <a:lstStyle/>
              <a:p>
                <a:pPr algn="ctr"/>
                <a:r>
                  <a:rPr lang="de-DE" sz="1200" dirty="0"/>
                  <a:t>Information </a:t>
                </a:r>
                <a:r>
                  <a:rPr lang="de-DE" sz="1200" dirty="0" err="1"/>
                  <a:t>Extraction</a:t>
                </a:r>
                <a:endParaRPr lang="de-CH" sz="1200" dirty="0"/>
              </a:p>
            </p:txBody>
          </p:sp>
        </p:grpSp>
        <p:cxnSp>
          <p:nvCxnSpPr>
            <p:cNvPr id="82" name="Gerader Verbinder 81">
              <a:extLst>
                <a:ext uri="{FF2B5EF4-FFF2-40B4-BE49-F238E27FC236}">
                  <a16:creationId xmlns:a16="http://schemas.microsoft.com/office/drawing/2014/main" id="{8AF4AB46-1E80-4A2D-34C1-C140B5170E87}"/>
                </a:ext>
              </a:extLst>
            </p:cNvPr>
            <p:cNvCxnSpPr>
              <a:cxnSpLocks/>
            </p:cNvCxnSpPr>
            <p:nvPr/>
          </p:nvCxnSpPr>
          <p:spPr>
            <a:xfrm>
              <a:off x="1094979" y="3966357"/>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6" name="Gruppieren 85">
            <a:extLst>
              <a:ext uri="{FF2B5EF4-FFF2-40B4-BE49-F238E27FC236}">
                <a16:creationId xmlns:a16="http://schemas.microsoft.com/office/drawing/2014/main" id="{FA1DFFDC-94A0-EED1-B7C7-9D1413317037}"/>
              </a:ext>
            </a:extLst>
          </p:cNvPr>
          <p:cNvGrpSpPr/>
          <p:nvPr/>
        </p:nvGrpSpPr>
        <p:grpSpPr>
          <a:xfrm>
            <a:off x="1101657" y="3116642"/>
            <a:ext cx="1272301" cy="866775"/>
            <a:chOff x="1323101" y="2564957"/>
            <a:chExt cx="1272301" cy="866775"/>
          </a:xfrm>
        </p:grpSpPr>
        <p:grpSp>
          <p:nvGrpSpPr>
            <p:cNvPr id="68" name="Gruppieren 67">
              <a:extLst>
                <a:ext uri="{FF2B5EF4-FFF2-40B4-BE49-F238E27FC236}">
                  <a16:creationId xmlns:a16="http://schemas.microsoft.com/office/drawing/2014/main" id="{5B98CDB3-0C97-A0CF-E79A-830F559A27FC}"/>
                </a:ext>
              </a:extLst>
            </p:cNvPr>
            <p:cNvGrpSpPr/>
            <p:nvPr/>
          </p:nvGrpSpPr>
          <p:grpSpPr>
            <a:xfrm>
              <a:off x="1323101" y="2564957"/>
              <a:ext cx="1272301" cy="866775"/>
              <a:chOff x="6545029" y="3127818"/>
              <a:chExt cx="1272301" cy="866775"/>
            </a:xfrm>
          </p:grpSpPr>
          <p:sp>
            <p:nvSpPr>
              <p:cNvPr id="59" name="Rechteck: abgerundete Ecken 58">
                <a:extLst>
                  <a:ext uri="{FF2B5EF4-FFF2-40B4-BE49-F238E27FC236}">
                    <a16:creationId xmlns:a16="http://schemas.microsoft.com/office/drawing/2014/main" id="{A5F682FA-EAFE-F1E3-29E3-CD91B4456BB0}"/>
                  </a:ext>
                </a:extLst>
              </p:cNvPr>
              <p:cNvSpPr/>
              <p:nvPr/>
            </p:nvSpPr>
            <p:spPr>
              <a:xfrm>
                <a:off x="6557650" y="312781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1" name="Grafik 10" descr="Ein Bild, das Screenshot, Design enthält.&#10;&#10;KI-generierte Inhalte können fehlerhaft sein.">
                <a:extLst>
                  <a:ext uri="{FF2B5EF4-FFF2-40B4-BE49-F238E27FC236}">
                    <a16:creationId xmlns:a16="http://schemas.microsoft.com/office/drawing/2014/main" id="{CC6B52C9-346B-394E-A495-D2AB04811DB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6959959" y="3442175"/>
                <a:ext cx="455061" cy="530359"/>
              </a:xfrm>
              <a:prstGeom prst="rect">
                <a:avLst/>
              </a:prstGeom>
            </p:spPr>
          </p:pic>
          <p:sp>
            <p:nvSpPr>
              <p:cNvPr id="61" name="Textfeld 60">
                <a:extLst>
                  <a:ext uri="{FF2B5EF4-FFF2-40B4-BE49-F238E27FC236}">
                    <a16:creationId xmlns:a16="http://schemas.microsoft.com/office/drawing/2014/main" id="{FEBF1249-AAE8-D86E-6BF3-1DC3C222C91C}"/>
                  </a:ext>
                </a:extLst>
              </p:cNvPr>
              <p:cNvSpPr txBox="1"/>
              <p:nvPr/>
            </p:nvSpPr>
            <p:spPr>
              <a:xfrm>
                <a:off x="6545029" y="3146497"/>
                <a:ext cx="1259680" cy="276999"/>
              </a:xfrm>
              <a:prstGeom prst="rect">
                <a:avLst/>
              </a:prstGeom>
              <a:noFill/>
            </p:spPr>
            <p:txBody>
              <a:bodyPr wrap="square" rtlCol="0">
                <a:spAutoFit/>
              </a:bodyPr>
              <a:lstStyle/>
              <a:p>
                <a:pPr algn="ctr"/>
                <a:r>
                  <a:rPr lang="de-DE" sz="1200" dirty="0"/>
                  <a:t>Chunking</a:t>
                </a:r>
                <a:endParaRPr lang="de-CH" sz="1200" dirty="0"/>
              </a:p>
            </p:txBody>
          </p:sp>
        </p:grpSp>
        <p:cxnSp>
          <p:nvCxnSpPr>
            <p:cNvPr id="85" name="Gerader Verbinder 84">
              <a:extLst>
                <a:ext uri="{FF2B5EF4-FFF2-40B4-BE49-F238E27FC236}">
                  <a16:creationId xmlns:a16="http://schemas.microsoft.com/office/drawing/2014/main" id="{39EF4840-8D6A-4A99-B883-4270595B6CDE}"/>
                </a:ext>
              </a:extLst>
            </p:cNvPr>
            <p:cNvCxnSpPr/>
            <p:nvPr/>
          </p:nvCxnSpPr>
          <p:spPr>
            <a:xfrm>
              <a:off x="1323101" y="2857611"/>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9" name="Gruppieren 88">
            <a:extLst>
              <a:ext uri="{FF2B5EF4-FFF2-40B4-BE49-F238E27FC236}">
                <a16:creationId xmlns:a16="http://schemas.microsoft.com/office/drawing/2014/main" id="{FE804A4B-BADA-B3A7-249B-7AD3FB6C1105}"/>
              </a:ext>
            </a:extLst>
          </p:cNvPr>
          <p:cNvGrpSpPr/>
          <p:nvPr/>
        </p:nvGrpSpPr>
        <p:grpSpPr>
          <a:xfrm>
            <a:off x="2733728" y="1979671"/>
            <a:ext cx="1272301" cy="879071"/>
            <a:chOff x="1440667" y="1334056"/>
            <a:chExt cx="1272301" cy="879071"/>
          </a:xfrm>
        </p:grpSpPr>
        <p:grpSp>
          <p:nvGrpSpPr>
            <p:cNvPr id="62" name="Gruppieren 61">
              <a:extLst>
                <a:ext uri="{FF2B5EF4-FFF2-40B4-BE49-F238E27FC236}">
                  <a16:creationId xmlns:a16="http://schemas.microsoft.com/office/drawing/2014/main" id="{DC4FE7B1-0B8D-F5F5-1321-AB2C005A6556}"/>
                </a:ext>
              </a:extLst>
            </p:cNvPr>
            <p:cNvGrpSpPr/>
            <p:nvPr/>
          </p:nvGrpSpPr>
          <p:grpSpPr>
            <a:xfrm>
              <a:off x="1440667" y="1334056"/>
              <a:ext cx="1272301" cy="879071"/>
              <a:chOff x="3532877" y="1742901"/>
              <a:chExt cx="1272301" cy="879071"/>
            </a:xfrm>
          </p:grpSpPr>
          <p:sp>
            <p:nvSpPr>
              <p:cNvPr id="33" name="Rechteck: abgerundete Ecken 32">
                <a:extLst>
                  <a:ext uri="{FF2B5EF4-FFF2-40B4-BE49-F238E27FC236}">
                    <a16:creationId xmlns:a16="http://schemas.microsoft.com/office/drawing/2014/main" id="{3BB5073B-FDC6-67E2-A391-D38AE4D1B814}"/>
                  </a:ext>
                </a:extLst>
              </p:cNvPr>
              <p:cNvSpPr/>
              <p:nvPr/>
            </p:nvSpPr>
            <p:spPr>
              <a:xfrm>
                <a:off x="3545498" y="1742901"/>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34" name="Grafik 33" descr="Ein Bild, das Kreis, Screenshot, Symmetrie, Farbigkeit enthält.&#10;&#10;KI-generierte Inhalte können fehlerhaft sein.">
                <a:extLst>
                  <a:ext uri="{FF2B5EF4-FFF2-40B4-BE49-F238E27FC236}">
                    <a16:creationId xmlns:a16="http://schemas.microsoft.com/office/drawing/2014/main" id="{264C2A45-EDA5-2C17-9595-7A30A1E00E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904575" y="2050875"/>
                <a:ext cx="541526" cy="571097"/>
              </a:xfrm>
              <a:prstGeom prst="rect">
                <a:avLst/>
              </a:prstGeom>
            </p:spPr>
          </p:pic>
          <p:sp>
            <p:nvSpPr>
              <p:cNvPr id="35" name="Textfeld 34">
                <a:extLst>
                  <a:ext uri="{FF2B5EF4-FFF2-40B4-BE49-F238E27FC236}">
                    <a16:creationId xmlns:a16="http://schemas.microsoft.com/office/drawing/2014/main" id="{4F1BC013-1B50-747A-D0A2-1B807093D6C3}"/>
                  </a:ext>
                </a:extLst>
              </p:cNvPr>
              <p:cNvSpPr txBox="1"/>
              <p:nvPr/>
            </p:nvSpPr>
            <p:spPr>
              <a:xfrm>
                <a:off x="3532877" y="1761580"/>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88" name="Gerader Verbinder 87">
              <a:extLst>
                <a:ext uri="{FF2B5EF4-FFF2-40B4-BE49-F238E27FC236}">
                  <a16:creationId xmlns:a16="http://schemas.microsoft.com/office/drawing/2014/main" id="{8BB2C14A-5F1A-43EE-E690-4F57F9671BE5}"/>
                </a:ext>
              </a:extLst>
            </p:cNvPr>
            <p:cNvCxnSpPr>
              <a:cxnSpLocks/>
            </p:cNvCxnSpPr>
            <p:nvPr/>
          </p:nvCxnSpPr>
          <p:spPr>
            <a:xfrm flipV="1">
              <a:off x="1453288" y="1629734"/>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92" name="Gruppieren 91">
            <a:extLst>
              <a:ext uri="{FF2B5EF4-FFF2-40B4-BE49-F238E27FC236}">
                <a16:creationId xmlns:a16="http://schemas.microsoft.com/office/drawing/2014/main" id="{BC367D74-A105-F7BA-2A9E-6A684E4AC791}"/>
              </a:ext>
            </a:extLst>
          </p:cNvPr>
          <p:cNvGrpSpPr/>
          <p:nvPr/>
        </p:nvGrpSpPr>
        <p:grpSpPr>
          <a:xfrm>
            <a:off x="7359959" y="3273820"/>
            <a:ext cx="1272301" cy="879071"/>
            <a:chOff x="3346165" y="3429000"/>
            <a:chExt cx="1272301" cy="879071"/>
          </a:xfrm>
        </p:grpSpPr>
        <p:grpSp>
          <p:nvGrpSpPr>
            <p:cNvPr id="64" name="Gruppieren 63">
              <a:extLst>
                <a:ext uri="{FF2B5EF4-FFF2-40B4-BE49-F238E27FC236}">
                  <a16:creationId xmlns:a16="http://schemas.microsoft.com/office/drawing/2014/main" id="{D6195A19-CDE0-4EEA-6527-87A05D3B432C}"/>
                </a:ext>
              </a:extLst>
            </p:cNvPr>
            <p:cNvGrpSpPr/>
            <p:nvPr/>
          </p:nvGrpSpPr>
          <p:grpSpPr>
            <a:xfrm>
              <a:off x="3346165" y="3429000"/>
              <a:ext cx="1272301" cy="879071"/>
              <a:chOff x="3346165" y="3429000"/>
              <a:chExt cx="1272301" cy="879071"/>
            </a:xfrm>
          </p:grpSpPr>
          <p:sp>
            <p:nvSpPr>
              <p:cNvPr id="30" name="Rechteck: abgerundete Ecken 29">
                <a:extLst>
                  <a:ext uri="{FF2B5EF4-FFF2-40B4-BE49-F238E27FC236}">
                    <a16:creationId xmlns:a16="http://schemas.microsoft.com/office/drawing/2014/main" id="{5A462940-1203-2942-FCDE-29992C45E87C}"/>
                  </a:ext>
                </a:extLst>
              </p:cNvPr>
              <p:cNvSpPr/>
              <p:nvPr/>
            </p:nvSpPr>
            <p:spPr>
              <a:xfrm>
                <a:off x="3358786" y="3429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3" name="Grafik 12" descr="Ein Bild, das Kreis, Screenshot, Symmetrie, Farbigkeit enthält.&#10;&#10;KI-generierte Inhalte können fehlerhaft sein.">
                <a:extLst>
                  <a:ext uri="{FF2B5EF4-FFF2-40B4-BE49-F238E27FC236}">
                    <a16:creationId xmlns:a16="http://schemas.microsoft.com/office/drawing/2014/main" id="{9AA20A50-7222-0659-58DB-10FC46264EE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717863" y="3736974"/>
                <a:ext cx="541526" cy="571097"/>
              </a:xfrm>
              <a:prstGeom prst="rect">
                <a:avLst/>
              </a:prstGeom>
            </p:spPr>
          </p:pic>
          <p:sp>
            <p:nvSpPr>
              <p:cNvPr id="32" name="Textfeld 31">
                <a:extLst>
                  <a:ext uri="{FF2B5EF4-FFF2-40B4-BE49-F238E27FC236}">
                    <a16:creationId xmlns:a16="http://schemas.microsoft.com/office/drawing/2014/main" id="{D2D63A13-4695-B3BC-67A0-88F618AE4A65}"/>
                  </a:ext>
                </a:extLst>
              </p:cNvPr>
              <p:cNvSpPr txBox="1"/>
              <p:nvPr/>
            </p:nvSpPr>
            <p:spPr>
              <a:xfrm>
                <a:off x="3346165" y="3447679"/>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91" name="Gerader Verbinder 90">
              <a:extLst>
                <a:ext uri="{FF2B5EF4-FFF2-40B4-BE49-F238E27FC236}">
                  <a16:creationId xmlns:a16="http://schemas.microsoft.com/office/drawing/2014/main" id="{81049AEE-DD99-0A01-CBB7-282BCD95F765}"/>
                </a:ext>
              </a:extLst>
            </p:cNvPr>
            <p:cNvCxnSpPr/>
            <p:nvPr/>
          </p:nvCxnSpPr>
          <p:spPr>
            <a:xfrm flipV="1">
              <a:off x="3358786" y="3724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5" name="Gruppieren 94">
            <a:extLst>
              <a:ext uri="{FF2B5EF4-FFF2-40B4-BE49-F238E27FC236}">
                <a16:creationId xmlns:a16="http://schemas.microsoft.com/office/drawing/2014/main" id="{A0AE533C-1975-BDAC-860D-6164AB375209}"/>
              </a:ext>
            </a:extLst>
          </p:cNvPr>
          <p:cNvGrpSpPr/>
          <p:nvPr/>
        </p:nvGrpSpPr>
        <p:grpSpPr>
          <a:xfrm>
            <a:off x="3964187" y="3351385"/>
            <a:ext cx="1341782" cy="897711"/>
            <a:chOff x="5428994" y="1990836"/>
            <a:chExt cx="1341782" cy="897711"/>
          </a:xfrm>
        </p:grpSpPr>
        <p:sp>
          <p:nvSpPr>
            <p:cNvPr id="25" name="Rechteck: abgerundete Ecken 24">
              <a:extLst>
                <a:ext uri="{FF2B5EF4-FFF2-40B4-BE49-F238E27FC236}">
                  <a16:creationId xmlns:a16="http://schemas.microsoft.com/office/drawing/2014/main" id="{76810C93-9299-8D4F-9617-0DAA747809E7}"/>
                </a:ext>
              </a:extLst>
            </p:cNvPr>
            <p:cNvSpPr/>
            <p:nvPr/>
          </p:nvSpPr>
          <p:spPr>
            <a:xfrm>
              <a:off x="5441615" y="1990836"/>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5" name="Grafik 14" descr="Ein Bild, das Kreis, Screenshot, Kunst, Design enthält.&#10;&#10;KI-generierte Inhalte können fehlerhaft sein.">
              <a:extLst>
                <a:ext uri="{FF2B5EF4-FFF2-40B4-BE49-F238E27FC236}">
                  <a16:creationId xmlns:a16="http://schemas.microsoft.com/office/drawing/2014/main" id="{69EA615B-CBF5-2358-5C43-9F329DC101C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flipH="1">
              <a:off x="5750989" y="2340696"/>
              <a:ext cx="631298" cy="547851"/>
            </a:xfrm>
            <a:prstGeom prst="rect">
              <a:avLst/>
            </a:prstGeom>
          </p:spPr>
        </p:pic>
        <p:sp>
          <p:nvSpPr>
            <p:cNvPr id="26" name="Textfeld 25">
              <a:extLst>
                <a:ext uri="{FF2B5EF4-FFF2-40B4-BE49-F238E27FC236}">
                  <a16:creationId xmlns:a16="http://schemas.microsoft.com/office/drawing/2014/main" id="{452D75D7-309B-8196-FF2C-31F7C939EAC8}"/>
                </a:ext>
              </a:extLst>
            </p:cNvPr>
            <p:cNvSpPr txBox="1"/>
            <p:nvPr/>
          </p:nvSpPr>
          <p:spPr>
            <a:xfrm>
              <a:off x="5428994" y="2009515"/>
              <a:ext cx="1341782" cy="285750"/>
            </a:xfrm>
            <a:prstGeom prst="rect">
              <a:avLst/>
            </a:prstGeom>
            <a:noFill/>
          </p:spPr>
          <p:txBody>
            <a:bodyPr wrap="square" rtlCol="0">
              <a:spAutoFit/>
            </a:bodyPr>
            <a:lstStyle/>
            <a:p>
              <a:pPr algn="ctr"/>
              <a:r>
                <a:rPr lang="de-DE" sz="1200" dirty="0"/>
                <a:t>Vector Database</a:t>
              </a:r>
              <a:endParaRPr lang="de-CH" sz="1200" dirty="0"/>
            </a:p>
          </p:txBody>
        </p:sp>
        <p:cxnSp>
          <p:nvCxnSpPr>
            <p:cNvPr id="94" name="Gerader Verbinder 93">
              <a:extLst>
                <a:ext uri="{FF2B5EF4-FFF2-40B4-BE49-F238E27FC236}">
                  <a16:creationId xmlns:a16="http://schemas.microsoft.com/office/drawing/2014/main" id="{15529C4D-D19F-8959-6116-EE03FC0B7263}"/>
                </a:ext>
              </a:extLst>
            </p:cNvPr>
            <p:cNvCxnSpPr/>
            <p:nvPr/>
          </p:nvCxnSpPr>
          <p:spPr>
            <a:xfrm>
              <a:off x="5441615" y="2295265"/>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8" name="Gruppieren 97">
            <a:extLst>
              <a:ext uri="{FF2B5EF4-FFF2-40B4-BE49-F238E27FC236}">
                <a16:creationId xmlns:a16="http://schemas.microsoft.com/office/drawing/2014/main" id="{BD9DF13E-7D2E-2CCF-82E0-1E4A0698FE01}"/>
              </a:ext>
            </a:extLst>
          </p:cNvPr>
          <p:cNvGrpSpPr/>
          <p:nvPr/>
        </p:nvGrpSpPr>
        <p:grpSpPr>
          <a:xfrm>
            <a:off x="3965978" y="4597166"/>
            <a:ext cx="1272301" cy="885454"/>
            <a:chOff x="5716525" y="3360693"/>
            <a:chExt cx="1272301" cy="885454"/>
          </a:xfrm>
        </p:grpSpPr>
        <p:grpSp>
          <p:nvGrpSpPr>
            <p:cNvPr id="65" name="Gruppieren 64">
              <a:extLst>
                <a:ext uri="{FF2B5EF4-FFF2-40B4-BE49-F238E27FC236}">
                  <a16:creationId xmlns:a16="http://schemas.microsoft.com/office/drawing/2014/main" id="{C1D132D2-A0EB-FB48-A13C-D994B3CDFC84}"/>
                </a:ext>
              </a:extLst>
            </p:cNvPr>
            <p:cNvGrpSpPr/>
            <p:nvPr/>
          </p:nvGrpSpPr>
          <p:grpSpPr>
            <a:xfrm>
              <a:off x="5716525" y="3360693"/>
              <a:ext cx="1272301" cy="885454"/>
              <a:chOff x="1574141" y="4411160"/>
              <a:chExt cx="1272301" cy="885454"/>
            </a:xfrm>
          </p:grpSpPr>
          <p:sp>
            <p:nvSpPr>
              <p:cNvPr id="27" name="Rechteck: abgerundete Ecken 26">
                <a:extLst>
                  <a:ext uri="{FF2B5EF4-FFF2-40B4-BE49-F238E27FC236}">
                    <a16:creationId xmlns:a16="http://schemas.microsoft.com/office/drawing/2014/main" id="{3AEFF677-0CC0-0409-A498-F0A42AC349FD}"/>
                  </a:ext>
                </a:extLst>
              </p:cNvPr>
              <p:cNvSpPr/>
              <p:nvPr/>
            </p:nvSpPr>
            <p:spPr>
              <a:xfrm>
                <a:off x="1586762" y="441116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9" name="Grafik 18" descr="Ein Bild, das Screenshot, Grafiken, Clipart, Symbol enthält.&#10;&#10;KI-generierte Inhalte können fehlerhaft sein.">
                <a:extLst>
                  <a:ext uri="{FF2B5EF4-FFF2-40B4-BE49-F238E27FC236}">
                    <a16:creationId xmlns:a16="http://schemas.microsoft.com/office/drawing/2014/main" id="{72E64F61-7AEB-D20B-B2E2-FBEFC2F8399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1856508" y="4678478"/>
                <a:ext cx="694946" cy="618136"/>
              </a:xfrm>
              <a:prstGeom prst="rect">
                <a:avLst/>
              </a:prstGeom>
            </p:spPr>
          </p:pic>
          <p:sp>
            <p:nvSpPr>
              <p:cNvPr id="29" name="Textfeld 28">
                <a:extLst>
                  <a:ext uri="{FF2B5EF4-FFF2-40B4-BE49-F238E27FC236}">
                    <a16:creationId xmlns:a16="http://schemas.microsoft.com/office/drawing/2014/main" id="{6A594674-E676-6EC5-4959-90E088551AE7}"/>
                  </a:ext>
                </a:extLst>
              </p:cNvPr>
              <p:cNvSpPr txBox="1"/>
              <p:nvPr/>
            </p:nvSpPr>
            <p:spPr>
              <a:xfrm>
                <a:off x="1574141" y="4429839"/>
                <a:ext cx="1259680" cy="276999"/>
              </a:xfrm>
              <a:prstGeom prst="rect">
                <a:avLst/>
              </a:prstGeom>
              <a:noFill/>
            </p:spPr>
            <p:txBody>
              <a:bodyPr wrap="square" rtlCol="0">
                <a:spAutoFit/>
              </a:bodyPr>
              <a:lstStyle/>
              <a:p>
                <a:pPr algn="ctr"/>
                <a:r>
                  <a:rPr lang="de-DE" sz="1200" dirty="0"/>
                  <a:t>Relevant Data</a:t>
                </a:r>
                <a:endParaRPr lang="de-CH" sz="1200" dirty="0"/>
              </a:p>
            </p:txBody>
          </p:sp>
        </p:grpSp>
        <p:cxnSp>
          <p:nvCxnSpPr>
            <p:cNvPr id="97" name="Gerader Verbinder 96">
              <a:extLst>
                <a:ext uri="{FF2B5EF4-FFF2-40B4-BE49-F238E27FC236}">
                  <a16:creationId xmlns:a16="http://schemas.microsoft.com/office/drawing/2014/main" id="{AA7C0B59-8EE9-54AC-40B2-42A74206591B}"/>
                </a:ext>
              </a:extLst>
            </p:cNvPr>
            <p:cNvCxnSpPr>
              <a:cxnSpLocks/>
            </p:cNvCxnSpPr>
            <p:nvPr/>
          </p:nvCxnSpPr>
          <p:spPr>
            <a:xfrm>
              <a:off x="5716525" y="3656371"/>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91" name="Gruppieren 190">
            <a:extLst>
              <a:ext uri="{FF2B5EF4-FFF2-40B4-BE49-F238E27FC236}">
                <a16:creationId xmlns:a16="http://schemas.microsoft.com/office/drawing/2014/main" id="{F5BC3814-2FDB-9374-A26E-DF981869D538}"/>
              </a:ext>
            </a:extLst>
          </p:cNvPr>
          <p:cNvGrpSpPr/>
          <p:nvPr/>
        </p:nvGrpSpPr>
        <p:grpSpPr>
          <a:xfrm>
            <a:off x="7323199" y="1458017"/>
            <a:ext cx="1414131" cy="889358"/>
            <a:chOff x="7309691" y="1434359"/>
            <a:chExt cx="1414131" cy="889358"/>
          </a:xfrm>
        </p:grpSpPr>
        <p:sp>
          <p:nvSpPr>
            <p:cNvPr id="39" name="Rechteck: abgerundete Ecken 38">
              <a:extLst>
                <a:ext uri="{FF2B5EF4-FFF2-40B4-BE49-F238E27FC236}">
                  <a16:creationId xmlns:a16="http://schemas.microsoft.com/office/drawing/2014/main" id="{17FB675F-F57E-C56A-AA02-2342FE1F413D}"/>
                </a:ext>
              </a:extLst>
            </p:cNvPr>
            <p:cNvSpPr/>
            <p:nvPr/>
          </p:nvSpPr>
          <p:spPr>
            <a:xfrm>
              <a:off x="7355492" y="1434359"/>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40" name="Grafik 39" descr="Ein Bild, das Screenshot, Kreis, Grafiken, Farbigkeit enthält.&#10;&#10;KI-generierte Inhalte können fehlerhaft sein.">
              <a:extLst>
                <a:ext uri="{FF2B5EF4-FFF2-40B4-BE49-F238E27FC236}">
                  <a16:creationId xmlns:a16="http://schemas.microsoft.com/office/drawing/2014/main" id="{EBD931A9-C6E2-FB33-82EF-8CBA8D22A77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96737" y="1730037"/>
              <a:ext cx="584924" cy="593680"/>
            </a:xfrm>
            <a:prstGeom prst="rect">
              <a:avLst/>
            </a:prstGeom>
          </p:spPr>
        </p:pic>
        <p:sp>
          <p:nvSpPr>
            <p:cNvPr id="41" name="Textfeld 40">
              <a:extLst>
                <a:ext uri="{FF2B5EF4-FFF2-40B4-BE49-F238E27FC236}">
                  <a16:creationId xmlns:a16="http://schemas.microsoft.com/office/drawing/2014/main" id="{9304DFF4-C8D1-B249-7B11-D268FEAE888E}"/>
                </a:ext>
              </a:extLst>
            </p:cNvPr>
            <p:cNvSpPr txBox="1"/>
            <p:nvPr/>
          </p:nvSpPr>
          <p:spPr>
            <a:xfrm>
              <a:off x="7309691" y="1434359"/>
              <a:ext cx="1414131" cy="276999"/>
            </a:xfrm>
            <a:prstGeom prst="rect">
              <a:avLst/>
            </a:prstGeom>
            <a:noFill/>
          </p:spPr>
          <p:txBody>
            <a:bodyPr wrap="square" rtlCol="0">
              <a:spAutoFit/>
            </a:bodyPr>
            <a:lstStyle/>
            <a:p>
              <a:pPr algn="ctr"/>
              <a:r>
                <a:rPr lang="de-DE" sz="1200" dirty="0"/>
                <a:t>Embedding LLM</a:t>
              </a:r>
              <a:endParaRPr lang="de-CH" sz="1200" dirty="0"/>
            </a:p>
          </p:txBody>
        </p:sp>
        <p:cxnSp>
          <p:nvCxnSpPr>
            <p:cNvPr id="100" name="Gerader Verbinder 99">
              <a:extLst>
                <a:ext uri="{FF2B5EF4-FFF2-40B4-BE49-F238E27FC236}">
                  <a16:creationId xmlns:a16="http://schemas.microsoft.com/office/drawing/2014/main" id="{1BE07C25-7315-9129-74A8-4050686D8D24}"/>
                </a:ext>
              </a:extLst>
            </p:cNvPr>
            <p:cNvCxnSpPr>
              <a:cxnSpLocks/>
            </p:cNvCxnSpPr>
            <p:nvPr/>
          </p:nvCxnSpPr>
          <p:spPr>
            <a:xfrm>
              <a:off x="7355492" y="1718158"/>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 name="Gruppieren 4">
            <a:extLst>
              <a:ext uri="{FF2B5EF4-FFF2-40B4-BE49-F238E27FC236}">
                <a16:creationId xmlns:a16="http://schemas.microsoft.com/office/drawing/2014/main" id="{F918F0D3-2F07-B858-01D8-29C3B820100E}"/>
              </a:ext>
            </a:extLst>
          </p:cNvPr>
          <p:cNvGrpSpPr/>
          <p:nvPr/>
        </p:nvGrpSpPr>
        <p:grpSpPr>
          <a:xfrm>
            <a:off x="7323199" y="4612887"/>
            <a:ext cx="1272301" cy="889358"/>
            <a:chOff x="7323199" y="4612887"/>
            <a:chExt cx="1272301" cy="889358"/>
          </a:xfrm>
        </p:grpSpPr>
        <p:sp>
          <p:nvSpPr>
            <p:cNvPr id="36" name="Rechteck: abgerundete Ecken 35">
              <a:extLst>
                <a:ext uri="{FF2B5EF4-FFF2-40B4-BE49-F238E27FC236}">
                  <a16:creationId xmlns:a16="http://schemas.microsoft.com/office/drawing/2014/main" id="{ED9EB15C-775E-743A-5C8A-329716F08D71}"/>
                </a:ext>
              </a:extLst>
            </p:cNvPr>
            <p:cNvSpPr/>
            <p:nvPr/>
          </p:nvSpPr>
          <p:spPr>
            <a:xfrm>
              <a:off x="7335820" y="4612887"/>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1" name="Grafik 20" descr="Ein Bild, das Screenshot, Kreis, Grafiken, Farbigkeit enthält.&#10;&#10;KI-generierte Inhalte können fehlerhaft sein.">
              <a:extLst>
                <a:ext uri="{FF2B5EF4-FFF2-40B4-BE49-F238E27FC236}">
                  <a16:creationId xmlns:a16="http://schemas.microsoft.com/office/drawing/2014/main" id="{D2BE5CEE-72ED-9E93-6D94-F2F3A82FACA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77065" y="4908565"/>
              <a:ext cx="584924" cy="593680"/>
            </a:xfrm>
            <a:prstGeom prst="rect">
              <a:avLst/>
            </a:prstGeom>
            <a:solidFill>
              <a:schemeClr val="accent6">
                <a:lumMod val="40000"/>
                <a:lumOff val="60000"/>
              </a:schemeClr>
            </a:solidFill>
          </p:spPr>
        </p:pic>
        <p:sp>
          <p:nvSpPr>
            <p:cNvPr id="38" name="Textfeld 37">
              <a:extLst>
                <a:ext uri="{FF2B5EF4-FFF2-40B4-BE49-F238E27FC236}">
                  <a16:creationId xmlns:a16="http://schemas.microsoft.com/office/drawing/2014/main" id="{03DC25DF-13C3-13D9-6E05-39203CDDD994}"/>
                </a:ext>
              </a:extLst>
            </p:cNvPr>
            <p:cNvSpPr txBox="1"/>
            <p:nvPr/>
          </p:nvSpPr>
          <p:spPr>
            <a:xfrm>
              <a:off x="7395113" y="4658867"/>
              <a:ext cx="1128128" cy="276999"/>
            </a:xfrm>
            <a:prstGeom prst="rect">
              <a:avLst/>
            </a:prstGeom>
            <a:solidFill>
              <a:schemeClr val="accent6">
                <a:lumMod val="40000"/>
                <a:lumOff val="60000"/>
              </a:schemeClr>
            </a:solidFill>
            <a:ln>
              <a:noFill/>
            </a:ln>
          </p:spPr>
          <p:txBody>
            <a:bodyPr wrap="square" rtlCol="0">
              <a:spAutoFit/>
            </a:bodyPr>
            <a:lstStyle/>
            <a:p>
              <a:pPr algn="ctr"/>
              <a:r>
                <a:rPr lang="de-DE" sz="1200" dirty="0"/>
                <a:t>LLM</a:t>
              </a:r>
              <a:endParaRPr lang="de-CH" sz="1200" dirty="0"/>
            </a:p>
          </p:txBody>
        </p:sp>
        <p:cxnSp>
          <p:nvCxnSpPr>
            <p:cNvPr id="103" name="Gerader Verbinder 102">
              <a:extLst>
                <a:ext uri="{FF2B5EF4-FFF2-40B4-BE49-F238E27FC236}">
                  <a16:creationId xmlns:a16="http://schemas.microsoft.com/office/drawing/2014/main" id="{89E56150-F799-73D3-EF24-108F9F72EB5B}"/>
                </a:ext>
              </a:extLst>
            </p:cNvPr>
            <p:cNvCxnSpPr/>
            <p:nvPr/>
          </p:nvCxnSpPr>
          <p:spPr>
            <a:xfrm flipV="1">
              <a:off x="7323199" y="4901448"/>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cxnSp>
        <p:nvCxnSpPr>
          <p:cNvPr id="115" name="Gerade Verbindung mit Pfeil 114">
            <a:extLst>
              <a:ext uri="{FF2B5EF4-FFF2-40B4-BE49-F238E27FC236}">
                <a16:creationId xmlns:a16="http://schemas.microsoft.com/office/drawing/2014/main" id="{14E1E4A3-413D-58F0-10EB-0306239E959A}"/>
              </a:ext>
            </a:extLst>
          </p:cNvPr>
          <p:cNvCxnSpPr>
            <a:stCxn id="73" idx="0"/>
            <a:endCxn id="9" idx="2"/>
          </p:cNvCxnSpPr>
          <p:nvPr/>
        </p:nvCxnSpPr>
        <p:spPr>
          <a:xfrm flipV="1">
            <a:off x="1746291" y="5101812"/>
            <a:ext cx="3215" cy="24389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Gerade Verbindung mit Pfeil 116">
            <a:extLst>
              <a:ext uri="{FF2B5EF4-FFF2-40B4-BE49-F238E27FC236}">
                <a16:creationId xmlns:a16="http://schemas.microsoft.com/office/drawing/2014/main" id="{3D277298-C290-9A79-FFEA-AFF8DDE11573}"/>
              </a:ext>
            </a:extLst>
          </p:cNvPr>
          <p:cNvCxnSpPr>
            <a:stCxn id="47" idx="0"/>
            <a:endCxn id="59" idx="2"/>
          </p:cNvCxnSpPr>
          <p:nvPr/>
        </p:nvCxnSpPr>
        <p:spPr>
          <a:xfrm flipH="1" flipV="1">
            <a:off x="1744118" y="3983417"/>
            <a:ext cx="5389" cy="263136"/>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Gerade Verbindung mit Pfeil 118">
            <a:extLst>
              <a:ext uri="{FF2B5EF4-FFF2-40B4-BE49-F238E27FC236}">
                <a16:creationId xmlns:a16="http://schemas.microsoft.com/office/drawing/2014/main" id="{9740F8C2-D6E5-D85B-F966-64BF81E12766}"/>
              </a:ext>
            </a:extLst>
          </p:cNvPr>
          <p:cNvCxnSpPr>
            <a:cxnSpLocks/>
            <a:stCxn id="61" idx="0"/>
            <a:endCxn id="170" idx="2"/>
          </p:cNvCxnSpPr>
          <p:nvPr/>
        </p:nvCxnSpPr>
        <p:spPr>
          <a:xfrm flipH="1" flipV="1">
            <a:off x="1726272" y="2852628"/>
            <a:ext cx="5225" cy="28269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Gerade Verbindung mit Pfeil 131">
            <a:extLst>
              <a:ext uri="{FF2B5EF4-FFF2-40B4-BE49-F238E27FC236}">
                <a16:creationId xmlns:a16="http://schemas.microsoft.com/office/drawing/2014/main" id="{F394BB46-5E39-9C62-ED4C-3763D1188E8A}"/>
              </a:ext>
            </a:extLst>
          </p:cNvPr>
          <p:cNvCxnSpPr>
            <a:cxnSpLocks/>
            <a:stCxn id="33" idx="3"/>
            <a:endCxn id="26" idx="0"/>
          </p:cNvCxnSpPr>
          <p:nvPr/>
        </p:nvCxnSpPr>
        <p:spPr>
          <a:xfrm>
            <a:off x="4006029" y="2413059"/>
            <a:ext cx="629049" cy="95700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Gerade Verbindung mit Pfeil 140">
            <a:extLst>
              <a:ext uri="{FF2B5EF4-FFF2-40B4-BE49-F238E27FC236}">
                <a16:creationId xmlns:a16="http://schemas.microsoft.com/office/drawing/2014/main" id="{D52A4C95-F051-FA9D-F0AC-C763240BBFA9}"/>
              </a:ext>
            </a:extLst>
          </p:cNvPr>
          <p:cNvCxnSpPr>
            <a:cxnSpLocks/>
            <a:stCxn id="15" idx="2"/>
            <a:endCxn id="29" idx="0"/>
          </p:cNvCxnSpPr>
          <p:nvPr/>
        </p:nvCxnSpPr>
        <p:spPr>
          <a:xfrm flipH="1">
            <a:off x="4595818" y="4249096"/>
            <a:ext cx="6013" cy="366749"/>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Gerade Verbindung mit Pfeil 143">
            <a:extLst>
              <a:ext uri="{FF2B5EF4-FFF2-40B4-BE49-F238E27FC236}">
                <a16:creationId xmlns:a16="http://schemas.microsoft.com/office/drawing/2014/main" id="{973115DA-A7CC-0FD8-8F02-9F6AA6C517BE}"/>
              </a:ext>
            </a:extLst>
          </p:cNvPr>
          <p:cNvCxnSpPr>
            <a:cxnSpLocks/>
            <a:stCxn id="27" idx="3"/>
            <a:endCxn id="36" idx="1"/>
          </p:cNvCxnSpPr>
          <p:nvPr/>
        </p:nvCxnSpPr>
        <p:spPr>
          <a:xfrm>
            <a:off x="5238279" y="5030554"/>
            <a:ext cx="2097541" cy="15721"/>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Gerade Verbindung mit Pfeil 146">
            <a:extLst>
              <a:ext uri="{FF2B5EF4-FFF2-40B4-BE49-F238E27FC236}">
                <a16:creationId xmlns:a16="http://schemas.microsoft.com/office/drawing/2014/main" id="{ABA40651-7EFB-D4D1-1CD8-9A7FFD31A259}"/>
              </a:ext>
            </a:extLst>
          </p:cNvPr>
          <p:cNvCxnSpPr>
            <a:stCxn id="21" idx="2"/>
            <a:endCxn id="53" idx="0"/>
          </p:cNvCxnSpPr>
          <p:nvPr/>
        </p:nvCxnSpPr>
        <p:spPr>
          <a:xfrm>
            <a:off x="7969527" y="5502245"/>
            <a:ext cx="2271" cy="30064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Gerade Verbindung mit Pfeil 148">
            <a:extLst>
              <a:ext uri="{FF2B5EF4-FFF2-40B4-BE49-F238E27FC236}">
                <a16:creationId xmlns:a16="http://schemas.microsoft.com/office/drawing/2014/main" id="{832E5ADE-6D9B-CEBE-59B9-88C567178B60}"/>
              </a:ext>
            </a:extLst>
          </p:cNvPr>
          <p:cNvCxnSpPr>
            <a:cxnSpLocks/>
            <a:stCxn id="30" idx="1"/>
            <a:endCxn id="25" idx="3"/>
          </p:cNvCxnSpPr>
          <p:nvPr/>
        </p:nvCxnSpPr>
        <p:spPr>
          <a:xfrm flipH="1">
            <a:off x="5236488" y="3707208"/>
            <a:ext cx="2136092" cy="7756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Gerade Verbindung mit Pfeil 153">
            <a:extLst>
              <a:ext uri="{FF2B5EF4-FFF2-40B4-BE49-F238E27FC236}">
                <a16:creationId xmlns:a16="http://schemas.microsoft.com/office/drawing/2014/main" id="{2459B95C-FFAE-0808-6C6B-2F0EC402C77C}"/>
              </a:ext>
            </a:extLst>
          </p:cNvPr>
          <p:cNvCxnSpPr>
            <a:cxnSpLocks/>
            <a:stCxn id="39" idx="1"/>
          </p:cNvCxnSpPr>
          <p:nvPr/>
        </p:nvCxnSpPr>
        <p:spPr>
          <a:xfrm flipH="1">
            <a:off x="4365106" y="1891405"/>
            <a:ext cx="3003894" cy="893383"/>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5" name="Gerade Verbindung mit Pfeil 154">
            <a:extLst>
              <a:ext uri="{FF2B5EF4-FFF2-40B4-BE49-F238E27FC236}">
                <a16:creationId xmlns:a16="http://schemas.microsoft.com/office/drawing/2014/main" id="{D6968EB0-25C3-B027-AFCE-AC43F149C09D}"/>
              </a:ext>
            </a:extLst>
          </p:cNvPr>
          <p:cNvCxnSpPr>
            <a:cxnSpLocks/>
          </p:cNvCxnSpPr>
          <p:nvPr/>
        </p:nvCxnSpPr>
        <p:spPr>
          <a:xfrm>
            <a:off x="8589017" y="2354960"/>
            <a:ext cx="1139991" cy="1310591"/>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9" name="Gerade Verbindung mit Pfeil 158">
            <a:extLst>
              <a:ext uri="{FF2B5EF4-FFF2-40B4-BE49-F238E27FC236}">
                <a16:creationId xmlns:a16="http://schemas.microsoft.com/office/drawing/2014/main" id="{77AC1BC4-A2CA-9921-00F3-F0906C73A162}"/>
              </a:ext>
            </a:extLst>
          </p:cNvPr>
          <p:cNvCxnSpPr>
            <a:stCxn id="50" idx="1"/>
            <a:endCxn id="30" idx="3"/>
          </p:cNvCxnSpPr>
          <p:nvPr/>
        </p:nvCxnSpPr>
        <p:spPr>
          <a:xfrm flipH="1">
            <a:off x="8632260" y="3672855"/>
            <a:ext cx="1834553" cy="3435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173" name="Gruppieren 172">
            <a:extLst>
              <a:ext uri="{FF2B5EF4-FFF2-40B4-BE49-F238E27FC236}">
                <a16:creationId xmlns:a16="http://schemas.microsoft.com/office/drawing/2014/main" id="{FA13C2B8-6936-99E0-CA67-5A6F1B171E1E}"/>
              </a:ext>
            </a:extLst>
          </p:cNvPr>
          <p:cNvGrpSpPr/>
          <p:nvPr/>
        </p:nvGrpSpPr>
        <p:grpSpPr>
          <a:xfrm>
            <a:off x="1083811" y="1985853"/>
            <a:ext cx="1272301" cy="866775"/>
            <a:chOff x="1121911" y="1614378"/>
            <a:chExt cx="1272301" cy="866775"/>
          </a:xfrm>
        </p:grpSpPr>
        <p:sp>
          <p:nvSpPr>
            <p:cNvPr id="170" name="Rechteck: abgerundete Ecken 169">
              <a:extLst>
                <a:ext uri="{FF2B5EF4-FFF2-40B4-BE49-F238E27FC236}">
                  <a16:creationId xmlns:a16="http://schemas.microsoft.com/office/drawing/2014/main" id="{52F2C309-8B47-4B38-C435-BA247301289F}"/>
                </a:ext>
              </a:extLst>
            </p:cNvPr>
            <p:cNvSpPr/>
            <p:nvPr/>
          </p:nvSpPr>
          <p:spPr>
            <a:xfrm>
              <a:off x="1134532" y="161437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66" name="Grafik 165" descr="Ein Bild, das Screenshot, Licht enthält.&#10;&#10;KI-generierte Inhalte können fehlerhaft sein.">
              <a:extLst>
                <a:ext uri="{FF2B5EF4-FFF2-40B4-BE49-F238E27FC236}">
                  <a16:creationId xmlns:a16="http://schemas.microsoft.com/office/drawing/2014/main" id="{18C5B457-0EC3-21C6-06A0-77BB0094F76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85129" y="2013081"/>
              <a:ext cx="515265" cy="403725"/>
            </a:xfrm>
            <a:prstGeom prst="rect">
              <a:avLst/>
            </a:prstGeom>
          </p:spPr>
        </p:pic>
        <p:sp>
          <p:nvSpPr>
            <p:cNvPr id="172" name="Textfeld 171">
              <a:extLst>
                <a:ext uri="{FF2B5EF4-FFF2-40B4-BE49-F238E27FC236}">
                  <a16:creationId xmlns:a16="http://schemas.microsoft.com/office/drawing/2014/main" id="{C983D40E-3876-4F4E-47B7-7209056B591D}"/>
                </a:ext>
              </a:extLst>
            </p:cNvPr>
            <p:cNvSpPr txBox="1"/>
            <p:nvPr/>
          </p:nvSpPr>
          <p:spPr>
            <a:xfrm>
              <a:off x="1121911" y="1633057"/>
              <a:ext cx="1259680" cy="276999"/>
            </a:xfrm>
            <a:prstGeom prst="rect">
              <a:avLst/>
            </a:prstGeom>
            <a:noFill/>
          </p:spPr>
          <p:txBody>
            <a:bodyPr wrap="square" rtlCol="0">
              <a:spAutoFit/>
            </a:bodyPr>
            <a:lstStyle/>
            <a:p>
              <a:pPr algn="ctr"/>
              <a:r>
                <a:rPr lang="de-DE" sz="1200" dirty="0"/>
                <a:t>Chunks</a:t>
              </a:r>
              <a:endParaRPr lang="de-CH" sz="1200" dirty="0"/>
            </a:p>
          </p:txBody>
        </p:sp>
        <p:cxnSp>
          <p:nvCxnSpPr>
            <p:cNvPr id="169" name="Gerader Verbinder 168">
              <a:extLst>
                <a:ext uri="{FF2B5EF4-FFF2-40B4-BE49-F238E27FC236}">
                  <a16:creationId xmlns:a16="http://schemas.microsoft.com/office/drawing/2014/main" id="{0FA0142E-971A-0A1F-29D2-AC7BD774A3BB}"/>
                </a:ext>
              </a:extLst>
            </p:cNvPr>
            <p:cNvCxnSpPr>
              <a:cxnSpLocks/>
            </p:cNvCxnSpPr>
            <p:nvPr/>
          </p:nvCxnSpPr>
          <p:spPr>
            <a:xfrm flipV="1">
              <a:off x="1134532" y="1910056"/>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176" name="Gerade Verbindung mit Pfeil 175">
            <a:extLst>
              <a:ext uri="{FF2B5EF4-FFF2-40B4-BE49-F238E27FC236}">
                <a16:creationId xmlns:a16="http://schemas.microsoft.com/office/drawing/2014/main" id="{609B73A4-8EAF-18B4-31BD-58DC771AC7F6}"/>
              </a:ext>
            </a:extLst>
          </p:cNvPr>
          <p:cNvCxnSpPr>
            <a:cxnSpLocks/>
            <a:stCxn id="170" idx="3"/>
            <a:endCxn id="33" idx="1"/>
          </p:cNvCxnSpPr>
          <p:nvPr/>
        </p:nvCxnSpPr>
        <p:spPr>
          <a:xfrm flipV="1">
            <a:off x="2356112" y="2413059"/>
            <a:ext cx="390237" cy="618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5064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9</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noGrp="1"/>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noGrp="1"/>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noGrp="1"/>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noGrp="1"/>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3"/>
          <a:stretch>
            <a:fillRect/>
          </a:stretch>
        </p:blipFill>
        <p:spPr>
          <a:xfrm flipH="1">
            <a:off x="10611919" y="1867303"/>
            <a:ext cx="609861"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noGrp="1"/>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noGrp="1"/>
          </p:cNvSpPr>
          <p:nvPr/>
        </p:nvSpPr>
        <p:spPr>
          <a:xfrm>
            <a:off x="10287000" y="4619625"/>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stretch>
            <a:fillRect/>
          </a:stretch>
        </p:blipFill>
        <p:spPr>
          <a:xfrm flipH="1">
            <a:off x="10596787" y="4903297"/>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noGrp="1"/>
          </p:cNvSpPr>
          <p:nvPr/>
        </p:nvSpPr>
        <p:spPr>
          <a:xfrm>
            <a:off x="10274379" y="4638304"/>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noGrp="1"/>
          </p:cNvSpPr>
          <p:nvPr/>
        </p:nvSpPr>
        <p:spPr>
          <a:xfrm>
            <a:off x="523875"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5"/>
          <a:stretch>
            <a:fillRect/>
          </a:stretch>
        </p:blipFill>
        <p:spPr>
          <a:xfrm flipH="1">
            <a:off x="1119276"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noGrp="1"/>
          </p:cNvSpPr>
          <p:nvPr/>
        </p:nvSpPr>
        <p:spPr>
          <a:xfrm>
            <a:off x="511254"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noGrp="1"/>
          </p:cNvSpPr>
          <p:nvPr/>
        </p:nvSpPr>
        <p:spPr>
          <a:xfrm>
            <a:off x="523875"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noGrp="1"/>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6"/>
          <a:stretch>
            <a:fillRect/>
          </a:stretch>
        </p:blipFill>
        <p:spPr>
          <a:xfrm flipH="1">
            <a:off x="1116684" y="3076607"/>
            <a:ext cx="455061" cy="530359"/>
          </a:xfrm>
          <a:prstGeom prst="rect">
            <a:avLst/>
          </a:prstGeom>
        </p:spPr>
      </p:pic>
      <p:sp>
        <p:nvSpPr>
          <p:cNvPr id="48" name="Textfeld 60">
            <a:extLst>
              <a:ext uri="{FF2B5EF4-FFF2-40B4-BE49-F238E27FC236}">
                <a16:creationId xmlns:a16="http://schemas.microsoft.com/office/drawing/2014/main" id="{9300C327-65D2-42BB-19E9-6CBA235D48A3}"/>
              </a:ext>
            </a:extLst>
          </p:cNvPr>
          <p:cNvSpPr>
            <a:spLocks noGrp="1"/>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noGrp="1"/>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noGrp="1"/>
          </p:cNvSpPr>
          <p:nvPr/>
        </p:nvSpPr>
        <p:spPr>
          <a:xfrm>
            <a:off x="5119500"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78577" y="1886883"/>
            <a:ext cx="541526" cy="571097"/>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noGrp="1"/>
          </p:cNvSpPr>
          <p:nvPr/>
        </p:nvSpPr>
        <p:spPr>
          <a:xfrm>
            <a:off x="5106879"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noGrp="1"/>
          </p:cNvSpPr>
          <p:nvPr/>
        </p:nvSpPr>
        <p:spPr>
          <a:xfrm flipV="1">
            <a:off x="5119500"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noGrp="1"/>
          </p:cNvSpPr>
          <p:nvPr/>
        </p:nvSpPr>
        <p:spPr>
          <a:xfrm>
            <a:off x="8096250"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355974"/>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noGrp="1"/>
          </p:cNvSpPr>
          <p:nvPr/>
        </p:nvSpPr>
        <p:spPr>
          <a:xfrm>
            <a:off x="8083629" y="3066679"/>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noGrp="1"/>
          </p:cNvSpPr>
          <p:nvPr/>
        </p:nvSpPr>
        <p:spPr>
          <a:xfrm flipV="1">
            <a:off x="8096250" y="3343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noGrp="1"/>
          </p:cNvSpPr>
          <p:nvPr/>
        </p:nvSpPr>
        <p:spPr>
          <a:xfrm>
            <a:off x="5095875"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05249" y="3397860"/>
            <a:ext cx="631298" cy="547851"/>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noGrp="1"/>
          </p:cNvSpPr>
          <p:nvPr/>
        </p:nvSpPr>
        <p:spPr>
          <a:xfrm>
            <a:off x="5083254" y="3066679"/>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noGrp="1"/>
          </p:cNvSpPr>
          <p:nvPr/>
        </p:nvSpPr>
        <p:spPr>
          <a:xfrm>
            <a:off x="5095875" y="3352429"/>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noGrp="1"/>
          </p:cNvSpPr>
          <p:nvPr/>
        </p:nvSpPr>
        <p:spPr>
          <a:xfrm>
            <a:off x="5095875" y="4619625"/>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65621" y="4886943"/>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noGrp="1"/>
          </p:cNvSpPr>
          <p:nvPr/>
        </p:nvSpPr>
        <p:spPr>
          <a:xfrm>
            <a:off x="5083254" y="4638304"/>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noGrp="1"/>
          </p:cNvSpPr>
          <p:nvPr/>
        </p:nvSpPr>
        <p:spPr>
          <a:xfrm>
            <a:off x="5083254" y="4915303"/>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noGrp="1"/>
          </p:cNvSpPr>
          <p:nvPr/>
        </p:nvSpPr>
        <p:spPr>
          <a:xfrm>
            <a:off x="8096250"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37495" y="1867303"/>
            <a:ext cx="584924" cy="593680"/>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noGrp="1"/>
          </p:cNvSpPr>
          <p:nvPr/>
        </p:nvSpPr>
        <p:spPr>
          <a:xfrm>
            <a:off x="8050449"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noGrp="1"/>
          </p:cNvSpPr>
          <p:nvPr/>
        </p:nvSpPr>
        <p:spPr>
          <a:xfrm>
            <a:off x="8096250"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noGrp="1"/>
          </p:cNvSpPr>
          <p:nvPr/>
        </p:nvSpPr>
        <p:spPr>
          <a:xfrm>
            <a:off x="8096250" y="4619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7495" y="4915303"/>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noGrp="1"/>
          </p:cNvSpPr>
          <p:nvPr/>
        </p:nvSpPr>
        <p:spPr>
          <a:xfrm>
            <a:off x="8155543" y="4665605"/>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noGrp="1"/>
          </p:cNvSpPr>
          <p:nvPr/>
        </p:nvSpPr>
        <p:spPr>
          <a:xfrm flipV="1">
            <a:off x="8083629" y="4908186"/>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stCxn id="37" idx="0"/>
            <a:endCxn id="45" idx="2"/>
          </p:cNvCxnSpPr>
          <p:nvPr/>
        </p:nvCxnSpPr>
        <p:spPr>
          <a:xfrm flipH="1" flipV="1">
            <a:off x="1344215" y="3629025"/>
            <a:ext cx="8742" cy="32385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stCxn id="48" idx="0"/>
            <a:endCxn id="121" idx="2"/>
          </p:cNvCxnSpPr>
          <p:nvPr/>
        </p:nvCxnSpPr>
        <p:spPr>
          <a:xfrm flipV="1">
            <a:off x="1331594" y="2438400"/>
            <a:ext cx="12621" cy="34252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25035" cy="105438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053013"/>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4619625"/>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481388"/>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65106"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4763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noGrp="1"/>
          </p:cNvSpPr>
          <p:nvPr/>
        </p:nvSpPr>
        <p:spPr>
          <a:xfrm>
            <a:off x="714375"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64972" y="1970328"/>
            <a:ext cx="515265" cy="403725"/>
          </a:xfrm>
          <a:prstGeom prst="rect">
            <a:avLst/>
          </a:prstGeom>
        </p:spPr>
      </p:pic>
      <p:sp>
        <p:nvSpPr>
          <p:cNvPr id="123" name="Textfeld 171">
            <a:extLst>
              <a:ext uri="{FF2B5EF4-FFF2-40B4-BE49-F238E27FC236}">
                <a16:creationId xmlns:a16="http://schemas.microsoft.com/office/drawing/2014/main" id="{94B0B414-3457-95E7-777A-E27F72556F9D}"/>
              </a:ext>
            </a:extLst>
          </p:cNvPr>
          <p:cNvSpPr>
            <a:spLocks noGrp="1"/>
          </p:cNvSpPr>
          <p:nvPr/>
        </p:nvSpPr>
        <p:spPr>
          <a:xfrm>
            <a:off x="701754" y="1590304"/>
            <a:ext cx="1259680" cy="276999"/>
          </a:xfrm>
          <a:prstGeom prst="rect">
            <a:avLst/>
          </a:prstGeom>
          <a:noFill/>
        </p:spPr>
        <p:txBody>
          <a:bodyPr wrap="square">
            <a:spAutoFit/>
          </a:bodyPr>
          <a:lstStyle/>
          <a:p>
            <a:pPr algn="ctr">
              <a:buNone/>
            </a:pPr>
            <a:r>
              <a:rPr sz="1200"/>
              <a:t>Chunks</a:t>
            </a:r>
          </a:p>
        </p:txBody>
      </p:sp>
      <p:sp>
        <p:nvSpPr>
          <p:cNvPr id="124" name="Gerader Verbinder 123">
            <a:extLst>
              <a:ext uri="{FF2B5EF4-FFF2-40B4-BE49-F238E27FC236}">
                <a16:creationId xmlns:a16="http://schemas.microsoft.com/office/drawing/2014/main" id="{E1830494-1611-ADE7-C919-BF9ADBCD7AEF}"/>
              </a:ext>
            </a:extLst>
          </p:cNvPr>
          <p:cNvSpPr>
            <a:spLocks noGrp="1"/>
          </p:cNvSpPr>
          <p:nvPr/>
        </p:nvSpPr>
        <p:spPr>
          <a:xfrm flipV="1">
            <a:off x="714375" y="1867303"/>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25" name="Gerade Verbindung mit Pfeil 175">
            <a:extLst>
              <a:ext uri="{FF2B5EF4-FFF2-40B4-BE49-F238E27FC236}">
                <a16:creationId xmlns:a16="http://schemas.microsoft.com/office/drawing/2014/main" id="{C72D8DE9-33EF-8199-896F-3B4B34E4C33F}"/>
              </a:ext>
            </a:extLst>
          </p:cNvPr>
          <p:cNvCxnSpPr>
            <a:stCxn id="121" idx="3"/>
            <a:endCxn id="54" idx="1"/>
          </p:cNvCxnSpPr>
          <p:nvPr/>
        </p:nvCxnSpPr>
        <p:spPr>
          <a:xfrm>
            <a:off x="1974055" y="2005013"/>
            <a:ext cx="3145445" cy="7284"/>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2F8AE9B7-7DF2-DD44-666C-0F46DF7C984C}"/>
              </a:ext>
            </a:extLst>
          </p:cNvPr>
          <p:cNvCxnSpPr>
            <a:stCxn id="10" idx="0"/>
            <a:endCxn id="37" idx="2"/>
          </p:cNvCxnSpPr>
          <p:nvPr/>
        </p:nvCxnSpPr>
        <p:spPr>
          <a:xfrm flipV="1">
            <a:off x="1344215" y="4819650"/>
            <a:ext cx="8742" cy="323850"/>
          </a:xfrm>
          <a:prstGeom prst="straightConnector1">
            <a:avLst/>
          </a:prstGeom>
          <a:ln w="20955">
            <a:solidFill>
              <a:srgbClr val="304554"/>
            </a:solidFill>
            <a:prstDash val="solid"/>
            <a:tailEnd type="triangle" w="sm" len="sm"/>
          </a:ln>
        </p:spPr>
      </p:cxnSp>
      <p:cxnSp>
        <p:nvCxnSpPr>
          <p:cNvPr id="127" name="Gerade Verbindung mit Pfeil 126">
            <a:extLst>
              <a:ext uri="{FF2B5EF4-FFF2-40B4-BE49-F238E27FC236}">
                <a16:creationId xmlns:a16="http://schemas.microsoft.com/office/drawing/2014/main" id="{3D560821-5CFC-8CEA-9E6D-08367593D66A}"/>
              </a:ext>
            </a:extLst>
          </p:cNvPr>
          <p:cNvCxnSpPr>
            <a:stCxn id="37" idx="0"/>
            <a:endCxn id="45" idx="2"/>
          </p:cNvCxnSpPr>
          <p:nvPr/>
        </p:nvCxnSpPr>
        <p:spPr>
          <a:xfrm flipH="1" flipV="1">
            <a:off x="1344215" y="3629025"/>
            <a:ext cx="8742" cy="323850"/>
          </a:xfrm>
          <a:prstGeom prst="straightConnector1">
            <a:avLst/>
          </a:prstGeom>
          <a:ln w="20955">
            <a:solidFill>
              <a:srgbClr val="304554"/>
            </a:solidFill>
            <a:prstDash val="solid"/>
            <a:tailEnd type="triangle" w="sm" len="sm"/>
          </a:ln>
        </p:spPr>
      </p:cxnSp>
      <p:cxnSp>
        <p:nvCxnSpPr>
          <p:cNvPr id="128" name="Gerade Verbindung mit Pfeil 127">
            <a:extLst>
              <a:ext uri="{FF2B5EF4-FFF2-40B4-BE49-F238E27FC236}">
                <a16:creationId xmlns:a16="http://schemas.microsoft.com/office/drawing/2014/main" id="{A1F75876-635A-EB2E-14AF-3E3B0E315CAF}"/>
              </a:ext>
            </a:extLst>
          </p:cNvPr>
          <p:cNvCxnSpPr>
            <a:stCxn id="45" idx="0"/>
            <a:endCxn id="121" idx="2"/>
          </p:cNvCxnSpPr>
          <p:nvPr/>
        </p:nvCxnSpPr>
        <p:spPr>
          <a:xfrm flipV="1">
            <a:off x="1344215" y="2438400"/>
            <a:ext cx="0" cy="323850"/>
          </a:xfrm>
          <a:prstGeom prst="straightConnector1">
            <a:avLst/>
          </a:prstGeom>
          <a:ln w="20955">
            <a:solidFill>
              <a:srgbClr val="304554"/>
            </a:solidFill>
            <a:prstDash val="solid"/>
            <a:tailEnd type="triangle" w="sm" len="sm"/>
          </a:ln>
        </p:spPr>
      </p:cxnSp>
      <p:cxnSp>
        <p:nvCxnSpPr>
          <p:cNvPr id="129" name="Gerade Verbindung mit Pfeil 128">
            <a:extLst>
              <a:ext uri="{FF2B5EF4-FFF2-40B4-BE49-F238E27FC236}">
                <a16:creationId xmlns:a16="http://schemas.microsoft.com/office/drawing/2014/main" id="{11AAC394-26E2-4C16-5C24-E25FD3E7D705}"/>
              </a:ext>
            </a:extLst>
          </p:cNvPr>
          <p:cNvCxnSpPr>
            <a:cxnSpLocks/>
            <a:stCxn id="121" idx="3"/>
            <a:endCxn id="137" idx="1"/>
          </p:cNvCxnSpPr>
          <p:nvPr/>
        </p:nvCxnSpPr>
        <p:spPr>
          <a:xfrm>
            <a:off x="1974055" y="2005013"/>
            <a:ext cx="900021" cy="0"/>
          </a:xfrm>
          <a:prstGeom prst="straightConnector1">
            <a:avLst/>
          </a:prstGeom>
          <a:ln w="20955">
            <a:solidFill>
              <a:srgbClr val="304554"/>
            </a:solidFill>
            <a:prstDash val="solid"/>
            <a:tailEnd type="triangle" w="sm" len="sm"/>
          </a:ln>
        </p:spPr>
      </p:cxnSp>
      <p:cxnSp>
        <p:nvCxnSpPr>
          <p:cNvPr id="130" name="Gerade Verbindung mit Pfeil 129">
            <a:extLst>
              <a:ext uri="{FF2B5EF4-FFF2-40B4-BE49-F238E27FC236}">
                <a16:creationId xmlns:a16="http://schemas.microsoft.com/office/drawing/2014/main" id="{572FB2CE-8851-3537-32C3-B05BFCE5D204}"/>
              </a:ext>
            </a:extLst>
          </p:cNvPr>
          <p:cNvCxnSpPr>
            <a:stCxn id="18" idx="1"/>
            <a:endCxn id="93" idx="3"/>
          </p:cNvCxnSpPr>
          <p:nvPr/>
        </p:nvCxnSpPr>
        <p:spPr>
          <a:xfrm flipH="1">
            <a:off x="9355930" y="2005013"/>
            <a:ext cx="931070" cy="0"/>
          </a:xfrm>
          <a:prstGeom prst="straightConnector1">
            <a:avLst/>
          </a:prstGeom>
          <a:ln w="20955">
            <a:solidFill>
              <a:srgbClr val="8D8271"/>
            </a:solidFill>
            <a:prstDash val="solid"/>
            <a:tailEnd type="triangle" w="sm" len="sm"/>
          </a:ln>
        </p:spPr>
      </p:cxnSp>
      <p:cxnSp>
        <p:nvCxnSpPr>
          <p:cNvPr id="131" name="Gerade Verbindung mit Pfeil 130">
            <a:extLst>
              <a:ext uri="{FF2B5EF4-FFF2-40B4-BE49-F238E27FC236}">
                <a16:creationId xmlns:a16="http://schemas.microsoft.com/office/drawing/2014/main" id="{8D4278C3-96BC-BBC5-2E76-E6FCA97DDB47}"/>
              </a:ext>
            </a:extLst>
          </p:cNvPr>
          <p:cNvCxnSpPr>
            <a:stCxn id="93" idx="2"/>
            <a:endCxn id="60" idx="0"/>
          </p:cNvCxnSpPr>
          <p:nvPr/>
        </p:nvCxnSpPr>
        <p:spPr>
          <a:xfrm>
            <a:off x="8726090" y="2438400"/>
            <a:ext cx="0" cy="609600"/>
          </a:xfrm>
          <a:prstGeom prst="straightConnector1">
            <a:avLst/>
          </a:prstGeom>
          <a:ln w="20955">
            <a:solidFill>
              <a:srgbClr val="8D8271"/>
            </a:solidFill>
            <a:prstDash val="solid"/>
            <a:tailEnd type="triangle" w="sm" len="sm"/>
          </a:ln>
        </p:spPr>
      </p:cxnSp>
      <p:cxnSp>
        <p:nvCxnSpPr>
          <p:cNvPr id="133" name="Gerade Verbindung mit Pfeil 132">
            <a:extLst>
              <a:ext uri="{FF2B5EF4-FFF2-40B4-BE49-F238E27FC236}">
                <a16:creationId xmlns:a16="http://schemas.microsoft.com/office/drawing/2014/main" id="{2D067BCA-65FF-5D06-9747-239393946F3C}"/>
              </a:ext>
            </a:extLst>
          </p:cNvPr>
          <p:cNvCxnSpPr>
            <a:stCxn id="60" idx="1"/>
            <a:endCxn id="72" idx="3"/>
          </p:cNvCxnSpPr>
          <p:nvPr/>
        </p:nvCxnSpPr>
        <p:spPr>
          <a:xfrm flipH="1">
            <a:off x="6355555" y="3481388"/>
            <a:ext cx="1740695" cy="0"/>
          </a:xfrm>
          <a:prstGeom prst="straightConnector1">
            <a:avLst/>
          </a:prstGeom>
          <a:ln w="20955">
            <a:solidFill>
              <a:srgbClr val="8D8271"/>
            </a:solidFill>
            <a:prstDash val="solid"/>
            <a:tailEnd type="triangle" w="sm" len="sm"/>
          </a:ln>
        </p:spPr>
      </p:cxnSp>
      <p:cxnSp>
        <p:nvCxnSpPr>
          <p:cNvPr id="134" name="Gerade Verbindung mit Pfeil 133">
            <a:extLst>
              <a:ext uri="{FF2B5EF4-FFF2-40B4-BE49-F238E27FC236}">
                <a16:creationId xmlns:a16="http://schemas.microsoft.com/office/drawing/2014/main" id="{71E25062-8F3D-DDAB-DCED-4672C3BE29B3}"/>
              </a:ext>
            </a:extLst>
          </p:cNvPr>
          <p:cNvCxnSpPr>
            <a:stCxn id="72" idx="2"/>
            <a:endCxn id="81" idx="0"/>
          </p:cNvCxnSpPr>
          <p:nvPr/>
        </p:nvCxnSpPr>
        <p:spPr>
          <a:xfrm>
            <a:off x="5725715" y="3914775"/>
            <a:ext cx="0" cy="704850"/>
          </a:xfrm>
          <a:prstGeom prst="straightConnector1">
            <a:avLst/>
          </a:prstGeom>
          <a:ln w="20955">
            <a:solidFill>
              <a:srgbClr val="8D8271"/>
            </a:solidFill>
            <a:prstDash val="solid"/>
            <a:tailEnd type="triangle" w="sm" len="sm"/>
          </a:ln>
        </p:spPr>
      </p:cxnSp>
      <p:cxnSp>
        <p:nvCxnSpPr>
          <p:cNvPr id="135" name="Gerade Verbindung mit Pfeil 134">
            <a:extLst>
              <a:ext uri="{FF2B5EF4-FFF2-40B4-BE49-F238E27FC236}">
                <a16:creationId xmlns:a16="http://schemas.microsoft.com/office/drawing/2014/main" id="{C9AE14A9-3DBE-E4A2-3659-9E3080C717DF}"/>
              </a:ext>
            </a:extLst>
          </p:cNvPr>
          <p:cNvCxnSpPr>
            <a:stCxn id="81" idx="3"/>
            <a:endCxn id="102" idx="1"/>
          </p:cNvCxnSpPr>
          <p:nvPr/>
        </p:nvCxnSpPr>
        <p:spPr>
          <a:xfrm>
            <a:off x="6355555" y="5053013"/>
            <a:ext cx="1740695" cy="0"/>
          </a:xfrm>
          <a:prstGeom prst="straightConnector1">
            <a:avLst/>
          </a:prstGeom>
          <a:ln w="22860">
            <a:solidFill>
              <a:srgbClr val="CF062E"/>
            </a:solidFill>
            <a:prstDash val="solid"/>
            <a:tailEnd type="triangle" w="sm" len="sm"/>
          </a:ln>
        </p:spPr>
      </p:cxnSp>
      <p:cxnSp>
        <p:nvCxnSpPr>
          <p:cNvPr id="136" name="Gerade Verbindung mit Pfeil 135">
            <a:extLst>
              <a:ext uri="{FF2B5EF4-FFF2-40B4-BE49-F238E27FC236}">
                <a16:creationId xmlns:a16="http://schemas.microsoft.com/office/drawing/2014/main" id="{911C4D5D-F807-983E-E278-9B3558601794}"/>
              </a:ext>
            </a:extLst>
          </p:cNvPr>
          <p:cNvCxnSpPr>
            <a:stCxn id="102" idx="3"/>
            <a:endCxn id="24" idx="1"/>
          </p:cNvCxnSpPr>
          <p:nvPr/>
        </p:nvCxnSpPr>
        <p:spPr>
          <a:xfrm>
            <a:off x="9355930" y="5053013"/>
            <a:ext cx="931070" cy="0"/>
          </a:xfrm>
          <a:prstGeom prst="straightConnector1">
            <a:avLst/>
          </a:prstGeom>
          <a:ln w="22860">
            <a:solidFill>
              <a:srgbClr val="CF062E"/>
            </a:solidFill>
            <a:prstDash val="solid"/>
            <a:tailEnd type="triangle" w="sm" len="sm"/>
          </a:ln>
        </p:spPr>
      </p:cxnSp>
      <p:sp>
        <p:nvSpPr>
          <p:cNvPr id="137" name="Rechteck: abgerundete Ecken 136">
            <a:extLst>
              <a:ext uri="{FF2B5EF4-FFF2-40B4-BE49-F238E27FC236}">
                <a16:creationId xmlns:a16="http://schemas.microsoft.com/office/drawing/2014/main" id="{2F0E7FDF-A2C6-F785-F1E7-936F202EF2F8}"/>
              </a:ext>
            </a:extLst>
          </p:cNvPr>
          <p:cNvSpPr>
            <a:spLocks noGrp="1"/>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15321" y="1867303"/>
            <a:ext cx="584924" cy="593680"/>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noGrp="1"/>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noGrp="1"/>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42" name="Gerade Verbindung mit Pfeil 141">
            <a:extLst>
              <a:ext uri="{FF2B5EF4-FFF2-40B4-BE49-F238E27FC236}">
                <a16:creationId xmlns:a16="http://schemas.microsoft.com/office/drawing/2014/main" id="{250A82F1-6D5C-250C-1CB6-877ACFE32D37}"/>
              </a:ext>
            </a:extLst>
          </p:cNvPr>
          <p:cNvCxnSpPr>
            <a:cxnSpLocks/>
            <a:stCxn id="137" idx="3"/>
            <a:endCxn id="54" idx="1"/>
          </p:cNvCxnSpPr>
          <p:nvPr/>
        </p:nvCxnSpPr>
        <p:spPr>
          <a:xfrm>
            <a:off x="4133756" y="2005013"/>
            <a:ext cx="985744" cy="7284"/>
          </a:xfrm>
          <a:prstGeom prst="straightConnector1">
            <a:avLst/>
          </a:prstGeom>
          <a:ln w="20955">
            <a:solidFill>
              <a:srgbClr val="304554"/>
            </a:solidFill>
            <a:prstDash val="solid"/>
            <a:tailEnd type="triangle" w="sm" len="sm"/>
          </a:ln>
        </p:spPr>
      </p:cxnSp>
      <p:cxnSp>
        <p:nvCxnSpPr>
          <p:cNvPr id="143" name="Gerade Verbindung mit Pfeil 142">
            <a:extLst>
              <a:ext uri="{FF2B5EF4-FFF2-40B4-BE49-F238E27FC236}">
                <a16:creationId xmlns:a16="http://schemas.microsoft.com/office/drawing/2014/main" id="{3CECE63A-21C4-476A-975A-5AC5E3A1EB5E}"/>
              </a:ext>
            </a:extLst>
          </p:cNvPr>
          <p:cNvCxnSpPr>
            <a:cxnSpLocks/>
          </p:cNvCxnSpPr>
          <p:nvPr/>
        </p:nvCxnSpPr>
        <p:spPr>
          <a:xfrm>
            <a:off x="5749340" y="2448836"/>
            <a:ext cx="4805" cy="608699"/>
          </a:xfrm>
          <a:prstGeom prst="straightConnector1">
            <a:avLst/>
          </a:prstGeom>
          <a:ln w="20955">
            <a:solidFill>
              <a:srgbClr val="304554"/>
            </a:solidFill>
            <a:prstDash val="solid"/>
            <a:tailEnd type="triangle" w="sm" len="sm"/>
          </a:ln>
        </p:spPr>
      </p:cxnSp>
      <p:sp>
        <p:nvSpPr>
          <p:cNvPr id="145" name="Textfeld 144">
            <a:extLst>
              <a:ext uri="{FF2B5EF4-FFF2-40B4-BE49-F238E27FC236}">
                <a16:creationId xmlns:a16="http://schemas.microsoft.com/office/drawing/2014/main" id="{8C156430-C202-53BD-8023-A0D5C9A9CCB0}"/>
              </a:ext>
            </a:extLst>
          </p:cNvPr>
          <p:cNvSpPr txBox="1"/>
          <p:nvPr/>
        </p:nvSpPr>
        <p:spPr>
          <a:xfrm>
            <a:off x="6838721" y="4799945"/>
            <a:ext cx="922500" cy="276999"/>
          </a:xfrm>
          <a:prstGeom prst="rect">
            <a:avLst/>
          </a:prstGeom>
          <a:noFill/>
        </p:spPr>
        <p:txBody>
          <a:bodyPr wrap="square" rtlCol="0">
            <a:spAutoFit/>
          </a:bodyPr>
          <a:lstStyle/>
          <a:p>
            <a:r>
              <a:rPr lang="de-CH" sz="1200" dirty="0" err="1"/>
              <a:t>Context</a:t>
            </a:r>
            <a:endParaRPr lang="de-CH" sz="1200" dirty="0"/>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2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4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9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3"/>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84"/>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0"/>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02"/>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45"/>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4"/>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21" grpId="0" animBg="1"/>
      <p:bldP spid="123" grpId="0"/>
      <p:bldP spid="124" grpId="0" animBg="1"/>
      <p:bldP spid="137" grpId="0" animBg="1"/>
      <p:bldP spid="139" grpId="0"/>
      <p:bldP spid="140" grpId="0" animBg="1"/>
      <p:bldP spid="14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dirty="0" err="1">
                <a:solidFill>
                  <a:srgbClr val="2D3F4B"/>
                </a:solidFill>
                <a:latin typeface="Arial"/>
                <a:ea typeface="Arial"/>
                <a:cs typeface="Arial"/>
              </a:rPr>
              <a:t>Vom</a:t>
            </a:r>
            <a:r>
              <a:rPr sz="2850" dirty="0">
                <a:solidFill>
                  <a:srgbClr val="2D3F4B"/>
                </a:solidFill>
                <a:latin typeface="Arial"/>
                <a:ea typeface="Arial"/>
                <a:cs typeface="Arial"/>
              </a:rPr>
              <a:t> </a:t>
            </a:r>
            <a:r>
              <a:rPr sz="2850" dirty="0" err="1">
                <a:solidFill>
                  <a:srgbClr val="2D3F4B"/>
                </a:solidFill>
                <a:latin typeface="Arial"/>
                <a:ea typeface="Arial"/>
                <a:cs typeface="Arial"/>
              </a:rPr>
              <a:t>Modellaufruf</a:t>
            </a:r>
            <a:r>
              <a:rPr sz="2850" dirty="0">
                <a:solidFill>
                  <a:srgbClr val="2D3F4B"/>
                </a:solidFill>
                <a:latin typeface="Arial"/>
                <a:ea typeface="Arial"/>
                <a:cs typeface="Arial"/>
              </a:rPr>
              <a:t> </a:t>
            </a:r>
            <a:r>
              <a:rPr sz="2850" dirty="0" err="1">
                <a:solidFill>
                  <a:srgbClr val="2D3F4B"/>
                </a:solidFill>
                <a:latin typeface="Arial"/>
                <a:ea typeface="Arial"/>
                <a:cs typeface="Arial"/>
              </a:rPr>
              <a:t>zum</a:t>
            </a:r>
            <a:r>
              <a:rPr sz="2850" dirty="0">
                <a:solidFill>
                  <a:srgbClr val="2D3F4B"/>
                </a:solidFill>
                <a:latin typeface="Arial"/>
                <a:ea typeface="Arial"/>
                <a:cs typeface="Arial"/>
              </a:rPr>
              <a:t> </a:t>
            </a:r>
            <a:r>
              <a:rPr sz="2850" dirty="0" err="1">
                <a:solidFill>
                  <a:srgbClr val="2D3F4B"/>
                </a:solidFill>
                <a:latin typeface="Arial"/>
                <a:ea typeface="Arial"/>
                <a:cs typeface="Arial"/>
              </a:rPr>
              <a:t>messbaren</a:t>
            </a:r>
            <a:r>
              <a:rPr sz="2850" dirty="0">
                <a:solidFill>
                  <a:srgbClr val="2D3F4B"/>
                </a:solidFill>
                <a:latin typeface="Arial"/>
                <a:ea typeface="Arial"/>
                <a:cs typeface="Arial"/>
              </a:rPr>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06.08.2026</a:t>
            </a:fld>
            <a:endParaRPr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10</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12</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2850" dirty="0">
                <a:solidFill>
                  <a:srgbClr val="2D3F4B"/>
                </a:solidFill>
                <a:latin typeface="Arial"/>
                <a:ea typeface="Arial"/>
                <a:cs typeface="Arial"/>
              </a:rPr>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B2FBC28B-665B-4948-A297-C71BDA3ECCB7}"/>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540E8F70-9B23-436C-B2AB-251CB6C804B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Retrieval: Beide finden die Artikel – Graph nutzt weniger Kontext</a:t>
            </a:r>
          </a:p>
        </p:txBody>
      </p:sp>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Aktueller Lauf · 8 Fragen · gemeinsames Budget von 6 Chunks.</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100%</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defRPr sz="1125" b="1">
                <a:solidFill>
                  <a:srgbClr val="C60C30"/>
                </a:solidFill>
                <a:latin typeface="Arial"/>
                <a:ea typeface="Arial"/>
                <a:cs typeface="Arial"/>
              </a:defRPr>
            </a:pPr>
            <a:r>
              <a:rPr sz="1125" b="1">
                <a:solidFill>
                  <a:srgbClr val="C60C30"/>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defRPr sz="2550" b="1">
                <a:solidFill>
                  <a:srgbClr val="C60C30"/>
                </a:solidFill>
                <a:latin typeface="Arial"/>
                <a:ea typeface="Arial"/>
                <a:cs typeface="Arial"/>
              </a:defRPr>
            </a:pPr>
            <a:r>
              <a:rPr sz="2550" b="1">
                <a:solidFill>
                  <a:srgbClr val="C60C30"/>
                </a:solidFill>
                <a:latin typeface="Arial"/>
                <a:ea typeface="Arial"/>
                <a:cs typeface="Arial"/>
              </a:rPr>
              <a:t>100%</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lang="de-CH"/>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Alle erwarteten Artikel im Kontext</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0.83</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defRPr sz="2550" b="1">
                <a:solidFill>
                  <a:srgbClr val="43858A"/>
                </a:solidFill>
                <a:latin typeface="Arial"/>
                <a:ea typeface="Arial"/>
                <a:cs typeface="Arial"/>
              </a:defRPr>
            </a:pPr>
            <a:r>
              <a:rPr sz="2550" b="1">
                <a:solidFill>
                  <a:srgbClr val="43858A"/>
                </a:solidFill>
                <a:latin typeface="Arial"/>
                <a:ea typeface="Arial"/>
                <a:cs typeface="Arial"/>
              </a:rPr>
              <a:t>0.82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lang="de-CH"/>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Nahezu gleiche Rangqualität</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857</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defRPr sz="1125" b="1">
                <a:solidFill>
                  <a:srgbClr val="C9960F"/>
                </a:solidFill>
                <a:latin typeface="Arial"/>
                <a:ea typeface="Arial"/>
                <a:cs typeface="Arial"/>
              </a:defRPr>
            </a:pPr>
            <a:r>
              <a:rPr sz="1125" b="1">
                <a:solidFill>
                  <a:srgbClr val="C9960F"/>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defRPr sz="2550" b="1">
                <a:solidFill>
                  <a:srgbClr val="C9960F"/>
                </a:solidFill>
                <a:latin typeface="Arial"/>
                <a:ea typeface="Arial"/>
                <a:cs typeface="Arial"/>
              </a:defRPr>
            </a:pPr>
            <a:r>
              <a:rPr sz="2550" b="1">
                <a:solidFill>
                  <a:srgbClr val="C9960F"/>
                </a:solidFill>
                <a:latin typeface="Arial"/>
                <a:ea typeface="Arial"/>
                <a:cs typeface="Arial"/>
              </a:rPr>
              <a:t>746</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lang="de-CH"/>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Graph: 13 % weniger Kontext</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lang="de-CH"/>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100 % Recall bedeutet: im Kontext vorhanden – nicht automatisch korrekt beantwortet.</a:t>
            </a:r>
          </a:p>
        </p:txBody>
      </p:sp>
    </p:spTree>
    <p:extLst>
      <p:ext uri="{BB962C8B-B14F-4D97-AF65-F5344CB8AC3E}">
        <p14:creationId xmlns:p14="http://schemas.microsoft.com/office/powerpoint/2010/main" val="12996448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clean-canvas">
            <a:extLst>
              <a:ext uri="{FF2B5EF4-FFF2-40B4-BE49-F238E27FC236}">
                <a16:creationId xmlns:a16="http://schemas.microsoft.com/office/drawing/2014/main" id="{5E51C087-B602-40CA-9202-01BA72A8860A}"/>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Antwortqualität: Mehr Fakten sind nicht automatisch besser belegt</a:t>
            </a: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Der aktuelle Lauf zeigt einen echten Trade-off zwischen Abdeckung und Zitierqualität.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VECTOR</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GRAPH</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Fact coverage</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145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5050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93.8%</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precision</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384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54.2%</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2289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39.6%</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grounding</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7623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9528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79.2%</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completeness</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4862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6767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75.0%</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lang="de-CH"/>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Graph: +6.3 Punkte Faktenabdeckung · Vector: stärkere Zitationsmetriken</a:t>
            </a:r>
          </a:p>
        </p:txBody>
      </p:sp>
    </p:spTree>
    <p:extLst>
      <p:ext uri="{BB962C8B-B14F-4D97-AF65-F5344CB8AC3E}">
        <p14:creationId xmlns:p14="http://schemas.microsoft.com/office/powerpoint/2010/main" val="852951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06.08.2026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2096</Words>
  <Application>Microsoft Office PowerPoint</Application>
  <PresentationFormat>Breitbild</PresentationFormat>
  <Paragraphs>425</Paragraphs>
  <Slides>21</Slides>
  <Notes>12</Notes>
  <HiddenSlides>2</HiddenSlides>
  <MMClips>0</MMClips>
  <ScaleCrop>false</ScaleCrop>
  <HeadingPairs>
    <vt:vector size="8" baseType="variant">
      <vt:variant>
        <vt:lpstr>Verwendete Schriftarten</vt:lpstr>
      </vt:variant>
      <vt:variant>
        <vt:i4>1</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4" baseType="lpstr">
      <vt:lpstr>Arial</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Vier Bausteine formen den LLM-Kontext</vt:lpstr>
      <vt:lpstr>Aufbau eines Vector RAGs</vt:lpstr>
      <vt:lpstr>Aufbau eines Vector RAGs</vt:lpstr>
      <vt:lpstr>Vom Modellaufruf zum messbaren RAG</vt:lpstr>
      <vt:lpstr>Hands-on</vt:lpstr>
      <vt:lpstr>Advanced RAG</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19</cp:revision>
  <dcterms:created xsi:type="dcterms:W3CDTF">2026-08-04T12:09:36Z</dcterms:created>
  <dcterms:modified xsi:type="dcterms:W3CDTF">2026-08-06T10:37:31Z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