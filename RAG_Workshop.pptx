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9400"/>
    <a:srgbClr val="2D3F4B"/>
    <a:srgbClr val="81725E"/>
    <a:srgbClr val="C3BBB2"/>
    <a:srgbClr val="C60C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5" d="100"/>
          <a:sy n="105" d="100"/>
        </p:scale>
        <p:origin x="114" y="17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476615" y="5142674"/>
            <a:ext cx="1735200" cy="867600"/>
            <a:chOff x="476615" y="5142674"/>
            <a:chExt cx="17352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476615" y="5142674"/>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p:cNvSpPr>
            <p:nvPr/>
          </p:nvSpPr>
          <p:spPr>
            <a:xfrm>
              <a:off x="476615" y="5161353"/>
              <a:ext cx="173520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476615" y="5438352"/>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36680" y="5502557"/>
              <a:ext cx="415070" cy="480063"/>
            </a:xfrm>
            <a:prstGeom prst="rect">
              <a:avLst/>
            </a:prstGeom>
          </p:spPr>
        </p:pic>
      </p:grpSp>
      <p:grpSp>
        <p:nvGrpSpPr>
          <p:cNvPr id="147" name="Gruppe Query"/>
          <p:cNvGrpSpPr/>
          <p:nvPr/>
        </p:nvGrpSpPr>
        <p:grpSpPr>
          <a:xfrm>
            <a:off x="10049240" y="1570799"/>
            <a:ext cx="1735200" cy="867600"/>
            <a:chOff x="10049240" y="1570799"/>
            <a:chExt cx="17352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049240" y="1570799"/>
              <a:ext cx="1735200" cy="867600"/>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stretch>
              <a:fillRect/>
            </a:stretch>
          </p:blipFill>
          <p:spPr>
            <a:xfrm>
              <a:off x="10611908" y="1866477"/>
              <a:ext cx="609864"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p:cNvSpPr>
            <p:nvPr/>
          </p:nvSpPr>
          <p:spPr>
            <a:xfrm>
              <a:off x="10049240" y="1589478"/>
              <a:ext cx="1735200" cy="276999"/>
            </a:xfrm>
            <a:prstGeom prst="rect">
              <a:avLst/>
            </a:prstGeom>
            <a:noFill/>
          </p:spPr>
          <p:txBody>
            <a:bodyPr wrap="square">
              <a:spAutoFit/>
            </a:bodyPr>
            <a:lstStyle/>
            <a:p>
              <a:pPr algn="ctr">
                <a:buNone/>
              </a:pPr>
              <a:r>
                <a:rPr sz="1200">
                  <a:solidFill>
                    <a:schemeClr val="bg1"/>
                  </a:solidFill>
                </a:rPr>
                <a:t>Query</a:t>
              </a:r>
            </a:p>
          </p:txBody>
        </p:sp>
      </p:grpSp>
      <p:grpSp>
        <p:nvGrpSpPr>
          <p:cNvPr id="148" name="Gruppe Response"/>
          <p:cNvGrpSpPr/>
          <p:nvPr/>
        </p:nvGrpSpPr>
        <p:grpSpPr>
          <a:xfrm>
            <a:off x="10049240" y="5161353"/>
            <a:ext cx="1735200" cy="867600"/>
            <a:chOff x="10049240" y="5161353"/>
            <a:chExt cx="17352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049240" y="5161353"/>
              <a:ext cx="1735200" cy="867600"/>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5"/>
            <a:stretch>
              <a:fillRect/>
            </a:stretch>
          </p:blipFill>
          <p:spPr>
            <a:xfrm flipH="1">
              <a:off x="10609408" y="5445025"/>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p:cNvSpPr>
            <p:nvPr/>
          </p:nvSpPr>
          <p:spPr>
            <a:xfrm>
              <a:off x="10049240" y="5180032"/>
              <a:ext cx="1735200" cy="276999"/>
            </a:xfrm>
            <a:prstGeom prst="rect">
              <a:avLst/>
            </a:prstGeom>
            <a:noFill/>
          </p:spPr>
          <p:txBody>
            <a:bodyPr wrap="square">
              <a:spAutoFit/>
            </a:bodyPr>
            <a:lstStyle/>
            <a:p>
              <a:pPr algn="ctr">
                <a:buNone/>
              </a:pPr>
              <a:r>
                <a:rPr sz="1200">
                  <a:solidFill>
                    <a:schemeClr val="bg1"/>
                  </a:solidFill>
                </a:rPr>
                <a:t>Response</a:t>
              </a:r>
            </a:p>
          </p:txBody>
        </p:sp>
      </p:grpSp>
      <p:grpSp>
        <p:nvGrpSpPr>
          <p:cNvPr id="149" name="Gruppe Information Extraction"/>
          <p:cNvGrpSpPr/>
          <p:nvPr/>
        </p:nvGrpSpPr>
        <p:grpSpPr>
          <a:xfrm>
            <a:off x="475308" y="3952049"/>
            <a:ext cx="1735200" cy="867600"/>
            <a:chOff x="475308" y="3952049"/>
            <a:chExt cx="17352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475308" y="3952049"/>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6"/>
            <a:stretch>
              <a:fillRect/>
            </a:stretch>
          </p:blipFill>
          <p:spPr>
            <a:xfrm flipH="1">
              <a:off x="1109228" y="4247727"/>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p:cNvSpPr>
            <p:nvPr/>
          </p:nvSpPr>
          <p:spPr>
            <a:xfrm>
              <a:off x="475308" y="3970728"/>
              <a:ext cx="1735200"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475308" y="4247727"/>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0" name="Gruppe Chunking"/>
          <p:cNvGrpSpPr/>
          <p:nvPr/>
        </p:nvGrpSpPr>
        <p:grpSpPr>
          <a:xfrm>
            <a:off x="476615" y="2761424"/>
            <a:ext cx="1735200" cy="867600"/>
            <a:chOff x="476615" y="2761424"/>
            <a:chExt cx="17352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476615" y="2761424"/>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8" name="Textfeld 60">
              <a:extLst>
                <a:ext uri="{FF2B5EF4-FFF2-40B4-BE49-F238E27FC236}">
                  <a16:creationId xmlns:a16="http://schemas.microsoft.com/office/drawing/2014/main" id="{9300C327-65D2-42BB-19E9-6CBA235D48A3}"/>
                </a:ext>
              </a:extLst>
            </p:cNvPr>
            <p:cNvSpPr>
              <a:spLocks/>
            </p:cNvSpPr>
            <p:nvPr/>
          </p:nvSpPr>
          <p:spPr>
            <a:xfrm>
              <a:off x="476615" y="2780103"/>
              <a:ext cx="173520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476615" y="3054078"/>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7"/>
            <a:stretch>
              <a:fillRect/>
            </a:stretch>
          </p:blipFill>
          <p:spPr>
            <a:xfrm>
              <a:off x="1086582" y="3153285"/>
              <a:ext cx="515265" cy="403725"/>
            </a:xfrm>
            <a:prstGeom prst="rect">
              <a:avLst/>
            </a:prstGeom>
          </p:spPr>
        </p:pic>
      </p:grpSp>
      <p:grpSp>
        <p:nvGrpSpPr>
          <p:cNvPr id="151" name="Gruppe Embedding"/>
          <p:cNvGrpSpPr/>
          <p:nvPr/>
        </p:nvGrpSpPr>
        <p:grpSpPr>
          <a:xfrm>
            <a:off x="4861644" y="1578083"/>
            <a:ext cx="1735200" cy="867600"/>
            <a:chOff x="4861644" y="1578083"/>
            <a:chExt cx="17352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4861644" y="1578083"/>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8"/>
            <a:stretch>
              <a:fillRect/>
            </a:stretch>
          </p:blipFill>
          <p:spPr>
            <a:xfrm flipH="1">
              <a:off x="5487815" y="1916993"/>
              <a:ext cx="482858" cy="509226"/>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p:cNvSpPr>
            <p:nvPr/>
          </p:nvSpPr>
          <p:spPr>
            <a:xfrm>
              <a:off x="4861644" y="1596762"/>
              <a:ext cx="1735200" cy="276999"/>
            </a:xfrm>
            <a:prstGeom prst="rect">
              <a:avLst/>
            </a:prstGeom>
            <a:noFill/>
          </p:spPr>
          <p:txBody>
            <a:bodyPr wrap="square">
              <a:spAutoFit/>
            </a:bodyPr>
            <a:lstStyle/>
            <a:p>
              <a:pPr algn="ctr">
                <a:buNone/>
              </a:pPr>
              <a:r>
                <a:rPr sz="1200" dirty="0"/>
                <a:t>Embedding</a:t>
              </a:r>
            </a:p>
          </p:txBody>
        </p:sp>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4861644" y="1873761"/>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3" name="Gruppe Vector Database"/>
          <p:cNvGrpSpPr/>
          <p:nvPr/>
        </p:nvGrpSpPr>
        <p:grpSpPr>
          <a:xfrm>
            <a:off x="4858115" y="2776165"/>
            <a:ext cx="1735200" cy="867600"/>
            <a:chOff x="4858115" y="2776165"/>
            <a:chExt cx="17352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4858115" y="2776165"/>
              <a:ext cx="17352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stretch>
              <a:fillRect/>
            </a:stretch>
          </p:blipFill>
          <p:spPr>
            <a:xfrm flipH="1">
              <a:off x="5445714" y="3156961"/>
              <a:ext cx="560002" cy="485980"/>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p:cNvSpPr>
            <p:nvPr/>
          </p:nvSpPr>
          <p:spPr>
            <a:xfrm>
              <a:off x="4858115" y="2794844"/>
              <a:ext cx="1735200"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4858115" y="3080594"/>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4" name="Gruppe Relevant Data"/>
          <p:cNvGrpSpPr/>
          <p:nvPr/>
        </p:nvGrpSpPr>
        <p:grpSpPr>
          <a:xfrm>
            <a:off x="4858115" y="5161353"/>
            <a:ext cx="1735200" cy="885454"/>
            <a:chOff x="4858115" y="5161353"/>
            <a:chExt cx="1735200" cy="885454"/>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4858115" y="5161353"/>
              <a:ext cx="17352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0"/>
            <a:stretch>
              <a:fillRect/>
            </a:stretch>
          </p:blipFill>
          <p:spPr>
            <a:xfrm flipH="1">
              <a:off x="5378242" y="5428671"/>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p:cNvSpPr>
            <p:nvPr/>
          </p:nvSpPr>
          <p:spPr>
            <a:xfrm>
              <a:off x="4858115" y="5180032"/>
              <a:ext cx="173520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4858115" y="5457031"/>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5" name="Gruppe Embedding LLM"/>
          <p:cNvGrpSpPr/>
          <p:nvPr/>
        </p:nvGrpSpPr>
        <p:grpSpPr>
          <a:xfrm>
            <a:off x="7848442" y="1570799"/>
            <a:ext cx="1735200" cy="867600"/>
            <a:chOff x="7848442" y="1570799"/>
            <a:chExt cx="17352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848442" y="1570799"/>
              <a:ext cx="17352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1"/>
            <a:stretch>
              <a:fillRect/>
            </a:stretch>
          </p:blipFill>
          <p:spPr>
            <a:xfrm flipH="1">
              <a:off x="8449146" y="1892426"/>
              <a:ext cx="533792" cy="541782"/>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p:cNvSpPr>
            <p:nvPr/>
          </p:nvSpPr>
          <p:spPr>
            <a:xfrm>
              <a:off x="7848442" y="1570799"/>
              <a:ext cx="1735200"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848442" y="1854598"/>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7858490" y="5161353"/>
            <a:ext cx="1735200" cy="867600"/>
            <a:chOff x="7858490" y="5161353"/>
            <a:chExt cx="17352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7858490" y="5161353"/>
              <a:ext cx="17352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LLM</a:t>
              </a:r>
              <a:endParaRPr sz="12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1"/>
            <a:stretch>
              <a:fillRect/>
            </a:stretch>
          </p:blipFill>
          <p:spPr>
            <a:xfrm flipH="1">
              <a:off x="8498425" y="5496779"/>
              <a:ext cx="461098"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7858490" y="5449914"/>
              <a:ext cx="17352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350688"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342909" y="3629025"/>
            <a:ext cx="1306"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H="1" flipV="1">
            <a:off x="1337904" y="2438400"/>
            <a:ext cx="6311"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6114751" y="2012297"/>
            <a:ext cx="642461"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6593315" y="5595153"/>
            <a:ext cx="126517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cxnSpLocks/>
          </p:cNvCxnSpPr>
          <p:nvPr/>
        </p:nvCxnSpPr>
        <p:spPr>
          <a:xfrm flipV="1">
            <a:off x="7969527" y="5098014"/>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flipV="1">
            <a:off x="6593315" y="3209965"/>
            <a:ext cx="1265175" cy="1836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355058" y="2005013"/>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cxnSpLocks/>
            <a:stCxn id="18" idx="1"/>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2205504" y="2004599"/>
            <a:ext cx="430812"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636316" y="1570799"/>
            <a:ext cx="1735200" cy="867600"/>
            <a:chOff x="2636316" y="1570799"/>
            <a:chExt cx="17352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636316" y="1570799"/>
              <a:ext cx="17352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1"/>
            <a:stretch>
              <a:fillRect/>
            </a:stretch>
          </p:blipFill>
          <p:spPr>
            <a:xfrm flipH="1">
              <a:off x="3266354" y="1909499"/>
              <a:ext cx="475124" cy="482236"/>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p:cNvSpPr>
            <p:nvPr/>
          </p:nvSpPr>
          <p:spPr>
            <a:xfrm>
              <a:off x="2636316" y="1570799"/>
              <a:ext cx="1735200"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636316" y="1854598"/>
              <a:ext cx="17352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371516" y="2004599"/>
            <a:ext cx="490128"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593690" y="5595153"/>
            <a:ext cx="45555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342908" y="4808134"/>
            <a:ext cx="1307" cy="33536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583642" y="2004599"/>
            <a:ext cx="465598"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32" idx="0"/>
          </p:cNvCxnSpPr>
          <p:nvPr/>
        </p:nvCxnSpPr>
        <p:spPr>
          <a:xfrm>
            <a:off x="8716042" y="2434208"/>
            <a:ext cx="10048" cy="36032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endCxn id="72" idx="0"/>
          </p:cNvCxnSpPr>
          <p:nvPr/>
        </p:nvCxnSpPr>
        <p:spPr>
          <a:xfrm>
            <a:off x="5713094" y="2445683"/>
            <a:ext cx="12621" cy="33048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4" idx="2"/>
            <a:endCxn id="87" idx="0"/>
          </p:cNvCxnSpPr>
          <p:nvPr/>
        </p:nvCxnSpPr>
        <p:spPr>
          <a:xfrm>
            <a:off x="5725715" y="3642941"/>
            <a:ext cx="0" cy="153709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470304" y="1570799"/>
            <a:ext cx="1735200" cy="867600"/>
            <a:chOff x="470304" y="1570799"/>
            <a:chExt cx="17352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470304" y="1570799"/>
              <a:ext cx="17352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3" name="Textfeld 171">
              <a:extLst>
                <a:ext uri="{FF2B5EF4-FFF2-40B4-BE49-F238E27FC236}">
                  <a16:creationId xmlns:a16="http://schemas.microsoft.com/office/drawing/2014/main" id="{94B0B414-3457-95E7-777A-E27F72556F9D}"/>
                </a:ext>
              </a:extLst>
            </p:cNvPr>
            <p:cNvSpPr>
              <a:spLocks/>
            </p:cNvSpPr>
            <p:nvPr/>
          </p:nvSpPr>
          <p:spPr>
            <a:xfrm>
              <a:off x="470304" y="1589478"/>
              <a:ext cx="1735200" cy="276999"/>
            </a:xfrm>
            <a:prstGeom prst="rect">
              <a:avLst/>
            </a:prstGeom>
            <a:noFill/>
          </p:spPr>
          <p:txBody>
            <a:bodyPr wrap="square">
              <a:spAutoFit/>
            </a:bodyPr>
            <a:lstStyle/>
            <a:p>
              <a:pPr algn="ctr">
                <a:buNone/>
              </a:pPr>
              <a:r>
                <a:rPr sz="1200" dirty="0"/>
                <a:t>Chunks</a:t>
              </a: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stretch>
              <a:fillRect/>
            </a:stretch>
          </p:blipFill>
          <p:spPr>
            <a:xfrm flipH="1">
              <a:off x="1110373" y="1880907"/>
              <a:ext cx="455061" cy="530359"/>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470304" y="1863453"/>
              <a:ext cx="17352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29" name="Gruppieren 28">
            <a:extLst>
              <a:ext uri="{FF2B5EF4-FFF2-40B4-BE49-F238E27FC236}">
                <a16:creationId xmlns:a16="http://schemas.microsoft.com/office/drawing/2014/main" id="{7E49CBB9-D26E-EAFB-D6EA-C3D737912938}"/>
              </a:ext>
            </a:extLst>
          </p:cNvPr>
          <p:cNvGrpSpPr/>
          <p:nvPr/>
        </p:nvGrpSpPr>
        <p:grpSpPr>
          <a:xfrm>
            <a:off x="7858490" y="2794529"/>
            <a:ext cx="1735200" cy="867600"/>
            <a:chOff x="7858490" y="5161353"/>
            <a:chExt cx="17352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7858490" y="5161353"/>
              <a:ext cx="17352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a:lstStyle/>
            <a:p>
              <a:pPr algn="ctr">
                <a:buNone/>
              </a:pPr>
              <a:r>
                <a:rPr lang="de-CH" sz="1200" dirty="0">
                  <a:solidFill>
                    <a:schemeClr val="bg2">
                      <a:lumMod val="10000"/>
                    </a:schemeClr>
                  </a:solidFill>
                </a:rPr>
                <a:t>Embedding</a:t>
              </a:r>
              <a:endParaRPr sz="12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flipH="1">
              <a:off x="8507421" y="5496779"/>
              <a:ext cx="468000" cy="494293"/>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7858490" y="5449914"/>
              <a:ext cx="17352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2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23"/>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4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3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0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8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9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8"/>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6" grpId="0" animBg="1"/>
      <p:bldP spid="137" grpId="0" animBg="1"/>
      <p:bldP spid="139" grpId="0"/>
      <p:bldP spid="140" grpId="0" animBg="1"/>
      <p:bldP spid="121" grpId="0" animBg="1"/>
      <p:bldP spid="123" grpId="0"/>
      <p:bldP spid="124" grpId="0" animBg="1"/>
      <p:bldP spid="32" grpId="0" animBg="1"/>
      <p:bldP spid="3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3965</Words>
  <Application>Microsoft Office PowerPoint</Application>
  <PresentationFormat>Breitbild</PresentationFormat>
  <Paragraphs>562</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33</cp:revision>
  <dcterms:created xsi:type="dcterms:W3CDTF">2026-08-04T12:09:36Z</dcterms:created>
  <dcterms:modified xsi:type="dcterms:W3CDTF">2026-08-07T14:44:10Z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