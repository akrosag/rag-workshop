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29.svg" ContentType="image/svg+xml"/>
  <Override PartName="/ppt/media/image30.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6" autoAdjust="0"/>
    <p:restoredTop sz="86331" autoAdjust="0"/>
  </p:normalViewPr>
  <p:slideViewPr>
    <p:cSldViewPr snapToGrid="0">
      <p:cViewPr varScale="1">
        <p:scale>
          <a:sx n="111" d="100"/>
          <a:sy n="111" d="100"/>
        </p:scale>
        <p:origin x="513" y="51"/>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08.08.2026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08.08.2026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08.08.2026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08.08.2026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08.08.2026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08.08.2026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9" Type="http://schemas.openxmlformats.org/officeDocument/2006/relationships/image" Target="../media/image9.png"/><Relationship Id="rId16" Type="http://schemas.openxmlformats.org/officeDocument/2006/relationships/image" Target="../media/image26.pn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0.svg"/><Relationship Id="rId22" Type="http://schemas.openxmlformats.org/officeDocument/2006/relationships/image" Target="../media/image32.png"/><Relationship Id="rId23" Type="http://schemas.openxmlformats.org/officeDocument/2006/relationships/image" Target="../media/image31.svg"/><Relationship Id="rId24" Type="http://schemas.openxmlformats.org/officeDocument/2006/relationships/image" Target="../media/image34.png"/><Relationship Id="rId25" Type="http://schemas.openxmlformats.org/officeDocument/2006/relationships/image" Target="../media/image49.svg"/><Relationship Id="rId26" Type="http://schemas.openxmlformats.org/officeDocument/2006/relationships/image" Target="../media/image36.png"/><Relationship Id="rId27" Type="http://schemas.openxmlformats.org/officeDocument/2006/relationships/image" Target="../media/image33.svg"/><Relationship Id="rId28" Type="http://schemas.openxmlformats.org/officeDocument/2006/relationships/image" Target="../media/image35.svg"/><Relationship Id="rId29" Type="http://schemas.openxmlformats.org/officeDocument/2006/relationships/image" Target="../media/image37.svg"/><Relationship Id="rId30" Type="http://schemas.openxmlformats.org/officeDocument/2006/relationships/image" Target="../media/image40.png"/><Relationship Id="rId31" Type="http://schemas.openxmlformats.org/officeDocument/2006/relationships/image" Target="../media/image41.svg"/><Relationship Id="rId32" Type="http://schemas.openxmlformats.org/officeDocument/2006/relationships/image" Target="../media/image39.svg"/><Relationship Id="rId33" Type="http://schemas.openxmlformats.org/officeDocument/2006/relationships/image" Target="../media/image43.svg"/><Relationship Id="rId34" Type="http://schemas.openxmlformats.org/officeDocument/2006/relationships/image" Target="../media/image44.png"/><Relationship Id="rId35" Type="http://schemas.openxmlformats.org/officeDocument/2006/relationships/image" Target="../media/image45.svg"/><Relationship Id="rId36" Type="http://schemas.openxmlformats.org/officeDocument/2006/relationships/image" Target="../media/image46.png"/><Relationship Id="rId37" Type="http://schemas.openxmlformats.org/officeDocument/2006/relationships/image" Target="../media/image47.svg"/><Relationship Id="rId38" Type="http://schemas.openxmlformats.org/officeDocument/2006/relationships/image" Target="../media/image48.png"/><Relationship Id="rId39" Type="http://schemas.openxmlformats.org/officeDocument/2006/relationships/image" Target="../media/image11.png"/><Relationship Id="rId40" Type="http://schemas.openxmlformats.org/officeDocument/2006/relationships/image" Target="../media/image50.png"/><Relationship Id="rId41" Type="http://schemas.openxmlformats.org/officeDocument/2006/relationships/image" Target="../media/image51.svg"/><Relationship Id="rId42" Type="http://schemas.openxmlformats.org/officeDocument/2006/relationships/image" Target="../media/image52.png"/><Relationship Id="rId43" Type="http://schemas.openxmlformats.org/officeDocument/2006/relationships/image" Target="../media/image5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2.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4.jpg"/><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08.08.2026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540000" y="3600000"/>
            <a:ext cx="6120000" cy="900000"/>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08.08.2026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540000" y="3780000"/>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540000" y="2700000"/>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500000" y="2700000"/>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460000" y="2700000"/>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540000" y="2880000"/>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500000" y="2880000"/>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60000" y="2880000"/>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540000" y="4860000"/>
            <a:ext cx="10980000" cy="10800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720000" y="1620000"/>
            <a:ext cx="4500000" cy="2880000"/>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7020000" y="1620000"/>
            <a:ext cx="4500000" cy="2880000"/>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08.08.2026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720000" y="1620000"/>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7020000" y="1620000"/>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00000" y="2700000"/>
            <a:ext cx="1260000" cy="72000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720000" y="486000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00000" y="1980000"/>
            <a:ext cx="1080000" cy="10800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60000" y="216000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60000" y="19800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60000" y="23400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00000" y="3240000"/>
            <a:ext cx="3960000" cy="90000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1080000" y="1980000"/>
            <a:ext cx="1080000" cy="10800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60000" y="216000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160000" y="19800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160000" y="23400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1080000" y="3240000"/>
            <a:ext cx="3960000" cy="90000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00000" y="50400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0000" y="504000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0000" y="540000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6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0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720000" y="432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08.08.2026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720000" y="4860000"/>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720000" y="43200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72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00000" y="4320000"/>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0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0000" y="4680000"/>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0000" y="43200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60000" y="4860000"/>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60000" y="4320000"/>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60000" y="5040000"/>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320000" y="2520000"/>
            <a:ext cx="3600000" cy="90000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320000" y="2700000"/>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940771" y="2853888"/>
            <a:ext cx="2379228" cy="1286111"/>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39500" y="2853888"/>
            <a:ext cx="2641271" cy="1286111"/>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720000" y="4140000"/>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00000" y="4140000"/>
            <a:ext cx="2441543"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80000" y="4140000"/>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60000" y="4140000"/>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320000" y="198000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a:spLocks noGrp="1"/>
          </p:cNvSpPr>
          <p:nvPr/>
        </p:nvSpPr>
        <p:spPr>
          <a:xfrm>
            <a:off x="3600000" y="4860000"/>
            <a:ext cx="2441568"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6">
              <a:extLst>
                <a:ext uri="{96DAC541-7B7A-43D3-8B79-37D633B846F1}">
                  <ns0:svgBlip xmlns:ns0="http://schemas.microsoft.com/office/drawing/2016/SVG/main" r:embed="rId31"/>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32"/>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33"/>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2">
              <a:extLst>
                <a:ext uri="{96DAC541-7B7A-43D3-8B79-37D633B846F1}">
                  <ns3:svgBlip xmlns:ns3="http://schemas.microsoft.com/office/drawing/2016/SVG/main" r:embed="rId2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4">
              <a:extLst>
                <a:ext uri="{96DAC541-7B7A-43D3-8B79-37D633B846F1}">
                  <ns4:svgBlip xmlns:ns4="http://schemas.microsoft.com/office/drawing/2016/SVG/main" r:embed="rId35"/>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6">
              <a:extLst>
                <a:ext uri="{96DAC541-7B7A-43D3-8B79-37D633B846F1}">
                  <ns5:svgBlip xmlns:ns5="http://schemas.microsoft.com/office/drawing/2016/SVG/main" r:embed="rId2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extLst>
                <a:ext uri="{96DAC541-7B7A-43D3-8B79-37D633B846F1}">
                  <ns6:svgBlip xmlns:ns6="http://schemas.microsoft.com/office/drawing/2016/SVG/main" r:embed="rId37"/>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30">
              <a:extLst>
                <a:ext uri="{96DAC541-7B7A-43D3-8B79-37D633B846F1}">
                  <ns7:svgBlip xmlns:ns7="http://schemas.microsoft.com/office/drawing/2016/SVG/main" r:embed="rId2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39">
              <a:extLst>
                <a:ext uri="{96DAC541-7B7A-43D3-8B79-37D633B846F1}">
                  <ns8:svgBlip xmlns:ns8="http://schemas.microsoft.com/office/drawing/2016/SVG/main" r:embed="rId2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4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39">
              <a:extLst>
                <a:ext uri="{96DAC541-7B7A-43D3-8B79-37D633B846F1}">
                  <ns10:svgBlip xmlns:ns10="http://schemas.microsoft.com/office/drawing/2016/SVG/main" r:embed="rId2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36">
              <a:extLst>
                <a:ext uri="{96DAC541-7B7A-43D3-8B79-37D633B846F1}">
                  <ns11:svgBlip xmlns:ns11="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26">
              <a:extLst>
                <a:ext uri="{96DAC541-7B7A-43D3-8B79-37D633B846F1}">
                  <ns12:svgBlip xmlns:ns12="http://schemas.microsoft.com/office/drawing/2016/SVG/main" r:embed="rId2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38">
              <a:extLst>
                <a:ext uri="{96DAC541-7B7A-43D3-8B79-37D633B846F1}">
                  <ns13:svgBlip xmlns:ns13="http://schemas.microsoft.com/office/drawing/2016/SVG/main" r:embed="rId4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40">
              <a:extLst>
                <a:ext uri="{96DAC541-7B7A-43D3-8B79-37D633B846F1}">
                  <ns14:svgBlip xmlns:ns14="http://schemas.microsoft.com/office/drawing/2016/SVG/main" r:embed="rId2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42">
              <a:extLst>
                <a:ext uri="{96DAC541-7B7A-43D3-8B79-37D633B846F1}">
                  <ns15:svgBlip xmlns:ns15="http://schemas.microsoft.com/office/drawing/2016/SVG/main" r:embed="rId1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08.08.2026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60000" y="1980000"/>
            <a:ext cx="5580000" cy="1620000"/>
          </a:xfrm>
          <a:prstGeom prst="rect">
            <a:avLst/>
          </a:prstGeom>
        </p:spPr>
        <p:txBody>
          <a:bodyPr lIns="91440" tIns="45720" rIns="91440" bIns="45720"/>
          <a:lstStyle/>
          <a:p>
            <a:pPr algn="l">
              <a:buNone/>
              <a:defRPr sz="2400">
                <a:solidFill>
                  <a:srgbClr val="000000"/>
                </a:solidFill>
                <a:latin typeface="Arial"/>
                <a:ea typeface="Arial"/>
                <a:cs typeface="Arial"/>
              </a:defRPr>
            </a:pPr>
            <a:r>
              <a:t>1 · Chat</a:t>
            </a:r>
          </a:p>
          <a:p>
            <a:pPr algn="l">
              <a:buNone/>
              <a:defRPr sz="2400">
                <a:solidFill>
                  <a:srgbClr val="000000"/>
                </a:solidFill>
                <a:latin typeface="Arial"/>
                <a:ea typeface="Arial"/>
                <a:cs typeface="Arial"/>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300000" y="1980000"/>
            <a:ext cx="5580000" cy="1620000"/>
          </a:xfrm>
          <a:prstGeom prst="rect">
            <a:avLst/>
          </a:prstGeom>
        </p:spPr>
        <p:txBody>
          <a:bodyPr lIns="91440" tIns="45720" rIns="91440" bIns="45720"/>
          <a:lstStyle/>
          <a:p>
            <a:pPr algn="l">
              <a:buNone/>
              <a:defRPr sz="2400">
                <a:solidFill>
                  <a:srgbClr val="000000"/>
                </a:solidFill>
                <a:latin typeface="Arial"/>
                <a:ea typeface="Arial"/>
                <a:cs typeface="Arial"/>
              </a:defRPr>
            </a:pPr>
            <a:r>
              <a:t>2 · Vector RAG</a:t>
            </a:r>
          </a:p>
          <a:p>
            <a:pPr algn="l">
              <a:buNone/>
              <a:defRPr sz="2400">
                <a:solidFill>
                  <a:srgbClr val="000000"/>
                </a:solidFill>
                <a:latin typeface="Arial"/>
                <a:ea typeface="Arial"/>
                <a:cs typeface="Arial"/>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60000" y="3960000"/>
            <a:ext cx="5580000" cy="1620000"/>
          </a:xfrm>
          <a:prstGeom prst="rect">
            <a:avLst/>
          </a:prstGeom>
        </p:spPr>
        <p:txBody>
          <a:bodyPr lIns="0" tIns="0" rIns="0" bIns="0">
            <a:normAutofit/>
          </a:bodyPr>
          <a:lstStyle/>
          <a:p>
            <a:pPr algn="l">
              <a:buNone/>
              <a:defRPr sz="2400">
                <a:solidFill>
                  <a:srgbClr val="000000"/>
                </a:solidFill>
                <a:latin typeface="Arial"/>
                <a:ea typeface="Arial"/>
                <a:cs typeface="Arial"/>
              </a:defRPr>
            </a:pPr>
            <a:r>
              <a:t>3 · Qualität</a:t>
            </a:r>
          </a:p>
          <a:p>
            <a:pPr algn="l">
              <a:buNone/>
              <a:defRPr sz="2400">
                <a:solidFill>
                  <a:srgbClr val="000000"/>
                </a:solidFill>
                <a:latin typeface="Arial"/>
                <a:ea typeface="Arial"/>
                <a:cs typeface="Arial"/>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300000" y="3960000"/>
            <a:ext cx="5580000" cy="1620000"/>
          </a:xfrm>
          <a:prstGeom prst="rect">
            <a:avLst/>
          </a:prstGeom>
        </p:spPr>
        <p:txBody>
          <a:bodyPr lIns="0" tIns="0" rIns="0" bIns="0">
            <a:normAutofit/>
          </a:bodyPr>
          <a:lstStyle/>
          <a:p>
            <a:pPr algn="l">
              <a:buNone/>
              <a:defRPr sz="2400">
                <a:solidFill>
                  <a:srgbClr val="000000"/>
                </a:solidFill>
                <a:latin typeface="Arial"/>
                <a:ea typeface="Arial"/>
                <a:cs typeface="Arial"/>
              </a:defRPr>
            </a:pPr>
            <a:r>
              <a:t>4 · Graph + Eval</a:t>
            </a:r>
          </a:p>
          <a:p>
            <a:pPr algn="l">
              <a:buNone/>
              <a:defRPr sz="2400">
                <a:solidFill>
                  <a:srgbClr val="000000"/>
                </a:solidFill>
                <a:latin typeface="Arial"/>
                <a:ea typeface="Arial"/>
                <a:cs typeface="Arial"/>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60000" y="1260000"/>
            <a:ext cx="11520000" cy="46800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40000" y="14400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60000" y="25200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40000" y="2160000"/>
            <a:ext cx="720000" cy="7200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20000" y="3060000"/>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320000" y="2160000"/>
            <a:ext cx="720000" cy="7200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20000" y="3060000"/>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20000" y="2160000"/>
            <a:ext cx="720000" cy="7200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300000" y="3060000"/>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3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3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20000" y="2160000"/>
            <a:ext cx="720000" cy="7200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0000" y="3060000"/>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260000" y="5040000"/>
            <a:ext cx="9900000" cy="72000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08.08.2026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40000" y="12600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40000" y="1800000"/>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40000" y="19800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0000" y="1800000"/>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0000" y="19800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40000" y="2340000"/>
            <a:ext cx="5220000" cy="28800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0000" y="2340000"/>
            <a:ext cx="5400000" cy="28800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7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720000" y="2880000"/>
            <a:ext cx="2160000" cy="1440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4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420000" y="2880000"/>
            <a:ext cx="1980000" cy="1440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060000" y="252000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0000" y="432000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900000" y="4680000"/>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660000" y="2520000"/>
            <a:ext cx="4680000" cy="108000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40000" y="270000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40000" y="288000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9000000" y="3600000"/>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40000" y="3960000"/>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9000000" y="414000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80000" y="432000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60000" y="45000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160000" y="5400000"/>
            <a:ext cx="7920000" cy="7200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40000" y="55800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dirty="0" sz="3600"/>
              <a:t>Chunking entscheidet, was auffindbar bleibt</a:t>
            </a:r>
            <a:endParaRPr lang="de-CH" dirty="0" sz="3600"/>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900000" y="3960000"/>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20000" y="3060000"/>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220000" y="4320000"/>
            <a:ext cx="504056" cy="224739"/>
          </a:xfrm>
          <a:prstGeom prst="rect">
            <a:avLst/>
          </a:prstGeom>
        </p:spPr>
      </p:pic>
      <p:sp>
        <p:nvSpPr>
          <p:cNvPr id="68" name="Titel 1"/>
          <p:cNvSpPr>
            <a:spLocks noGrp="1"/>
          </p:cNvSpPr>
          <p:nvPr>
            <p:ph type="title"/>
          </p:nvPr>
        </p:nvSpPr>
        <p:spPr>
          <a:xfrm>
            <a:off x="482461" y="346633"/>
            <a:ext cx="11230114" cy="767605"/>
          </a:xfrm>
        </p:spPr>
        <p:txBody>
          <a:bodyPr/>
          <a:lstStyle/>
          <a:p>
            <a:r>
              <a:rPr lang="de-CH" dirty="0" sz="3600"/>
              <a:t>Reranking sortiert Kandidaten – es findet keine neuen</a:t>
            </a:r>
            <a:endParaRPr lang="de-CH" dirty="0" sz="3600"/>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540000" y="1080000"/>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20000" y="198000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720000" y="2340000"/>
            <a:ext cx="2160000" cy="72000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900000" y="25200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880000" y="2700000"/>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60000" y="198000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780000" y="23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60000" y="234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320000" y="234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60000" y="234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780000" y="2880000"/>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60000" y="288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320000" y="288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60000" y="288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780000" y="32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60000" y="342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320000" y="342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60000" y="342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780000" y="378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60000" y="396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320000" y="396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60000" y="3960000"/>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80000" y="30600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00000" y="2700000"/>
            <a:ext cx="720000" cy="72000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40000" y="360000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40000" y="378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100000" y="30600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20000" y="198000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820000" y="234000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20000" y="234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180000" y="234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800000" y="234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820000" y="28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20000" y="288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180000" y="288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800000" y="288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820000" y="324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20000" y="342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180000" y="342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800000" y="342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820000" y="37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20000" y="396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180000" y="396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800000" y="3960000"/>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60000" y="5040000"/>
            <a:ext cx="7740000" cy="720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520000" y="5040000"/>
            <a:ext cx="7200000" cy="54000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80000" y="2700000"/>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540000" y="1260000"/>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86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6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18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540000" y="198000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40000" y="2340000"/>
            <a:ext cx="1440000" cy="198000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80000" y="252000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0000" y="3240000"/>
            <a:ext cx="1260000" cy="7200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520000" y="198000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40000" y="2340000"/>
            <a:ext cx="2700000" cy="216000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520000" y="2520000"/>
            <a:ext cx="2160000" cy="720000"/>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00000" y="252000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00000" y="2880000"/>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520000" y="3420000"/>
            <a:ext cx="2160000" cy="720000"/>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00000" y="36000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00000" y="3780000"/>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20000" y="198000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220000" y="2700000"/>
            <a:ext cx="1260000" cy="126000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80000" y="3060000"/>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20000" y="3960000"/>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0000" y="198000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7020000" y="2340000"/>
            <a:ext cx="2340000" cy="216000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60000" y="306000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60000" y="306000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80000" y="27000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80000" y="2880000"/>
            <a:ext cx="540000" cy="54000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100000" y="2520000"/>
            <a:ext cx="540000" cy="54000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280000" y="3240000"/>
            <a:ext cx="540000" cy="54000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80000" y="306000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00000" y="27000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80000" y="34200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00000" y="3960000"/>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720000" y="198000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40000" y="2340000"/>
            <a:ext cx="2160000" cy="216000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900000" y="25200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900000" y="3060000"/>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900000" y="3240000"/>
            <a:ext cx="1620000" cy="9000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80000" y="5040000"/>
            <a:ext cx="8280000" cy="7200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160000" y="5040000"/>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160000" y="540000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dirty="0" sz="3600"/>
              <a:t>GraphRAG verbindet mehrere Suchsignale</a:t>
            </a:r>
            <a:endParaRPr lang="de-CH" dirty="0" sz="3600"/>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40000" y="126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40000" y="324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520000"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040000"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620000" y="28800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840000" y="28800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8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20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8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60000" y="4320000"/>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540000" y="1620000"/>
            <a:ext cx="1800000" cy="126000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20000" y="18000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260000" y="216000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20000" y="25200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80000" y="1620000"/>
            <a:ext cx="2160000" cy="126000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3060000" y="18000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60000" y="21600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00000" y="1440000"/>
            <a:ext cx="2700000" cy="1440000"/>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580000" y="1620000"/>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300000" y="2160000"/>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300000" y="2160000"/>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840000" y="1980000"/>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120000" y="1980000"/>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660000" y="1800000"/>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60000" y="2340000"/>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120000" y="2160000"/>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60000" y="1980000"/>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60000" y="2520000"/>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00000" y="2520000"/>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540000" y="3780000"/>
            <a:ext cx="1260000" cy="126000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0000" y="3960000"/>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00000" y="414000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0000" y="4680000"/>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340000" y="3600000"/>
            <a:ext cx="2880000" cy="162000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520000" y="378000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520000" y="4140000"/>
            <a:ext cx="1260000" cy="9000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20000" y="4140000"/>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20000" y="432000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80000" y="4140000"/>
            <a:ext cx="1260000" cy="9000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780000" y="4140000"/>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780000" y="432000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580000" y="3780000"/>
            <a:ext cx="1440000" cy="126000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0000" y="3960000"/>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0000" y="450000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560000" y="3780000"/>
            <a:ext cx="1080000" cy="126000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560000" y="3960000"/>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40000" y="4140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560000" y="4680000"/>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00000" y="3780000"/>
            <a:ext cx="1080000" cy="126000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180000" y="3960000"/>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180000" y="4320000"/>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180000" y="4680000"/>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620000" y="3780000"/>
            <a:ext cx="1080000" cy="126000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0000" y="3960000"/>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00000" y="4140000"/>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620000" y="4680000"/>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60000" y="5400000"/>
            <a:ext cx="7920000" cy="54000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40000" y="5580000"/>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3" name="Titel 1"/>
          <p:cNvSpPr>
            <a:spLocks noGrp="1"/>
          </p:cNvSpPr>
          <p:nvPr>
            <p:ph type="title"/>
          </p:nvPr>
        </p:nvSpPr>
        <p:spPr>
          <a:xfrm>
            <a:off x="482461" y="346633"/>
            <a:ext cx="11230114" cy="767605"/>
          </a:xfrm>
        </p:spPr>
        <p:txBody>
          <a:bodyPr/>
          <a:lstStyle/>
          <a:p>
            <a:r>
              <a:rPr lang="de-CH" dirty="0" sz="3600"/>
              <a:t>Hybrider GraphRAG verbindet mehrere Suchsignale</a:t>
            </a:r>
            <a:endParaRPr lang="de-CH" dirty="0" sz="3600"/>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540000" y="1080000"/>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540000" y="1980000"/>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54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90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900000" y="28800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4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40000" y="28800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60000" y="270000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140000" y="1980000"/>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14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2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20000" y="28800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76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760000" y="28800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580000" y="270000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2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60000" y="1980000"/>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6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74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740000" y="28800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36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360000" y="28800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80000" y="270000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92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160000" y="5040000"/>
            <a:ext cx="7920000" cy="72000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40000" y="52200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p:cNvSpPr>
            <a:spLocks noGrp="1"/>
          </p:cNvSpPr>
          <p:nvPr>
            <p:ph type="title"/>
          </p:nvPr>
        </p:nvSpPr>
        <p:spPr>
          <a:xfrm>
            <a:off x="482461" y="346633"/>
            <a:ext cx="11230114" cy="767605"/>
          </a:xfrm>
        </p:spPr>
        <p:txBody>
          <a:bodyPr/>
          <a:lstStyle/>
          <a:p>
            <a:r>
              <a:rPr lang="de-CH" dirty="0" sz="2800"/>
              <a:t>Besseres Retrieval verbessert Antworten – garantiert sie aber nicht</a:t>
            </a:r>
            <a:endParaRPr lang="de-CH" dirty="0" sz="2800"/>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540000" y="1080000"/>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40000" y="1980000"/>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60000" y="1980000"/>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720000" y="234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420000" y="234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420000" y="234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420000" y="2520000"/>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40000" y="234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60000" y="2340000"/>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720000" y="306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420000" y="306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420000" y="3060000"/>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420000" y="3240000"/>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40000" y="3060000"/>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60000" y="306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720000" y="378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420000" y="378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420000" y="378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420000" y="3960000"/>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40000" y="3780000"/>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60000" y="378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720000" y="450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420000" y="450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420000" y="450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420000" y="4680000"/>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40000" y="450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60000" y="4500000"/>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40000" y="540000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dirty="0" sz="3600"/>
              <a:t>Wahlmodul: Drei Gruppen, ein gemeinsamer Befund</a:t>
            </a:r>
            <a:endParaRPr lang="de-CH" dirty="0" sz="3600"/>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540000" y="1080000"/>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20000" y="2340000"/>
            <a:ext cx="540000" cy="54000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0000" y="23400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90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90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20000" y="2340000"/>
            <a:ext cx="540000" cy="54000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40000" y="23400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50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50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20000" y="2340000"/>
            <a:ext cx="540000" cy="54000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640000" y="23400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792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2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60000" y="5220000"/>
            <a:ext cx="7740000" cy="5400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340000" y="54000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dirty="0" sz="3600"/>
              <a:t>Frameworkwahl ist eine Betriebsentscheidung</a:t>
            </a:r>
            <a:endParaRPr lang="de-CH" dirty="0" sz="3600"/>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540000" y="1080000"/>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0000" y="4860000"/>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0000" y="1980000"/>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800000" y="5040000"/>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60000" y="504000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40000" y="1800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40000" y="486000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700000" y="2340000"/>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80000" y="1980000"/>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0000" y="288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220000" y="3240000"/>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500000" y="2880000"/>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20000" y="36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20000" y="2340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300000" y="198000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20000" y="27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640000" y="3780000"/>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920000" y="3420000"/>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40000" y="432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0000" y="5580000"/>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00000" y="558000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dirty="0" sz="3600"/>
              <a:t>Drei Leitlinien für gutes RAG</a:t>
            </a:r>
            <a:endParaRPr lang="de-CH" dirty="0" sz="3600"/>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540000" y="1080000"/>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540000" y="1440000"/>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900000" y="2160000"/>
            <a:ext cx="720000" cy="7200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00000" y="2160000"/>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400000" y="216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00000" y="2880000"/>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900000" y="3240000"/>
            <a:ext cx="720000" cy="7200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00000" y="3240000"/>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400000" y="324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00000" y="3960000"/>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900000" y="4320000"/>
            <a:ext cx="720000" cy="7200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00000" y="4500000"/>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400000" y="432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520000" y="5580000"/>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00000" y="558000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08.08.2026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540000" y="1440000"/>
            <a:ext cx="1980000" cy="1980000"/>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20000" y="1440000"/>
            <a:ext cx="1980000" cy="19800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20000" y="3600000"/>
            <a:ext cx="3420000" cy="1980000"/>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3970</Words>
  <Application>Microsoft Office PowerPoint</Application>
  <PresentationFormat>Breitbild</PresentationFormat>
  <Paragraphs>565</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43</cp:revision>
  <dcterms:created xsi:type="dcterms:W3CDTF">2026-08-04T12:09:36Z</dcterms:created>
  <dcterms:modified xsi:type="dcterms:W3CDTF">2026-08-08T14:32:16Z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