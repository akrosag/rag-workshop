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7" r:id="rId17"/>
    <p:sldId id="271" r:id="rId18"/>
    <p:sldId id="272" r:id="rId19"/>
    <p:sldId id="273" r:id="rId20"/>
    <p:sldId id="274" r:id="rId21"/>
    <p:sldId id="275" r:id="rId22"/>
    <p:sldId id="276" r:id="rId23"/>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73A0DAA-6AF3-43AB-8588-CEC1D06C72B9}">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01"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Kernbotschaft: Heute bauen wir nicht nur einen Chatbot, sondern verstehen die Mechanik eines belastbaren RAG-Systems.</a:t>
            </a:r>
          </a:p>
          <a:p>
            <a:endParaRPr/>
          </a:p>
          <a:p>
            <a:r>
              <a:t>Sprechtext: Willkommen zum RAG-Workshop. Als durchgängiges Beispiel verwenden wir Schweizer Gesetzestexte. Dadurch können wir sehr konkret prüfen, ob ein System den richtigen Erlass und den richtigen Artikel findet, ob es Quellen nennt und wie viel Kontext es dafür benötigt. Am Ende sollt ihr die wichtigsten Qualitätshebel – Chunking, Retrieval, Reranking und Evaluation – bewusst auswählen können.</a:t>
            </a:r>
          </a:p>
          <a:p>
            <a:endParaRPr/>
          </a:p>
          <a:p>
            <a:r>
              <a:t>Wichtig: Die Demo erklärt technische Konzepte und ist keine Rechtsberatung.</a:t>
            </a:r>
          </a:p>
          <a:p>
            <a:endParaRPr/>
          </a:p>
          <a:p>
            <a:r>
              <a:t>Übergang: Schauen wir zuerst auf den Ablauf und das Ziel der kommenden 90 Minuten.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Kernbotschaft: Wir entwickeln die Lösung schrittweise und messen nach jeder Verbesserung erneut.</a:t>
            </a:r>
          </a:p>
          <a:p>
            <a:endParaRPr/>
          </a:p>
          <a:p>
            <a:r>
              <a:t>Sprechtext: Zuerst klären wir, welches Problem RAG löst. Danach bauen wir eine einfache Pipeline, verbessern das Chunking, ergänzen Reranking und schließlich GraphRAG. Die Evaluation läuft nicht nur am Ende: Sie begleitet jede Stufe, damit wir sehen, welche Änderung tatsächlich einen messbaren Effekt hat.</a:t>
            </a:r>
          </a:p>
          <a:p>
            <a:endParaRPr/>
          </a:p>
          <a:p>
            <a:r>
              <a:t>Publikumsfrage: Wer hat bereits selbst ein RAG-System gebaut oder eine Vektordatenbank verwendet?</a:t>
            </a:r>
          </a:p>
          <a:p>
            <a:endParaRPr/>
          </a:p>
          <a:p>
            <a:r>
              <a:t>Übergang: Bevor wir RAG definieren, schauen wir auf die Grenzen eines reinen LLMs.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Kernbotschaft: RAG ist eine Methode, dem Modell zur Laufzeit gezielt externes Wissen bereitzustellen.</a:t>
            </a:r>
          </a:p>
          <a:p>
            <a:endParaRPr/>
          </a:p>
          <a:p>
            <a:r>
              <a:t>Sprechtext: In diesem Abschnitt geht es zunächst um das Warum. Wir trennen dabei zwei Dinge: Das Sprachmodell formuliert die Antwort; das Retrieval entscheidet, welche Informationen es dafür überhaupt sieht.</a:t>
            </a:r>
          </a:p>
          <a:p>
            <a:endParaRPr/>
          </a:p>
          <a:p>
            <a:r>
              <a:t>Publikumsfrage: Was fehlt einem reinen LLM, wenn wir eine aktuelle oder intern belegbare Antwort erwarten?</a:t>
            </a:r>
          </a:p>
          <a:p>
            <a:endParaRPr/>
          </a:p>
          <a:p>
            <a:r>
              <a:t>Übergang: Drei typische blinde Flecken machen dieses Problem sichtbar.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Kernbotschaft: Ein reines LLM kennt nicht automatisch unsere aktuellen Daten, liefert keine verlässlichen Belege und kann nicht beliebig viel Kontext effizient verarbeiten.</a:t>
            </a:r>
          </a:p>
          <a:p>
            <a:endParaRPr/>
          </a:p>
          <a:p>
            <a:r>
              <a:t>Sprechtext: Erstens endet das Wissen des Modells an seinen Trainingsdaten und umfasst keine vertraulichen Firmendokumente. Zweitens kann eine plausible Antwort sprachlich überzeugend, aber sachlich falsch oder nicht nachvollziehbar sein. Drittens ist „alles in den Prompt legen“ teuer und erzeugt Rauschen: Mehr Kontext ist nicht automatisch besserer Kontext.</a:t>
            </a:r>
          </a:p>
          <a:p>
            <a:endParaRPr/>
          </a:p>
          <a:p>
            <a:r>
              <a:t>RAG macht das Modell nicht intelligenter. RAG steuert, welche Evidenz das Modell für eine konkrete Frage erhält.</a:t>
            </a:r>
          </a:p>
          <a:p>
            <a:endParaRPr/>
          </a:p>
          <a:p>
            <a:r>
              <a:t>Übergang: Diese Steuerung kann man als drei grundlegende Kontextoperationen verstehen.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Kernbotschaft: LLM-Anwendungen erweitern, verdichten oder übersetzen Kontext – RAG ist besonders stark beim gezielten Verdichten.</a:t>
            </a:r>
          </a:p>
          <a:p>
            <a:endParaRPr/>
          </a:p>
          <a:p>
            <a:r>
              <a:t>Sprechtext: Expansion bedeutet, aus einer kurzen Eingabe umfangreichen Output zu erzeugen. Kompression bedeutet, aus vielen möglichen Informationen nur die relevanten Belege in den Prompt zu nehmen. Translation meint die Umwandlung zwischen Repräsentationen, etwa Text zu Embeddings oder Dokumente zu strukturierten Metadaten. Unsere RAG-Pipeline kombiniert alle drei, aber ihr eigentlicher Nutzen liegt in der kontrollierten Auswahl von Kontext.</a:t>
            </a:r>
          </a:p>
          <a:p>
            <a:endParaRPr/>
          </a:p>
          <a:p>
            <a:r>
              <a:t>Publikumsfrage: Welche dieser Operationen ist bei einer Frage wie „Was steht in Art. 1 OR?“ am wichtigsten?</a:t>
            </a:r>
          </a:p>
          <a:p>
            <a:endParaRPr/>
          </a:p>
          <a:p>
            <a:r>
              <a:t>Übergang: RAG ist damit ein Teilgebiet von Context Engineering – aber nicht die einzige Variante.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Kernbotschaft: RAG, MCP, Skills und große Kontextfenster lösen unterschiedliche Aufgaben im Context Engineering.</a:t>
            </a:r>
          </a:p>
          <a:p>
            <a:endParaRPr/>
          </a:p>
          <a:p>
            <a:r>
              <a:t>Sprechtext: RAG ruft relevante Dokument-Chunks bei Bedarf ab. MCP macht Datenquellen oder Aktionen über standardisierte Connectoren verfügbar. Skills bündeln spezialisierte Anweisungen und Arbeitsabläufe, die nur bei Bedarf geladen werden. Ein großes Kontextfenster kann viel Material direkt aufnehmen, ist aber häufig die teuerste und unpräziseste Brute-Force-Variante.</a:t>
            </a:r>
          </a:p>
          <a:p>
            <a:endParaRPr/>
          </a:p>
          <a:p>
            <a:r>
              <a:t>Wichtig: Ein Skill ist nicht einfach eine Wissensdatenbank. Er beschreibt vor allem, wie eine Aufgabe ausgeführt werden soll; RAG liefert dagegen die konkreten Dokumentinhalte.</a:t>
            </a:r>
          </a:p>
          <a:p>
            <a:endParaRPr/>
          </a:p>
          <a:p>
            <a:r>
              <a:t>Übergang: Auf der nächsten Folie trennen wir noch genauer zwischen Anweisung und bereitgestelltem Kontext.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Kernbotschaft: Der Systemprompt greift nicht selbst auf Dokumente zu – er legt Regeln fest, nach denen das Modell den bereitgestellten Kontext verwendet.</a:t>
            </a:r>
          </a:p>
          <a:p>
            <a:endParaRPr/>
          </a:p>
          <a:p>
            <a:r>
              <a:t>Sprechtext: Diese Folie eignet sich als Publikumsfrage: „Worauf greift der Systemprompt zu?“ Die präzise Antwort lautet: Er greift nicht aktiv zu. Der Systemprompt ist eine Anweisung, zum Beispiel „Antworte nur anhand des Kontexts und nenne Quellen“. Erst die Anwendung beziehungsweise das Retrieval lädt passende Gesetzes-Chunks und fügt sie als Kontext in den Modellaufruf ein.</a:t>
            </a:r>
          </a:p>
          <a:p>
            <a:endParaRPr/>
          </a:p>
          <a:p>
            <a:r>
              <a:t>Publikumsfrage: Was passiert, wenn der Systemprompt korrekt ist, aber Retrieval den falschen Artikel liefert?</a:t>
            </a:r>
          </a:p>
          <a:p>
            <a:endParaRPr/>
          </a:p>
          <a:p>
            <a:r>
              <a:t>Erwartete Antwort: Das Modell kann die korrekte Information nicht zuverlässig nutzen; Prompting ersetzt kein gutes Retrieval.</a:t>
            </a:r>
          </a:p>
          <a:p>
            <a:endParaRPr/>
          </a:p>
          <a:p>
            <a:r>
              <a:t>Übergang: Jetzt verfolgen wir den Datenfluss eines Vector RAGs von den Rohdaten bis zur Antwort.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Kernbotschaft: Ein Vector RAG besteht aus einer vorbereitenden Ingest-Pipeline und einer Laufzeit-Pipeline für Fragen.</a:t>
            </a:r>
          </a:p>
          <a:p>
            <a:endParaRPr/>
          </a:p>
          <a:p>
            <a:r>
              <a:t>Sprechtext: Links läuft der Ingest: Rohdateien werden extrahiert, bereinigt, in Chunks geteilt, in Embeddings übersetzt und in ChromaDB gespeichert. Rechts läuft die Anfrage: Auch die Frage wird mit demselben Embedding-Modell in einen Vektor übersetzt. Die Datenbank sucht ähnliche Chunks; diese werden als relevanter Kontext zusammen mit der Frage an das Chat-LLM gegeben.</a:t>
            </a:r>
          </a:p>
          <a:p>
            <a:endParaRPr/>
          </a:p>
          <a:p>
            <a:r>
              <a:t>Wichtig: Embedding-LLM und Chat-LLM haben unterschiedliche Aufgaben. Das Embedding-Modell erzeugt vergleichbare Vektoren; das Chat-Modell formuliert die Antwort.</a:t>
            </a:r>
          </a:p>
          <a:p>
            <a:endParaRPr/>
          </a:p>
          <a:p>
            <a:r>
              <a:t>Übergang: Auf der nächsten Folie lesen wir denselben Ablauf als klar getrennten Offline- und Online-Prozess.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Kernbotschaft: Die aufwendige Dokumentverarbeitung geschieht offline; bei jeder Frage werden nur Query-Embedding, Suche und Generierung ausgeführt.</a:t>
            </a:r>
          </a:p>
          <a:p>
            <a:endParaRPr/>
          </a:p>
          <a:p>
            <a:r>
              <a:t>Sprechtext: Der obere beziehungsweise linke Pfad wird beim Aufbau oder Aktualisieren des Index ausgeführt. Der Anfragepfad beginnt bei der Query, erzeugt ein Query-Embedding, sucht in der Vector Database und übergibt nur die ausgewählten Chunks an das LLM. Genau diese „Relevant Data“ sind der abgefragte Dokumentkontext, den wir später in der Evaluation vermessen.</a:t>
            </a:r>
          </a:p>
          <a:p>
            <a:endParaRPr/>
          </a:p>
          <a:p>
            <a:r>
              <a:t>Publikumsfrage: An welchen Stellen kann trotz dieser Pipeline noch ein Fehler entstehen?</a:t>
            </a:r>
          </a:p>
          <a:p>
            <a:endParaRPr/>
          </a:p>
          <a:p>
            <a:r>
              <a:t>Mögliche Antworten: schlechte PDF-Extraktion, ungünstige Chunk-Grenzen, unpassende Embeddings, falsche Rangfolge oder eine fehlerhafte Nutzung des richtigen Kontexts durch das Chat-LLM.</a:t>
            </a:r>
          </a:p>
          <a:p>
            <a:endParaRPr/>
          </a:p>
          <a:p>
            <a:r>
              <a:t>Übergang: Diese Fehlerquellen bearbeiten wir im Repository in aufeinander aufbauenden Stufen.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Kernbotschaft: Jede Projektstufe ergänzt genau einen neuen Qualitätshebel – und die Evaluation macht den Effekt sichtbar.</a:t>
            </a:r>
          </a:p>
          <a:p>
            <a:endParaRPr/>
          </a:p>
          <a:p>
            <a:r>
              <a:t>Sprechtext: Stage 1 zeigt den reinen Modellaufruf ohne Retrieval. Stage 2 ergänzt Fixed-Size-Chunking und Vector Search. Stage 3 führt strukturorientiertes Chunking und anschließend Reranking ein. Stage 4 kombiniert semantische und lexikalische Suche mit Artikelauflösung und Graph-Nachbarn. evaluate.py kann die Methoden kumulativ ausführen, sodass nach jeder Verbesserung die bisherigen Varianten als Vergleich erhalten bleiben.</a:t>
            </a:r>
          </a:p>
          <a:p>
            <a:endParaRPr/>
          </a:p>
          <a:p>
            <a:r>
              <a:t>Hinweis für die Demo: Die Collections und Embeddings müssen vor dem jeweiligen Chat- oder Evaluationslauf aufgebaut sein. VPN, API-Key und die konfigurierte .env sind erforderlich.</a:t>
            </a:r>
          </a:p>
          <a:p>
            <a:endParaRPr/>
          </a:p>
          <a:p>
            <a:r>
              <a:t>Übergang: Nun wechseln wir vom Konzept in den praktischen Teil.</a:t>
            </a:r>
          </a:p>
          <a:p>
            <a:endParaRPr/>
          </a:p>
          <a:p>
            <a:r>
              <a:t>[Sources]</a:t>
            </a:r>
          </a:p>
          <a:p>
            <a:r>
              <a:t>- C:/Users/mehlst/Documents/RAG-Workshop/README.md</a:t>
            </a:r>
          </a:p>
          <a:p>
            <a:r>
              <a:t>- C:/Users/mehlst/Documents/RAG-Workshop/evaluate.py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Kernbotschaft: Im Hands-on bauen und testen wir die Pipeline selbst.</a:t>
            </a:r>
          </a:p>
          <a:p>
            <a:endParaRPr/>
          </a:p>
          <a:p>
            <a:r>
              <a:t>Sprechtext: Bitte öffnet das Repository und prüft, ob die virtuelle Umgebung aktiv ist. VPN und API-Key müssen funktionieren; Zugangsdaten gehören ausschließlich in die lokale .env und nicht ins Git-Repository. Die Gesetzestexte und vorbereiteten Fragen bilden unseren gemeinsamen Testbestand.</a:t>
            </a:r>
          </a:p>
          <a:p>
            <a:endParaRPr/>
          </a:p>
          <a:p>
            <a:r>
              <a:t>Publikumsfrage: Gibt es noch technische Blocker, bevor wir starten?</a:t>
            </a:r>
          </a:p>
          <a:p>
            <a:endParaRPr/>
          </a:p>
          <a:p>
            <a:r>
              <a:t>Übergang: Wir beginnen mit der einfachsten lauffähigen Variante und erhöhen die Qualität schrittweise.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Kernbotschaft: Advanced RAG beginnt dort, wo wir Retrieval nicht mehr als einzelne Vektorsuche betrachten.</a:t>
            </a:r>
          </a:p>
          <a:p>
            <a:endParaRPr/>
          </a:p>
          <a:p>
            <a:r>
              <a:t>Sprechtext: Nach dem Baseline-RAG untersuchen wir drei Hebel: bessere Chunk-Grenzen, eine bessere Rangfolge vorhandener Kandidaten und zusätzliche lexikalische beziehungsweise graphbasierte Signale. Wichtig ist, jede zusätzliche Komplexität gegen dieselben Fragen und Metriken zu prüfen.</a:t>
            </a:r>
          </a:p>
          <a:p>
            <a:endParaRPr/>
          </a:p>
          <a:p>
            <a:r>
              <a:t>Übergang: Der erste und oft unterschätzte Hebel ist das Chunking.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t>Kernbotschaft: Chunking bestimmt, welche Bedeutungseinheiten später überhaupt als Treffer zurückkommen können.</a:t>
            </a:r>
          </a:p>
          <a:p>
            <a:endParaRPr/>
          </a:p>
          <a:p>
            <a:r>
              <a:t>Sprechtext: Links sehen wir Fixed-Size-Chunking mit einem starren Budget von 800 Zeichen. Die Grenze kann mitten in einem Satz oder direkt vor dem nächsten Artikel liegen. Dadurch verliert ein Treffer Kontext oder vermischt mehrere Artikel. Rechts orientiert sich unser verbessertes Verfahren primär an Markdown- und Artikelüberschriften. Übergroße Artikel werden zusätzlich an Satzgrenzen geteilt; kleine zusammengehörige Blöcke werden bis zum Budget verbunden.</a:t>
            </a:r>
          </a:p>
          <a:p>
            <a:endParaRPr/>
          </a:p>
          <a:p>
            <a:r>
              <a:t>Präzisierung: Unser Budget beträgt 800 Zeichen, nicht 800 Tokens. Das Verfahren ist deshalb besser als „strukturorientiertes Chunking“ beschrieben; es ist kein LLM-basiertes semantisches Chunking.</a:t>
            </a:r>
          </a:p>
          <a:p>
            <a:endParaRPr/>
          </a:p>
          <a:p>
            <a:r>
              <a:t>Zusätzlich entfernen wir typisches PDF-Rauschen wie Seitenmarker, Inhaltsverzeichnisse und isolierte Fundstellenblöcke. Quellen, die zum Gesetzesinhalt gehören, werden nicht pauschal gelöscht.</a:t>
            </a:r>
          </a:p>
          <a:p>
            <a:pPr lvl="1">
              <a:buNone/>
            </a:pPr>
            <a:endParaRPr/>
          </a:p>
          <a:p>
            <a:pPr lvl="1">
              <a:buNone/>
            </a:pPr>
            <a:r>
              <a:t>Publikumsfrage: Welche Seite würdet ihr für die Suche nach Art. 335b OR bevorzugen – und warum?</a:t>
            </a:r>
          </a:p>
          <a:p>
            <a:pPr lvl="1">
              <a:buNone/>
            </a:pPr>
            <a:endParaRPr/>
          </a:p>
          <a:p>
            <a:pPr lvl="1">
              <a:buNone/>
            </a:pPr>
            <a:r>
              <a:t>Übergang: Gute Chunks erzeugen bessere Kandidaten. Als Nächstes verbessern wir deren Reihenfolge.</a:t>
            </a:r>
          </a:p>
          <a:p>
            <a:endParaRPr/>
          </a:p>
          <a:p>
            <a:pPr>
              <a:buNone/>
            </a:pPr>
            <a:r>
              <a:rPr sz="1800">
                <a:solidFill>
                  <a:schemeClr val="tx1"/>
                </a:solidFill>
                <a:latin typeface="+mn-lt"/>
                <a:ea typeface="+mn-lt"/>
                <a:cs typeface="+mn-lt"/>
              </a:rPr>
              <a:t>[Sources]</a:t>
            </a:r>
          </a:p>
          <a:p>
            <a:r>
              <a:t>- C:/Users/mehlst/Documents/RAG-Workshop/rag-3a-ingest.py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a:lnSpc>
                <a:spcPct val="100000"/>
              </a:lnSpc>
              <a:spcBef>
                <a:spcPts val="0"/>
              </a:spcBef>
              <a:spcAft>
                <a:spcPts val="1000"/>
              </a:spcAft>
              <a:buClrTx/>
              <a:buSzTx/>
              <a:buFont typeface="Arial"/>
              <a:buNone/>
            </a:pPr>
            <a:r>
              <a:rPr sz="1800">
                <a:solidFill>
                  <a:schemeClr val="tx1"/>
                </a:solidFill>
                <a:latin typeface="+mn-lt"/>
                <a:ea typeface="+mn-lt"/>
                <a:cs typeface="+mn-lt"/>
              </a:rPr>
              <a:t>Kernbotschaft: Reranking sortiert gefundene Kandidaten neu; es kann keinen fehlenden Artikel herbeizaubern.</a:t>
            </a:r>
          </a:p>
          <a:p>
            <a:pPr marL="0" marR="0" lvl="0" indent="0" algn="l" defTabSz="914400">
              <a:lnSpc>
                <a:spcPct val="100000"/>
              </a:lnSpc>
              <a:spcBef>
                <a:spcPts val="0"/>
              </a:spcBef>
              <a:spcAft>
                <a:spcPts val="1000"/>
              </a:spcAft>
              <a:buClrTx/>
              <a:buSzTx/>
              <a:buFont typeface="Arial"/>
              <a:buNone/>
            </a:pPr>
            <a:endParaRPr/>
          </a:p>
          <a:p>
            <a:r>
              <a:t>Sprechtext: Die Vektorsuche holt zunächst eine größere Kandidatenmenge. Unser Cross-Encoder BAAI/bge-reranker-v2-m3 liest Frage und Chunk gemeinsam und bewertet ihre Relevanz genauer als der reine Vektorabstand. Für die Evaluation bleiben nach dem Reranking sechs Chunks im gemeinsamen Kontextbudget; der interaktive Chat verwendet standardmäßig vier.</a:t>
            </a:r>
          </a:p>
          <a:p>
            <a:endParaRPr/>
          </a:p>
          <a:p>
            <a:r>
              <a:t>Der wichtigste Unterschied: Ein Bi-Encoder berechnet Dokument- und Query-Vektoren getrennt und ist schnell. Ein Cross-Encoder betrachtet beide Texte gemeinsam und ist präziser, aber langsamer. Deshalb wird er erst auf einer kleinen Kandidatenliste eingesetzt.</a:t>
            </a:r>
          </a:p>
          <a:p>
            <a:endParaRPr/>
          </a:p>
          <a:p>
            <a:r>
              <a:t>Publikumsfrage: Was passiert, wenn Art. 1 OR in den ersten Kandidaten überhaupt nicht enthalten ist?</a:t>
            </a:r>
          </a:p>
          <a:p>
            <a:endParaRPr/>
          </a:p>
          <a:p>
            <a:r>
              <a:t>Erwartete Antwort: Der Reranker kann ihn nicht auswählen; dafür brauchen wir besseren Recall im vorgelagerten Retrieval.</a:t>
            </a:r>
          </a:p>
          <a:p>
            <a:endParaRPr/>
          </a:p>
          <a:p>
            <a:r>
              <a:t>Übergang: Genau dort setzt die hybride und graphbasierte Suche an.</a:t>
            </a:r>
          </a:p>
          <a:p>
            <a:endParaRPr/>
          </a:p>
          <a:p>
            <a:r>
              <a:t>[Sources]</a:t>
            </a:r>
          </a:p>
          <a:p>
            <a:r>
              <a:t>- C:/Users/mehlst/Documents/RAG-Workshop/rag-3c-chat-rerank.py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Kernbotschaft: GraphRAG kombiniert mehrere Suchsignale, damit explizite Artikelangaben und strukturelle Beziehungen nicht von semantischer Ähnlichkeit verdrängt werden.</a:t>
            </a:r>
          </a:p>
          <a:p>
            <a:endParaRPr/>
          </a:p>
          <a:p>
            <a:r>
              <a:t>Sprechtext: Zuerst holen wir semantische Vector-Treffer und lexikalische beziehungsweise BM25-Kandidaten. Reciprocal Rank Fusion führt beide Ranglisten robust zusammen, ohne die Rohscores direkt vergleichbar machen zu müssen. Explizite Referenzen wie „Art. 1 OR“ können zusätzlich auf eine konkrete Artikeldefinition aufgelöst werden. Danach ergänzen wir passende Graph-Nachbarn, etwa angrenzende Artikel oder erkannte Verweise.</a:t>
            </a:r>
          </a:p>
          <a:p>
            <a:endParaRPr/>
          </a:p>
          <a:p>
            <a:r>
              <a:t>Der Graph ersetzt die Suche nicht. Er erweitert gute Seed-Treffer um strukturell verwandten Kontext. Das hilft besonders bei Fragen, die mehrere Artikel oder Erlasse verbinden.</a:t>
            </a:r>
          </a:p>
          <a:p>
            <a:endParaRPr/>
          </a:p>
          <a:p>
            <a:r>
              <a:t>Publikumsfrage: Warum ist eine lexikalische Suche bei „Art. 1 OR“ oft zuverlässiger als reine semantische Ähnlichkeit?</a:t>
            </a:r>
          </a:p>
          <a:p>
            <a:endParaRPr/>
          </a:p>
          <a:p>
            <a:r>
              <a:t>Übergang: Jetzt prüfen wir, ob diese zusätzliche Logik tatsächlich Recall, Rangfolge und Kontextbedarf verbessert.</a:t>
            </a:r>
          </a:p>
          <a:p>
            <a:endParaRPr/>
          </a:p>
          <a:p>
            <a:r>
              <a:t>[Sources]</a:t>
            </a:r>
          </a:p>
          <a:p>
            <a:r>
              <a:t>- C:/Users/mehlst/Documents/RAG-Workshop/graph_retrieval.py</a:t>
            </a:r>
          </a:p>
          <a:p>
            <a:r>
              <a:t>- C:/Users/mehlst/Documents/RAG-Workshop/rag-4b-chat.py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Kernbotschaft: GraphRAG findet in diesem Workshop-Test die meisten erwarteten Artikel und benötigt gleichzeitig den kleinsten Prompt-Kontext; der Reranker liefert die beste frühe Rangposition.</a:t>
            </a:r>
          </a:p>
          <a:p>
            <a:endParaRPr/>
          </a:p>
          <a:p>
            <a:r>
              <a:t>Sprechtext: Alle vier Methoden beantworten dieselben sechs Fragen mit demselben Kontextbudget von sechs Chunks. Article Recall@K misst, welcher Anteil aller erwarteten Artikel unter den K Treffern vorkommt. MRR – Mean Reciprocal Rank – belohnt eine frühe Position des ersten relevanten Artikels. Prompt-Kontext-Tokens zählen den tatsächlich in den Modellprompt eingefügten Dokumentkontext einschließlich Formatierung.</a:t>
            </a:r>
          </a:p>
          <a:p>
            <a:endParaRPr/>
          </a:p>
          <a:p>
            <a:r>
              <a:t>Die Werte: Fixed erreicht 54 Prozent Recall, 0,43 MRR und 1.289 Tokens. Semantic erreicht 33 Prozent, 0,25 und 892 Tokens. Reranking erreicht 71 Prozent, 0,68 und 923 Tokens. GraphRAG erreicht 88 Prozent Recall, 0,52 MRR und 802 Tokens.</a:t>
            </a:r>
          </a:p>
          <a:p>
            <a:endParaRPr/>
          </a:p>
          <a:p>
            <a:r>
              <a:t>Lesart: GraphRAG maximiert hier die Vollständigkeit bei kleinem Kontext. Reranking positioniert den ersten relevanten Treffer am besten. Diese sechs Fragen sind eine Workshop-Messung, keine allgemeine Benchmark.</a:t>
            </a:r>
          </a:p>
          <a:p>
            <a:endParaRPr/>
          </a:p>
          <a:p>
            <a:r>
              <a:t>Übergang: Ein guter Retrieval-Treffer ist notwendig – aber beantwortet noch nicht, ob das LLM daraus eine vollständige und korrekt belegte Antwort erzeugt.</a:t>
            </a:r>
          </a:p>
          <a:p>
            <a:endParaRPr/>
          </a:p>
          <a:p>
            <a:r>
              <a:t>[Sources]</a:t>
            </a:r>
          </a:p>
          <a:p>
            <a:r>
              <a:t>- C:/Users/mehlst/Documents/RAG-Workshop/evaluation/report-graph.md</a:t>
            </a:r>
          </a:p>
          <a:p>
            <a:r>
              <a:t>- C:/Users/mehlst/Documents/RAG-Workshop/evaluate.py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Kernbotschaft: Retrieval-Qualität und Antwortqualität sind zwei getrennte Ebenen und müssen separat bewertet werden.</a:t>
            </a:r>
          </a:p>
          <a:p>
            <a:endParaRPr/>
          </a:p>
          <a:p>
            <a:r>
              <a:t>Sprechtext: Die dunkelblauen Balken zeigen die Faktenabdeckung – auf Englisch Fact Coverage. Sie misst, welcher Anteil der zuvor definierten erforderlichen Fakten in der generierten Antwort enthalten ist. Die hellblauen beziehungsweise türkisen Balken zeigen die Zitationsvollständigkeit – Citation Completeness. Sie misst, welcher Anteil der erwarteten Artikelbezeichnungen in der Antwort zitiert wird.</a:t>
            </a:r>
          </a:p>
          <a:p>
            <a:endParaRPr/>
          </a:p>
          <a:p>
            <a:r>
              <a:t>Im vollständigen Lauf erreicht GraphRAG 55,6 Prozent Faktenabdeckung und 66,7 Prozent Zitationsvollständigkeit. Fixed Vector erzielt trotz schwächerem Retrieval 61,1 Prozent Faktenabdeckung. Das ist kein Widerspruch: Das generierende LLM ist nicht vollständig deterministisch und kann vorhandenen Kontext unvollständig nutzen oder einen falschen Artikel nennen.</a:t>
            </a:r>
          </a:p>
          <a:p>
            <a:endParaRPr/>
          </a:p>
          <a:p>
            <a:r>
              <a:t>Wichtig: Faktenabdeckung bewertet das Vorhandensein erwarteter Inhalte, nicht automatisch juristische Korrektheit jeder Aussage. Zitationsvollständigkeit sagt, ob erwartete Quellen genannt wurden; sie sagt allein noch nicht, ob die jeweilige Quelle die Aussage tatsächlich belegt.</a:t>
            </a:r>
          </a:p>
          <a:p>
            <a:endParaRPr/>
          </a:p>
          <a:p>
            <a:r>
              <a:t>Übergang: Diese Ergebnisse bilden die Grundlage für die Gruppenarbeit: Wo würden wir als Nächstes investieren?</a:t>
            </a:r>
          </a:p>
          <a:p>
            <a:endParaRPr/>
          </a:p>
          <a:p>
            <a:r>
              <a:t>[Sources]</a:t>
            </a:r>
          </a:p>
          <a:p>
            <a:r>
              <a:t>- C:/Users/mehlst/Documents/RAG-Workshop/evaluation/report-graph.md</a:t>
            </a:r>
          </a:p>
          <a:p>
            <a:r>
              <a:t>- C:/Users/mehlst/Documents/RAG-Workshop/evaluate.py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Kernbotschaft: Die Gruppen betrachten dieselbe Pipeline aus drei Perspektiven und müssen eine begründete Priorität formulieren.</a:t>
            </a:r>
          </a:p>
          <a:p>
            <a:endParaRPr/>
          </a:p>
          <a:p>
            <a:r>
              <a:t>Sprechtext: Jede Gruppe bearbeitet ihr Wahlmodul anhand der bereitgestellten Fragen und Ergebnisse. Entscheidend ist nicht, möglichst viele Ideen zu sammeln, sondern eine konkrete Verbesserung mit erwarteter Wirkung, möglichem Nachteil und einer passenden Messgröße zu benennen.</a:t>
            </a:r>
          </a:p>
          <a:p>
            <a:endParaRPr/>
          </a:p>
          <a:p>
            <a:r>
              <a:t>Für die Kurzpräsentation helfen drei Fragen: Welches Problem lösen wir? Welche Änderung schlagen wir vor? Woran erkennen wir, dass sie besser ist? Die Ergebnisvorstellung dauert maximal zwei Minuten pro Gruppe; die Arbeitszeit kann je nach Workshop-Zeitplan angepasst werden.</a:t>
            </a:r>
          </a:p>
          <a:p>
            <a:endParaRPr/>
          </a:p>
          <a:p>
            <a:r>
              <a:t>Hinweis: Achtet darauf, Retrieval und Generierung nicht zu vermischen. Eine Maßnahme kann Recall verbessern, ohne die Antwortqualität automatisch im gleichen Maß zu erhöhen.</a:t>
            </a:r>
          </a:p>
          <a:p>
            <a:endParaRPr/>
          </a:p>
          <a:p>
            <a:r>
              <a:t>Übergang: Neben Algorithmen beeinflusst auch die Frameworkwahl, wie schnell und kontrolliert wir solche Änderungen umsetzen können.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Kernbotschaft: Die Frameworkwahl ist keine reine Featurefrage, sondern eine Entscheidung über Kontrolle, Transparenz und Betriebsaufwand.</a:t>
            </a:r>
          </a:p>
          <a:p>
            <a:endParaRPr/>
          </a:p>
          <a:p>
            <a:r>
              <a:t>Sprechtext: Unser Workshop-Code ist bewusst weitgehend framework-frei: OpenAI-kompatibler Client, ChromaDB und klar sichtbare Python-Funktionen. Das erhöht den Lernwert und macht jeden Verarbeitungsschritt nachvollziehbar. Frameworks wie LangChain oder LlamaIndex beschleunigen Standardintegrationen, bringen aber zusätzliche Abstraktionen und Versionsabhängigkeiten. Graph-orientierte Orchestrierung lohnt sich vor allem bei verzweigten, zustandsbehafteten Abläufen. Managed Services reduzieren Betriebsaufwand, erhöhen aber Kosten und Anbieterbindung.</a:t>
            </a:r>
          </a:p>
          <a:p>
            <a:endParaRPr/>
          </a:p>
          <a:p>
            <a:r>
              <a:t>Leitfrage: Welche Anforderungen dominieren im echten Projekt – schnelle Entwicklung, maximale Transparenz, komplexe Orchestrierung oder geringer Betrieb?</a:t>
            </a:r>
          </a:p>
          <a:p>
            <a:endParaRPr/>
          </a:p>
          <a:p>
            <a:r>
              <a:t>Übergang: Unabhängig vom Werkzeug bleiben drei Grundprinzipien bestehen.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Kernbotschaft: Gutes RAG entsteht durch gezielten Kontext, getrennte Evaluation und nur so viel Komplexität wie messbar nötig.</a:t>
            </a:r>
          </a:p>
          <a:p>
            <a:endParaRPr/>
          </a:p>
          <a:p>
            <a:r>
              <a:t>Sprechtext: Erstens: RAG ist Context Engineering. Entscheidend ist nicht die maximale Menge, sondern die Relevanz des Kontexts. Zweitens: Retrieval und Antwort müssen getrennt gemessen werden – sonst wissen wir nicht, ob ein Fehler in der Suche oder in der Generierung liegt. Drittens: Chunking, Reranking, hybride Suche und Graphen sind Werkzeuge, keine Selbstzwecke. Wir ergänzen sie nur, wenn die Evaluation einen konkreten Nutzen zeigt.</a:t>
            </a:r>
          </a:p>
          <a:p>
            <a:endParaRPr/>
          </a:p>
          <a:p>
            <a:r>
              <a:t>Abschlussfrage: Welchen dieser Hebel würdet ihr in eurem eigenen Projekt als Erstes messen?</a:t>
            </a:r>
          </a:p>
          <a:p>
            <a:endParaRPr/>
          </a:p>
          <a:p>
            <a:r>
              <a:t>Übergang: Damit sind wir am Ende des Workshops – Zeit für Fragen und den Transfer in eure Anwendungsfälle.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Kernbotschaft: Die Teilnehmenden sollen die Pipeline jetzt nicht nur ausführen, sondern ihre Qualitätsentscheidungen begründen können.</a:t>
            </a:r>
          </a:p>
          <a:p>
            <a:endParaRPr/>
          </a:p>
          <a:p>
            <a:r>
              <a:t>Sprechtext: Vielen Dank. Wir haben aus Schweizer Gesetzestexten eine nachvollziehbare RAG-Pipeline aufgebaut, mehrere Retrieval-Varianten verglichen und gesehen, warum gute Treffer noch keine perfekte Antwort garantieren. Die wichtigsten Artefakte sind der Code, die vorbereiteten Fragen und die Evaluationsberichte im Repository.</a:t>
            </a:r>
          </a:p>
          <a:p>
            <a:endParaRPr/>
          </a:p>
          <a:p>
            <a:r>
              <a:t>Mögliche Abschlussfragen an das Publikum: Wo würdet ihr RAG in eurem Umfeld einsetzen? Welche Daten- oder Compliance-Anforderungen wären dort kritisch? Welche Metrik fehlt euch für eine produktive Entscheidung?</a:t>
            </a:r>
          </a:p>
          <a:p>
            <a:endParaRPr/>
          </a:p>
          <a:p>
            <a:r>
              <a:t>Hinweis: Bei einer Live-Demo am Ende lieber eine bereits evaluierte Frage verwenden und gemeinsam Kontext, Quellen und Antwort vergleichen.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6CB78C75-CA31-41AE-AEDE-620AE0B6A6FC}"/>
              </a:ext>
            </a:extLst>
          </p:cNvPr>
          <p:cNvSpPr>
            <a:spLocks noGrp="1"/>
          </p:cNvSpPr>
          <p:nvPr>
            <p:ph type="dt" idx="10"/>
          </p:nvPr>
        </p:nvSpPr>
        <p:spPr>
          <a:xfrm>
            <a:off x="933451" y="6955077"/>
            <a:ext cx="616744" cy="15389"/>
          </a:xfrm>
        </p:spPr>
        <p:txBody>
          <a:bodyPr>
            <a:spAutoFit/>
          </a:bodyPr>
          <a:lstStyle>
            <a:lvl1pPr>
              <a:buNone/>
              <a:defRPr sz="100">
                <a:solidFill>
                  <a:schemeClr val="bg1">
                    <a:alpha val="0"/>
                  </a:schemeClr>
                </a:solidFill>
              </a:defRPr>
            </a:lvl1pPr>
          </a:lstStyle>
          <a:p>
            <a:fld id="{C0B5DAE3-E9C3-48BD-9F84-B39C87C1D4EA}" type="datetime1">
              <a:t>06.08.2026</a:t>
            </a:fld>
            <a:endParaRPr/>
          </a:p>
        </p:txBody>
      </p:sp>
      <p:sp>
        <p:nvSpPr>
          <p:cNvPr id="6" name="Foliennummernplatzhalter 5">
            <a:extLst>
              <a:ext uri="{FF2B5EF4-FFF2-40B4-BE49-F238E27FC236}">
                <a16:creationId xmlns:a16="http://schemas.microsoft.com/office/drawing/2014/main" id="{7B0A3F16-FDB8-4953-A58C-2B60646BEADF}"/>
              </a:ext>
            </a:extLst>
          </p:cNvPr>
          <p:cNvSpPr>
            <a:spLocks noGrp="1"/>
          </p:cNvSpPr>
          <p:nvPr>
            <p:ph type="sldNum" idx="12"/>
          </p:nvPr>
        </p:nvSpPr>
        <p:spPr>
          <a:xfrm>
            <a:off x="482461" y="6955077"/>
            <a:ext cx="415270" cy="15389"/>
          </a:xfrm>
        </p:spPr>
        <p:txBody>
          <a:bodyPr>
            <a:spAutoFit/>
          </a:bodyPr>
          <a:lstStyle>
            <a:lvl1pPr>
              <a:buNone/>
              <a:defRPr sz="100">
                <a:solidFill>
                  <a:schemeClr val="bg1">
                    <a:alpha val="0"/>
                  </a:schemeClr>
                </a:solidFill>
              </a:defRPr>
            </a:lvl1pPr>
          </a:lstStyle>
          <a:p>
            <a:fld id="{CE7E00E2-F08D-429A-AD9B-1ECBEC02F4DB}" type="slidenum">
              <a:t>‹Nr.›</a:t>
            </a:fld>
            <a:endParaRPr/>
          </a:p>
        </p:txBody>
      </p:sp>
      <p:sp>
        <p:nvSpPr>
          <p:cNvPr id="7" name="Titel 1">
            <a:extLst>
              <a:ext uri="{FF2B5EF4-FFF2-40B4-BE49-F238E27FC236}">
                <a16:creationId xmlns:a16="http://schemas.microsoft.com/office/drawing/2014/main" id="{EEF96BDF-1EFD-C687-37EA-26A9820E53A1}"/>
              </a:ext>
            </a:extLst>
          </p:cNvPr>
          <p:cNvSpPr>
            <a:spLocks noGrp="1"/>
          </p:cNvSpPr>
          <p:nvPr>
            <p:ph type="ctrTitle"/>
          </p:nvPr>
        </p:nvSpPr>
        <p:spPr>
          <a:xfrm>
            <a:off x="498765" y="681902"/>
            <a:ext cx="11213810" cy="2627953"/>
          </a:xfrm>
        </p:spPr>
        <p:txBody>
          <a:bodyPr anchor="b">
            <a:noAutofit/>
          </a:bodyPr>
          <a:lstStyle>
            <a:lvl1pPr algn="l">
              <a:buNone/>
              <a:defRPr sz="6400">
                <a:solidFill>
                  <a:srgbClr val="2D3F4B"/>
                </a:solidFill>
              </a:defRPr>
            </a:lvl1pPr>
          </a:lstStyle>
          <a:p>
            <a:r>
              <a:t>Mastertitelformat bearbeiten</a:t>
            </a:r>
          </a:p>
        </p:txBody>
      </p:sp>
      <p:sp>
        <p:nvSpPr>
          <p:cNvPr id="8" name="Untertitel 2">
            <a:extLst>
              <a:ext uri="{FF2B5EF4-FFF2-40B4-BE49-F238E27FC236}">
                <a16:creationId xmlns:a16="http://schemas.microsoft.com/office/drawing/2014/main" id="{B9821CB4-4105-593A-8910-0631B1C4BEEF}"/>
              </a:ext>
            </a:extLst>
          </p:cNvPr>
          <p:cNvSpPr>
            <a:spLocks noGrp="1"/>
          </p:cNvSpPr>
          <p:nvPr>
            <p:ph type="subTitle" idx="1"/>
          </p:nvPr>
        </p:nvSpPr>
        <p:spPr>
          <a:xfrm>
            <a:off x="498765" y="3759402"/>
            <a:ext cx="6148215" cy="514351"/>
          </a:xfrm>
          <a:prstGeom prst="rect">
            <a:avLst/>
          </a:prstGeom>
        </p:spPr>
        <p:txBody>
          <a:bodyPr>
            <a:noAutofit/>
          </a:bodyPr>
          <a:lstStyle>
            <a:lvl1pPr marL="0" indent="0" algn="l">
              <a:buNone/>
              <a:defRPr sz="2600" b="0">
                <a:solidFill>
                  <a:srgbClr val="2D3F4B"/>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Master-Untertitelformat bearbeiten</a:t>
            </a:r>
          </a:p>
        </p:txBody>
      </p:sp>
      <p:pic>
        <p:nvPicPr>
          <p:cNvPr id="16" name="Grafik 8"/>
          <p:cNvPicPr>
            <a:picLocks noChangeAspect="1"/>
          </p:cNvPicPr>
          <p:nvPr/>
        </p:nvPicPr>
        <p:blipFill>
          <a:blip r:embed="rId2"/>
          <a:stretch>
            <a:fillRect/>
          </a:stretch>
        </p:blipFill>
        <p:spPr>
          <a:xfrm>
            <a:off x="9321801" y="5807997"/>
            <a:ext cx="2390774" cy="796924"/>
          </a:xfrm>
          <a:prstGeom prst="rect">
            <a:avLst/>
          </a:prstGeom>
        </p:spPr>
      </p:pic>
      <p:sp>
        <p:nvSpPr>
          <p:cNvPr id="10" name="Gerade Verbindung 9">
            <a:extLst>
              <a:ext uri="{FF2B5EF4-FFF2-40B4-BE49-F238E27FC236}">
                <a16:creationId xmlns:a16="http://schemas.microsoft.com/office/drawing/2014/main" id="{80EA5E4F-B74D-4D80-9EA9-C59F1398DD5D}"/>
              </a:ext>
            </a:extLst>
          </p:cNvPr>
          <p:cNvSpPr>
            <a:spLocks noGrp="1"/>
          </p:cNvSpPr>
          <p:nvPr/>
        </p:nvSpPr>
        <p:spPr>
          <a:xfrm>
            <a:off x="482461" y="3476438"/>
            <a:ext cx="11709539"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mit Bild">
    <p:bg>
      <p:bgPr>
        <a:solidFill>
          <a:schemeClr val="bg1"/>
        </a:solidFill>
        <a:effectLst/>
      </p:bgPr>
    </p:bg>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C9CA178C-2C73-463F-9F14-7C3AB8FE20B8}"/>
              </a:ext>
            </a:extLst>
          </p:cNvPr>
          <p:cNvSpPr>
            <a:spLocks noGrp="1"/>
          </p:cNvSpPr>
          <p:nvPr>
            <p:ph type="dt" idx="10"/>
          </p:nvPr>
        </p:nvSpPr>
        <p:spPr>
          <a:xfrm>
            <a:off x="933451" y="7004480"/>
            <a:ext cx="616744" cy="15389"/>
          </a:xfrm>
        </p:spPr>
        <p:txBody>
          <a:bodyPr>
            <a:spAutoFit/>
          </a:bodyPr>
          <a:lstStyle>
            <a:lvl1pPr>
              <a:buNone/>
              <a:defRPr sz="100">
                <a:solidFill>
                  <a:schemeClr val="bg1">
                    <a:alpha val="0"/>
                  </a:schemeClr>
                </a:solidFill>
              </a:defRPr>
            </a:lvl1pPr>
          </a:lstStyle>
          <a:p>
            <a:fld id="{CB295712-26CE-4B63-A766-0110588AF456}" type="datetime1">
              <a:t>06.08.2026</a:t>
            </a:fld>
            <a:endParaRPr/>
          </a:p>
        </p:txBody>
      </p:sp>
      <p:sp>
        <p:nvSpPr>
          <p:cNvPr id="6" name="Foliennummernplatzhalter 5">
            <a:extLst>
              <a:ext uri="{FF2B5EF4-FFF2-40B4-BE49-F238E27FC236}">
                <a16:creationId xmlns:a16="http://schemas.microsoft.com/office/drawing/2014/main" id="{64B4CD4E-8DD8-480D-BACB-090CB38CCA5E}"/>
              </a:ext>
            </a:extLst>
          </p:cNvPr>
          <p:cNvSpPr>
            <a:spLocks noGrp="1"/>
          </p:cNvSpPr>
          <p:nvPr>
            <p:ph type="sldNum" idx="12"/>
          </p:nvPr>
        </p:nvSpPr>
        <p:spPr>
          <a:xfrm>
            <a:off x="482461" y="7004480"/>
            <a:ext cx="415270" cy="15389"/>
          </a:xfrm>
        </p:spPr>
        <p:txBody>
          <a:bodyPr>
            <a:spAutoFit/>
          </a:bodyPr>
          <a:lstStyle>
            <a:lvl1pPr>
              <a:buNone/>
              <a:defRPr sz="100">
                <a:solidFill>
                  <a:schemeClr val="bg1">
                    <a:alpha val="0"/>
                  </a:schemeClr>
                </a:solidFill>
              </a:defRPr>
            </a:lvl1pPr>
          </a:lstStyle>
          <a:p>
            <a:fld id="{CE7E00E2-F08D-429A-AD9B-1ECBEC02F4DB}" type="slidenum">
              <a:t>‹Nr.›</a:t>
            </a:fld>
            <a:endParaRPr/>
          </a:p>
        </p:txBody>
      </p:sp>
      <p:sp>
        <p:nvSpPr>
          <p:cNvPr id="10" name="Titel 1">
            <a:extLst>
              <a:ext uri="{FF2B5EF4-FFF2-40B4-BE49-F238E27FC236}">
                <a16:creationId xmlns:a16="http://schemas.microsoft.com/office/drawing/2014/main" id="{189A4928-6045-6BA7-0796-4C85DAD89B4A}"/>
              </a:ext>
            </a:extLst>
          </p:cNvPr>
          <p:cNvSpPr>
            <a:spLocks noGrp="1"/>
          </p:cNvSpPr>
          <p:nvPr>
            <p:ph type="ctrTitle"/>
          </p:nvPr>
        </p:nvSpPr>
        <p:spPr>
          <a:xfrm>
            <a:off x="498765" y="2503864"/>
            <a:ext cx="11213810" cy="2627953"/>
          </a:xfrm>
        </p:spPr>
        <p:txBody>
          <a:bodyPr anchor="b">
            <a:noAutofit/>
          </a:bodyPr>
          <a:lstStyle>
            <a:lvl1pPr algn="l">
              <a:buNone/>
              <a:defRPr sz="4800">
                <a:solidFill>
                  <a:srgbClr val="2D3F4B"/>
                </a:solidFill>
              </a:defRPr>
            </a:lvl1pPr>
          </a:lstStyle>
          <a:p>
            <a:r>
              <a:t>Mastertitelformat bearbeiten</a:t>
            </a:r>
          </a:p>
        </p:txBody>
      </p:sp>
      <p:sp>
        <p:nvSpPr>
          <p:cNvPr id="13" name="Untertitel 2">
            <a:extLst>
              <a:ext uri="{FF2B5EF4-FFF2-40B4-BE49-F238E27FC236}">
                <a16:creationId xmlns:a16="http://schemas.microsoft.com/office/drawing/2014/main" id="{78CB770C-79C3-DDA1-7310-08E1E6209D43}"/>
              </a:ext>
            </a:extLst>
          </p:cNvPr>
          <p:cNvSpPr>
            <a:spLocks noGrp="1"/>
          </p:cNvSpPr>
          <p:nvPr>
            <p:ph type="subTitle" idx="1"/>
          </p:nvPr>
        </p:nvSpPr>
        <p:spPr>
          <a:xfrm>
            <a:off x="498765" y="5651499"/>
            <a:ext cx="6148215" cy="514351"/>
          </a:xfrm>
          <a:prstGeom prst="rect">
            <a:avLst/>
          </a:prstGeom>
        </p:spPr>
        <p:txBody>
          <a:bodyPr>
            <a:noAutofit/>
          </a:bodyPr>
          <a:lstStyle>
            <a:lvl1pPr marL="0" indent="0" algn="l">
              <a:buNone/>
              <a:defRPr sz="2000" b="0">
                <a:solidFill>
                  <a:srgbClr val="2D3F4B"/>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Master-Untertitelformat bearbeiten</a:t>
            </a:r>
          </a:p>
        </p:txBody>
      </p:sp>
      <p:sp>
        <p:nvSpPr>
          <p:cNvPr id="15" name="Gerade Verbindung 14">
            <a:extLst>
              <a:ext uri="{FF2B5EF4-FFF2-40B4-BE49-F238E27FC236}">
                <a16:creationId xmlns:a16="http://schemas.microsoft.com/office/drawing/2014/main" id="{2800A9F1-4BB3-4F69-92F0-617F45C476B8}"/>
              </a:ext>
            </a:extLst>
          </p:cNvPr>
          <p:cNvSpPr>
            <a:spLocks noGrp="1"/>
          </p:cNvSpPr>
          <p:nvPr/>
        </p:nvSpPr>
        <p:spPr>
          <a:xfrm>
            <a:off x="482461" y="5365704"/>
            <a:ext cx="11709539"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sp>
      <p:pic>
        <p:nvPicPr>
          <p:cNvPr id="23" name="Grafik 16"/>
          <p:cNvPicPr>
            <a:picLocks noChangeAspect="1"/>
          </p:cNvPicPr>
          <p:nvPr/>
        </p:nvPicPr>
        <p:blipFill>
          <a:blip r:embed="rId2"/>
          <a:stretch>
            <a:fillRect/>
          </a:stretch>
        </p:blipFill>
        <p:spPr>
          <a:xfrm>
            <a:off x="-1" y="-1323"/>
            <a:ext cx="12218321" cy="3430323"/>
          </a:xfrm>
          <a:prstGeom prst="rect">
            <a:avLst/>
          </a:prstGeom>
        </p:spPr>
      </p:pic>
      <p:pic>
        <p:nvPicPr>
          <p:cNvPr id="24" name="Grafik 17"/>
          <p:cNvPicPr>
            <a:picLocks noChangeAspect="1"/>
          </p:cNvPicPr>
          <p:nvPr/>
        </p:nvPicPr>
        <p:blipFill>
          <a:blip r:embed="rId3"/>
          <a:stretch>
            <a:fillRect/>
          </a:stretch>
        </p:blipFill>
        <p:spPr>
          <a:xfrm>
            <a:off x="9677413" y="5870578"/>
            <a:ext cx="2035162" cy="678387"/>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halt einspalti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8BCFD17-B4B7-4718-A0B2-C6A29F34A1B6}"/>
              </a:ext>
            </a:extLst>
          </p:cNvPr>
          <p:cNvSpPr>
            <a:spLocks noGrp="1"/>
          </p:cNvSpPr>
          <p:nvPr>
            <p:ph type="title"/>
          </p:nvPr>
        </p:nvSpPr>
        <p:spPr/>
        <p:txBody>
          <a:bodyPr/>
          <a:lstStyle/>
          <a:p>
            <a:r>
              <a:t>Mastertitelformat bearbeiten</a:t>
            </a:r>
          </a:p>
        </p:txBody>
      </p:sp>
      <p:sp>
        <p:nvSpPr>
          <p:cNvPr id="4" name="Datumsplatzhalter 3">
            <a:extLst>
              <a:ext uri="{FF2B5EF4-FFF2-40B4-BE49-F238E27FC236}">
                <a16:creationId xmlns:a16="http://schemas.microsoft.com/office/drawing/2014/main" id="{A6306F30-4A06-4848-889C-2B49A0310D61}"/>
              </a:ext>
            </a:extLst>
          </p:cNvPr>
          <p:cNvSpPr>
            <a:spLocks noGrp="1"/>
          </p:cNvSpPr>
          <p:nvPr>
            <p:ph type="dt" idx="10"/>
          </p:nvPr>
        </p:nvSpPr>
        <p:spPr/>
        <p:txBody>
          <a:bodyPr/>
          <a:lstStyle/>
          <a:p>
            <a:fld id="{3B96E7C6-F2CE-4756-8C9C-414CDB636DDE}" type="datetime1">
              <a:t>06.08.2026</a:t>
            </a:fld>
            <a:endParaRPr/>
          </a:p>
        </p:txBody>
      </p:sp>
      <p:sp>
        <p:nvSpPr>
          <p:cNvPr id="6" name="Foliennummernplatzhalter 5">
            <a:extLst>
              <a:ext uri="{FF2B5EF4-FFF2-40B4-BE49-F238E27FC236}">
                <a16:creationId xmlns:a16="http://schemas.microsoft.com/office/drawing/2014/main" id="{649D22D5-1327-4CC6-BC04-BBBA842D5ECF}"/>
              </a:ext>
            </a:extLst>
          </p:cNvPr>
          <p:cNvSpPr>
            <a:spLocks noGrp="1"/>
          </p:cNvSpPr>
          <p:nvPr>
            <p:ph type="sldNum" idx="12"/>
          </p:nvPr>
        </p:nvSpPr>
        <p:spPr/>
        <p:txBody>
          <a:bodyPr/>
          <a:lstStyle/>
          <a:p>
            <a:fld id="{CE7E00E2-F08D-429A-AD9B-1ECBEC02F4DB}" type="slidenum">
              <a:t>‹Nr.›</a:t>
            </a:fld>
            <a:endParaRPr/>
          </a:p>
        </p:txBody>
      </p:sp>
      <p:sp>
        <p:nvSpPr>
          <p:cNvPr id="10" name="Inhaltsplatzhalter 9">
            <a:extLst>
              <a:ext uri="{FF2B5EF4-FFF2-40B4-BE49-F238E27FC236}">
                <a16:creationId xmlns:a16="http://schemas.microsoft.com/office/drawing/2014/main" id="{9064667C-5F85-4F72-9F6B-BFF00F7DBD82}"/>
              </a:ext>
            </a:extLst>
          </p:cNvPr>
          <p:cNvSpPr>
            <a:spLocks noGrp="1"/>
          </p:cNvSpPr>
          <p:nvPr>
            <p:ph idx="13"/>
          </p:nvPr>
        </p:nvSpPr>
        <p:spPr>
          <a:xfrm>
            <a:off x="482461" y="1412875"/>
            <a:ext cx="11230114" cy="4752975"/>
          </a:xfrm>
        </p:spPr>
        <p:txBody>
          <a:bodyPr/>
          <a:lstStyle>
            <a:lvl5pPr>
              <a:buNone/>
              <a:defRPr/>
            </a:lvl5pPr>
            <a:lvl6pPr>
              <a:buNone/>
              <a:defRPr/>
            </a:lvl6pPr>
          </a:lstStyle>
          <a:p>
            <a:pPr lvl="0">
              <a:buNone/>
            </a:pPr>
            <a:r>
              <a:t>Mastertextformat bearbeiten</a:t>
            </a:r>
          </a:p>
          <a:p>
            <a:pPr lvl="1">
              <a:buNone/>
            </a:pPr>
            <a:r>
              <a:t>Zweite Ebene</a:t>
            </a:r>
          </a:p>
          <a:p>
            <a:pPr lvl="2">
              <a:buNone/>
            </a:pPr>
            <a:r>
              <a:t>Dritte Ebene</a:t>
            </a:r>
          </a:p>
          <a:p>
            <a:pPr lvl="3">
              <a:buNone/>
            </a:pPr>
            <a:r>
              <a:t>Vierte Ebene</a:t>
            </a:r>
          </a:p>
          <a:p>
            <a:pPr lvl="4">
              <a:buNone/>
            </a:pPr>
            <a:r>
              <a:t>Fünfte Ebene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nhalt zweispalti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FA376F-3B67-4495-9024-BFB364999B80}"/>
              </a:ext>
            </a:extLst>
          </p:cNvPr>
          <p:cNvSpPr>
            <a:spLocks noGrp="1"/>
          </p:cNvSpPr>
          <p:nvPr>
            <p:ph type="title"/>
          </p:nvPr>
        </p:nvSpPr>
        <p:spPr/>
        <p:txBody>
          <a:bodyPr/>
          <a:lstStyle/>
          <a:p>
            <a:r>
              <a:t>Mastertitelformat bearbeiten</a:t>
            </a:r>
          </a:p>
        </p:txBody>
      </p:sp>
      <p:sp>
        <p:nvSpPr>
          <p:cNvPr id="5" name="Datumsplatzhalter 4">
            <a:extLst>
              <a:ext uri="{FF2B5EF4-FFF2-40B4-BE49-F238E27FC236}">
                <a16:creationId xmlns:a16="http://schemas.microsoft.com/office/drawing/2014/main" id="{6CA6E583-214B-4790-B49E-75E172B91650}"/>
              </a:ext>
            </a:extLst>
          </p:cNvPr>
          <p:cNvSpPr>
            <a:spLocks noGrp="1"/>
          </p:cNvSpPr>
          <p:nvPr>
            <p:ph type="dt" idx="10"/>
          </p:nvPr>
        </p:nvSpPr>
        <p:spPr/>
        <p:txBody>
          <a:bodyPr/>
          <a:lstStyle/>
          <a:p>
            <a:fld id="{E2111384-F462-4D90-9803-E7B6DB23FD1B}" type="datetime1">
              <a:t>06.08.2026</a:t>
            </a:fld>
            <a:endParaRPr/>
          </a:p>
        </p:txBody>
      </p:sp>
      <p:sp>
        <p:nvSpPr>
          <p:cNvPr id="7" name="Foliennummernplatzhalter 6">
            <a:extLst>
              <a:ext uri="{FF2B5EF4-FFF2-40B4-BE49-F238E27FC236}">
                <a16:creationId xmlns:a16="http://schemas.microsoft.com/office/drawing/2014/main" id="{8F71F9D4-799C-4023-A650-6ADDB366AA4C}"/>
              </a:ext>
            </a:extLst>
          </p:cNvPr>
          <p:cNvSpPr>
            <a:spLocks noGrp="1"/>
          </p:cNvSpPr>
          <p:nvPr>
            <p:ph type="sldNum" idx="12"/>
          </p:nvPr>
        </p:nvSpPr>
        <p:spPr/>
        <p:txBody>
          <a:bodyPr/>
          <a:lstStyle/>
          <a:p>
            <a:fld id="{CE7E00E2-F08D-429A-AD9B-1ECBEC02F4DB}" type="slidenum">
              <a:t>‹Nr.›</a:t>
            </a:fld>
            <a:endParaRPr/>
          </a:p>
        </p:txBody>
      </p:sp>
      <p:sp>
        <p:nvSpPr>
          <p:cNvPr id="11" name="Inhaltsplatzhalter 10">
            <a:extLst>
              <a:ext uri="{FF2B5EF4-FFF2-40B4-BE49-F238E27FC236}">
                <a16:creationId xmlns:a16="http://schemas.microsoft.com/office/drawing/2014/main" id="{AEE37E4F-CE4E-4777-9C17-53E5210C7DF5}"/>
              </a:ext>
            </a:extLst>
          </p:cNvPr>
          <p:cNvSpPr>
            <a:spLocks noGrp="1"/>
          </p:cNvSpPr>
          <p:nvPr>
            <p:ph idx="13"/>
          </p:nvPr>
        </p:nvSpPr>
        <p:spPr>
          <a:xfrm>
            <a:off x="479425" y="1412875"/>
            <a:ext cx="5508625" cy="4752975"/>
          </a:xfrm>
        </p:spPr>
        <p:txBody>
          <a:bodyPr/>
          <a:lstStyle/>
          <a:p>
            <a:pPr lvl="0">
              <a:buNone/>
            </a:pPr>
            <a:r>
              <a:t>Mastertextformat bearbeiten</a:t>
            </a:r>
          </a:p>
          <a:p>
            <a:pPr lvl="1">
              <a:buNone/>
            </a:pPr>
            <a:r>
              <a:t>Zweite Ebene</a:t>
            </a:r>
          </a:p>
          <a:p>
            <a:pPr lvl="2">
              <a:buNone/>
            </a:pPr>
            <a:r>
              <a:t>Dritte Ebene</a:t>
            </a:r>
          </a:p>
          <a:p>
            <a:pPr lvl="3">
              <a:buNone/>
            </a:pPr>
            <a:r>
              <a:t>Vierte Ebene</a:t>
            </a:r>
          </a:p>
          <a:p>
            <a:pPr lvl="4">
              <a:buNone/>
            </a:pPr>
            <a:r>
              <a:t>Fünfte Ebene</a:t>
            </a:r>
          </a:p>
        </p:txBody>
      </p:sp>
      <p:sp>
        <p:nvSpPr>
          <p:cNvPr id="13" name="Inhaltsplatzhalter 12">
            <a:extLst>
              <a:ext uri="{FF2B5EF4-FFF2-40B4-BE49-F238E27FC236}">
                <a16:creationId xmlns:a16="http://schemas.microsoft.com/office/drawing/2014/main" id="{A818BD93-1DDD-412D-A871-6BC5B00BBC1E}"/>
              </a:ext>
            </a:extLst>
          </p:cNvPr>
          <p:cNvSpPr>
            <a:spLocks noGrp="1"/>
          </p:cNvSpPr>
          <p:nvPr>
            <p:ph idx="14"/>
          </p:nvPr>
        </p:nvSpPr>
        <p:spPr>
          <a:xfrm>
            <a:off x="6203950" y="1412875"/>
            <a:ext cx="5508625" cy="4752975"/>
          </a:xfrm>
        </p:spPr>
        <p:txBody>
          <a:bodyPr/>
          <a:lstStyle/>
          <a:p>
            <a:pPr lvl="0">
              <a:buNone/>
            </a:pPr>
            <a:r>
              <a:t>Mastertextformat bearbeiten</a:t>
            </a:r>
          </a:p>
          <a:p>
            <a:pPr lvl="1">
              <a:buNone/>
            </a:pPr>
            <a:r>
              <a:t>Zweite Ebene</a:t>
            </a:r>
          </a:p>
          <a:p>
            <a:pPr lvl="2">
              <a:buNone/>
            </a:pPr>
            <a:r>
              <a:t>Dritte Ebene</a:t>
            </a:r>
          </a:p>
          <a:p>
            <a:pPr lvl="3">
              <a:buNone/>
            </a:pPr>
            <a:r>
              <a:t>Vierte Ebene</a:t>
            </a:r>
          </a:p>
          <a:p>
            <a:pPr lvl="4">
              <a:buNone/>
            </a:pPr>
            <a:r>
              <a:t>Fünfte Ebene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rennfolie ohne Bild 1">
    <p:bg>
      <p:bgPr>
        <a:solidFill>
          <a:schemeClr val="bg1"/>
        </a:solidFill>
        <a:effectLst/>
      </p:bgPr>
    </p:bg>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22B569FC-FE53-4146-618B-EFBC7A5A6A0E}"/>
              </a:ext>
            </a:extLst>
          </p:cNvPr>
          <p:cNvSpPr>
            <a:spLocks noGrp="1"/>
          </p:cNvSpPr>
          <p:nvPr/>
        </p:nvSpPr>
        <p:spPr>
          <a:xfrm>
            <a:off x="0" y="0"/>
            <a:ext cx="12192000" cy="605776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3" name="Datumsplatzhalter 2">
            <a:extLst>
              <a:ext uri="{FF2B5EF4-FFF2-40B4-BE49-F238E27FC236}">
                <a16:creationId xmlns:a16="http://schemas.microsoft.com/office/drawing/2014/main" id="{C8FAAB2D-A293-4D3D-9F4E-0FAB456D12CF}"/>
              </a:ext>
            </a:extLst>
          </p:cNvPr>
          <p:cNvSpPr>
            <a:spLocks noGrp="1"/>
          </p:cNvSpPr>
          <p:nvPr>
            <p:ph type="dt" idx="10"/>
          </p:nvPr>
        </p:nvSpPr>
        <p:spPr/>
        <p:txBody>
          <a:bodyPr/>
          <a:lstStyle/>
          <a:p>
            <a:fld id="{54359010-3833-46D1-85CE-E9F83B9A0CAB}" type="datetime1">
              <a:t>06.08.2026</a:t>
            </a:fld>
            <a:endParaRPr/>
          </a:p>
        </p:txBody>
      </p:sp>
      <p:sp>
        <p:nvSpPr>
          <p:cNvPr id="5" name="Foliennummernplatzhalter 4">
            <a:extLst>
              <a:ext uri="{FF2B5EF4-FFF2-40B4-BE49-F238E27FC236}">
                <a16:creationId xmlns:a16="http://schemas.microsoft.com/office/drawing/2014/main" id="{F7690C60-FE02-43F5-B09D-31F22CBBD3A1}"/>
              </a:ext>
            </a:extLst>
          </p:cNvPr>
          <p:cNvSpPr>
            <a:spLocks noGrp="1"/>
          </p:cNvSpPr>
          <p:nvPr>
            <p:ph type="sldNum" idx="12"/>
          </p:nvPr>
        </p:nvSpPr>
        <p:spPr/>
        <p:txBody>
          <a:bodyPr/>
          <a:lstStyle/>
          <a:p>
            <a:fld id="{CE7E00E2-F08D-429A-AD9B-1ECBEC02F4DB}" type="slidenum">
              <a:t>‹Nr.›</a:t>
            </a:fld>
            <a:endParaRPr/>
          </a:p>
        </p:txBody>
      </p:sp>
      <p:sp>
        <p:nvSpPr>
          <p:cNvPr id="6" name="Titel 5">
            <a:extLst>
              <a:ext uri="{FF2B5EF4-FFF2-40B4-BE49-F238E27FC236}">
                <a16:creationId xmlns:a16="http://schemas.microsoft.com/office/drawing/2014/main" id="{B7E1B35D-2558-4834-BED2-DCB957EFAA77}"/>
              </a:ext>
            </a:extLst>
          </p:cNvPr>
          <p:cNvSpPr>
            <a:spLocks noGrp="1"/>
          </p:cNvSpPr>
          <p:nvPr>
            <p:ph type="title"/>
          </p:nvPr>
        </p:nvSpPr>
        <p:spPr>
          <a:xfrm>
            <a:off x="482461" y="0"/>
            <a:ext cx="11230114" cy="2038490"/>
          </a:xfrm>
        </p:spPr>
        <p:txBody>
          <a:bodyPr anchor="b"/>
          <a:lstStyle>
            <a:lvl1pPr>
              <a:buNone/>
              <a:defRPr sz="4800">
                <a:solidFill>
                  <a:schemeClr val="bg1"/>
                </a:solidFill>
              </a:defRPr>
            </a:lvl1pPr>
          </a:lstStyle>
          <a:p>
            <a:r>
              <a:t>Mastertitelformat bearbeiten</a:t>
            </a:r>
          </a:p>
        </p:txBody>
      </p:sp>
      <p:sp>
        <p:nvSpPr>
          <p:cNvPr id="4" name="Gerade Verbindung 3">
            <a:extLst>
              <a:ext uri="{FF2B5EF4-FFF2-40B4-BE49-F238E27FC236}">
                <a16:creationId xmlns:a16="http://schemas.microsoft.com/office/drawing/2014/main" id="{05997B2D-27FE-4FDC-8939-01544306305D}"/>
              </a:ext>
            </a:extLst>
          </p:cNvPr>
          <p:cNvSpPr>
            <a:spLocks noGrp="1"/>
          </p:cNvSpPr>
          <p:nvPr/>
        </p:nvSpPr>
        <p:spPr>
          <a:xfrm>
            <a:off x="482461" y="2289762"/>
            <a:ext cx="11709539"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rennfolie ohne Bild 2">
    <p:bg>
      <p:bgPr>
        <a:solidFill>
          <a:schemeClr val="bg1"/>
        </a:solidFill>
        <a:effectLst/>
      </p:bgPr>
    </p:bg>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22B569FC-FE53-4146-618B-EFBC7A5A6A0E}"/>
              </a:ext>
            </a:extLst>
          </p:cNvPr>
          <p:cNvSpPr>
            <a:spLocks noGrp="1"/>
          </p:cNvSpPr>
          <p:nvPr/>
        </p:nvSpPr>
        <p:spPr>
          <a:xfrm>
            <a:off x="0" y="0"/>
            <a:ext cx="12192000" cy="6057767"/>
          </a:xfrm>
          <a:prstGeom prst="rect">
            <a:avLst/>
          </a:prstGeom>
          <a:solidFill>
            <a:srgbClr val="C3BB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3" name="Datumsplatzhalter 2">
            <a:extLst>
              <a:ext uri="{FF2B5EF4-FFF2-40B4-BE49-F238E27FC236}">
                <a16:creationId xmlns:a16="http://schemas.microsoft.com/office/drawing/2014/main" id="{C8FAAB2D-A293-4D3D-9F4E-0FAB456D12CF}"/>
              </a:ext>
            </a:extLst>
          </p:cNvPr>
          <p:cNvSpPr>
            <a:spLocks noGrp="1"/>
          </p:cNvSpPr>
          <p:nvPr>
            <p:ph type="dt" idx="10"/>
          </p:nvPr>
        </p:nvSpPr>
        <p:spPr/>
        <p:txBody>
          <a:bodyPr/>
          <a:lstStyle/>
          <a:p>
            <a:fld id="{A44B8AD2-0CB6-4686-BC54-BC8E97B87777}" type="datetime1">
              <a:t>06.08.2026</a:t>
            </a:fld>
            <a:endParaRPr/>
          </a:p>
        </p:txBody>
      </p:sp>
      <p:sp>
        <p:nvSpPr>
          <p:cNvPr id="5" name="Foliennummernplatzhalter 4">
            <a:extLst>
              <a:ext uri="{FF2B5EF4-FFF2-40B4-BE49-F238E27FC236}">
                <a16:creationId xmlns:a16="http://schemas.microsoft.com/office/drawing/2014/main" id="{F7690C60-FE02-43F5-B09D-31F22CBBD3A1}"/>
              </a:ext>
            </a:extLst>
          </p:cNvPr>
          <p:cNvSpPr>
            <a:spLocks noGrp="1"/>
          </p:cNvSpPr>
          <p:nvPr>
            <p:ph type="sldNum" idx="12"/>
          </p:nvPr>
        </p:nvSpPr>
        <p:spPr/>
        <p:txBody>
          <a:bodyPr/>
          <a:lstStyle/>
          <a:p>
            <a:fld id="{CE7E00E2-F08D-429A-AD9B-1ECBEC02F4DB}" type="slidenum">
              <a:t>‹Nr.›</a:t>
            </a:fld>
            <a:endParaRPr/>
          </a:p>
        </p:txBody>
      </p:sp>
      <p:sp>
        <p:nvSpPr>
          <p:cNvPr id="8" name="Titel 5">
            <a:extLst>
              <a:ext uri="{FF2B5EF4-FFF2-40B4-BE49-F238E27FC236}">
                <a16:creationId xmlns:a16="http://schemas.microsoft.com/office/drawing/2014/main" id="{3A643077-A9CA-F47F-0A9E-1AF380752739}"/>
              </a:ext>
            </a:extLst>
          </p:cNvPr>
          <p:cNvSpPr>
            <a:spLocks noGrp="1"/>
          </p:cNvSpPr>
          <p:nvPr>
            <p:ph type="title"/>
          </p:nvPr>
        </p:nvSpPr>
        <p:spPr>
          <a:xfrm>
            <a:off x="482461" y="0"/>
            <a:ext cx="11230114" cy="2038490"/>
          </a:xfrm>
        </p:spPr>
        <p:txBody>
          <a:bodyPr anchor="b"/>
          <a:lstStyle>
            <a:lvl1pPr>
              <a:buNone/>
              <a:defRPr sz="4800">
                <a:solidFill>
                  <a:schemeClr val="bg1"/>
                </a:solidFill>
              </a:defRPr>
            </a:lvl1pPr>
          </a:lstStyle>
          <a:p>
            <a:r>
              <a:t>Mastertitelformat bearbeiten</a:t>
            </a:r>
          </a:p>
        </p:txBody>
      </p:sp>
      <p:sp>
        <p:nvSpPr>
          <p:cNvPr id="9" name="Gerade Verbindung 8">
            <a:extLst>
              <a:ext uri="{FF2B5EF4-FFF2-40B4-BE49-F238E27FC236}">
                <a16:creationId xmlns:a16="http://schemas.microsoft.com/office/drawing/2014/main" id="{A9111291-E730-4201-ADFD-AB1BE62C8FF3}"/>
              </a:ext>
            </a:extLst>
          </p:cNvPr>
          <p:cNvSpPr>
            <a:spLocks noGrp="1"/>
          </p:cNvSpPr>
          <p:nvPr/>
        </p:nvSpPr>
        <p:spPr>
          <a:xfrm>
            <a:off x="482461" y="2289762"/>
            <a:ext cx="11709539"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rennfolie mit Bild 1">
    <p:bg>
      <p:bgPr>
        <a:solidFill>
          <a:schemeClr val="bg1"/>
        </a:solidFill>
        <a:effectLst/>
      </p:bgPr>
    </p:bg>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22B569FC-FE53-4146-618B-EFBC7A5A6A0E}"/>
              </a:ext>
            </a:extLst>
          </p:cNvPr>
          <p:cNvSpPr>
            <a:spLocks noGrp="1"/>
          </p:cNvSpPr>
          <p:nvPr/>
        </p:nvSpPr>
        <p:spPr>
          <a:xfrm>
            <a:off x="0" y="4453466"/>
            <a:ext cx="12192000" cy="160430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3" name="Datumsplatzhalter 2">
            <a:extLst>
              <a:ext uri="{FF2B5EF4-FFF2-40B4-BE49-F238E27FC236}">
                <a16:creationId xmlns:a16="http://schemas.microsoft.com/office/drawing/2014/main" id="{C8FAAB2D-A293-4D3D-9F4E-0FAB456D12CF}"/>
              </a:ext>
            </a:extLst>
          </p:cNvPr>
          <p:cNvSpPr>
            <a:spLocks noGrp="1"/>
          </p:cNvSpPr>
          <p:nvPr>
            <p:ph type="dt" idx="10"/>
          </p:nvPr>
        </p:nvSpPr>
        <p:spPr/>
        <p:txBody>
          <a:bodyPr/>
          <a:lstStyle/>
          <a:p>
            <a:fld id="{B0557833-6AB4-4458-8CD6-D82947634C0B}" type="datetime1">
              <a:t>06.08.2026</a:t>
            </a:fld>
            <a:endParaRPr/>
          </a:p>
        </p:txBody>
      </p:sp>
      <p:sp>
        <p:nvSpPr>
          <p:cNvPr id="5" name="Foliennummernplatzhalter 4">
            <a:extLst>
              <a:ext uri="{FF2B5EF4-FFF2-40B4-BE49-F238E27FC236}">
                <a16:creationId xmlns:a16="http://schemas.microsoft.com/office/drawing/2014/main" id="{F7690C60-FE02-43F5-B09D-31F22CBBD3A1}"/>
              </a:ext>
            </a:extLst>
          </p:cNvPr>
          <p:cNvSpPr>
            <a:spLocks noGrp="1"/>
          </p:cNvSpPr>
          <p:nvPr>
            <p:ph type="sldNum" idx="12"/>
          </p:nvPr>
        </p:nvSpPr>
        <p:spPr/>
        <p:txBody>
          <a:bodyPr/>
          <a:lstStyle/>
          <a:p>
            <a:fld id="{CE7E00E2-F08D-429A-AD9B-1ECBEC02F4DB}" type="slidenum">
              <a:t>‹Nr.›</a:t>
            </a:fld>
            <a:endParaRPr/>
          </a:p>
        </p:txBody>
      </p:sp>
      <p:sp>
        <p:nvSpPr>
          <p:cNvPr id="6" name="Titel 5">
            <a:extLst>
              <a:ext uri="{FF2B5EF4-FFF2-40B4-BE49-F238E27FC236}">
                <a16:creationId xmlns:a16="http://schemas.microsoft.com/office/drawing/2014/main" id="{B7E1B35D-2558-4834-BED2-DCB957EFAA77}"/>
              </a:ext>
            </a:extLst>
          </p:cNvPr>
          <p:cNvSpPr>
            <a:spLocks noGrp="1"/>
          </p:cNvSpPr>
          <p:nvPr>
            <p:ph type="title"/>
          </p:nvPr>
        </p:nvSpPr>
        <p:spPr>
          <a:xfrm>
            <a:off x="482461" y="4453467"/>
            <a:ext cx="11230114" cy="1604300"/>
          </a:xfrm>
        </p:spPr>
        <p:txBody>
          <a:bodyPr anchor="ctr"/>
          <a:lstStyle>
            <a:lvl1pPr>
              <a:buNone/>
              <a:defRPr sz="4000">
                <a:solidFill>
                  <a:schemeClr val="bg1"/>
                </a:solidFill>
              </a:defRPr>
            </a:lvl1pPr>
          </a:lstStyle>
          <a:p>
            <a:r>
              <a:t>Mastertitelformat bearbeiten</a:t>
            </a:r>
          </a:p>
        </p:txBody>
      </p:sp>
      <p:sp>
        <p:nvSpPr>
          <p:cNvPr id="4" name="Gerade Verbindung 3">
            <a:extLst>
              <a:ext uri="{FF2B5EF4-FFF2-40B4-BE49-F238E27FC236}">
                <a16:creationId xmlns:a16="http://schemas.microsoft.com/office/drawing/2014/main" id="{4EA4929B-307D-4DC5-B53B-A0AB150C2CA8}"/>
              </a:ext>
            </a:extLst>
          </p:cNvPr>
          <p:cNvSpPr>
            <a:spLocks noGrp="1"/>
          </p:cNvSpPr>
          <p:nvPr/>
        </p:nvSpPr>
        <p:spPr>
          <a:xfrm>
            <a:off x="482461" y="3089995"/>
            <a:ext cx="1170953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sp>
      <p:pic>
        <p:nvPicPr>
          <p:cNvPr id="13" name="Grafik 9"/>
          <p:cNvPicPr>
            <a:picLocks noChangeAspect="1"/>
          </p:cNvPicPr>
          <p:nvPr/>
        </p:nvPicPr>
        <p:blipFill>
          <a:blip r:embed="rId2"/>
          <a:stretch>
            <a:fillRect/>
          </a:stretch>
        </p:blipFill>
        <p:spPr>
          <a:xfrm>
            <a:off x="-1" y="-1"/>
            <a:ext cx="12194017" cy="4453467"/>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ennfolie mit Bild 2">
    <p:bg>
      <p:bgPr>
        <a:solidFill>
          <a:schemeClr val="bg1"/>
        </a:solidFill>
        <a:effectLst/>
      </p:bgPr>
    </p:bg>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22B569FC-FE53-4146-618B-EFBC7A5A6A0E}"/>
              </a:ext>
            </a:extLst>
          </p:cNvPr>
          <p:cNvSpPr>
            <a:spLocks noGrp="1"/>
          </p:cNvSpPr>
          <p:nvPr/>
        </p:nvSpPr>
        <p:spPr>
          <a:xfrm>
            <a:off x="0" y="4453466"/>
            <a:ext cx="12192000" cy="16043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3" name="Datumsplatzhalter 2">
            <a:extLst>
              <a:ext uri="{FF2B5EF4-FFF2-40B4-BE49-F238E27FC236}">
                <a16:creationId xmlns:a16="http://schemas.microsoft.com/office/drawing/2014/main" id="{C8FAAB2D-A293-4D3D-9F4E-0FAB456D12CF}"/>
              </a:ext>
            </a:extLst>
          </p:cNvPr>
          <p:cNvSpPr>
            <a:spLocks noGrp="1"/>
          </p:cNvSpPr>
          <p:nvPr>
            <p:ph type="dt" idx="10"/>
          </p:nvPr>
        </p:nvSpPr>
        <p:spPr/>
        <p:txBody>
          <a:bodyPr/>
          <a:lstStyle/>
          <a:p>
            <a:fld id="{5885801D-3341-4DAA-8DB7-EA54BF0E83F6}" type="datetime1">
              <a:t>06.08.2026</a:t>
            </a:fld>
            <a:endParaRPr/>
          </a:p>
        </p:txBody>
      </p:sp>
      <p:sp>
        <p:nvSpPr>
          <p:cNvPr id="5" name="Foliennummernplatzhalter 4">
            <a:extLst>
              <a:ext uri="{FF2B5EF4-FFF2-40B4-BE49-F238E27FC236}">
                <a16:creationId xmlns:a16="http://schemas.microsoft.com/office/drawing/2014/main" id="{F7690C60-FE02-43F5-B09D-31F22CBBD3A1}"/>
              </a:ext>
            </a:extLst>
          </p:cNvPr>
          <p:cNvSpPr>
            <a:spLocks noGrp="1"/>
          </p:cNvSpPr>
          <p:nvPr>
            <p:ph type="sldNum" idx="12"/>
          </p:nvPr>
        </p:nvSpPr>
        <p:spPr/>
        <p:txBody>
          <a:bodyPr/>
          <a:lstStyle/>
          <a:p>
            <a:fld id="{CE7E00E2-F08D-429A-AD9B-1ECBEC02F4DB}" type="slidenum">
              <a:t>‹Nr.›</a:t>
            </a:fld>
            <a:endParaRPr/>
          </a:p>
        </p:txBody>
      </p:sp>
      <p:sp>
        <p:nvSpPr>
          <p:cNvPr id="4" name="Gerade Verbindung 3">
            <a:extLst>
              <a:ext uri="{FF2B5EF4-FFF2-40B4-BE49-F238E27FC236}">
                <a16:creationId xmlns:a16="http://schemas.microsoft.com/office/drawing/2014/main" id="{BF81929B-D8C8-4B6E-8F6B-72785AD4C337}"/>
              </a:ext>
            </a:extLst>
          </p:cNvPr>
          <p:cNvSpPr>
            <a:spLocks noGrp="1"/>
          </p:cNvSpPr>
          <p:nvPr/>
        </p:nvSpPr>
        <p:spPr>
          <a:xfrm>
            <a:off x="482461" y="3089995"/>
            <a:ext cx="1170953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sp>
      <p:pic>
        <p:nvPicPr>
          <p:cNvPr id="13" name="Grafik 7"/>
          <p:cNvPicPr>
            <a:picLocks noChangeAspect="1"/>
          </p:cNvPicPr>
          <p:nvPr/>
        </p:nvPicPr>
        <p:blipFill>
          <a:blip r:embed="rId2"/>
          <a:stretch>
            <a:fillRect/>
          </a:stretch>
        </p:blipFill>
        <p:spPr>
          <a:xfrm>
            <a:off x="-2" y="0"/>
            <a:ext cx="12207274" cy="4453467"/>
          </a:xfrm>
          <a:prstGeom prst="rect">
            <a:avLst/>
          </a:prstGeom>
        </p:spPr>
      </p:pic>
      <p:sp>
        <p:nvSpPr>
          <p:cNvPr id="7" name="Titel 5">
            <a:extLst>
              <a:ext uri="{FF2B5EF4-FFF2-40B4-BE49-F238E27FC236}">
                <a16:creationId xmlns:a16="http://schemas.microsoft.com/office/drawing/2014/main" id="{2479842B-4F83-0530-611F-DABFE9C1BF2F}"/>
              </a:ext>
            </a:extLst>
          </p:cNvPr>
          <p:cNvSpPr>
            <a:spLocks noGrp="1"/>
          </p:cNvSpPr>
          <p:nvPr>
            <p:ph type="title"/>
          </p:nvPr>
        </p:nvSpPr>
        <p:spPr>
          <a:xfrm>
            <a:off x="482461" y="4453467"/>
            <a:ext cx="11230114" cy="1604300"/>
          </a:xfrm>
        </p:spPr>
        <p:txBody>
          <a:bodyPr anchor="ctr"/>
          <a:lstStyle>
            <a:lvl1pPr>
              <a:buNone/>
              <a:defRPr sz="4000">
                <a:solidFill>
                  <a:schemeClr val="bg1"/>
                </a:solidFill>
              </a:defRPr>
            </a:lvl1pPr>
          </a:lstStyle>
          <a:p>
            <a:r>
              <a:t>Mastertitelformat bearbeiten</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D4335EF-45ED-4E9C-9C66-FA632E3C452F}"/>
              </a:ext>
            </a:extLst>
          </p:cNvPr>
          <p:cNvSpPr>
            <a:spLocks noGrp="1"/>
          </p:cNvSpPr>
          <p:nvPr>
            <p:ph type="title"/>
          </p:nvPr>
        </p:nvSpPr>
        <p:spPr/>
        <p:txBody>
          <a:bodyPr/>
          <a:lstStyle/>
          <a:p>
            <a:r>
              <a:t>Mastertitelformat bearbeiten</a:t>
            </a:r>
          </a:p>
        </p:txBody>
      </p:sp>
      <p:sp>
        <p:nvSpPr>
          <p:cNvPr id="3" name="Datumsplatzhalter 2">
            <a:extLst>
              <a:ext uri="{FF2B5EF4-FFF2-40B4-BE49-F238E27FC236}">
                <a16:creationId xmlns:a16="http://schemas.microsoft.com/office/drawing/2014/main" id="{C8FAAB2D-A293-4D3D-9F4E-0FAB456D12CF}"/>
              </a:ext>
            </a:extLst>
          </p:cNvPr>
          <p:cNvSpPr>
            <a:spLocks noGrp="1"/>
          </p:cNvSpPr>
          <p:nvPr>
            <p:ph type="dt" idx="10"/>
          </p:nvPr>
        </p:nvSpPr>
        <p:spPr/>
        <p:txBody>
          <a:bodyPr/>
          <a:lstStyle/>
          <a:p>
            <a:fld id="{B4FC1744-D639-45C4-8D62-63B8E6EA4645}" type="datetime1">
              <a:t>06.08.2026</a:t>
            </a:fld>
            <a:endParaRPr/>
          </a:p>
        </p:txBody>
      </p:sp>
      <p:sp>
        <p:nvSpPr>
          <p:cNvPr id="5" name="Foliennummernplatzhalter 4">
            <a:extLst>
              <a:ext uri="{FF2B5EF4-FFF2-40B4-BE49-F238E27FC236}">
                <a16:creationId xmlns:a16="http://schemas.microsoft.com/office/drawing/2014/main" id="{F7690C60-FE02-43F5-B09D-31F22CBBD3A1}"/>
              </a:ext>
            </a:extLst>
          </p:cNvPr>
          <p:cNvSpPr>
            <a:spLocks noGrp="1"/>
          </p:cNvSpPr>
          <p:nvPr>
            <p:ph type="sldNum" idx="12"/>
          </p:nvPr>
        </p:nvSpPr>
        <p:spPr/>
        <p:txBody>
          <a:bodyPr/>
          <a:lstStyle/>
          <a:p>
            <a:fld id="{CE7E00E2-F08D-429A-AD9B-1ECBEC02F4DB}" type="slidenum">
              <a:t>‹Nr.›</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Zitat">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F68D4EDF-0B8A-EC57-FA1B-8F6B30C70DBD}"/>
              </a:ext>
            </a:extLst>
          </p:cNvPr>
          <p:cNvSpPr>
            <a:spLocks noGrp="1"/>
          </p:cNvSpPr>
          <p:nvPr/>
        </p:nvSpPr>
        <p:spPr>
          <a:xfrm>
            <a:off x="0" y="0"/>
            <a:ext cx="12192000" cy="591953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3" name="Datumsplatzhalter 2">
            <a:extLst>
              <a:ext uri="{FF2B5EF4-FFF2-40B4-BE49-F238E27FC236}">
                <a16:creationId xmlns:a16="http://schemas.microsoft.com/office/drawing/2014/main" id="{C8FAAB2D-A293-4D3D-9F4E-0FAB456D12CF}"/>
              </a:ext>
            </a:extLst>
          </p:cNvPr>
          <p:cNvSpPr>
            <a:spLocks noGrp="1"/>
          </p:cNvSpPr>
          <p:nvPr>
            <p:ph type="dt" idx="10"/>
          </p:nvPr>
        </p:nvSpPr>
        <p:spPr/>
        <p:txBody>
          <a:bodyPr/>
          <a:lstStyle/>
          <a:p>
            <a:fld id="{C33DD234-259D-4F15-8408-EA64820F6397}" type="datetime1">
              <a:t>06.08.2026</a:t>
            </a:fld>
            <a:endParaRPr/>
          </a:p>
        </p:txBody>
      </p:sp>
      <p:sp>
        <p:nvSpPr>
          <p:cNvPr id="5" name="Foliennummernplatzhalter 4">
            <a:extLst>
              <a:ext uri="{FF2B5EF4-FFF2-40B4-BE49-F238E27FC236}">
                <a16:creationId xmlns:a16="http://schemas.microsoft.com/office/drawing/2014/main" id="{F7690C60-FE02-43F5-B09D-31F22CBBD3A1}"/>
              </a:ext>
            </a:extLst>
          </p:cNvPr>
          <p:cNvSpPr>
            <a:spLocks noGrp="1"/>
          </p:cNvSpPr>
          <p:nvPr>
            <p:ph type="sldNum" idx="12"/>
          </p:nvPr>
        </p:nvSpPr>
        <p:spPr/>
        <p:txBody>
          <a:bodyPr/>
          <a:lstStyle/>
          <a:p>
            <a:fld id="{CE7E00E2-F08D-429A-AD9B-1ECBEC02F4DB}" type="slidenum">
              <a:t>‹Nr.›</a:t>
            </a:fld>
            <a:endParaRPr/>
          </a:p>
        </p:txBody>
      </p:sp>
      <p:sp>
        <p:nvSpPr>
          <p:cNvPr id="6" name="Titel 4">
            <a:extLst>
              <a:ext uri="{FF2B5EF4-FFF2-40B4-BE49-F238E27FC236}">
                <a16:creationId xmlns:a16="http://schemas.microsoft.com/office/drawing/2014/main" id="{0609E4E5-60AD-96A2-134A-7945378CC0B8}"/>
              </a:ext>
            </a:extLst>
          </p:cNvPr>
          <p:cNvSpPr>
            <a:spLocks noGrp="1"/>
          </p:cNvSpPr>
          <p:nvPr>
            <p:ph type="title"/>
          </p:nvPr>
        </p:nvSpPr>
        <p:spPr>
          <a:xfrm>
            <a:off x="482461" y="440575"/>
            <a:ext cx="11230114" cy="2901141"/>
          </a:xfrm>
        </p:spPr>
        <p:txBody>
          <a:bodyPr anchor="b"/>
          <a:lstStyle>
            <a:lvl1pPr>
              <a:buNone/>
              <a:defRPr sz="4800">
                <a:solidFill>
                  <a:schemeClr val="tx1"/>
                </a:solidFill>
              </a:defRPr>
            </a:lvl1pPr>
          </a:lstStyle>
          <a:p>
            <a:r>
              <a:t>Mastertitelformat bearbeiten</a:t>
            </a:r>
          </a:p>
        </p:txBody>
      </p:sp>
      <p:sp>
        <p:nvSpPr>
          <p:cNvPr id="7" name="Textplatzhalter 3">
            <a:extLst>
              <a:ext uri="{FF2B5EF4-FFF2-40B4-BE49-F238E27FC236}">
                <a16:creationId xmlns:a16="http://schemas.microsoft.com/office/drawing/2014/main" id="{7899FE9C-58B2-B080-35E1-68B9BECC2500}"/>
              </a:ext>
            </a:extLst>
          </p:cNvPr>
          <p:cNvSpPr>
            <a:spLocks noGrp="1"/>
          </p:cNvSpPr>
          <p:nvPr>
            <p:ph type="body" idx="2"/>
          </p:nvPr>
        </p:nvSpPr>
        <p:spPr>
          <a:xfrm>
            <a:off x="482461" y="3483324"/>
            <a:ext cx="6168505" cy="46412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Mastertextformat bearbeiten</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1DD4019C-FA41-4DCB-805B-361EDF75614E}"/>
              </a:ext>
            </a:extLst>
          </p:cNvPr>
          <p:cNvSpPr>
            <a:spLocks noGrp="1"/>
          </p:cNvSpPr>
          <p:nvPr>
            <p:ph type="title"/>
          </p:nvPr>
        </p:nvSpPr>
        <p:spPr>
          <a:xfrm>
            <a:off x="482461" y="346633"/>
            <a:ext cx="11230114" cy="767605"/>
          </a:xfrm>
          <a:prstGeom prst="rect">
            <a:avLst/>
          </a:prstGeom>
        </p:spPr>
        <p:txBody>
          <a:bodyPr vert="horz" lIns="0" tIns="0" rIns="0" bIns="0" anchor="t">
            <a:noAutofit/>
          </a:bodyPr>
          <a:lstStyle/>
          <a:p>
            <a:endParaRPr/>
          </a:p>
        </p:txBody>
      </p:sp>
      <p:sp>
        <p:nvSpPr>
          <p:cNvPr id="4" name="Datumsplatzhalter 3">
            <a:extLst>
              <a:ext uri="{FF2B5EF4-FFF2-40B4-BE49-F238E27FC236}">
                <a16:creationId xmlns:a16="http://schemas.microsoft.com/office/drawing/2014/main" id="{272891B6-CDC1-4079-B1F7-551FF564F32D}"/>
              </a:ext>
            </a:extLst>
          </p:cNvPr>
          <p:cNvSpPr>
            <a:spLocks noGrp="1"/>
          </p:cNvSpPr>
          <p:nvPr>
            <p:ph type="dt" idx="2"/>
          </p:nvPr>
        </p:nvSpPr>
        <p:spPr>
          <a:xfrm>
            <a:off x="933451" y="6359712"/>
            <a:ext cx="616744" cy="365125"/>
          </a:xfrm>
          <a:prstGeom prst="rect">
            <a:avLst/>
          </a:prstGeom>
        </p:spPr>
        <p:txBody>
          <a:bodyPr vert="horz" lIns="0" tIns="0" rIns="0" bIns="0" anchor="ctr"/>
          <a:lstStyle>
            <a:lvl1pPr algn="l">
              <a:buNone/>
              <a:defRPr sz="900">
                <a:solidFill>
                  <a:schemeClr val="tx1"/>
                </a:solidFill>
              </a:defRPr>
            </a:lvl1pPr>
          </a:lstStyle>
          <a:p>
            <a:fld id="{5F18E43C-E52F-48EA-B380-1F3AB6DC196F}" type="datetime1">
              <a:t>06.08.2026</a:t>
            </a:fld>
            <a:endParaRPr/>
          </a:p>
        </p:txBody>
      </p:sp>
      <p:sp>
        <p:nvSpPr>
          <p:cNvPr id="6" name="Foliennummernplatzhalter 5">
            <a:extLst>
              <a:ext uri="{FF2B5EF4-FFF2-40B4-BE49-F238E27FC236}">
                <a16:creationId xmlns:a16="http://schemas.microsoft.com/office/drawing/2014/main" id="{53FED3B5-429C-4615-9F3E-01C199CD6560}"/>
              </a:ext>
            </a:extLst>
          </p:cNvPr>
          <p:cNvSpPr>
            <a:spLocks noGrp="1"/>
          </p:cNvSpPr>
          <p:nvPr>
            <p:ph type="sldNum" idx="4"/>
          </p:nvPr>
        </p:nvSpPr>
        <p:spPr>
          <a:xfrm>
            <a:off x="482461" y="6359712"/>
            <a:ext cx="415270" cy="365125"/>
          </a:xfrm>
          <a:prstGeom prst="rect">
            <a:avLst/>
          </a:prstGeom>
        </p:spPr>
        <p:txBody>
          <a:bodyPr vert="horz" lIns="0" tIns="0" rIns="0" bIns="0" anchor="ctr"/>
          <a:lstStyle>
            <a:lvl1pPr algn="l">
              <a:buNone/>
              <a:defRPr sz="900" b="0">
                <a:solidFill>
                  <a:schemeClr val="tx1"/>
                </a:solidFill>
              </a:defRPr>
            </a:lvl1pPr>
          </a:lstStyle>
          <a:p>
            <a:fld id="{CE7E00E2-F08D-429A-AD9B-1ECBEC02F4DB}" type="slidenum">
              <a:t>‹Nr.›</a:t>
            </a:fld>
            <a:endParaRPr/>
          </a:p>
        </p:txBody>
      </p:sp>
      <p:sp>
        <p:nvSpPr>
          <p:cNvPr id="12" name="Textplatzhalter 11">
            <a:extLst>
              <a:ext uri="{FF2B5EF4-FFF2-40B4-BE49-F238E27FC236}">
                <a16:creationId xmlns:a16="http://schemas.microsoft.com/office/drawing/2014/main" id="{550445BB-B4A0-4D52-8CFF-52C0C820921A}"/>
              </a:ext>
            </a:extLst>
          </p:cNvPr>
          <p:cNvSpPr>
            <a:spLocks noGrp="1"/>
          </p:cNvSpPr>
          <p:nvPr>
            <p:ph type="body" idx="1"/>
          </p:nvPr>
        </p:nvSpPr>
        <p:spPr>
          <a:xfrm>
            <a:off x="482461" y="1412875"/>
            <a:ext cx="11230114" cy="4752975"/>
          </a:xfrm>
          <a:prstGeom prst="rect">
            <a:avLst/>
          </a:prstGeom>
        </p:spPr>
        <p:txBody>
          <a:bodyPr vert="horz" lIns="0" tIns="0" rIns="0" bIns="0">
            <a:noAutofit/>
          </a:bodyPr>
          <a:lstStyle/>
          <a:p>
            <a:pPr lvl="0">
              <a:buNone/>
            </a:pPr>
            <a:r>
              <a:t>Mastertextformat bearbeiten</a:t>
            </a:r>
          </a:p>
          <a:p>
            <a:pPr lvl="1">
              <a:buNone/>
            </a:pPr>
            <a:r>
              <a:t>Zweite Ebene</a:t>
            </a:r>
          </a:p>
          <a:p>
            <a:pPr lvl="2">
              <a:buNone/>
            </a:pPr>
            <a:r>
              <a:t>Dritte Ebene</a:t>
            </a:r>
          </a:p>
          <a:p>
            <a:pPr lvl="3">
              <a:buNone/>
            </a:pPr>
            <a:r>
              <a:t>Vierte Ebene</a:t>
            </a:r>
          </a:p>
          <a:p>
            <a:pPr lvl="4">
              <a:buNone/>
            </a:pPr>
            <a:r>
              <a:t>Fünfte Ebene</a:t>
            </a:r>
          </a:p>
          <a:p>
            <a:pPr lvl="5">
              <a:buNone/>
            </a:pPr>
            <a:r>
              <a:t>Sechste Ebene</a:t>
            </a:r>
          </a:p>
          <a:p>
            <a:pPr lvl="6">
              <a:buNone/>
            </a:pPr>
            <a:r>
              <a:t>Siebte Ebene</a:t>
            </a:r>
          </a:p>
          <a:p>
            <a:pPr lvl="7">
              <a:buNone/>
            </a:pPr>
            <a:r>
              <a:t>Achte Ebene</a:t>
            </a:r>
          </a:p>
          <a:p>
            <a:pPr lvl="8">
              <a:buNone/>
            </a:pPr>
            <a:r>
              <a:t>Neunte Ebene</a:t>
            </a:r>
          </a:p>
        </p:txBody>
      </p:sp>
      <p:pic>
        <p:nvPicPr>
          <p:cNvPr id="18" name="Grafik 6"/>
          <p:cNvPicPr>
            <a:picLocks noChangeAspect="1"/>
          </p:cNvPicPr>
          <p:nvPr/>
        </p:nvPicPr>
        <p:blipFill>
          <a:blip r:embed="rId13"/>
          <a:stretch>
            <a:fillRect/>
          </a:stretch>
        </p:blipFill>
        <p:spPr>
          <a:xfrm>
            <a:off x="10509163" y="6232744"/>
            <a:ext cx="1213732" cy="404577"/>
          </a:xfrm>
          <a:prstGeom prst="rect">
            <a:avLst/>
          </a:prstGeom>
        </p:spPr>
      </p:pic>
      <p:sp>
        <p:nvSpPr>
          <p:cNvPr id="11" name="Gerade Verbindung 10">
            <a:extLst>
              <a:ext uri="{FF2B5EF4-FFF2-40B4-BE49-F238E27FC236}">
                <a16:creationId xmlns:a16="http://schemas.microsoft.com/office/drawing/2014/main" id="{BD325744-668A-4C80-B077-B72413151DE9}"/>
              </a:ext>
            </a:extLst>
          </p:cNvPr>
          <p:cNvSpPr>
            <a:spLocks noGrp="1"/>
          </p:cNvSpPr>
          <p:nvPr/>
        </p:nvSpPr>
        <p:spPr>
          <a:xfrm>
            <a:off x="482461" y="1130864"/>
            <a:ext cx="11709539"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sp>
      <p:sp>
        <p:nvSpPr>
          <p:cNvPr id="8" name="Textfeld 7">
            <a:extLst>
              <a:ext uri="{FF2B5EF4-FFF2-40B4-BE49-F238E27FC236}">
                <a16:creationId xmlns:a16="http://schemas.microsoft.com/office/drawing/2014/main" id="{DA4311B1-BD77-70B6-72ED-8322B6F15FF4}"/>
              </a:ext>
            </a:extLst>
          </p:cNvPr>
          <p:cNvSpPr>
            <a:spLocks noGrp="1"/>
          </p:cNvSpPr>
          <p:nvPr/>
        </p:nvSpPr>
        <p:spPr>
          <a:xfrm>
            <a:off x="63500" y="6687820"/>
            <a:ext cx="447675" cy="106680"/>
          </a:xfrm>
          <a:prstGeom prst="rect">
            <a:avLst/>
          </a:prstGeom>
        </p:spPr>
        <p:txBody>
          <a:bodyPr lIns="0" tIns="0" rIns="0" bIns="0">
            <a:spAutoFit/>
          </a:bodyPr>
          <a:lstStyle/>
          <a:p>
            <a:pPr algn="l">
              <a:buNone/>
            </a:pPr>
            <a:r>
              <a:rPr sz="700">
                <a:solidFill>
                  <a:srgbClr val="000000">
                    <a:alpha val="50000"/>
                  </a:srgbClr>
                </a:solidFill>
                <a:latin typeface="Arial"/>
                <a:ea typeface="Arial"/>
                <a:cs typeface="Arial"/>
              </a:rPr>
              <a:t>C2 - Intern</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a:lnSpc>
          <a:spcPct val="90000"/>
        </a:lnSpc>
        <a:spcBef>
          <a:spcPct val="0"/>
        </a:spcBef>
        <a:buNone/>
        <a:defRPr sz="4000" b="0" kern="1200">
          <a:solidFill>
            <a:schemeClr val="tx1"/>
          </a:solidFill>
          <a:latin typeface="+mj-lt"/>
          <a:ea typeface="+mj-lt"/>
          <a:cs typeface="+mj-lt"/>
        </a:defRPr>
      </a:lvl1pPr>
    </p:titleStyle>
    <p:bodyStyle>
      <a:lvl1pPr marL="228600" indent="-216000" algn="l" defTabSz="914400">
        <a:lnSpc>
          <a:spcPct val="100000"/>
        </a:lnSpc>
        <a:spcBef>
          <a:spcPts val="0"/>
        </a:spcBef>
        <a:spcAft>
          <a:spcPts val="1000"/>
        </a:spcAft>
        <a:buClr>
          <a:schemeClr val="accent1"/>
        </a:buClr>
        <a:buFont typeface="Arial"/>
        <a:buChar char="•"/>
        <a:defRPr sz="2400" kern="1200">
          <a:solidFill>
            <a:schemeClr val="tx1"/>
          </a:solidFill>
          <a:latin typeface="+mn-lt"/>
          <a:ea typeface="+mn-lt"/>
          <a:cs typeface="+mn-lt"/>
        </a:defRPr>
      </a:lvl1pPr>
      <a:lvl2pPr marL="432000" indent="-216000" algn="l" defTabSz="914400">
        <a:lnSpc>
          <a:spcPct val="100000"/>
        </a:lnSpc>
        <a:spcBef>
          <a:spcPts val="0"/>
        </a:spcBef>
        <a:spcAft>
          <a:spcPts val="1000"/>
        </a:spcAft>
        <a:buClr>
          <a:schemeClr val="accent1"/>
        </a:buClr>
        <a:buFont typeface="Arial"/>
        <a:buChar char="•"/>
        <a:defRPr sz="2400" kern="1200">
          <a:solidFill>
            <a:schemeClr val="tx1"/>
          </a:solidFill>
          <a:latin typeface="+mn-lt"/>
          <a:ea typeface="+mn-lt"/>
          <a:cs typeface="+mn-lt"/>
        </a:defRPr>
      </a:lvl2pPr>
      <a:lvl3pPr marL="648000" indent="-216000" algn="l" defTabSz="914400">
        <a:lnSpc>
          <a:spcPct val="100000"/>
        </a:lnSpc>
        <a:spcBef>
          <a:spcPts val="0"/>
        </a:spcBef>
        <a:spcAft>
          <a:spcPts val="1000"/>
        </a:spcAft>
        <a:buClr>
          <a:schemeClr val="accent1"/>
        </a:buClr>
        <a:buFont typeface="Arial"/>
        <a:buChar char="•"/>
        <a:defRPr sz="2400" kern="1200">
          <a:solidFill>
            <a:schemeClr val="tx1"/>
          </a:solidFill>
          <a:latin typeface="+mn-lt"/>
          <a:ea typeface="+mn-lt"/>
          <a:cs typeface="+mn-lt"/>
        </a:defRPr>
      </a:lvl3pPr>
      <a:lvl4pPr marL="864000" indent="-216000" algn="l" defTabSz="914400">
        <a:lnSpc>
          <a:spcPct val="100000"/>
        </a:lnSpc>
        <a:spcBef>
          <a:spcPts val="0"/>
        </a:spcBef>
        <a:spcAft>
          <a:spcPts val="1000"/>
        </a:spcAft>
        <a:buClr>
          <a:schemeClr val="accent1"/>
        </a:buClr>
        <a:buFont typeface="Arial"/>
        <a:buChar char="•"/>
        <a:defRPr sz="2400" kern="1200">
          <a:solidFill>
            <a:schemeClr val="tx1"/>
          </a:solidFill>
          <a:latin typeface="+mn-lt"/>
          <a:ea typeface="+mn-lt"/>
          <a:cs typeface="+mn-lt"/>
        </a:defRPr>
      </a:lvl4pPr>
      <a:lvl5pPr marL="1080000" indent="-216000" algn="l" defTabSz="914400">
        <a:lnSpc>
          <a:spcPct val="100000"/>
        </a:lnSpc>
        <a:spcBef>
          <a:spcPts val="0"/>
        </a:spcBef>
        <a:spcAft>
          <a:spcPts val="1000"/>
        </a:spcAft>
        <a:buClr>
          <a:schemeClr val="accent1"/>
        </a:buClr>
        <a:buFont typeface="Arial"/>
        <a:buChar char="•"/>
        <a:defRPr sz="2400" kern="1200">
          <a:solidFill>
            <a:schemeClr val="tx1"/>
          </a:solidFill>
          <a:latin typeface="+mn-lt"/>
          <a:ea typeface="+mn-lt"/>
          <a:cs typeface="+mn-lt"/>
        </a:defRPr>
      </a:lvl5pPr>
      <a:lvl6pPr marL="1296000" indent="-216000" algn="l" defTabSz="914400">
        <a:lnSpc>
          <a:spcPct val="100000"/>
        </a:lnSpc>
        <a:spcBef>
          <a:spcPts val="0"/>
        </a:spcBef>
        <a:spcAft>
          <a:spcPts val="1000"/>
        </a:spcAft>
        <a:buClr>
          <a:schemeClr val="accent1"/>
        </a:buClr>
        <a:buFont typeface="Arial"/>
        <a:buChar char="•"/>
        <a:defRPr sz="2400" kern="1200">
          <a:solidFill>
            <a:schemeClr val="tx1"/>
          </a:solidFill>
          <a:latin typeface="+mn-lt"/>
          <a:ea typeface="+mn-lt"/>
          <a:cs typeface="+mn-lt"/>
        </a:defRPr>
      </a:lvl6pPr>
      <a:lvl7pPr marL="1512000" indent="-216000" algn="l" defTabSz="914400">
        <a:lnSpc>
          <a:spcPct val="100000"/>
        </a:lnSpc>
        <a:spcBef>
          <a:spcPts val="0"/>
        </a:spcBef>
        <a:spcAft>
          <a:spcPts val="1000"/>
        </a:spcAft>
        <a:buClr>
          <a:schemeClr val="accent1"/>
        </a:buClr>
        <a:buFont typeface="Arial"/>
        <a:buChar char="•"/>
        <a:defRPr sz="2400" kern="1200">
          <a:solidFill>
            <a:schemeClr val="tx1"/>
          </a:solidFill>
          <a:latin typeface="+mn-lt"/>
          <a:ea typeface="+mn-lt"/>
          <a:cs typeface="+mn-lt"/>
        </a:defRPr>
      </a:lvl7pPr>
      <a:lvl8pPr marL="1728000" indent="-216000" algn="l" defTabSz="914400">
        <a:lnSpc>
          <a:spcPct val="100000"/>
        </a:lnSpc>
        <a:spcBef>
          <a:spcPts val="0"/>
        </a:spcBef>
        <a:spcAft>
          <a:spcPts val="1000"/>
        </a:spcAft>
        <a:buClr>
          <a:schemeClr val="accent1"/>
        </a:buClr>
        <a:buFont typeface="Arial"/>
        <a:buChar char="•"/>
        <a:defRPr sz="2400" kern="1200">
          <a:solidFill>
            <a:schemeClr val="tx1"/>
          </a:solidFill>
          <a:latin typeface="+mn-lt"/>
          <a:ea typeface="+mn-lt"/>
          <a:cs typeface="+mn-lt"/>
        </a:defRPr>
      </a:lvl8pPr>
      <a:lvl9pPr marL="1944000" indent="-216000" algn="l" defTabSz="914400">
        <a:lnSpc>
          <a:spcPct val="100000"/>
        </a:lnSpc>
        <a:spcBef>
          <a:spcPts val="0"/>
        </a:spcBef>
        <a:spcAft>
          <a:spcPts val="1000"/>
        </a:spcAft>
        <a:buClr>
          <a:schemeClr val="accent1"/>
        </a:buClr>
        <a:buFont typeface="Arial"/>
        <a:buChar char="•"/>
        <a:defRPr sz="24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orient="horz" pos="3884" userDrawn="1">
          <p15:clr>
            <a:srgbClr val="F26B43"/>
          </p15:clr>
        </p15:guide>
        <p15:guide id="2" pos="7378" userDrawn="1">
          <p15:clr>
            <a:srgbClr val="F26B43"/>
          </p15:clr>
        </p15:guide>
        <p15:guide id="3" pos="302" userDrawn="1">
          <p15:clr>
            <a:srgbClr val="F26B43"/>
          </p15:clr>
        </p15:guide>
        <p15:guide id="4" orient="horz" pos="890" userDrawn="1">
          <p15:clr>
            <a:srgbClr val="F26B43"/>
          </p15:clr>
        </p15:guide>
        <p15:guide id="5" pos="3840" userDrawn="1">
          <p15:clr>
            <a:srgbClr val="F26B43"/>
          </p15:clr>
        </p15:guide>
        <p15:guide id="6" pos="3772" userDrawn="1">
          <p15:clr>
            <a:srgbClr val="F26B43"/>
          </p15:clr>
        </p15:guide>
        <p15:guide id="7" pos="3908" userDrawn="1">
          <p15:clr>
            <a:srgbClr val="F26B43"/>
          </p15:clr>
        </p15:guide>
        <p15:guide id="8" orient="horz" pos="2387"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6356A49E-A7FB-3248-E4BF-2359434FBE83}"/>
              </a:ext>
            </a:extLst>
          </p:cNvPr>
          <p:cNvSpPr>
            <a:spLocks noGrp="1"/>
          </p:cNvSpPr>
          <p:nvPr>
            <p:ph type="dt" idx="10"/>
          </p:nvPr>
        </p:nvSpPr>
        <p:spPr/>
        <p:txBody>
          <a:bodyPr/>
          <a:lstStyle/>
          <a:p>
            <a:fld id="{63C4474F-84D2-49E0-A6C4-5163AC122E4E}" type="datetime1">
              <a:rPr/>
              <a:t>06.08.2026</a:t>
            </a:fld>
            <a:endParaRPr/>
          </a:p>
        </p:txBody>
      </p:sp>
      <p:sp>
        <p:nvSpPr>
          <p:cNvPr id="3" name="Foliennummernplatzhalter 2">
            <a:extLst>
              <a:ext uri="{FF2B5EF4-FFF2-40B4-BE49-F238E27FC236}">
                <a16:creationId xmlns:a16="http://schemas.microsoft.com/office/drawing/2014/main" id="{E1209A0F-9C79-AE64-1D28-D08B52F48AD5}"/>
              </a:ext>
            </a:extLst>
          </p:cNvPr>
          <p:cNvSpPr>
            <a:spLocks noGrp="1"/>
          </p:cNvSpPr>
          <p:nvPr>
            <p:ph type="sldNum" idx="12"/>
          </p:nvPr>
        </p:nvSpPr>
        <p:spPr/>
        <p:txBody>
          <a:bodyPr/>
          <a:lstStyle/>
          <a:p>
            <a:fld id="{CE7E00E2-F08D-429A-AD9B-1ECBEC02F4DB}" type="slidenum">
              <a:rPr/>
              <a:t>1</a:t>
            </a:fld>
            <a:endParaRPr/>
          </a:p>
        </p:txBody>
      </p:sp>
      <p:sp>
        <p:nvSpPr>
          <p:cNvPr id="4" name="Titel 3">
            <a:extLst>
              <a:ext uri="{FF2B5EF4-FFF2-40B4-BE49-F238E27FC236}">
                <a16:creationId xmlns:a16="http://schemas.microsoft.com/office/drawing/2014/main" id="{78FAA1D1-324E-0EA2-765F-7F46098D755D}"/>
              </a:ext>
            </a:extLst>
          </p:cNvPr>
          <p:cNvSpPr>
            <a:spLocks noGrp="1"/>
          </p:cNvSpPr>
          <p:nvPr>
            <p:ph type="ctrTitle"/>
          </p:nvPr>
        </p:nvSpPr>
        <p:spPr/>
        <p:txBody>
          <a:bodyPr/>
          <a:lstStyle/>
          <a:p>
            <a:r>
              <a:t>Retrieval-Augmented Generator (RAG)</a:t>
            </a:r>
          </a:p>
        </p:txBody>
      </p:sp>
      <p:sp>
        <p:nvSpPr>
          <p:cNvPr id="5" name="Untertitel 4">
            <a:extLst>
              <a:ext uri="{FF2B5EF4-FFF2-40B4-BE49-F238E27FC236}">
                <a16:creationId xmlns:a16="http://schemas.microsoft.com/office/drawing/2014/main" id="{D69D0109-64FB-469A-21A2-18B28B22B835}"/>
              </a:ext>
            </a:extLst>
          </p:cNvPr>
          <p:cNvSpPr>
            <a:spLocks noGrp="1"/>
          </p:cNvSpPr>
          <p:nvPr>
            <p:ph type="subTitle" idx="1"/>
          </p:nvPr>
        </p:nvSpPr>
        <p:spPr>
          <a:xfrm>
            <a:off x="498765" y="5997777"/>
            <a:ext cx="6148215" cy="514351"/>
          </a:xfrm>
        </p:spPr>
        <p:txBody>
          <a:bodyPr/>
          <a:lstStyle/>
          <a:p>
            <a:r>
              <a:t>21.08.2026</a:t>
            </a:r>
          </a:p>
        </p:txBody>
      </p:sp>
      <p:sp>
        <p:nvSpPr>
          <p:cNvPr id="6" name="Untertitel 4">
            <a:extLst>
              <a:ext uri="{FF2B5EF4-FFF2-40B4-BE49-F238E27FC236}">
                <a16:creationId xmlns:a16="http://schemas.microsoft.com/office/drawing/2014/main" id="{959EF613-4379-565F-1217-D18241F1CE9A}"/>
              </a:ext>
            </a:extLst>
          </p:cNvPr>
          <p:cNvSpPr>
            <a:spLocks noGrp="1"/>
          </p:cNvSpPr>
          <p:nvPr/>
        </p:nvSpPr>
        <p:spPr>
          <a:xfrm>
            <a:off x="498765" y="3660815"/>
            <a:ext cx="6148215" cy="514351"/>
          </a:xfrm>
          <a:prstGeom prst="rect">
            <a:avLst/>
          </a:prstGeom>
        </p:spPr>
        <p:txBody>
          <a:bodyPr vert="horz" lIns="0" tIns="0" rIns="0" bIns="0">
            <a:noAutofit/>
          </a:bodyPr>
          <a:lstStyle>
            <a:lvl1pPr marL="0" indent="0" algn="l" defTabSz="914400">
              <a:lnSpc>
                <a:spcPct val="100000"/>
              </a:lnSpc>
              <a:spcBef>
                <a:spcPts val="0"/>
              </a:spcBef>
              <a:spcAft>
                <a:spcPts val="1000"/>
              </a:spcAft>
              <a:buClr>
                <a:schemeClr val="accent1"/>
              </a:buClr>
              <a:buFont typeface="Arial"/>
              <a:buNone/>
              <a:defRPr sz="2600" b="0" kern="1200">
                <a:solidFill>
                  <a:srgbClr val="2D3F4B"/>
                </a:solidFill>
                <a:latin typeface="+mn-lt"/>
                <a:ea typeface="+mn-lt"/>
                <a:cs typeface="+mn-lt"/>
              </a:defRPr>
            </a:lvl1pPr>
            <a:lvl2pPr marL="457200" indent="0" algn="ctr" defTabSz="914400">
              <a:lnSpc>
                <a:spcPct val="100000"/>
              </a:lnSpc>
              <a:spcBef>
                <a:spcPts val="0"/>
              </a:spcBef>
              <a:spcAft>
                <a:spcPts val="1000"/>
              </a:spcAft>
              <a:buClr>
                <a:schemeClr val="accent1"/>
              </a:buClr>
              <a:buFont typeface="Arial"/>
              <a:buNone/>
              <a:defRPr sz="2000" kern="1200">
                <a:solidFill>
                  <a:schemeClr val="tx1"/>
                </a:solidFill>
                <a:latin typeface="+mn-lt"/>
                <a:ea typeface="+mn-lt"/>
                <a:cs typeface="+mn-lt"/>
              </a:defRPr>
            </a:lvl2pPr>
            <a:lvl3pPr marL="914400" indent="0" algn="ctr" defTabSz="914400">
              <a:lnSpc>
                <a:spcPct val="100000"/>
              </a:lnSpc>
              <a:spcBef>
                <a:spcPts val="0"/>
              </a:spcBef>
              <a:spcAft>
                <a:spcPts val="1000"/>
              </a:spcAft>
              <a:buClr>
                <a:schemeClr val="accent1"/>
              </a:buClr>
              <a:buFont typeface="Arial"/>
              <a:buNone/>
              <a:defRPr sz="1800" kern="1200">
                <a:solidFill>
                  <a:schemeClr val="tx1"/>
                </a:solidFill>
                <a:latin typeface="+mn-lt"/>
                <a:ea typeface="+mn-lt"/>
                <a:cs typeface="+mn-lt"/>
              </a:defRPr>
            </a:lvl3pPr>
            <a:lvl4pPr marL="1371600" indent="0" algn="ctr" defTabSz="914400">
              <a:lnSpc>
                <a:spcPct val="100000"/>
              </a:lnSpc>
              <a:spcBef>
                <a:spcPts val="0"/>
              </a:spcBef>
              <a:spcAft>
                <a:spcPts val="1000"/>
              </a:spcAft>
              <a:buClr>
                <a:schemeClr val="accent1"/>
              </a:buClr>
              <a:buFont typeface="Arial"/>
              <a:buNone/>
              <a:defRPr sz="1600" kern="1200">
                <a:solidFill>
                  <a:schemeClr val="tx1"/>
                </a:solidFill>
                <a:latin typeface="+mn-lt"/>
                <a:ea typeface="+mn-lt"/>
                <a:cs typeface="+mn-lt"/>
              </a:defRPr>
            </a:lvl4pPr>
            <a:lvl5pPr marL="1828800" indent="0" algn="ctr" defTabSz="914400">
              <a:lnSpc>
                <a:spcPct val="100000"/>
              </a:lnSpc>
              <a:spcBef>
                <a:spcPts val="0"/>
              </a:spcBef>
              <a:spcAft>
                <a:spcPts val="1000"/>
              </a:spcAft>
              <a:buClr>
                <a:schemeClr val="accent1"/>
              </a:buClr>
              <a:buFont typeface="Arial"/>
              <a:buNone/>
              <a:defRPr sz="1600" kern="1200">
                <a:solidFill>
                  <a:schemeClr val="tx1"/>
                </a:solidFill>
                <a:latin typeface="+mn-lt"/>
                <a:ea typeface="+mn-lt"/>
                <a:cs typeface="+mn-lt"/>
              </a:defRPr>
            </a:lvl5pPr>
            <a:lvl6pPr marL="2286000" indent="0" algn="ctr" defTabSz="914400">
              <a:lnSpc>
                <a:spcPct val="100000"/>
              </a:lnSpc>
              <a:spcBef>
                <a:spcPts val="0"/>
              </a:spcBef>
              <a:spcAft>
                <a:spcPts val="1000"/>
              </a:spcAft>
              <a:buClr>
                <a:schemeClr val="accent1"/>
              </a:buClr>
              <a:buFont typeface="Arial"/>
              <a:buNone/>
              <a:defRPr sz="1600" kern="1200">
                <a:solidFill>
                  <a:schemeClr val="tx1"/>
                </a:solidFill>
                <a:latin typeface="+mn-lt"/>
                <a:ea typeface="+mn-lt"/>
                <a:cs typeface="+mn-lt"/>
              </a:defRPr>
            </a:lvl6pPr>
            <a:lvl7pPr marL="2743200" indent="0" algn="ctr" defTabSz="914400">
              <a:lnSpc>
                <a:spcPct val="100000"/>
              </a:lnSpc>
              <a:spcBef>
                <a:spcPts val="0"/>
              </a:spcBef>
              <a:spcAft>
                <a:spcPts val="1000"/>
              </a:spcAft>
              <a:buClr>
                <a:schemeClr val="accent1"/>
              </a:buClr>
              <a:buFont typeface="Arial"/>
              <a:buNone/>
              <a:defRPr sz="1600" kern="1200">
                <a:solidFill>
                  <a:schemeClr val="tx1"/>
                </a:solidFill>
                <a:latin typeface="+mn-lt"/>
                <a:ea typeface="+mn-lt"/>
                <a:cs typeface="+mn-lt"/>
              </a:defRPr>
            </a:lvl7pPr>
            <a:lvl8pPr marL="3200400" indent="0" algn="ctr" defTabSz="914400">
              <a:lnSpc>
                <a:spcPct val="100000"/>
              </a:lnSpc>
              <a:spcBef>
                <a:spcPts val="0"/>
              </a:spcBef>
              <a:spcAft>
                <a:spcPts val="1000"/>
              </a:spcAft>
              <a:buClr>
                <a:schemeClr val="accent1"/>
              </a:buClr>
              <a:buFont typeface="Arial"/>
              <a:buNone/>
              <a:defRPr sz="1600" kern="1200">
                <a:solidFill>
                  <a:schemeClr val="tx1"/>
                </a:solidFill>
                <a:latin typeface="+mn-lt"/>
                <a:ea typeface="+mn-lt"/>
                <a:cs typeface="+mn-lt"/>
              </a:defRPr>
            </a:lvl8pPr>
            <a:lvl9pPr marL="3657600" indent="0" algn="ctr" defTabSz="914400">
              <a:lnSpc>
                <a:spcPct val="100000"/>
              </a:lnSpc>
              <a:spcBef>
                <a:spcPts val="0"/>
              </a:spcBef>
              <a:spcAft>
                <a:spcPts val="1000"/>
              </a:spcAft>
              <a:buClr>
                <a:schemeClr val="accent1"/>
              </a:buClr>
              <a:buFont typeface="Arial"/>
              <a:buNone/>
              <a:defRPr sz="1600" kern="1200">
                <a:solidFill>
                  <a:schemeClr val="tx1"/>
                </a:solidFill>
                <a:latin typeface="+mn-lt"/>
                <a:ea typeface="+mn-lt"/>
                <a:cs typeface="+mn-lt"/>
              </a:defRPr>
            </a:lvl9pPr>
          </a:lstStyle>
          <a:p>
            <a:r>
              <a:t>Bau eines eigenen Knowledge-Workers</a:t>
            </a:r>
          </a:p>
        </p:txBody>
      </p:sp>
    </p:spTree>
    <p:extLst>
      <p:ext uri="{BB962C8B-B14F-4D97-AF65-F5344CB8AC3E}">
        <p14:creationId xmlns:p14="http://schemas.microsoft.com/office/powerpoint/2010/main" val="10870274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9094C33-2981-40AC-B5F4-99FA7317951F}"/>
              </a:ext>
            </a:extLst>
          </p:cNvPr>
          <p:cNvSpPr>
            <a:spLocks noGrp="1"/>
          </p:cNvSpPr>
          <p:nvPr>
            <p:ph type="title"/>
          </p:nvPr>
        </p:nvSpPr>
        <p:spPr/>
        <p:txBody>
          <a:bodyPr/>
          <a:lstStyle/>
          <a:p>
            <a:r>
              <a:t>Agenda</a:t>
            </a:r>
          </a:p>
        </p:txBody>
      </p:sp>
      <p:sp>
        <p:nvSpPr>
          <p:cNvPr id="3" name="Datumsplatzhalter 2">
            <a:extLst>
              <a:ext uri="{FF2B5EF4-FFF2-40B4-BE49-F238E27FC236}">
                <a16:creationId xmlns:a16="http://schemas.microsoft.com/office/drawing/2014/main" id="{B23EB426-CAE8-404D-9C8B-8514661C9CD8}"/>
              </a:ext>
            </a:extLst>
          </p:cNvPr>
          <p:cNvSpPr>
            <a:spLocks noGrp="1"/>
          </p:cNvSpPr>
          <p:nvPr>
            <p:ph type="dt" idx="10"/>
          </p:nvPr>
        </p:nvSpPr>
        <p:spPr/>
        <p:txBody>
          <a:bodyPr/>
          <a:lstStyle/>
          <a:p>
            <a:fld id="{E94A5EAB-87E9-4E72-ACDB-1A85F23C04B3}" type="datetime1">
              <a:t>06.08.2026</a:t>
            </a:fld>
            <a:endParaRPr/>
          </a:p>
        </p:txBody>
      </p:sp>
      <p:sp>
        <p:nvSpPr>
          <p:cNvPr id="5" name="Foliennummernplatzhalter 4">
            <a:extLst>
              <a:ext uri="{FF2B5EF4-FFF2-40B4-BE49-F238E27FC236}">
                <a16:creationId xmlns:a16="http://schemas.microsoft.com/office/drawing/2014/main" id="{49F0807D-3E16-4026-93BD-CC684EF42352}"/>
              </a:ext>
            </a:extLst>
          </p:cNvPr>
          <p:cNvSpPr>
            <a:spLocks noGrp="1"/>
          </p:cNvSpPr>
          <p:nvPr>
            <p:ph type="sldNum" idx="12"/>
          </p:nvPr>
        </p:nvSpPr>
        <p:spPr/>
        <p:txBody>
          <a:bodyPr/>
          <a:lstStyle/>
          <a:p>
            <a:fld id="{CE7E00E2-F08D-429A-AD9B-1ECBEC02F4DB}" type="slidenum">
              <a:t>2</a:t>
            </a:fld>
            <a:endParaRPr/>
          </a:p>
        </p:txBody>
      </p:sp>
      <p:sp>
        <p:nvSpPr>
          <p:cNvPr id="12" name="Inhaltsplatzhalter 11">
            <a:extLst>
              <a:ext uri="{FF2B5EF4-FFF2-40B4-BE49-F238E27FC236}">
                <a16:creationId xmlns:a16="http://schemas.microsoft.com/office/drawing/2014/main" id="{B71FC5D9-A85C-E390-34D7-E0121E3AA951}"/>
              </a:ext>
            </a:extLst>
          </p:cNvPr>
          <p:cNvSpPr>
            <a:spLocks noGrp="1"/>
          </p:cNvSpPr>
          <p:nvPr>
            <p:ph idx="13"/>
          </p:nvPr>
        </p:nvSpPr>
        <p:spPr/>
        <p:txBody>
          <a:bodyPr/>
          <a:lstStyle/>
          <a:p>
            <a:r>
              <a:t>Warum RAG?</a:t>
            </a:r>
          </a:p>
          <a:p>
            <a:r>
              <a:t>Hands-on: Vom Setup zur ersten belegbaren Antwort</a:t>
            </a:r>
          </a:p>
          <a:p>
            <a:r>
              <a:t>Advanced RAG</a:t>
            </a:r>
          </a:p>
          <a:p>
            <a:pPr lvl="1">
              <a:buNone/>
            </a:pPr>
            <a:r>
              <a:t>Semantic Chunking</a:t>
            </a:r>
          </a:p>
          <a:p>
            <a:pPr lvl="1">
              <a:buNone/>
            </a:pPr>
            <a:r>
              <a:t>Reranking</a:t>
            </a:r>
          </a:p>
          <a:p>
            <a:pPr lvl="1">
              <a:buNone/>
            </a:pPr>
            <a:r>
              <a:t>Hybrid GraphRAG</a:t>
            </a:r>
          </a:p>
        </p:txBody>
      </p:sp>
    </p:spTree>
    <p:extLst>
      <p:ext uri="{BB962C8B-B14F-4D97-AF65-F5344CB8AC3E}">
        <p14:creationId xmlns:p14="http://schemas.microsoft.com/office/powerpoint/2010/main" val="8089885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03D878DE-8F63-0475-B197-61BD6F2D91FF}"/>
              </a:ext>
            </a:extLst>
          </p:cNvPr>
          <p:cNvSpPr>
            <a:spLocks noGrp="1"/>
          </p:cNvSpPr>
          <p:nvPr>
            <p:ph type="dt" idx="10"/>
          </p:nvPr>
        </p:nvSpPr>
        <p:spPr/>
        <p:txBody>
          <a:bodyPr/>
          <a:lstStyle/>
          <a:p>
            <a:fld id="{E668D7D0-CB17-47D3-88E8-EDADFD5EAF7A}" type="datetime1">
              <a:t>06.08.2026</a:t>
            </a:fld>
            <a:endParaRPr/>
          </a:p>
        </p:txBody>
      </p:sp>
      <p:sp>
        <p:nvSpPr>
          <p:cNvPr id="3" name="Foliennummernplatzhalter 2">
            <a:extLst>
              <a:ext uri="{FF2B5EF4-FFF2-40B4-BE49-F238E27FC236}">
                <a16:creationId xmlns:a16="http://schemas.microsoft.com/office/drawing/2014/main" id="{F9F7C252-816A-D980-DB84-88CB5D5B36BA}"/>
              </a:ext>
            </a:extLst>
          </p:cNvPr>
          <p:cNvSpPr>
            <a:spLocks noGrp="1"/>
          </p:cNvSpPr>
          <p:nvPr>
            <p:ph type="sldNum" idx="12"/>
          </p:nvPr>
        </p:nvSpPr>
        <p:spPr/>
        <p:txBody>
          <a:bodyPr/>
          <a:lstStyle/>
          <a:p>
            <a:fld id="{CE7E00E2-F08D-429A-AD9B-1ECBEC02F4DB}" type="slidenum">
              <a:t>3</a:t>
            </a:fld>
            <a:endParaRPr/>
          </a:p>
        </p:txBody>
      </p:sp>
      <p:sp>
        <p:nvSpPr>
          <p:cNvPr id="4" name="Titel 3">
            <a:extLst>
              <a:ext uri="{FF2B5EF4-FFF2-40B4-BE49-F238E27FC236}">
                <a16:creationId xmlns:a16="http://schemas.microsoft.com/office/drawing/2014/main" id="{A6314273-9D22-3EB7-A282-5FB7F42EB6BE}"/>
              </a:ext>
            </a:extLst>
          </p:cNvPr>
          <p:cNvSpPr>
            <a:spLocks noGrp="1"/>
          </p:cNvSpPr>
          <p:nvPr>
            <p:ph type="title"/>
          </p:nvPr>
        </p:nvSpPr>
        <p:spPr/>
        <p:txBody>
          <a:bodyPr/>
          <a:lstStyle/>
          <a:p>
            <a:r>
              <a:t>Was ist RAG?</a:t>
            </a:r>
          </a:p>
        </p:txBody>
      </p:sp>
    </p:spTree>
    <p:extLst>
      <p:ext uri="{BB962C8B-B14F-4D97-AF65-F5344CB8AC3E}">
        <p14:creationId xmlns:p14="http://schemas.microsoft.com/office/powerpoint/2010/main" val="13244282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2F52070-1662-6927-D2DA-52FF2044003A}"/>
              </a:ext>
            </a:extLst>
          </p:cNvPr>
          <p:cNvSpPr>
            <a:spLocks noGrp="1"/>
          </p:cNvSpPr>
          <p:nvPr>
            <p:ph type="title"/>
          </p:nvPr>
        </p:nvSpPr>
        <p:spPr/>
        <p:txBody>
          <a:bodyPr/>
          <a:lstStyle/>
          <a:p>
            <a:r>
              <a:t>Reine LLMs haben drei blinde Flecken</a:t>
            </a:r>
          </a:p>
        </p:txBody>
      </p:sp>
      <p:sp>
        <p:nvSpPr>
          <p:cNvPr id="3" name="Datumsplatzhalter 2">
            <a:extLst>
              <a:ext uri="{FF2B5EF4-FFF2-40B4-BE49-F238E27FC236}">
                <a16:creationId xmlns:a16="http://schemas.microsoft.com/office/drawing/2014/main" id="{4714DF5E-5D96-422E-FDA3-998AF93BFBB2}"/>
              </a:ext>
            </a:extLst>
          </p:cNvPr>
          <p:cNvSpPr>
            <a:spLocks noGrp="1"/>
          </p:cNvSpPr>
          <p:nvPr>
            <p:ph type="dt" idx="10"/>
          </p:nvPr>
        </p:nvSpPr>
        <p:spPr/>
        <p:txBody>
          <a:bodyPr/>
          <a:lstStyle/>
          <a:p>
            <a:fld id="{3B96E7C6-F2CE-4756-8C9C-414CDB636DDE}" type="datetime1">
              <a:t>06.08.2026</a:t>
            </a:fld>
            <a:endParaRPr/>
          </a:p>
        </p:txBody>
      </p:sp>
      <p:sp>
        <p:nvSpPr>
          <p:cNvPr id="4" name="Foliennummernplatzhalter 3">
            <a:extLst>
              <a:ext uri="{FF2B5EF4-FFF2-40B4-BE49-F238E27FC236}">
                <a16:creationId xmlns:a16="http://schemas.microsoft.com/office/drawing/2014/main" id="{B0D2CD25-C80B-A392-B1FA-5D751401F2D6}"/>
              </a:ext>
            </a:extLst>
          </p:cNvPr>
          <p:cNvSpPr>
            <a:spLocks noGrp="1"/>
          </p:cNvSpPr>
          <p:nvPr>
            <p:ph type="sldNum" idx="12"/>
          </p:nvPr>
        </p:nvSpPr>
        <p:spPr/>
        <p:txBody>
          <a:bodyPr/>
          <a:lstStyle/>
          <a:p>
            <a:fld id="{CE7E00E2-F08D-429A-AD9B-1ECBEC02F4DB}" type="slidenum">
              <a:t>4</a:t>
            </a:fld>
            <a:endParaRPr/>
          </a:p>
        </p:txBody>
      </p:sp>
      <p:sp>
        <p:nvSpPr>
          <p:cNvPr id="13" name="Rechteck: abgerundete Ecken 12">
            <a:extLst>
              <a:ext uri="{FF2B5EF4-FFF2-40B4-BE49-F238E27FC236}">
                <a16:creationId xmlns:a16="http://schemas.microsoft.com/office/drawing/2014/main" id="{797F4028-9E88-DFF8-59A3-4989C742CFEE}"/>
              </a:ext>
            </a:extLst>
          </p:cNvPr>
          <p:cNvSpPr>
            <a:spLocks noGrp="1"/>
          </p:cNvSpPr>
          <p:nvPr/>
        </p:nvSpPr>
        <p:spPr>
          <a:xfrm>
            <a:off x="479422" y="3691487"/>
            <a:ext cx="3419475" cy="1787082"/>
          </a:xfrm>
          <a:prstGeom prst="round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19" name="Freihandform: Form 18">
            <a:extLst>
              <a:ext uri="{FF2B5EF4-FFF2-40B4-BE49-F238E27FC236}">
                <a16:creationId xmlns:a16="http://schemas.microsoft.com/office/drawing/2014/main" id="{FDD353A0-3876-6DEA-BAAF-6DC9B0A930D7}"/>
              </a:ext>
            </a:extLst>
          </p:cNvPr>
          <p:cNvSpPr>
            <a:spLocks noGrp="1"/>
          </p:cNvSpPr>
          <p:nvPr/>
        </p:nvSpPr>
        <p:spPr>
          <a:xfrm>
            <a:off x="851632" y="3944070"/>
            <a:ext cx="241258" cy="307053"/>
          </a:xfrm>
          <a:custGeom>
            <a:avLst/>
            <a:gdLst>
              <a:gd name="connsiteX0" fmla="*/ 241256 w 241258"/>
              <a:gd name="connsiteY0" fmla="*/ 157913 h 307053"/>
              <a:gd name="connsiteX1" fmla="*/ 214937 w 241258"/>
              <a:gd name="connsiteY1" fmla="*/ 184232 h 307053"/>
              <a:gd name="connsiteX2" fmla="*/ 131594 w 241258"/>
              <a:gd name="connsiteY2" fmla="*/ 184232 h 307053"/>
              <a:gd name="connsiteX3" fmla="*/ 118435 w 241258"/>
              <a:gd name="connsiteY3" fmla="*/ 196953 h 307053"/>
              <a:gd name="connsiteX4" fmla="*/ 131594 w 241258"/>
              <a:gd name="connsiteY4" fmla="*/ 280735 h 307053"/>
              <a:gd name="connsiteX5" fmla="*/ 105276 w 241258"/>
              <a:gd name="connsiteY5" fmla="*/ 307054 h 307053"/>
              <a:gd name="connsiteX6" fmla="*/ 78957 w 241258"/>
              <a:gd name="connsiteY6" fmla="*/ 280735 h 307053"/>
              <a:gd name="connsiteX7" fmla="*/ 0 w 241258"/>
              <a:gd name="connsiteY7" fmla="*/ 175459 h 307053"/>
              <a:gd name="connsiteX8" fmla="*/ 0 w 241258"/>
              <a:gd name="connsiteY8" fmla="*/ 35092 h 307053"/>
              <a:gd name="connsiteX9" fmla="*/ 92116 w 241258"/>
              <a:gd name="connsiteY9" fmla="*/ 0 h 307053"/>
              <a:gd name="connsiteX10" fmla="*/ 171073 w 241258"/>
              <a:gd name="connsiteY10" fmla="*/ 0 h 307053"/>
              <a:gd name="connsiteX11" fmla="*/ 197392 w 241258"/>
              <a:gd name="connsiteY11" fmla="*/ 26319 h 307053"/>
              <a:gd name="connsiteX12" fmla="*/ 190373 w 241258"/>
              <a:gd name="connsiteY12" fmla="*/ 43865 h 307053"/>
              <a:gd name="connsiteX13" fmla="*/ 193005 w 241258"/>
              <a:gd name="connsiteY13" fmla="*/ 43865 h 307053"/>
              <a:gd name="connsiteX14" fmla="*/ 219324 w 241258"/>
              <a:gd name="connsiteY14" fmla="*/ 70184 h 307053"/>
              <a:gd name="connsiteX15" fmla="*/ 211867 w 241258"/>
              <a:gd name="connsiteY15" fmla="*/ 88607 h 307053"/>
              <a:gd name="connsiteX16" fmla="*/ 231886 w 241258"/>
              <a:gd name="connsiteY16" fmla="*/ 119757 h 307053"/>
              <a:gd name="connsiteX17" fmla="*/ 224149 w 241258"/>
              <a:gd name="connsiteY17" fmla="*/ 133349 h 307053"/>
              <a:gd name="connsiteX18" fmla="*/ 241256 w 241258"/>
              <a:gd name="connsiteY18" fmla="*/ 157913 h 307053"/>
            </a:gdLst>
            <a:ahLst/>
            <a:cxnLst/>
            <a:rect l="l" t="t" r="r" b="b"/>
            <a:pathLst>
              <a:path w="241258" h="307053">
                <a:moveTo>
                  <a:pt x="241256" y="157913"/>
                </a:moveTo>
                <a:cubicBezTo>
                  <a:pt x="241213" y="172431"/>
                  <a:pt x="229455" y="184189"/>
                  <a:pt x="214937" y="184232"/>
                </a:cubicBezTo>
                <a:lnTo>
                  <a:pt x="131594" y="184232"/>
                </a:lnTo>
                <a:cubicBezTo>
                  <a:pt x="124547" y="184356"/>
                  <a:pt x="118798" y="189914"/>
                  <a:pt x="118435" y="196953"/>
                </a:cubicBezTo>
                <a:cubicBezTo>
                  <a:pt x="118874" y="204849"/>
                  <a:pt x="131594" y="220640"/>
                  <a:pt x="131594" y="280735"/>
                </a:cubicBezTo>
                <a:cubicBezTo>
                  <a:pt x="131594" y="295270"/>
                  <a:pt x="119811" y="307054"/>
                  <a:pt x="105276" y="307054"/>
                </a:cubicBezTo>
                <a:cubicBezTo>
                  <a:pt x="90740" y="307054"/>
                  <a:pt x="78957" y="295270"/>
                  <a:pt x="78957" y="280735"/>
                </a:cubicBezTo>
                <a:cubicBezTo>
                  <a:pt x="78957" y="214060"/>
                  <a:pt x="1316" y="176336"/>
                  <a:pt x="0" y="175459"/>
                </a:cubicBezTo>
                <a:lnTo>
                  <a:pt x="0" y="35092"/>
                </a:lnTo>
                <a:cubicBezTo>
                  <a:pt x="31144" y="35092"/>
                  <a:pt x="33337" y="0"/>
                  <a:pt x="92116" y="0"/>
                </a:cubicBezTo>
                <a:lnTo>
                  <a:pt x="171073" y="0"/>
                </a:lnTo>
                <a:cubicBezTo>
                  <a:pt x="185590" y="43"/>
                  <a:pt x="197348" y="11801"/>
                  <a:pt x="197392" y="26319"/>
                </a:cubicBezTo>
                <a:cubicBezTo>
                  <a:pt x="197493" y="32871"/>
                  <a:pt x="194965" y="39191"/>
                  <a:pt x="190373" y="43865"/>
                </a:cubicBezTo>
                <a:lnTo>
                  <a:pt x="193005" y="43865"/>
                </a:lnTo>
                <a:cubicBezTo>
                  <a:pt x="207523" y="43908"/>
                  <a:pt x="219281" y="55666"/>
                  <a:pt x="219324" y="70184"/>
                </a:cubicBezTo>
                <a:cubicBezTo>
                  <a:pt x="219389" y="77073"/>
                  <a:pt x="216706" y="83703"/>
                  <a:pt x="211867" y="88607"/>
                </a:cubicBezTo>
                <a:cubicBezTo>
                  <a:pt x="225997" y="91680"/>
                  <a:pt x="234960" y="105627"/>
                  <a:pt x="231886" y="119757"/>
                </a:cubicBezTo>
                <a:cubicBezTo>
                  <a:pt x="230752" y="124970"/>
                  <a:pt x="228053" y="129712"/>
                  <a:pt x="224149" y="133349"/>
                </a:cubicBezTo>
                <a:cubicBezTo>
                  <a:pt x="234515" y="137040"/>
                  <a:pt x="241389" y="146911"/>
                  <a:pt x="241256" y="157913"/>
                </a:cubicBezTo>
                <a:close/>
              </a:path>
            </a:pathLst>
          </a:custGeom>
          <a:solidFill>
            <a:schemeClr val="accent1"/>
          </a:solidFill>
          <a:ln w="4366">
            <a:noFill/>
            <a:prstDash val="solid"/>
          </a:ln>
        </p:spPr>
        <p:txBody>
          <a:bodyPr anchor="ctr"/>
          <a:lstStyle/>
          <a:p>
            <a:endParaRPr/>
          </a:p>
        </p:txBody>
      </p:sp>
      <p:sp>
        <p:nvSpPr>
          <p:cNvPr id="20" name="Freihandform: Form 19">
            <a:extLst>
              <a:ext uri="{FF2B5EF4-FFF2-40B4-BE49-F238E27FC236}">
                <a16:creationId xmlns:a16="http://schemas.microsoft.com/office/drawing/2014/main" id="{A18E493B-39B2-29A4-66E9-31F0F1B9F430}"/>
              </a:ext>
            </a:extLst>
          </p:cNvPr>
          <p:cNvSpPr>
            <a:spLocks noGrp="1"/>
          </p:cNvSpPr>
          <p:nvPr/>
        </p:nvSpPr>
        <p:spPr>
          <a:xfrm>
            <a:off x="741970" y="3957229"/>
            <a:ext cx="83343" cy="184232"/>
          </a:xfrm>
          <a:custGeom>
            <a:avLst/>
            <a:gdLst>
              <a:gd name="connsiteX0" fmla="*/ 65797 w 83343"/>
              <a:gd name="connsiteY0" fmla="*/ 184232 h 184232"/>
              <a:gd name="connsiteX1" fmla="*/ 0 w 83343"/>
              <a:gd name="connsiteY1" fmla="*/ 184232 h 184232"/>
              <a:gd name="connsiteX2" fmla="*/ 0 w 83343"/>
              <a:gd name="connsiteY2" fmla="*/ 0 h 184232"/>
              <a:gd name="connsiteX3" fmla="*/ 65797 w 83343"/>
              <a:gd name="connsiteY3" fmla="*/ 0 h 184232"/>
              <a:gd name="connsiteX4" fmla="*/ 83343 w 83343"/>
              <a:gd name="connsiteY4" fmla="*/ 17546 h 184232"/>
              <a:gd name="connsiteX5" fmla="*/ 83343 w 83343"/>
              <a:gd name="connsiteY5" fmla="*/ 166686 h 184232"/>
              <a:gd name="connsiteX6" fmla="*/ 65797 w 83343"/>
              <a:gd name="connsiteY6" fmla="*/ 184232 h 184232"/>
            </a:gdLst>
            <a:ahLst/>
            <a:cxnLst/>
            <a:rect l="l" t="t" r="r" b="b"/>
            <a:pathLst>
              <a:path w="83343" h="184232">
                <a:moveTo>
                  <a:pt x="65797" y="184232"/>
                </a:moveTo>
                <a:lnTo>
                  <a:pt x="0" y="184232"/>
                </a:lnTo>
                <a:lnTo>
                  <a:pt x="0" y="0"/>
                </a:lnTo>
                <a:lnTo>
                  <a:pt x="65797" y="0"/>
                </a:lnTo>
                <a:cubicBezTo>
                  <a:pt x="75476" y="29"/>
                  <a:pt x="83314" y="7868"/>
                  <a:pt x="83343" y="17546"/>
                </a:cubicBezTo>
                <a:lnTo>
                  <a:pt x="83343" y="166686"/>
                </a:lnTo>
                <a:cubicBezTo>
                  <a:pt x="83314" y="176365"/>
                  <a:pt x="75476" y="184203"/>
                  <a:pt x="65797" y="184232"/>
                </a:cubicBezTo>
                <a:close/>
              </a:path>
            </a:pathLst>
          </a:custGeom>
          <a:solidFill>
            <a:schemeClr val="accent1"/>
          </a:solidFill>
          <a:ln w="4366">
            <a:noFill/>
            <a:prstDash val="solid"/>
          </a:ln>
        </p:spPr>
        <p:txBody>
          <a:bodyPr anchor="ctr"/>
          <a:lstStyle/>
          <a:p>
            <a:endParaRPr/>
          </a:p>
        </p:txBody>
      </p:sp>
      <p:sp>
        <p:nvSpPr>
          <p:cNvPr id="14" name="Textfeld 13">
            <a:extLst>
              <a:ext uri="{FF2B5EF4-FFF2-40B4-BE49-F238E27FC236}">
                <a16:creationId xmlns:a16="http://schemas.microsoft.com/office/drawing/2014/main" id="{E93D2C4F-4FC9-C777-EA35-D3E134919806}"/>
              </a:ext>
            </a:extLst>
          </p:cNvPr>
          <p:cNvSpPr>
            <a:spLocks noGrp="1"/>
          </p:cNvSpPr>
          <p:nvPr/>
        </p:nvSpPr>
        <p:spPr>
          <a:xfrm>
            <a:off x="479421" y="3885374"/>
            <a:ext cx="3419476" cy="307777"/>
          </a:xfrm>
          <a:prstGeom prst="rect">
            <a:avLst/>
          </a:prstGeom>
          <a:noFill/>
        </p:spPr>
        <p:txBody>
          <a:bodyPr wrap="square" lIns="0" tIns="0" rIns="0" bIns="0">
            <a:spAutoFit/>
          </a:bodyPr>
          <a:lstStyle/>
          <a:p>
            <a:pPr algn="ctr">
              <a:buNone/>
            </a:pPr>
            <a:r>
              <a:rPr sz="2000"/>
              <a:t>Wissensgrenze</a:t>
            </a:r>
          </a:p>
        </p:txBody>
      </p:sp>
      <p:sp>
        <p:nvSpPr>
          <p:cNvPr id="16" name="Gerader Verbinder 15">
            <a:extLst>
              <a:ext uri="{FF2B5EF4-FFF2-40B4-BE49-F238E27FC236}">
                <a16:creationId xmlns:a16="http://schemas.microsoft.com/office/drawing/2014/main" id="{0A221112-B59D-48FF-806F-1C46081B9200}"/>
              </a:ext>
            </a:extLst>
          </p:cNvPr>
          <p:cNvSpPr>
            <a:spLocks noGrp="1"/>
          </p:cNvSpPr>
          <p:nvPr/>
        </p:nvSpPr>
        <p:spPr>
          <a:xfrm>
            <a:off x="479423" y="4343473"/>
            <a:ext cx="34194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a:lstStyle/>
          <a:p>
            <a:endParaRPr lang="de-DE"/>
          </a:p>
        </p:txBody>
      </p:sp>
      <p:sp>
        <p:nvSpPr>
          <p:cNvPr id="17" name="Textfeld 16">
            <a:extLst>
              <a:ext uri="{FF2B5EF4-FFF2-40B4-BE49-F238E27FC236}">
                <a16:creationId xmlns:a16="http://schemas.microsoft.com/office/drawing/2014/main" id="{973C73B1-AAB1-044D-EB26-5B52AC2FC68A}"/>
              </a:ext>
            </a:extLst>
          </p:cNvPr>
          <p:cNvSpPr>
            <a:spLocks noGrp="1"/>
          </p:cNvSpPr>
          <p:nvPr/>
        </p:nvSpPr>
        <p:spPr>
          <a:xfrm>
            <a:off x="706879" y="4481349"/>
            <a:ext cx="3077719" cy="553998"/>
          </a:xfrm>
          <a:prstGeom prst="rect">
            <a:avLst/>
          </a:prstGeom>
          <a:noFill/>
        </p:spPr>
        <p:txBody>
          <a:bodyPr wrap="square" lIns="0" tIns="0" rIns="0" bIns="0">
            <a:spAutoFit/>
          </a:bodyPr>
          <a:lstStyle/>
          <a:p>
            <a:pPr algn="l">
              <a:buNone/>
            </a:pPr>
            <a:r>
              <a:t>Kein aktuelles Firmen- oder Domänenwissen im Modell</a:t>
            </a:r>
          </a:p>
        </p:txBody>
      </p:sp>
      <p:sp>
        <p:nvSpPr>
          <p:cNvPr id="23" name="Rechteck: abgerundete Ecken 22">
            <a:extLst>
              <a:ext uri="{FF2B5EF4-FFF2-40B4-BE49-F238E27FC236}">
                <a16:creationId xmlns:a16="http://schemas.microsoft.com/office/drawing/2014/main" id="{599277A3-F665-EF16-50EE-CA8F212E393E}"/>
              </a:ext>
            </a:extLst>
          </p:cNvPr>
          <p:cNvSpPr>
            <a:spLocks noGrp="1"/>
          </p:cNvSpPr>
          <p:nvPr/>
        </p:nvSpPr>
        <p:spPr>
          <a:xfrm>
            <a:off x="4434320" y="3714124"/>
            <a:ext cx="3419475" cy="1787083"/>
          </a:xfrm>
          <a:prstGeom prst="round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24" name="Freihandform: Form 23">
            <a:extLst>
              <a:ext uri="{FF2B5EF4-FFF2-40B4-BE49-F238E27FC236}">
                <a16:creationId xmlns:a16="http://schemas.microsoft.com/office/drawing/2014/main" id="{EDE60C2D-EF20-45EA-1582-841DC5872000}"/>
              </a:ext>
            </a:extLst>
          </p:cNvPr>
          <p:cNvSpPr>
            <a:spLocks noGrp="1"/>
          </p:cNvSpPr>
          <p:nvPr/>
        </p:nvSpPr>
        <p:spPr>
          <a:xfrm>
            <a:off x="4806530" y="3966707"/>
            <a:ext cx="241258" cy="307053"/>
          </a:xfrm>
          <a:custGeom>
            <a:avLst/>
            <a:gdLst>
              <a:gd name="connsiteX0" fmla="*/ 241256 w 241258"/>
              <a:gd name="connsiteY0" fmla="*/ 157913 h 307053"/>
              <a:gd name="connsiteX1" fmla="*/ 214937 w 241258"/>
              <a:gd name="connsiteY1" fmla="*/ 184232 h 307053"/>
              <a:gd name="connsiteX2" fmla="*/ 131594 w 241258"/>
              <a:gd name="connsiteY2" fmla="*/ 184232 h 307053"/>
              <a:gd name="connsiteX3" fmla="*/ 118435 w 241258"/>
              <a:gd name="connsiteY3" fmla="*/ 196953 h 307053"/>
              <a:gd name="connsiteX4" fmla="*/ 131594 w 241258"/>
              <a:gd name="connsiteY4" fmla="*/ 280735 h 307053"/>
              <a:gd name="connsiteX5" fmla="*/ 105276 w 241258"/>
              <a:gd name="connsiteY5" fmla="*/ 307054 h 307053"/>
              <a:gd name="connsiteX6" fmla="*/ 78957 w 241258"/>
              <a:gd name="connsiteY6" fmla="*/ 280735 h 307053"/>
              <a:gd name="connsiteX7" fmla="*/ 0 w 241258"/>
              <a:gd name="connsiteY7" fmla="*/ 175459 h 307053"/>
              <a:gd name="connsiteX8" fmla="*/ 0 w 241258"/>
              <a:gd name="connsiteY8" fmla="*/ 35092 h 307053"/>
              <a:gd name="connsiteX9" fmla="*/ 92116 w 241258"/>
              <a:gd name="connsiteY9" fmla="*/ 0 h 307053"/>
              <a:gd name="connsiteX10" fmla="*/ 171073 w 241258"/>
              <a:gd name="connsiteY10" fmla="*/ 0 h 307053"/>
              <a:gd name="connsiteX11" fmla="*/ 197392 w 241258"/>
              <a:gd name="connsiteY11" fmla="*/ 26319 h 307053"/>
              <a:gd name="connsiteX12" fmla="*/ 190373 w 241258"/>
              <a:gd name="connsiteY12" fmla="*/ 43865 h 307053"/>
              <a:gd name="connsiteX13" fmla="*/ 193005 w 241258"/>
              <a:gd name="connsiteY13" fmla="*/ 43865 h 307053"/>
              <a:gd name="connsiteX14" fmla="*/ 219324 w 241258"/>
              <a:gd name="connsiteY14" fmla="*/ 70184 h 307053"/>
              <a:gd name="connsiteX15" fmla="*/ 211867 w 241258"/>
              <a:gd name="connsiteY15" fmla="*/ 88607 h 307053"/>
              <a:gd name="connsiteX16" fmla="*/ 231886 w 241258"/>
              <a:gd name="connsiteY16" fmla="*/ 119757 h 307053"/>
              <a:gd name="connsiteX17" fmla="*/ 224149 w 241258"/>
              <a:gd name="connsiteY17" fmla="*/ 133349 h 307053"/>
              <a:gd name="connsiteX18" fmla="*/ 241256 w 241258"/>
              <a:gd name="connsiteY18" fmla="*/ 157913 h 307053"/>
            </a:gdLst>
            <a:ahLst/>
            <a:cxnLst/>
            <a:rect l="l" t="t" r="r" b="b"/>
            <a:pathLst>
              <a:path w="241258" h="307053">
                <a:moveTo>
                  <a:pt x="241256" y="157913"/>
                </a:moveTo>
                <a:cubicBezTo>
                  <a:pt x="241213" y="172431"/>
                  <a:pt x="229455" y="184189"/>
                  <a:pt x="214937" y="184232"/>
                </a:cubicBezTo>
                <a:lnTo>
                  <a:pt x="131594" y="184232"/>
                </a:lnTo>
                <a:cubicBezTo>
                  <a:pt x="124547" y="184356"/>
                  <a:pt x="118798" y="189914"/>
                  <a:pt x="118435" y="196953"/>
                </a:cubicBezTo>
                <a:cubicBezTo>
                  <a:pt x="118874" y="204849"/>
                  <a:pt x="131594" y="220640"/>
                  <a:pt x="131594" y="280735"/>
                </a:cubicBezTo>
                <a:cubicBezTo>
                  <a:pt x="131594" y="295270"/>
                  <a:pt x="119811" y="307054"/>
                  <a:pt x="105276" y="307054"/>
                </a:cubicBezTo>
                <a:cubicBezTo>
                  <a:pt x="90740" y="307054"/>
                  <a:pt x="78957" y="295270"/>
                  <a:pt x="78957" y="280735"/>
                </a:cubicBezTo>
                <a:cubicBezTo>
                  <a:pt x="78957" y="214060"/>
                  <a:pt x="1316" y="176336"/>
                  <a:pt x="0" y="175459"/>
                </a:cubicBezTo>
                <a:lnTo>
                  <a:pt x="0" y="35092"/>
                </a:lnTo>
                <a:cubicBezTo>
                  <a:pt x="31144" y="35092"/>
                  <a:pt x="33337" y="0"/>
                  <a:pt x="92116" y="0"/>
                </a:cubicBezTo>
                <a:lnTo>
                  <a:pt x="171073" y="0"/>
                </a:lnTo>
                <a:cubicBezTo>
                  <a:pt x="185590" y="43"/>
                  <a:pt x="197348" y="11801"/>
                  <a:pt x="197392" y="26319"/>
                </a:cubicBezTo>
                <a:cubicBezTo>
                  <a:pt x="197493" y="32871"/>
                  <a:pt x="194965" y="39191"/>
                  <a:pt x="190373" y="43865"/>
                </a:cubicBezTo>
                <a:lnTo>
                  <a:pt x="193005" y="43865"/>
                </a:lnTo>
                <a:cubicBezTo>
                  <a:pt x="207523" y="43908"/>
                  <a:pt x="219281" y="55666"/>
                  <a:pt x="219324" y="70184"/>
                </a:cubicBezTo>
                <a:cubicBezTo>
                  <a:pt x="219389" y="77073"/>
                  <a:pt x="216706" y="83703"/>
                  <a:pt x="211867" y="88607"/>
                </a:cubicBezTo>
                <a:cubicBezTo>
                  <a:pt x="225997" y="91680"/>
                  <a:pt x="234960" y="105627"/>
                  <a:pt x="231886" y="119757"/>
                </a:cubicBezTo>
                <a:cubicBezTo>
                  <a:pt x="230752" y="124970"/>
                  <a:pt x="228053" y="129712"/>
                  <a:pt x="224149" y="133349"/>
                </a:cubicBezTo>
                <a:cubicBezTo>
                  <a:pt x="234515" y="137040"/>
                  <a:pt x="241389" y="146911"/>
                  <a:pt x="241256" y="157913"/>
                </a:cubicBezTo>
                <a:close/>
              </a:path>
            </a:pathLst>
          </a:custGeom>
          <a:solidFill>
            <a:schemeClr val="accent1"/>
          </a:solidFill>
          <a:ln w="4366">
            <a:noFill/>
            <a:prstDash val="solid"/>
          </a:ln>
        </p:spPr>
        <p:txBody>
          <a:bodyPr anchor="ctr"/>
          <a:lstStyle/>
          <a:p>
            <a:endParaRPr/>
          </a:p>
        </p:txBody>
      </p:sp>
      <p:sp>
        <p:nvSpPr>
          <p:cNvPr id="25" name="Freihandform: Form 24">
            <a:extLst>
              <a:ext uri="{FF2B5EF4-FFF2-40B4-BE49-F238E27FC236}">
                <a16:creationId xmlns:a16="http://schemas.microsoft.com/office/drawing/2014/main" id="{59487533-4732-311E-C84E-A898BE247736}"/>
              </a:ext>
            </a:extLst>
          </p:cNvPr>
          <p:cNvSpPr>
            <a:spLocks noGrp="1"/>
          </p:cNvSpPr>
          <p:nvPr/>
        </p:nvSpPr>
        <p:spPr>
          <a:xfrm>
            <a:off x="4696868" y="3979866"/>
            <a:ext cx="83343" cy="184232"/>
          </a:xfrm>
          <a:custGeom>
            <a:avLst/>
            <a:gdLst>
              <a:gd name="connsiteX0" fmla="*/ 65797 w 83343"/>
              <a:gd name="connsiteY0" fmla="*/ 184232 h 184232"/>
              <a:gd name="connsiteX1" fmla="*/ 0 w 83343"/>
              <a:gd name="connsiteY1" fmla="*/ 184232 h 184232"/>
              <a:gd name="connsiteX2" fmla="*/ 0 w 83343"/>
              <a:gd name="connsiteY2" fmla="*/ 0 h 184232"/>
              <a:gd name="connsiteX3" fmla="*/ 65797 w 83343"/>
              <a:gd name="connsiteY3" fmla="*/ 0 h 184232"/>
              <a:gd name="connsiteX4" fmla="*/ 83343 w 83343"/>
              <a:gd name="connsiteY4" fmla="*/ 17546 h 184232"/>
              <a:gd name="connsiteX5" fmla="*/ 83343 w 83343"/>
              <a:gd name="connsiteY5" fmla="*/ 166686 h 184232"/>
              <a:gd name="connsiteX6" fmla="*/ 65797 w 83343"/>
              <a:gd name="connsiteY6" fmla="*/ 184232 h 184232"/>
            </a:gdLst>
            <a:ahLst/>
            <a:cxnLst/>
            <a:rect l="l" t="t" r="r" b="b"/>
            <a:pathLst>
              <a:path w="83343" h="184232">
                <a:moveTo>
                  <a:pt x="65797" y="184232"/>
                </a:moveTo>
                <a:lnTo>
                  <a:pt x="0" y="184232"/>
                </a:lnTo>
                <a:lnTo>
                  <a:pt x="0" y="0"/>
                </a:lnTo>
                <a:lnTo>
                  <a:pt x="65797" y="0"/>
                </a:lnTo>
                <a:cubicBezTo>
                  <a:pt x="75476" y="29"/>
                  <a:pt x="83314" y="7868"/>
                  <a:pt x="83343" y="17546"/>
                </a:cubicBezTo>
                <a:lnTo>
                  <a:pt x="83343" y="166686"/>
                </a:lnTo>
                <a:cubicBezTo>
                  <a:pt x="83314" y="176365"/>
                  <a:pt x="75476" y="184203"/>
                  <a:pt x="65797" y="184232"/>
                </a:cubicBezTo>
                <a:close/>
              </a:path>
            </a:pathLst>
          </a:custGeom>
          <a:solidFill>
            <a:schemeClr val="accent1"/>
          </a:solidFill>
          <a:ln w="4366">
            <a:noFill/>
            <a:prstDash val="solid"/>
          </a:ln>
        </p:spPr>
        <p:txBody>
          <a:bodyPr anchor="ctr"/>
          <a:lstStyle/>
          <a:p>
            <a:endParaRPr/>
          </a:p>
        </p:txBody>
      </p:sp>
      <p:sp>
        <p:nvSpPr>
          <p:cNvPr id="26" name="Textfeld 25">
            <a:extLst>
              <a:ext uri="{FF2B5EF4-FFF2-40B4-BE49-F238E27FC236}">
                <a16:creationId xmlns:a16="http://schemas.microsoft.com/office/drawing/2014/main" id="{33A179D0-D1FE-9237-BE5B-5A8A8DCE8F0E}"/>
              </a:ext>
            </a:extLst>
          </p:cNvPr>
          <p:cNvSpPr>
            <a:spLocks noGrp="1"/>
          </p:cNvSpPr>
          <p:nvPr/>
        </p:nvSpPr>
        <p:spPr>
          <a:xfrm>
            <a:off x="4434319" y="3908011"/>
            <a:ext cx="3419476" cy="307777"/>
          </a:xfrm>
          <a:prstGeom prst="rect">
            <a:avLst/>
          </a:prstGeom>
          <a:noFill/>
        </p:spPr>
        <p:txBody>
          <a:bodyPr wrap="square" lIns="0" tIns="0" rIns="0" bIns="0">
            <a:spAutoFit/>
          </a:bodyPr>
          <a:lstStyle/>
          <a:p>
            <a:pPr algn="ctr">
              <a:buNone/>
            </a:pPr>
            <a:r>
              <a:rPr sz="2000"/>
              <a:t>Keine Belege</a:t>
            </a:r>
          </a:p>
        </p:txBody>
      </p:sp>
      <p:sp>
        <p:nvSpPr>
          <p:cNvPr id="27" name="Gerader Verbinder 26">
            <a:extLst>
              <a:ext uri="{FF2B5EF4-FFF2-40B4-BE49-F238E27FC236}">
                <a16:creationId xmlns:a16="http://schemas.microsoft.com/office/drawing/2014/main" id="{3607898A-04B5-4883-9A50-677BC4049480}"/>
              </a:ext>
            </a:extLst>
          </p:cNvPr>
          <p:cNvSpPr>
            <a:spLocks noGrp="1"/>
          </p:cNvSpPr>
          <p:nvPr/>
        </p:nvSpPr>
        <p:spPr>
          <a:xfrm>
            <a:off x="4434321" y="4366110"/>
            <a:ext cx="34194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a:lstStyle/>
          <a:p>
            <a:endParaRPr lang="de-DE"/>
          </a:p>
        </p:txBody>
      </p:sp>
      <p:sp>
        <p:nvSpPr>
          <p:cNvPr id="28" name="Textfeld 27">
            <a:extLst>
              <a:ext uri="{FF2B5EF4-FFF2-40B4-BE49-F238E27FC236}">
                <a16:creationId xmlns:a16="http://schemas.microsoft.com/office/drawing/2014/main" id="{16D1DAAA-637A-BB8C-F7A8-409F2D14CCDB}"/>
              </a:ext>
            </a:extLst>
          </p:cNvPr>
          <p:cNvSpPr>
            <a:spLocks noGrp="1"/>
          </p:cNvSpPr>
          <p:nvPr/>
        </p:nvSpPr>
        <p:spPr>
          <a:xfrm>
            <a:off x="4661777" y="4503986"/>
            <a:ext cx="3077719" cy="830997"/>
          </a:xfrm>
          <a:prstGeom prst="rect">
            <a:avLst/>
          </a:prstGeom>
          <a:noFill/>
        </p:spPr>
        <p:txBody>
          <a:bodyPr wrap="square" lIns="0" tIns="0" rIns="0" bIns="0">
            <a:spAutoFit/>
          </a:bodyPr>
          <a:lstStyle/>
          <a:p>
            <a:pPr algn="l">
              <a:buNone/>
            </a:pPr>
            <a:r>
              <a:t>Eine plausible Antwort ist noch keine nachvollziehbare Antwort</a:t>
            </a:r>
          </a:p>
        </p:txBody>
      </p:sp>
      <p:sp>
        <p:nvSpPr>
          <p:cNvPr id="30" name="Rechteck: abgerundete Ecken 29">
            <a:extLst>
              <a:ext uri="{FF2B5EF4-FFF2-40B4-BE49-F238E27FC236}">
                <a16:creationId xmlns:a16="http://schemas.microsoft.com/office/drawing/2014/main" id="{724D7EF4-11F2-79E9-1EF6-257A40A5D7FD}"/>
              </a:ext>
            </a:extLst>
          </p:cNvPr>
          <p:cNvSpPr>
            <a:spLocks noGrp="1"/>
          </p:cNvSpPr>
          <p:nvPr/>
        </p:nvSpPr>
        <p:spPr>
          <a:xfrm>
            <a:off x="8389219" y="3714119"/>
            <a:ext cx="3419475" cy="1787088"/>
          </a:xfrm>
          <a:prstGeom prst="round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31" name="Freihandform: Form 30">
            <a:extLst>
              <a:ext uri="{FF2B5EF4-FFF2-40B4-BE49-F238E27FC236}">
                <a16:creationId xmlns:a16="http://schemas.microsoft.com/office/drawing/2014/main" id="{AA1F0D67-C756-CDF3-5C49-4A51A8EBD763}"/>
              </a:ext>
            </a:extLst>
          </p:cNvPr>
          <p:cNvSpPr>
            <a:spLocks noGrp="1"/>
          </p:cNvSpPr>
          <p:nvPr/>
        </p:nvSpPr>
        <p:spPr>
          <a:xfrm>
            <a:off x="8761429" y="3966702"/>
            <a:ext cx="241258" cy="307053"/>
          </a:xfrm>
          <a:custGeom>
            <a:avLst/>
            <a:gdLst>
              <a:gd name="connsiteX0" fmla="*/ 241256 w 241258"/>
              <a:gd name="connsiteY0" fmla="*/ 157913 h 307053"/>
              <a:gd name="connsiteX1" fmla="*/ 214937 w 241258"/>
              <a:gd name="connsiteY1" fmla="*/ 184232 h 307053"/>
              <a:gd name="connsiteX2" fmla="*/ 131594 w 241258"/>
              <a:gd name="connsiteY2" fmla="*/ 184232 h 307053"/>
              <a:gd name="connsiteX3" fmla="*/ 118435 w 241258"/>
              <a:gd name="connsiteY3" fmla="*/ 196953 h 307053"/>
              <a:gd name="connsiteX4" fmla="*/ 131594 w 241258"/>
              <a:gd name="connsiteY4" fmla="*/ 280735 h 307053"/>
              <a:gd name="connsiteX5" fmla="*/ 105276 w 241258"/>
              <a:gd name="connsiteY5" fmla="*/ 307054 h 307053"/>
              <a:gd name="connsiteX6" fmla="*/ 78957 w 241258"/>
              <a:gd name="connsiteY6" fmla="*/ 280735 h 307053"/>
              <a:gd name="connsiteX7" fmla="*/ 0 w 241258"/>
              <a:gd name="connsiteY7" fmla="*/ 175459 h 307053"/>
              <a:gd name="connsiteX8" fmla="*/ 0 w 241258"/>
              <a:gd name="connsiteY8" fmla="*/ 35092 h 307053"/>
              <a:gd name="connsiteX9" fmla="*/ 92116 w 241258"/>
              <a:gd name="connsiteY9" fmla="*/ 0 h 307053"/>
              <a:gd name="connsiteX10" fmla="*/ 171073 w 241258"/>
              <a:gd name="connsiteY10" fmla="*/ 0 h 307053"/>
              <a:gd name="connsiteX11" fmla="*/ 197392 w 241258"/>
              <a:gd name="connsiteY11" fmla="*/ 26319 h 307053"/>
              <a:gd name="connsiteX12" fmla="*/ 190373 w 241258"/>
              <a:gd name="connsiteY12" fmla="*/ 43865 h 307053"/>
              <a:gd name="connsiteX13" fmla="*/ 193005 w 241258"/>
              <a:gd name="connsiteY13" fmla="*/ 43865 h 307053"/>
              <a:gd name="connsiteX14" fmla="*/ 219324 w 241258"/>
              <a:gd name="connsiteY14" fmla="*/ 70184 h 307053"/>
              <a:gd name="connsiteX15" fmla="*/ 211867 w 241258"/>
              <a:gd name="connsiteY15" fmla="*/ 88607 h 307053"/>
              <a:gd name="connsiteX16" fmla="*/ 231886 w 241258"/>
              <a:gd name="connsiteY16" fmla="*/ 119757 h 307053"/>
              <a:gd name="connsiteX17" fmla="*/ 224149 w 241258"/>
              <a:gd name="connsiteY17" fmla="*/ 133349 h 307053"/>
              <a:gd name="connsiteX18" fmla="*/ 241256 w 241258"/>
              <a:gd name="connsiteY18" fmla="*/ 157913 h 307053"/>
            </a:gdLst>
            <a:ahLst/>
            <a:cxnLst/>
            <a:rect l="l" t="t" r="r" b="b"/>
            <a:pathLst>
              <a:path w="241258" h="307053">
                <a:moveTo>
                  <a:pt x="241256" y="157913"/>
                </a:moveTo>
                <a:cubicBezTo>
                  <a:pt x="241213" y="172431"/>
                  <a:pt x="229455" y="184189"/>
                  <a:pt x="214937" y="184232"/>
                </a:cubicBezTo>
                <a:lnTo>
                  <a:pt x="131594" y="184232"/>
                </a:lnTo>
                <a:cubicBezTo>
                  <a:pt x="124547" y="184356"/>
                  <a:pt x="118798" y="189914"/>
                  <a:pt x="118435" y="196953"/>
                </a:cubicBezTo>
                <a:cubicBezTo>
                  <a:pt x="118874" y="204849"/>
                  <a:pt x="131594" y="220640"/>
                  <a:pt x="131594" y="280735"/>
                </a:cubicBezTo>
                <a:cubicBezTo>
                  <a:pt x="131594" y="295270"/>
                  <a:pt x="119811" y="307054"/>
                  <a:pt x="105276" y="307054"/>
                </a:cubicBezTo>
                <a:cubicBezTo>
                  <a:pt x="90740" y="307054"/>
                  <a:pt x="78957" y="295270"/>
                  <a:pt x="78957" y="280735"/>
                </a:cubicBezTo>
                <a:cubicBezTo>
                  <a:pt x="78957" y="214060"/>
                  <a:pt x="1316" y="176336"/>
                  <a:pt x="0" y="175459"/>
                </a:cubicBezTo>
                <a:lnTo>
                  <a:pt x="0" y="35092"/>
                </a:lnTo>
                <a:cubicBezTo>
                  <a:pt x="31144" y="35092"/>
                  <a:pt x="33337" y="0"/>
                  <a:pt x="92116" y="0"/>
                </a:cubicBezTo>
                <a:lnTo>
                  <a:pt x="171073" y="0"/>
                </a:lnTo>
                <a:cubicBezTo>
                  <a:pt x="185590" y="43"/>
                  <a:pt x="197348" y="11801"/>
                  <a:pt x="197392" y="26319"/>
                </a:cubicBezTo>
                <a:cubicBezTo>
                  <a:pt x="197493" y="32871"/>
                  <a:pt x="194965" y="39191"/>
                  <a:pt x="190373" y="43865"/>
                </a:cubicBezTo>
                <a:lnTo>
                  <a:pt x="193005" y="43865"/>
                </a:lnTo>
                <a:cubicBezTo>
                  <a:pt x="207523" y="43908"/>
                  <a:pt x="219281" y="55666"/>
                  <a:pt x="219324" y="70184"/>
                </a:cubicBezTo>
                <a:cubicBezTo>
                  <a:pt x="219389" y="77073"/>
                  <a:pt x="216706" y="83703"/>
                  <a:pt x="211867" y="88607"/>
                </a:cubicBezTo>
                <a:cubicBezTo>
                  <a:pt x="225997" y="91680"/>
                  <a:pt x="234960" y="105627"/>
                  <a:pt x="231886" y="119757"/>
                </a:cubicBezTo>
                <a:cubicBezTo>
                  <a:pt x="230752" y="124970"/>
                  <a:pt x="228053" y="129712"/>
                  <a:pt x="224149" y="133349"/>
                </a:cubicBezTo>
                <a:cubicBezTo>
                  <a:pt x="234515" y="137040"/>
                  <a:pt x="241389" y="146911"/>
                  <a:pt x="241256" y="157913"/>
                </a:cubicBezTo>
                <a:close/>
              </a:path>
            </a:pathLst>
          </a:custGeom>
          <a:solidFill>
            <a:schemeClr val="accent1"/>
          </a:solidFill>
          <a:ln w="4366">
            <a:noFill/>
            <a:prstDash val="solid"/>
          </a:ln>
        </p:spPr>
        <p:txBody>
          <a:bodyPr anchor="ctr"/>
          <a:lstStyle/>
          <a:p>
            <a:endParaRPr/>
          </a:p>
        </p:txBody>
      </p:sp>
      <p:sp>
        <p:nvSpPr>
          <p:cNvPr id="32" name="Freihandform: Form 31">
            <a:extLst>
              <a:ext uri="{FF2B5EF4-FFF2-40B4-BE49-F238E27FC236}">
                <a16:creationId xmlns:a16="http://schemas.microsoft.com/office/drawing/2014/main" id="{DC08623F-3B0E-64B7-6BF2-25B709623F14}"/>
              </a:ext>
            </a:extLst>
          </p:cNvPr>
          <p:cNvSpPr>
            <a:spLocks noGrp="1"/>
          </p:cNvSpPr>
          <p:nvPr/>
        </p:nvSpPr>
        <p:spPr>
          <a:xfrm>
            <a:off x="8651767" y="3979861"/>
            <a:ext cx="83343" cy="184232"/>
          </a:xfrm>
          <a:custGeom>
            <a:avLst/>
            <a:gdLst>
              <a:gd name="connsiteX0" fmla="*/ 65797 w 83343"/>
              <a:gd name="connsiteY0" fmla="*/ 184232 h 184232"/>
              <a:gd name="connsiteX1" fmla="*/ 0 w 83343"/>
              <a:gd name="connsiteY1" fmla="*/ 184232 h 184232"/>
              <a:gd name="connsiteX2" fmla="*/ 0 w 83343"/>
              <a:gd name="connsiteY2" fmla="*/ 0 h 184232"/>
              <a:gd name="connsiteX3" fmla="*/ 65797 w 83343"/>
              <a:gd name="connsiteY3" fmla="*/ 0 h 184232"/>
              <a:gd name="connsiteX4" fmla="*/ 83343 w 83343"/>
              <a:gd name="connsiteY4" fmla="*/ 17546 h 184232"/>
              <a:gd name="connsiteX5" fmla="*/ 83343 w 83343"/>
              <a:gd name="connsiteY5" fmla="*/ 166686 h 184232"/>
              <a:gd name="connsiteX6" fmla="*/ 65797 w 83343"/>
              <a:gd name="connsiteY6" fmla="*/ 184232 h 184232"/>
            </a:gdLst>
            <a:ahLst/>
            <a:cxnLst/>
            <a:rect l="l" t="t" r="r" b="b"/>
            <a:pathLst>
              <a:path w="83343" h="184232">
                <a:moveTo>
                  <a:pt x="65797" y="184232"/>
                </a:moveTo>
                <a:lnTo>
                  <a:pt x="0" y="184232"/>
                </a:lnTo>
                <a:lnTo>
                  <a:pt x="0" y="0"/>
                </a:lnTo>
                <a:lnTo>
                  <a:pt x="65797" y="0"/>
                </a:lnTo>
                <a:cubicBezTo>
                  <a:pt x="75476" y="29"/>
                  <a:pt x="83314" y="7868"/>
                  <a:pt x="83343" y="17546"/>
                </a:cubicBezTo>
                <a:lnTo>
                  <a:pt x="83343" y="166686"/>
                </a:lnTo>
                <a:cubicBezTo>
                  <a:pt x="83314" y="176365"/>
                  <a:pt x="75476" y="184203"/>
                  <a:pt x="65797" y="184232"/>
                </a:cubicBezTo>
                <a:close/>
              </a:path>
            </a:pathLst>
          </a:custGeom>
          <a:solidFill>
            <a:schemeClr val="accent1"/>
          </a:solidFill>
          <a:ln w="4366">
            <a:noFill/>
            <a:prstDash val="solid"/>
          </a:ln>
        </p:spPr>
        <p:txBody>
          <a:bodyPr anchor="ctr"/>
          <a:lstStyle/>
          <a:p>
            <a:endParaRPr/>
          </a:p>
        </p:txBody>
      </p:sp>
      <p:sp>
        <p:nvSpPr>
          <p:cNvPr id="33" name="Textfeld 32">
            <a:extLst>
              <a:ext uri="{FF2B5EF4-FFF2-40B4-BE49-F238E27FC236}">
                <a16:creationId xmlns:a16="http://schemas.microsoft.com/office/drawing/2014/main" id="{34E91368-CF64-B592-C65E-2D3CACE3AAE8}"/>
              </a:ext>
            </a:extLst>
          </p:cNvPr>
          <p:cNvSpPr>
            <a:spLocks noGrp="1"/>
          </p:cNvSpPr>
          <p:nvPr/>
        </p:nvSpPr>
        <p:spPr>
          <a:xfrm>
            <a:off x="8389218" y="3908006"/>
            <a:ext cx="3419476" cy="307777"/>
          </a:xfrm>
          <a:prstGeom prst="rect">
            <a:avLst/>
          </a:prstGeom>
          <a:noFill/>
        </p:spPr>
        <p:txBody>
          <a:bodyPr wrap="square" lIns="0" tIns="0" rIns="0" bIns="0">
            <a:spAutoFit/>
          </a:bodyPr>
          <a:lstStyle/>
          <a:p>
            <a:pPr algn="ctr">
              <a:buNone/>
            </a:pPr>
            <a:r>
              <a:rPr sz="2000"/>
              <a:t>Kontext kostet</a:t>
            </a:r>
          </a:p>
        </p:txBody>
      </p:sp>
      <p:sp>
        <p:nvSpPr>
          <p:cNvPr id="34" name="Gerader Verbinder 33">
            <a:extLst>
              <a:ext uri="{FF2B5EF4-FFF2-40B4-BE49-F238E27FC236}">
                <a16:creationId xmlns:a16="http://schemas.microsoft.com/office/drawing/2014/main" id="{75E13794-A070-4213-9BDA-0DE5C78BE4CA}"/>
              </a:ext>
            </a:extLst>
          </p:cNvPr>
          <p:cNvSpPr>
            <a:spLocks noGrp="1"/>
          </p:cNvSpPr>
          <p:nvPr/>
        </p:nvSpPr>
        <p:spPr>
          <a:xfrm>
            <a:off x="8389220" y="4366105"/>
            <a:ext cx="34194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a:lstStyle/>
          <a:p>
            <a:endParaRPr lang="de-DE"/>
          </a:p>
        </p:txBody>
      </p:sp>
      <p:sp>
        <p:nvSpPr>
          <p:cNvPr id="35" name="Textfeld 34">
            <a:extLst>
              <a:ext uri="{FF2B5EF4-FFF2-40B4-BE49-F238E27FC236}">
                <a16:creationId xmlns:a16="http://schemas.microsoft.com/office/drawing/2014/main" id="{BEFAA6EB-FC8F-6D67-BF68-109EFCE69CC5}"/>
              </a:ext>
            </a:extLst>
          </p:cNvPr>
          <p:cNvSpPr>
            <a:spLocks noGrp="1"/>
          </p:cNvSpPr>
          <p:nvPr/>
        </p:nvSpPr>
        <p:spPr>
          <a:xfrm>
            <a:off x="8616676" y="4503981"/>
            <a:ext cx="3077719" cy="830997"/>
          </a:xfrm>
          <a:prstGeom prst="rect">
            <a:avLst/>
          </a:prstGeom>
          <a:noFill/>
        </p:spPr>
        <p:txBody>
          <a:bodyPr wrap="square" lIns="0" tIns="0" rIns="0" bIns="0">
            <a:spAutoFit/>
          </a:bodyPr>
          <a:lstStyle/>
          <a:p>
            <a:pPr algn="l">
              <a:buNone/>
            </a:pPr>
            <a:r>
              <a:t>Alles in den Prompt zu legen, skaliert weder bei Tokens noch bei Relevanz.</a:t>
            </a:r>
          </a:p>
        </p:txBody>
      </p:sp>
      <p:sp>
        <p:nvSpPr>
          <p:cNvPr id="39" name="Inhaltsplatzhalter 11">
            <a:extLst>
              <a:ext uri="{FF2B5EF4-FFF2-40B4-BE49-F238E27FC236}">
                <a16:creationId xmlns:a16="http://schemas.microsoft.com/office/drawing/2014/main" id="{327A31D1-09DD-92CD-F2F9-472BC6FFF340}"/>
              </a:ext>
            </a:extLst>
          </p:cNvPr>
          <p:cNvSpPr>
            <a:spLocks noGrp="1"/>
          </p:cNvSpPr>
          <p:nvPr>
            <p:ph idx="13"/>
          </p:nvPr>
        </p:nvSpPr>
        <p:spPr>
          <a:xfrm>
            <a:off x="482461" y="1412875"/>
            <a:ext cx="11230114" cy="4752975"/>
          </a:xfrm>
        </p:spPr>
        <p:txBody>
          <a:bodyPr/>
          <a:lstStyle/>
          <a:p>
            <a:pPr marL="12600" indent="0">
              <a:buNone/>
            </a:pPr>
            <a:r>
              <a:t>Ohne bereitgestellten Kontext klingt das Modell oft sicherer als es ist.</a:t>
            </a:r>
          </a:p>
        </p:txBody>
      </p:sp>
      <p:sp>
        <p:nvSpPr>
          <p:cNvPr id="41" name="accent-[object Object]">
            <a:extLst>
              <a:ext uri="{FF2B5EF4-FFF2-40B4-BE49-F238E27FC236}">
                <a16:creationId xmlns:a16="http://schemas.microsoft.com/office/drawing/2014/main" id="{DDCFABE7-C1EC-17A8-B4E4-3AEBC5C842CC}"/>
              </a:ext>
            </a:extLst>
          </p:cNvPr>
          <p:cNvSpPr>
            <a:spLocks noGrp="1"/>
          </p:cNvSpPr>
          <p:nvPr/>
        </p:nvSpPr>
        <p:spPr>
          <a:xfrm>
            <a:off x="479421" y="2756433"/>
            <a:ext cx="3419470" cy="45719"/>
          </a:xfrm>
          <a:prstGeom prst="rect">
            <a:avLst/>
          </a:prstGeom>
          <a:solidFill>
            <a:schemeClr val="tx1"/>
          </a:solidFill>
          <a:ln>
            <a:solidFill>
              <a:schemeClr val="tx1"/>
            </a:solidFill>
          </a:ln>
        </p:spPr>
        <p:txBody>
          <a:bodyPr/>
          <a:lstStyle/>
          <a:p>
            <a:endParaRPr>
              <a:ln>
                <a:solidFill>
                  <a:schemeClr val="accent2"/>
                </a:solidFill>
              </a:ln>
              <a:solidFill>
                <a:schemeClr val="accent2"/>
              </a:solidFill>
            </a:endParaRPr>
          </a:p>
        </p:txBody>
      </p:sp>
      <p:sp>
        <p:nvSpPr>
          <p:cNvPr id="43" name="accent-[object Object]">
            <a:extLst>
              <a:ext uri="{FF2B5EF4-FFF2-40B4-BE49-F238E27FC236}">
                <a16:creationId xmlns:a16="http://schemas.microsoft.com/office/drawing/2014/main" id="{8E68E771-940E-29C9-2632-4F2A477FD8E2}"/>
              </a:ext>
            </a:extLst>
          </p:cNvPr>
          <p:cNvSpPr>
            <a:spLocks noGrp="1"/>
          </p:cNvSpPr>
          <p:nvPr/>
        </p:nvSpPr>
        <p:spPr>
          <a:xfrm>
            <a:off x="4434322" y="2754675"/>
            <a:ext cx="3419473" cy="45719"/>
          </a:xfrm>
          <a:prstGeom prst="rect">
            <a:avLst/>
          </a:prstGeom>
          <a:solidFill>
            <a:srgbClr val="C9960F"/>
          </a:solidFill>
        </p:spPr>
        <p:txBody>
          <a:bodyPr/>
          <a:lstStyle/>
          <a:p>
            <a:endParaRPr/>
          </a:p>
        </p:txBody>
      </p:sp>
      <p:sp>
        <p:nvSpPr>
          <p:cNvPr id="45" name="accent-[object Object]">
            <a:extLst>
              <a:ext uri="{FF2B5EF4-FFF2-40B4-BE49-F238E27FC236}">
                <a16:creationId xmlns:a16="http://schemas.microsoft.com/office/drawing/2014/main" id="{E71E380B-42FA-3816-68E3-D8948006A15A}"/>
              </a:ext>
            </a:extLst>
          </p:cNvPr>
          <p:cNvSpPr>
            <a:spLocks noGrp="1"/>
          </p:cNvSpPr>
          <p:nvPr/>
        </p:nvSpPr>
        <p:spPr>
          <a:xfrm>
            <a:off x="8389222" y="2749092"/>
            <a:ext cx="3419474" cy="47624"/>
          </a:xfrm>
          <a:prstGeom prst="rect">
            <a:avLst/>
          </a:prstGeom>
          <a:solidFill>
            <a:srgbClr val="C60C30"/>
          </a:solidFill>
        </p:spPr>
        <p:txBody>
          <a:bodyPr/>
          <a:lstStyle/>
          <a:p>
            <a:endParaRPr/>
          </a:p>
        </p:txBody>
      </p:sp>
      <p:sp>
        <p:nvSpPr>
          <p:cNvPr id="5" name="Textfeld 4">
            <a:extLst>
              <a:ext uri="{FF2B5EF4-FFF2-40B4-BE49-F238E27FC236}">
                <a16:creationId xmlns:a16="http://schemas.microsoft.com/office/drawing/2014/main" id="{33505DC0-D82B-44D0-6AEA-A9862F4F8E7D}"/>
              </a:ext>
            </a:extLst>
          </p:cNvPr>
          <p:cNvSpPr>
            <a:spLocks noGrp="1"/>
          </p:cNvSpPr>
          <p:nvPr/>
        </p:nvSpPr>
        <p:spPr>
          <a:xfrm>
            <a:off x="479421" y="2883822"/>
            <a:ext cx="474453" cy="276999"/>
          </a:xfrm>
          <a:prstGeom prst="rect">
            <a:avLst/>
          </a:prstGeom>
          <a:noFill/>
        </p:spPr>
        <p:txBody>
          <a:bodyPr wrap="square" lIns="0" tIns="0" rIns="0" bIns="0">
            <a:spAutoFit/>
          </a:bodyPr>
          <a:lstStyle/>
          <a:p>
            <a:pPr algn="l">
              <a:buNone/>
            </a:pPr>
            <a:r>
              <a:rPr b="1"/>
              <a:t>01</a:t>
            </a:r>
          </a:p>
        </p:txBody>
      </p:sp>
      <p:sp>
        <p:nvSpPr>
          <p:cNvPr id="6" name="Textfeld 5">
            <a:extLst>
              <a:ext uri="{FF2B5EF4-FFF2-40B4-BE49-F238E27FC236}">
                <a16:creationId xmlns:a16="http://schemas.microsoft.com/office/drawing/2014/main" id="{DBD1AB6D-1105-5D82-C860-2E6AFD7F8C71}"/>
              </a:ext>
            </a:extLst>
          </p:cNvPr>
          <p:cNvSpPr>
            <a:spLocks noGrp="1"/>
          </p:cNvSpPr>
          <p:nvPr/>
        </p:nvSpPr>
        <p:spPr>
          <a:xfrm>
            <a:off x="4434319" y="2883823"/>
            <a:ext cx="474453" cy="276999"/>
          </a:xfrm>
          <a:prstGeom prst="rect">
            <a:avLst/>
          </a:prstGeom>
          <a:noFill/>
        </p:spPr>
        <p:txBody>
          <a:bodyPr wrap="square" lIns="0" tIns="0" rIns="0" bIns="0">
            <a:spAutoFit/>
          </a:bodyPr>
          <a:lstStyle/>
          <a:p>
            <a:pPr algn="l">
              <a:buNone/>
            </a:pPr>
            <a:r>
              <a:rPr b="1">
                <a:solidFill>
                  <a:schemeClr val="accent6"/>
                </a:solidFill>
              </a:rPr>
              <a:t>02</a:t>
            </a:r>
          </a:p>
        </p:txBody>
      </p:sp>
      <p:sp>
        <p:nvSpPr>
          <p:cNvPr id="7" name="Textfeld 6">
            <a:extLst>
              <a:ext uri="{FF2B5EF4-FFF2-40B4-BE49-F238E27FC236}">
                <a16:creationId xmlns:a16="http://schemas.microsoft.com/office/drawing/2014/main" id="{ED3E2D33-CD9F-9D3E-9257-0792B12F5112}"/>
              </a:ext>
            </a:extLst>
          </p:cNvPr>
          <p:cNvSpPr>
            <a:spLocks noGrp="1"/>
          </p:cNvSpPr>
          <p:nvPr/>
        </p:nvSpPr>
        <p:spPr>
          <a:xfrm>
            <a:off x="8404569" y="2889066"/>
            <a:ext cx="474453" cy="276999"/>
          </a:xfrm>
          <a:prstGeom prst="rect">
            <a:avLst/>
          </a:prstGeom>
          <a:noFill/>
        </p:spPr>
        <p:txBody>
          <a:bodyPr wrap="square" lIns="0" tIns="0" rIns="0" bIns="0">
            <a:spAutoFit/>
          </a:bodyPr>
          <a:lstStyle/>
          <a:p>
            <a:pPr algn="l">
              <a:buNone/>
            </a:pPr>
            <a:r>
              <a:rPr b="1">
                <a:solidFill>
                  <a:schemeClr val="accent1"/>
                </a:solidFill>
              </a:rPr>
              <a:t>03</a:t>
            </a:r>
          </a:p>
        </p:txBody>
      </p:sp>
    </p:spTree>
    <p:extLst>
      <p:ext uri="{BB962C8B-B14F-4D97-AF65-F5344CB8AC3E}">
        <p14:creationId xmlns:p14="http://schemas.microsoft.com/office/powerpoint/2010/main" val="21475523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Freihandform: Form 49">
            <a:extLst>
              <a:ext uri="{FF2B5EF4-FFF2-40B4-BE49-F238E27FC236}">
                <a16:creationId xmlns:a16="http://schemas.microsoft.com/office/drawing/2014/main" id="{CA51A4E4-03BB-B78F-9B8D-BCFDC7D284BD}"/>
              </a:ext>
            </a:extLst>
          </p:cNvPr>
          <p:cNvSpPr>
            <a:spLocks noGrp="1"/>
          </p:cNvSpPr>
          <p:nvPr/>
        </p:nvSpPr>
        <p:spPr>
          <a:xfrm>
            <a:off x="482461" y="4857750"/>
            <a:ext cx="11042789" cy="1028700"/>
          </a:xfrm>
          <a:custGeom>
            <a:avLst/>
            <a:gdLst>
              <a:gd name="connsiteX0" fmla="*/ 0 w 11042789"/>
              <a:gd name="connsiteY0" fmla="*/ 0 h 1028700"/>
              <a:gd name="connsiteX1" fmla="*/ 184289 w 11042789"/>
              <a:gd name="connsiteY1" fmla="*/ 0 h 1028700"/>
              <a:gd name="connsiteX2" fmla="*/ 184289 w 11042789"/>
              <a:gd name="connsiteY2" fmla="*/ 39118 h 1028700"/>
              <a:gd name="connsiteX3" fmla="*/ 222325 w 11042789"/>
              <a:gd name="connsiteY3" fmla="*/ 13474 h 1028700"/>
              <a:gd name="connsiteX4" fmla="*/ 289062 w 11042789"/>
              <a:gd name="connsiteY4" fmla="*/ 0 h 1028700"/>
              <a:gd name="connsiteX5" fmla="*/ 10871336 w 11042789"/>
              <a:gd name="connsiteY5" fmla="*/ 0 h 1028700"/>
              <a:gd name="connsiteX6" fmla="*/ 11042789 w 11042789"/>
              <a:gd name="connsiteY6" fmla="*/ 171453 h 1028700"/>
              <a:gd name="connsiteX7" fmla="*/ 11042789 w 11042789"/>
              <a:gd name="connsiteY7" fmla="*/ 857247 h 1028700"/>
              <a:gd name="connsiteX8" fmla="*/ 10871336 w 11042789"/>
              <a:gd name="connsiteY8" fmla="*/ 1028700 h 1028700"/>
              <a:gd name="connsiteX9" fmla="*/ 289062 w 11042789"/>
              <a:gd name="connsiteY9" fmla="*/ 1028700 h 1028700"/>
              <a:gd name="connsiteX10" fmla="*/ 222325 w 11042789"/>
              <a:gd name="connsiteY10" fmla="*/ 1015227 h 1028700"/>
              <a:gd name="connsiteX11" fmla="*/ 184289 w 11042789"/>
              <a:gd name="connsiteY11" fmla="*/ 989582 h 1028700"/>
              <a:gd name="connsiteX12" fmla="*/ 184289 w 11042789"/>
              <a:gd name="connsiteY12" fmla="*/ 1028700 h 1028700"/>
              <a:gd name="connsiteX13" fmla="*/ 0 w 11042789"/>
              <a:gd name="connsiteY13" fmla="*/ 1028700 h 1028700"/>
            </a:gdLst>
            <a:ahLst/>
            <a:cxnLst/>
            <a:rect l="l" t="t" r="r" b="b"/>
            <a:pathLst>
              <a:path w="11042789" h="1028700">
                <a:moveTo>
                  <a:pt x="0" y="0"/>
                </a:moveTo>
                <a:lnTo>
                  <a:pt x="184289" y="0"/>
                </a:lnTo>
                <a:lnTo>
                  <a:pt x="184289" y="39118"/>
                </a:lnTo>
                <a:lnTo>
                  <a:pt x="222325" y="13474"/>
                </a:lnTo>
                <a:cubicBezTo>
                  <a:pt x="242837" y="4798"/>
                  <a:pt x="265389" y="0"/>
                  <a:pt x="289062" y="0"/>
                </a:cubicBezTo>
                <a:lnTo>
                  <a:pt x="10871336" y="0"/>
                </a:lnTo>
                <a:cubicBezTo>
                  <a:pt x="10966027" y="0"/>
                  <a:pt x="11042789" y="76762"/>
                  <a:pt x="11042789" y="171453"/>
                </a:cubicBezTo>
                <a:lnTo>
                  <a:pt x="11042789" y="857247"/>
                </a:lnTo>
                <a:cubicBezTo>
                  <a:pt x="11042789" y="951938"/>
                  <a:pt x="10966027" y="1028700"/>
                  <a:pt x="10871336" y="1028700"/>
                </a:cubicBezTo>
                <a:lnTo>
                  <a:pt x="289062" y="1028700"/>
                </a:lnTo>
                <a:cubicBezTo>
                  <a:pt x="265389" y="1028700"/>
                  <a:pt x="242837" y="1023903"/>
                  <a:pt x="222325" y="1015227"/>
                </a:cubicBezTo>
                <a:lnTo>
                  <a:pt x="184289" y="989582"/>
                </a:lnTo>
                <a:lnTo>
                  <a:pt x="184289" y="1028700"/>
                </a:lnTo>
                <a:lnTo>
                  <a:pt x="0" y="10287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solidFill>
                <a:schemeClr val="tx1"/>
              </a:solidFill>
            </a:endParaRPr>
          </a:p>
        </p:txBody>
      </p:sp>
      <p:sp>
        <p:nvSpPr>
          <p:cNvPr id="48" name="Freihandform: Form 47">
            <a:extLst>
              <a:ext uri="{FF2B5EF4-FFF2-40B4-BE49-F238E27FC236}">
                <a16:creationId xmlns:a16="http://schemas.microsoft.com/office/drawing/2014/main" id="{79AFE289-F62E-1A85-646A-3802D4AA0C03}"/>
              </a:ext>
            </a:extLst>
          </p:cNvPr>
          <p:cNvSpPr>
            <a:spLocks noGrp="1"/>
          </p:cNvSpPr>
          <p:nvPr/>
        </p:nvSpPr>
        <p:spPr>
          <a:xfrm>
            <a:off x="666750" y="1673516"/>
            <a:ext cx="4572000" cy="2818746"/>
          </a:xfrm>
          <a:custGeom>
            <a:avLst/>
            <a:gdLst>
              <a:gd name="connsiteX0" fmla="*/ 0 w 4572000"/>
              <a:gd name="connsiteY0" fmla="*/ 0 h 2818746"/>
              <a:gd name="connsiteX1" fmla="*/ 4572000 w 4572000"/>
              <a:gd name="connsiteY1" fmla="*/ 0 h 2818746"/>
              <a:gd name="connsiteX2" fmla="*/ 4572000 w 4572000"/>
              <a:gd name="connsiteY2" fmla="*/ 527766 h 2818746"/>
              <a:gd name="connsiteX3" fmla="*/ 4572000 w 4572000"/>
              <a:gd name="connsiteY3" fmla="*/ 650584 h 2818746"/>
              <a:gd name="connsiteX4" fmla="*/ 4572000 w 4572000"/>
              <a:gd name="connsiteY4" fmla="*/ 2360539 h 2818746"/>
              <a:gd name="connsiteX5" fmla="*/ 4113793 w 4572000"/>
              <a:gd name="connsiteY5" fmla="*/ 2818746 h 2818746"/>
              <a:gd name="connsiteX6" fmla="*/ 458207 w 4572000"/>
              <a:gd name="connsiteY6" fmla="*/ 2818746 h 2818746"/>
              <a:gd name="connsiteX7" fmla="*/ 0 w 4572000"/>
              <a:gd name="connsiteY7" fmla="*/ 2360539 h 2818746"/>
              <a:gd name="connsiteX8" fmla="*/ 0 w 4572000"/>
              <a:gd name="connsiteY8" fmla="*/ 650584 h 2818746"/>
              <a:gd name="connsiteX9" fmla="*/ 0 w 4572000"/>
              <a:gd name="connsiteY9" fmla="*/ 527766 h 2818746"/>
            </a:gdLst>
            <a:ahLst/>
            <a:cxnLst/>
            <a:rect l="l" t="t" r="r" b="b"/>
            <a:pathLst>
              <a:path w="4572000" h="2818746">
                <a:moveTo>
                  <a:pt x="0" y="0"/>
                </a:moveTo>
                <a:lnTo>
                  <a:pt x="4572000" y="0"/>
                </a:lnTo>
                <a:lnTo>
                  <a:pt x="4572000" y="527766"/>
                </a:lnTo>
                <a:lnTo>
                  <a:pt x="4572000" y="650584"/>
                </a:lnTo>
                <a:lnTo>
                  <a:pt x="4572000" y="2360539"/>
                </a:lnTo>
                <a:cubicBezTo>
                  <a:pt x="4572000" y="2613600"/>
                  <a:pt x="4366854" y="2818746"/>
                  <a:pt x="4113793" y="2818746"/>
                </a:cubicBezTo>
                <a:lnTo>
                  <a:pt x="458207" y="2818746"/>
                </a:lnTo>
                <a:cubicBezTo>
                  <a:pt x="205146" y="2818746"/>
                  <a:pt x="0" y="2613600"/>
                  <a:pt x="0" y="2360539"/>
                </a:cubicBezTo>
                <a:lnTo>
                  <a:pt x="0" y="650584"/>
                </a:lnTo>
                <a:lnTo>
                  <a:pt x="0" y="527766"/>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solidFill>
                <a:schemeClr val="tx1"/>
              </a:solidFill>
            </a:endParaRPr>
          </a:p>
        </p:txBody>
      </p:sp>
      <p:sp>
        <p:nvSpPr>
          <p:cNvPr id="49" name="Freihandform: Form 48">
            <a:extLst>
              <a:ext uri="{FF2B5EF4-FFF2-40B4-BE49-F238E27FC236}">
                <a16:creationId xmlns:a16="http://schemas.microsoft.com/office/drawing/2014/main" id="{15C389C4-6C9F-840E-1254-A5E54E59A740}"/>
              </a:ext>
            </a:extLst>
          </p:cNvPr>
          <p:cNvSpPr>
            <a:spLocks noGrp="1"/>
          </p:cNvSpPr>
          <p:nvPr/>
        </p:nvSpPr>
        <p:spPr>
          <a:xfrm>
            <a:off x="6953250" y="1698989"/>
            <a:ext cx="4572001" cy="2818746"/>
          </a:xfrm>
          <a:custGeom>
            <a:avLst/>
            <a:gdLst>
              <a:gd name="connsiteX0" fmla="*/ 0 w 4572001"/>
              <a:gd name="connsiteY0" fmla="*/ 0 h 2971255"/>
              <a:gd name="connsiteX1" fmla="*/ 4572001 w 4572001"/>
              <a:gd name="connsiteY1" fmla="*/ 0 h 2971255"/>
              <a:gd name="connsiteX2" fmla="*/ 4572001 w 4572001"/>
              <a:gd name="connsiteY2" fmla="*/ 625112 h 2971255"/>
              <a:gd name="connsiteX3" fmla="*/ 4566439 w 4572001"/>
              <a:gd name="connsiteY3" fmla="*/ 625112 h 2971255"/>
              <a:gd name="connsiteX4" fmla="*/ 4572000 w 4572001"/>
              <a:gd name="connsiteY4" fmla="*/ 680275 h 2971255"/>
              <a:gd name="connsiteX5" fmla="*/ 4572000 w 4572001"/>
              <a:gd name="connsiteY5" fmla="*/ 2513048 h 2971255"/>
              <a:gd name="connsiteX6" fmla="*/ 4113793 w 4572001"/>
              <a:gd name="connsiteY6" fmla="*/ 2971255 h 2971255"/>
              <a:gd name="connsiteX7" fmla="*/ 458207 w 4572001"/>
              <a:gd name="connsiteY7" fmla="*/ 2971255 h 2971255"/>
              <a:gd name="connsiteX8" fmla="*/ 0 w 4572001"/>
              <a:gd name="connsiteY8" fmla="*/ 2513048 h 2971255"/>
              <a:gd name="connsiteX9" fmla="*/ 0 w 4572001"/>
              <a:gd name="connsiteY9" fmla="*/ 680275 h 2971255"/>
              <a:gd name="connsiteX10" fmla="*/ 5561 w 4572001"/>
              <a:gd name="connsiteY10" fmla="*/ 625112 h 2971255"/>
              <a:gd name="connsiteX11" fmla="*/ 0 w 4572001"/>
              <a:gd name="connsiteY11" fmla="*/ 625112 h 2971255"/>
            </a:gdLst>
            <a:ahLst/>
            <a:cxnLst/>
            <a:rect l="l" t="t" r="r" b="b"/>
            <a:pathLst>
              <a:path w="4572001" h="2971255">
                <a:moveTo>
                  <a:pt x="0" y="0"/>
                </a:moveTo>
                <a:lnTo>
                  <a:pt x="4572001" y="0"/>
                </a:lnTo>
                <a:lnTo>
                  <a:pt x="4572001" y="625112"/>
                </a:lnTo>
                <a:lnTo>
                  <a:pt x="4566439" y="625112"/>
                </a:lnTo>
                <a:lnTo>
                  <a:pt x="4572000" y="680275"/>
                </a:lnTo>
                <a:lnTo>
                  <a:pt x="4572000" y="2513048"/>
                </a:lnTo>
                <a:cubicBezTo>
                  <a:pt x="4572000" y="2766109"/>
                  <a:pt x="4366854" y="2971255"/>
                  <a:pt x="4113793" y="2971255"/>
                </a:cubicBezTo>
                <a:lnTo>
                  <a:pt x="458207" y="2971255"/>
                </a:lnTo>
                <a:cubicBezTo>
                  <a:pt x="205146" y="2971255"/>
                  <a:pt x="0" y="2766109"/>
                  <a:pt x="0" y="2513048"/>
                </a:cubicBezTo>
                <a:lnTo>
                  <a:pt x="0" y="680275"/>
                </a:lnTo>
                <a:lnTo>
                  <a:pt x="5561" y="625112"/>
                </a:lnTo>
                <a:lnTo>
                  <a:pt x="0" y="625112"/>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solidFill>
                <a:schemeClr val="tx1"/>
              </a:solidFill>
            </a:endParaRPr>
          </a:p>
        </p:txBody>
      </p:sp>
      <p:sp>
        <p:nvSpPr>
          <p:cNvPr id="2" name="Titel 1">
            <a:extLst>
              <a:ext uri="{FF2B5EF4-FFF2-40B4-BE49-F238E27FC236}">
                <a16:creationId xmlns:a16="http://schemas.microsoft.com/office/drawing/2014/main" id="{25FDE1F3-E634-462D-8A72-4C4BB1E9445E}"/>
              </a:ext>
            </a:extLst>
          </p:cNvPr>
          <p:cNvSpPr>
            <a:spLocks noGrp="1"/>
          </p:cNvSpPr>
          <p:nvPr>
            <p:ph type="title"/>
          </p:nvPr>
        </p:nvSpPr>
        <p:spPr/>
        <p:txBody>
          <a:bodyPr/>
          <a:lstStyle/>
          <a:p>
            <a:r>
              <a:t>RAG verschiebt die Aufgabe</a:t>
            </a:r>
          </a:p>
        </p:txBody>
      </p:sp>
      <p:sp>
        <p:nvSpPr>
          <p:cNvPr id="3" name="Datumsplatzhalter 2">
            <a:extLst>
              <a:ext uri="{FF2B5EF4-FFF2-40B4-BE49-F238E27FC236}">
                <a16:creationId xmlns:a16="http://schemas.microsoft.com/office/drawing/2014/main" id="{5E33AFB8-9B8A-46BF-A01C-1911AB76C8F7}"/>
              </a:ext>
            </a:extLst>
          </p:cNvPr>
          <p:cNvSpPr>
            <a:spLocks noGrp="1"/>
          </p:cNvSpPr>
          <p:nvPr>
            <p:ph type="dt" idx="10"/>
          </p:nvPr>
        </p:nvSpPr>
        <p:spPr/>
        <p:txBody>
          <a:bodyPr/>
          <a:lstStyle/>
          <a:p>
            <a:fld id="{1EB7C1D4-D1F3-40CB-8780-B2B6A9133392}" type="datetime1">
              <a:t>06.08.2026</a:t>
            </a:fld>
            <a:endParaRPr/>
          </a:p>
        </p:txBody>
      </p:sp>
      <p:sp>
        <p:nvSpPr>
          <p:cNvPr id="5" name="Foliennummernplatzhalter 4">
            <a:extLst>
              <a:ext uri="{FF2B5EF4-FFF2-40B4-BE49-F238E27FC236}">
                <a16:creationId xmlns:a16="http://schemas.microsoft.com/office/drawing/2014/main" id="{AEE4ED00-7406-465D-AB2A-450FABED5FFB}"/>
              </a:ext>
            </a:extLst>
          </p:cNvPr>
          <p:cNvSpPr>
            <a:spLocks noGrp="1"/>
          </p:cNvSpPr>
          <p:nvPr>
            <p:ph type="sldNum" idx="12"/>
          </p:nvPr>
        </p:nvSpPr>
        <p:spPr/>
        <p:txBody>
          <a:bodyPr/>
          <a:lstStyle/>
          <a:p>
            <a:fld id="{CE7E00E2-F08D-429A-AD9B-1ECBEC02F4DB}" type="slidenum">
              <a:t>5</a:t>
            </a:fld>
            <a:endParaRPr/>
          </a:p>
        </p:txBody>
      </p:sp>
      <p:sp>
        <p:nvSpPr>
          <p:cNvPr id="7" name="Expandieren-accent">
            <a:extLst>
              <a:ext uri="{FF2B5EF4-FFF2-40B4-BE49-F238E27FC236}">
                <a16:creationId xmlns:a16="http://schemas.microsoft.com/office/drawing/2014/main" id="{F3B72224-B9DE-495C-9796-06F07B8ACE36}"/>
              </a:ext>
            </a:extLst>
          </p:cNvPr>
          <p:cNvSpPr>
            <a:spLocks noGrp="1"/>
          </p:cNvSpPr>
          <p:nvPr/>
        </p:nvSpPr>
        <p:spPr>
          <a:xfrm>
            <a:off x="666750" y="1666875"/>
            <a:ext cx="4572000" cy="76200"/>
          </a:xfrm>
          <a:prstGeom prst="rect">
            <a:avLst/>
          </a:prstGeom>
          <a:solidFill>
            <a:srgbClr val="C60C30"/>
          </a:solidFill>
          <a:ln w="0">
            <a:solidFill>
              <a:srgbClr val="C60C30"/>
            </a:solidFill>
            <a:prstDash val="solid"/>
          </a:ln>
        </p:spPr>
        <p:txBody>
          <a:bodyPr/>
          <a:lstStyle/>
          <a:p>
            <a:endParaRPr/>
          </a:p>
        </p:txBody>
      </p:sp>
      <p:sp>
        <p:nvSpPr>
          <p:cNvPr id="14" name="Komprimieren-accent">
            <a:extLst>
              <a:ext uri="{FF2B5EF4-FFF2-40B4-BE49-F238E27FC236}">
                <a16:creationId xmlns:a16="http://schemas.microsoft.com/office/drawing/2014/main" id="{168EAD43-9CC5-450A-8180-1ECA98A93301}"/>
              </a:ext>
            </a:extLst>
          </p:cNvPr>
          <p:cNvSpPr>
            <a:spLocks noGrp="1"/>
          </p:cNvSpPr>
          <p:nvPr/>
        </p:nvSpPr>
        <p:spPr>
          <a:xfrm>
            <a:off x="6953250" y="1666875"/>
            <a:ext cx="4572000" cy="76200"/>
          </a:xfrm>
          <a:prstGeom prst="rect">
            <a:avLst/>
          </a:prstGeom>
          <a:solidFill>
            <a:srgbClr val="9BC7EE"/>
          </a:solidFill>
          <a:ln w="0">
            <a:solidFill>
              <a:srgbClr val="9BC7EE"/>
            </a:solidFill>
            <a:prstDash val="solid"/>
          </a:ln>
        </p:spPr>
        <p:txBody>
          <a:bodyPr/>
          <a:lstStyle/>
          <a:p>
            <a:endParaRPr>
              <a:solidFill>
                <a:schemeClr val="accent2"/>
              </a:solidFill>
            </a:endParaRPr>
          </a:p>
        </p:txBody>
      </p:sp>
      <p:sp>
        <p:nvSpPr>
          <p:cNvPr id="20" name="rag-shift-arrow">
            <a:extLst>
              <a:ext uri="{FF2B5EF4-FFF2-40B4-BE49-F238E27FC236}">
                <a16:creationId xmlns:a16="http://schemas.microsoft.com/office/drawing/2014/main" id="{F10ED05B-B03A-4BBC-BD82-A3CD68556B70}"/>
              </a:ext>
            </a:extLst>
          </p:cNvPr>
          <p:cNvSpPr>
            <a:spLocks noGrp="1"/>
          </p:cNvSpPr>
          <p:nvPr/>
        </p:nvSpPr>
        <p:spPr>
          <a:xfrm>
            <a:off x="5476875" y="2724150"/>
            <a:ext cx="1238250" cy="666750"/>
          </a:xfrm>
          <a:prstGeom prst="rightArrow">
            <a:avLst/>
          </a:prstGeom>
          <a:solidFill>
            <a:srgbClr val="C60C30"/>
          </a:solidFill>
          <a:ln w="0">
            <a:solidFill>
              <a:srgbClr val="C60C30"/>
            </a:solidFill>
            <a:prstDash val="solid"/>
          </a:ln>
        </p:spPr>
        <p:txBody>
          <a:bodyPr/>
          <a:lstStyle/>
          <a:p>
            <a:endParaRPr/>
          </a:p>
        </p:txBody>
      </p:sp>
      <p:sp>
        <p:nvSpPr>
          <p:cNvPr id="22" name="translation-accent">
            <a:extLst>
              <a:ext uri="{FF2B5EF4-FFF2-40B4-BE49-F238E27FC236}">
                <a16:creationId xmlns:a16="http://schemas.microsoft.com/office/drawing/2014/main" id="{1F38C1C1-F6DB-4E99-98AF-B6EF9C59CAA6}"/>
              </a:ext>
            </a:extLst>
          </p:cNvPr>
          <p:cNvSpPr>
            <a:spLocks noGrp="1"/>
          </p:cNvSpPr>
          <p:nvPr/>
        </p:nvSpPr>
        <p:spPr>
          <a:xfrm>
            <a:off x="666750" y="4857750"/>
            <a:ext cx="85725" cy="1028700"/>
          </a:xfrm>
          <a:prstGeom prst="rect">
            <a:avLst/>
          </a:prstGeom>
          <a:solidFill>
            <a:srgbClr val="C9960F"/>
          </a:solidFill>
          <a:ln w="0">
            <a:solidFill>
              <a:srgbClr val="C9960F"/>
            </a:solidFill>
            <a:prstDash val="solid"/>
          </a:ln>
        </p:spPr>
        <p:txBody>
          <a:bodyPr/>
          <a:lstStyle/>
          <a:p>
            <a:endParaRPr/>
          </a:p>
        </p:txBody>
      </p:sp>
      <p:sp>
        <p:nvSpPr>
          <p:cNvPr id="26" name="Komprimieren-icon-background">
            <a:extLst>
              <a:ext uri="{FF2B5EF4-FFF2-40B4-BE49-F238E27FC236}">
                <a16:creationId xmlns:a16="http://schemas.microsoft.com/office/drawing/2014/main" id="{AE5F489A-B22B-45B4-B5E9-27A843A475CA}"/>
              </a:ext>
            </a:extLst>
          </p:cNvPr>
          <p:cNvSpPr>
            <a:spLocks noGrp="1"/>
          </p:cNvSpPr>
          <p:nvPr/>
        </p:nvSpPr>
        <p:spPr>
          <a:xfrm>
            <a:off x="7277100" y="2000250"/>
            <a:ext cx="990600" cy="990600"/>
          </a:xfrm>
          <a:prstGeom prst="ellipse">
            <a:avLst/>
          </a:prstGeom>
          <a:solidFill>
            <a:srgbClr val="9BC7EE"/>
          </a:solidFill>
          <a:ln w="0">
            <a:solidFill>
              <a:srgbClr val="9BC7EE"/>
            </a:solidFill>
            <a:prstDash val="solid"/>
          </a:ln>
        </p:spPr>
        <p:txBody>
          <a:bodyPr/>
          <a:lstStyle/>
          <a:p>
            <a:endParaRPr/>
          </a:p>
        </p:txBody>
      </p:sp>
      <p:pic>
        <p:nvPicPr>
          <p:cNvPr id="65" name="Grafik 26"/>
          <p:cNvPicPr>
            <a:picLocks noChangeAspect="1"/>
          </p:cNvPicPr>
          <p:nvPr/>
        </p:nvPicPr>
        <p:blipFill>
          <a:blip r:embed="rId3">
            <a:extLst>
              <a:ext uri="{96DAC541-7B7A-43D3-8B79-37D633B846F1}">
                <asvg:svgBlip xmlns:asvg="http://schemas.microsoft.com/office/drawing/2016/SVG/main" r:embed="rId4"/>
              </a:ext>
            </a:extLst>
          </a:blip>
          <a:stretch/>
        </p:blipFill>
        <p:spPr>
          <a:xfrm>
            <a:off x="7505700" y="2228850"/>
            <a:ext cx="533400" cy="533400"/>
          </a:xfrm>
          <a:prstGeom prst="rect">
            <a:avLst/>
          </a:prstGeom>
        </p:spPr>
      </p:pic>
      <p:sp>
        <p:nvSpPr>
          <p:cNvPr id="28" name="Rechteck 27">
            <a:extLst>
              <a:ext uri="{FF2B5EF4-FFF2-40B4-BE49-F238E27FC236}">
                <a16:creationId xmlns:a16="http://schemas.microsoft.com/office/drawing/2014/main" id="{EEACB154-8F23-4F3B-90DA-78C963ADE415}"/>
              </a:ext>
            </a:extLst>
          </p:cNvPr>
          <p:cNvSpPr>
            <a:spLocks noGrp="1"/>
          </p:cNvSpPr>
          <p:nvPr/>
        </p:nvSpPr>
        <p:spPr>
          <a:xfrm>
            <a:off x="8496300" y="2057400"/>
            <a:ext cx="2667000" cy="266700"/>
          </a:xfrm>
          <a:prstGeom prst="rect">
            <a:avLst/>
          </a:prstGeom>
          <a:noFill/>
          <a:ln w="0">
            <a:noFill/>
            <a:prstDash val="solid"/>
          </a:ln>
        </p:spPr>
        <p:txBody>
          <a:bodyPr anchor="t"/>
          <a:lstStyle/>
          <a:p>
            <a:pPr>
              <a:buNone/>
              <a:defRPr sz="1125" b="1">
                <a:solidFill>
                  <a:srgbClr val="9BC7EE"/>
                </a:solidFill>
                <a:latin typeface="Arial"/>
                <a:ea typeface="Arial"/>
                <a:cs typeface="Arial"/>
              </a:defRPr>
            </a:pPr>
            <a:r>
              <a:rPr sz="1125" b="1">
                <a:solidFill>
                  <a:srgbClr val="9BC7EE"/>
                </a:solidFill>
                <a:latin typeface="Arial"/>
                <a:ea typeface="Arial"/>
                <a:cs typeface="Arial"/>
              </a:rPr>
              <a:t>MIT RAG-KONTEXT</a:t>
            </a:r>
          </a:p>
        </p:txBody>
      </p:sp>
      <p:sp>
        <p:nvSpPr>
          <p:cNvPr id="29" name="Rechteck 28">
            <a:extLst>
              <a:ext uri="{FF2B5EF4-FFF2-40B4-BE49-F238E27FC236}">
                <a16:creationId xmlns:a16="http://schemas.microsoft.com/office/drawing/2014/main" id="{84099B9B-B636-41F1-803E-AB0CBB22CE1F}"/>
              </a:ext>
            </a:extLst>
          </p:cNvPr>
          <p:cNvSpPr>
            <a:spLocks noGrp="1"/>
          </p:cNvSpPr>
          <p:nvPr/>
        </p:nvSpPr>
        <p:spPr>
          <a:xfrm>
            <a:off x="8496300" y="2400300"/>
            <a:ext cx="2667000" cy="495300"/>
          </a:xfrm>
          <a:prstGeom prst="rect">
            <a:avLst/>
          </a:prstGeom>
          <a:noFill/>
          <a:ln w="0">
            <a:noFill/>
            <a:prstDash val="solid"/>
          </a:ln>
        </p:spPr>
        <p:txBody>
          <a:bodyPr anchor="t"/>
          <a:lstStyle/>
          <a:p>
            <a:pPr>
              <a:buNone/>
              <a:defRPr sz="2550" b="1">
                <a:solidFill>
                  <a:srgbClr val="FFFFFF"/>
                </a:solidFill>
                <a:latin typeface="Arial"/>
                <a:ea typeface="Arial"/>
                <a:cs typeface="Arial"/>
              </a:defRPr>
            </a:pPr>
            <a:r>
              <a:rPr sz="2550" b="1">
                <a:solidFill>
                  <a:srgbClr val="FFFFFF"/>
                </a:solidFill>
                <a:latin typeface="Arial"/>
                <a:ea typeface="Arial"/>
                <a:cs typeface="Arial"/>
              </a:rPr>
              <a:t>Komprimieren</a:t>
            </a:r>
          </a:p>
        </p:txBody>
      </p:sp>
      <p:sp>
        <p:nvSpPr>
          <p:cNvPr id="30" name="Rechteck 29">
            <a:extLst>
              <a:ext uri="{FF2B5EF4-FFF2-40B4-BE49-F238E27FC236}">
                <a16:creationId xmlns:a16="http://schemas.microsoft.com/office/drawing/2014/main" id="{F6C8F6E1-B7C7-47EB-B6D5-6AE2F31EE6C0}"/>
              </a:ext>
            </a:extLst>
          </p:cNvPr>
          <p:cNvSpPr>
            <a:spLocks noGrp="1"/>
          </p:cNvSpPr>
          <p:nvPr/>
        </p:nvSpPr>
        <p:spPr>
          <a:xfrm>
            <a:off x="7277100" y="3295650"/>
            <a:ext cx="3905250" cy="895350"/>
          </a:xfrm>
          <a:prstGeom prst="rect">
            <a:avLst/>
          </a:prstGeom>
          <a:noFill/>
          <a:ln w="0">
            <a:noFill/>
            <a:prstDash val="solid"/>
          </a:ln>
        </p:spPr>
        <p:txBody>
          <a:bodyPr anchor="t"/>
          <a:lstStyle/>
          <a:p>
            <a:pPr>
              <a:buNone/>
              <a:defRPr sz="1725">
                <a:solidFill>
                  <a:srgbClr val="FFFFFF"/>
                </a:solidFill>
                <a:latin typeface="Arial"/>
                <a:ea typeface="Arial"/>
                <a:cs typeface="Arial"/>
              </a:defRPr>
            </a:pPr>
            <a:r>
              <a:rPr sz="1725">
                <a:solidFill>
                  <a:srgbClr val="FFFFFF"/>
                </a:solidFill>
                <a:latin typeface="Arial"/>
                <a:ea typeface="Arial"/>
                <a:cs typeface="Arial"/>
              </a:rPr>
              <a:t>Viel relevanter Input →</a:t>
            </a:r>
          </a:p>
          <a:p>
            <a:pPr>
              <a:buNone/>
              <a:defRPr sz="1725">
                <a:solidFill>
                  <a:srgbClr val="FFFFFF"/>
                </a:solidFill>
                <a:latin typeface="Arial"/>
                <a:ea typeface="Arial"/>
                <a:cs typeface="Arial"/>
              </a:defRPr>
            </a:pPr>
            <a:r>
              <a:rPr sz="1725">
                <a:solidFill>
                  <a:srgbClr val="FFFFFF"/>
                </a:solidFill>
                <a:latin typeface="Arial"/>
                <a:ea typeface="Arial"/>
                <a:cs typeface="Arial"/>
              </a:rPr>
              <a:t>verdichtete, belegbare Antwort.</a:t>
            </a:r>
          </a:p>
        </p:txBody>
      </p:sp>
      <p:sp>
        <p:nvSpPr>
          <p:cNvPr id="34" name="Expandieren-icon-background">
            <a:extLst>
              <a:ext uri="{FF2B5EF4-FFF2-40B4-BE49-F238E27FC236}">
                <a16:creationId xmlns:a16="http://schemas.microsoft.com/office/drawing/2014/main" id="{6F2B703B-43AC-4242-AA8D-70AAA7E7DF51}"/>
              </a:ext>
            </a:extLst>
          </p:cNvPr>
          <p:cNvSpPr>
            <a:spLocks noGrp="1"/>
          </p:cNvSpPr>
          <p:nvPr/>
        </p:nvSpPr>
        <p:spPr>
          <a:xfrm>
            <a:off x="990600" y="2000250"/>
            <a:ext cx="990600" cy="990600"/>
          </a:xfrm>
          <a:prstGeom prst="ellipse">
            <a:avLst/>
          </a:prstGeom>
          <a:solidFill>
            <a:srgbClr val="FFFFFF"/>
          </a:solidFill>
          <a:ln w="0">
            <a:solidFill>
              <a:srgbClr val="FFFFFF"/>
            </a:solidFill>
            <a:prstDash val="solid"/>
          </a:ln>
        </p:spPr>
        <p:txBody>
          <a:bodyPr/>
          <a:lstStyle/>
          <a:p>
            <a:endParaRPr/>
          </a:p>
        </p:txBody>
      </p:sp>
      <p:pic>
        <p:nvPicPr>
          <p:cNvPr id="70" name="Grafik 34"/>
          <p:cNvPicPr>
            <a:picLocks noChangeAspect="1"/>
          </p:cNvPicPr>
          <p:nvPr/>
        </p:nvPicPr>
        <p:blipFill>
          <a:blip r:embed="rId5">
            <a:extLst>
              <a:ext uri="{96DAC541-7B7A-43D3-8B79-37D633B846F1}">
                <asvg:svgBlip xmlns:asvg="http://schemas.microsoft.com/office/drawing/2016/SVG/main" r:embed="rId6"/>
              </a:ext>
            </a:extLst>
          </a:blip>
          <a:stretch/>
        </p:blipFill>
        <p:spPr>
          <a:xfrm>
            <a:off x="1219200" y="2228850"/>
            <a:ext cx="533400" cy="533400"/>
          </a:xfrm>
          <a:prstGeom prst="rect">
            <a:avLst/>
          </a:prstGeom>
        </p:spPr>
      </p:pic>
      <p:sp>
        <p:nvSpPr>
          <p:cNvPr id="36" name="Rechteck 35">
            <a:extLst>
              <a:ext uri="{FF2B5EF4-FFF2-40B4-BE49-F238E27FC236}">
                <a16:creationId xmlns:a16="http://schemas.microsoft.com/office/drawing/2014/main" id="{9C059803-0FCD-4255-82D1-E5486EDB1ABE}"/>
              </a:ext>
            </a:extLst>
          </p:cNvPr>
          <p:cNvSpPr>
            <a:spLocks noGrp="1"/>
          </p:cNvSpPr>
          <p:nvPr/>
        </p:nvSpPr>
        <p:spPr>
          <a:xfrm>
            <a:off x="2209800" y="2057400"/>
            <a:ext cx="2667000" cy="266700"/>
          </a:xfrm>
          <a:prstGeom prst="rect">
            <a:avLst/>
          </a:prstGeom>
          <a:noFill/>
          <a:ln w="0">
            <a:noFill/>
            <a:prstDash val="solid"/>
          </a:ln>
        </p:spPr>
        <p:txBody>
          <a:bodyPr anchor="t"/>
          <a:lstStyle/>
          <a:p>
            <a:pPr>
              <a:buNone/>
              <a:defRPr sz="1125" b="1">
                <a:solidFill>
                  <a:srgbClr val="C60C30"/>
                </a:solidFill>
                <a:latin typeface="Arial"/>
                <a:ea typeface="Arial"/>
                <a:cs typeface="Arial"/>
              </a:defRPr>
            </a:pPr>
            <a:r>
              <a:rPr sz="1125" b="1">
                <a:solidFill>
                  <a:srgbClr val="C60C30"/>
                </a:solidFill>
                <a:latin typeface="Arial"/>
                <a:ea typeface="Arial"/>
                <a:cs typeface="Arial"/>
              </a:rPr>
              <a:t>OHNE RELEVANTEN KONTEXT</a:t>
            </a:r>
          </a:p>
        </p:txBody>
      </p:sp>
      <p:sp>
        <p:nvSpPr>
          <p:cNvPr id="37" name="Rechteck 36">
            <a:extLst>
              <a:ext uri="{FF2B5EF4-FFF2-40B4-BE49-F238E27FC236}">
                <a16:creationId xmlns:a16="http://schemas.microsoft.com/office/drawing/2014/main" id="{594D16D1-F8B3-4450-AF41-769106FF954D}"/>
              </a:ext>
            </a:extLst>
          </p:cNvPr>
          <p:cNvSpPr>
            <a:spLocks noGrp="1"/>
          </p:cNvSpPr>
          <p:nvPr/>
        </p:nvSpPr>
        <p:spPr>
          <a:xfrm>
            <a:off x="2209800" y="2400300"/>
            <a:ext cx="2667000" cy="495300"/>
          </a:xfrm>
          <a:prstGeom prst="rect">
            <a:avLst/>
          </a:prstGeom>
          <a:noFill/>
          <a:ln w="0">
            <a:noFill/>
            <a:prstDash val="solid"/>
          </a:ln>
        </p:spPr>
        <p:txBody>
          <a:bodyPr anchor="t"/>
          <a:lstStyle/>
          <a:p>
            <a:pPr>
              <a:buNone/>
              <a:defRPr sz="2550" b="1">
                <a:solidFill>
                  <a:srgbClr val="2D3F4B"/>
                </a:solidFill>
                <a:latin typeface="Arial"/>
                <a:ea typeface="Arial"/>
                <a:cs typeface="Arial"/>
              </a:defRPr>
            </a:pPr>
            <a:r>
              <a:rPr sz="2550" b="1">
                <a:solidFill>
                  <a:srgbClr val="2D3F4B"/>
                </a:solidFill>
                <a:latin typeface="Arial"/>
                <a:ea typeface="Arial"/>
                <a:cs typeface="Arial"/>
              </a:rPr>
              <a:t>Expandieren</a:t>
            </a:r>
          </a:p>
        </p:txBody>
      </p:sp>
      <p:sp>
        <p:nvSpPr>
          <p:cNvPr id="38" name="Rechteck 37">
            <a:extLst>
              <a:ext uri="{FF2B5EF4-FFF2-40B4-BE49-F238E27FC236}">
                <a16:creationId xmlns:a16="http://schemas.microsoft.com/office/drawing/2014/main" id="{ACFCC35B-9CB1-45B1-9CAA-5FC9371705C0}"/>
              </a:ext>
            </a:extLst>
          </p:cNvPr>
          <p:cNvSpPr>
            <a:spLocks noGrp="1"/>
          </p:cNvSpPr>
          <p:nvPr/>
        </p:nvSpPr>
        <p:spPr>
          <a:xfrm>
            <a:off x="990600" y="3295650"/>
            <a:ext cx="3905250" cy="895350"/>
          </a:xfrm>
          <a:prstGeom prst="rect">
            <a:avLst/>
          </a:prstGeom>
          <a:noFill/>
          <a:ln w="0">
            <a:noFill/>
            <a:prstDash val="solid"/>
          </a:ln>
        </p:spPr>
        <p:txBody>
          <a:bodyPr anchor="t"/>
          <a:lstStyle/>
          <a:p>
            <a:pPr>
              <a:buNone/>
              <a:defRPr sz="1725">
                <a:solidFill>
                  <a:srgbClr val="2D3F4B"/>
                </a:solidFill>
                <a:latin typeface="Arial"/>
                <a:ea typeface="Arial"/>
                <a:cs typeface="Arial"/>
              </a:defRPr>
            </a:pPr>
            <a:r>
              <a:rPr sz="1725">
                <a:solidFill>
                  <a:srgbClr val="2D3F4B"/>
                </a:solidFill>
                <a:latin typeface="Arial"/>
                <a:ea typeface="Arial"/>
                <a:cs typeface="Arial"/>
              </a:rPr>
              <a:t>Wenig Input → viel Output</a:t>
            </a:r>
          </a:p>
          <a:p>
            <a:pPr>
              <a:buNone/>
              <a:defRPr sz="1725">
                <a:solidFill>
                  <a:srgbClr val="2D3F4B"/>
                </a:solidFill>
                <a:latin typeface="Arial"/>
                <a:ea typeface="Arial"/>
                <a:cs typeface="Arial"/>
              </a:defRPr>
            </a:pPr>
            <a:r>
              <a:rPr sz="1725">
                <a:solidFill>
                  <a:srgbClr val="2D3F4B"/>
                </a:solidFill>
                <a:latin typeface="Arial"/>
                <a:ea typeface="Arial"/>
                <a:cs typeface="Arial"/>
              </a:rPr>
              <a:t>Das Modell muss Wissenslücken füllen.</a:t>
            </a:r>
          </a:p>
        </p:txBody>
      </p:sp>
      <p:pic>
        <p:nvPicPr>
          <p:cNvPr id="74" name="Grafik 40"/>
          <p:cNvPicPr>
            <a:picLocks noChangeAspect="1"/>
          </p:cNvPicPr>
          <p:nvPr/>
        </p:nvPicPr>
        <p:blipFill>
          <a:blip r:embed="rId7">
            <a:extLst>
              <a:ext uri="{96DAC541-7B7A-43D3-8B79-37D633B846F1}">
                <asvg:svgBlip xmlns:asvg="http://schemas.microsoft.com/office/drawing/2016/SVG/main" r:embed="rId8"/>
              </a:ext>
            </a:extLst>
          </a:blip>
          <a:stretch/>
        </p:blipFill>
        <p:spPr>
          <a:xfrm>
            <a:off x="971550" y="5067300"/>
            <a:ext cx="609600" cy="609600"/>
          </a:xfrm>
          <a:prstGeom prst="rect">
            <a:avLst/>
          </a:prstGeom>
        </p:spPr>
      </p:pic>
      <p:sp>
        <p:nvSpPr>
          <p:cNvPr id="42" name="Rechteck 41">
            <a:extLst>
              <a:ext uri="{FF2B5EF4-FFF2-40B4-BE49-F238E27FC236}">
                <a16:creationId xmlns:a16="http://schemas.microsoft.com/office/drawing/2014/main" id="{D3F77ACE-A9C1-407A-8F7A-E075BA0C63A1}"/>
              </a:ext>
            </a:extLst>
          </p:cNvPr>
          <p:cNvSpPr>
            <a:spLocks noGrp="1"/>
          </p:cNvSpPr>
          <p:nvPr/>
        </p:nvSpPr>
        <p:spPr>
          <a:xfrm>
            <a:off x="1809750" y="5010150"/>
            <a:ext cx="2381250" cy="361950"/>
          </a:xfrm>
          <a:prstGeom prst="rect">
            <a:avLst/>
          </a:prstGeom>
          <a:noFill/>
          <a:ln w="0">
            <a:noFill/>
            <a:prstDash val="solid"/>
          </a:ln>
        </p:spPr>
        <p:txBody>
          <a:bodyPr anchor="t"/>
          <a:lstStyle/>
          <a:p>
            <a:pPr>
              <a:buNone/>
              <a:defRPr sz="2025" b="1">
                <a:solidFill>
                  <a:srgbClr val="2D3F4B"/>
                </a:solidFill>
                <a:latin typeface="Arial"/>
                <a:ea typeface="Arial"/>
                <a:cs typeface="Arial"/>
              </a:defRPr>
            </a:pPr>
            <a:r>
              <a:rPr sz="2025" b="1">
                <a:solidFill>
                  <a:srgbClr val="2D3F4B"/>
                </a:solidFill>
                <a:latin typeface="Arial"/>
                <a:ea typeface="Arial"/>
                <a:cs typeface="Arial"/>
              </a:rPr>
              <a:t>Translatieren</a:t>
            </a:r>
          </a:p>
        </p:txBody>
      </p:sp>
      <p:sp>
        <p:nvSpPr>
          <p:cNvPr id="43" name="Rechteck 42">
            <a:extLst>
              <a:ext uri="{FF2B5EF4-FFF2-40B4-BE49-F238E27FC236}">
                <a16:creationId xmlns:a16="http://schemas.microsoft.com/office/drawing/2014/main" id="{B27AE8EE-C7C8-4154-8745-7262D7CA5FF3}"/>
              </a:ext>
            </a:extLst>
          </p:cNvPr>
          <p:cNvSpPr>
            <a:spLocks noGrp="1"/>
          </p:cNvSpPr>
          <p:nvPr/>
        </p:nvSpPr>
        <p:spPr>
          <a:xfrm>
            <a:off x="1809750" y="5391150"/>
            <a:ext cx="8953500" cy="361950"/>
          </a:xfrm>
          <a:prstGeom prst="rect">
            <a:avLst/>
          </a:prstGeom>
          <a:noFill/>
          <a:ln w="0">
            <a:noFill/>
            <a:prstDash val="solid"/>
          </a:ln>
        </p:spPr>
        <p:txBody>
          <a:bodyPr anchor="t"/>
          <a:lstStyle/>
          <a:p>
            <a:pPr>
              <a:buNone/>
              <a:defRPr sz="1500">
                <a:solidFill>
                  <a:srgbClr val="2D3F4B"/>
                </a:solidFill>
                <a:latin typeface="Arial"/>
                <a:ea typeface="Arial"/>
                <a:cs typeface="Arial"/>
              </a:defRPr>
            </a:pPr>
            <a:r>
              <a:rPr sz="1500">
                <a:solidFill>
                  <a:srgbClr val="2D3F4B"/>
                </a:solidFill>
                <a:latin typeface="Arial"/>
                <a:ea typeface="Arial"/>
                <a:cs typeface="Arial"/>
              </a:rPr>
              <a:t>Gleicher Inhalt → andere Sprache, Form oder Struktur. RAG ist dafür nicht zwingend nötig.</a:t>
            </a:r>
          </a:p>
        </p:txBody>
      </p:sp>
    </p:spTree>
    <p:extLst>
      <p:ext uri="{BB962C8B-B14F-4D97-AF65-F5344CB8AC3E}">
        <p14:creationId xmlns:p14="http://schemas.microsoft.com/office/powerpoint/2010/main" val="13265509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ihandform: Form 18">
            <a:extLst>
              <a:ext uri="{FF2B5EF4-FFF2-40B4-BE49-F238E27FC236}">
                <a16:creationId xmlns:a16="http://schemas.microsoft.com/office/drawing/2014/main" id="{1C893A98-4388-AF19-0A53-CE7DA15734D9}"/>
              </a:ext>
            </a:extLst>
          </p:cNvPr>
          <p:cNvSpPr>
            <a:spLocks noGrp="1"/>
          </p:cNvSpPr>
          <p:nvPr/>
        </p:nvSpPr>
        <p:spPr>
          <a:xfrm>
            <a:off x="9337998" y="2700708"/>
            <a:ext cx="2441633" cy="1518578"/>
          </a:xfrm>
          <a:custGeom>
            <a:avLst/>
            <a:gdLst>
              <a:gd name="connsiteX0" fmla="*/ 0 w 2441633"/>
              <a:gd name="connsiteY0" fmla="*/ 0 h 1518578"/>
              <a:gd name="connsiteX1" fmla="*/ 2441543 w 2441633"/>
              <a:gd name="connsiteY1" fmla="*/ 0 h 1518578"/>
              <a:gd name="connsiteX2" fmla="*/ 2441543 w 2441633"/>
              <a:gd name="connsiteY2" fmla="*/ 177511 h 1518578"/>
              <a:gd name="connsiteX3" fmla="*/ 2441633 w 2441633"/>
              <a:gd name="connsiteY3" fmla="*/ 177957 h 1518578"/>
              <a:gd name="connsiteX4" fmla="*/ 2441633 w 2441633"/>
              <a:gd name="connsiteY4" fmla="*/ 1347124 h 1518578"/>
              <a:gd name="connsiteX5" fmla="*/ 2270179 w 2441633"/>
              <a:gd name="connsiteY5" fmla="*/ 1518578 h 1518578"/>
              <a:gd name="connsiteX6" fmla="*/ 171516 w 2441633"/>
              <a:gd name="connsiteY6" fmla="*/ 1518578 h 1518578"/>
              <a:gd name="connsiteX7" fmla="*/ 62 w 2441633"/>
              <a:gd name="connsiteY7" fmla="*/ 1347124 h 1518578"/>
              <a:gd name="connsiteX8" fmla="*/ 62 w 2441633"/>
              <a:gd name="connsiteY8" fmla="*/ 590550 h 1518578"/>
              <a:gd name="connsiteX9" fmla="*/ 0 w 2441633"/>
              <a:gd name="connsiteY9" fmla="*/ 590550 h 1518578"/>
            </a:gdLst>
            <a:ahLst/>
            <a:cxnLst/>
            <a:rect l="l" t="t" r="r" b="b"/>
            <a:pathLst>
              <a:path w="2441633" h="1518578">
                <a:moveTo>
                  <a:pt x="0" y="0"/>
                </a:moveTo>
                <a:lnTo>
                  <a:pt x="2441543" y="0"/>
                </a:lnTo>
                <a:lnTo>
                  <a:pt x="2441543" y="177511"/>
                </a:lnTo>
                <a:lnTo>
                  <a:pt x="2441633" y="177957"/>
                </a:lnTo>
                <a:lnTo>
                  <a:pt x="2441633" y="1347124"/>
                </a:lnTo>
                <a:cubicBezTo>
                  <a:pt x="2441633" y="1441815"/>
                  <a:pt x="2364870" y="1518578"/>
                  <a:pt x="2270179" y="1518578"/>
                </a:cubicBezTo>
                <a:lnTo>
                  <a:pt x="171516" y="1518578"/>
                </a:lnTo>
                <a:cubicBezTo>
                  <a:pt x="76825" y="1518578"/>
                  <a:pt x="62" y="1441815"/>
                  <a:pt x="62" y="1347124"/>
                </a:cubicBezTo>
                <a:lnTo>
                  <a:pt x="62" y="590550"/>
                </a:lnTo>
                <a:lnTo>
                  <a:pt x="0" y="590550"/>
                </a:lnTo>
                <a:close/>
              </a:path>
            </a:pathLst>
          </a:custGeom>
          <a:solidFill>
            <a:schemeClr val="bg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4" name="Freihandform: Form 13">
            <a:extLst>
              <a:ext uri="{FF2B5EF4-FFF2-40B4-BE49-F238E27FC236}">
                <a16:creationId xmlns:a16="http://schemas.microsoft.com/office/drawing/2014/main" id="{80928F5A-A620-D15B-309C-4D7E5896C25F}"/>
              </a:ext>
            </a:extLst>
          </p:cNvPr>
          <p:cNvSpPr>
            <a:spLocks noGrp="1"/>
          </p:cNvSpPr>
          <p:nvPr/>
        </p:nvSpPr>
        <p:spPr>
          <a:xfrm>
            <a:off x="6482361" y="2696887"/>
            <a:ext cx="2441633" cy="1518578"/>
          </a:xfrm>
          <a:custGeom>
            <a:avLst/>
            <a:gdLst>
              <a:gd name="connsiteX0" fmla="*/ 0 w 2441633"/>
              <a:gd name="connsiteY0" fmla="*/ 0 h 1518578"/>
              <a:gd name="connsiteX1" fmla="*/ 2441543 w 2441633"/>
              <a:gd name="connsiteY1" fmla="*/ 0 h 1518578"/>
              <a:gd name="connsiteX2" fmla="*/ 2441543 w 2441633"/>
              <a:gd name="connsiteY2" fmla="*/ 177511 h 1518578"/>
              <a:gd name="connsiteX3" fmla="*/ 2441633 w 2441633"/>
              <a:gd name="connsiteY3" fmla="*/ 177957 h 1518578"/>
              <a:gd name="connsiteX4" fmla="*/ 2441633 w 2441633"/>
              <a:gd name="connsiteY4" fmla="*/ 1347124 h 1518578"/>
              <a:gd name="connsiteX5" fmla="*/ 2270179 w 2441633"/>
              <a:gd name="connsiteY5" fmla="*/ 1518578 h 1518578"/>
              <a:gd name="connsiteX6" fmla="*/ 171516 w 2441633"/>
              <a:gd name="connsiteY6" fmla="*/ 1518578 h 1518578"/>
              <a:gd name="connsiteX7" fmla="*/ 62 w 2441633"/>
              <a:gd name="connsiteY7" fmla="*/ 1347124 h 1518578"/>
              <a:gd name="connsiteX8" fmla="*/ 62 w 2441633"/>
              <a:gd name="connsiteY8" fmla="*/ 590550 h 1518578"/>
              <a:gd name="connsiteX9" fmla="*/ 0 w 2441633"/>
              <a:gd name="connsiteY9" fmla="*/ 590550 h 1518578"/>
            </a:gdLst>
            <a:ahLst/>
            <a:cxnLst/>
            <a:rect l="l" t="t" r="r" b="b"/>
            <a:pathLst>
              <a:path w="2441633" h="1518578">
                <a:moveTo>
                  <a:pt x="0" y="0"/>
                </a:moveTo>
                <a:lnTo>
                  <a:pt x="2441543" y="0"/>
                </a:lnTo>
                <a:lnTo>
                  <a:pt x="2441543" y="177511"/>
                </a:lnTo>
                <a:lnTo>
                  <a:pt x="2441633" y="177957"/>
                </a:lnTo>
                <a:lnTo>
                  <a:pt x="2441633" y="1347124"/>
                </a:lnTo>
                <a:cubicBezTo>
                  <a:pt x="2441633" y="1441815"/>
                  <a:pt x="2364870" y="1518578"/>
                  <a:pt x="2270179" y="1518578"/>
                </a:cubicBezTo>
                <a:lnTo>
                  <a:pt x="171516" y="1518578"/>
                </a:lnTo>
                <a:cubicBezTo>
                  <a:pt x="76825" y="1518578"/>
                  <a:pt x="62" y="1441815"/>
                  <a:pt x="62" y="1347124"/>
                </a:cubicBezTo>
                <a:lnTo>
                  <a:pt x="62" y="590550"/>
                </a:lnTo>
                <a:lnTo>
                  <a:pt x="0" y="590550"/>
                </a:lnTo>
                <a:close/>
              </a:path>
            </a:pathLst>
          </a:custGeom>
          <a:solidFill>
            <a:schemeClr val="bg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1" name="Freihandform: Form 10">
            <a:extLst>
              <a:ext uri="{FF2B5EF4-FFF2-40B4-BE49-F238E27FC236}">
                <a16:creationId xmlns:a16="http://schemas.microsoft.com/office/drawing/2014/main" id="{200D9A3D-276C-4D19-64AE-CC44B34F666E}"/>
              </a:ext>
            </a:extLst>
          </p:cNvPr>
          <p:cNvSpPr>
            <a:spLocks noGrp="1"/>
          </p:cNvSpPr>
          <p:nvPr/>
        </p:nvSpPr>
        <p:spPr>
          <a:xfrm>
            <a:off x="3627580" y="2700708"/>
            <a:ext cx="2441633" cy="1518578"/>
          </a:xfrm>
          <a:custGeom>
            <a:avLst/>
            <a:gdLst>
              <a:gd name="connsiteX0" fmla="*/ 0 w 2441633"/>
              <a:gd name="connsiteY0" fmla="*/ 0 h 1518578"/>
              <a:gd name="connsiteX1" fmla="*/ 2441543 w 2441633"/>
              <a:gd name="connsiteY1" fmla="*/ 0 h 1518578"/>
              <a:gd name="connsiteX2" fmla="*/ 2441543 w 2441633"/>
              <a:gd name="connsiteY2" fmla="*/ 177511 h 1518578"/>
              <a:gd name="connsiteX3" fmla="*/ 2441633 w 2441633"/>
              <a:gd name="connsiteY3" fmla="*/ 177957 h 1518578"/>
              <a:gd name="connsiteX4" fmla="*/ 2441633 w 2441633"/>
              <a:gd name="connsiteY4" fmla="*/ 1347124 h 1518578"/>
              <a:gd name="connsiteX5" fmla="*/ 2270179 w 2441633"/>
              <a:gd name="connsiteY5" fmla="*/ 1518578 h 1518578"/>
              <a:gd name="connsiteX6" fmla="*/ 171516 w 2441633"/>
              <a:gd name="connsiteY6" fmla="*/ 1518578 h 1518578"/>
              <a:gd name="connsiteX7" fmla="*/ 62 w 2441633"/>
              <a:gd name="connsiteY7" fmla="*/ 1347124 h 1518578"/>
              <a:gd name="connsiteX8" fmla="*/ 62 w 2441633"/>
              <a:gd name="connsiteY8" fmla="*/ 590550 h 1518578"/>
              <a:gd name="connsiteX9" fmla="*/ 0 w 2441633"/>
              <a:gd name="connsiteY9" fmla="*/ 590550 h 1518578"/>
            </a:gdLst>
            <a:ahLst/>
            <a:cxnLst/>
            <a:rect l="l" t="t" r="r" b="b"/>
            <a:pathLst>
              <a:path w="2441633" h="1518578">
                <a:moveTo>
                  <a:pt x="0" y="0"/>
                </a:moveTo>
                <a:lnTo>
                  <a:pt x="2441543" y="0"/>
                </a:lnTo>
                <a:lnTo>
                  <a:pt x="2441543" y="177511"/>
                </a:lnTo>
                <a:lnTo>
                  <a:pt x="2441633" y="177957"/>
                </a:lnTo>
                <a:lnTo>
                  <a:pt x="2441633" y="1347124"/>
                </a:lnTo>
                <a:cubicBezTo>
                  <a:pt x="2441633" y="1441815"/>
                  <a:pt x="2364870" y="1518578"/>
                  <a:pt x="2270179" y="1518578"/>
                </a:cubicBezTo>
                <a:lnTo>
                  <a:pt x="171516" y="1518578"/>
                </a:lnTo>
                <a:cubicBezTo>
                  <a:pt x="76825" y="1518578"/>
                  <a:pt x="62" y="1441815"/>
                  <a:pt x="62" y="1347124"/>
                </a:cubicBezTo>
                <a:lnTo>
                  <a:pt x="62" y="590550"/>
                </a:lnTo>
                <a:lnTo>
                  <a:pt x="0" y="590550"/>
                </a:lnTo>
                <a:close/>
              </a:path>
            </a:pathLst>
          </a:custGeom>
          <a:solidFill>
            <a:schemeClr val="bg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 name="Freihandform: Form 9">
            <a:extLst>
              <a:ext uri="{FF2B5EF4-FFF2-40B4-BE49-F238E27FC236}">
                <a16:creationId xmlns:a16="http://schemas.microsoft.com/office/drawing/2014/main" id="{3B9A958D-6F8C-2948-301A-E2807E08FBB0}"/>
              </a:ext>
            </a:extLst>
          </p:cNvPr>
          <p:cNvSpPr>
            <a:spLocks noGrp="1"/>
          </p:cNvSpPr>
          <p:nvPr/>
        </p:nvSpPr>
        <p:spPr>
          <a:xfrm>
            <a:off x="668204" y="2720889"/>
            <a:ext cx="2441633" cy="1518578"/>
          </a:xfrm>
          <a:custGeom>
            <a:avLst/>
            <a:gdLst>
              <a:gd name="connsiteX0" fmla="*/ 0 w 2441633"/>
              <a:gd name="connsiteY0" fmla="*/ 0 h 1518578"/>
              <a:gd name="connsiteX1" fmla="*/ 2441543 w 2441633"/>
              <a:gd name="connsiteY1" fmla="*/ 0 h 1518578"/>
              <a:gd name="connsiteX2" fmla="*/ 2441543 w 2441633"/>
              <a:gd name="connsiteY2" fmla="*/ 177511 h 1518578"/>
              <a:gd name="connsiteX3" fmla="*/ 2441633 w 2441633"/>
              <a:gd name="connsiteY3" fmla="*/ 177957 h 1518578"/>
              <a:gd name="connsiteX4" fmla="*/ 2441633 w 2441633"/>
              <a:gd name="connsiteY4" fmla="*/ 1347124 h 1518578"/>
              <a:gd name="connsiteX5" fmla="*/ 2270179 w 2441633"/>
              <a:gd name="connsiteY5" fmla="*/ 1518578 h 1518578"/>
              <a:gd name="connsiteX6" fmla="*/ 171516 w 2441633"/>
              <a:gd name="connsiteY6" fmla="*/ 1518578 h 1518578"/>
              <a:gd name="connsiteX7" fmla="*/ 62 w 2441633"/>
              <a:gd name="connsiteY7" fmla="*/ 1347124 h 1518578"/>
              <a:gd name="connsiteX8" fmla="*/ 62 w 2441633"/>
              <a:gd name="connsiteY8" fmla="*/ 590550 h 1518578"/>
              <a:gd name="connsiteX9" fmla="*/ 0 w 2441633"/>
              <a:gd name="connsiteY9" fmla="*/ 590550 h 1518578"/>
            </a:gdLst>
            <a:ahLst/>
            <a:cxnLst/>
            <a:rect l="l" t="t" r="r" b="b"/>
            <a:pathLst>
              <a:path w="2441633" h="1518578">
                <a:moveTo>
                  <a:pt x="0" y="0"/>
                </a:moveTo>
                <a:lnTo>
                  <a:pt x="2441543" y="0"/>
                </a:lnTo>
                <a:lnTo>
                  <a:pt x="2441543" y="177511"/>
                </a:lnTo>
                <a:lnTo>
                  <a:pt x="2441633" y="177957"/>
                </a:lnTo>
                <a:lnTo>
                  <a:pt x="2441633" y="1347124"/>
                </a:lnTo>
                <a:cubicBezTo>
                  <a:pt x="2441633" y="1441815"/>
                  <a:pt x="2364870" y="1518578"/>
                  <a:pt x="2270179" y="1518578"/>
                </a:cubicBezTo>
                <a:lnTo>
                  <a:pt x="171516" y="1518578"/>
                </a:lnTo>
                <a:cubicBezTo>
                  <a:pt x="76825" y="1518578"/>
                  <a:pt x="62" y="1441815"/>
                  <a:pt x="62" y="1347124"/>
                </a:cubicBezTo>
                <a:lnTo>
                  <a:pt x="62" y="590550"/>
                </a:lnTo>
                <a:lnTo>
                  <a:pt x="0" y="590550"/>
                </a:lnTo>
                <a:close/>
              </a:path>
            </a:pathLst>
          </a:custGeom>
          <a:solidFill>
            <a:schemeClr val="bg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2" name="Titel 1">
            <a:extLst>
              <a:ext uri="{FF2B5EF4-FFF2-40B4-BE49-F238E27FC236}">
                <a16:creationId xmlns:a16="http://schemas.microsoft.com/office/drawing/2014/main" id="{D3CAE26B-4865-C6F0-5B97-694858312949}"/>
              </a:ext>
            </a:extLst>
          </p:cNvPr>
          <p:cNvSpPr>
            <a:spLocks noGrp="1"/>
          </p:cNvSpPr>
          <p:nvPr>
            <p:ph type="title"/>
          </p:nvPr>
        </p:nvSpPr>
        <p:spPr/>
        <p:txBody>
          <a:bodyPr/>
          <a:lstStyle/>
          <a:p>
            <a:r>
              <a:t>Vier Bausteine formen den LLM-Kontext</a:t>
            </a:r>
          </a:p>
        </p:txBody>
      </p:sp>
      <p:sp>
        <p:nvSpPr>
          <p:cNvPr id="3" name="Datumsplatzhalter 2">
            <a:extLst>
              <a:ext uri="{FF2B5EF4-FFF2-40B4-BE49-F238E27FC236}">
                <a16:creationId xmlns:a16="http://schemas.microsoft.com/office/drawing/2014/main" id="{B4438418-9676-7CB0-887F-B094922C97AC}"/>
              </a:ext>
            </a:extLst>
          </p:cNvPr>
          <p:cNvSpPr>
            <a:spLocks noGrp="1"/>
          </p:cNvSpPr>
          <p:nvPr>
            <p:ph type="dt" idx="10"/>
          </p:nvPr>
        </p:nvSpPr>
        <p:spPr/>
        <p:txBody>
          <a:bodyPr/>
          <a:lstStyle/>
          <a:p>
            <a:fld id="{E2111384-F462-4D90-9803-E7B6DB23FD1B}" type="datetime1">
              <a:t>06.08.2026</a:t>
            </a:fld>
            <a:endParaRPr/>
          </a:p>
        </p:txBody>
      </p:sp>
      <p:sp>
        <p:nvSpPr>
          <p:cNvPr id="4" name="Foliennummernplatzhalter 3">
            <a:extLst>
              <a:ext uri="{FF2B5EF4-FFF2-40B4-BE49-F238E27FC236}">
                <a16:creationId xmlns:a16="http://schemas.microsoft.com/office/drawing/2014/main" id="{A01BAB59-63EB-59FA-5985-3F6EC05966A0}"/>
              </a:ext>
            </a:extLst>
          </p:cNvPr>
          <p:cNvSpPr>
            <a:spLocks noGrp="1"/>
          </p:cNvSpPr>
          <p:nvPr>
            <p:ph type="sldNum" idx="12"/>
          </p:nvPr>
        </p:nvSpPr>
        <p:spPr/>
        <p:txBody>
          <a:bodyPr/>
          <a:lstStyle/>
          <a:p>
            <a:fld id="{CE7E00E2-F08D-429A-AD9B-1ECBEC02F4DB}" type="slidenum">
              <a:t>6</a:t>
            </a:fld>
            <a:endParaRPr/>
          </a:p>
        </p:txBody>
      </p:sp>
      <p:sp>
        <p:nvSpPr>
          <p:cNvPr id="7" name="Inhaltsplatzhalter 6">
            <a:extLst>
              <a:ext uri="{FF2B5EF4-FFF2-40B4-BE49-F238E27FC236}">
                <a16:creationId xmlns:a16="http://schemas.microsoft.com/office/drawing/2014/main" id="{EF25329D-BC93-CDC7-FF93-C91335CE3538}"/>
              </a:ext>
            </a:extLst>
          </p:cNvPr>
          <p:cNvSpPr>
            <a:spLocks noGrp="1"/>
          </p:cNvSpPr>
          <p:nvPr>
            <p:ph idx="13"/>
          </p:nvPr>
        </p:nvSpPr>
        <p:spPr>
          <a:xfrm>
            <a:off x="666750" y="1476375"/>
            <a:ext cx="10668000" cy="590550"/>
          </a:xfrm>
        </p:spPr>
        <p:txBody>
          <a:bodyPr anchor="ctr"/>
          <a:lstStyle/>
          <a:p>
            <a:pPr algn="l">
              <a:buNone/>
              <a:defRPr sz="1950" b="0">
                <a:solidFill>
                  <a:srgbClr val="2D3F4B"/>
                </a:solidFill>
                <a:latin typeface="Arial"/>
                <a:ea typeface="Arial"/>
                <a:cs typeface="Arial"/>
              </a:defRPr>
            </a:pPr>
            <a:r>
              <a:rPr sz="1950" b="0">
                <a:solidFill>
                  <a:srgbClr val="2D3F4B"/>
                </a:solidFill>
                <a:latin typeface="Arial"/>
                <a:ea typeface="Arial"/>
                <a:cs typeface="Arial"/>
              </a:rPr>
              <a:t>Context Engineering entscheidet, welche Informationen das Modell für die aktuelle Aufgabe tatsächlich sieht.</a:t>
            </a:r>
          </a:p>
        </p:txBody>
      </p:sp>
      <p:sp>
        <p:nvSpPr>
          <p:cNvPr id="9" name="Gerader Verbinder 8">
            <a:extLst>
              <a:ext uri="{FF2B5EF4-FFF2-40B4-BE49-F238E27FC236}">
                <a16:creationId xmlns:a16="http://schemas.microsoft.com/office/drawing/2014/main" id="{D9549AF6-D69C-4F01-92F6-62BF6C2E4D89}"/>
              </a:ext>
            </a:extLst>
          </p:cNvPr>
          <p:cNvSpPr>
            <a:spLocks noGrp="1"/>
          </p:cNvSpPr>
          <p:nvPr/>
        </p:nvSpPr>
        <p:spPr>
          <a:xfrm>
            <a:off x="668266" y="3279047"/>
            <a:ext cx="2441571" cy="0"/>
          </a:xfrm>
          <a:prstGeom prst="line">
            <a:avLst/>
          </a:prstGeom>
          <a:ln w="28575">
            <a:solidFill>
              <a:srgbClr val="C60C30"/>
            </a:solidFill>
            <a:prstDash val="solid"/>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12" name="Textfeld 11">
            <a:extLst>
              <a:ext uri="{FF2B5EF4-FFF2-40B4-BE49-F238E27FC236}">
                <a16:creationId xmlns:a16="http://schemas.microsoft.com/office/drawing/2014/main" id="{7CF9C841-C1B0-9E1A-2159-076355393AA7}"/>
              </a:ext>
            </a:extLst>
          </p:cNvPr>
          <p:cNvSpPr>
            <a:spLocks noGrp="1"/>
          </p:cNvSpPr>
          <p:nvPr/>
        </p:nvSpPr>
        <p:spPr>
          <a:xfrm>
            <a:off x="668265" y="2923425"/>
            <a:ext cx="2441570" cy="276999"/>
          </a:xfrm>
          <a:prstGeom prst="rect">
            <a:avLst/>
          </a:prstGeom>
          <a:noFill/>
        </p:spPr>
        <p:txBody>
          <a:bodyPr wrap="square" lIns="0" tIns="0" rIns="0" bIns="0" anchor="ctr">
            <a:spAutoFit/>
          </a:bodyPr>
          <a:lstStyle/>
          <a:p>
            <a:pPr algn="ctr">
              <a:buNone/>
              <a:defRPr sz="1800" b="1">
                <a:solidFill>
                  <a:srgbClr val="2D3F4B"/>
                </a:solidFill>
                <a:latin typeface="Arial"/>
                <a:ea typeface="Arial"/>
                <a:cs typeface="Arial"/>
              </a:defRPr>
            </a:pPr>
            <a:r>
              <a:rPr sz="1800" b="1">
                <a:solidFill>
                  <a:srgbClr val="2D3F4B"/>
                </a:solidFill>
                <a:latin typeface="Arial"/>
                <a:ea typeface="Arial"/>
                <a:cs typeface="Arial"/>
              </a:rPr>
              <a:t>RAG</a:t>
            </a:r>
          </a:p>
        </p:txBody>
      </p:sp>
      <p:sp>
        <p:nvSpPr>
          <p:cNvPr id="13" name="Textfeld 12">
            <a:extLst>
              <a:ext uri="{FF2B5EF4-FFF2-40B4-BE49-F238E27FC236}">
                <a16:creationId xmlns:a16="http://schemas.microsoft.com/office/drawing/2014/main" id="{DF95F684-B212-F433-4493-2B6CB6EA4ED0}"/>
              </a:ext>
            </a:extLst>
          </p:cNvPr>
          <p:cNvSpPr>
            <a:spLocks noGrp="1"/>
          </p:cNvSpPr>
          <p:nvPr/>
        </p:nvSpPr>
        <p:spPr>
          <a:xfrm>
            <a:off x="668263" y="3450033"/>
            <a:ext cx="2441571" cy="553998"/>
          </a:xfrm>
          <a:prstGeom prst="rect">
            <a:avLst/>
          </a:prstGeom>
          <a:noFill/>
        </p:spPr>
        <p:txBody>
          <a:bodyPr wrap="square" lIns="0" tIns="0" rIns="0" bIns="0" anchor="ctr">
            <a:spAutoFit/>
          </a:bodyPr>
          <a:lstStyle/>
          <a:p>
            <a:pPr algn="ctr">
              <a:buNone/>
              <a:defRPr sz="1650">
                <a:solidFill>
                  <a:srgbClr val="2D3F4B"/>
                </a:solidFill>
                <a:latin typeface="Arial"/>
                <a:ea typeface="Arial"/>
                <a:cs typeface="Arial"/>
              </a:defRPr>
            </a:pPr>
            <a:r>
              <a:rPr sz="1650">
                <a:solidFill>
                  <a:srgbClr val="2D3F4B"/>
                </a:solidFill>
                <a:latin typeface="Arial"/>
                <a:ea typeface="Arial"/>
                <a:cs typeface="Arial"/>
              </a:rPr>
              <a:t>relevante</a:t>
            </a:r>
          </a:p>
          <a:p>
            <a:pPr algn="ctr">
              <a:buNone/>
              <a:defRPr sz="1650">
                <a:solidFill>
                  <a:srgbClr val="2D3F4B"/>
                </a:solidFill>
                <a:latin typeface="Arial"/>
                <a:ea typeface="Arial"/>
                <a:cs typeface="Arial"/>
              </a:defRPr>
            </a:pPr>
            <a:r>
              <a:rPr sz="1650">
                <a:solidFill>
                  <a:srgbClr val="2D3F4B"/>
                </a:solidFill>
                <a:latin typeface="Arial"/>
                <a:ea typeface="Arial"/>
                <a:cs typeface="Arial"/>
              </a:rPr>
              <a:t>Dokument-Chunks</a:t>
            </a:r>
          </a:p>
        </p:txBody>
      </p:sp>
      <p:sp>
        <p:nvSpPr>
          <p:cNvPr id="16" name="Gerader Verbinder 15">
            <a:extLst>
              <a:ext uri="{FF2B5EF4-FFF2-40B4-BE49-F238E27FC236}">
                <a16:creationId xmlns:a16="http://schemas.microsoft.com/office/drawing/2014/main" id="{3B56A8C2-0070-4B78-8263-0D063BEB9F2B}"/>
              </a:ext>
            </a:extLst>
          </p:cNvPr>
          <p:cNvSpPr>
            <a:spLocks noGrp="1"/>
          </p:cNvSpPr>
          <p:nvPr/>
        </p:nvSpPr>
        <p:spPr>
          <a:xfrm>
            <a:off x="3634826" y="3248891"/>
            <a:ext cx="2441571" cy="0"/>
          </a:xfrm>
          <a:prstGeom prst="line">
            <a:avLst/>
          </a:prstGeom>
          <a:ln w="28575">
            <a:solidFill>
              <a:srgbClr val="9BC7EE"/>
            </a:solidFill>
            <a:prstDash val="solid"/>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17" name="Textfeld 16">
            <a:extLst>
              <a:ext uri="{FF2B5EF4-FFF2-40B4-BE49-F238E27FC236}">
                <a16:creationId xmlns:a16="http://schemas.microsoft.com/office/drawing/2014/main" id="{80EE699B-3600-A474-540C-811337A86E65}"/>
              </a:ext>
            </a:extLst>
          </p:cNvPr>
          <p:cNvSpPr>
            <a:spLocks noGrp="1"/>
          </p:cNvSpPr>
          <p:nvPr/>
        </p:nvSpPr>
        <p:spPr>
          <a:xfrm>
            <a:off x="3627642" y="2865374"/>
            <a:ext cx="2441571" cy="276999"/>
          </a:xfrm>
          <a:prstGeom prst="rect">
            <a:avLst/>
          </a:prstGeom>
          <a:noFill/>
        </p:spPr>
        <p:txBody>
          <a:bodyPr wrap="square" lIns="0" tIns="0" rIns="0" bIns="0" anchor="ctr">
            <a:spAutoFit/>
          </a:bodyPr>
          <a:lstStyle/>
          <a:p>
            <a:pPr algn="ctr">
              <a:buNone/>
              <a:defRPr sz="1800" b="1">
                <a:solidFill>
                  <a:srgbClr val="2D3F4B"/>
                </a:solidFill>
                <a:latin typeface="Arial"/>
                <a:ea typeface="Arial"/>
                <a:cs typeface="Arial"/>
              </a:defRPr>
            </a:pPr>
            <a:r>
              <a:rPr sz="1800" b="1">
                <a:solidFill>
                  <a:srgbClr val="2D3F4B"/>
                </a:solidFill>
                <a:latin typeface="Arial"/>
                <a:ea typeface="Arial"/>
                <a:cs typeface="Arial"/>
              </a:rPr>
              <a:t>MCP-Tools</a:t>
            </a:r>
          </a:p>
        </p:txBody>
      </p:sp>
      <p:sp>
        <p:nvSpPr>
          <p:cNvPr id="18" name="Textfeld 17">
            <a:extLst>
              <a:ext uri="{FF2B5EF4-FFF2-40B4-BE49-F238E27FC236}">
                <a16:creationId xmlns:a16="http://schemas.microsoft.com/office/drawing/2014/main" id="{DFEA7FD6-B342-BA72-3E4C-6A669CBD5463}"/>
              </a:ext>
            </a:extLst>
          </p:cNvPr>
          <p:cNvSpPr>
            <a:spLocks noGrp="1"/>
          </p:cNvSpPr>
          <p:nvPr/>
        </p:nvSpPr>
        <p:spPr>
          <a:xfrm>
            <a:off x="3634826" y="3408280"/>
            <a:ext cx="2441571" cy="553998"/>
          </a:xfrm>
          <a:prstGeom prst="rect">
            <a:avLst/>
          </a:prstGeom>
          <a:noFill/>
        </p:spPr>
        <p:txBody>
          <a:bodyPr wrap="square" lIns="0" tIns="0" rIns="0" bIns="0" anchor="ctr">
            <a:spAutoFit/>
          </a:bodyPr>
          <a:lstStyle/>
          <a:p>
            <a:pPr algn="ctr">
              <a:buNone/>
              <a:defRPr sz="1650">
                <a:solidFill>
                  <a:srgbClr val="2D3F4B"/>
                </a:solidFill>
                <a:latin typeface="Arial"/>
                <a:ea typeface="Arial"/>
                <a:cs typeface="Arial"/>
              </a:defRPr>
            </a:pPr>
            <a:r>
              <a:rPr sz="1650">
                <a:solidFill>
                  <a:srgbClr val="2D3F4B"/>
                </a:solidFill>
                <a:latin typeface="Arial"/>
                <a:ea typeface="Arial"/>
                <a:cs typeface="Arial"/>
              </a:rPr>
              <a:t>aktuelle Daten</a:t>
            </a:r>
          </a:p>
          <a:p>
            <a:pPr algn="ctr">
              <a:buNone/>
              <a:defRPr sz="1650">
                <a:solidFill>
                  <a:srgbClr val="2D3F4B"/>
                </a:solidFill>
                <a:latin typeface="Arial"/>
                <a:ea typeface="Arial"/>
                <a:cs typeface="Arial"/>
              </a:defRPr>
            </a:pPr>
            <a:r>
              <a:rPr sz="1650">
                <a:solidFill>
                  <a:srgbClr val="2D3F4B"/>
                </a:solidFill>
                <a:latin typeface="Arial"/>
                <a:ea typeface="Arial"/>
                <a:cs typeface="Arial"/>
              </a:rPr>
              <a:t>und Aktionen</a:t>
            </a:r>
          </a:p>
        </p:txBody>
      </p:sp>
      <p:sp>
        <p:nvSpPr>
          <p:cNvPr id="26" name="Gerader Verbinder 25">
            <a:extLst>
              <a:ext uri="{FF2B5EF4-FFF2-40B4-BE49-F238E27FC236}">
                <a16:creationId xmlns:a16="http://schemas.microsoft.com/office/drawing/2014/main" id="{DAA5B841-1404-4F3A-A17C-AA16A49EAAC9}"/>
              </a:ext>
            </a:extLst>
          </p:cNvPr>
          <p:cNvSpPr>
            <a:spLocks noGrp="1"/>
          </p:cNvSpPr>
          <p:nvPr/>
        </p:nvSpPr>
        <p:spPr>
          <a:xfrm>
            <a:off x="6489637" y="3248891"/>
            <a:ext cx="2441568" cy="0"/>
          </a:xfrm>
          <a:prstGeom prst="line">
            <a:avLst/>
          </a:prstGeom>
          <a:ln w="28575">
            <a:solidFill>
              <a:srgbClr val="43858A"/>
            </a:solidFill>
            <a:prstDash val="solid"/>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21" name="Textfeld 20">
            <a:extLst>
              <a:ext uri="{FF2B5EF4-FFF2-40B4-BE49-F238E27FC236}">
                <a16:creationId xmlns:a16="http://schemas.microsoft.com/office/drawing/2014/main" id="{3E91CA84-30F3-7882-F0B4-34A2AA9A47FE}"/>
              </a:ext>
            </a:extLst>
          </p:cNvPr>
          <p:cNvSpPr>
            <a:spLocks noGrp="1"/>
          </p:cNvSpPr>
          <p:nvPr/>
        </p:nvSpPr>
        <p:spPr>
          <a:xfrm>
            <a:off x="6489635" y="2885276"/>
            <a:ext cx="2441570" cy="276999"/>
          </a:xfrm>
          <a:prstGeom prst="rect">
            <a:avLst/>
          </a:prstGeom>
          <a:noFill/>
        </p:spPr>
        <p:txBody>
          <a:bodyPr wrap="square" lIns="0" tIns="0" rIns="0" bIns="0" anchor="ctr">
            <a:spAutoFit/>
          </a:bodyPr>
          <a:lstStyle/>
          <a:p>
            <a:pPr algn="ctr">
              <a:buNone/>
              <a:defRPr sz="1800" b="1">
                <a:solidFill>
                  <a:srgbClr val="2D3F4B"/>
                </a:solidFill>
                <a:latin typeface="Arial"/>
                <a:ea typeface="Arial"/>
                <a:cs typeface="Arial"/>
              </a:defRPr>
            </a:pPr>
            <a:r>
              <a:rPr sz="1800" b="1">
                <a:solidFill>
                  <a:srgbClr val="2D3F4B"/>
                </a:solidFill>
                <a:latin typeface="Arial"/>
                <a:ea typeface="Arial"/>
                <a:cs typeface="Arial"/>
              </a:rPr>
              <a:t>Skills</a:t>
            </a:r>
          </a:p>
        </p:txBody>
      </p:sp>
      <p:sp>
        <p:nvSpPr>
          <p:cNvPr id="22" name="Textfeld 21">
            <a:extLst>
              <a:ext uri="{FF2B5EF4-FFF2-40B4-BE49-F238E27FC236}">
                <a16:creationId xmlns:a16="http://schemas.microsoft.com/office/drawing/2014/main" id="{B1FFBAAC-2612-DE64-FB55-0C73CF85209A}"/>
              </a:ext>
            </a:extLst>
          </p:cNvPr>
          <p:cNvSpPr>
            <a:spLocks noGrp="1"/>
          </p:cNvSpPr>
          <p:nvPr/>
        </p:nvSpPr>
        <p:spPr>
          <a:xfrm>
            <a:off x="6489636" y="3425378"/>
            <a:ext cx="2441568" cy="553998"/>
          </a:xfrm>
          <a:prstGeom prst="rect">
            <a:avLst/>
          </a:prstGeom>
          <a:noFill/>
        </p:spPr>
        <p:txBody>
          <a:bodyPr wrap="square" lIns="0" tIns="0" rIns="0" bIns="0" anchor="ctr">
            <a:spAutoFit/>
          </a:bodyPr>
          <a:lstStyle/>
          <a:p>
            <a:pPr algn="ctr">
              <a:buNone/>
              <a:defRPr sz="1650">
                <a:solidFill>
                  <a:srgbClr val="2D3F4B"/>
                </a:solidFill>
                <a:latin typeface="Arial"/>
                <a:ea typeface="Arial"/>
                <a:cs typeface="Arial"/>
              </a:defRPr>
            </a:pPr>
            <a:r>
              <a:rPr sz="1650">
                <a:solidFill>
                  <a:srgbClr val="2D3F4B"/>
                </a:solidFill>
                <a:latin typeface="Arial"/>
                <a:ea typeface="Arial"/>
                <a:cs typeface="Arial"/>
              </a:rPr>
              <a:t>Anweisungen</a:t>
            </a:r>
          </a:p>
          <a:p>
            <a:pPr algn="ctr">
              <a:buNone/>
              <a:defRPr sz="1650">
                <a:solidFill>
                  <a:srgbClr val="2D3F4B"/>
                </a:solidFill>
                <a:latin typeface="Arial"/>
                <a:ea typeface="Arial"/>
                <a:cs typeface="Arial"/>
              </a:defRPr>
            </a:pPr>
            <a:r>
              <a:rPr sz="1650">
                <a:solidFill>
                  <a:srgbClr val="2D3F4B"/>
                </a:solidFill>
                <a:latin typeface="Arial"/>
                <a:ea typeface="Arial"/>
                <a:cs typeface="Arial"/>
              </a:rPr>
              <a:t>und Workflows</a:t>
            </a:r>
          </a:p>
        </p:txBody>
      </p:sp>
      <p:sp>
        <p:nvSpPr>
          <p:cNvPr id="29" name="Gerader Verbinder 28">
            <a:extLst>
              <a:ext uri="{FF2B5EF4-FFF2-40B4-BE49-F238E27FC236}">
                <a16:creationId xmlns:a16="http://schemas.microsoft.com/office/drawing/2014/main" id="{3AF7B58B-63CE-4B5D-8393-7C3E960C87D2}"/>
              </a:ext>
            </a:extLst>
          </p:cNvPr>
          <p:cNvSpPr>
            <a:spLocks noGrp="1"/>
          </p:cNvSpPr>
          <p:nvPr/>
        </p:nvSpPr>
        <p:spPr>
          <a:xfrm>
            <a:off x="9344444" y="3281822"/>
            <a:ext cx="2441567" cy="0"/>
          </a:xfrm>
          <a:prstGeom prst="line">
            <a:avLst/>
          </a:prstGeom>
          <a:ln w="28575">
            <a:solidFill>
              <a:srgbClr val="C9960F"/>
            </a:solidFill>
            <a:prstDash val="solid"/>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30" name="Textfeld 29">
            <a:extLst>
              <a:ext uri="{FF2B5EF4-FFF2-40B4-BE49-F238E27FC236}">
                <a16:creationId xmlns:a16="http://schemas.microsoft.com/office/drawing/2014/main" id="{55BD1810-2D8D-19B9-CDE7-6969A0F81BED}"/>
              </a:ext>
            </a:extLst>
          </p:cNvPr>
          <p:cNvSpPr>
            <a:spLocks noGrp="1"/>
          </p:cNvSpPr>
          <p:nvPr/>
        </p:nvSpPr>
        <p:spPr>
          <a:xfrm>
            <a:off x="9344442" y="2923425"/>
            <a:ext cx="2621587" cy="276999"/>
          </a:xfrm>
          <a:prstGeom prst="rect">
            <a:avLst/>
          </a:prstGeom>
          <a:noFill/>
        </p:spPr>
        <p:txBody>
          <a:bodyPr wrap="square" lIns="0" tIns="0" rIns="0" bIns="0" anchor="ctr">
            <a:spAutoFit/>
          </a:bodyPr>
          <a:lstStyle/>
          <a:p>
            <a:pPr algn="ctr">
              <a:buNone/>
              <a:defRPr sz="1800" b="1">
                <a:solidFill>
                  <a:srgbClr val="2D3F4B"/>
                </a:solidFill>
                <a:latin typeface="Arial"/>
                <a:ea typeface="Arial"/>
                <a:cs typeface="Arial"/>
              </a:defRPr>
            </a:pPr>
            <a:r>
              <a:rPr sz="1800" b="1">
                <a:solidFill>
                  <a:srgbClr val="2D3F4B"/>
                </a:solidFill>
                <a:latin typeface="Arial"/>
                <a:ea typeface="Arial"/>
                <a:cs typeface="Arial"/>
              </a:rPr>
              <a:t>Kontextfenster</a:t>
            </a:r>
          </a:p>
        </p:txBody>
      </p:sp>
      <p:sp>
        <p:nvSpPr>
          <p:cNvPr id="31" name="Textfeld 30">
            <a:extLst>
              <a:ext uri="{FF2B5EF4-FFF2-40B4-BE49-F238E27FC236}">
                <a16:creationId xmlns:a16="http://schemas.microsoft.com/office/drawing/2014/main" id="{CCC7E1F5-DDF5-2B67-B021-454272284078}"/>
              </a:ext>
            </a:extLst>
          </p:cNvPr>
          <p:cNvSpPr>
            <a:spLocks noGrp="1"/>
          </p:cNvSpPr>
          <p:nvPr/>
        </p:nvSpPr>
        <p:spPr>
          <a:xfrm>
            <a:off x="9410700" y="3530741"/>
            <a:ext cx="2309051" cy="553998"/>
          </a:xfrm>
          <a:prstGeom prst="rect">
            <a:avLst/>
          </a:prstGeom>
          <a:noFill/>
        </p:spPr>
        <p:txBody>
          <a:bodyPr wrap="square" lIns="0" tIns="0" rIns="0" bIns="0" anchor="ctr">
            <a:spAutoFit/>
          </a:bodyPr>
          <a:lstStyle/>
          <a:p>
            <a:pPr algn="ctr">
              <a:buNone/>
              <a:defRPr sz="1650">
                <a:solidFill>
                  <a:srgbClr val="2D3F4B"/>
                </a:solidFill>
                <a:latin typeface="Arial"/>
                <a:ea typeface="Arial"/>
                <a:cs typeface="Arial"/>
              </a:defRPr>
            </a:pPr>
            <a:r>
              <a:rPr sz="1650">
                <a:solidFill>
                  <a:srgbClr val="2D3F4B"/>
                </a:solidFill>
                <a:latin typeface="Arial"/>
                <a:ea typeface="Arial"/>
                <a:cs typeface="Arial"/>
              </a:rPr>
              <a:t>Frage, Verlauf</a:t>
            </a:r>
          </a:p>
          <a:p>
            <a:pPr algn="ctr">
              <a:buNone/>
              <a:defRPr sz="1650">
                <a:solidFill>
                  <a:srgbClr val="2D3F4B"/>
                </a:solidFill>
                <a:latin typeface="Arial"/>
                <a:ea typeface="Arial"/>
                <a:cs typeface="Arial"/>
              </a:defRPr>
            </a:pPr>
            <a:r>
              <a:rPr sz="1650">
                <a:solidFill>
                  <a:srgbClr val="2D3F4B"/>
                </a:solidFill>
                <a:latin typeface="Arial"/>
                <a:ea typeface="Arial"/>
                <a:cs typeface="Arial"/>
              </a:rPr>
              <a:t>und Inhalte</a:t>
            </a:r>
          </a:p>
        </p:txBody>
      </p:sp>
      <p:sp>
        <p:nvSpPr>
          <p:cNvPr id="33" name="Rechteck: abgerundete Ecken 32">
            <a:extLst>
              <a:ext uri="{FF2B5EF4-FFF2-40B4-BE49-F238E27FC236}">
                <a16:creationId xmlns:a16="http://schemas.microsoft.com/office/drawing/2014/main" id="{8C0DA19A-A848-5F86-B15F-117B973089E4}"/>
              </a:ext>
            </a:extLst>
          </p:cNvPr>
          <p:cNvSpPr>
            <a:spLocks noGrp="1"/>
          </p:cNvSpPr>
          <p:nvPr/>
        </p:nvSpPr>
        <p:spPr>
          <a:xfrm>
            <a:off x="4286250" y="4905375"/>
            <a:ext cx="3619500" cy="819150"/>
          </a:xfrm>
          <a:prstGeom prst="roundRect">
            <a:avLst>
              <a:gd name="adj" fmla="val 20930"/>
            </a:avLst>
          </a:prstGeom>
          <a:solidFill>
            <a:schemeClr val="bg2"/>
          </a:solidFill>
          <a:ln w="0">
            <a:solidFill>
              <a:schemeClr val="accent3"/>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5" name="Textfeld 34">
            <a:extLst>
              <a:ext uri="{FF2B5EF4-FFF2-40B4-BE49-F238E27FC236}">
                <a16:creationId xmlns:a16="http://schemas.microsoft.com/office/drawing/2014/main" id="{363D0D2F-6233-A6AA-8138-E4996E24545F}"/>
              </a:ext>
            </a:extLst>
          </p:cNvPr>
          <p:cNvSpPr>
            <a:spLocks noGrp="1"/>
          </p:cNvSpPr>
          <p:nvPr/>
        </p:nvSpPr>
        <p:spPr>
          <a:xfrm>
            <a:off x="4286250" y="5161061"/>
            <a:ext cx="3619500" cy="307777"/>
          </a:xfrm>
          <a:prstGeom prst="rect">
            <a:avLst/>
          </a:prstGeom>
          <a:noFill/>
        </p:spPr>
        <p:txBody>
          <a:bodyPr wrap="square" lIns="0" tIns="0" rIns="0" bIns="0" anchor="ctr">
            <a:spAutoFit/>
          </a:bodyPr>
          <a:lstStyle/>
          <a:p>
            <a:pPr algn="ctr">
              <a:buNone/>
              <a:defRPr sz="2025" b="1">
                <a:solidFill>
                  <a:srgbClr val="FFFFFF"/>
                </a:solidFill>
                <a:latin typeface="Arial"/>
                <a:ea typeface="Arial"/>
                <a:cs typeface="Arial"/>
              </a:defRPr>
            </a:pPr>
            <a:r>
              <a:rPr sz="2000" b="1">
                <a:solidFill>
                  <a:srgbClr val="2D3F4B"/>
                </a:solidFill>
                <a:latin typeface="Arial"/>
                <a:ea typeface="Arial"/>
                <a:cs typeface="Arial"/>
              </a:rPr>
              <a:t>LLM-KONTEXT</a:t>
            </a:r>
            <a:endParaRPr sz="2025" b="1">
              <a:solidFill>
                <a:srgbClr val="2D3F4B"/>
              </a:solidFill>
              <a:latin typeface="Arial"/>
              <a:ea typeface="Arial"/>
              <a:cs typeface="Arial"/>
            </a:endParaRPr>
          </a:p>
        </p:txBody>
      </p:sp>
      <p:cxnSp>
        <p:nvCxnSpPr>
          <p:cNvPr id="107" name="Gerade Verbindung mit Pfeil 44"/>
          <p:cNvCxnSpPr>
            <a:endCxn id="35" idx="1"/>
          </p:cNvCxnSpPr>
          <p:nvPr/>
        </p:nvCxnSpPr>
        <p:spPr>
          <a:xfrm>
            <a:off x="1844618" y="4247075"/>
            <a:ext cx="2441632" cy="1067875"/>
          </a:xfrm>
          <a:prstGeom prst="straightConnector1">
            <a:avLst/>
          </a:prstGeom>
          <a:ln w="23813">
            <a:solidFill>
              <a:srgbClr val="C60C3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08" name="Gerade Verbindung mit Pfeil 48"/>
          <p:cNvCxnSpPr/>
          <p:nvPr/>
        </p:nvCxnSpPr>
        <p:spPr>
          <a:xfrm>
            <a:off x="4815840" y="4215465"/>
            <a:ext cx="776897" cy="667860"/>
          </a:xfrm>
          <a:prstGeom prst="straightConnector1">
            <a:avLst/>
          </a:prstGeom>
          <a:ln w="23813">
            <a:solidFill>
              <a:srgbClr val="9BC7EE"/>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09" name="Gerade Verbindung mit Pfeil 50"/>
          <p:cNvCxnSpPr/>
          <p:nvPr/>
        </p:nvCxnSpPr>
        <p:spPr>
          <a:xfrm flipH="1">
            <a:off x="6510362" y="4215465"/>
            <a:ext cx="1239178" cy="667860"/>
          </a:xfrm>
          <a:prstGeom prst="straightConnector1">
            <a:avLst/>
          </a:prstGeom>
          <a:ln w="23813">
            <a:solidFill>
              <a:srgbClr val="43858A"/>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10" name="Gerade Verbindung mit Pfeil 52"/>
          <p:cNvCxnSpPr>
            <a:endCxn id="35" idx="3"/>
          </p:cNvCxnSpPr>
          <p:nvPr/>
        </p:nvCxnSpPr>
        <p:spPr>
          <a:xfrm flipH="1">
            <a:off x="7905750" y="4231270"/>
            <a:ext cx="2716530" cy="1083680"/>
          </a:xfrm>
          <a:prstGeom prst="straightConnector1">
            <a:avLst/>
          </a:prstGeom>
          <a:ln w="23813">
            <a:solidFill>
              <a:srgbClr val="C9960F"/>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4" name="RAG-accent-bar">
            <a:extLst>
              <a:ext uri="{FF2B5EF4-FFF2-40B4-BE49-F238E27FC236}">
                <a16:creationId xmlns:a16="http://schemas.microsoft.com/office/drawing/2014/main" id="{9EC82F57-08FA-4E52-966F-E447140C1A50}"/>
              </a:ext>
            </a:extLst>
          </p:cNvPr>
          <p:cNvSpPr>
            <a:spLocks noGrp="1"/>
          </p:cNvSpPr>
          <p:nvPr/>
        </p:nvSpPr>
        <p:spPr>
          <a:xfrm>
            <a:off x="668274" y="2700708"/>
            <a:ext cx="2441543" cy="93355"/>
          </a:xfrm>
          <a:prstGeom prst="rect">
            <a:avLst/>
          </a:prstGeom>
          <a:solidFill>
            <a:srgbClr val="C60C30"/>
          </a:solidFill>
          <a:ln w="0">
            <a:solidFill>
              <a:srgbClr val="C60C30"/>
            </a:solidFill>
            <a:prstDash val="solid"/>
          </a:ln>
        </p:spPr>
        <p:txBody>
          <a:bodyPr/>
          <a:lstStyle/>
          <a:p>
            <a:endParaRPr/>
          </a:p>
        </p:txBody>
      </p:sp>
      <p:sp>
        <p:nvSpPr>
          <p:cNvPr id="55" name="MCP-Tools-accent-bar">
            <a:extLst>
              <a:ext uri="{FF2B5EF4-FFF2-40B4-BE49-F238E27FC236}">
                <a16:creationId xmlns:a16="http://schemas.microsoft.com/office/drawing/2014/main" id="{0634EF25-1DCC-428A-A386-E202ED0EBF10}"/>
              </a:ext>
            </a:extLst>
          </p:cNvPr>
          <p:cNvSpPr>
            <a:spLocks noGrp="1"/>
          </p:cNvSpPr>
          <p:nvPr/>
        </p:nvSpPr>
        <p:spPr>
          <a:xfrm>
            <a:off x="3620396" y="2688723"/>
            <a:ext cx="2441543" cy="97758"/>
          </a:xfrm>
          <a:prstGeom prst="rect">
            <a:avLst/>
          </a:prstGeom>
          <a:solidFill>
            <a:srgbClr val="9BC7EE"/>
          </a:solidFill>
          <a:ln w="0">
            <a:solidFill>
              <a:srgbClr val="9BC7EE"/>
            </a:solidFill>
            <a:prstDash val="solid"/>
          </a:ln>
        </p:spPr>
        <p:txBody>
          <a:bodyPr/>
          <a:lstStyle/>
          <a:p>
            <a:endParaRPr/>
          </a:p>
        </p:txBody>
      </p:sp>
      <p:sp>
        <p:nvSpPr>
          <p:cNvPr id="56" name="Skills-accent-bar">
            <a:extLst>
              <a:ext uri="{FF2B5EF4-FFF2-40B4-BE49-F238E27FC236}">
                <a16:creationId xmlns:a16="http://schemas.microsoft.com/office/drawing/2014/main" id="{FA8AE44F-41CA-4D1C-9E2E-0D254B53F9C9}"/>
              </a:ext>
            </a:extLst>
          </p:cNvPr>
          <p:cNvSpPr>
            <a:spLocks noGrp="1"/>
          </p:cNvSpPr>
          <p:nvPr/>
        </p:nvSpPr>
        <p:spPr>
          <a:xfrm>
            <a:off x="6475178" y="2696887"/>
            <a:ext cx="2441543" cy="97169"/>
          </a:xfrm>
          <a:prstGeom prst="rect">
            <a:avLst/>
          </a:prstGeom>
          <a:solidFill>
            <a:srgbClr val="43858A"/>
          </a:solidFill>
          <a:ln w="0">
            <a:solidFill>
              <a:srgbClr val="43858A"/>
            </a:solidFill>
            <a:prstDash val="solid"/>
          </a:ln>
        </p:spPr>
        <p:txBody>
          <a:bodyPr/>
          <a:lstStyle/>
          <a:p>
            <a:endParaRPr/>
          </a:p>
        </p:txBody>
      </p:sp>
      <p:sp>
        <p:nvSpPr>
          <p:cNvPr id="57" name="Kontextfenster-accent-bar">
            <a:extLst>
              <a:ext uri="{FF2B5EF4-FFF2-40B4-BE49-F238E27FC236}">
                <a16:creationId xmlns:a16="http://schemas.microsoft.com/office/drawing/2014/main" id="{01A6F93A-A880-43C5-A386-38FE5A35AE6A}"/>
              </a:ext>
            </a:extLst>
          </p:cNvPr>
          <p:cNvSpPr>
            <a:spLocks noGrp="1"/>
          </p:cNvSpPr>
          <p:nvPr/>
        </p:nvSpPr>
        <p:spPr>
          <a:xfrm>
            <a:off x="9329166" y="2688724"/>
            <a:ext cx="2441543" cy="105340"/>
          </a:xfrm>
          <a:prstGeom prst="rect">
            <a:avLst/>
          </a:prstGeom>
          <a:solidFill>
            <a:srgbClr val="C9960F"/>
          </a:solidFill>
          <a:ln w="0">
            <a:solidFill>
              <a:srgbClr val="C9960F"/>
            </a:solidFill>
            <a:prstDash val="solid"/>
          </a:ln>
        </p:spPr>
        <p:txBody>
          <a:bodyPr/>
          <a:lstStyle/>
          <a:p>
            <a:endParaRPr/>
          </a:p>
        </p:txBody>
      </p:sp>
      <p:sp>
        <p:nvSpPr>
          <p:cNvPr id="58" name="llm-context-caption">
            <a:extLst>
              <a:ext uri="{FF2B5EF4-FFF2-40B4-BE49-F238E27FC236}">
                <a16:creationId xmlns:a16="http://schemas.microsoft.com/office/drawing/2014/main" id="{590DE59E-99BD-42AC-AC8F-134CB047FA08}"/>
              </a:ext>
            </a:extLst>
          </p:cNvPr>
          <p:cNvSpPr>
            <a:spLocks noGrp="1"/>
          </p:cNvSpPr>
          <p:nvPr/>
        </p:nvSpPr>
        <p:spPr>
          <a:xfrm>
            <a:off x="4286250" y="5810250"/>
            <a:ext cx="3619500" cy="472727"/>
          </a:xfrm>
          <a:prstGeom prst="rect">
            <a:avLst/>
          </a:prstGeom>
          <a:noFill/>
          <a:ln w="0">
            <a:noFill/>
            <a:prstDash val="solid"/>
          </a:ln>
        </p:spPr>
        <p:txBody>
          <a:bodyPr anchor="ctr"/>
          <a:lstStyle/>
          <a:p>
            <a:pPr algn="ctr">
              <a:buNone/>
              <a:defRPr sz="1275">
                <a:solidFill>
                  <a:srgbClr val="81725E"/>
                </a:solidFill>
                <a:latin typeface="Arial"/>
                <a:ea typeface="Arial"/>
                <a:cs typeface="Arial"/>
              </a:defRPr>
            </a:pPr>
            <a:r>
              <a:rPr sz="1200">
                <a:solidFill>
                  <a:schemeClr val="accent3"/>
                </a:solidFill>
                <a:latin typeface="Arial"/>
                <a:ea typeface="Arial"/>
                <a:cs typeface="Arial"/>
              </a:rPr>
              <a:t>Das Modell kann nur den zusammengestellten Kontext nutzen.</a:t>
            </a:r>
          </a:p>
        </p:txBody>
      </p:sp>
    </p:spTree>
    <p:extLst>
      <p:ext uri="{BB962C8B-B14F-4D97-AF65-F5344CB8AC3E}">
        <p14:creationId xmlns:p14="http://schemas.microsoft.com/office/powerpoint/2010/main" val="32307487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ihandform: Form 18">
            <a:extLst>
              <a:ext uri="{FF2B5EF4-FFF2-40B4-BE49-F238E27FC236}">
                <a16:creationId xmlns:a16="http://schemas.microsoft.com/office/drawing/2014/main" id="{E583B8C8-DDFA-5ABB-5C86-11A1DE9958E3}"/>
              </a:ext>
            </a:extLst>
          </p:cNvPr>
          <p:cNvSpPr>
            <a:spLocks noGrp="1"/>
          </p:cNvSpPr>
          <p:nvPr/>
        </p:nvSpPr>
        <p:spPr>
          <a:xfrm>
            <a:off x="9337998" y="4210332"/>
            <a:ext cx="2441633" cy="1518578"/>
          </a:xfrm>
          <a:custGeom>
            <a:avLst/>
            <a:gdLst>
              <a:gd name="connsiteX0" fmla="*/ 0 w 2441633"/>
              <a:gd name="connsiteY0" fmla="*/ 0 h 1518578"/>
              <a:gd name="connsiteX1" fmla="*/ 2441543 w 2441633"/>
              <a:gd name="connsiteY1" fmla="*/ 0 h 1518578"/>
              <a:gd name="connsiteX2" fmla="*/ 2441543 w 2441633"/>
              <a:gd name="connsiteY2" fmla="*/ 177511 h 1518578"/>
              <a:gd name="connsiteX3" fmla="*/ 2441633 w 2441633"/>
              <a:gd name="connsiteY3" fmla="*/ 177957 h 1518578"/>
              <a:gd name="connsiteX4" fmla="*/ 2441633 w 2441633"/>
              <a:gd name="connsiteY4" fmla="*/ 1347124 h 1518578"/>
              <a:gd name="connsiteX5" fmla="*/ 2270179 w 2441633"/>
              <a:gd name="connsiteY5" fmla="*/ 1518578 h 1518578"/>
              <a:gd name="connsiteX6" fmla="*/ 171516 w 2441633"/>
              <a:gd name="connsiteY6" fmla="*/ 1518578 h 1518578"/>
              <a:gd name="connsiteX7" fmla="*/ 62 w 2441633"/>
              <a:gd name="connsiteY7" fmla="*/ 1347124 h 1518578"/>
              <a:gd name="connsiteX8" fmla="*/ 62 w 2441633"/>
              <a:gd name="connsiteY8" fmla="*/ 590550 h 1518578"/>
              <a:gd name="connsiteX9" fmla="*/ 0 w 2441633"/>
              <a:gd name="connsiteY9" fmla="*/ 590550 h 1518578"/>
            </a:gdLst>
            <a:ahLst/>
            <a:cxnLst/>
            <a:rect l="l" t="t" r="r" b="b"/>
            <a:pathLst>
              <a:path w="2441633" h="1518578">
                <a:moveTo>
                  <a:pt x="0" y="0"/>
                </a:moveTo>
                <a:lnTo>
                  <a:pt x="2441543" y="0"/>
                </a:lnTo>
                <a:lnTo>
                  <a:pt x="2441543" y="177511"/>
                </a:lnTo>
                <a:lnTo>
                  <a:pt x="2441633" y="177957"/>
                </a:lnTo>
                <a:lnTo>
                  <a:pt x="2441633" y="1347124"/>
                </a:lnTo>
                <a:cubicBezTo>
                  <a:pt x="2441633" y="1441815"/>
                  <a:pt x="2364870" y="1518578"/>
                  <a:pt x="2270179" y="1518578"/>
                </a:cubicBezTo>
                <a:lnTo>
                  <a:pt x="171516" y="1518578"/>
                </a:lnTo>
                <a:cubicBezTo>
                  <a:pt x="76825" y="1518578"/>
                  <a:pt x="62" y="1441815"/>
                  <a:pt x="62" y="1347124"/>
                </a:cubicBezTo>
                <a:lnTo>
                  <a:pt x="62" y="590550"/>
                </a:lnTo>
                <a:lnTo>
                  <a:pt x="0" y="590550"/>
                </a:lnTo>
                <a:close/>
              </a:path>
            </a:pathLst>
          </a:custGeom>
          <a:solidFill>
            <a:schemeClr val="bg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4" name="Freihandform: Form 13">
            <a:extLst>
              <a:ext uri="{FF2B5EF4-FFF2-40B4-BE49-F238E27FC236}">
                <a16:creationId xmlns:a16="http://schemas.microsoft.com/office/drawing/2014/main" id="{740B085B-1A94-907B-A82C-4FA1C6A29294}"/>
              </a:ext>
            </a:extLst>
          </p:cNvPr>
          <p:cNvSpPr>
            <a:spLocks noGrp="1"/>
          </p:cNvSpPr>
          <p:nvPr/>
        </p:nvSpPr>
        <p:spPr>
          <a:xfrm>
            <a:off x="6482361" y="4206511"/>
            <a:ext cx="2441633" cy="1518578"/>
          </a:xfrm>
          <a:custGeom>
            <a:avLst/>
            <a:gdLst>
              <a:gd name="connsiteX0" fmla="*/ 0 w 2441633"/>
              <a:gd name="connsiteY0" fmla="*/ 0 h 1518578"/>
              <a:gd name="connsiteX1" fmla="*/ 2441543 w 2441633"/>
              <a:gd name="connsiteY1" fmla="*/ 0 h 1518578"/>
              <a:gd name="connsiteX2" fmla="*/ 2441543 w 2441633"/>
              <a:gd name="connsiteY2" fmla="*/ 177511 h 1518578"/>
              <a:gd name="connsiteX3" fmla="*/ 2441633 w 2441633"/>
              <a:gd name="connsiteY3" fmla="*/ 177957 h 1518578"/>
              <a:gd name="connsiteX4" fmla="*/ 2441633 w 2441633"/>
              <a:gd name="connsiteY4" fmla="*/ 1347124 h 1518578"/>
              <a:gd name="connsiteX5" fmla="*/ 2270179 w 2441633"/>
              <a:gd name="connsiteY5" fmla="*/ 1518578 h 1518578"/>
              <a:gd name="connsiteX6" fmla="*/ 171516 w 2441633"/>
              <a:gd name="connsiteY6" fmla="*/ 1518578 h 1518578"/>
              <a:gd name="connsiteX7" fmla="*/ 62 w 2441633"/>
              <a:gd name="connsiteY7" fmla="*/ 1347124 h 1518578"/>
              <a:gd name="connsiteX8" fmla="*/ 62 w 2441633"/>
              <a:gd name="connsiteY8" fmla="*/ 590550 h 1518578"/>
              <a:gd name="connsiteX9" fmla="*/ 0 w 2441633"/>
              <a:gd name="connsiteY9" fmla="*/ 590550 h 1518578"/>
            </a:gdLst>
            <a:ahLst/>
            <a:cxnLst/>
            <a:rect l="l" t="t" r="r" b="b"/>
            <a:pathLst>
              <a:path w="2441633" h="1518578">
                <a:moveTo>
                  <a:pt x="0" y="0"/>
                </a:moveTo>
                <a:lnTo>
                  <a:pt x="2441543" y="0"/>
                </a:lnTo>
                <a:lnTo>
                  <a:pt x="2441543" y="177511"/>
                </a:lnTo>
                <a:lnTo>
                  <a:pt x="2441633" y="177957"/>
                </a:lnTo>
                <a:lnTo>
                  <a:pt x="2441633" y="1347124"/>
                </a:lnTo>
                <a:cubicBezTo>
                  <a:pt x="2441633" y="1441815"/>
                  <a:pt x="2364870" y="1518578"/>
                  <a:pt x="2270179" y="1518578"/>
                </a:cubicBezTo>
                <a:lnTo>
                  <a:pt x="171516" y="1518578"/>
                </a:lnTo>
                <a:cubicBezTo>
                  <a:pt x="76825" y="1518578"/>
                  <a:pt x="62" y="1441815"/>
                  <a:pt x="62" y="1347124"/>
                </a:cubicBezTo>
                <a:lnTo>
                  <a:pt x="62" y="590550"/>
                </a:lnTo>
                <a:lnTo>
                  <a:pt x="0" y="590550"/>
                </a:lnTo>
                <a:close/>
              </a:path>
            </a:pathLst>
          </a:custGeom>
          <a:solidFill>
            <a:schemeClr val="bg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1" name="Freihandform: Form 10">
            <a:extLst>
              <a:ext uri="{FF2B5EF4-FFF2-40B4-BE49-F238E27FC236}">
                <a16:creationId xmlns:a16="http://schemas.microsoft.com/office/drawing/2014/main" id="{4FAA2538-3C68-D13F-331B-F04F06B13F48}"/>
              </a:ext>
            </a:extLst>
          </p:cNvPr>
          <p:cNvSpPr>
            <a:spLocks noGrp="1"/>
          </p:cNvSpPr>
          <p:nvPr/>
        </p:nvSpPr>
        <p:spPr>
          <a:xfrm>
            <a:off x="3627580" y="4210332"/>
            <a:ext cx="2441633" cy="1518578"/>
          </a:xfrm>
          <a:custGeom>
            <a:avLst/>
            <a:gdLst>
              <a:gd name="connsiteX0" fmla="*/ 0 w 2441633"/>
              <a:gd name="connsiteY0" fmla="*/ 0 h 1518578"/>
              <a:gd name="connsiteX1" fmla="*/ 2441543 w 2441633"/>
              <a:gd name="connsiteY1" fmla="*/ 0 h 1518578"/>
              <a:gd name="connsiteX2" fmla="*/ 2441543 w 2441633"/>
              <a:gd name="connsiteY2" fmla="*/ 177511 h 1518578"/>
              <a:gd name="connsiteX3" fmla="*/ 2441633 w 2441633"/>
              <a:gd name="connsiteY3" fmla="*/ 177957 h 1518578"/>
              <a:gd name="connsiteX4" fmla="*/ 2441633 w 2441633"/>
              <a:gd name="connsiteY4" fmla="*/ 1347124 h 1518578"/>
              <a:gd name="connsiteX5" fmla="*/ 2270179 w 2441633"/>
              <a:gd name="connsiteY5" fmla="*/ 1518578 h 1518578"/>
              <a:gd name="connsiteX6" fmla="*/ 171516 w 2441633"/>
              <a:gd name="connsiteY6" fmla="*/ 1518578 h 1518578"/>
              <a:gd name="connsiteX7" fmla="*/ 62 w 2441633"/>
              <a:gd name="connsiteY7" fmla="*/ 1347124 h 1518578"/>
              <a:gd name="connsiteX8" fmla="*/ 62 w 2441633"/>
              <a:gd name="connsiteY8" fmla="*/ 590550 h 1518578"/>
              <a:gd name="connsiteX9" fmla="*/ 0 w 2441633"/>
              <a:gd name="connsiteY9" fmla="*/ 590550 h 1518578"/>
            </a:gdLst>
            <a:ahLst/>
            <a:cxnLst/>
            <a:rect l="l" t="t" r="r" b="b"/>
            <a:pathLst>
              <a:path w="2441633" h="1518578">
                <a:moveTo>
                  <a:pt x="0" y="0"/>
                </a:moveTo>
                <a:lnTo>
                  <a:pt x="2441543" y="0"/>
                </a:lnTo>
                <a:lnTo>
                  <a:pt x="2441543" y="177511"/>
                </a:lnTo>
                <a:lnTo>
                  <a:pt x="2441633" y="177957"/>
                </a:lnTo>
                <a:lnTo>
                  <a:pt x="2441633" y="1347124"/>
                </a:lnTo>
                <a:cubicBezTo>
                  <a:pt x="2441633" y="1441815"/>
                  <a:pt x="2364870" y="1518578"/>
                  <a:pt x="2270179" y="1518578"/>
                </a:cubicBezTo>
                <a:lnTo>
                  <a:pt x="171516" y="1518578"/>
                </a:lnTo>
                <a:cubicBezTo>
                  <a:pt x="76825" y="1518578"/>
                  <a:pt x="62" y="1441815"/>
                  <a:pt x="62" y="1347124"/>
                </a:cubicBezTo>
                <a:lnTo>
                  <a:pt x="62" y="590550"/>
                </a:lnTo>
                <a:lnTo>
                  <a:pt x="0" y="590550"/>
                </a:lnTo>
                <a:close/>
              </a:path>
            </a:pathLst>
          </a:custGeom>
          <a:solidFill>
            <a:schemeClr val="bg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10" name="Freihandform: Form 9">
            <a:extLst>
              <a:ext uri="{FF2B5EF4-FFF2-40B4-BE49-F238E27FC236}">
                <a16:creationId xmlns:a16="http://schemas.microsoft.com/office/drawing/2014/main" id="{CD6D715C-282D-BF98-3470-59427B5AB909}"/>
              </a:ext>
            </a:extLst>
          </p:cNvPr>
          <p:cNvSpPr>
            <a:spLocks noGrp="1"/>
          </p:cNvSpPr>
          <p:nvPr/>
        </p:nvSpPr>
        <p:spPr>
          <a:xfrm>
            <a:off x="668204" y="4230513"/>
            <a:ext cx="2441633" cy="1518578"/>
          </a:xfrm>
          <a:custGeom>
            <a:avLst/>
            <a:gdLst>
              <a:gd name="connsiteX0" fmla="*/ 0 w 2441633"/>
              <a:gd name="connsiteY0" fmla="*/ 0 h 1518578"/>
              <a:gd name="connsiteX1" fmla="*/ 2441543 w 2441633"/>
              <a:gd name="connsiteY1" fmla="*/ 0 h 1518578"/>
              <a:gd name="connsiteX2" fmla="*/ 2441543 w 2441633"/>
              <a:gd name="connsiteY2" fmla="*/ 177511 h 1518578"/>
              <a:gd name="connsiteX3" fmla="*/ 2441633 w 2441633"/>
              <a:gd name="connsiteY3" fmla="*/ 177957 h 1518578"/>
              <a:gd name="connsiteX4" fmla="*/ 2441633 w 2441633"/>
              <a:gd name="connsiteY4" fmla="*/ 1347124 h 1518578"/>
              <a:gd name="connsiteX5" fmla="*/ 2270179 w 2441633"/>
              <a:gd name="connsiteY5" fmla="*/ 1518578 h 1518578"/>
              <a:gd name="connsiteX6" fmla="*/ 171516 w 2441633"/>
              <a:gd name="connsiteY6" fmla="*/ 1518578 h 1518578"/>
              <a:gd name="connsiteX7" fmla="*/ 62 w 2441633"/>
              <a:gd name="connsiteY7" fmla="*/ 1347124 h 1518578"/>
              <a:gd name="connsiteX8" fmla="*/ 62 w 2441633"/>
              <a:gd name="connsiteY8" fmla="*/ 590550 h 1518578"/>
              <a:gd name="connsiteX9" fmla="*/ 0 w 2441633"/>
              <a:gd name="connsiteY9" fmla="*/ 590550 h 1518578"/>
            </a:gdLst>
            <a:ahLst/>
            <a:cxnLst/>
            <a:rect l="l" t="t" r="r" b="b"/>
            <a:pathLst>
              <a:path w="2441633" h="1518578">
                <a:moveTo>
                  <a:pt x="0" y="0"/>
                </a:moveTo>
                <a:lnTo>
                  <a:pt x="2441543" y="0"/>
                </a:lnTo>
                <a:lnTo>
                  <a:pt x="2441543" y="177511"/>
                </a:lnTo>
                <a:lnTo>
                  <a:pt x="2441633" y="177957"/>
                </a:lnTo>
                <a:lnTo>
                  <a:pt x="2441633" y="1347124"/>
                </a:lnTo>
                <a:cubicBezTo>
                  <a:pt x="2441633" y="1441815"/>
                  <a:pt x="2364870" y="1518578"/>
                  <a:pt x="2270179" y="1518578"/>
                </a:cubicBezTo>
                <a:lnTo>
                  <a:pt x="171516" y="1518578"/>
                </a:lnTo>
                <a:cubicBezTo>
                  <a:pt x="76825" y="1518578"/>
                  <a:pt x="62" y="1441815"/>
                  <a:pt x="62" y="1347124"/>
                </a:cubicBezTo>
                <a:lnTo>
                  <a:pt x="62" y="590550"/>
                </a:lnTo>
                <a:lnTo>
                  <a:pt x="0" y="590550"/>
                </a:lnTo>
                <a:close/>
              </a:path>
            </a:pathLst>
          </a:custGeom>
          <a:solidFill>
            <a:schemeClr val="bg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2" name="Titel 1">
            <a:extLst>
              <a:ext uri="{FF2B5EF4-FFF2-40B4-BE49-F238E27FC236}">
                <a16:creationId xmlns:a16="http://schemas.microsoft.com/office/drawing/2014/main" id="{7F2941B4-99B2-B1E6-EEC3-994303920E45}"/>
              </a:ext>
            </a:extLst>
          </p:cNvPr>
          <p:cNvSpPr>
            <a:spLocks noGrp="1"/>
          </p:cNvSpPr>
          <p:nvPr>
            <p:ph type="title"/>
          </p:nvPr>
        </p:nvSpPr>
        <p:spPr/>
        <p:txBody>
          <a:bodyPr/>
          <a:lstStyle/>
          <a:p>
            <a:r>
              <a:t>Vier Bausteine formen den LLM-Kontext</a:t>
            </a:r>
          </a:p>
        </p:txBody>
      </p:sp>
      <p:sp>
        <p:nvSpPr>
          <p:cNvPr id="3" name="Datumsplatzhalter 2">
            <a:extLst>
              <a:ext uri="{FF2B5EF4-FFF2-40B4-BE49-F238E27FC236}">
                <a16:creationId xmlns:a16="http://schemas.microsoft.com/office/drawing/2014/main" id="{D7A223C7-C588-4E61-CA6D-DC4757B078FE}"/>
              </a:ext>
            </a:extLst>
          </p:cNvPr>
          <p:cNvSpPr>
            <a:spLocks noGrp="1"/>
          </p:cNvSpPr>
          <p:nvPr>
            <p:ph type="dt" idx="10"/>
          </p:nvPr>
        </p:nvSpPr>
        <p:spPr/>
        <p:txBody>
          <a:bodyPr/>
          <a:lstStyle/>
          <a:p>
            <a:fld id="{E2111384-F462-4D90-9803-E7B6DB23FD1B}" type="datetime1">
              <a:t>06.08.2026</a:t>
            </a:fld>
            <a:endParaRPr/>
          </a:p>
        </p:txBody>
      </p:sp>
      <p:sp>
        <p:nvSpPr>
          <p:cNvPr id="4" name="Foliennummernplatzhalter 3">
            <a:extLst>
              <a:ext uri="{FF2B5EF4-FFF2-40B4-BE49-F238E27FC236}">
                <a16:creationId xmlns:a16="http://schemas.microsoft.com/office/drawing/2014/main" id="{D927E662-D3F8-7D1F-0099-EB4C8862FA85}"/>
              </a:ext>
            </a:extLst>
          </p:cNvPr>
          <p:cNvSpPr>
            <a:spLocks noGrp="1"/>
          </p:cNvSpPr>
          <p:nvPr>
            <p:ph type="sldNum" idx="12"/>
          </p:nvPr>
        </p:nvSpPr>
        <p:spPr/>
        <p:txBody>
          <a:bodyPr/>
          <a:lstStyle/>
          <a:p>
            <a:fld id="{CE7E00E2-F08D-429A-AD9B-1ECBEC02F4DB}" type="slidenum">
              <a:t>7</a:t>
            </a:fld>
            <a:endParaRPr/>
          </a:p>
        </p:txBody>
      </p:sp>
      <p:sp>
        <p:nvSpPr>
          <p:cNvPr id="7" name="Inhaltsplatzhalter 6">
            <a:extLst>
              <a:ext uri="{FF2B5EF4-FFF2-40B4-BE49-F238E27FC236}">
                <a16:creationId xmlns:a16="http://schemas.microsoft.com/office/drawing/2014/main" id="{377ADAB9-0DAD-695B-CC11-F49EDF84EBFF}"/>
              </a:ext>
            </a:extLst>
          </p:cNvPr>
          <p:cNvSpPr>
            <a:spLocks noGrp="1"/>
          </p:cNvSpPr>
          <p:nvPr>
            <p:ph idx="13"/>
          </p:nvPr>
        </p:nvSpPr>
        <p:spPr>
          <a:xfrm>
            <a:off x="666750" y="1476375"/>
            <a:ext cx="10668000" cy="590550"/>
          </a:xfrm>
        </p:spPr>
        <p:txBody>
          <a:bodyPr anchor="ctr"/>
          <a:lstStyle/>
          <a:p>
            <a:pPr algn="l">
              <a:buNone/>
              <a:defRPr sz="1950" b="0">
                <a:solidFill>
                  <a:srgbClr val="2D3F4B"/>
                </a:solidFill>
                <a:latin typeface="Arial"/>
                <a:ea typeface="Arial"/>
                <a:cs typeface="Arial"/>
              </a:defRPr>
            </a:pPr>
            <a:r>
              <a:rPr sz="1950" b="0">
                <a:solidFill>
                  <a:srgbClr val="2D3F4B"/>
                </a:solidFill>
                <a:latin typeface="Arial"/>
                <a:ea typeface="Arial"/>
                <a:cs typeface="Arial"/>
              </a:rPr>
              <a:t>Context Engineering entscheidet, welche Informationen das Modell für die aktuelle Aufgabe tatsächlich sieht.</a:t>
            </a:r>
          </a:p>
        </p:txBody>
      </p:sp>
      <p:sp>
        <p:nvSpPr>
          <p:cNvPr id="9" name="Gerader Verbinder 8">
            <a:extLst>
              <a:ext uri="{FF2B5EF4-FFF2-40B4-BE49-F238E27FC236}">
                <a16:creationId xmlns:a16="http://schemas.microsoft.com/office/drawing/2014/main" id="{54E8B81A-4CE4-CC57-A79A-DE5951DBC93F}"/>
              </a:ext>
            </a:extLst>
          </p:cNvPr>
          <p:cNvSpPr>
            <a:spLocks noGrp="1"/>
          </p:cNvSpPr>
          <p:nvPr/>
        </p:nvSpPr>
        <p:spPr>
          <a:xfrm>
            <a:off x="668266" y="4788671"/>
            <a:ext cx="2441571" cy="0"/>
          </a:xfrm>
          <a:prstGeom prst="line">
            <a:avLst/>
          </a:prstGeom>
          <a:ln w="28575">
            <a:solidFill>
              <a:srgbClr val="C60C30"/>
            </a:solidFill>
            <a:prstDash val="solid"/>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12" name="Textfeld 11">
            <a:extLst>
              <a:ext uri="{FF2B5EF4-FFF2-40B4-BE49-F238E27FC236}">
                <a16:creationId xmlns:a16="http://schemas.microsoft.com/office/drawing/2014/main" id="{B2A9DCD7-4579-60D2-FBD3-40373BDFC2AB}"/>
              </a:ext>
            </a:extLst>
          </p:cNvPr>
          <p:cNvSpPr>
            <a:spLocks noGrp="1"/>
          </p:cNvSpPr>
          <p:nvPr/>
        </p:nvSpPr>
        <p:spPr>
          <a:xfrm>
            <a:off x="668265" y="4433049"/>
            <a:ext cx="2441570" cy="276999"/>
          </a:xfrm>
          <a:prstGeom prst="rect">
            <a:avLst/>
          </a:prstGeom>
          <a:noFill/>
        </p:spPr>
        <p:txBody>
          <a:bodyPr wrap="square" lIns="0" tIns="0" rIns="0" bIns="0" anchor="ctr">
            <a:spAutoFit/>
          </a:bodyPr>
          <a:lstStyle/>
          <a:p>
            <a:pPr algn="ctr">
              <a:buNone/>
              <a:defRPr sz="1800" b="1">
                <a:solidFill>
                  <a:srgbClr val="2D3F4B"/>
                </a:solidFill>
                <a:latin typeface="Arial"/>
                <a:ea typeface="Arial"/>
                <a:cs typeface="Arial"/>
              </a:defRPr>
            </a:pPr>
            <a:r>
              <a:rPr sz="1800" b="1">
                <a:solidFill>
                  <a:srgbClr val="2D3F4B"/>
                </a:solidFill>
                <a:latin typeface="Arial"/>
                <a:ea typeface="Arial"/>
                <a:cs typeface="Arial"/>
              </a:rPr>
              <a:t>RAG</a:t>
            </a:r>
          </a:p>
        </p:txBody>
      </p:sp>
      <p:sp>
        <p:nvSpPr>
          <p:cNvPr id="13" name="Textfeld 12">
            <a:extLst>
              <a:ext uri="{FF2B5EF4-FFF2-40B4-BE49-F238E27FC236}">
                <a16:creationId xmlns:a16="http://schemas.microsoft.com/office/drawing/2014/main" id="{07D3177A-77C8-0D63-7CD7-96EA20AA1D11}"/>
              </a:ext>
            </a:extLst>
          </p:cNvPr>
          <p:cNvSpPr>
            <a:spLocks noGrp="1"/>
          </p:cNvSpPr>
          <p:nvPr/>
        </p:nvSpPr>
        <p:spPr>
          <a:xfrm>
            <a:off x="668263" y="4959657"/>
            <a:ext cx="2441571" cy="553998"/>
          </a:xfrm>
          <a:prstGeom prst="rect">
            <a:avLst/>
          </a:prstGeom>
          <a:noFill/>
        </p:spPr>
        <p:txBody>
          <a:bodyPr wrap="square" lIns="0" tIns="0" rIns="0" bIns="0" anchor="ctr">
            <a:spAutoFit/>
          </a:bodyPr>
          <a:lstStyle/>
          <a:p>
            <a:pPr algn="ctr">
              <a:buNone/>
              <a:defRPr sz="1650">
                <a:solidFill>
                  <a:srgbClr val="2D3F4B"/>
                </a:solidFill>
                <a:latin typeface="Arial"/>
                <a:ea typeface="Arial"/>
                <a:cs typeface="Arial"/>
              </a:defRPr>
            </a:pPr>
            <a:r>
              <a:rPr sz="1650">
                <a:solidFill>
                  <a:srgbClr val="2D3F4B"/>
                </a:solidFill>
                <a:latin typeface="Arial"/>
                <a:ea typeface="Arial"/>
                <a:cs typeface="Arial"/>
              </a:rPr>
              <a:t>relevante</a:t>
            </a:r>
          </a:p>
          <a:p>
            <a:pPr algn="ctr">
              <a:buNone/>
              <a:defRPr sz="1650">
                <a:solidFill>
                  <a:srgbClr val="2D3F4B"/>
                </a:solidFill>
                <a:latin typeface="Arial"/>
                <a:ea typeface="Arial"/>
                <a:cs typeface="Arial"/>
              </a:defRPr>
            </a:pPr>
            <a:r>
              <a:rPr sz="1650">
                <a:solidFill>
                  <a:srgbClr val="2D3F4B"/>
                </a:solidFill>
                <a:latin typeface="Arial"/>
                <a:ea typeface="Arial"/>
                <a:cs typeface="Arial"/>
              </a:rPr>
              <a:t>Dokument-Chunks</a:t>
            </a:r>
          </a:p>
        </p:txBody>
      </p:sp>
      <p:sp>
        <p:nvSpPr>
          <p:cNvPr id="16" name="Gerader Verbinder 15">
            <a:extLst>
              <a:ext uri="{FF2B5EF4-FFF2-40B4-BE49-F238E27FC236}">
                <a16:creationId xmlns:a16="http://schemas.microsoft.com/office/drawing/2014/main" id="{621D734A-AA3D-9433-3900-9BF6EE3CF590}"/>
              </a:ext>
            </a:extLst>
          </p:cNvPr>
          <p:cNvSpPr>
            <a:spLocks noGrp="1"/>
          </p:cNvSpPr>
          <p:nvPr/>
        </p:nvSpPr>
        <p:spPr>
          <a:xfrm>
            <a:off x="3634826" y="4758515"/>
            <a:ext cx="2441571" cy="0"/>
          </a:xfrm>
          <a:prstGeom prst="line">
            <a:avLst/>
          </a:prstGeom>
          <a:ln w="28575">
            <a:solidFill>
              <a:srgbClr val="9BC7EE"/>
            </a:solidFill>
            <a:prstDash val="solid"/>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17" name="Textfeld 16">
            <a:extLst>
              <a:ext uri="{FF2B5EF4-FFF2-40B4-BE49-F238E27FC236}">
                <a16:creationId xmlns:a16="http://schemas.microsoft.com/office/drawing/2014/main" id="{A9746E1B-7AD9-7F91-C37F-C799323B9FE0}"/>
              </a:ext>
            </a:extLst>
          </p:cNvPr>
          <p:cNvSpPr>
            <a:spLocks noGrp="1"/>
          </p:cNvSpPr>
          <p:nvPr/>
        </p:nvSpPr>
        <p:spPr>
          <a:xfrm>
            <a:off x="3627642" y="4374998"/>
            <a:ext cx="2441571" cy="276999"/>
          </a:xfrm>
          <a:prstGeom prst="rect">
            <a:avLst/>
          </a:prstGeom>
          <a:noFill/>
        </p:spPr>
        <p:txBody>
          <a:bodyPr wrap="square" lIns="0" tIns="0" rIns="0" bIns="0" anchor="ctr">
            <a:spAutoFit/>
          </a:bodyPr>
          <a:lstStyle/>
          <a:p>
            <a:pPr algn="ctr">
              <a:buNone/>
              <a:defRPr sz="1800" b="1">
                <a:solidFill>
                  <a:srgbClr val="2D3F4B"/>
                </a:solidFill>
                <a:latin typeface="Arial"/>
                <a:ea typeface="Arial"/>
                <a:cs typeface="Arial"/>
              </a:defRPr>
            </a:pPr>
            <a:r>
              <a:rPr sz="1800" b="1">
                <a:solidFill>
                  <a:srgbClr val="2D3F4B"/>
                </a:solidFill>
                <a:latin typeface="Arial"/>
                <a:ea typeface="Arial"/>
                <a:cs typeface="Arial"/>
              </a:rPr>
              <a:t>MCP-Tools</a:t>
            </a:r>
          </a:p>
        </p:txBody>
      </p:sp>
      <p:sp>
        <p:nvSpPr>
          <p:cNvPr id="18" name="Textfeld 17">
            <a:extLst>
              <a:ext uri="{FF2B5EF4-FFF2-40B4-BE49-F238E27FC236}">
                <a16:creationId xmlns:a16="http://schemas.microsoft.com/office/drawing/2014/main" id="{075B269E-CD0F-D176-B3CD-4D1C663AA76B}"/>
              </a:ext>
            </a:extLst>
          </p:cNvPr>
          <p:cNvSpPr>
            <a:spLocks noGrp="1"/>
          </p:cNvSpPr>
          <p:nvPr/>
        </p:nvSpPr>
        <p:spPr>
          <a:xfrm>
            <a:off x="3634826" y="4917904"/>
            <a:ext cx="2441571" cy="553998"/>
          </a:xfrm>
          <a:prstGeom prst="rect">
            <a:avLst/>
          </a:prstGeom>
          <a:noFill/>
        </p:spPr>
        <p:txBody>
          <a:bodyPr wrap="square" lIns="0" tIns="0" rIns="0" bIns="0" anchor="ctr">
            <a:spAutoFit/>
          </a:bodyPr>
          <a:lstStyle/>
          <a:p>
            <a:pPr algn="ctr">
              <a:buNone/>
              <a:defRPr sz="1650">
                <a:solidFill>
                  <a:srgbClr val="2D3F4B"/>
                </a:solidFill>
                <a:latin typeface="Arial"/>
                <a:ea typeface="Arial"/>
                <a:cs typeface="Arial"/>
              </a:defRPr>
            </a:pPr>
            <a:r>
              <a:rPr sz="1650">
                <a:solidFill>
                  <a:srgbClr val="2D3F4B"/>
                </a:solidFill>
                <a:latin typeface="Arial"/>
                <a:ea typeface="Arial"/>
                <a:cs typeface="Arial"/>
              </a:rPr>
              <a:t>aktuelle Daten</a:t>
            </a:r>
          </a:p>
          <a:p>
            <a:pPr algn="ctr">
              <a:buNone/>
              <a:defRPr sz="1650">
                <a:solidFill>
                  <a:srgbClr val="2D3F4B"/>
                </a:solidFill>
                <a:latin typeface="Arial"/>
                <a:ea typeface="Arial"/>
                <a:cs typeface="Arial"/>
              </a:defRPr>
            </a:pPr>
            <a:r>
              <a:rPr sz="1650">
                <a:solidFill>
                  <a:srgbClr val="2D3F4B"/>
                </a:solidFill>
                <a:latin typeface="Arial"/>
                <a:ea typeface="Arial"/>
                <a:cs typeface="Arial"/>
              </a:rPr>
              <a:t>und Aktionen</a:t>
            </a:r>
          </a:p>
        </p:txBody>
      </p:sp>
      <p:sp>
        <p:nvSpPr>
          <p:cNvPr id="26" name="Gerader Verbinder 25">
            <a:extLst>
              <a:ext uri="{FF2B5EF4-FFF2-40B4-BE49-F238E27FC236}">
                <a16:creationId xmlns:a16="http://schemas.microsoft.com/office/drawing/2014/main" id="{FDB30261-953C-A5DC-B082-745AC9E28867}"/>
              </a:ext>
            </a:extLst>
          </p:cNvPr>
          <p:cNvSpPr>
            <a:spLocks noGrp="1"/>
          </p:cNvSpPr>
          <p:nvPr/>
        </p:nvSpPr>
        <p:spPr>
          <a:xfrm>
            <a:off x="6489637" y="4758515"/>
            <a:ext cx="2441568" cy="0"/>
          </a:xfrm>
          <a:prstGeom prst="line">
            <a:avLst/>
          </a:prstGeom>
          <a:ln w="28575">
            <a:solidFill>
              <a:srgbClr val="43858A"/>
            </a:solidFill>
            <a:prstDash val="solid"/>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21" name="Textfeld 20">
            <a:extLst>
              <a:ext uri="{FF2B5EF4-FFF2-40B4-BE49-F238E27FC236}">
                <a16:creationId xmlns:a16="http://schemas.microsoft.com/office/drawing/2014/main" id="{4B0BA690-07FA-225E-23FA-08E793BA6C2E}"/>
              </a:ext>
            </a:extLst>
          </p:cNvPr>
          <p:cNvSpPr>
            <a:spLocks noGrp="1"/>
          </p:cNvSpPr>
          <p:nvPr/>
        </p:nvSpPr>
        <p:spPr>
          <a:xfrm>
            <a:off x="6489635" y="4394900"/>
            <a:ext cx="2441570" cy="276999"/>
          </a:xfrm>
          <a:prstGeom prst="rect">
            <a:avLst/>
          </a:prstGeom>
          <a:noFill/>
        </p:spPr>
        <p:txBody>
          <a:bodyPr wrap="square" lIns="0" tIns="0" rIns="0" bIns="0" anchor="ctr">
            <a:spAutoFit/>
          </a:bodyPr>
          <a:lstStyle/>
          <a:p>
            <a:pPr algn="ctr">
              <a:buNone/>
              <a:defRPr sz="1800" b="1">
                <a:solidFill>
                  <a:srgbClr val="2D3F4B"/>
                </a:solidFill>
                <a:latin typeface="Arial"/>
                <a:ea typeface="Arial"/>
                <a:cs typeface="Arial"/>
              </a:defRPr>
            </a:pPr>
            <a:r>
              <a:rPr sz="1800" b="1">
                <a:solidFill>
                  <a:srgbClr val="2D3F4B"/>
                </a:solidFill>
                <a:latin typeface="Arial"/>
                <a:ea typeface="Arial"/>
                <a:cs typeface="Arial"/>
              </a:rPr>
              <a:t>Skills</a:t>
            </a:r>
          </a:p>
        </p:txBody>
      </p:sp>
      <p:sp>
        <p:nvSpPr>
          <p:cNvPr id="22" name="Textfeld 21">
            <a:extLst>
              <a:ext uri="{FF2B5EF4-FFF2-40B4-BE49-F238E27FC236}">
                <a16:creationId xmlns:a16="http://schemas.microsoft.com/office/drawing/2014/main" id="{B8B16934-007A-F4FA-4D5A-1D97DA8CAA33}"/>
              </a:ext>
            </a:extLst>
          </p:cNvPr>
          <p:cNvSpPr>
            <a:spLocks noGrp="1"/>
          </p:cNvSpPr>
          <p:nvPr/>
        </p:nvSpPr>
        <p:spPr>
          <a:xfrm>
            <a:off x="6489636" y="4935002"/>
            <a:ext cx="2441568" cy="553998"/>
          </a:xfrm>
          <a:prstGeom prst="rect">
            <a:avLst/>
          </a:prstGeom>
          <a:noFill/>
        </p:spPr>
        <p:txBody>
          <a:bodyPr wrap="square" lIns="0" tIns="0" rIns="0" bIns="0" anchor="ctr">
            <a:spAutoFit/>
          </a:bodyPr>
          <a:lstStyle/>
          <a:p>
            <a:pPr algn="ctr">
              <a:buNone/>
              <a:defRPr sz="1650">
                <a:solidFill>
                  <a:srgbClr val="2D3F4B"/>
                </a:solidFill>
                <a:latin typeface="Arial"/>
                <a:ea typeface="Arial"/>
                <a:cs typeface="Arial"/>
              </a:defRPr>
            </a:pPr>
            <a:r>
              <a:rPr sz="1650">
                <a:solidFill>
                  <a:srgbClr val="2D3F4B"/>
                </a:solidFill>
                <a:latin typeface="Arial"/>
                <a:ea typeface="Arial"/>
                <a:cs typeface="Arial"/>
              </a:rPr>
              <a:t>Anweisungen</a:t>
            </a:r>
          </a:p>
          <a:p>
            <a:pPr algn="ctr">
              <a:buNone/>
              <a:defRPr sz="1650">
                <a:solidFill>
                  <a:srgbClr val="2D3F4B"/>
                </a:solidFill>
                <a:latin typeface="Arial"/>
                <a:ea typeface="Arial"/>
                <a:cs typeface="Arial"/>
              </a:defRPr>
            </a:pPr>
            <a:r>
              <a:rPr sz="1650">
                <a:solidFill>
                  <a:srgbClr val="2D3F4B"/>
                </a:solidFill>
                <a:latin typeface="Arial"/>
                <a:ea typeface="Arial"/>
                <a:cs typeface="Arial"/>
              </a:rPr>
              <a:t>und Workflows</a:t>
            </a:r>
          </a:p>
        </p:txBody>
      </p:sp>
      <p:sp>
        <p:nvSpPr>
          <p:cNvPr id="29" name="Gerader Verbinder 28">
            <a:extLst>
              <a:ext uri="{FF2B5EF4-FFF2-40B4-BE49-F238E27FC236}">
                <a16:creationId xmlns:a16="http://schemas.microsoft.com/office/drawing/2014/main" id="{CFAAF0F9-D6BF-E188-0C95-C63C1067D69F}"/>
              </a:ext>
            </a:extLst>
          </p:cNvPr>
          <p:cNvSpPr>
            <a:spLocks noGrp="1"/>
          </p:cNvSpPr>
          <p:nvPr/>
        </p:nvSpPr>
        <p:spPr>
          <a:xfrm>
            <a:off x="9344444" y="4791446"/>
            <a:ext cx="2441567" cy="0"/>
          </a:xfrm>
          <a:prstGeom prst="line">
            <a:avLst/>
          </a:prstGeom>
          <a:ln w="28575">
            <a:solidFill>
              <a:srgbClr val="C9960F"/>
            </a:solidFill>
            <a:prstDash val="solid"/>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30" name="Textfeld 29">
            <a:extLst>
              <a:ext uri="{FF2B5EF4-FFF2-40B4-BE49-F238E27FC236}">
                <a16:creationId xmlns:a16="http://schemas.microsoft.com/office/drawing/2014/main" id="{E6841F9A-B1E5-B90F-3279-A3597021D24E}"/>
              </a:ext>
            </a:extLst>
          </p:cNvPr>
          <p:cNvSpPr>
            <a:spLocks noGrp="1"/>
          </p:cNvSpPr>
          <p:nvPr/>
        </p:nvSpPr>
        <p:spPr>
          <a:xfrm>
            <a:off x="9344442" y="4433049"/>
            <a:ext cx="2621587" cy="276999"/>
          </a:xfrm>
          <a:prstGeom prst="rect">
            <a:avLst/>
          </a:prstGeom>
          <a:noFill/>
        </p:spPr>
        <p:txBody>
          <a:bodyPr wrap="square" lIns="0" tIns="0" rIns="0" bIns="0" anchor="ctr">
            <a:spAutoFit/>
          </a:bodyPr>
          <a:lstStyle/>
          <a:p>
            <a:pPr algn="ctr">
              <a:buNone/>
              <a:defRPr sz="1800" b="1">
                <a:solidFill>
                  <a:srgbClr val="2D3F4B"/>
                </a:solidFill>
                <a:latin typeface="Arial"/>
                <a:ea typeface="Arial"/>
                <a:cs typeface="Arial"/>
              </a:defRPr>
            </a:pPr>
            <a:r>
              <a:rPr sz="1800" b="1">
                <a:solidFill>
                  <a:srgbClr val="2D3F4B"/>
                </a:solidFill>
                <a:latin typeface="Arial"/>
                <a:ea typeface="Arial"/>
                <a:cs typeface="Arial"/>
              </a:rPr>
              <a:t>Kontextfenster</a:t>
            </a:r>
          </a:p>
        </p:txBody>
      </p:sp>
      <p:sp>
        <p:nvSpPr>
          <p:cNvPr id="31" name="Textfeld 30">
            <a:extLst>
              <a:ext uri="{FF2B5EF4-FFF2-40B4-BE49-F238E27FC236}">
                <a16:creationId xmlns:a16="http://schemas.microsoft.com/office/drawing/2014/main" id="{ACB039CC-F485-C051-649D-630116902526}"/>
              </a:ext>
            </a:extLst>
          </p:cNvPr>
          <p:cNvSpPr>
            <a:spLocks noGrp="1"/>
          </p:cNvSpPr>
          <p:nvPr/>
        </p:nvSpPr>
        <p:spPr>
          <a:xfrm>
            <a:off x="9410700" y="5040365"/>
            <a:ext cx="2309051" cy="553998"/>
          </a:xfrm>
          <a:prstGeom prst="rect">
            <a:avLst/>
          </a:prstGeom>
          <a:noFill/>
        </p:spPr>
        <p:txBody>
          <a:bodyPr wrap="square" lIns="0" tIns="0" rIns="0" bIns="0" anchor="ctr">
            <a:spAutoFit/>
          </a:bodyPr>
          <a:lstStyle/>
          <a:p>
            <a:pPr algn="ctr">
              <a:buNone/>
              <a:defRPr sz="1650">
                <a:solidFill>
                  <a:srgbClr val="2D3F4B"/>
                </a:solidFill>
                <a:latin typeface="Arial"/>
                <a:ea typeface="Arial"/>
                <a:cs typeface="Arial"/>
              </a:defRPr>
            </a:pPr>
            <a:r>
              <a:rPr sz="1650">
                <a:solidFill>
                  <a:srgbClr val="2D3F4B"/>
                </a:solidFill>
                <a:latin typeface="Arial"/>
                <a:ea typeface="Arial"/>
                <a:cs typeface="Arial"/>
              </a:rPr>
              <a:t>Frage, Verlauf</a:t>
            </a:r>
          </a:p>
          <a:p>
            <a:pPr algn="ctr">
              <a:buNone/>
              <a:defRPr sz="1650">
                <a:solidFill>
                  <a:srgbClr val="2D3F4B"/>
                </a:solidFill>
                <a:latin typeface="Arial"/>
                <a:ea typeface="Arial"/>
                <a:cs typeface="Arial"/>
              </a:defRPr>
            </a:pPr>
            <a:r>
              <a:rPr sz="1650">
                <a:solidFill>
                  <a:srgbClr val="2D3F4B"/>
                </a:solidFill>
                <a:latin typeface="Arial"/>
                <a:ea typeface="Arial"/>
                <a:cs typeface="Arial"/>
              </a:rPr>
              <a:t>und Inhalte</a:t>
            </a:r>
          </a:p>
        </p:txBody>
      </p:sp>
      <p:sp>
        <p:nvSpPr>
          <p:cNvPr id="33" name="Rechteck: abgerundete Ecken 32">
            <a:extLst>
              <a:ext uri="{FF2B5EF4-FFF2-40B4-BE49-F238E27FC236}">
                <a16:creationId xmlns:a16="http://schemas.microsoft.com/office/drawing/2014/main" id="{5ADBEBE3-16B3-0919-7EBC-ADC5CFDD5D77}"/>
              </a:ext>
            </a:extLst>
          </p:cNvPr>
          <p:cNvSpPr>
            <a:spLocks noGrp="1"/>
          </p:cNvSpPr>
          <p:nvPr/>
        </p:nvSpPr>
        <p:spPr>
          <a:xfrm>
            <a:off x="4286250" y="2524495"/>
            <a:ext cx="3619500" cy="819150"/>
          </a:xfrm>
          <a:prstGeom prst="roundRect">
            <a:avLst>
              <a:gd name="adj" fmla="val 20930"/>
            </a:avLst>
          </a:prstGeom>
          <a:solidFill>
            <a:schemeClr val="bg2"/>
          </a:solidFill>
          <a:ln w="0">
            <a:solidFill>
              <a:schemeClr val="accent3"/>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5" name="Textfeld 34">
            <a:extLst>
              <a:ext uri="{FF2B5EF4-FFF2-40B4-BE49-F238E27FC236}">
                <a16:creationId xmlns:a16="http://schemas.microsoft.com/office/drawing/2014/main" id="{03DEABC7-48CE-D772-9373-D703503E4FBF}"/>
              </a:ext>
            </a:extLst>
          </p:cNvPr>
          <p:cNvSpPr>
            <a:spLocks noGrp="1"/>
          </p:cNvSpPr>
          <p:nvPr/>
        </p:nvSpPr>
        <p:spPr>
          <a:xfrm>
            <a:off x="4286250" y="2780181"/>
            <a:ext cx="3619500" cy="307777"/>
          </a:xfrm>
          <a:prstGeom prst="rect">
            <a:avLst/>
          </a:prstGeom>
          <a:noFill/>
        </p:spPr>
        <p:txBody>
          <a:bodyPr wrap="square" lIns="0" tIns="0" rIns="0" bIns="0" anchor="ctr">
            <a:spAutoFit/>
          </a:bodyPr>
          <a:lstStyle/>
          <a:p>
            <a:pPr algn="ctr">
              <a:buNone/>
              <a:defRPr sz="2025" b="1">
                <a:solidFill>
                  <a:srgbClr val="FFFFFF"/>
                </a:solidFill>
                <a:latin typeface="Arial"/>
                <a:ea typeface="Arial"/>
                <a:cs typeface="Arial"/>
              </a:defRPr>
            </a:pPr>
            <a:r>
              <a:rPr sz="2000" b="1">
                <a:solidFill>
                  <a:srgbClr val="2D3F4B"/>
                </a:solidFill>
                <a:latin typeface="Arial"/>
                <a:ea typeface="Arial"/>
                <a:cs typeface="Arial"/>
              </a:rPr>
              <a:t>LLM-KONTEXT</a:t>
            </a:r>
            <a:endParaRPr sz="2025" b="1">
              <a:solidFill>
                <a:srgbClr val="2D3F4B"/>
              </a:solidFill>
              <a:latin typeface="Arial"/>
              <a:ea typeface="Arial"/>
              <a:cs typeface="Arial"/>
            </a:endParaRPr>
          </a:p>
        </p:txBody>
      </p:sp>
      <p:cxnSp>
        <p:nvCxnSpPr>
          <p:cNvPr id="107" name="Gerade Verbindung mit Pfeil 44"/>
          <p:cNvCxnSpPr>
            <a:stCxn id="54" idx="0"/>
            <a:endCxn id="35" idx="1"/>
          </p:cNvCxnSpPr>
          <p:nvPr/>
        </p:nvCxnSpPr>
        <p:spPr>
          <a:xfrm flipV="1">
            <a:off x="1889046" y="2934070"/>
            <a:ext cx="2397204" cy="1276262"/>
          </a:xfrm>
          <a:prstGeom prst="straightConnector1">
            <a:avLst/>
          </a:prstGeom>
          <a:ln w="23813">
            <a:solidFill>
              <a:srgbClr val="C60C3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08" name="Gerade Verbindung mit Pfeil 48"/>
          <p:cNvCxnSpPr/>
          <p:nvPr/>
        </p:nvCxnSpPr>
        <p:spPr>
          <a:xfrm flipV="1">
            <a:off x="4815840" y="3343644"/>
            <a:ext cx="529932" cy="871821"/>
          </a:xfrm>
          <a:prstGeom prst="straightConnector1">
            <a:avLst/>
          </a:prstGeom>
          <a:ln w="23813">
            <a:solidFill>
              <a:srgbClr val="9BC7EE"/>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09" name="Gerade Verbindung mit Pfeil 50"/>
          <p:cNvCxnSpPr/>
          <p:nvPr/>
        </p:nvCxnSpPr>
        <p:spPr>
          <a:xfrm flipH="1" flipV="1">
            <a:off x="6903412" y="3341710"/>
            <a:ext cx="846128" cy="873755"/>
          </a:xfrm>
          <a:prstGeom prst="straightConnector1">
            <a:avLst/>
          </a:prstGeom>
          <a:ln w="23813">
            <a:solidFill>
              <a:srgbClr val="43858A"/>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10" name="Gerade Verbindung mit Pfeil 52"/>
          <p:cNvCxnSpPr>
            <a:stCxn id="57" idx="0"/>
            <a:endCxn id="35" idx="3"/>
          </p:cNvCxnSpPr>
          <p:nvPr/>
        </p:nvCxnSpPr>
        <p:spPr>
          <a:xfrm flipH="1" flipV="1">
            <a:off x="7905750" y="2934070"/>
            <a:ext cx="2644188" cy="1264278"/>
          </a:xfrm>
          <a:prstGeom prst="straightConnector1">
            <a:avLst/>
          </a:prstGeom>
          <a:ln w="23813">
            <a:solidFill>
              <a:srgbClr val="C9960F"/>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4" name="RAG-accent-bar">
            <a:extLst>
              <a:ext uri="{FF2B5EF4-FFF2-40B4-BE49-F238E27FC236}">
                <a16:creationId xmlns:a16="http://schemas.microsoft.com/office/drawing/2014/main" id="{ED1A5968-0190-B134-9FA9-652D25DA2B5D}"/>
              </a:ext>
            </a:extLst>
          </p:cNvPr>
          <p:cNvSpPr>
            <a:spLocks noGrp="1"/>
          </p:cNvSpPr>
          <p:nvPr/>
        </p:nvSpPr>
        <p:spPr>
          <a:xfrm>
            <a:off x="668274" y="4210332"/>
            <a:ext cx="2441543" cy="93355"/>
          </a:xfrm>
          <a:prstGeom prst="rect">
            <a:avLst/>
          </a:prstGeom>
          <a:solidFill>
            <a:srgbClr val="C60C30"/>
          </a:solidFill>
          <a:ln w="0">
            <a:solidFill>
              <a:srgbClr val="C60C30"/>
            </a:solidFill>
            <a:prstDash val="solid"/>
          </a:ln>
        </p:spPr>
        <p:txBody>
          <a:bodyPr/>
          <a:lstStyle/>
          <a:p>
            <a:endParaRPr/>
          </a:p>
        </p:txBody>
      </p:sp>
      <p:sp>
        <p:nvSpPr>
          <p:cNvPr id="55" name="MCP-Tools-accent-bar">
            <a:extLst>
              <a:ext uri="{FF2B5EF4-FFF2-40B4-BE49-F238E27FC236}">
                <a16:creationId xmlns:a16="http://schemas.microsoft.com/office/drawing/2014/main" id="{6BEDFBE6-D4AB-9780-6C6D-50F89933E3B9}"/>
              </a:ext>
            </a:extLst>
          </p:cNvPr>
          <p:cNvSpPr>
            <a:spLocks noGrp="1"/>
          </p:cNvSpPr>
          <p:nvPr/>
        </p:nvSpPr>
        <p:spPr>
          <a:xfrm>
            <a:off x="3620396" y="4198347"/>
            <a:ext cx="2441543" cy="97758"/>
          </a:xfrm>
          <a:prstGeom prst="rect">
            <a:avLst/>
          </a:prstGeom>
          <a:solidFill>
            <a:srgbClr val="9BC7EE"/>
          </a:solidFill>
          <a:ln w="0">
            <a:solidFill>
              <a:srgbClr val="9BC7EE"/>
            </a:solidFill>
            <a:prstDash val="solid"/>
          </a:ln>
        </p:spPr>
        <p:txBody>
          <a:bodyPr/>
          <a:lstStyle/>
          <a:p>
            <a:endParaRPr/>
          </a:p>
        </p:txBody>
      </p:sp>
      <p:sp>
        <p:nvSpPr>
          <p:cNvPr id="56" name="Skills-accent-bar">
            <a:extLst>
              <a:ext uri="{FF2B5EF4-FFF2-40B4-BE49-F238E27FC236}">
                <a16:creationId xmlns:a16="http://schemas.microsoft.com/office/drawing/2014/main" id="{775EBC39-5068-AE3D-DA3F-616274FDB460}"/>
              </a:ext>
            </a:extLst>
          </p:cNvPr>
          <p:cNvSpPr>
            <a:spLocks noGrp="1"/>
          </p:cNvSpPr>
          <p:nvPr/>
        </p:nvSpPr>
        <p:spPr>
          <a:xfrm>
            <a:off x="6475178" y="4206511"/>
            <a:ext cx="2441543" cy="97169"/>
          </a:xfrm>
          <a:prstGeom prst="rect">
            <a:avLst/>
          </a:prstGeom>
          <a:solidFill>
            <a:srgbClr val="43858A"/>
          </a:solidFill>
          <a:ln w="0">
            <a:solidFill>
              <a:srgbClr val="43858A"/>
            </a:solidFill>
            <a:prstDash val="solid"/>
          </a:ln>
        </p:spPr>
        <p:txBody>
          <a:bodyPr/>
          <a:lstStyle/>
          <a:p>
            <a:endParaRPr/>
          </a:p>
        </p:txBody>
      </p:sp>
      <p:sp>
        <p:nvSpPr>
          <p:cNvPr id="57" name="Kontextfenster-accent-bar">
            <a:extLst>
              <a:ext uri="{FF2B5EF4-FFF2-40B4-BE49-F238E27FC236}">
                <a16:creationId xmlns:a16="http://schemas.microsoft.com/office/drawing/2014/main" id="{B58DE454-F909-35E9-2DC9-A5B73496DBDA}"/>
              </a:ext>
            </a:extLst>
          </p:cNvPr>
          <p:cNvSpPr>
            <a:spLocks noGrp="1"/>
          </p:cNvSpPr>
          <p:nvPr/>
        </p:nvSpPr>
        <p:spPr>
          <a:xfrm>
            <a:off x="9329166" y="4198348"/>
            <a:ext cx="2441543" cy="105340"/>
          </a:xfrm>
          <a:prstGeom prst="rect">
            <a:avLst/>
          </a:prstGeom>
          <a:solidFill>
            <a:srgbClr val="C9960F"/>
          </a:solidFill>
          <a:ln w="0">
            <a:solidFill>
              <a:srgbClr val="C9960F"/>
            </a:solidFill>
            <a:prstDash val="solid"/>
          </a:ln>
        </p:spPr>
        <p:txBody>
          <a:bodyPr/>
          <a:lstStyle/>
          <a:p>
            <a:endParaRPr/>
          </a:p>
        </p:txBody>
      </p:sp>
      <p:sp>
        <p:nvSpPr>
          <p:cNvPr id="58" name="llm-context-caption">
            <a:extLst>
              <a:ext uri="{FF2B5EF4-FFF2-40B4-BE49-F238E27FC236}">
                <a16:creationId xmlns:a16="http://schemas.microsoft.com/office/drawing/2014/main" id="{7B51C021-27B6-90C5-89CC-1CFAC59448BB}"/>
              </a:ext>
            </a:extLst>
          </p:cNvPr>
          <p:cNvSpPr>
            <a:spLocks noGrp="1"/>
          </p:cNvSpPr>
          <p:nvPr/>
        </p:nvSpPr>
        <p:spPr>
          <a:xfrm>
            <a:off x="4286250" y="2052156"/>
            <a:ext cx="3619500" cy="472727"/>
          </a:xfrm>
          <a:prstGeom prst="rect">
            <a:avLst/>
          </a:prstGeom>
          <a:noFill/>
          <a:ln w="0">
            <a:noFill/>
            <a:prstDash val="solid"/>
          </a:ln>
        </p:spPr>
        <p:txBody>
          <a:bodyPr anchor="ctr"/>
          <a:lstStyle/>
          <a:p>
            <a:pPr algn="ctr">
              <a:buNone/>
              <a:defRPr sz="1275">
                <a:solidFill>
                  <a:srgbClr val="81725E"/>
                </a:solidFill>
                <a:latin typeface="Arial"/>
                <a:ea typeface="Arial"/>
                <a:cs typeface="Arial"/>
              </a:defRPr>
            </a:pPr>
            <a:r>
              <a:rPr sz="1200">
                <a:latin typeface="Arial"/>
                <a:ea typeface="Arial"/>
                <a:cs typeface="Arial"/>
              </a:rPr>
              <a:t>Das Modell kann nur den zusammengestellten Kontext nutzen.</a:t>
            </a:r>
          </a:p>
        </p:txBody>
      </p:sp>
    </p:spTree>
    <p:extLst>
      <p:ext uri="{BB962C8B-B14F-4D97-AF65-F5344CB8AC3E}">
        <p14:creationId xmlns:p14="http://schemas.microsoft.com/office/powerpoint/2010/main" val="40068725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Rechteck: abgerundete Ecken 72">
            <a:extLst>
              <a:ext uri="{FF2B5EF4-FFF2-40B4-BE49-F238E27FC236}">
                <a16:creationId xmlns:a16="http://schemas.microsoft.com/office/drawing/2014/main" id="{9C56917C-2339-262D-9968-A61715FC7024}"/>
              </a:ext>
            </a:extLst>
          </p:cNvPr>
          <p:cNvSpPr>
            <a:spLocks noGrp="1"/>
          </p:cNvSpPr>
          <p:nvPr/>
        </p:nvSpPr>
        <p:spPr>
          <a:xfrm>
            <a:off x="1116451" y="5345702"/>
            <a:ext cx="1259680" cy="866775"/>
          </a:xfrm>
          <a:prstGeom prst="roundRect">
            <a:avLst/>
          </a:prstGeom>
          <a:solidFill>
            <a:schemeClr val="accent2"/>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5" name="Textfeld 74">
            <a:extLst>
              <a:ext uri="{FF2B5EF4-FFF2-40B4-BE49-F238E27FC236}">
                <a16:creationId xmlns:a16="http://schemas.microsoft.com/office/drawing/2014/main" id="{8FC51D48-34AF-E592-C1F4-813349B9E7DA}"/>
              </a:ext>
            </a:extLst>
          </p:cNvPr>
          <p:cNvSpPr>
            <a:spLocks noGrp="1"/>
          </p:cNvSpPr>
          <p:nvPr/>
        </p:nvSpPr>
        <p:spPr>
          <a:xfrm>
            <a:off x="1103830" y="5364381"/>
            <a:ext cx="1259680" cy="276999"/>
          </a:xfrm>
          <a:prstGeom prst="rect">
            <a:avLst/>
          </a:prstGeom>
          <a:noFill/>
        </p:spPr>
        <p:txBody>
          <a:bodyPr wrap="square">
            <a:spAutoFit/>
          </a:bodyPr>
          <a:lstStyle/>
          <a:p>
            <a:pPr algn="ctr">
              <a:buNone/>
            </a:pPr>
            <a:r>
              <a:rPr sz="1200"/>
              <a:t>Raw Data Files</a:t>
            </a:r>
          </a:p>
        </p:txBody>
      </p:sp>
      <p:sp>
        <p:nvSpPr>
          <p:cNvPr id="78" name="Gerader Verbinder 77">
            <a:extLst>
              <a:ext uri="{FF2B5EF4-FFF2-40B4-BE49-F238E27FC236}">
                <a16:creationId xmlns:a16="http://schemas.microsoft.com/office/drawing/2014/main" id="{3447CC8A-1F27-4BEA-A23D-1BBB0F938E3A}"/>
              </a:ext>
            </a:extLst>
          </p:cNvPr>
          <p:cNvSpPr>
            <a:spLocks noGrp="1"/>
          </p:cNvSpPr>
          <p:nvPr/>
        </p:nvSpPr>
        <p:spPr>
          <a:xfrm>
            <a:off x="1116451" y="5641380"/>
            <a:ext cx="125968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txBody>
          <a:bodyPr/>
          <a:lstStyle/>
          <a:p>
            <a:endParaRPr lang="de-DE"/>
          </a:p>
        </p:txBody>
      </p:sp>
      <p:sp>
        <p:nvSpPr>
          <p:cNvPr id="2" name="Titel 1">
            <a:extLst>
              <a:ext uri="{FF2B5EF4-FFF2-40B4-BE49-F238E27FC236}">
                <a16:creationId xmlns:a16="http://schemas.microsoft.com/office/drawing/2014/main" id="{E6873658-8CED-F143-F036-E8624EF69F5C}"/>
              </a:ext>
            </a:extLst>
          </p:cNvPr>
          <p:cNvSpPr>
            <a:spLocks noGrp="1"/>
          </p:cNvSpPr>
          <p:nvPr>
            <p:ph type="title"/>
          </p:nvPr>
        </p:nvSpPr>
        <p:spPr/>
        <p:txBody>
          <a:bodyPr/>
          <a:lstStyle/>
          <a:p>
            <a:r>
              <a:t>Aufbau eines Vector RAGs</a:t>
            </a:r>
          </a:p>
        </p:txBody>
      </p:sp>
      <p:sp>
        <p:nvSpPr>
          <p:cNvPr id="3" name="Datumsplatzhalter 2">
            <a:extLst>
              <a:ext uri="{FF2B5EF4-FFF2-40B4-BE49-F238E27FC236}">
                <a16:creationId xmlns:a16="http://schemas.microsoft.com/office/drawing/2014/main" id="{6255B8C4-E864-25CB-775B-BBF2DF3C1484}"/>
              </a:ext>
            </a:extLst>
          </p:cNvPr>
          <p:cNvSpPr>
            <a:spLocks noGrp="1"/>
          </p:cNvSpPr>
          <p:nvPr>
            <p:ph type="dt" idx="10"/>
          </p:nvPr>
        </p:nvSpPr>
        <p:spPr/>
        <p:txBody>
          <a:bodyPr/>
          <a:lstStyle/>
          <a:p>
            <a:fld id="{3B96E7C6-F2CE-4756-8C9C-414CDB636DDE}" type="datetime1">
              <a:t>06.08.2026</a:t>
            </a:fld>
            <a:endParaRPr/>
          </a:p>
        </p:txBody>
      </p:sp>
      <p:sp>
        <p:nvSpPr>
          <p:cNvPr id="4" name="Foliennummernplatzhalter 3">
            <a:extLst>
              <a:ext uri="{FF2B5EF4-FFF2-40B4-BE49-F238E27FC236}">
                <a16:creationId xmlns:a16="http://schemas.microsoft.com/office/drawing/2014/main" id="{D423987F-8DF1-0E8D-A0B0-A859414B11F8}"/>
              </a:ext>
            </a:extLst>
          </p:cNvPr>
          <p:cNvSpPr>
            <a:spLocks noGrp="1"/>
          </p:cNvSpPr>
          <p:nvPr>
            <p:ph type="sldNum" idx="12"/>
          </p:nvPr>
        </p:nvSpPr>
        <p:spPr/>
        <p:txBody>
          <a:bodyPr/>
          <a:lstStyle/>
          <a:p>
            <a:fld id="{CE7E00E2-F08D-429A-AD9B-1ECBEC02F4DB}" type="slidenum">
              <a:t>8</a:t>
            </a:fld>
            <a:endParaRPr/>
          </a:p>
        </p:txBody>
      </p:sp>
      <p:pic>
        <p:nvPicPr>
          <p:cNvPr id="195" name="Inhaltsplatzhalter 6"/>
          <p:cNvPicPr>
            <a:picLocks noGrp="1" noChangeAspect="1"/>
          </p:cNvPicPr>
          <p:nvPr>
            <p:ph idx="13"/>
          </p:nvPr>
        </p:nvPicPr>
        <p:blipFill>
          <a:blip r:embed="rId3"/>
          <a:stretch>
            <a:fillRect/>
          </a:stretch>
        </p:blipFill>
        <p:spPr>
          <a:xfrm flipH="1">
            <a:off x="1535660" y="5705585"/>
            <a:ext cx="415070" cy="480063"/>
          </a:xfrm>
        </p:spPr>
      </p:pic>
      <p:sp>
        <p:nvSpPr>
          <p:cNvPr id="50" name="Rechteck: abgerundete Ecken 49">
            <a:extLst>
              <a:ext uri="{FF2B5EF4-FFF2-40B4-BE49-F238E27FC236}">
                <a16:creationId xmlns:a16="http://schemas.microsoft.com/office/drawing/2014/main" id="{C5C186DB-05F0-E892-D082-2E845918CAD3}"/>
              </a:ext>
            </a:extLst>
          </p:cNvPr>
          <p:cNvSpPr>
            <a:spLocks noGrp="1"/>
          </p:cNvSpPr>
          <p:nvPr/>
        </p:nvSpPr>
        <p:spPr>
          <a:xfrm>
            <a:off x="10466813" y="3239467"/>
            <a:ext cx="1259680" cy="866775"/>
          </a:xfrm>
          <a:prstGeom prst="roundRect">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97" name="Grafik 16"/>
          <p:cNvPicPr>
            <a:picLocks noChangeAspect="1"/>
          </p:cNvPicPr>
          <p:nvPr/>
        </p:nvPicPr>
        <p:blipFill>
          <a:blip r:embed="rId4"/>
          <a:stretch>
            <a:fillRect/>
          </a:stretch>
        </p:blipFill>
        <p:spPr>
          <a:xfrm flipH="1">
            <a:off x="10791732" y="3535145"/>
            <a:ext cx="609861" cy="566720"/>
          </a:xfrm>
          <a:prstGeom prst="rect">
            <a:avLst/>
          </a:prstGeom>
        </p:spPr>
      </p:pic>
      <p:sp>
        <p:nvSpPr>
          <p:cNvPr id="52" name="Textfeld 51">
            <a:extLst>
              <a:ext uri="{FF2B5EF4-FFF2-40B4-BE49-F238E27FC236}">
                <a16:creationId xmlns:a16="http://schemas.microsoft.com/office/drawing/2014/main" id="{776F5CF1-4AC5-6177-6D3F-B8F61BE95CF2}"/>
              </a:ext>
            </a:extLst>
          </p:cNvPr>
          <p:cNvSpPr>
            <a:spLocks noGrp="1"/>
          </p:cNvSpPr>
          <p:nvPr/>
        </p:nvSpPr>
        <p:spPr>
          <a:xfrm>
            <a:off x="10454192" y="3258146"/>
            <a:ext cx="1259680" cy="276999"/>
          </a:xfrm>
          <a:prstGeom prst="rect">
            <a:avLst/>
          </a:prstGeom>
          <a:noFill/>
        </p:spPr>
        <p:txBody>
          <a:bodyPr wrap="square">
            <a:spAutoFit/>
          </a:bodyPr>
          <a:lstStyle/>
          <a:p>
            <a:pPr algn="ctr">
              <a:buNone/>
            </a:pPr>
            <a:r>
              <a:rPr sz="1200">
                <a:solidFill>
                  <a:schemeClr val="bg1"/>
                </a:solidFill>
              </a:rPr>
              <a:t>Query</a:t>
            </a:r>
          </a:p>
        </p:txBody>
      </p:sp>
      <p:sp>
        <p:nvSpPr>
          <p:cNvPr id="53" name="Rechteck: abgerundete Ecken 52">
            <a:extLst>
              <a:ext uri="{FF2B5EF4-FFF2-40B4-BE49-F238E27FC236}">
                <a16:creationId xmlns:a16="http://schemas.microsoft.com/office/drawing/2014/main" id="{789B23F7-D694-BBAA-B06E-98BE67FC7501}"/>
              </a:ext>
            </a:extLst>
          </p:cNvPr>
          <p:cNvSpPr>
            <a:spLocks noGrp="1"/>
          </p:cNvSpPr>
          <p:nvPr/>
        </p:nvSpPr>
        <p:spPr>
          <a:xfrm>
            <a:off x="7341958" y="5802887"/>
            <a:ext cx="1259680" cy="866775"/>
          </a:xfrm>
          <a:prstGeom prst="roundRect">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00" name="Grafik 22"/>
          <p:cNvPicPr>
            <a:picLocks noChangeAspect="1"/>
          </p:cNvPicPr>
          <p:nvPr/>
        </p:nvPicPr>
        <p:blipFill>
          <a:blip r:embed="rId5"/>
          <a:stretch>
            <a:fillRect/>
          </a:stretch>
        </p:blipFill>
        <p:spPr>
          <a:xfrm flipH="1">
            <a:off x="7651745" y="6086559"/>
            <a:ext cx="614864" cy="571508"/>
          </a:xfrm>
          <a:prstGeom prst="rect">
            <a:avLst/>
          </a:prstGeom>
        </p:spPr>
      </p:pic>
      <p:sp>
        <p:nvSpPr>
          <p:cNvPr id="55" name="Textfeld 54">
            <a:extLst>
              <a:ext uri="{FF2B5EF4-FFF2-40B4-BE49-F238E27FC236}">
                <a16:creationId xmlns:a16="http://schemas.microsoft.com/office/drawing/2014/main" id="{E36A76FE-B184-D9FC-DF9A-C97EF6D350A0}"/>
              </a:ext>
            </a:extLst>
          </p:cNvPr>
          <p:cNvSpPr>
            <a:spLocks noGrp="1"/>
          </p:cNvSpPr>
          <p:nvPr/>
        </p:nvSpPr>
        <p:spPr>
          <a:xfrm>
            <a:off x="7329337" y="5821566"/>
            <a:ext cx="1259680" cy="276999"/>
          </a:xfrm>
          <a:prstGeom prst="rect">
            <a:avLst/>
          </a:prstGeom>
          <a:noFill/>
        </p:spPr>
        <p:txBody>
          <a:bodyPr wrap="square">
            <a:spAutoFit/>
          </a:bodyPr>
          <a:lstStyle/>
          <a:p>
            <a:pPr algn="ctr">
              <a:buNone/>
            </a:pPr>
            <a:r>
              <a:rPr sz="1200">
                <a:solidFill>
                  <a:schemeClr val="bg1"/>
                </a:solidFill>
              </a:rPr>
              <a:t>Response</a:t>
            </a:r>
          </a:p>
        </p:txBody>
      </p:sp>
      <p:sp>
        <p:nvSpPr>
          <p:cNvPr id="47" name="Rechteck: abgerundete Ecken 46">
            <a:extLst>
              <a:ext uri="{FF2B5EF4-FFF2-40B4-BE49-F238E27FC236}">
                <a16:creationId xmlns:a16="http://schemas.microsoft.com/office/drawing/2014/main" id="{5B02DD4C-CADF-159A-186D-D77AFA00A13A}"/>
              </a:ext>
            </a:extLst>
          </p:cNvPr>
          <p:cNvSpPr>
            <a:spLocks noGrp="1"/>
          </p:cNvSpPr>
          <p:nvPr/>
        </p:nvSpPr>
        <p:spPr>
          <a:xfrm>
            <a:off x="920425" y="4246553"/>
            <a:ext cx="1658163" cy="866775"/>
          </a:xfrm>
          <a:prstGeom prst="roundRect">
            <a:avLst/>
          </a:prstGeom>
          <a:solidFill>
            <a:schemeClr val="accent2"/>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03" name="Grafik 8"/>
          <p:cNvPicPr>
            <a:picLocks noChangeAspect="1"/>
          </p:cNvPicPr>
          <p:nvPr/>
        </p:nvPicPr>
        <p:blipFill>
          <a:blip r:embed="rId6"/>
          <a:stretch>
            <a:fillRect/>
          </a:stretch>
        </p:blipFill>
        <p:spPr>
          <a:xfrm flipH="1">
            <a:off x="1515826" y="4542231"/>
            <a:ext cx="467360" cy="559581"/>
          </a:xfrm>
          <a:prstGeom prst="rect">
            <a:avLst/>
          </a:prstGeom>
        </p:spPr>
      </p:pic>
      <p:sp>
        <p:nvSpPr>
          <p:cNvPr id="49" name="Textfeld 48">
            <a:extLst>
              <a:ext uri="{FF2B5EF4-FFF2-40B4-BE49-F238E27FC236}">
                <a16:creationId xmlns:a16="http://schemas.microsoft.com/office/drawing/2014/main" id="{B64127EB-FD02-C12D-C12C-332043D8B166}"/>
              </a:ext>
            </a:extLst>
          </p:cNvPr>
          <p:cNvSpPr>
            <a:spLocks noGrp="1"/>
          </p:cNvSpPr>
          <p:nvPr/>
        </p:nvSpPr>
        <p:spPr>
          <a:xfrm>
            <a:off x="907804" y="4265232"/>
            <a:ext cx="1733633" cy="276999"/>
          </a:xfrm>
          <a:prstGeom prst="rect">
            <a:avLst/>
          </a:prstGeom>
          <a:noFill/>
        </p:spPr>
        <p:txBody>
          <a:bodyPr wrap="square">
            <a:spAutoFit/>
          </a:bodyPr>
          <a:lstStyle/>
          <a:p>
            <a:pPr algn="ctr">
              <a:buNone/>
            </a:pPr>
            <a:r>
              <a:rPr sz="1200"/>
              <a:t>Information Extraction</a:t>
            </a:r>
          </a:p>
        </p:txBody>
      </p:sp>
      <p:sp>
        <p:nvSpPr>
          <p:cNvPr id="82" name="Gerader Verbinder 81">
            <a:extLst>
              <a:ext uri="{FF2B5EF4-FFF2-40B4-BE49-F238E27FC236}">
                <a16:creationId xmlns:a16="http://schemas.microsoft.com/office/drawing/2014/main" id="{2728AECE-9D12-4552-9686-949776FAFE89}"/>
              </a:ext>
            </a:extLst>
          </p:cNvPr>
          <p:cNvSpPr>
            <a:spLocks noGrp="1"/>
          </p:cNvSpPr>
          <p:nvPr/>
        </p:nvSpPr>
        <p:spPr>
          <a:xfrm>
            <a:off x="920425" y="4542231"/>
            <a:ext cx="1658163"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txBody>
          <a:bodyPr/>
          <a:lstStyle/>
          <a:p>
            <a:endParaRPr lang="de-DE"/>
          </a:p>
        </p:txBody>
      </p:sp>
      <p:sp>
        <p:nvSpPr>
          <p:cNvPr id="59" name="Rechteck: abgerundete Ecken 58">
            <a:extLst>
              <a:ext uri="{FF2B5EF4-FFF2-40B4-BE49-F238E27FC236}">
                <a16:creationId xmlns:a16="http://schemas.microsoft.com/office/drawing/2014/main" id="{A5F682FA-EAFE-F1E3-29E3-CD91B4456BB0}"/>
              </a:ext>
            </a:extLst>
          </p:cNvPr>
          <p:cNvSpPr>
            <a:spLocks noGrp="1"/>
          </p:cNvSpPr>
          <p:nvPr/>
        </p:nvSpPr>
        <p:spPr>
          <a:xfrm>
            <a:off x="1114278" y="3116642"/>
            <a:ext cx="1259680" cy="866775"/>
          </a:xfrm>
          <a:prstGeom prst="roundRect">
            <a:avLst/>
          </a:prstGeom>
          <a:solidFill>
            <a:schemeClr val="accent2"/>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07" name="Grafik 10"/>
          <p:cNvPicPr>
            <a:picLocks noChangeAspect="1"/>
          </p:cNvPicPr>
          <p:nvPr/>
        </p:nvPicPr>
        <p:blipFill>
          <a:blip r:embed="rId7"/>
          <a:stretch>
            <a:fillRect/>
          </a:stretch>
        </p:blipFill>
        <p:spPr>
          <a:xfrm flipH="1">
            <a:off x="1516587" y="3430999"/>
            <a:ext cx="455061" cy="530359"/>
          </a:xfrm>
          <a:prstGeom prst="rect">
            <a:avLst/>
          </a:prstGeom>
        </p:spPr>
      </p:pic>
      <p:sp>
        <p:nvSpPr>
          <p:cNvPr id="61" name="Textfeld 60">
            <a:extLst>
              <a:ext uri="{FF2B5EF4-FFF2-40B4-BE49-F238E27FC236}">
                <a16:creationId xmlns:a16="http://schemas.microsoft.com/office/drawing/2014/main" id="{FEBF1249-AAE8-D86E-6BF3-1DC3C222C91C}"/>
              </a:ext>
            </a:extLst>
          </p:cNvPr>
          <p:cNvSpPr>
            <a:spLocks noGrp="1"/>
          </p:cNvSpPr>
          <p:nvPr/>
        </p:nvSpPr>
        <p:spPr>
          <a:xfrm>
            <a:off x="1101657" y="3135321"/>
            <a:ext cx="1259680" cy="276999"/>
          </a:xfrm>
          <a:prstGeom prst="rect">
            <a:avLst/>
          </a:prstGeom>
          <a:noFill/>
        </p:spPr>
        <p:txBody>
          <a:bodyPr wrap="square">
            <a:spAutoFit/>
          </a:bodyPr>
          <a:lstStyle/>
          <a:p>
            <a:pPr algn="ctr">
              <a:buNone/>
            </a:pPr>
            <a:r>
              <a:rPr sz="1200"/>
              <a:t>Chunking</a:t>
            </a:r>
          </a:p>
        </p:txBody>
      </p:sp>
      <p:sp>
        <p:nvSpPr>
          <p:cNvPr id="85" name="Gerader Verbinder 84">
            <a:extLst>
              <a:ext uri="{FF2B5EF4-FFF2-40B4-BE49-F238E27FC236}">
                <a16:creationId xmlns:a16="http://schemas.microsoft.com/office/drawing/2014/main" id="{ECA6A296-86C4-45E9-A046-518E527A0463}"/>
              </a:ext>
            </a:extLst>
          </p:cNvPr>
          <p:cNvSpPr>
            <a:spLocks noGrp="1"/>
          </p:cNvSpPr>
          <p:nvPr/>
        </p:nvSpPr>
        <p:spPr>
          <a:xfrm>
            <a:off x="1101657" y="3409296"/>
            <a:ext cx="1272301"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txBody>
          <a:bodyPr/>
          <a:lstStyle/>
          <a:p>
            <a:endParaRPr lang="de-DE"/>
          </a:p>
        </p:txBody>
      </p:sp>
      <p:sp>
        <p:nvSpPr>
          <p:cNvPr id="33" name="Rechteck: abgerundete Ecken 32">
            <a:extLst>
              <a:ext uri="{FF2B5EF4-FFF2-40B4-BE49-F238E27FC236}">
                <a16:creationId xmlns:a16="http://schemas.microsoft.com/office/drawing/2014/main" id="{3BB5073B-FDC6-67E2-A391-D38AE4D1B814}"/>
              </a:ext>
            </a:extLst>
          </p:cNvPr>
          <p:cNvSpPr>
            <a:spLocks noGrp="1"/>
          </p:cNvSpPr>
          <p:nvPr/>
        </p:nvSpPr>
        <p:spPr>
          <a:xfrm>
            <a:off x="2746349" y="1979671"/>
            <a:ext cx="1259680" cy="866775"/>
          </a:xfrm>
          <a:prstGeom prst="roundRect">
            <a:avLst/>
          </a:prstGeom>
          <a:solidFill>
            <a:schemeClr val="accent2"/>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11" name="Grafik 33"/>
          <p:cNvPicPr>
            <a:picLocks noChangeAspect="1"/>
          </p:cNvPicPr>
          <p:nvPr/>
        </p:nvPicPr>
        <p:blipFill>
          <a:blip r:embed="rId8"/>
          <a:stretch>
            <a:fillRect/>
          </a:stretch>
        </p:blipFill>
        <p:spPr>
          <a:xfrm flipH="1">
            <a:off x="3105426" y="2287645"/>
            <a:ext cx="541526" cy="571097"/>
          </a:xfrm>
          <a:prstGeom prst="rect">
            <a:avLst/>
          </a:prstGeom>
        </p:spPr>
      </p:pic>
      <p:sp>
        <p:nvSpPr>
          <p:cNvPr id="35" name="Textfeld 34">
            <a:extLst>
              <a:ext uri="{FF2B5EF4-FFF2-40B4-BE49-F238E27FC236}">
                <a16:creationId xmlns:a16="http://schemas.microsoft.com/office/drawing/2014/main" id="{4F1BC013-1B50-747A-D0A2-1B807093D6C3}"/>
              </a:ext>
            </a:extLst>
          </p:cNvPr>
          <p:cNvSpPr>
            <a:spLocks noGrp="1"/>
          </p:cNvSpPr>
          <p:nvPr/>
        </p:nvSpPr>
        <p:spPr>
          <a:xfrm>
            <a:off x="2733728" y="1998350"/>
            <a:ext cx="1259680" cy="276999"/>
          </a:xfrm>
          <a:prstGeom prst="rect">
            <a:avLst/>
          </a:prstGeom>
          <a:noFill/>
        </p:spPr>
        <p:txBody>
          <a:bodyPr wrap="square">
            <a:spAutoFit/>
          </a:bodyPr>
          <a:lstStyle/>
          <a:p>
            <a:pPr algn="ctr">
              <a:buNone/>
            </a:pPr>
            <a:r>
              <a:rPr sz="1200"/>
              <a:t>Embedding</a:t>
            </a:r>
          </a:p>
        </p:txBody>
      </p:sp>
      <p:sp>
        <p:nvSpPr>
          <p:cNvPr id="88" name="Gerader Verbinder 87">
            <a:extLst>
              <a:ext uri="{FF2B5EF4-FFF2-40B4-BE49-F238E27FC236}">
                <a16:creationId xmlns:a16="http://schemas.microsoft.com/office/drawing/2014/main" id="{382C234C-9404-4E25-ADD1-D2BD6C9E5C60}"/>
              </a:ext>
            </a:extLst>
          </p:cNvPr>
          <p:cNvSpPr>
            <a:spLocks noGrp="1"/>
          </p:cNvSpPr>
          <p:nvPr/>
        </p:nvSpPr>
        <p:spPr>
          <a:xfrm flipV="1">
            <a:off x="2746349" y="2275349"/>
            <a:ext cx="1259680" cy="12295"/>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txBody>
          <a:bodyPr/>
          <a:lstStyle/>
          <a:p>
            <a:endParaRPr lang="de-DE"/>
          </a:p>
        </p:txBody>
      </p:sp>
      <p:sp>
        <p:nvSpPr>
          <p:cNvPr id="30" name="Rechteck: abgerundete Ecken 29">
            <a:extLst>
              <a:ext uri="{FF2B5EF4-FFF2-40B4-BE49-F238E27FC236}">
                <a16:creationId xmlns:a16="http://schemas.microsoft.com/office/drawing/2014/main" id="{5A462940-1203-2942-FCDE-29992C45E87C}"/>
              </a:ext>
            </a:extLst>
          </p:cNvPr>
          <p:cNvSpPr>
            <a:spLocks noGrp="1"/>
          </p:cNvSpPr>
          <p:nvPr/>
        </p:nvSpPr>
        <p:spPr>
          <a:xfrm>
            <a:off x="7372580" y="3273820"/>
            <a:ext cx="1259680" cy="866775"/>
          </a:xfrm>
          <a:prstGeom prst="roundRect">
            <a:avLst/>
          </a:prstGeom>
          <a:solidFill>
            <a:schemeClr val="bg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15" name="Grafik 12"/>
          <p:cNvPicPr>
            <a:picLocks noChangeAspect="1"/>
          </p:cNvPicPr>
          <p:nvPr/>
        </p:nvPicPr>
        <p:blipFill>
          <a:blip r:embed="rId8"/>
          <a:stretch>
            <a:fillRect/>
          </a:stretch>
        </p:blipFill>
        <p:spPr>
          <a:xfrm flipH="1">
            <a:off x="7731657" y="3581794"/>
            <a:ext cx="541526" cy="571097"/>
          </a:xfrm>
          <a:prstGeom prst="rect">
            <a:avLst/>
          </a:prstGeom>
        </p:spPr>
      </p:pic>
      <p:sp>
        <p:nvSpPr>
          <p:cNvPr id="32" name="Textfeld 31">
            <a:extLst>
              <a:ext uri="{FF2B5EF4-FFF2-40B4-BE49-F238E27FC236}">
                <a16:creationId xmlns:a16="http://schemas.microsoft.com/office/drawing/2014/main" id="{D2D63A13-4695-B3BC-67A0-88F618AE4A65}"/>
              </a:ext>
            </a:extLst>
          </p:cNvPr>
          <p:cNvSpPr>
            <a:spLocks noGrp="1"/>
          </p:cNvSpPr>
          <p:nvPr/>
        </p:nvSpPr>
        <p:spPr>
          <a:xfrm>
            <a:off x="7359959" y="3292499"/>
            <a:ext cx="1259680" cy="276999"/>
          </a:xfrm>
          <a:prstGeom prst="rect">
            <a:avLst/>
          </a:prstGeom>
          <a:noFill/>
        </p:spPr>
        <p:txBody>
          <a:bodyPr wrap="square">
            <a:spAutoFit/>
          </a:bodyPr>
          <a:lstStyle/>
          <a:p>
            <a:pPr algn="ctr">
              <a:buNone/>
            </a:pPr>
            <a:r>
              <a:rPr sz="1200"/>
              <a:t>Embedding</a:t>
            </a:r>
          </a:p>
        </p:txBody>
      </p:sp>
      <p:sp>
        <p:nvSpPr>
          <p:cNvPr id="91" name="Gerader Verbinder 90">
            <a:extLst>
              <a:ext uri="{FF2B5EF4-FFF2-40B4-BE49-F238E27FC236}">
                <a16:creationId xmlns:a16="http://schemas.microsoft.com/office/drawing/2014/main" id="{1A2EF039-8887-4018-9723-E101F98085E1}"/>
              </a:ext>
            </a:extLst>
          </p:cNvPr>
          <p:cNvSpPr>
            <a:spLocks noGrp="1"/>
          </p:cNvSpPr>
          <p:nvPr/>
        </p:nvSpPr>
        <p:spPr>
          <a:xfrm flipV="1">
            <a:off x="7372580" y="3569498"/>
            <a:ext cx="1259680" cy="12296"/>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a:lstStyle/>
          <a:p>
            <a:endParaRPr lang="de-DE"/>
          </a:p>
        </p:txBody>
      </p:sp>
      <p:sp>
        <p:nvSpPr>
          <p:cNvPr id="25" name="Rechteck: abgerundete Ecken 24">
            <a:extLst>
              <a:ext uri="{FF2B5EF4-FFF2-40B4-BE49-F238E27FC236}">
                <a16:creationId xmlns:a16="http://schemas.microsoft.com/office/drawing/2014/main" id="{76810C93-9299-8D4F-9617-0DAA747809E7}"/>
              </a:ext>
            </a:extLst>
          </p:cNvPr>
          <p:cNvSpPr>
            <a:spLocks noGrp="1"/>
          </p:cNvSpPr>
          <p:nvPr/>
        </p:nvSpPr>
        <p:spPr>
          <a:xfrm>
            <a:off x="3976808" y="3351385"/>
            <a:ext cx="1259680" cy="866775"/>
          </a:xfrm>
          <a:prstGeom prst="roundRect">
            <a:avLst/>
          </a:prstGeom>
          <a:solidFill>
            <a:schemeClr val="bg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19" name="Grafik 14"/>
          <p:cNvPicPr>
            <a:picLocks noChangeAspect="1"/>
          </p:cNvPicPr>
          <p:nvPr/>
        </p:nvPicPr>
        <p:blipFill>
          <a:blip r:embed="rId9"/>
          <a:stretch>
            <a:fillRect/>
          </a:stretch>
        </p:blipFill>
        <p:spPr>
          <a:xfrm flipH="1">
            <a:off x="4286182" y="3701245"/>
            <a:ext cx="631298" cy="547851"/>
          </a:xfrm>
          <a:prstGeom prst="rect">
            <a:avLst/>
          </a:prstGeom>
        </p:spPr>
      </p:pic>
      <p:sp>
        <p:nvSpPr>
          <p:cNvPr id="26" name="Textfeld 25">
            <a:extLst>
              <a:ext uri="{FF2B5EF4-FFF2-40B4-BE49-F238E27FC236}">
                <a16:creationId xmlns:a16="http://schemas.microsoft.com/office/drawing/2014/main" id="{452D75D7-309B-8196-FF2C-31F7C939EAC8}"/>
              </a:ext>
            </a:extLst>
          </p:cNvPr>
          <p:cNvSpPr>
            <a:spLocks noGrp="1"/>
          </p:cNvSpPr>
          <p:nvPr/>
        </p:nvSpPr>
        <p:spPr>
          <a:xfrm>
            <a:off x="3964187" y="3370064"/>
            <a:ext cx="1341782" cy="285750"/>
          </a:xfrm>
          <a:prstGeom prst="rect">
            <a:avLst/>
          </a:prstGeom>
          <a:noFill/>
        </p:spPr>
        <p:txBody>
          <a:bodyPr wrap="square">
            <a:spAutoFit/>
          </a:bodyPr>
          <a:lstStyle/>
          <a:p>
            <a:pPr algn="ctr">
              <a:buNone/>
            </a:pPr>
            <a:r>
              <a:rPr sz="1200"/>
              <a:t>Vector Database</a:t>
            </a:r>
          </a:p>
        </p:txBody>
      </p:sp>
      <p:sp>
        <p:nvSpPr>
          <p:cNvPr id="94" name="Gerader Verbinder 93">
            <a:extLst>
              <a:ext uri="{FF2B5EF4-FFF2-40B4-BE49-F238E27FC236}">
                <a16:creationId xmlns:a16="http://schemas.microsoft.com/office/drawing/2014/main" id="{CCA8FC42-E22A-4134-A3B3-AE9396625C7C}"/>
              </a:ext>
            </a:extLst>
          </p:cNvPr>
          <p:cNvSpPr>
            <a:spLocks noGrp="1"/>
          </p:cNvSpPr>
          <p:nvPr/>
        </p:nvSpPr>
        <p:spPr>
          <a:xfrm>
            <a:off x="3976808" y="3655814"/>
            <a:ext cx="1252223"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a:lstStyle/>
          <a:p>
            <a:endParaRPr lang="de-DE"/>
          </a:p>
        </p:txBody>
      </p:sp>
      <p:sp>
        <p:nvSpPr>
          <p:cNvPr id="27" name="Rechteck: abgerundete Ecken 26">
            <a:extLst>
              <a:ext uri="{FF2B5EF4-FFF2-40B4-BE49-F238E27FC236}">
                <a16:creationId xmlns:a16="http://schemas.microsoft.com/office/drawing/2014/main" id="{3AEFF677-0CC0-0409-A498-F0A42AC349FD}"/>
              </a:ext>
            </a:extLst>
          </p:cNvPr>
          <p:cNvSpPr>
            <a:spLocks noGrp="1"/>
          </p:cNvSpPr>
          <p:nvPr/>
        </p:nvSpPr>
        <p:spPr>
          <a:xfrm>
            <a:off x="3978599" y="4597166"/>
            <a:ext cx="1259680" cy="866775"/>
          </a:xfrm>
          <a:prstGeom prst="roundRect">
            <a:avLst/>
          </a:prstGeom>
          <a:solidFill>
            <a:schemeClr val="bg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23" name="Grafik 18"/>
          <p:cNvPicPr>
            <a:picLocks noChangeAspect="1"/>
          </p:cNvPicPr>
          <p:nvPr/>
        </p:nvPicPr>
        <p:blipFill>
          <a:blip r:embed="rId10"/>
          <a:stretch>
            <a:fillRect/>
          </a:stretch>
        </p:blipFill>
        <p:spPr>
          <a:xfrm flipH="1">
            <a:off x="4248345" y="4864484"/>
            <a:ext cx="694946" cy="618136"/>
          </a:xfrm>
          <a:prstGeom prst="rect">
            <a:avLst/>
          </a:prstGeom>
        </p:spPr>
      </p:pic>
      <p:sp>
        <p:nvSpPr>
          <p:cNvPr id="29" name="Textfeld 28">
            <a:extLst>
              <a:ext uri="{FF2B5EF4-FFF2-40B4-BE49-F238E27FC236}">
                <a16:creationId xmlns:a16="http://schemas.microsoft.com/office/drawing/2014/main" id="{6A594674-E676-6EC5-4959-90E088551AE7}"/>
              </a:ext>
            </a:extLst>
          </p:cNvPr>
          <p:cNvSpPr>
            <a:spLocks noGrp="1"/>
          </p:cNvSpPr>
          <p:nvPr/>
        </p:nvSpPr>
        <p:spPr>
          <a:xfrm>
            <a:off x="3965978" y="4615845"/>
            <a:ext cx="1259680" cy="276999"/>
          </a:xfrm>
          <a:prstGeom prst="rect">
            <a:avLst/>
          </a:prstGeom>
          <a:noFill/>
        </p:spPr>
        <p:txBody>
          <a:bodyPr wrap="square">
            <a:spAutoFit/>
          </a:bodyPr>
          <a:lstStyle/>
          <a:p>
            <a:pPr algn="ctr">
              <a:buNone/>
            </a:pPr>
            <a:r>
              <a:rPr sz="1200"/>
              <a:t>Relevant Data</a:t>
            </a:r>
          </a:p>
        </p:txBody>
      </p:sp>
      <p:sp>
        <p:nvSpPr>
          <p:cNvPr id="97" name="Gerader Verbinder 96">
            <a:extLst>
              <a:ext uri="{FF2B5EF4-FFF2-40B4-BE49-F238E27FC236}">
                <a16:creationId xmlns:a16="http://schemas.microsoft.com/office/drawing/2014/main" id="{F84D71EC-CDC1-4447-8C57-A1EDD20A008B}"/>
              </a:ext>
            </a:extLst>
          </p:cNvPr>
          <p:cNvSpPr>
            <a:spLocks noGrp="1"/>
          </p:cNvSpPr>
          <p:nvPr/>
        </p:nvSpPr>
        <p:spPr>
          <a:xfrm>
            <a:off x="3965978" y="4892844"/>
            <a:ext cx="125968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a:lstStyle/>
          <a:p>
            <a:endParaRPr lang="de-DE"/>
          </a:p>
        </p:txBody>
      </p:sp>
      <p:sp>
        <p:nvSpPr>
          <p:cNvPr id="39" name="Rechteck: abgerundete Ecken 38">
            <a:extLst>
              <a:ext uri="{FF2B5EF4-FFF2-40B4-BE49-F238E27FC236}">
                <a16:creationId xmlns:a16="http://schemas.microsoft.com/office/drawing/2014/main" id="{17FB675F-F57E-C56A-AA02-2342FE1F413D}"/>
              </a:ext>
            </a:extLst>
          </p:cNvPr>
          <p:cNvSpPr>
            <a:spLocks noGrp="1"/>
          </p:cNvSpPr>
          <p:nvPr/>
        </p:nvSpPr>
        <p:spPr>
          <a:xfrm>
            <a:off x="7369000" y="1458017"/>
            <a:ext cx="1259680" cy="866775"/>
          </a:xfrm>
          <a:prstGeom prst="roundRect">
            <a:avLst/>
          </a:prstGeom>
          <a:solidFill>
            <a:schemeClr val="accent6">
              <a:lumMod val="40000"/>
              <a:lumOff val="6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27" name="Grafik 39"/>
          <p:cNvPicPr>
            <a:picLocks noChangeAspect="1"/>
          </p:cNvPicPr>
          <p:nvPr/>
        </p:nvPicPr>
        <p:blipFill>
          <a:blip r:embed="rId11"/>
          <a:stretch>
            <a:fillRect/>
          </a:stretch>
        </p:blipFill>
        <p:spPr>
          <a:xfrm flipH="1">
            <a:off x="7710245" y="1753695"/>
            <a:ext cx="584924" cy="593680"/>
          </a:xfrm>
          <a:prstGeom prst="rect">
            <a:avLst/>
          </a:prstGeom>
        </p:spPr>
      </p:pic>
      <p:sp>
        <p:nvSpPr>
          <p:cNvPr id="41" name="Textfeld 40">
            <a:extLst>
              <a:ext uri="{FF2B5EF4-FFF2-40B4-BE49-F238E27FC236}">
                <a16:creationId xmlns:a16="http://schemas.microsoft.com/office/drawing/2014/main" id="{9304DFF4-C8D1-B249-7B11-D268FEAE888E}"/>
              </a:ext>
            </a:extLst>
          </p:cNvPr>
          <p:cNvSpPr>
            <a:spLocks noGrp="1"/>
          </p:cNvSpPr>
          <p:nvPr/>
        </p:nvSpPr>
        <p:spPr>
          <a:xfrm>
            <a:off x="7323199" y="1458017"/>
            <a:ext cx="1414131" cy="276999"/>
          </a:xfrm>
          <a:prstGeom prst="rect">
            <a:avLst/>
          </a:prstGeom>
          <a:noFill/>
        </p:spPr>
        <p:txBody>
          <a:bodyPr wrap="square">
            <a:spAutoFit/>
          </a:bodyPr>
          <a:lstStyle/>
          <a:p>
            <a:pPr algn="ctr">
              <a:buNone/>
            </a:pPr>
            <a:r>
              <a:rPr sz="1200"/>
              <a:t>Embedding LLM</a:t>
            </a:r>
          </a:p>
        </p:txBody>
      </p:sp>
      <p:sp>
        <p:nvSpPr>
          <p:cNvPr id="100" name="Gerader Verbinder 99">
            <a:extLst>
              <a:ext uri="{FF2B5EF4-FFF2-40B4-BE49-F238E27FC236}">
                <a16:creationId xmlns:a16="http://schemas.microsoft.com/office/drawing/2014/main" id="{83AC5183-7098-4883-BBB2-59ED72575D92}"/>
              </a:ext>
            </a:extLst>
          </p:cNvPr>
          <p:cNvSpPr>
            <a:spLocks noGrp="1"/>
          </p:cNvSpPr>
          <p:nvPr/>
        </p:nvSpPr>
        <p:spPr>
          <a:xfrm>
            <a:off x="7369000" y="1741816"/>
            <a:ext cx="125968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a:lstStyle/>
          <a:p>
            <a:endParaRPr lang="de-DE"/>
          </a:p>
        </p:txBody>
      </p:sp>
      <p:sp>
        <p:nvSpPr>
          <p:cNvPr id="36" name="Rechteck: abgerundete Ecken 35">
            <a:extLst>
              <a:ext uri="{FF2B5EF4-FFF2-40B4-BE49-F238E27FC236}">
                <a16:creationId xmlns:a16="http://schemas.microsoft.com/office/drawing/2014/main" id="{ED9EB15C-775E-743A-5C8A-329716F08D71}"/>
              </a:ext>
            </a:extLst>
          </p:cNvPr>
          <p:cNvSpPr>
            <a:spLocks noGrp="1"/>
          </p:cNvSpPr>
          <p:nvPr/>
        </p:nvSpPr>
        <p:spPr>
          <a:xfrm>
            <a:off x="7335820" y="4612887"/>
            <a:ext cx="1259680" cy="866775"/>
          </a:xfrm>
          <a:prstGeom prst="roundRect">
            <a:avLst/>
          </a:prstGeom>
          <a:solidFill>
            <a:schemeClr val="accent6">
              <a:lumMod val="40000"/>
              <a:lumOff val="6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31" name="Grafik 20"/>
          <p:cNvPicPr>
            <a:picLocks noChangeAspect="1"/>
          </p:cNvPicPr>
          <p:nvPr/>
        </p:nvPicPr>
        <p:blipFill>
          <a:blip r:embed="rId11"/>
          <a:stretch>
            <a:fillRect/>
          </a:stretch>
        </p:blipFill>
        <p:spPr>
          <a:xfrm flipH="1">
            <a:off x="7677065" y="4908565"/>
            <a:ext cx="584924" cy="593680"/>
          </a:xfrm>
          <a:prstGeom prst="rect">
            <a:avLst/>
          </a:prstGeom>
        </p:spPr>
      </p:pic>
      <p:sp>
        <p:nvSpPr>
          <p:cNvPr id="38" name="Textfeld 37">
            <a:extLst>
              <a:ext uri="{FF2B5EF4-FFF2-40B4-BE49-F238E27FC236}">
                <a16:creationId xmlns:a16="http://schemas.microsoft.com/office/drawing/2014/main" id="{03DC25DF-13C3-13D9-6E05-39203CDDD994}"/>
              </a:ext>
            </a:extLst>
          </p:cNvPr>
          <p:cNvSpPr>
            <a:spLocks noGrp="1"/>
          </p:cNvSpPr>
          <p:nvPr/>
        </p:nvSpPr>
        <p:spPr>
          <a:xfrm>
            <a:off x="7395113" y="4658867"/>
            <a:ext cx="1128128" cy="276999"/>
          </a:xfrm>
          <a:prstGeom prst="rect">
            <a:avLst/>
          </a:prstGeom>
          <a:solidFill>
            <a:schemeClr val="accent6">
              <a:lumMod val="40000"/>
              <a:lumOff val="60000"/>
            </a:schemeClr>
          </a:solidFill>
          <a:ln>
            <a:noFill/>
          </a:ln>
        </p:spPr>
        <p:txBody>
          <a:bodyPr wrap="square">
            <a:spAutoFit/>
          </a:bodyPr>
          <a:lstStyle/>
          <a:p>
            <a:pPr algn="ctr">
              <a:buNone/>
            </a:pPr>
            <a:r>
              <a:rPr sz="1200"/>
              <a:t>LLM</a:t>
            </a:r>
          </a:p>
        </p:txBody>
      </p:sp>
      <p:sp>
        <p:nvSpPr>
          <p:cNvPr id="103" name="Gerader Verbinder 102">
            <a:extLst>
              <a:ext uri="{FF2B5EF4-FFF2-40B4-BE49-F238E27FC236}">
                <a16:creationId xmlns:a16="http://schemas.microsoft.com/office/drawing/2014/main" id="{D4DE126C-1EDA-4CBB-9E3F-477F90207A6E}"/>
              </a:ext>
            </a:extLst>
          </p:cNvPr>
          <p:cNvSpPr>
            <a:spLocks noGrp="1"/>
          </p:cNvSpPr>
          <p:nvPr/>
        </p:nvSpPr>
        <p:spPr>
          <a:xfrm flipV="1">
            <a:off x="7323199" y="4901448"/>
            <a:ext cx="1272301" cy="711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a:lstStyle/>
          <a:p>
            <a:endParaRPr lang="de-DE"/>
          </a:p>
        </p:txBody>
      </p:sp>
      <p:cxnSp>
        <p:nvCxnSpPr>
          <p:cNvPr id="234" name="Gerade Verbindung mit Pfeil 114"/>
          <p:cNvCxnSpPr>
            <a:stCxn id="73" idx="0"/>
            <a:endCxn id="9" idx="2"/>
          </p:cNvCxnSpPr>
          <p:nvPr/>
        </p:nvCxnSpPr>
        <p:spPr>
          <a:xfrm flipV="1">
            <a:off x="1746291" y="5101812"/>
            <a:ext cx="3215" cy="243890"/>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35" name="Gerade Verbindung mit Pfeil 116"/>
          <p:cNvCxnSpPr>
            <a:stCxn id="47" idx="0"/>
            <a:endCxn id="59" idx="2"/>
          </p:cNvCxnSpPr>
          <p:nvPr/>
        </p:nvCxnSpPr>
        <p:spPr>
          <a:xfrm flipH="1" flipV="1">
            <a:off x="1744118" y="3983417"/>
            <a:ext cx="5389" cy="263136"/>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36" name="Gerade Verbindung mit Pfeil 118"/>
          <p:cNvCxnSpPr>
            <a:stCxn id="61" idx="0"/>
            <a:endCxn id="170" idx="2"/>
          </p:cNvCxnSpPr>
          <p:nvPr/>
        </p:nvCxnSpPr>
        <p:spPr>
          <a:xfrm flipH="1" flipV="1">
            <a:off x="1726272" y="2852628"/>
            <a:ext cx="5225" cy="282693"/>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37" name="Gerade Verbindung mit Pfeil 131"/>
          <p:cNvCxnSpPr>
            <a:stCxn id="33" idx="3"/>
            <a:endCxn id="26" idx="0"/>
          </p:cNvCxnSpPr>
          <p:nvPr/>
        </p:nvCxnSpPr>
        <p:spPr>
          <a:xfrm>
            <a:off x="4006029" y="2413059"/>
            <a:ext cx="629049" cy="957005"/>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38" name="Gerade Verbindung mit Pfeil 140"/>
          <p:cNvCxnSpPr>
            <a:stCxn id="15" idx="2"/>
            <a:endCxn id="29" idx="0"/>
          </p:cNvCxnSpPr>
          <p:nvPr/>
        </p:nvCxnSpPr>
        <p:spPr>
          <a:xfrm flipH="1">
            <a:off x="4595818" y="4249096"/>
            <a:ext cx="6013" cy="366749"/>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39" name="Gerade Verbindung mit Pfeil 143"/>
          <p:cNvCxnSpPr>
            <a:stCxn id="27" idx="3"/>
            <a:endCxn id="36" idx="1"/>
          </p:cNvCxnSpPr>
          <p:nvPr/>
        </p:nvCxnSpPr>
        <p:spPr>
          <a:xfrm>
            <a:off x="5238279" y="5030554"/>
            <a:ext cx="2097541" cy="15721"/>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40" name="Gerade Verbindung mit Pfeil 146"/>
          <p:cNvCxnSpPr>
            <a:stCxn id="21" idx="2"/>
            <a:endCxn id="53" idx="0"/>
          </p:cNvCxnSpPr>
          <p:nvPr/>
        </p:nvCxnSpPr>
        <p:spPr>
          <a:xfrm>
            <a:off x="7969527" y="5502245"/>
            <a:ext cx="2271" cy="300642"/>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41" name="Gerade Verbindung mit Pfeil 148"/>
          <p:cNvCxnSpPr>
            <a:stCxn id="30" idx="1"/>
            <a:endCxn id="25" idx="3"/>
          </p:cNvCxnSpPr>
          <p:nvPr/>
        </p:nvCxnSpPr>
        <p:spPr>
          <a:xfrm flipH="1">
            <a:off x="5236488" y="3707208"/>
            <a:ext cx="2136092" cy="77565"/>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42" name="Gerade Verbindung mit Pfeil 153"/>
          <p:cNvCxnSpPr>
            <a:stCxn id="39" idx="1"/>
          </p:cNvCxnSpPr>
          <p:nvPr/>
        </p:nvCxnSpPr>
        <p:spPr>
          <a:xfrm flipH="1">
            <a:off x="4365106" y="1891405"/>
            <a:ext cx="3003894" cy="893383"/>
          </a:xfrm>
          <a:prstGeom prst="straightConnector1">
            <a:avLst/>
          </a:prstGeom>
          <a:ln>
            <a:solidFill>
              <a:schemeClr val="accent1"/>
            </a:solidFill>
            <a:prstDash val="lgDashDot"/>
            <a:tailEnd type="triangle"/>
          </a:ln>
        </p:spPr>
        <p:style>
          <a:lnRef idx="1">
            <a:schemeClr val="accent1"/>
          </a:lnRef>
          <a:fillRef idx="0">
            <a:schemeClr val="accent1"/>
          </a:fillRef>
          <a:effectRef idx="0">
            <a:schemeClr val="accent1"/>
          </a:effectRef>
          <a:fontRef idx="minor">
            <a:schemeClr val="tx1"/>
          </a:fontRef>
        </p:style>
      </p:cxnSp>
      <p:cxnSp>
        <p:nvCxnSpPr>
          <p:cNvPr id="243" name="Gerade Verbindung mit Pfeil 154"/>
          <p:cNvCxnSpPr/>
          <p:nvPr/>
        </p:nvCxnSpPr>
        <p:spPr>
          <a:xfrm>
            <a:off x="8589017" y="2354960"/>
            <a:ext cx="1139991" cy="1310591"/>
          </a:xfrm>
          <a:prstGeom prst="straightConnector1">
            <a:avLst/>
          </a:prstGeom>
          <a:ln>
            <a:solidFill>
              <a:schemeClr val="accent1"/>
            </a:solidFill>
            <a:prstDash val="lgDashDot"/>
            <a:tailEnd type="triangle"/>
          </a:ln>
        </p:spPr>
        <p:style>
          <a:lnRef idx="1">
            <a:schemeClr val="accent1"/>
          </a:lnRef>
          <a:fillRef idx="0">
            <a:schemeClr val="accent1"/>
          </a:fillRef>
          <a:effectRef idx="0">
            <a:schemeClr val="accent1"/>
          </a:effectRef>
          <a:fontRef idx="minor">
            <a:schemeClr val="tx1"/>
          </a:fontRef>
        </p:style>
      </p:cxnSp>
      <p:cxnSp>
        <p:nvCxnSpPr>
          <p:cNvPr id="244" name="Gerade Verbindung mit Pfeil 158"/>
          <p:cNvCxnSpPr>
            <a:stCxn id="50" idx="1"/>
            <a:endCxn id="30" idx="3"/>
          </p:cNvCxnSpPr>
          <p:nvPr/>
        </p:nvCxnSpPr>
        <p:spPr>
          <a:xfrm flipH="1">
            <a:off x="8632260" y="3672855"/>
            <a:ext cx="1834553" cy="34353"/>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170" name="Rechteck: abgerundete Ecken 169">
            <a:extLst>
              <a:ext uri="{FF2B5EF4-FFF2-40B4-BE49-F238E27FC236}">
                <a16:creationId xmlns:a16="http://schemas.microsoft.com/office/drawing/2014/main" id="{52F2C309-8B47-4B38-C435-BA247301289F}"/>
              </a:ext>
            </a:extLst>
          </p:cNvPr>
          <p:cNvSpPr>
            <a:spLocks noGrp="1"/>
          </p:cNvSpPr>
          <p:nvPr/>
        </p:nvSpPr>
        <p:spPr>
          <a:xfrm>
            <a:off x="1096432" y="1985853"/>
            <a:ext cx="1259680" cy="866775"/>
          </a:xfrm>
          <a:prstGeom prst="roundRect">
            <a:avLst/>
          </a:prstGeom>
          <a:solidFill>
            <a:schemeClr val="accent2"/>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46" name="Grafik 165"/>
          <p:cNvPicPr>
            <a:picLocks noChangeAspect="1"/>
          </p:cNvPicPr>
          <p:nvPr/>
        </p:nvPicPr>
        <p:blipFill>
          <a:blip r:embed="rId12"/>
          <a:stretch>
            <a:fillRect/>
          </a:stretch>
        </p:blipFill>
        <p:spPr>
          <a:xfrm>
            <a:off x="1447029" y="2384556"/>
            <a:ext cx="515265" cy="403725"/>
          </a:xfrm>
          <a:prstGeom prst="rect">
            <a:avLst/>
          </a:prstGeom>
        </p:spPr>
      </p:pic>
      <p:sp>
        <p:nvSpPr>
          <p:cNvPr id="172" name="Textfeld 171">
            <a:extLst>
              <a:ext uri="{FF2B5EF4-FFF2-40B4-BE49-F238E27FC236}">
                <a16:creationId xmlns:a16="http://schemas.microsoft.com/office/drawing/2014/main" id="{C983D40E-3876-4F4E-47B7-7209056B591D}"/>
              </a:ext>
            </a:extLst>
          </p:cNvPr>
          <p:cNvSpPr>
            <a:spLocks noGrp="1"/>
          </p:cNvSpPr>
          <p:nvPr/>
        </p:nvSpPr>
        <p:spPr>
          <a:xfrm>
            <a:off x="1083811" y="2004532"/>
            <a:ext cx="1259680" cy="276999"/>
          </a:xfrm>
          <a:prstGeom prst="rect">
            <a:avLst/>
          </a:prstGeom>
          <a:noFill/>
        </p:spPr>
        <p:txBody>
          <a:bodyPr wrap="square">
            <a:spAutoFit/>
          </a:bodyPr>
          <a:lstStyle/>
          <a:p>
            <a:pPr algn="ctr">
              <a:buNone/>
            </a:pPr>
            <a:r>
              <a:rPr sz="1200"/>
              <a:t>Chunks</a:t>
            </a:r>
          </a:p>
        </p:txBody>
      </p:sp>
      <p:sp>
        <p:nvSpPr>
          <p:cNvPr id="169" name="Gerader Verbinder 168">
            <a:extLst>
              <a:ext uri="{FF2B5EF4-FFF2-40B4-BE49-F238E27FC236}">
                <a16:creationId xmlns:a16="http://schemas.microsoft.com/office/drawing/2014/main" id="{614E5A0E-5463-4227-BAA7-E3178284B6D8}"/>
              </a:ext>
            </a:extLst>
          </p:cNvPr>
          <p:cNvSpPr>
            <a:spLocks noGrp="1"/>
          </p:cNvSpPr>
          <p:nvPr/>
        </p:nvSpPr>
        <p:spPr>
          <a:xfrm flipV="1">
            <a:off x="1096432" y="2281531"/>
            <a:ext cx="1259680" cy="12295"/>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txBody>
          <a:bodyPr/>
          <a:lstStyle/>
          <a:p>
            <a:endParaRPr lang="de-DE"/>
          </a:p>
        </p:txBody>
      </p:sp>
      <p:cxnSp>
        <p:nvCxnSpPr>
          <p:cNvPr id="249" name="Gerade Verbindung mit Pfeil 175"/>
          <p:cNvCxnSpPr>
            <a:stCxn id="170" idx="3"/>
            <a:endCxn id="33" idx="1"/>
          </p:cNvCxnSpPr>
          <p:nvPr/>
        </p:nvCxnSpPr>
        <p:spPr>
          <a:xfrm flipV="1">
            <a:off x="2356112" y="2413059"/>
            <a:ext cx="390237" cy="6182"/>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50644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6A77537-C1FE-7896-AA65-64600F1BA9EA}"/>
              </a:ext>
            </a:extLst>
          </p:cNvPr>
          <p:cNvSpPr>
            <a:spLocks noGrp="1"/>
          </p:cNvSpPr>
          <p:nvPr>
            <p:ph type="title"/>
          </p:nvPr>
        </p:nvSpPr>
        <p:spPr/>
        <p:txBody>
          <a:bodyPr/>
          <a:lstStyle/>
          <a:p>
            <a:r>
              <a:t>Aufbau eines Vector RAGs</a:t>
            </a:r>
          </a:p>
        </p:txBody>
      </p:sp>
      <p:sp>
        <p:nvSpPr>
          <p:cNvPr id="4" name="Foliennummernplatzhalter 3">
            <a:extLst>
              <a:ext uri="{FF2B5EF4-FFF2-40B4-BE49-F238E27FC236}">
                <a16:creationId xmlns:a16="http://schemas.microsoft.com/office/drawing/2014/main" id="{A35B4C6F-32DB-B58C-A30E-9F6EA38F5FB0}"/>
              </a:ext>
            </a:extLst>
          </p:cNvPr>
          <p:cNvSpPr>
            <a:spLocks noGrp="1"/>
          </p:cNvSpPr>
          <p:nvPr>
            <p:ph type="sldNum" idx="12"/>
          </p:nvPr>
        </p:nvSpPr>
        <p:spPr/>
        <p:txBody>
          <a:bodyPr/>
          <a:lstStyle/>
          <a:p>
            <a:fld id="{CE7E00E2-F08D-429A-AD9B-1ECBEC02F4DB}" type="slidenum">
              <a:t>9</a:t>
            </a:fld>
            <a:endParaRPr/>
          </a:p>
        </p:txBody>
      </p:sp>
      <p:sp>
        <p:nvSpPr>
          <p:cNvPr id="10" name="Rechteck: abgerundete Ecken 9">
            <a:extLst>
              <a:ext uri="{FF2B5EF4-FFF2-40B4-BE49-F238E27FC236}">
                <a16:creationId xmlns:a16="http://schemas.microsoft.com/office/drawing/2014/main" id="{B38993B1-D63F-B962-E43D-16CB3FBB6F39}"/>
              </a:ext>
            </a:extLst>
          </p:cNvPr>
          <p:cNvSpPr>
            <a:spLocks noGrp="1"/>
          </p:cNvSpPr>
          <p:nvPr/>
        </p:nvSpPr>
        <p:spPr>
          <a:xfrm>
            <a:off x="714375" y="5143500"/>
            <a:ext cx="1259680" cy="866775"/>
          </a:xfrm>
          <a:prstGeom prst="roundRect">
            <a:avLst/>
          </a:prstGeom>
          <a:solidFill>
            <a:schemeClr val="accent2"/>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2" name="Textfeld 74">
            <a:extLst>
              <a:ext uri="{FF2B5EF4-FFF2-40B4-BE49-F238E27FC236}">
                <a16:creationId xmlns:a16="http://schemas.microsoft.com/office/drawing/2014/main" id="{DECF3306-686E-CFF1-9A40-27FB67140A18}"/>
              </a:ext>
            </a:extLst>
          </p:cNvPr>
          <p:cNvSpPr>
            <a:spLocks noGrp="1"/>
          </p:cNvSpPr>
          <p:nvPr/>
        </p:nvSpPr>
        <p:spPr>
          <a:xfrm>
            <a:off x="701754" y="5162179"/>
            <a:ext cx="1259680" cy="276999"/>
          </a:xfrm>
          <a:prstGeom prst="rect">
            <a:avLst/>
          </a:prstGeom>
          <a:noFill/>
        </p:spPr>
        <p:txBody>
          <a:bodyPr wrap="square">
            <a:spAutoFit/>
          </a:bodyPr>
          <a:lstStyle/>
          <a:p>
            <a:pPr algn="ctr">
              <a:buNone/>
            </a:pPr>
            <a:r>
              <a:rPr sz="1200"/>
              <a:t>Raw Data Files</a:t>
            </a:r>
          </a:p>
        </p:txBody>
      </p:sp>
      <p:sp>
        <p:nvSpPr>
          <p:cNvPr id="14" name="Gerader Verbinder 13">
            <a:extLst>
              <a:ext uri="{FF2B5EF4-FFF2-40B4-BE49-F238E27FC236}">
                <a16:creationId xmlns:a16="http://schemas.microsoft.com/office/drawing/2014/main" id="{CD93CF7F-4061-47BC-D2DF-7546F2E82AED}"/>
              </a:ext>
            </a:extLst>
          </p:cNvPr>
          <p:cNvSpPr>
            <a:spLocks noGrp="1"/>
          </p:cNvSpPr>
          <p:nvPr/>
        </p:nvSpPr>
        <p:spPr>
          <a:xfrm>
            <a:off x="714375" y="5439178"/>
            <a:ext cx="125968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txBody>
          <a:bodyPr/>
          <a:lstStyle/>
          <a:p>
            <a:endParaRPr/>
          </a:p>
        </p:txBody>
      </p:sp>
      <p:pic>
        <p:nvPicPr>
          <p:cNvPr id="164" name="Inhaltsplatzhalter 6"/>
          <p:cNvPicPr>
            <a:picLocks noChangeAspect="1"/>
          </p:cNvPicPr>
          <p:nvPr/>
        </p:nvPicPr>
        <p:blipFill>
          <a:blip r:embed="rId3"/>
          <a:stretch>
            <a:fillRect/>
          </a:stretch>
        </p:blipFill>
        <p:spPr>
          <a:xfrm flipH="1">
            <a:off x="1133584" y="5503383"/>
            <a:ext cx="415070" cy="480063"/>
          </a:xfrm>
          <a:prstGeom prst="rect">
            <a:avLst/>
          </a:prstGeom>
        </p:spPr>
      </p:pic>
      <p:sp>
        <p:nvSpPr>
          <p:cNvPr id="18" name="Rechteck: abgerundete Ecken 17">
            <a:extLst>
              <a:ext uri="{FF2B5EF4-FFF2-40B4-BE49-F238E27FC236}">
                <a16:creationId xmlns:a16="http://schemas.microsoft.com/office/drawing/2014/main" id="{D9E7FE46-B6BE-8721-269A-6415AA075AA3}"/>
              </a:ext>
            </a:extLst>
          </p:cNvPr>
          <p:cNvSpPr>
            <a:spLocks noGrp="1"/>
          </p:cNvSpPr>
          <p:nvPr/>
        </p:nvSpPr>
        <p:spPr>
          <a:xfrm>
            <a:off x="10287000" y="1571625"/>
            <a:ext cx="1259680" cy="866775"/>
          </a:xfrm>
          <a:prstGeom prst="roundRect">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66" name="Grafik 16"/>
          <p:cNvPicPr>
            <a:picLocks noChangeAspect="1"/>
          </p:cNvPicPr>
          <p:nvPr/>
        </p:nvPicPr>
        <p:blipFill>
          <a:blip r:embed="rId4"/>
          <a:stretch>
            <a:fillRect/>
          </a:stretch>
        </p:blipFill>
        <p:spPr>
          <a:xfrm flipH="1">
            <a:off x="10611919" y="1867303"/>
            <a:ext cx="609861" cy="566720"/>
          </a:xfrm>
          <a:prstGeom prst="rect">
            <a:avLst/>
          </a:prstGeom>
        </p:spPr>
      </p:pic>
      <p:sp>
        <p:nvSpPr>
          <p:cNvPr id="22" name="Textfeld 51">
            <a:extLst>
              <a:ext uri="{FF2B5EF4-FFF2-40B4-BE49-F238E27FC236}">
                <a16:creationId xmlns:a16="http://schemas.microsoft.com/office/drawing/2014/main" id="{E9B671B8-ADBD-7C77-A761-7D4C7F8DC77F}"/>
              </a:ext>
            </a:extLst>
          </p:cNvPr>
          <p:cNvSpPr>
            <a:spLocks noGrp="1"/>
          </p:cNvSpPr>
          <p:nvPr/>
        </p:nvSpPr>
        <p:spPr>
          <a:xfrm>
            <a:off x="10274379" y="1590304"/>
            <a:ext cx="1259680" cy="276999"/>
          </a:xfrm>
          <a:prstGeom prst="rect">
            <a:avLst/>
          </a:prstGeom>
          <a:noFill/>
        </p:spPr>
        <p:txBody>
          <a:bodyPr wrap="square">
            <a:spAutoFit/>
          </a:bodyPr>
          <a:lstStyle/>
          <a:p>
            <a:pPr algn="ctr">
              <a:buNone/>
            </a:pPr>
            <a:r>
              <a:rPr sz="1200">
                <a:solidFill>
                  <a:schemeClr val="bg1"/>
                </a:solidFill>
              </a:rPr>
              <a:t>Query</a:t>
            </a:r>
          </a:p>
        </p:txBody>
      </p:sp>
      <p:sp>
        <p:nvSpPr>
          <p:cNvPr id="24" name="Rechteck: abgerundete Ecken 23">
            <a:extLst>
              <a:ext uri="{FF2B5EF4-FFF2-40B4-BE49-F238E27FC236}">
                <a16:creationId xmlns:a16="http://schemas.microsoft.com/office/drawing/2014/main" id="{EF7C69F7-3BA6-3716-FB87-C6056C54CA0B}"/>
              </a:ext>
            </a:extLst>
          </p:cNvPr>
          <p:cNvSpPr>
            <a:spLocks noGrp="1"/>
          </p:cNvSpPr>
          <p:nvPr/>
        </p:nvSpPr>
        <p:spPr>
          <a:xfrm>
            <a:off x="10287000" y="4619625"/>
            <a:ext cx="1259680" cy="866775"/>
          </a:xfrm>
          <a:prstGeom prst="roundRect">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69" name="Grafik 22"/>
          <p:cNvPicPr>
            <a:picLocks noChangeAspect="1"/>
          </p:cNvPicPr>
          <p:nvPr/>
        </p:nvPicPr>
        <p:blipFill>
          <a:blip r:embed="rId5"/>
          <a:stretch>
            <a:fillRect/>
          </a:stretch>
        </p:blipFill>
        <p:spPr>
          <a:xfrm flipH="1">
            <a:off x="10596787" y="4903297"/>
            <a:ext cx="614864" cy="571508"/>
          </a:xfrm>
          <a:prstGeom prst="rect">
            <a:avLst/>
          </a:prstGeom>
        </p:spPr>
      </p:pic>
      <p:sp>
        <p:nvSpPr>
          <p:cNvPr id="31" name="Textfeld 54">
            <a:extLst>
              <a:ext uri="{FF2B5EF4-FFF2-40B4-BE49-F238E27FC236}">
                <a16:creationId xmlns:a16="http://schemas.microsoft.com/office/drawing/2014/main" id="{D4C33B49-7891-AAA7-51F9-90B1FAAF4FA6}"/>
              </a:ext>
            </a:extLst>
          </p:cNvPr>
          <p:cNvSpPr>
            <a:spLocks noGrp="1"/>
          </p:cNvSpPr>
          <p:nvPr/>
        </p:nvSpPr>
        <p:spPr>
          <a:xfrm>
            <a:off x="10274379" y="4638304"/>
            <a:ext cx="1259680" cy="276999"/>
          </a:xfrm>
          <a:prstGeom prst="rect">
            <a:avLst/>
          </a:prstGeom>
          <a:noFill/>
        </p:spPr>
        <p:txBody>
          <a:bodyPr wrap="square">
            <a:spAutoFit/>
          </a:bodyPr>
          <a:lstStyle/>
          <a:p>
            <a:pPr algn="ctr">
              <a:buNone/>
            </a:pPr>
            <a:r>
              <a:rPr sz="1200">
                <a:solidFill>
                  <a:schemeClr val="bg1"/>
                </a:solidFill>
              </a:rPr>
              <a:t>Response</a:t>
            </a:r>
          </a:p>
        </p:txBody>
      </p:sp>
      <p:sp>
        <p:nvSpPr>
          <p:cNvPr id="37" name="Rechteck: abgerundete Ecken 36">
            <a:extLst>
              <a:ext uri="{FF2B5EF4-FFF2-40B4-BE49-F238E27FC236}">
                <a16:creationId xmlns:a16="http://schemas.microsoft.com/office/drawing/2014/main" id="{955C229C-DF37-3394-7852-D2530C311E3D}"/>
              </a:ext>
            </a:extLst>
          </p:cNvPr>
          <p:cNvSpPr>
            <a:spLocks noGrp="1"/>
          </p:cNvSpPr>
          <p:nvPr/>
        </p:nvSpPr>
        <p:spPr>
          <a:xfrm>
            <a:off x="523875" y="3952875"/>
            <a:ext cx="1658163" cy="866775"/>
          </a:xfrm>
          <a:prstGeom prst="roundRect">
            <a:avLst/>
          </a:prstGeom>
          <a:solidFill>
            <a:schemeClr val="accent2"/>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72" name="Grafik 8"/>
          <p:cNvPicPr>
            <a:picLocks noChangeAspect="1"/>
          </p:cNvPicPr>
          <p:nvPr/>
        </p:nvPicPr>
        <p:blipFill>
          <a:blip r:embed="rId6"/>
          <a:stretch>
            <a:fillRect/>
          </a:stretch>
        </p:blipFill>
        <p:spPr>
          <a:xfrm flipH="1">
            <a:off x="1119276" y="4248553"/>
            <a:ext cx="467360" cy="559581"/>
          </a:xfrm>
          <a:prstGeom prst="rect">
            <a:avLst/>
          </a:prstGeom>
        </p:spPr>
      </p:pic>
      <p:sp>
        <p:nvSpPr>
          <p:cNvPr id="43" name="Textfeld 48">
            <a:extLst>
              <a:ext uri="{FF2B5EF4-FFF2-40B4-BE49-F238E27FC236}">
                <a16:creationId xmlns:a16="http://schemas.microsoft.com/office/drawing/2014/main" id="{2441BB71-C515-3F41-6A7B-CFE04B47BE00}"/>
              </a:ext>
            </a:extLst>
          </p:cNvPr>
          <p:cNvSpPr>
            <a:spLocks noGrp="1"/>
          </p:cNvSpPr>
          <p:nvPr/>
        </p:nvSpPr>
        <p:spPr>
          <a:xfrm>
            <a:off x="511254" y="3971554"/>
            <a:ext cx="1733633" cy="276999"/>
          </a:xfrm>
          <a:prstGeom prst="rect">
            <a:avLst/>
          </a:prstGeom>
          <a:noFill/>
        </p:spPr>
        <p:txBody>
          <a:bodyPr wrap="square">
            <a:spAutoFit/>
          </a:bodyPr>
          <a:lstStyle/>
          <a:p>
            <a:pPr algn="ctr">
              <a:buNone/>
            </a:pPr>
            <a:r>
              <a:rPr sz="1200"/>
              <a:t>Information Extraction</a:t>
            </a:r>
          </a:p>
        </p:txBody>
      </p:sp>
      <p:sp>
        <p:nvSpPr>
          <p:cNvPr id="44" name="Gerader Verbinder 43">
            <a:extLst>
              <a:ext uri="{FF2B5EF4-FFF2-40B4-BE49-F238E27FC236}">
                <a16:creationId xmlns:a16="http://schemas.microsoft.com/office/drawing/2014/main" id="{6BF87FBA-FFD4-A870-8990-3B36EDECACE0}"/>
              </a:ext>
            </a:extLst>
          </p:cNvPr>
          <p:cNvSpPr>
            <a:spLocks noGrp="1"/>
          </p:cNvSpPr>
          <p:nvPr/>
        </p:nvSpPr>
        <p:spPr>
          <a:xfrm>
            <a:off x="523875" y="4248553"/>
            <a:ext cx="1658163"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45" name="Rechteck: abgerundete Ecken 44">
            <a:extLst>
              <a:ext uri="{FF2B5EF4-FFF2-40B4-BE49-F238E27FC236}">
                <a16:creationId xmlns:a16="http://schemas.microsoft.com/office/drawing/2014/main" id="{D48A7F4F-BE6B-CD6F-E690-688E3245F2C5}"/>
              </a:ext>
            </a:extLst>
          </p:cNvPr>
          <p:cNvSpPr>
            <a:spLocks noGrp="1"/>
          </p:cNvSpPr>
          <p:nvPr/>
        </p:nvSpPr>
        <p:spPr>
          <a:xfrm>
            <a:off x="714375" y="2762250"/>
            <a:ext cx="1259680" cy="866775"/>
          </a:xfrm>
          <a:prstGeom prst="roundRect">
            <a:avLst/>
          </a:prstGeom>
          <a:solidFill>
            <a:schemeClr val="accent2"/>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76" name="Grafik 10"/>
          <p:cNvPicPr>
            <a:picLocks noChangeAspect="1"/>
          </p:cNvPicPr>
          <p:nvPr/>
        </p:nvPicPr>
        <p:blipFill>
          <a:blip r:embed="rId7"/>
          <a:stretch>
            <a:fillRect/>
          </a:stretch>
        </p:blipFill>
        <p:spPr>
          <a:xfrm flipH="1">
            <a:off x="1116684" y="3076607"/>
            <a:ext cx="455061" cy="530359"/>
          </a:xfrm>
          <a:prstGeom prst="rect">
            <a:avLst/>
          </a:prstGeom>
        </p:spPr>
      </p:pic>
      <p:sp>
        <p:nvSpPr>
          <p:cNvPr id="48" name="Textfeld 60">
            <a:extLst>
              <a:ext uri="{FF2B5EF4-FFF2-40B4-BE49-F238E27FC236}">
                <a16:creationId xmlns:a16="http://schemas.microsoft.com/office/drawing/2014/main" id="{9300C327-65D2-42BB-19E9-6CBA235D48A3}"/>
              </a:ext>
            </a:extLst>
          </p:cNvPr>
          <p:cNvSpPr>
            <a:spLocks noGrp="1"/>
          </p:cNvSpPr>
          <p:nvPr/>
        </p:nvSpPr>
        <p:spPr>
          <a:xfrm>
            <a:off x="701754" y="2780929"/>
            <a:ext cx="1259680" cy="276999"/>
          </a:xfrm>
          <a:prstGeom prst="rect">
            <a:avLst/>
          </a:prstGeom>
          <a:noFill/>
        </p:spPr>
        <p:txBody>
          <a:bodyPr wrap="square">
            <a:spAutoFit/>
          </a:bodyPr>
          <a:lstStyle/>
          <a:p>
            <a:pPr algn="ctr">
              <a:buNone/>
            </a:pPr>
            <a:r>
              <a:rPr sz="1200"/>
              <a:t>Chunking</a:t>
            </a:r>
          </a:p>
        </p:txBody>
      </p:sp>
      <p:sp>
        <p:nvSpPr>
          <p:cNvPr id="51" name="Gerader Verbinder 50">
            <a:extLst>
              <a:ext uri="{FF2B5EF4-FFF2-40B4-BE49-F238E27FC236}">
                <a16:creationId xmlns:a16="http://schemas.microsoft.com/office/drawing/2014/main" id="{329E3D98-43F4-135D-5087-525B26A0404F}"/>
              </a:ext>
            </a:extLst>
          </p:cNvPr>
          <p:cNvSpPr>
            <a:spLocks noGrp="1"/>
          </p:cNvSpPr>
          <p:nvPr/>
        </p:nvSpPr>
        <p:spPr>
          <a:xfrm>
            <a:off x="701754" y="3054904"/>
            <a:ext cx="1272301"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54" name="Rechteck: abgerundete Ecken 53">
            <a:extLst>
              <a:ext uri="{FF2B5EF4-FFF2-40B4-BE49-F238E27FC236}">
                <a16:creationId xmlns:a16="http://schemas.microsoft.com/office/drawing/2014/main" id="{F6937E87-FFDC-5644-BE6B-D3AF0FCBAA56}"/>
              </a:ext>
            </a:extLst>
          </p:cNvPr>
          <p:cNvSpPr>
            <a:spLocks noGrp="1"/>
          </p:cNvSpPr>
          <p:nvPr/>
        </p:nvSpPr>
        <p:spPr>
          <a:xfrm>
            <a:off x="5119500" y="1578909"/>
            <a:ext cx="1259680" cy="866775"/>
          </a:xfrm>
          <a:prstGeom prst="roundRect">
            <a:avLst/>
          </a:prstGeom>
          <a:solidFill>
            <a:schemeClr val="accent2"/>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80" name="Grafik 33"/>
          <p:cNvPicPr>
            <a:picLocks noChangeAspect="1"/>
          </p:cNvPicPr>
          <p:nvPr/>
        </p:nvPicPr>
        <p:blipFill>
          <a:blip r:embed="rId8"/>
          <a:stretch>
            <a:fillRect/>
          </a:stretch>
        </p:blipFill>
        <p:spPr>
          <a:xfrm flipH="1">
            <a:off x="5478577" y="1886883"/>
            <a:ext cx="541526" cy="571097"/>
          </a:xfrm>
          <a:prstGeom prst="rect">
            <a:avLst/>
          </a:prstGeom>
        </p:spPr>
      </p:pic>
      <p:sp>
        <p:nvSpPr>
          <p:cNvPr id="57" name="Textfeld 34">
            <a:extLst>
              <a:ext uri="{FF2B5EF4-FFF2-40B4-BE49-F238E27FC236}">
                <a16:creationId xmlns:a16="http://schemas.microsoft.com/office/drawing/2014/main" id="{957FA4FE-DEF6-E882-2842-2649F9966023}"/>
              </a:ext>
            </a:extLst>
          </p:cNvPr>
          <p:cNvSpPr>
            <a:spLocks noGrp="1"/>
          </p:cNvSpPr>
          <p:nvPr/>
        </p:nvSpPr>
        <p:spPr>
          <a:xfrm>
            <a:off x="5106879" y="1597588"/>
            <a:ext cx="1259680" cy="276999"/>
          </a:xfrm>
          <a:prstGeom prst="rect">
            <a:avLst/>
          </a:prstGeom>
          <a:noFill/>
        </p:spPr>
        <p:txBody>
          <a:bodyPr wrap="square">
            <a:spAutoFit/>
          </a:bodyPr>
          <a:lstStyle/>
          <a:p>
            <a:pPr algn="ctr">
              <a:buNone/>
            </a:pPr>
            <a:r>
              <a:rPr sz="1200"/>
              <a:t>Embedding</a:t>
            </a:r>
          </a:p>
        </p:txBody>
      </p:sp>
      <p:sp>
        <p:nvSpPr>
          <p:cNvPr id="58" name="Gerader Verbinder 57">
            <a:extLst>
              <a:ext uri="{FF2B5EF4-FFF2-40B4-BE49-F238E27FC236}">
                <a16:creationId xmlns:a16="http://schemas.microsoft.com/office/drawing/2014/main" id="{2358A794-930F-1800-2F3C-5B5ECED2E77E}"/>
              </a:ext>
            </a:extLst>
          </p:cNvPr>
          <p:cNvSpPr>
            <a:spLocks noGrp="1"/>
          </p:cNvSpPr>
          <p:nvPr/>
        </p:nvSpPr>
        <p:spPr>
          <a:xfrm flipV="1">
            <a:off x="5119500" y="1874587"/>
            <a:ext cx="1259680" cy="12295"/>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60" name="Rechteck: abgerundete Ecken 59">
            <a:extLst>
              <a:ext uri="{FF2B5EF4-FFF2-40B4-BE49-F238E27FC236}">
                <a16:creationId xmlns:a16="http://schemas.microsoft.com/office/drawing/2014/main" id="{0F97695A-AB9E-12B2-E874-0BCD324FB8A7}"/>
              </a:ext>
            </a:extLst>
          </p:cNvPr>
          <p:cNvSpPr>
            <a:spLocks noGrp="1"/>
          </p:cNvSpPr>
          <p:nvPr/>
        </p:nvSpPr>
        <p:spPr>
          <a:xfrm>
            <a:off x="8096250" y="3048000"/>
            <a:ext cx="1259680" cy="866775"/>
          </a:xfrm>
          <a:prstGeom prst="roundRect">
            <a:avLst/>
          </a:prstGeom>
          <a:solidFill>
            <a:schemeClr val="bg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84" name="Grafik 12"/>
          <p:cNvPicPr>
            <a:picLocks noChangeAspect="1"/>
          </p:cNvPicPr>
          <p:nvPr/>
        </p:nvPicPr>
        <p:blipFill>
          <a:blip r:embed="rId8"/>
          <a:stretch>
            <a:fillRect/>
          </a:stretch>
        </p:blipFill>
        <p:spPr>
          <a:xfrm flipH="1">
            <a:off x="8455327" y="3355974"/>
            <a:ext cx="541526" cy="571097"/>
          </a:xfrm>
          <a:prstGeom prst="rect">
            <a:avLst/>
          </a:prstGeom>
        </p:spPr>
      </p:pic>
      <p:sp>
        <p:nvSpPr>
          <p:cNvPr id="67" name="Textfeld 31">
            <a:extLst>
              <a:ext uri="{FF2B5EF4-FFF2-40B4-BE49-F238E27FC236}">
                <a16:creationId xmlns:a16="http://schemas.microsoft.com/office/drawing/2014/main" id="{93602E7B-DC37-F2CD-0924-065EFB64C7BA}"/>
              </a:ext>
            </a:extLst>
          </p:cNvPr>
          <p:cNvSpPr>
            <a:spLocks noGrp="1"/>
          </p:cNvSpPr>
          <p:nvPr/>
        </p:nvSpPr>
        <p:spPr>
          <a:xfrm>
            <a:off x="8083629" y="3066679"/>
            <a:ext cx="1259680" cy="276999"/>
          </a:xfrm>
          <a:prstGeom prst="rect">
            <a:avLst/>
          </a:prstGeom>
          <a:noFill/>
        </p:spPr>
        <p:txBody>
          <a:bodyPr wrap="square">
            <a:spAutoFit/>
          </a:bodyPr>
          <a:lstStyle/>
          <a:p>
            <a:pPr algn="ctr">
              <a:buNone/>
            </a:pPr>
            <a:r>
              <a:rPr sz="1200"/>
              <a:t>Embedding</a:t>
            </a:r>
          </a:p>
        </p:txBody>
      </p:sp>
      <p:sp>
        <p:nvSpPr>
          <p:cNvPr id="69" name="Gerader Verbinder 68">
            <a:extLst>
              <a:ext uri="{FF2B5EF4-FFF2-40B4-BE49-F238E27FC236}">
                <a16:creationId xmlns:a16="http://schemas.microsoft.com/office/drawing/2014/main" id="{919036DE-C489-76A0-3FDD-88C13187B396}"/>
              </a:ext>
            </a:extLst>
          </p:cNvPr>
          <p:cNvSpPr>
            <a:spLocks noGrp="1"/>
          </p:cNvSpPr>
          <p:nvPr/>
        </p:nvSpPr>
        <p:spPr>
          <a:xfrm flipV="1">
            <a:off x="8096250" y="3343678"/>
            <a:ext cx="1259680" cy="12296"/>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72" name="Rechteck: abgerundete Ecken 71">
            <a:extLst>
              <a:ext uri="{FF2B5EF4-FFF2-40B4-BE49-F238E27FC236}">
                <a16:creationId xmlns:a16="http://schemas.microsoft.com/office/drawing/2014/main" id="{E9A14601-129B-5663-F0ED-B2E1BD20F945}"/>
              </a:ext>
            </a:extLst>
          </p:cNvPr>
          <p:cNvSpPr>
            <a:spLocks noGrp="1"/>
          </p:cNvSpPr>
          <p:nvPr/>
        </p:nvSpPr>
        <p:spPr>
          <a:xfrm>
            <a:off x="5095875" y="3048000"/>
            <a:ext cx="1259680" cy="866775"/>
          </a:xfrm>
          <a:prstGeom prst="roundRect">
            <a:avLst/>
          </a:prstGeom>
          <a:solidFill>
            <a:schemeClr val="bg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88" name="Grafik 14"/>
          <p:cNvPicPr>
            <a:picLocks noChangeAspect="1"/>
          </p:cNvPicPr>
          <p:nvPr/>
        </p:nvPicPr>
        <p:blipFill>
          <a:blip r:embed="rId9"/>
          <a:stretch>
            <a:fillRect/>
          </a:stretch>
        </p:blipFill>
        <p:spPr>
          <a:xfrm flipH="1">
            <a:off x="5405249" y="3397860"/>
            <a:ext cx="631298" cy="547851"/>
          </a:xfrm>
          <a:prstGeom prst="rect">
            <a:avLst/>
          </a:prstGeom>
        </p:spPr>
      </p:pic>
      <p:sp>
        <p:nvSpPr>
          <p:cNvPr id="77" name="Textfeld 25">
            <a:extLst>
              <a:ext uri="{FF2B5EF4-FFF2-40B4-BE49-F238E27FC236}">
                <a16:creationId xmlns:a16="http://schemas.microsoft.com/office/drawing/2014/main" id="{1C80D23E-AF36-ADDD-DF87-F60A5AC8096B}"/>
              </a:ext>
            </a:extLst>
          </p:cNvPr>
          <p:cNvSpPr>
            <a:spLocks noGrp="1"/>
          </p:cNvSpPr>
          <p:nvPr/>
        </p:nvSpPr>
        <p:spPr>
          <a:xfrm>
            <a:off x="5083254" y="3066679"/>
            <a:ext cx="1341782" cy="285750"/>
          </a:xfrm>
          <a:prstGeom prst="rect">
            <a:avLst/>
          </a:prstGeom>
          <a:noFill/>
        </p:spPr>
        <p:txBody>
          <a:bodyPr wrap="square">
            <a:spAutoFit/>
          </a:bodyPr>
          <a:lstStyle/>
          <a:p>
            <a:pPr algn="ctr">
              <a:buNone/>
            </a:pPr>
            <a:r>
              <a:rPr sz="1200"/>
              <a:t>Vector Database</a:t>
            </a:r>
          </a:p>
        </p:txBody>
      </p:sp>
      <p:sp>
        <p:nvSpPr>
          <p:cNvPr id="79" name="Gerader Verbinder 78">
            <a:extLst>
              <a:ext uri="{FF2B5EF4-FFF2-40B4-BE49-F238E27FC236}">
                <a16:creationId xmlns:a16="http://schemas.microsoft.com/office/drawing/2014/main" id="{89A0E0B7-A2BB-83F8-DDEA-7BF8AF689E44}"/>
              </a:ext>
            </a:extLst>
          </p:cNvPr>
          <p:cNvSpPr>
            <a:spLocks noGrp="1"/>
          </p:cNvSpPr>
          <p:nvPr/>
        </p:nvSpPr>
        <p:spPr>
          <a:xfrm>
            <a:off x="5095875" y="3352429"/>
            <a:ext cx="1252223"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81" name="Rechteck: abgerundete Ecken 80">
            <a:extLst>
              <a:ext uri="{FF2B5EF4-FFF2-40B4-BE49-F238E27FC236}">
                <a16:creationId xmlns:a16="http://schemas.microsoft.com/office/drawing/2014/main" id="{299209A1-E60D-B54F-BCE0-B59442B6BA9E}"/>
              </a:ext>
            </a:extLst>
          </p:cNvPr>
          <p:cNvSpPr>
            <a:spLocks noGrp="1"/>
          </p:cNvSpPr>
          <p:nvPr/>
        </p:nvSpPr>
        <p:spPr>
          <a:xfrm>
            <a:off x="5095875" y="4619625"/>
            <a:ext cx="1259680" cy="866775"/>
          </a:xfrm>
          <a:prstGeom prst="roundRect">
            <a:avLst/>
          </a:prstGeom>
          <a:solidFill>
            <a:schemeClr val="bg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92" name="Grafik 18"/>
          <p:cNvPicPr>
            <a:picLocks noChangeAspect="1"/>
          </p:cNvPicPr>
          <p:nvPr/>
        </p:nvPicPr>
        <p:blipFill>
          <a:blip r:embed="rId10"/>
          <a:stretch>
            <a:fillRect/>
          </a:stretch>
        </p:blipFill>
        <p:spPr>
          <a:xfrm flipH="1">
            <a:off x="5365621" y="4886943"/>
            <a:ext cx="694946" cy="618136"/>
          </a:xfrm>
          <a:prstGeom prst="rect">
            <a:avLst/>
          </a:prstGeom>
        </p:spPr>
      </p:pic>
      <p:sp>
        <p:nvSpPr>
          <p:cNvPr id="87" name="Textfeld 28">
            <a:extLst>
              <a:ext uri="{FF2B5EF4-FFF2-40B4-BE49-F238E27FC236}">
                <a16:creationId xmlns:a16="http://schemas.microsoft.com/office/drawing/2014/main" id="{97FD2241-5B61-D9A8-9B5C-DE6B07A2BCBE}"/>
              </a:ext>
            </a:extLst>
          </p:cNvPr>
          <p:cNvSpPr>
            <a:spLocks noGrp="1"/>
          </p:cNvSpPr>
          <p:nvPr/>
        </p:nvSpPr>
        <p:spPr>
          <a:xfrm>
            <a:off x="5083254" y="4638304"/>
            <a:ext cx="1259680" cy="276999"/>
          </a:xfrm>
          <a:prstGeom prst="rect">
            <a:avLst/>
          </a:prstGeom>
          <a:noFill/>
        </p:spPr>
        <p:txBody>
          <a:bodyPr wrap="square">
            <a:spAutoFit/>
          </a:bodyPr>
          <a:lstStyle/>
          <a:p>
            <a:pPr algn="ctr">
              <a:buNone/>
            </a:pPr>
            <a:r>
              <a:rPr sz="1200"/>
              <a:t>Relevant Data</a:t>
            </a:r>
          </a:p>
        </p:txBody>
      </p:sp>
      <p:sp>
        <p:nvSpPr>
          <p:cNvPr id="90" name="Gerader Verbinder 89">
            <a:extLst>
              <a:ext uri="{FF2B5EF4-FFF2-40B4-BE49-F238E27FC236}">
                <a16:creationId xmlns:a16="http://schemas.microsoft.com/office/drawing/2014/main" id="{28E3CEA1-5C20-114C-95BF-87C047395FE4}"/>
              </a:ext>
            </a:extLst>
          </p:cNvPr>
          <p:cNvSpPr>
            <a:spLocks noGrp="1"/>
          </p:cNvSpPr>
          <p:nvPr/>
        </p:nvSpPr>
        <p:spPr>
          <a:xfrm>
            <a:off x="5083254" y="4915303"/>
            <a:ext cx="125968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93" name="Rechteck: abgerundete Ecken 92">
            <a:extLst>
              <a:ext uri="{FF2B5EF4-FFF2-40B4-BE49-F238E27FC236}">
                <a16:creationId xmlns:a16="http://schemas.microsoft.com/office/drawing/2014/main" id="{AD79A1D2-E83B-1112-88E6-A41F8B4E30C4}"/>
              </a:ext>
            </a:extLst>
          </p:cNvPr>
          <p:cNvSpPr>
            <a:spLocks noGrp="1"/>
          </p:cNvSpPr>
          <p:nvPr/>
        </p:nvSpPr>
        <p:spPr>
          <a:xfrm>
            <a:off x="8096250" y="1571625"/>
            <a:ext cx="1259680" cy="866775"/>
          </a:xfrm>
          <a:prstGeom prst="roundRect">
            <a:avLst/>
          </a:prstGeom>
          <a:solidFill>
            <a:schemeClr val="accent6">
              <a:lumMod val="40000"/>
              <a:lumOff val="6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96" name="Grafik 39"/>
          <p:cNvPicPr>
            <a:picLocks noChangeAspect="1"/>
          </p:cNvPicPr>
          <p:nvPr/>
        </p:nvPicPr>
        <p:blipFill>
          <a:blip r:embed="rId11"/>
          <a:stretch>
            <a:fillRect/>
          </a:stretch>
        </p:blipFill>
        <p:spPr>
          <a:xfrm flipH="1">
            <a:off x="8437495" y="1867303"/>
            <a:ext cx="584924" cy="593680"/>
          </a:xfrm>
          <a:prstGeom prst="rect">
            <a:avLst/>
          </a:prstGeom>
        </p:spPr>
      </p:pic>
      <p:sp>
        <p:nvSpPr>
          <p:cNvPr id="99" name="Textfeld 40">
            <a:extLst>
              <a:ext uri="{FF2B5EF4-FFF2-40B4-BE49-F238E27FC236}">
                <a16:creationId xmlns:a16="http://schemas.microsoft.com/office/drawing/2014/main" id="{39ADD9CF-0CDD-69E9-2A07-C125FCAA3B7D}"/>
              </a:ext>
            </a:extLst>
          </p:cNvPr>
          <p:cNvSpPr>
            <a:spLocks noGrp="1"/>
          </p:cNvSpPr>
          <p:nvPr/>
        </p:nvSpPr>
        <p:spPr>
          <a:xfrm>
            <a:off x="8050449" y="1571625"/>
            <a:ext cx="1414131" cy="276999"/>
          </a:xfrm>
          <a:prstGeom prst="rect">
            <a:avLst/>
          </a:prstGeom>
          <a:noFill/>
        </p:spPr>
        <p:txBody>
          <a:bodyPr wrap="square">
            <a:spAutoFit/>
          </a:bodyPr>
          <a:lstStyle/>
          <a:p>
            <a:pPr algn="ctr">
              <a:buNone/>
            </a:pPr>
            <a:r>
              <a:rPr sz="1200"/>
              <a:t>Embedding LLM</a:t>
            </a:r>
          </a:p>
        </p:txBody>
      </p:sp>
      <p:sp>
        <p:nvSpPr>
          <p:cNvPr id="101" name="Gerader Verbinder 100">
            <a:extLst>
              <a:ext uri="{FF2B5EF4-FFF2-40B4-BE49-F238E27FC236}">
                <a16:creationId xmlns:a16="http://schemas.microsoft.com/office/drawing/2014/main" id="{E72F8E13-9942-DFD0-1B23-F1C4A1D4EC76}"/>
              </a:ext>
            </a:extLst>
          </p:cNvPr>
          <p:cNvSpPr>
            <a:spLocks noGrp="1"/>
          </p:cNvSpPr>
          <p:nvPr/>
        </p:nvSpPr>
        <p:spPr>
          <a:xfrm>
            <a:off x="8096250" y="1855424"/>
            <a:ext cx="125968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102" name="Rechteck: abgerundete Ecken 101">
            <a:extLst>
              <a:ext uri="{FF2B5EF4-FFF2-40B4-BE49-F238E27FC236}">
                <a16:creationId xmlns:a16="http://schemas.microsoft.com/office/drawing/2014/main" id="{CCD2EF0F-009E-7BB9-2850-8D80476CA421}"/>
              </a:ext>
            </a:extLst>
          </p:cNvPr>
          <p:cNvSpPr>
            <a:spLocks noGrp="1"/>
          </p:cNvSpPr>
          <p:nvPr/>
        </p:nvSpPr>
        <p:spPr>
          <a:xfrm>
            <a:off x="8096250" y="4619625"/>
            <a:ext cx="1259680" cy="866775"/>
          </a:xfrm>
          <a:prstGeom prst="roundRect">
            <a:avLst/>
          </a:prstGeom>
          <a:solidFill>
            <a:schemeClr val="accent6">
              <a:lumMod val="40000"/>
              <a:lumOff val="6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00" name="Grafik 20"/>
          <p:cNvPicPr>
            <a:picLocks noChangeAspect="1"/>
          </p:cNvPicPr>
          <p:nvPr/>
        </p:nvPicPr>
        <p:blipFill>
          <a:blip r:embed="rId11"/>
          <a:stretch>
            <a:fillRect/>
          </a:stretch>
        </p:blipFill>
        <p:spPr>
          <a:xfrm flipH="1">
            <a:off x="8437495" y="4915303"/>
            <a:ext cx="584924" cy="593680"/>
          </a:xfrm>
          <a:prstGeom prst="rect">
            <a:avLst/>
          </a:prstGeom>
        </p:spPr>
      </p:pic>
      <p:sp>
        <p:nvSpPr>
          <p:cNvPr id="105" name="Textfeld 37">
            <a:extLst>
              <a:ext uri="{FF2B5EF4-FFF2-40B4-BE49-F238E27FC236}">
                <a16:creationId xmlns:a16="http://schemas.microsoft.com/office/drawing/2014/main" id="{50BD9ACB-9327-9657-F19C-720F9C5F935E}"/>
              </a:ext>
            </a:extLst>
          </p:cNvPr>
          <p:cNvSpPr>
            <a:spLocks noGrp="1"/>
          </p:cNvSpPr>
          <p:nvPr/>
        </p:nvSpPr>
        <p:spPr>
          <a:xfrm>
            <a:off x="8155543" y="4665605"/>
            <a:ext cx="1128128" cy="276999"/>
          </a:xfrm>
          <a:prstGeom prst="rect">
            <a:avLst/>
          </a:prstGeom>
          <a:solidFill>
            <a:schemeClr val="accent6">
              <a:lumMod val="40000"/>
              <a:lumOff val="60000"/>
            </a:schemeClr>
          </a:solidFill>
          <a:ln>
            <a:noFill/>
          </a:ln>
        </p:spPr>
        <p:txBody>
          <a:bodyPr wrap="square">
            <a:spAutoFit/>
          </a:bodyPr>
          <a:lstStyle/>
          <a:p>
            <a:pPr algn="ctr">
              <a:buNone/>
            </a:pPr>
            <a:r>
              <a:rPr sz="1200"/>
              <a:t>LLM</a:t>
            </a:r>
          </a:p>
        </p:txBody>
      </p:sp>
      <p:sp>
        <p:nvSpPr>
          <p:cNvPr id="106" name="Gerader Verbinder 105">
            <a:extLst>
              <a:ext uri="{FF2B5EF4-FFF2-40B4-BE49-F238E27FC236}">
                <a16:creationId xmlns:a16="http://schemas.microsoft.com/office/drawing/2014/main" id="{C25ABEB4-F7C7-3DF5-DEEF-6DD6C45FCF01}"/>
              </a:ext>
            </a:extLst>
          </p:cNvPr>
          <p:cNvSpPr>
            <a:spLocks noGrp="1"/>
          </p:cNvSpPr>
          <p:nvPr/>
        </p:nvSpPr>
        <p:spPr>
          <a:xfrm flipV="1">
            <a:off x="8083629" y="4908186"/>
            <a:ext cx="1272301" cy="711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a:lstStyle/>
          <a:p>
            <a:endParaRPr/>
          </a:p>
        </p:txBody>
      </p:sp>
      <p:cxnSp>
        <p:nvCxnSpPr>
          <p:cNvPr id="203" name="Gerade Verbindung mit Pfeil 114"/>
          <p:cNvCxnSpPr>
            <a:stCxn id="10" idx="0"/>
            <a:endCxn id="137" idx="2"/>
          </p:cNvCxnSpPr>
          <p:nvPr/>
        </p:nvCxnSpPr>
        <p:spPr>
          <a:xfrm flipV="1">
            <a:off x="1344215" y="2438400"/>
            <a:ext cx="2159701" cy="2705100"/>
          </a:xfrm>
          <a:prstGeom prst="straightConnector1">
            <a:avLst/>
          </a:prstGeom>
          <a:ln w="0">
            <a:no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04" name="Gerade Verbindung mit Pfeil 116"/>
          <p:cNvCxnSpPr>
            <a:stCxn id="37" idx="0"/>
            <a:endCxn id="45" idx="2"/>
          </p:cNvCxnSpPr>
          <p:nvPr/>
        </p:nvCxnSpPr>
        <p:spPr>
          <a:xfrm flipH="1" flipV="1">
            <a:off x="1344215" y="3629025"/>
            <a:ext cx="8742" cy="323850"/>
          </a:xfrm>
          <a:prstGeom prst="straightConnector1">
            <a:avLst/>
          </a:prstGeom>
          <a:ln w="0">
            <a:no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05" name="Gerade Verbindung mit Pfeil 118"/>
          <p:cNvCxnSpPr>
            <a:stCxn id="48" idx="0"/>
            <a:endCxn id="121" idx="2"/>
          </p:cNvCxnSpPr>
          <p:nvPr/>
        </p:nvCxnSpPr>
        <p:spPr>
          <a:xfrm flipV="1">
            <a:off x="1331594" y="2438400"/>
            <a:ext cx="12621" cy="342529"/>
          </a:xfrm>
          <a:prstGeom prst="straightConnector1">
            <a:avLst/>
          </a:prstGeom>
          <a:ln w="0">
            <a:no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06" name="Gerade Verbindung mit Pfeil 131"/>
          <p:cNvCxnSpPr>
            <a:stCxn id="54" idx="3"/>
            <a:endCxn id="77" idx="0"/>
          </p:cNvCxnSpPr>
          <p:nvPr/>
        </p:nvCxnSpPr>
        <p:spPr>
          <a:xfrm flipH="1">
            <a:off x="5754145" y="2012297"/>
            <a:ext cx="625035" cy="1054382"/>
          </a:xfrm>
          <a:prstGeom prst="straightConnector1">
            <a:avLst/>
          </a:prstGeom>
          <a:ln w="0">
            <a:no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07" name="Gerade Verbindung mit Pfeil 140"/>
          <p:cNvCxnSpPr/>
          <p:nvPr/>
        </p:nvCxnSpPr>
        <p:spPr>
          <a:xfrm flipH="1">
            <a:off x="6224316" y="5508983"/>
            <a:ext cx="6013" cy="366749"/>
          </a:xfrm>
          <a:prstGeom prst="straightConnector1">
            <a:avLst/>
          </a:prstGeom>
          <a:ln w="0">
            <a:no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08" name="Gerade Verbindung mit Pfeil 143"/>
          <p:cNvCxnSpPr>
            <a:stCxn id="81" idx="3"/>
            <a:endCxn id="102" idx="1"/>
          </p:cNvCxnSpPr>
          <p:nvPr/>
        </p:nvCxnSpPr>
        <p:spPr>
          <a:xfrm>
            <a:off x="6355555" y="5053013"/>
            <a:ext cx="1740695" cy="0"/>
          </a:xfrm>
          <a:prstGeom prst="straightConnector1">
            <a:avLst/>
          </a:prstGeom>
          <a:ln w="0">
            <a:no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09" name="Gerade Verbindung mit Pfeil 146"/>
          <p:cNvCxnSpPr>
            <a:endCxn id="24" idx="0"/>
          </p:cNvCxnSpPr>
          <p:nvPr/>
        </p:nvCxnSpPr>
        <p:spPr>
          <a:xfrm flipV="1">
            <a:off x="7969527" y="4619625"/>
            <a:ext cx="2947313" cy="882620"/>
          </a:xfrm>
          <a:prstGeom prst="straightConnector1">
            <a:avLst/>
          </a:prstGeom>
          <a:ln w="0">
            <a:no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10" name="Gerade Verbindung mit Pfeil 148"/>
          <p:cNvCxnSpPr>
            <a:stCxn id="60" idx="1"/>
            <a:endCxn id="72" idx="3"/>
          </p:cNvCxnSpPr>
          <p:nvPr/>
        </p:nvCxnSpPr>
        <p:spPr>
          <a:xfrm flipH="1">
            <a:off x="6355555" y="3481388"/>
            <a:ext cx="1740695" cy="0"/>
          </a:xfrm>
          <a:prstGeom prst="straightConnector1">
            <a:avLst/>
          </a:prstGeom>
          <a:ln w="0">
            <a:no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11" name="Gerade Verbindung mit Pfeil 153"/>
          <p:cNvCxnSpPr>
            <a:stCxn id="93" idx="1"/>
          </p:cNvCxnSpPr>
          <p:nvPr/>
        </p:nvCxnSpPr>
        <p:spPr>
          <a:xfrm flipH="1">
            <a:off x="4365106" y="1891405"/>
            <a:ext cx="3003894" cy="893383"/>
          </a:xfrm>
          <a:prstGeom prst="straightConnector1">
            <a:avLst/>
          </a:prstGeom>
          <a:ln w="0">
            <a:no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12" name="Gerade Verbindung mit Pfeil 154"/>
          <p:cNvCxnSpPr/>
          <p:nvPr/>
        </p:nvCxnSpPr>
        <p:spPr>
          <a:xfrm>
            <a:off x="8589017" y="2354960"/>
            <a:ext cx="1139991" cy="1310591"/>
          </a:xfrm>
          <a:prstGeom prst="straightConnector1">
            <a:avLst/>
          </a:prstGeom>
          <a:ln w="0">
            <a:no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13" name="Gerade Verbindung mit Pfeil 158"/>
          <p:cNvCxnSpPr>
            <a:stCxn id="18" idx="1"/>
            <a:endCxn id="60" idx="3"/>
          </p:cNvCxnSpPr>
          <p:nvPr/>
        </p:nvCxnSpPr>
        <p:spPr>
          <a:xfrm flipH="1">
            <a:off x="9355930" y="2005013"/>
            <a:ext cx="931070" cy="1476375"/>
          </a:xfrm>
          <a:prstGeom prst="straightConnector1">
            <a:avLst/>
          </a:prstGeom>
          <a:ln w="0">
            <a:noFill/>
            <a:prstDash val="solid"/>
            <a:tailEnd type="triangle"/>
          </a:ln>
        </p:spPr>
        <p:style>
          <a:lnRef idx="1">
            <a:schemeClr val="accent1"/>
          </a:lnRef>
          <a:fillRef idx="0">
            <a:schemeClr val="accent1"/>
          </a:fillRef>
          <a:effectRef idx="0">
            <a:schemeClr val="accent1"/>
          </a:effectRef>
          <a:fontRef idx="minor">
            <a:schemeClr val="tx1"/>
          </a:fontRef>
        </p:style>
      </p:cxnSp>
      <p:sp>
        <p:nvSpPr>
          <p:cNvPr id="121" name="Rechteck: abgerundete Ecken 120">
            <a:extLst>
              <a:ext uri="{FF2B5EF4-FFF2-40B4-BE49-F238E27FC236}">
                <a16:creationId xmlns:a16="http://schemas.microsoft.com/office/drawing/2014/main" id="{AD7B8046-A7E5-977B-9789-31E7E99EC995}"/>
              </a:ext>
            </a:extLst>
          </p:cNvPr>
          <p:cNvSpPr>
            <a:spLocks noGrp="1"/>
          </p:cNvSpPr>
          <p:nvPr/>
        </p:nvSpPr>
        <p:spPr>
          <a:xfrm>
            <a:off x="714375" y="1571625"/>
            <a:ext cx="1259680" cy="866775"/>
          </a:xfrm>
          <a:prstGeom prst="roundRect">
            <a:avLst/>
          </a:prstGeom>
          <a:solidFill>
            <a:schemeClr val="accent2"/>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15" name="Grafik 165"/>
          <p:cNvPicPr>
            <a:picLocks noChangeAspect="1"/>
          </p:cNvPicPr>
          <p:nvPr/>
        </p:nvPicPr>
        <p:blipFill>
          <a:blip r:embed="rId12"/>
          <a:stretch>
            <a:fillRect/>
          </a:stretch>
        </p:blipFill>
        <p:spPr>
          <a:xfrm>
            <a:off x="1064972" y="1970328"/>
            <a:ext cx="515265" cy="403725"/>
          </a:xfrm>
          <a:prstGeom prst="rect">
            <a:avLst/>
          </a:prstGeom>
        </p:spPr>
      </p:pic>
      <p:sp>
        <p:nvSpPr>
          <p:cNvPr id="123" name="Textfeld 171">
            <a:extLst>
              <a:ext uri="{FF2B5EF4-FFF2-40B4-BE49-F238E27FC236}">
                <a16:creationId xmlns:a16="http://schemas.microsoft.com/office/drawing/2014/main" id="{94B0B414-3457-95E7-777A-E27F72556F9D}"/>
              </a:ext>
            </a:extLst>
          </p:cNvPr>
          <p:cNvSpPr>
            <a:spLocks noGrp="1"/>
          </p:cNvSpPr>
          <p:nvPr/>
        </p:nvSpPr>
        <p:spPr>
          <a:xfrm>
            <a:off x="701754" y="1590304"/>
            <a:ext cx="1259680" cy="276999"/>
          </a:xfrm>
          <a:prstGeom prst="rect">
            <a:avLst/>
          </a:prstGeom>
          <a:noFill/>
        </p:spPr>
        <p:txBody>
          <a:bodyPr wrap="square">
            <a:spAutoFit/>
          </a:bodyPr>
          <a:lstStyle/>
          <a:p>
            <a:pPr algn="ctr">
              <a:buNone/>
            </a:pPr>
            <a:r>
              <a:rPr sz="1200"/>
              <a:t>Chunks</a:t>
            </a:r>
          </a:p>
        </p:txBody>
      </p:sp>
      <p:sp>
        <p:nvSpPr>
          <p:cNvPr id="124" name="Gerader Verbinder 123">
            <a:extLst>
              <a:ext uri="{FF2B5EF4-FFF2-40B4-BE49-F238E27FC236}">
                <a16:creationId xmlns:a16="http://schemas.microsoft.com/office/drawing/2014/main" id="{E1830494-1611-ADE7-C919-BF9ADBCD7AEF}"/>
              </a:ext>
            </a:extLst>
          </p:cNvPr>
          <p:cNvSpPr>
            <a:spLocks noGrp="1"/>
          </p:cNvSpPr>
          <p:nvPr/>
        </p:nvSpPr>
        <p:spPr>
          <a:xfrm flipV="1">
            <a:off x="714375" y="1867303"/>
            <a:ext cx="1259680" cy="12295"/>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txBody>
          <a:bodyPr/>
          <a:lstStyle/>
          <a:p>
            <a:endParaRPr/>
          </a:p>
        </p:txBody>
      </p:sp>
      <p:cxnSp>
        <p:nvCxnSpPr>
          <p:cNvPr id="218" name="Gerade Verbindung mit Pfeil 175"/>
          <p:cNvCxnSpPr>
            <a:stCxn id="121" idx="3"/>
            <a:endCxn id="54" idx="1"/>
          </p:cNvCxnSpPr>
          <p:nvPr/>
        </p:nvCxnSpPr>
        <p:spPr>
          <a:xfrm>
            <a:off x="1974055" y="2005013"/>
            <a:ext cx="3145445" cy="7284"/>
          </a:xfrm>
          <a:prstGeom prst="straightConnector1">
            <a:avLst/>
          </a:prstGeom>
          <a:ln w="0">
            <a:no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19" name="Gerade Verbindung mit Pfeil 125"/>
          <p:cNvCxnSpPr>
            <a:stCxn id="10" idx="0"/>
            <a:endCxn id="37" idx="2"/>
          </p:cNvCxnSpPr>
          <p:nvPr/>
        </p:nvCxnSpPr>
        <p:spPr>
          <a:xfrm flipV="1">
            <a:off x="1344215" y="4819650"/>
            <a:ext cx="8742" cy="323850"/>
          </a:xfrm>
          <a:prstGeom prst="straightConnector1">
            <a:avLst/>
          </a:prstGeom>
          <a:ln w="20955">
            <a:solidFill>
              <a:srgbClr val="304554"/>
            </a:solidFill>
            <a:prstDash val="solid"/>
            <a:tailEnd type="triangle" w="sm" len="sm"/>
          </a:ln>
        </p:spPr>
      </p:cxnSp>
      <p:cxnSp>
        <p:nvCxnSpPr>
          <p:cNvPr id="220" name="Gerade Verbindung mit Pfeil 126"/>
          <p:cNvCxnSpPr>
            <a:stCxn id="37" idx="0"/>
            <a:endCxn id="45" idx="2"/>
          </p:cNvCxnSpPr>
          <p:nvPr/>
        </p:nvCxnSpPr>
        <p:spPr>
          <a:xfrm flipH="1" flipV="1">
            <a:off x="1344215" y="3629025"/>
            <a:ext cx="8742" cy="323850"/>
          </a:xfrm>
          <a:prstGeom prst="straightConnector1">
            <a:avLst/>
          </a:prstGeom>
          <a:ln w="20955">
            <a:solidFill>
              <a:srgbClr val="304554"/>
            </a:solidFill>
            <a:prstDash val="solid"/>
            <a:tailEnd type="triangle" w="sm" len="sm"/>
          </a:ln>
        </p:spPr>
      </p:cxnSp>
      <p:cxnSp>
        <p:nvCxnSpPr>
          <p:cNvPr id="221" name="Gerade Verbindung mit Pfeil 127"/>
          <p:cNvCxnSpPr>
            <a:stCxn id="45" idx="0"/>
            <a:endCxn id="121" idx="2"/>
          </p:cNvCxnSpPr>
          <p:nvPr/>
        </p:nvCxnSpPr>
        <p:spPr>
          <a:xfrm flipV="1">
            <a:off x="1344215" y="2438400"/>
            <a:ext cx="0" cy="323850"/>
          </a:xfrm>
          <a:prstGeom prst="straightConnector1">
            <a:avLst/>
          </a:prstGeom>
          <a:ln w="20955">
            <a:solidFill>
              <a:srgbClr val="304554"/>
            </a:solidFill>
            <a:prstDash val="solid"/>
            <a:tailEnd type="triangle" w="sm" len="sm"/>
          </a:ln>
        </p:spPr>
      </p:cxnSp>
      <p:cxnSp>
        <p:nvCxnSpPr>
          <p:cNvPr id="222" name="Gerade Verbindung mit Pfeil 128"/>
          <p:cNvCxnSpPr>
            <a:stCxn id="121" idx="3"/>
            <a:endCxn id="137" idx="1"/>
          </p:cNvCxnSpPr>
          <p:nvPr/>
        </p:nvCxnSpPr>
        <p:spPr>
          <a:xfrm>
            <a:off x="1974055" y="2005013"/>
            <a:ext cx="900021" cy="0"/>
          </a:xfrm>
          <a:prstGeom prst="straightConnector1">
            <a:avLst/>
          </a:prstGeom>
          <a:ln w="20955">
            <a:solidFill>
              <a:srgbClr val="304554"/>
            </a:solidFill>
            <a:prstDash val="solid"/>
            <a:tailEnd type="triangle" w="sm" len="sm"/>
          </a:ln>
        </p:spPr>
      </p:cxnSp>
      <p:cxnSp>
        <p:nvCxnSpPr>
          <p:cNvPr id="223" name="Gerade Verbindung mit Pfeil 129"/>
          <p:cNvCxnSpPr>
            <a:stCxn id="18" idx="1"/>
            <a:endCxn id="93" idx="3"/>
          </p:cNvCxnSpPr>
          <p:nvPr/>
        </p:nvCxnSpPr>
        <p:spPr>
          <a:xfrm flipH="1">
            <a:off x="9355930" y="2005013"/>
            <a:ext cx="931070" cy="0"/>
          </a:xfrm>
          <a:prstGeom prst="straightConnector1">
            <a:avLst/>
          </a:prstGeom>
          <a:ln w="20955">
            <a:solidFill>
              <a:srgbClr val="8D8271"/>
            </a:solidFill>
            <a:prstDash val="solid"/>
            <a:tailEnd type="triangle" w="sm" len="sm"/>
          </a:ln>
        </p:spPr>
      </p:cxnSp>
      <p:cxnSp>
        <p:nvCxnSpPr>
          <p:cNvPr id="224" name="Gerade Verbindung mit Pfeil 130"/>
          <p:cNvCxnSpPr>
            <a:stCxn id="93" idx="2"/>
            <a:endCxn id="60" idx="0"/>
          </p:cNvCxnSpPr>
          <p:nvPr/>
        </p:nvCxnSpPr>
        <p:spPr>
          <a:xfrm>
            <a:off x="8726090" y="2438400"/>
            <a:ext cx="0" cy="609600"/>
          </a:xfrm>
          <a:prstGeom prst="straightConnector1">
            <a:avLst/>
          </a:prstGeom>
          <a:ln w="20955">
            <a:solidFill>
              <a:srgbClr val="8D8271"/>
            </a:solidFill>
            <a:prstDash val="solid"/>
            <a:tailEnd type="triangle" w="sm" len="sm"/>
          </a:ln>
        </p:spPr>
      </p:cxnSp>
      <p:cxnSp>
        <p:nvCxnSpPr>
          <p:cNvPr id="225" name="Gerade Verbindung mit Pfeil 132"/>
          <p:cNvCxnSpPr>
            <a:stCxn id="60" idx="1"/>
            <a:endCxn id="72" idx="3"/>
          </p:cNvCxnSpPr>
          <p:nvPr/>
        </p:nvCxnSpPr>
        <p:spPr>
          <a:xfrm flipH="1">
            <a:off x="6355555" y="3481388"/>
            <a:ext cx="1740695" cy="0"/>
          </a:xfrm>
          <a:prstGeom prst="straightConnector1">
            <a:avLst/>
          </a:prstGeom>
          <a:ln w="20955">
            <a:solidFill>
              <a:srgbClr val="8D8271"/>
            </a:solidFill>
            <a:prstDash val="solid"/>
            <a:tailEnd type="triangle" w="sm" len="sm"/>
          </a:ln>
        </p:spPr>
      </p:cxnSp>
      <p:cxnSp>
        <p:nvCxnSpPr>
          <p:cNvPr id="226" name="Gerade Verbindung mit Pfeil 133"/>
          <p:cNvCxnSpPr>
            <a:stCxn id="72" idx="2"/>
            <a:endCxn id="81" idx="0"/>
          </p:cNvCxnSpPr>
          <p:nvPr/>
        </p:nvCxnSpPr>
        <p:spPr>
          <a:xfrm>
            <a:off x="5725715" y="3914775"/>
            <a:ext cx="0" cy="704850"/>
          </a:xfrm>
          <a:prstGeom prst="straightConnector1">
            <a:avLst/>
          </a:prstGeom>
          <a:ln w="20955">
            <a:solidFill>
              <a:srgbClr val="8D8271"/>
            </a:solidFill>
            <a:prstDash val="solid"/>
            <a:tailEnd type="triangle" w="sm" len="sm"/>
          </a:ln>
        </p:spPr>
      </p:cxnSp>
      <p:cxnSp>
        <p:nvCxnSpPr>
          <p:cNvPr id="227" name="Gerade Verbindung mit Pfeil 134"/>
          <p:cNvCxnSpPr>
            <a:stCxn id="81" idx="3"/>
            <a:endCxn id="102" idx="1"/>
          </p:cNvCxnSpPr>
          <p:nvPr/>
        </p:nvCxnSpPr>
        <p:spPr>
          <a:xfrm>
            <a:off x="6355555" y="5053013"/>
            <a:ext cx="1740695" cy="0"/>
          </a:xfrm>
          <a:prstGeom prst="straightConnector1">
            <a:avLst/>
          </a:prstGeom>
          <a:ln w="22860">
            <a:solidFill>
              <a:srgbClr val="CF062E"/>
            </a:solidFill>
            <a:prstDash val="solid"/>
            <a:tailEnd type="triangle" w="sm" len="sm"/>
          </a:ln>
        </p:spPr>
      </p:cxnSp>
      <p:cxnSp>
        <p:nvCxnSpPr>
          <p:cNvPr id="228" name="Gerade Verbindung mit Pfeil 135"/>
          <p:cNvCxnSpPr>
            <a:stCxn id="102" idx="3"/>
            <a:endCxn id="24" idx="1"/>
          </p:cNvCxnSpPr>
          <p:nvPr/>
        </p:nvCxnSpPr>
        <p:spPr>
          <a:xfrm>
            <a:off x="9355930" y="5053013"/>
            <a:ext cx="931070" cy="0"/>
          </a:xfrm>
          <a:prstGeom prst="straightConnector1">
            <a:avLst/>
          </a:prstGeom>
          <a:ln w="22860">
            <a:solidFill>
              <a:srgbClr val="CF062E"/>
            </a:solidFill>
            <a:prstDash val="solid"/>
            <a:tailEnd type="triangle" w="sm" len="sm"/>
          </a:ln>
        </p:spPr>
      </p:cxnSp>
      <p:sp>
        <p:nvSpPr>
          <p:cNvPr id="137" name="Rechteck: abgerundete Ecken 136">
            <a:extLst>
              <a:ext uri="{FF2B5EF4-FFF2-40B4-BE49-F238E27FC236}">
                <a16:creationId xmlns:a16="http://schemas.microsoft.com/office/drawing/2014/main" id="{2F0E7FDF-A2C6-F785-F1E7-936F202EF2F8}"/>
              </a:ext>
            </a:extLst>
          </p:cNvPr>
          <p:cNvSpPr>
            <a:spLocks noGrp="1"/>
          </p:cNvSpPr>
          <p:nvPr/>
        </p:nvSpPr>
        <p:spPr>
          <a:xfrm>
            <a:off x="2874076" y="1571625"/>
            <a:ext cx="1259680" cy="866775"/>
          </a:xfrm>
          <a:prstGeom prst="roundRect">
            <a:avLst/>
          </a:prstGeom>
          <a:solidFill>
            <a:schemeClr val="accent6">
              <a:lumMod val="40000"/>
              <a:lumOff val="6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30" name="Grafik 39"/>
          <p:cNvPicPr>
            <a:picLocks noChangeAspect="1"/>
          </p:cNvPicPr>
          <p:nvPr/>
        </p:nvPicPr>
        <p:blipFill>
          <a:blip r:embed="rId11"/>
          <a:stretch>
            <a:fillRect/>
          </a:stretch>
        </p:blipFill>
        <p:spPr>
          <a:xfrm flipH="1">
            <a:off x="3215321" y="1867303"/>
            <a:ext cx="584924" cy="593680"/>
          </a:xfrm>
          <a:prstGeom prst="rect">
            <a:avLst/>
          </a:prstGeom>
        </p:spPr>
      </p:pic>
      <p:sp>
        <p:nvSpPr>
          <p:cNvPr id="139" name="Textfeld 40">
            <a:extLst>
              <a:ext uri="{FF2B5EF4-FFF2-40B4-BE49-F238E27FC236}">
                <a16:creationId xmlns:a16="http://schemas.microsoft.com/office/drawing/2014/main" id="{F5202F32-CF94-B0E2-B061-FC87820AD558}"/>
              </a:ext>
            </a:extLst>
          </p:cNvPr>
          <p:cNvSpPr>
            <a:spLocks noGrp="1"/>
          </p:cNvSpPr>
          <p:nvPr/>
        </p:nvSpPr>
        <p:spPr>
          <a:xfrm>
            <a:off x="2828275" y="1571625"/>
            <a:ext cx="1414131" cy="276999"/>
          </a:xfrm>
          <a:prstGeom prst="rect">
            <a:avLst/>
          </a:prstGeom>
          <a:noFill/>
        </p:spPr>
        <p:txBody>
          <a:bodyPr wrap="square">
            <a:spAutoFit/>
          </a:bodyPr>
          <a:lstStyle/>
          <a:p>
            <a:pPr algn="ctr">
              <a:buNone/>
            </a:pPr>
            <a:r>
              <a:rPr sz="1200"/>
              <a:t>Embedding LLM</a:t>
            </a:r>
          </a:p>
        </p:txBody>
      </p:sp>
      <p:sp>
        <p:nvSpPr>
          <p:cNvPr id="140" name="Gerader Verbinder 139">
            <a:extLst>
              <a:ext uri="{FF2B5EF4-FFF2-40B4-BE49-F238E27FC236}">
                <a16:creationId xmlns:a16="http://schemas.microsoft.com/office/drawing/2014/main" id="{FAE015C5-0604-FCE4-AE8F-E2A5506C996F}"/>
              </a:ext>
            </a:extLst>
          </p:cNvPr>
          <p:cNvSpPr>
            <a:spLocks noGrp="1"/>
          </p:cNvSpPr>
          <p:nvPr/>
        </p:nvSpPr>
        <p:spPr>
          <a:xfrm>
            <a:off x="2874076" y="1855424"/>
            <a:ext cx="125968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a:lstStyle/>
          <a:p>
            <a:endParaRPr/>
          </a:p>
        </p:txBody>
      </p:sp>
      <p:cxnSp>
        <p:nvCxnSpPr>
          <p:cNvPr id="233" name="Gerade Verbindung mit Pfeil 141"/>
          <p:cNvCxnSpPr>
            <a:stCxn id="137" idx="3"/>
            <a:endCxn id="54" idx="1"/>
          </p:cNvCxnSpPr>
          <p:nvPr/>
        </p:nvCxnSpPr>
        <p:spPr>
          <a:xfrm>
            <a:off x="4133756" y="2005013"/>
            <a:ext cx="985744" cy="7284"/>
          </a:xfrm>
          <a:prstGeom prst="straightConnector1">
            <a:avLst/>
          </a:prstGeom>
          <a:ln w="20955">
            <a:solidFill>
              <a:srgbClr val="304554"/>
            </a:solidFill>
            <a:prstDash val="solid"/>
            <a:tailEnd type="triangle" w="sm" len="sm"/>
          </a:ln>
        </p:spPr>
      </p:cxnSp>
      <p:cxnSp>
        <p:nvCxnSpPr>
          <p:cNvPr id="234" name="Gerade Verbindung mit Pfeil 142"/>
          <p:cNvCxnSpPr/>
          <p:nvPr/>
        </p:nvCxnSpPr>
        <p:spPr>
          <a:xfrm>
            <a:off x="5749340" y="2448836"/>
            <a:ext cx="4805" cy="608699"/>
          </a:xfrm>
          <a:prstGeom prst="straightConnector1">
            <a:avLst/>
          </a:prstGeom>
          <a:ln w="20955">
            <a:solidFill>
              <a:srgbClr val="304554"/>
            </a:solidFill>
            <a:prstDash val="solid"/>
            <a:tailEnd type="triangle" w="sm" len="sm"/>
          </a:ln>
        </p:spPr>
      </p:cxnSp>
      <p:sp>
        <p:nvSpPr>
          <p:cNvPr id="145" name="Textfeld 144">
            <a:extLst>
              <a:ext uri="{FF2B5EF4-FFF2-40B4-BE49-F238E27FC236}">
                <a16:creationId xmlns:a16="http://schemas.microsoft.com/office/drawing/2014/main" id="{8C156430-C202-53BD-8023-A0D5C9A9CCB0}"/>
              </a:ext>
            </a:extLst>
          </p:cNvPr>
          <p:cNvSpPr>
            <a:spLocks noGrp="1"/>
          </p:cNvSpPr>
          <p:nvPr/>
        </p:nvSpPr>
        <p:spPr>
          <a:xfrm>
            <a:off x="6838721" y="4799945"/>
            <a:ext cx="922500" cy="276999"/>
          </a:xfrm>
          <a:prstGeom prst="rect">
            <a:avLst/>
          </a:prstGeom>
          <a:noFill/>
        </p:spPr>
        <p:txBody>
          <a:bodyPr wrap="square">
            <a:spAutoFit/>
          </a:bodyPr>
          <a:lstStyle/>
          <a:p>
            <a:r>
              <a:rPr sz="1200"/>
              <a:t>Context</a:t>
            </a:r>
          </a:p>
        </p:txBody>
      </p:sp>
    </p:spTree>
    <p:extLst>
      <p:ext uri="{BB962C8B-B14F-4D97-AF65-F5344CB8AC3E}">
        <p14:creationId xmlns:p14="http://schemas.microsoft.com/office/powerpoint/2010/main" val="20741294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48B97D5-E46C-61C6-EDDA-17B673B59B33}"/>
              </a:ext>
            </a:extLst>
          </p:cNvPr>
          <p:cNvSpPr>
            <a:spLocks noGrp="1"/>
          </p:cNvSpPr>
          <p:nvPr>
            <p:ph type="title"/>
          </p:nvPr>
        </p:nvSpPr>
        <p:spPr>
          <a:xfrm>
            <a:off x="476250" y="342900"/>
            <a:ext cx="11239500" cy="742950"/>
          </a:xfrm>
        </p:spPr>
        <p:txBody>
          <a:bodyPr anchor="ctr"/>
          <a:lstStyle/>
          <a:p>
            <a:pPr algn="l">
              <a:buNone/>
              <a:defRPr sz="2850">
                <a:solidFill>
                  <a:srgbClr val="2D3F4B"/>
                </a:solidFill>
                <a:latin typeface="Arial"/>
                <a:ea typeface="Arial"/>
                <a:cs typeface="Arial"/>
              </a:defRPr>
            </a:pPr>
            <a:r>
              <a:rPr sz="2850">
                <a:solidFill>
                  <a:srgbClr val="2D3F4B"/>
                </a:solidFill>
                <a:latin typeface="Arial"/>
                <a:ea typeface="Arial"/>
                <a:cs typeface="Arial"/>
              </a:rPr>
              <a:t>Vom Modellaufruf zum messbaren RAG</a:t>
            </a:r>
          </a:p>
        </p:txBody>
      </p:sp>
      <p:sp>
        <p:nvSpPr>
          <p:cNvPr id="3" name="Datumsplatzhalter 2">
            <a:extLst>
              <a:ext uri="{FF2B5EF4-FFF2-40B4-BE49-F238E27FC236}">
                <a16:creationId xmlns:a16="http://schemas.microsoft.com/office/drawing/2014/main" id="{C7F060E5-C806-3F49-3C90-A280AC01524B}"/>
              </a:ext>
            </a:extLst>
          </p:cNvPr>
          <p:cNvSpPr>
            <a:spLocks noGrp="1"/>
          </p:cNvSpPr>
          <p:nvPr>
            <p:ph type="dt" idx="10"/>
          </p:nvPr>
        </p:nvSpPr>
        <p:spPr/>
        <p:txBody>
          <a:bodyPr/>
          <a:lstStyle/>
          <a:p>
            <a:fld id="{1EB7C1D4-D1F3-40CB-8780-B2B6A9133392}" type="datetime1">
              <a:t>06.08.2026</a:t>
            </a:fld>
            <a:endParaRPr/>
          </a:p>
        </p:txBody>
      </p:sp>
      <p:sp>
        <p:nvSpPr>
          <p:cNvPr id="5" name="Foliennummernplatzhalter 4">
            <a:extLst>
              <a:ext uri="{FF2B5EF4-FFF2-40B4-BE49-F238E27FC236}">
                <a16:creationId xmlns:a16="http://schemas.microsoft.com/office/drawing/2014/main" id="{90F59528-3998-6C6F-3FE4-9579802AB2E3}"/>
              </a:ext>
            </a:extLst>
          </p:cNvPr>
          <p:cNvSpPr>
            <a:spLocks noGrp="1"/>
          </p:cNvSpPr>
          <p:nvPr>
            <p:ph type="sldNum" idx="12"/>
          </p:nvPr>
        </p:nvSpPr>
        <p:spPr/>
        <p:txBody>
          <a:bodyPr/>
          <a:lstStyle/>
          <a:p>
            <a:fld id="{CE7E00E2-F08D-429A-AD9B-1ECBEC02F4DB}" type="slidenum">
              <a:t>10</a:t>
            </a:fld>
            <a:endParaRPr/>
          </a:p>
        </p:txBody>
      </p:sp>
      <p:sp>
        <p:nvSpPr>
          <p:cNvPr id="6" name="Content-Placeholder-9-4">
            <a:extLst>
              <a:ext uri="{FF2B5EF4-FFF2-40B4-BE49-F238E27FC236}">
                <a16:creationId xmlns:a16="http://schemas.microsoft.com/office/drawing/2014/main" id="{D7A05BEB-E6BD-CEF0-3EED-9042410322FA}"/>
              </a:ext>
            </a:extLst>
          </p:cNvPr>
          <p:cNvSpPr>
            <a:spLocks noGrp="1"/>
          </p:cNvSpPr>
          <p:nvPr/>
        </p:nvSpPr>
        <p:spPr>
          <a:xfrm>
            <a:off x="393668" y="2031968"/>
            <a:ext cx="5537168" cy="1643063"/>
          </a:xfrm>
          <a:prstGeom prst="rect">
            <a:avLst/>
          </a:prstGeom>
        </p:spPr>
        <p:txBody>
          <a:bodyPr lIns="91440" tIns="45720" rIns="91440" bIns="45720"/>
          <a:lstStyle/>
          <a:p>
            <a:pPr algn="l">
              <a:buNone/>
              <a:defRPr sz="2400">
                <a:solidFill>
                  <a:srgbClr val="000000"/>
                </a:solidFill>
                <a:latin typeface="Helvetica Neue"/>
                <a:ea typeface="Helvetica Neue"/>
                <a:cs typeface="Helvetica Neue"/>
              </a:defRPr>
            </a:pPr>
            <a:r>
              <a:t>1 · Chat</a:t>
            </a:r>
          </a:p>
          <a:p>
            <a:pPr algn="l">
              <a:buNone/>
              <a:defRPr sz="2400">
                <a:solidFill>
                  <a:srgbClr val="000000"/>
                </a:solidFill>
                <a:latin typeface="Helvetica Neue"/>
                <a:ea typeface="Helvetica Neue"/>
                <a:cs typeface="Helvetica Neue"/>
              </a:defRPr>
            </a:pPr>
            <a:r>
              <a:t>OpenAI-kompatibler Client und ein Prompt.</a:t>
            </a:r>
          </a:p>
        </p:txBody>
      </p:sp>
      <p:sp>
        <p:nvSpPr>
          <p:cNvPr id="7" name="Content-Placeholder-10-5">
            <a:extLst>
              <a:ext uri="{FF2B5EF4-FFF2-40B4-BE49-F238E27FC236}">
                <a16:creationId xmlns:a16="http://schemas.microsoft.com/office/drawing/2014/main" id="{8F32E3DE-567E-E4A3-7DDA-216F4DC2B920}"/>
              </a:ext>
            </a:extLst>
          </p:cNvPr>
          <p:cNvSpPr>
            <a:spLocks noGrp="1"/>
          </p:cNvSpPr>
          <p:nvPr/>
        </p:nvSpPr>
        <p:spPr>
          <a:xfrm>
            <a:off x="6256592" y="2031968"/>
            <a:ext cx="5537168" cy="1643063"/>
          </a:xfrm>
          <a:prstGeom prst="rect">
            <a:avLst/>
          </a:prstGeom>
        </p:spPr>
        <p:txBody>
          <a:bodyPr lIns="91440" tIns="45720" rIns="91440" bIns="45720"/>
          <a:lstStyle/>
          <a:p>
            <a:pPr algn="l">
              <a:buNone/>
              <a:defRPr sz="2400">
                <a:solidFill>
                  <a:srgbClr val="000000"/>
                </a:solidFill>
                <a:latin typeface="Helvetica Neue"/>
                <a:ea typeface="Helvetica Neue"/>
                <a:cs typeface="Helvetica Neue"/>
              </a:defRPr>
            </a:pPr>
            <a:r>
              <a:t>2 · Vector RAG</a:t>
            </a:r>
          </a:p>
          <a:p>
            <a:pPr algn="l">
              <a:buNone/>
              <a:defRPr sz="2400">
                <a:solidFill>
                  <a:srgbClr val="000000"/>
                </a:solidFill>
                <a:latin typeface="Helvetica Neue"/>
                <a:ea typeface="Helvetica Neue"/>
                <a:cs typeface="Helvetica Neue"/>
              </a:defRPr>
            </a:pPr>
            <a:r>
              <a:t>Fixed Chunks → Chroma → Top-K-Kontext.</a:t>
            </a:r>
          </a:p>
        </p:txBody>
      </p:sp>
      <p:sp>
        <p:nvSpPr>
          <p:cNvPr id="8" name="Content-Placeholder-9-6">
            <a:extLst>
              <a:ext uri="{FF2B5EF4-FFF2-40B4-BE49-F238E27FC236}">
                <a16:creationId xmlns:a16="http://schemas.microsoft.com/office/drawing/2014/main" id="{E4392232-0F5A-352B-54F4-1CEA54117E26}"/>
              </a:ext>
            </a:extLst>
          </p:cNvPr>
          <p:cNvSpPr>
            <a:spLocks noGrp="1"/>
          </p:cNvSpPr>
          <p:nvPr/>
        </p:nvSpPr>
        <p:spPr>
          <a:xfrm>
            <a:off x="393668" y="4016978"/>
            <a:ext cx="5537168" cy="1643158"/>
          </a:xfrm>
          <a:prstGeom prst="rect">
            <a:avLst/>
          </a:prstGeom>
        </p:spPr>
        <p:txBody>
          <a:bodyPr lIns="0" tIns="0" rIns="0" bIns="0">
            <a:normAutofit/>
          </a:bodyPr>
          <a:lstStyle/>
          <a:p>
            <a:pPr algn="l">
              <a:buNone/>
              <a:defRPr sz="2400">
                <a:solidFill>
                  <a:srgbClr val="000000"/>
                </a:solidFill>
                <a:latin typeface="Helvetica Neue"/>
                <a:ea typeface="Helvetica Neue"/>
                <a:cs typeface="Helvetica Neue"/>
              </a:defRPr>
            </a:pPr>
            <a:r>
              <a:t>3 · Qualität</a:t>
            </a:r>
          </a:p>
          <a:p>
            <a:pPr algn="l">
              <a:buNone/>
              <a:defRPr sz="2400">
                <a:solidFill>
                  <a:srgbClr val="000000"/>
                </a:solidFill>
                <a:latin typeface="Helvetica Neue"/>
                <a:ea typeface="Helvetica Neue"/>
                <a:cs typeface="Helvetica Neue"/>
              </a:defRPr>
            </a:pPr>
            <a:r>
              <a:t>Legal-Chunking und Cross-Encoder-Reranking.</a:t>
            </a:r>
          </a:p>
        </p:txBody>
      </p:sp>
      <p:sp>
        <p:nvSpPr>
          <p:cNvPr id="9" name="Content-Placeholder-10-7">
            <a:extLst>
              <a:ext uri="{FF2B5EF4-FFF2-40B4-BE49-F238E27FC236}">
                <a16:creationId xmlns:a16="http://schemas.microsoft.com/office/drawing/2014/main" id="{E217FA6F-8E5B-A909-5C94-DEAB3EB06FEB}"/>
              </a:ext>
            </a:extLst>
          </p:cNvPr>
          <p:cNvSpPr>
            <a:spLocks noGrp="1"/>
          </p:cNvSpPr>
          <p:nvPr/>
        </p:nvSpPr>
        <p:spPr>
          <a:xfrm>
            <a:off x="6256592" y="4016978"/>
            <a:ext cx="5537168" cy="1643158"/>
          </a:xfrm>
          <a:prstGeom prst="rect">
            <a:avLst/>
          </a:prstGeom>
        </p:spPr>
        <p:txBody>
          <a:bodyPr lIns="0" tIns="0" rIns="0" bIns="0">
            <a:normAutofit/>
          </a:bodyPr>
          <a:lstStyle/>
          <a:p>
            <a:pPr algn="l">
              <a:buNone/>
              <a:defRPr sz="2400">
                <a:solidFill>
                  <a:srgbClr val="000000"/>
                </a:solidFill>
                <a:latin typeface="Helvetica Neue"/>
                <a:ea typeface="Helvetica Neue"/>
                <a:cs typeface="Helvetica Neue"/>
              </a:defRPr>
            </a:pPr>
            <a:r>
              <a:t>4 · Graph + Eval</a:t>
            </a:r>
          </a:p>
          <a:p>
            <a:pPr algn="l">
              <a:buNone/>
              <a:defRPr sz="2400">
                <a:solidFill>
                  <a:srgbClr val="000000"/>
                </a:solidFill>
                <a:latin typeface="Helvetica Neue"/>
                <a:ea typeface="Helvetica Neue"/>
                <a:cs typeface="Helvetica Neue"/>
              </a:defRPr>
            </a:pPr>
            <a:r>
              <a:t>Hybride Artikelsuche, Graph-Nachbarn, messbare Qualität.</a:t>
            </a:r>
          </a:p>
        </p:txBody>
      </p:sp>
      <p:sp>
        <p:nvSpPr>
          <p:cNvPr id="10" name="content-placeholder-cover">
            <a:extLst>
              <a:ext uri="{FF2B5EF4-FFF2-40B4-BE49-F238E27FC236}">
                <a16:creationId xmlns:a16="http://schemas.microsoft.com/office/drawing/2014/main" id="{8E9561C2-A9EE-48C0-BBC7-50D3CAF64ED4}"/>
              </a:ext>
            </a:extLst>
          </p:cNvPr>
          <p:cNvSpPr>
            <a:spLocks noGrp="1"/>
          </p:cNvSpPr>
          <p:nvPr/>
        </p:nvSpPr>
        <p:spPr>
          <a:xfrm>
            <a:off x="333375" y="1285875"/>
            <a:ext cx="11525250" cy="4762500"/>
          </a:xfrm>
          <a:prstGeom prst="rect">
            <a:avLst/>
          </a:prstGeom>
          <a:solidFill>
            <a:srgbClr val="FFFFFF"/>
          </a:solidFill>
          <a:ln w="0">
            <a:solidFill>
              <a:srgbClr val="FFFFFF"/>
            </a:solidFill>
            <a:prstDash val="solid"/>
          </a:ln>
        </p:spPr>
        <p:txBody>
          <a:bodyPr/>
          <a:lstStyle/>
          <a:p>
            <a:endParaRPr/>
          </a:p>
        </p:txBody>
      </p:sp>
      <p:sp>
        <p:nvSpPr>
          <p:cNvPr id="11" name="repo-progression-subtitle">
            <a:extLst>
              <a:ext uri="{FF2B5EF4-FFF2-40B4-BE49-F238E27FC236}">
                <a16:creationId xmlns:a16="http://schemas.microsoft.com/office/drawing/2014/main" id="{93070F9C-1D73-491A-AA83-B0CD1488E27D}"/>
              </a:ext>
            </a:extLst>
          </p:cNvPr>
          <p:cNvSpPr>
            <a:spLocks noGrp="1"/>
          </p:cNvSpPr>
          <p:nvPr/>
        </p:nvSpPr>
        <p:spPr>
          <a:xfrm>
            <a:off x="523875" y="1409700"/>
            <a:ext cx="10668000" cy="361950"/>
          </a:xfrm>
          <a:prstGeom prst="rect">
            <a:avLst/>
          </a:prstGeom>
          <a:noFill/>
          <a:ln w="0">
            <a:noFill/>
            <a:prstDash val="solid"/>
          </a:ln>
        </p:spPr>
        <p:txBody>
          <a:bodyPr anchor="ctr"/>
          <a:lstStyle/>
          <a:p>
            <a:pPr algn="l">
              <a:buNone/>
              <a:defRPr sz="1725">
                <a:solidFill>
                  <a:srgbClr val="81725E"/>
                </a:solidFill>
                <a:latin typeface="Arial"/>
                <a:ea typeface="Arial"/>
                <a:cs typeface="Arial"/>
              </a:defRPr>
            </a:pPr>
            <a:r>
              <a:rPr sz="1725">
                <a:solidFill>
                  <a:srgbClr val="81725E"/>
                </a:solidFill>
                <a:latin typeface="Arial"/>
                <a:ea typeface="Arial"/>
                <a:cs typeface="Arial"/>
              </a:rPr>
              <a:t>Jede Stufe ergänzt genau einen Qualitätshebel – die Mechanik bleibt sichtbar.</a:t>
            </a:r>
          </a:p>
        </p:txBody>
      </p:sp>
      <p:sp>
        <p:nvSpPr>
          <p:cNvPr id="12" name="repository-roadmap-line">
            <a:extLst>
              <a:ext uri="{FF2B5EF4-FFF2-40B4-BE49-F238E27FC236}">
                <a16:creationId xmlns:a16="http://schemas.microsoft.com/office/drawing/2014/main" id="{113159C1-4C49-4EF7-A235-E5D8BEDE8FFF}"/>
              </a:ext>
            </a:extLst>
          </p:cNvPr>
          <p:cNvSpPr>
            <a:spLocks noGrp="1"/>
          </p:cNvSpPr>
          <p:nvPr/>
        </p:nvSpPr>
        <p:spPr>
          <a:xfrm>
            <a:off x="1238250" y="2514600"/>
            <a:ext cx="8286750" cy="0"/>
          </a:xfrm>
          <a:prstGeom prst="line">
            <a:avLst/>
          </a:prstGeom>
          <a:ln w="38100">
            <a:solidFill>
              <a:srgbClr val="C3BBB2"/>
            </a:solidFill>
            <a:prstDash val="solid"/>
          </a:ln>
        </p:spPr>
        <p:txBody>
          <a:bodyPr/>
          <a:lstStyle/>
          <a:p>
            <a:endParaRPr/>
          </a:p>
        </p:txBody>
      </p:sp>
      <p:sp>
        <p:nvSpPr>
          <p:cNvPr id="13" name="stage-1-circle">
            <a:extLst>
              <a:ext uri="{FF2B5EF4-FFF2-40B4-BE49-F238E27FC236}">
                <a16:creationId xmlns:a16="http://schemas.microsoft.com/office/drawing/2014/main" id="{52B48B9A-DC91-41F6-89F5-6E36E929DB59}"/>
              </a:ext>
            </a:extLst>
          </p:cNvPr>
          <p:cNvSpPr>
            <a:spLocks noGrp="1"/>
          </p:cNvSpPr>
          <p:nvPr/>
        </p:nvSpPr>
        <p:spPr>
          <a:xfrm>
            <a:off x="1476375" y="2171700"/>
            <a:ext cx="685800" cy="685800"/>
          </a:xfrm>
          <a:prstGeom prst="ellipse">
            <a:avLst/>
          </a:prstGeom>
          <a:solidFill>
            <a:srgbClr val="81725E"/>
          </a:solidFill>
          <a:ln w="28575">
            <a:solidFill>
              <a:srgbClr val="FFFFFF"/>
            </a:solidFill>
            <a:prstDash val="solid"/>
          </a:ln>
        </p:spPr>
        <p:txBody>
          <a:bodyPr anchor="ctr"/>
          <a:lstStyle/>
          <a:p>
            <a:pPr algn="ctr">
              <a:buNone/>
              <a:defRPr sz="2025" b="1">
                <a:solidFill>
                  <a:srgbClr val="FFFFFF"/>
                </a:solidFill>
                <a:latin typeface="Arial"/>
                <a:ea typeface="Arial"/>
                <a:cs typeface="Arial"/>
              </a:defRPr>
            </a:pPr>
            <a:r>
              <a:rPr sz="2025" b="1">
                <a:solidFill>
                  <a:srgbClr val="FFFFFF"/>
                </a:solidFill>
                <a:latin typeface="Arial"/>
                <a:ea typeface="Arial"/>
                <a:cs typeface="Arial"/>
              </a:rPr>
              <a:t>1</a:t>
            </a:r>
          </a:p>
        </p:txBody>
      </p:sp>
      <p:sp>
        <p:nvSpPr>
          <p:cNvPr id="14" name="stage-1-file">
            <a:extLst>
              <a:ext uri="{FF2B5EF4-FFF2-40B4-BE49-F238E27FC236}">
                <a16:creationId xmlns:a16="http://schemas.microsoft.com/office/drawing/2014/main" id="{3EB57122-6118-4F7C-9B6B-5B0F378209C4}"/>
              </a:ext>
            </a:extLst>
          </p:cNvPr>
          <p:cNvSpPr>
            <a:spLocks noGrp="1"/>
          </p:cNvSpPr>
          <p:nvPr/>
        </p:nvSpPr>
        <p:spPr>
          <a:xfrm>
            <a:off x="714375" y="3095625"/>
            <a:ext cx="2238375" cy="361950"/>
          </a:xfrm>
          <a:prstGeom prst="roundRect">
            <a:avLst>
              <a:gd name="adj" fmla="val 31579"/>
            </a:avLst>
          </a:prstGeom>
          <a:solidFill>
            <a:srgbClr val="81725E"/>
          </a:solidFill>
          <a:ln w="0">
            <a:solidFill>
              <a:srgbClr val="81725E"/>
            </a:solidFill>
            <a:prstDash val="solid"/>
          </a:ln>
        </p:spPr>
        <p:txBody>
          <a:bodyPr anchor="ctr"/>
          <a:lstStyle/>
          <a:p>
            <a:pPr algn="ctr">
              <a:buNone/>
              <a:defRPr sz="1200" b="1">
                <a:solidFill>
                  <a:srgbClr val="FFFFFF"/>
                </a:solidFill>
                <a:latin typeface="Arial"/>
                <a:ea typeface="Arial"/>
                <a:cs typeface="Arial"/>
              </a:defRPr>
            </a:pPr>
            <a:r>
              <a:rPr sz="1200" b="1">
                <a:solidFill>
                  <a:srgbClr val="FFFFFF"/>
                </a:solidFill>
                <a:latin typeface="Arial"/>
                <a:ea typeface="Arial"/>
                <a:cs typeface="Arial"/>
              </a:rPr>
              <a:t>rag-1-chat.py</a:t>
            </a:r>
          </a:p>
        </p:txBody>
      </p:sp>
      <p:sp>
        <p:nvSpPr>
          <p:cNvPr id="15" name="stage-1-name">
            <a:extLst>
              <a:ext uri="{FF2B5EF4-FFF2-40B4-BE49-F238E27FC236}">
                <a16:creationId xmlns:a16="http://schemas.microsoft.com/office/drawing/2014/main" id="{52ACBB54-155D-421C-8D78-2A9B1E04230A}"/>
              </a:ext>
            </a:extLst>
          </p:cNvPr>
          <p:cNvSpPr>
            <a:spLocks noGrp="1"/>
          </p:cNvSpPr>
          <p:nvPr/>
        </p:nvSpPr>
        <p:spPr>
          <a:xfrm>
            <a:off x="714375" y="3600450"/>
            <a:ext cx="2238375" cy="342900"/>
          </a:xfrm>
          <a:prstGeom prst="rect">
            <a:avLst/>
          </a:prstGeom>
          <a:noFill/>
          <a:ln w="0">
            <a:noFill/>
            <a:prstDash val="solid"/>
          </a:ln>
        </p:spPr>
        <p:txBody>
          <a:bodyPr anchor="ctr"/>
          <a:lstStyle/>
          <a:p>
            <a:pPr algn="ctr">
              <a:buNone/>
              <a:defRPr sz="1800" b="1">
                <a:solidFill>
                  <a:srgbClr val="2D3F4B"/>
                </a:solidFill>
                <a:latin typeface="Arial"/>
                <a:ea typeface="Arial"/>
                <a:cs typeface="Arial"/>
              </a:defRPr>
            </a:pPr>
            <a:r>
              <a:rPr sz="1800" b="1">
                <a:solidFill>
                  <a:srgbClr val="2D3F4B"/>
                </a:solidFill>
                <a:latin typeface="Arial"/>
                <a:ea typeface="Arial"/>
                <a:cs typeface="Arial"/>
              </a:rPr>
              <a:t>LLM-Aufruf</a:t>
            </a:r>
          </a:p>
        </p:txBody>
      </p:sp>
      <p:sp>
        <p:nvSpPr>
          <p:cNvPr id="16" name="stage-1-copy">
            <a:extLst>
              <a:ext uri="{FF2B5EF4-FFF2-40B4-BE49-F238E27FC236}">
                <a16:creationId xmlns:a16="http://schemas.microsoft.com/office/drawing/2014/main" id="{C5B9BC2D-8807-4358-9EC7-F52D82CC6BF4}"/>
              </a:ext>
            </a:extLst>
          </p:cNvPr>
          <p:cNvSpPr>
            <a:spLocks noGrp="1"/>
          </p:cNvSpPr>
          <p:nvPr/>
        </p:nvSpPr>
        <p:spPr>
          <a:xfrm>
            <a:off x="714375" y="4019550"/>
            <a:ext cx="2238375" cy="723900"/>
          </a:xfrm>
          <a:prstGeom prst="rect">
            <a:avLst/>
          </a:prstGeom>
          <a:noFill/>
          <a:ln w="0">
            <a:noFill/>
            <a:prstDash val="solid"/>
          </a:ln>
        </p:spPr>
        <p:txBody>
          <a:bodyPr anchor="t"/>
          <a:lstStyle/>
          <a:p>
            <a:pPr algn="ctr">
              <a:buNone/>
              <a:defRPr sz="1500">
                <a:solidFill>
                  <a:srgbClr val="2D3F4B"/>
                </a:solidFill>
                <a:latin typeface="Arial"/>
                <a:ea typeface="Arial"/>
                <a:cs typeface="Arial"/>
              </a:defRPr>
            </a:pPr>
            <a:r>
              <a:rPr sz="1500">
                <a:solidFill>
                  <a:srgbClr val="2D3F4B"/>
                </a:solidFill>
                <a:latin typeface="Arial"/>
                <a:ea typeface="Arial"/>
                <a:cs typeface="Arial"/>
              </a:rPr>
              <a:t>Prompt senden</a:t>
            </a:r>
          </a:p>
          <a:p>
            <a:pPr algn="ctr">
              <a:buNone/>
              <a:defRPr sz="1500">
                <a:solidFill>
                  <a:srgbClr val="2D3F4B"/>
                </a:solidFill>
                <a:latin typeface="Arial"/>
                <a:ea typeface="Arial"/>
                <a:cs typeface="Arial"/>
              </a:defRPr>
            </a:pPr>
            <a:r>
              <a:rPr sz="1500">
                <a:solidFill>
                  <a:srgbClr val="2D3F4B"/>
                </a:solidFill>
                <a:latin typeface="Arial"/>
                <a:ea typeface="Arial"/>
                <a:cs typeface="Arial"/>
              </a:rPr>
              <a:t>Antwort erhalten</a:t>
            </a:r>
          </a:p>
        </p:txBody>
      </p:sp>
      <p:sp>
        <p:nvSpPr>
          <p:cNvPr id="17" name="stage-2-circle">
            <a:extLst>
              <a:ext uri="{FF2B5EF4-FFF2-40B4-BE49-F238E27FC236}">
                <a16:creationId xmlns:a16="http://schemas.microsoft.com/office/drawing/2014/main" id="{788267D1-787C-48BB-921D-457EA3D4064D}"/>
              </a:ext>
            </a:extLst>
          </p:cNvPr>
          <p:cNvSpPr>
            <a:spLocks noGrp="1"/>
          </p:cNvSpPr>
          <p:nvPr/>
        </p:nvSpPr>
        <p:spPr>
          <a:xfrm>
            <a:off x="4238625" y="2171700"/>
            <a:ext cx="685800" cy="685800"/>
          </a:xfrm>
          <a:prstGeom prst="ellipse">
            <a:avLst/>
          </a:prstGeom>
          <a:solidFill>
            <a:srgbClr val="C60C30"/>
          </a:solidFill>
          <a:ln w="28575">
            <a:solidFill>
              <a:srgbClr val="FFFFFF"/>
            </a:solidFill>
            <a:prstDash val="solid"/>
          </a:ln>
        </p:spPr>
        <p:txBody>
          <a:bodyPr anchor="ctr"/>
          <a:lstStyle/>
          <a:p>
            <a:pPr algn="ctr">
              <a:buNone/>
              <a:defRPr sz="2025" b="1">
                <a:solidFill>
                  <a:srgbClr val="FFFFFF"/>
                </a:solidFill>
                <a:latin typeface="Arial"/>
                <a:ea typeface="Arial"/>
                <a:cs typeface="Arial"/>
              </a:defRPr>
            </a:pPr>
            <a:r>
              <a:rPr sz="2025" b="1">
                <a:solidFill>
                  <a:srgbClr val="FFFFFF"/>
                </a:solidFill>
                <a:latin typeface="Arial"/>
                <a:ea typeface="Arial"/>
                <a:cs typeface="Arial"/>
              </a:rPr>
              <a:t>2</a:t>
            </a:r>
          </a:p>
        </p:txBody>
      </p:sp>
      <p:sp>
        <p:nvSpPr>
          <p:cNvPr id="18" name="stage-2-file">
            <a:extLst>
              <a:ext uri="{FF2B5EF4-FFF2-40B4-BE49-F238E27FC236}">
                <a16:creationId xmlns:a16="http://schemas.microsoft.com/office/drawing/2014/main" id="{8C26F65F-2ECF-4A21-A417-40D5E379E2AE}"/>
              </a:ext>
            </a:extLst>
          </p:cNvPr>
          <p:cNvSpPr>
            <a:spLocks noGrp="1"/>
          </p:cNvSpPr>
          <p:nvPr/>
        </p:nvSpPr>
        <p:spPr>
          <a:xfrm>
            <a:off x="3476625" y="3095625"/>
            <a:ext cx="2238375" cy="361950"/>
          </a:xfrm>
          <a:prstGeom prst="roundRect">
            <a:avLst>
              <a:gd name="adj" fmla="val 31579"/>
            </a:avLst>
          </a:prstGeom>
          <a:solidFill>
            <a:srgbClr val="C60C30"/>
          </a:solidFill>
          <a:ln w="0">
            <a:solidFill>
              <a:srgbClr val="C60C30"/>
            </a:solidFill>
            <a:prstDash val="solid"/>
          </a:ln>
        </p:spPr>
        <p:txBody>
          <a:bodyPr anchor="ctr"/>
          <a:lstStyle/>
          <a:p>
            <a:pPr algn="ctr">
              <a:buNone/>
              <a:defRPr sz="1200" b="1">
                <a:solidFill>
                  <a:srgbClr val="FFFFFF"/>
                </a:solidFill>
                <a:latin typeface="Arial"/>
                <a:ea typeface="Arial"/>
                <a:cs typeface="Arial"/>
              </a:defRPr>
            </a:pPr>
            <a:r>
              <a:rPr sz="1200" b="1">
                <a:solidFill>
                  <a:srgbClr val="FFFFFF"/>
                </a:solidFill>
                <a:latin typeface="Arial"/>
                <a:ea typeface="Arial"/>
                <a:cs typeface="Arial"/>
              </a:rPr>
              <a:t>rag-2a / 2b</a:t>
            </a:r>
          </a:p>
        </p:txBody>
      </p:sp>
      <p:sp>
        <p:nvSpPr>
          <p:cNvPr id="19" name="stage-2-name">
            <a:extLst>
              <a:ext uri="{FF2B5EF4-FFF2-40B4-BE49-F238E27FC236}">
                <a16:creationId xmlns:a16="http://schemas.microsoft.com/office/drawing/2014/main" id="{F8EB69B8-6AE9-4EC1-A037-C8CCE87E4765}"/>
              </a:ext>
            </a:extLst>
          </p:cNvPr>
          <p:cNvSpPr>
            <a:spLocks noGrp="1"/>
          </p:cNvSpPr>
          <p:nvPr/>
        </p:nvSpPr>
        <p:spPr>
          <a:xfrm>
            <a:off x="3476625" y="3600450"/>
            <a:ext cx="2238375" cy="342900"/>
          </a:xfrm>
          <a:prstGeom prst="rect">
            <a:avLst/>
          </a:prstGeom>
          <a:noFill/>
          <a:ln w="0">
            <a:noFill/>
            <a:prstDash val="solid"/>
          </a:ln>
        </p:spPr>
        <p:txBody>
          <a:bodyPr anchor="ctr"/>
          <a:lstStyle/>
          <a:p>
            <a:pPr algn="ctr">
              <a:buNone/>
              <a:defRPr sz="1800" b="1">
                <a:solidFill>
                  <a:srgbClr val="2D3F4B"/>
                </a:solidFill>
                <a:latin typeface="Arial"/>
                <a:ea typeface="Arial"/>
                <a:cs typeface="Arial"/>
              </a:defRPr>
            </a:pPr>
            <a:r>
              <a:rPr sz="1800" b="1">
                <a:solidFill>
                  <a:srgbClr val="2D3F4B"/>
                </a:solidFill>
                <a:latin typeface="Arial"/>
                <a:ea typeface="Arial"/>
                <a:cs typeface="Arial"/>
              </a:rPr>
              <a:t>Fixed RAG</a:t>
            </a:r>
          </a:p>
        </p:txBody>
      </p:sp>
      <p:sp>
        <p:nvSpPr>
          <p:cNvPr id="20" name="stage-2-copy">
            <a:extLst>
              <a:ext uri="{FF2B5EF4-FFF2-40B4-BE49-F238E27FC236}">
                <a16:creationId xmlns:a16="http://schemas.microsoft.com/office/drawing/2014/main" id="{179D756A-3121-4EF0-9DFD-58636AE38D0F}"/>
              </a:ext>
            </a:extLst>
          </p:cNvPr>
          <p:cNvSpPr>
            <a:spLocks noGrp="1"/>
          </p:cNvSpPr>
          <p:nvPr/>
        </p:nvSpPr>
        <p:spPr>
          <a:xfrm>
            <a:off x="3476625" y="4019550"/>
            <a:ext cx="2238375" cy="723900"/>
          </a:xfrm>
          <a:prstGeom prst="rect">
            <a:avLst/>
          </a:prstGeom>
          <a:noFill/>
          <a:ln w="0">
            <a:noFill/>
            <a:prstDash val="solid"/>
          </a:ln>
        </p:spPr>
        <p:txBody>
          <a:bodyPr anchor="t"/>
          <a:lstStyle/>
          <a:p>
            <a:pPr algn="ctr">
              <a:buNone/>
              <a:defRPr sz="1500">
                <a:solidFill>
                  <a:srgbClr val="2D3F4B"/>
                </a:solidFill>
                <a:latin typeface="Arial"/>
                <a:ea typeface="Arial"/>
                <a:cs typeface="Arial"/>
              </a:defRPr>
            </a:pPr>
            <a:r>
              <a:rPr sz="1500">
                <a:solidFill>
                  <a:srgbClr val="2D3F4B"/>
                </a:solidFill>
                <a:latin typeface="Arial"/>
                <a:ea typeface="Arial"/>
                <a:cs typeface="Arial"/>
              </a:rPr>
              <a:t>Fixed-Size-Chunks</a:t>
            </a:r>
          </a:p>
          <a:p>
            <a:pPr algn="ctr">
              <a:buNone/>
              <a:defRPr sz="1500">
                <a:solidFill>
                  <a:srgbClr val="2D3F4B"/>
                </a:solidFill>
                <a:latin typeface="Arial"/>
                <a:ea typeface="Arial"/>
                <a:cs typeface="Arial"/>
              </a:defRPr>
            </a:pPr>
            <a:r>
              <a:rPr sz="1500">
                <a:solidFill>
                  <a:srgbClr val="2D3F4B"/>
                </a:solidFill>
                <a:latin typeface="Arial"/>
                <a:ea typeface="Arial"/>
                <a:cs typeface="Arial"/>
              </a:rPr>
              <a:t>Chroma + Retrieval</a:t>
            </a:r>
          </a:p>
        </p:txBody>
      </p:sp>
      <p:sp>
        <p:nvSpPr>
          <p:cNvPr id="21" name="stage-3-circle">
            <a:extLst>
              <a:ext uri="{FF2B5EF4-FFF2-40B4-BE49-F238E27FC236}">
                <a16:creationId xmlns:a16="http://schemas.microsoft.com/office/drawing/2014/main" id="{CE3395D3-8C9C-44E3-85DF-C54A27D75D43}"/>
              </a:ext>
            </a:extLst>
          </p:cNvPr>
          <p:cNvSpPr>
            <a:spLocks noGrp="1"/>
          </p:cNvSpPr>
          <p:nvPr/>
        </p:nvSpPr>
        <p:spPr>
          <a:xfrm>
            <a:off x="7000875" y="2171700"/>
            <a:ext cx="685800" cy="685800"/>
          </a:xfrm>
          <a:prstGeom prst="ellipse">
            <a:avLst/>
          </a:prstGeom>
          <a:solidFill>
            <a:srgbClr val="43858A"/>
          </a:solidFill>
          <a:ln w="28575">
            <a:solidFill>
              <a:srgbClr val="FFFFFF"/>
            </a:solidFill>
            <a:prstDash val="solid"/>
          </a:ln>
        </p:spPr>
        <p:txBody>
          <a:bodyPr anchor="ctr"/>
          <a:lstStyle/>
          <a:p>
            <a:pPr algn="ctr">
              <a:buNone/>
              <a:defRPr sz="2025" b="1">
                <a:solidFill>
                  <a:srgbClr val="FFFFFF"/>
                </a:solidFill>
                <a:latin typeface="Arial"/>
                <a:ea typeface="Arial"/>
                <a:cs typeface="Arial"/>
              </a:defRPr>
            </a:pPr>
            <a:r>
              <a:rPr sz="2025" b="1">
                <a:solidFill>
                  <a:srgbClr val="FFFFFF"/>
                </a:solidFill>
                <a:latin typeface="Arial"/>
                <a:ea typeface="Arial"/>
                <a:cs typeface="Arial"/>
              </a:rPr>
              <a:t>3</a:t>
            </a:r>
          </a:p>
        </p:txBody>
      </p:sp>
      <p:sp>
        <p:nvSpPr>
          <p:cNvPr id="22" name="stage-3-file">
            <a:extLst>
              <a:ext uri="{FF2B5EF4-FFF2-40B4-BE49-F238E27FC236}">
                <a16:creationId xmlns:a16="http://schemas.microsoft.com/office/drawing/2014/main" id="{DE729240-D156-4928-B439-FF7E32D5CE4C}"/>
              </a:ext>
            </a:extLst>
          </p:cNvPr>
          <p:cNvSpPr>
            <a:spLocks noGrp="1"/>
          </p:cNvSpPr>
          <p:nvPr/>
        </p:nvSpPr>
        <p:spPr>
          <a:xfrm>
            <a:off x="6238875" y="3095625"/>
            <a:ext cx="2238375" cy="361950"/>
          </a:xfrm>
          <a:prstGeom prst="roundRect">
            <a:avLst>
              <a:gd name="adj" fmla="val 31579"/>
            </a:avLst>
          </a:prstGeom>
          <a:solidFill>
            <a:srgbClr val="43858A"/>
          </a:solidFill>
          <a:ln w="0">
            <a:solidFill>
              <a:srgbClr val="43858A"/>
            </a:solidFill>
            <a:prstDash val="solid"/>
          </a:ln>
        </p:spPr>
        <p:txBody>
          <a:bodyPr anchor="ctr"/>
          <a:lstStyle/>
          <a:p>
            <a:pPr algn="ctr">
              <a:buNone/>
              <a:defRPr sz="1200" b="1">
                <a:solidFill>
                  <a:srgbClr val="FFFFFF"/>
                </a:solidFill>
                <a:latin typeface="Arial"/>
                <a:ea typeface="Arial"/>
                <a:cs typeface="Arial"/>
              </a:defRPr>
            </a:pPr>
            <a:r>
              <a:rPr sz="1200" b="1">
                <a:solidFill>
                  <a:srgbClr val="FFFFFF"/>
                </a:solidFill>
                <a:latin typeface="Arial"/>
                <a:ea typeface="Arial"/>
                <a:cs typeface="Arial"/>
              </a:rPr>
              <a:t>rag-3a / 3b / 3c</a:t>
            </a:r>
          </a:p>
        </p:txBody>
      </p:sp>
      <p:sp>
        <p:nvSpPr>
          <p:cNvPr id="23" name="stage-3-name">
            <a:extLst>
              <a:ext uri="{FF2B5EF4-FFF2-40B4-BE49-F238E27FC236}">
                <a16:creationId xmlns:a16="http://schemas.microsoft.com/office/drawing/2014/main" id="{478F34F7-57B8-453F-87C1-F88F3E863F21}"/>
              </a:ext>
            </a:extLst>
          </p:cNvPr>
          <p:cNvSpPr>
            <a:spLocks noGrp="1"/>
          </p:cNvSpPr>
          <p:nvPr/>
        </p:nvSpPr>
        <p:spPr>
          <a:xfrm>
            <a:off x="6238875" y="3600450"/>
            <a:ext cx="2238375" cy="342900"/>
          </a:xfrm>
          <a:prstGeom prst="rect">
            <a:avLst/>
          </a:prstGeom>
          <a:noFill/>
          <a:ln w="0">
            <a:noFill/>
            <a:prstDash val="solid"/>
          </a:ln>
        </p:spPr>
        <p:txBody>
          <a:bodyPr anchor="ctr"/>
          <a:lstStyle/>
          <a:p>
            <a:pPr algn="ctr">
              <a:buNone/>
              <a:defRPr sz="1800" b="1">
                <a:solidFill>
                  <a:srgbClr val="2D3F4B"/>
                </a:solidFill>
                <a:latin typeface="Arial"/>
                <a:ea typeface="Arial"/>
                <a:cs typeface="Arial"/>
              </a:defRPr>
            </a:pPr>
            <a:r>
              <a:rPr sz="1800" b="1">
                <a:solidFill>
                  <a:srgbClr val="2D3F4B"/>
                </a:solidFill>
                <a:latin typeface="Arial"/>
                <a:ea typeface="Arial"/>
                <a:cs typeface="Arial"/>
              </a:rPr>
              <a:t>Semantic RAG</a:t>
            </a:r>
          </a:p>
        </p:txBody>
      </p:sp>
      <p:sp>
        <p:nvSpPr>
          <p:cNvPr id="24" name="stage-3-copy">
            <a:extLst>
              <a:ext uri="{FF2B5EF4-FFF2-40B4-BE49-F238E27FC236}">
                <a16:creationId xmlns:a16="http://schemas.microsoft.com/office/drawing/2014/main" id="{F9D44831-07E5-43FE-8D5B-DED4A73784E8}"/>
              </a:ext>
            </a:extLst>
          </p:cNvPr>
          <p:cNvSpPr>
            <a:spLocks noGrp="1"/>
          </p:cNvSpPr>
          <p:nvPr/>
        </p:nvSpPr>
        <p:spPr>
          <a:xfrm>
            <a:off x="6238875" y="4019550"/>
            <a:ext cx="2238375" cy="723900"/>
          </a:xfrm>
          <a:prstGeom prst="rect">
            <a:avLst/>
          </a:prstGeom>
          <a:noFill/>
          <a:ln w="0">
            <a:noFill/>
            <a:prstDash val="solid"/>
          </a:ln>
        </p:spPr>
        <p:txBody>
          <a:bodyPr anchor="t"/>
          <a:lstStyle/>
          <a:p>
            <a:pPr algn="ctr">
              <a:buNone/>
              <a:defRPr sz="1500">
                <a:solidFill>
                  <a:srgbClr val="2D3F4B"/>
                </a:solidFill>
                <a:latin typeface="Arial"/>
                <a:ea typeface="Arial"/>
                <a:cs typeface="Arial"/>
              </a:defRPr>
            </a:pPr>
            <a:r>
              <a:rPr sz="1500">
                <a:solidFill>
                  <a:srgbClr val="2D3F4B"/>
                </a:solidFill>
                <a:latin typeface="Arial"/>
                <a:ea typeface="Arial"/>
                <a:cs typeface="Arial"/>
              </a:rPr>
              <a:t>Artikel-Chunking</a:t>
            </a:r>
          </a:p>
          <a:p>
            <a:pPr algn="ctr">
              <a:buNone/>
              <a:defRPr sz="1500">
                <a:solidFill>
                  <a:srgbClr val="2D3F4B"/>
                </a:solidFill>
                <a:latin typeface="Arial"/>
                <a:ea typeface="Arial"/>
                <a:cs typeface="Arial"/>
              </a:defRPr>
            </a:pPr>
            <a:r>
              <a:rPr sz="1500">
                <a:solidFill>
                  <a:srgbClr val="2D3F4B"/>
                </a:solidFill>
                <a:latin typeface="Arial"/>
                <a:ea typeface="Arial"/>
                <a:cs typeface="Arial"/>
              </a:rPr>
              <a:t>Suche + Reranking</a:t>
            </a:r>
          </a:p>
        </p:txBody>
      </p:sp>
      <p:sp>
        <p:nvSpPr>
          <p:cNvPr id="25" name="stage-4-circle">
            <a:extLst>
              <a:ext uri="{FF2B5EF4-FFF2-40B4-BE49-F238E27FC236}">
                <a16:creationId xmlns:a16="http://schemas.microsoft.com/office/drawing/2014/main" id="{1D3AC8DC-9B1D-4449-B0CF-7DCD74368364}"/>
              </a:ext>
            </a:extLst>
          </p:cNvPr>
          <p:cNvSpPr>
            <a:spLocks noGrp="1"/>
          </p:cNvSpPr>
          <p:nvPr/>
        </p:nvSpPr>
        <p:spPr>
          <a:xfrm>
            <a:off x="9763125" y="2171700"/>
            <a:ext cx="685800" cy="685800"/>
          </a:xfrm>
          <a:prstGeom prst="ellipse">
            <a:avLst/>
          </a:prstGeom>
          <a:solidFill>
            <a:srgbClr val="C9960F"/>
          </a:solidFill>
          <a:ln w="28575">
            <a:solidFill>
              <a:srgbClr val="FFFFFF"/>
            </a:solidFill>
            <a:prstDash val="solid"/>
          </a:ln>
        </p:spPr>
        <p:txBody>
          <a:bodyPr anchor="ctr"/>
          <a:lstStyle/>
          <a:p>
            <a:pPr algn="ctr">
              <a:buNone/>
              <a:defRPr sz="2025" b="1">
                <a:solidFill>
                  <a:srgbClr val="FFFFFF"/>
                </a:solidFill>
                <a:latin typeface="Arial"/>
                <a:ea typeface="Arial"/>
                <a:cs typeface="Arial"/>
              </a:defRPr>
            </a:pPr>
            <a:r>
              <a:rPr sz="2025" b="1">
                <a:solidFill>
                  <a:srgbClr val="FFFFFF"/>
                </a:solidFill>
                <a:latin typeface="Arial"/>
                <a:ea typeface="Arial"/>
                <a:cs typeface="Arial"/>
              </a:rPr>
              <a:t>4</a:t>
            </a:r>
          </a:p>
        </p:txBody>
      </p:sp>
      <p:sp>
        <p:nvSpPr>
          <p:cNvPr id="26" name="stage-4-file">
            <a:extLst>
              <a:ext uri="{FF2B5EF4-FFF2-40B4-BE49-F238E27FC236}">
                <a16:creationId xmlns:a16="http://schemas.microsoft.com/office/drawing/2014/main" id="{78B85A8F-F81F-4260-AA85-994D32F0AF17}"/>
              </a:ext>
            </a:extLst>
          </p:cNvPr>
          <p:cNvSpPr>
            <a:spLocks noGrp="1"/>
          </p:cNvSpPr>
          <p:nvPr/>
        </p:nvSpPr>
        <p:spPr>
          <a:xfrm>
            <a:off x="9001125" y="3095625"/>
            <a:ext cx="2238375" cy="361950"/>
          </a:xfrm>
          <a:prstGeom prst="roundRect">
            <a:avLst>
              <a:gd name="adj" fmla="val 31579"/>
            </a:avLst>
          </a:prstGeom>
          <a:solidFill>
            <a:srgbClr val="C9960F"/>
          </a:solidFill>
          <a:ln w="0">
            <a:solidFill>
              <a:srgbClr val="C9960F"/>
            </a:solidFill>
            <a:prstDash val="solid"/>
          </a:ln>
        </p:spPr>
        <p:txBody>
          <a:bodyPr anchor="ctr"/>
          <a:lstStyle/>
          <a:p>
            <a:pPr algn="ctr">
              <a:buNone/>
              <a:defRPr sz="1200" b="1">
                <a:solidFill>
                  <a:srgbClr val="FFFFFF"/>
                </a:solidFill>
                <a:latin typeface="Arial"/>
                <a:ea typeface="Arial"/>
                <a:cs typeface="Arial"/>
              </a:defRPr>
            </a:pPr>
            <a:r>
              <a:rPr sz="1200" b="1">
                <a:solidFill>
                  <a:srgbClr val="FFFFFF"/>
                </a:solidFill>
                <a:latin typeface="Arial"/>
                <a:ea typeface="Arial"/>
                <a:cs typeface="Arial"/>
              </a:rPr>
              <a:t>rag-4a / 4b</a:t>
            </a:r>
          </a:p>
        </p:txBody>
      </p:sp>
      <p:sp>
        <p:nvSpPr>
          <p:cNvPr id="27" name="stage-4-name">
            <a:extLst>
              <a:ext uri="{FF2B5EF4-FFF2-40B4-BE49-F238E27FC236}">
                <a16:creationId xmlns:a16="http://schemas.microsoft.com/office/drawing/2014/main" id="{4B1C7D9D-F0FC-4003-8650-E0E750D0AFC0}"/>
              </a:ext>
            </a:extLst>
          </p:cNvPr>
          <p:cNvSpPr>
            <a:spLocks noGrp="1"/>
          </p:cNvSpPr>
          <p:nvPr/>
        </p:nvSpPr>
        <p:spPr>
          <a:xfrm>
            <a:off x="9001125" y="3600450"/>
            <a:ext cx="2238375" cy="342900"/>
          </a:xfrm>
          <a:prstGeom prst="rect">
            <a:avLst/>
          </a:prstGeom>
          <a:noFill/>
          <a:ln w="0">
            <a:noFill/>
            <a:prstDash val="solid"/>
          </a:ln>
        </p:spPr>
        <p:txBody>
          <a:bodyPr anchor="ctr"/>
          <a:lstStyle/>
          <a:p>
            <a:pPr algn="ctr">
              <a:buNone/>
              <a:defRPr sz="1800" b="1">
                <a:solidFill>
                  <a:srgbClr val="2D3F4B"/>
                </a:solidFill>
                <a:latin typeface="Arial"/>
                <a:ea typeface="Arial"/>
                <a:cs typeface="Arial"/>
              </a:defRPr>
            </a:pPr>
            <a:r>
              <a:rPr sz="1800" b="1">
                <a:solidFill>
                  <a:srgbClr val="2D3F4B"/>
                </a:solidFill>
                <a:latin typeface="Arial"/>
                <a:ea typeface="Arial"/>
                <a:cs typeface="Arial"/>
              </a:rPr>
              <a:t>Graph RAG</a:t>
            </a:r>
          </a:p>
        </p:txBody>
      </p:sp>
      <p:sp>
        <p:nvSpPr>
          <p:cNvPr id="28" name="stage-4-copy">
            <a:extLst>
              <a:ext uri="{FF2B5EF4-FFF2-40B4-BE49-F238E27FC236}">
                <a16:creationId xmlns:a16="http://schemas.microsoft.com/office/drawing/2014/main" id="{6FF35210-BEF0-43AF-BD6A-294915AA4A8A}"/>
              </a:ext>
            </a:extLst>
          </p:cNvPr>
          <p:cNvSpPr>
            <a:spLocks noGrp="1"/>
          </p:cNvSpPr>
          <p:nvPr/>
        </p:nvSpPr>
        <p:spPr>
          <a:xfrm>
            <a:off x="9001125" y="4019550"/>
            <a:ext cx="2238375" cy="723900"/>
          </a:xfrm>
          <a:prstGeom prst="rect">
            <a:avLst/>
          </a:prstGeom>
          <a:noFill/>
          <a:ln w="0">
            <a:noFill/>
            <a:prstDash val="solid"/>
          </a:ln>
        </p:spPr>
        <p:txBody>
          <a:bodyPr anchor="t"/>
          <a:lstStyle/>
          <a:p>
            <a:pPr algn="ctr">
              <a:buNone/>
              <a:defRPr sz="1500">
                <a:solidFill>
                  <a:srgbClr val="2D3F4B"/>
                </a:solidFill>
                <a:latin typeface="Arial"/>
                <a:ea typeface="Arial"/>
                <a:cs typeface="Arial"/>
              </a:defRPr>
            </a:pPr>
            <a:r>
              <a:rPr sz="1500">
                <a:solidFill>
                  <a:srgbClr val="2D3F4B"/>
                </a:solidFill>
                <a:latin typeface="Arial"/>
                <a:ea typeface="Arial"/>
                <a:cs typeface="Arial"/>
              </a:rPr>
              <a:t>Hybrid Retrieval</a:t>
            </a:r>
          </a:p>
          <a:p>
            <a:pPr algn="ctr">
              <a:buNone/>
              <a:defRPr sz="1500">
                <a:solidFill>
                  <a:srgbClr val="2D3F4B"/>
                </a:solidFill>
                <a:latin typeface="Arial"/>
                <a:ea typeface="Arial"/>
                <a:cs typeface="Arial"/>
              </a:defRPr>
            </a:pPr>
            <a:r>
              <a:rPr sz="1500">
                <a:solidFill>
                  <a:srgbClr val="2D3F4B"/>
                </a:solidFill>
                <a:latin typeface="Arial"/>
                <a:ea typeface="Arial"/>
                <a:cs typeface="Arial"/>
              </a:rPr>
              <a:t>Graph-Nachbarn</a:t>
            </a:r>
          </a:p>
        </p:txBody>
      </p:sp>
      <p:sp>
        <p:nvSpPr>
          <p:cNvPr id="29" name="evaluation-band">
            <a:extLst>
              <a:ext uri="{FF2B5EF4-FFF2-40B4-BE49-F238E27FC236}">
                <a16:creationId xmlns:a16="http://schemas.microsoft.com/office/drawing/2014/main" id="{4FF28CE3-F8C9-41D8-8B5E-5BE02DCF9A75}"/>
              </a:ext>
            </a:extLst>
          </p:cNvPr>
          <p:cNvSpPr>
            <a:spLocks noGrp="1"/>
          </p:cNvSpPr>
          <p:nvPr/>
        </p:nvSpPr>
        <p:spPr>
          <a:xfrm>
            <a:off x="1190625" y="5095875"/>
            <a:ext cx="9810750" cy="781050"/>
          </a:xfrm>
          <a:prstGeom prst="roundRect">
            <a:avLst>
              <a:gd name="adj" fmla="val 19512"/>
            </a:avLst>
          </a:prstGeom>
          <a:solidFill>
            <a:srgbClr val="2D3F4B"/>
          </a:solidFill>
          <a:ln w="0">
            <a:solidFill>
              <a:srgbClr val="2D3F4B"/>
            </a:solidFill>
            <a:prstDash val="solid"/>
          </a:ln>
        </p:spPr>
        <p:txBody>
          <a:bodyPr anchor="ct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evaluate.py   →   Retrieval prüfen   •   Antworten bewerten   •   Kontext-Tokens vergleichen</a:t>
            </a:r>
          </a:p>
        </p:txBody>
      </p:sp>
    </p:spTree>
    <p:extLst>
      <p:ext uri="{BB962C8B-B14F-4D97-AF65-F5344CB8AC3E}">
        <p14:creationId xmlns:p14="http://schemas.microsoft.com/office/powerpoint/2010/main" val="16202152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715EDE93-AFC6-46FA-738D-7BCE74290D66}"/>
              </a:ext>
            </a:extLst>
          </p:cNvPr>
          <p:cNvSpPr>
            <a:spLocks noGrp="1"/>
          </p:cNvSpPr>
          <p:nvPr>
            <p:ph type="dt" idx="10"/>
          </p:nvPr>
        </p:nvSpPr>
        <p:spPr/>
        <p:txBody>
          <a:bodyPr/>
          <a:lstStyle/>
          <a:p>
            <a:fld id="{E668D7D0-CB17-47D3-88E8-EDADFD5EAF7A}" type="datetime1">
              <a:t>06.08.2026</a:t>
            </a:fld>
            <a:endParaRPr/>
          </a:p>
        </p:txBody>
      </p:sp>
      <p:sp>
        <p:nvSpPr>
          <p:cNvPr id="3" name="Foliennummernplatzhalter 2">
            <a:extLst>
              <a:ext uri="{FF2B5EF4-FFF2-40B4-BE49-F238E27FC236}">
                <a16:creationId xmlns:a16="http://schemas.microsoft.com/office/drawing/2014/main" id="{99024263-AE3A-A8B5-B2BA-A0D46E0EC355}"/>
              </a:ext>
            </a:extLst>
          </p:cNvPr>
          <p:cNvSpPr>
            <a:spLocks noGrp="1"/>
          </p:cNvSpPr>
          <p:nvPr>
            <p:ph type="sldNum" idx="12"/>
          </p:nvPr>
        </p:nvSpPr>
        <p:spPr/>
        <p:txBody>
          <a:bodyPr/>
          <a:lstStyle/>
          <a:p>
            <a:fld id="{CE7E00E2-F08D-429A-AD9B-1ECBEC02F4DB}" type="slidenum">
              <a:t>11</a:t>
            </a:fld>
            <a:endParaRPr/>
          </a:p>
        </p:txBody>
      </p:sp>
      <p:sp>
        <p:nvSpPr>
          <p:cNvPr id="4" name="Titel 3">
            <a:extLst>
              <a:ext uri="{FF2B5EF4-FFF2-40B4-BE49-F238E27FC236}">
                <a16:creationId xmlns:a16="http://schemas.microsoft.com/office/drawing/2014/main" id="{412194A2-AF5A-AE85-9D12-61716E519CAE}"/>
              </a:ext>
            </a:extLst>
          </p:cNvPr>
          <p:cNvSpPr>
            <a:spLocks noGrp="1"/>
          </p:cNvSpPr>
          <p:nvPr>
            <p:ph type="title"/>
          </p:nvPr>
        </p:nvSpPr>
        <p:spPr/>
        <p:txBody>
          <a:bodyPr/>
          <a:lstStyle/>
          <a:p>
            <a:r>
              <a:t>Hands-on</a:t>
            </a:r>
          </a:p>
        </p:txBody>
      </p:sp>
    </p:spTree>
    <p:extLst>
      <p:ext uri="{BB962C8B-B14F-4D97-AF65-F5344CB8AC3E}">
        <p14:creationId xmlns:p14="http://schemas.microsoft.com/office/powerpoint/2010/main" val="9410258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0201CE27-89A5-6453-2171-001915AA8F89}"/>
              </a:ext>
            </a:extLst>
          </p:cNvPr>
          <p:cNvSpPr>
            <a:spLocks noGrp="1"/>
          </p:cNvSpPr>
          <p:nvPr>
            <p:ph type="dt" idx="10"/>
          </p:nvPr>
        </p:nvSpPr>
        <p:spPr/>
        <p:txBody>
          <a:bodyPr/>
          <a:lstStyle/>
          <a:p>
            <a:fld id="{E668D7D0-CB17-47D3-88E8-EDADFD5EAF7A}" type="datetime1">
              <a:t>06.08.2026</a:t>
            </a:fld>
            <a:endParaRPr/>
          </a:p>
        </p:txBody>
      </p:sp>
      <p:sp>
        <p:nvSpPr>
          <p:cNvPr id="3" name="Foliennummernplatzhalter 2">
            <a:extLst>
              <a:ext uri="{FF2B5EF4-FFF2-40B4-BE49-F238E27FC236}">
                <a16:creationId xmlns:a16="http://schemas.microsoft.com/office/drawing/2014/main" id="{4D8E00F8-31F3-9399-E9FB-52882D9E1323}"/>
              </a:ext>
            </a:extLst>
          </p:cNvPr>
          <p:cNvSpPr>
            <a:spLocks noGrp="1"/>
          </p:cNvSpPr>
          <p:nvPr>
            <p:ph type="sldNum" idx="12"/>
          </p:nvPr>
        </p:nvSpPr>
        <p:spPr/>
        <p:txBody>
          <a:bodyPr/>
          <a:lstStyle/>
          <a:p>
            <a:fld id="{CE7E00E2-F08D-429A-AD9B-1ECBEC02F4DB}" type="slidenum">
              <a:t>12</a:t>
            </a:fld>
            <a:endParaRPr/>
          </a:p>
        </p:txBody>
      </p:sp>
      <p:sp>
        <p:nvSpPr>
          <p:cNvPr id="4" name="Titel 3">
            <a:extLst>
              <a:ext uri="{FF2B5EF4-FFF2-40B4-BE49-F238E27FC236}">
                <a16:creationId xmlns:a16="http://schemas.microsoft.com/office/drawing/2014/main" id="{6E166BED-9F3E-7DA4-BF12-B97C74EBD98F}"/>
              </a:ext>
            </a:extLst>
          </p:cNvPr>
          <p:cNvSpPr>
            <a:spLocks noGrp="1"/>
          </p:cNvSpPr>
          <p:nvPr>
            <p:ph type="title"/>
          </p:nvPr>
        </p:nvSpPr>
        <p:spPr/>
        <p:txBody>
          <a:bodyPr/>
          <a:lstStyle/>
          <a:p>
            <a:r>
              <a:t>Advanced RAG</a:t>
            </a:r>
          </a:p>
        </p:txBody>
      </p:sp>
    </p:spTree>
    <p:extLst>
      <p:ext uri="{BB962C8B-B14F-4D97-AF65-F5344CB8AC3E}">
        <p14:creationId xmlns:p14="http://schemas.microsoft.com/office/powerpoint/2010/main" val="4355901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EE0CD576-FFC5-4ACC-84A6-314F98D3D3F9}"/>
              </a:ext>
            </a:extLst>
          </p:cNvPr>
          <p:cNvSpPr>
            <a:spLocks noGrp="1"/>
          </p:cNvSpPr>
          <p:nvPr/>
        </p:nvSpPr>
        <p:spPr>
          <a:xfrm>
            <a:off x="571500" y="1181100"/>
            <a:ext cx="8096250" cy="304800"/>
          </a:xfrm>
          <a:prstGeom prst="rect">
            <a:avLst/>
          </a:prstGeom>
          <a:noFill/>
          <a:ln w="0">
            <a:noFill/>
            <a:prstDash val="solid"/>
          </a:ln>
        </p:spPr>
        <p:txBody>
          <a:bodyPr anchor="ctr"/>
          <a:lstStyle/>
          <a:p>
            <a:pPr algn="l">
              <a:buNone/>
              <a:defRPr sz="1500" b="0">
                <a:solidFill>
                  <a:srgbClr val="746B5F"/>
                </a:solidFill>
              </a:defRPr>
            </a:pPr>
            <a:r>
              <a:rPr sz="1500" b="0">
                <a:solidFill>
                  <a:srgbClr val="746B5F"/>
                </a:solidFill>
              </a:rPr>
              <a:t>Gleicher Inhalt. Andere Grenzen. Andere Treffer.</a:t>
            </a:r>
          </a:p>
        </p:txBody>
      </p:sp>
      <p:sp>
        <p:nvSpPr>
          <p:cNvPr id="4" name="left-label">
            <a:extLst>
              <a:ext uri="{FF2B5EF4-FFF2-40B4-BE49-F238E27FC236}">
                <a16:creationId xmlns:a16="http://schemas.microsoft.com/office/drawing/2014/main" id="{96E00807-7B9E-444E-8FBC-3FE42823E616}"/>
              </a:ext>
            </a:extLst>
          </p:cNvPr>
          <p:cNvSpPr>
            <a:spLocks noGrp="1"/>
          </p:cNvSpPr>
          <p:nvPr/>
        </p:nvSpPr>
        <p:spPr>
          <a:xfrm>
            <a:off x="571500" y="1724025"/>
            <a:ext cx="2667000" cy="266700"/>
          </a:xfrm>
          <a:prstGeom prst="rect">
            <a:avLst/>
          </a:prstGeom>
          <a:noFill/>
          <a:ln w="0">
            <a:noFill/>
            <a:prstDash val="solid"/>
          </a:ln>
        </p:spPr>
        <p:txBody>
          <a:bodyPr anchor="ctr"/>
          <a:lstStyle/>
          <a:p>
            <a:pPr algn="l">
              <a:buNone/>
              <a:defRPr sz="1275" b="1">
                <a:solidFill>
                  <a:srgbClr val="D20A32"/>
                </a:solidFill>
              </a:defRPr>
            </a:pPr>
            <a:r>
              <a:rPr sz="1275" b="1">
                <a:solidFill>
                  <a:srgbClr val="D20A32"/>
                </a:solidFill>
              </a:rPr>
              <a:t>FIXE LÄNGE</a:t>
            </a:r>
          </a:p>
        </p:txBody>
      </p:sp>
      <p:sp>
        <p:nvSpPr>
          <p:cNvPr id="5" name="left-meta">
            <a:extLst>
              <a:ext uri="{FF2B5EF4-FFF2-40B4-BE49-F238E27FC236}">
                <a16:creationId xmlns:a16="http://schemas.microsoft.com/office/drawing/2014/main" id="{A488A309-CD87-4A3F-8097-759929D7C003}"/>
              </a:ext>
            </a:extLst>
          </p:cNvPr>
          <p:cNvSpPr>
            <a:spLocks noGrp="1"/>
          </p:cNvSpPr>
          <p:nvPr/>
        </p:nvSpPr>
        <p:spPr>
          <a:xfrm>
            <a:off x="571500" y="1981200"/>
            <a:ext cx="2667000" cy="228600"/>
          </a:xfrm>
          <a:prstGeom prst="rect">
            <a:avLst/>
          </a:prstGeom>
          <a:noFill/>
          <a:ln w="0">
            <a:noFill/>
            <a:prstDash val="solid"/>
          </a:ln>
        </p:spPr>
        <p:txBody>
          <a:bodyPr anchor="ctr"/>
          <a:lstStyle/>
          <a:p>
            <a:pPr algn="l">
              <a:buNone/>
              <a:defRPr sz="1050" b="0">
                <a:solidFill>
                  <a:srgbClr val="746B5F"/>
                </a:solidFill>
              </a:defRPr>
            </a:pPr>
            <a:r>
              <a:rPr sz="1050" b="0">
                <a:solidFill>
                  <a:srgbClr val="746B5F"/>
                </a:solidFill>
              </a:rPr>
              <a:t>800 Zeichen</a:t>
            </a:r>
          </a:p>
        </p:txBody>
      </p:sp>
      <p:sp>
        <p:nvSpPr>
          <p:cNvPr id="6" name="right-label">
            <a:extLst>
              <a:ext uri="{FF2B5EF4-FFF2-40B4-BE49-F238E27FC236}">
                <a16:creationId xmlns:a16="http://schemas.microsoft.com/office/drawing/2014/main" id="{BDBC1CCC-6D90-4093-98EC-043DDC5B637F}"/>
              </a:ext>
            </a:extLst>
          </p:cNvPr>
          <p:cNvSpPr>
            <a:spLocks noGrp="1"/>
          </p:cNvSpPr>
          <p:nvPr/>
        </p:nvSpPr>
        <p:spPr>
          <a:xfrm>
            <a:off x="6305550" y="1724025"/>
            <a:ext cx="3238500" cy="266700"/>
          </a:xfrm>
          <a:prstGeom prst="rect">
            <a:avLst/>
          </a:prstGeom>
          <a:noFill/>
          <a:ln w="0">
            <a:noFill/>
            <a:prstDash val="solid"/>
          </a:ln>
        </p:spPr>
        <p:txBody>
          <a:bodyPr anchor="ctr"/>
          <a:lstStyle/>
          <a:p>
            <a:pPr algn="l">
              <a:buNone/>
              <a:defRPr sz="1275" b="1">
                <a:solidFill>
                  <a:srgbClr val="307F87"/>
                </a:solidFill>
              </a:defRPr>
            </a:pPr>
            <a:r>
              <a:rPr sz="1275" b="1">
                <a:solidFill>
                  <a:srgbClr val="307F87"/>
                </a:solidFill>
              </a:rPr>
              <a:t>STRUKTURORIENTIERT</a:t>
            </a:r>
          </a:p>
        </p:txBody>
      </p:sp>
      <p:sp>
        <p:nvSpPr>
          <p:cNvPr id="7" name="right-meta">
            <a:extLst>
              <a:ext uri="{FF2B5EF4-FFF2-40B4-BE49-F238E27FC236}">
                <a16:creationId xmlns:a16="http://schemas.microsoft.com/office/drawing/2014/main" id="{0ED064EB-1AE7-4C0E-8859-467CF198E346}"/>
              </a:ext>
            </a:extLst>
          </p:cNvPr>
          <p:cNvSpPr>
            <a:spLocks noGrp="1"/>
          </p:cNvSpPr>
          <p:nvPr/>
        </p:nvSpPr>
        <p:spPr>
          <a:xfrm>
            <a:off x="6305550" y="1981200"/>
            <a:ext cx="4572000" cy="228600"/>
          </a:xfrm>
          <a:prstGeom prst="rect">
            <a:avLst/>
          </a:prstGeom>
          <a:noFill/>
          <a:ln w="0">
            <a:noFill/>
            <a:prstDash val="solid"/>
          </a:ln>
        </p:spPr>
        <p:txBody>
          <a:bodyPr anchor="ctr"/>
          <a:lstStyle/>
          <a:p>
            <a:pPr algn="l">
              <a:buNone/>
              <a:defRPr sz="1050" b="0">
                <a:solidFill>
                  <a:srgbClr val="746B5F"/>
                </a:solidFill>
              </a:defRPr>
            </a:pPr>
            <a:r>
              <a:rPr sz="1050" b="0">
                <a:solidFill>
                  <a:srgbClr val="746B5F"/>
                </a:solidFill>
              </a:rPr>
              <a:t>Artikel zuerst, Sätze nur bei Bedarf</a:t>
            </a:r>
          </a:p>
        </p:txBody>
      </p:sp>
      <p:sp>
        <p:nvSpPr>
          <p:cNvPr id="8" name="left-panel">
            <a:extLst>
              <a:ext uri="{FF2B5EF4-FFF2-40B4-BE49-F238E27FC236}">
                <a16:creationId xmlns:a16="http://schemas.microsoft.com/office/drawing/2014/main" id="{50BE4D10-4DF3-4DFF-88A5-9A613FD983A1}"/>
              </a:ext>
            </a:extLst>
          </p:cNvPr>
          <p:cNvSpPr>
            <a:spLocks noGrp="1"/>
          </p:cNvSpPr>
          <p:nvPr/>
        </p:nvSpPr>
        <p:spPr>
          <a:xfrm>
            <a:off x="552450" y="2343150"/>
            <a:ext cx="5200650" cy="2857500"/>
          </a:xfrm>
          <a:prstGeom prst="roundRect">
            <a:avLst>
              <a:gd name="adj" fmla="val 4000"/>
            </a:avLst>
          </a:prstGeom>
          <a:solidFill>
            <a:srgbClr val="FFF9FA"/>
          </a:solidFill>
          <a:ln w="9525">
            <a:solidFill>
              <a:srgbClr val="E3BFC7"/>
            </a:solidFill>
            <a:prstDash val="solid"/>
          </a:ln>
        </p:spPr>
        <p:txBody>
          <a:bodyPr/>
          <a:lstStyle/>
          <a:p>
            <a:endParaRPr/>
          </a:p>
        </p:txBody>
      </p:sp>
      <p:sp>
        <p:nvSpPr>
          <p:cNvPr id="9" name="right-panel">
            <a:extLst>
              <a:ext uri="{FF2B5EF4-FFF2-40B4-BE49-F238E27FC236}">
                <a16:creationId xmlns:a16="http://schemas.microsoft.com/office/drawing/2014/main" id="{D3A58C4A-9B3B-4FF2-900F-FC58DEF37FFA}"/>
              </a:ext>
            </a:extLst>
          </p:cNvPr>
          <p:cNvSpPr>
            <a:spLocks noGrp="1"/>
          </p:cNvSpPr>
          <p:nvPr/>
        </p:nvSpPr>
        <p:spPr>
          <a:xfrm>
            <a:off x="6305550" y="2343150"/>
            <a:ext cx="5334000" cy="2857500"/>
          </a:xfrm>
          <a:prstGeom prst="roundRect">
            <a:avLst>
              <a:gd name="adj" fmla="val 4000"/>
            </a:avLst>
          </a:prstGeom>
          <a:solidFill>
            <a:srgbClr val="F8FCFC"/>
          </a:solidFill>
          <a:ln w="9525">
            <a:solidFill>
              <a:srgbClr val="B9D4D6"/>
            </a:solidFill>
            <a:prstDash val="solid"/>
          </a:ln>
        </p:spPr>
        <p:txBody>
          <a:bodyPr/>
          <a:lstStyle/>
          <a:p>
            <a:endParaRPr/>
          </a:p>
        </p:txBody>
      </p:sp>
      <p:sp>
        <p:nvSpPr>
          <p:cNvPr id="10" name="chunk17">
            <a:extLst>
              <a:ext uri="{FF2B5EF4-FFF2-40B4-BE49-F238E27FC236}">
                <a16:creationId xmlns:a16="http://schemas.microsoft.com/office/drawing/2014/main" id="{F84911CE-A8DD-4649-9F91-F9760D366E07}"/>
              </a:ext>
            </a:extLst>
          </p:cNvPr>
          <p:cNvSpPr>
            <a:spLocks noGrp="1"/>
          </p:cNvSpPr>
          <p:nvPr/>
        </p:nvSpPr>
        <p:spPr>
          <a:xfrm>
            <a:off x="800100" y="2552700"/>
            <a:ext cx="1143000" cy="209550"/>
          </a:xfrm>
          <a:prstGeom prst="rect">
            <a:avLst/>
          </a:prstGeom>
          <a:noFill/>
          <a:ln w="0">
            <a:noFill/>
            <a:prstDash val="solid"/>
          </a:ln>
        </p:spPr>
        <p:txBody>
          <a:bodyPr anchor="ctr"/>
          <a:lstStyle/>
          <a:p>
            <a:pPr algn="l">
              <a:buNone/>
              <a:defRPr sz="975" b="1">
                <a:solidFill>
                  <a:srgbClr val="D20A32"/>
                </a:solidFill>
              </a:defRPr>
            </a:pPr>
            <a:r>
              <a:rPr sz="975" b="1">
                <a:solidFill>
                  <a:srgbClr val="D20A32"/>
                </a:solidFill>
              </a:rPr>
              <a:t>CHUNK 17</a:t>
            </a:r>
          </a:p>
        </p:txBody>
      </p:sp>
      <p:sp>
        <p:nvSpPr>
          <p:cNvPr id="11" name="left-text-a">
            <a:extLst>
              <a:ext uri="{FF2B5EF4-FFF2-40B4-BE49-F238E27FC236}">
                <a16:creationId xmlns:a16="http://schemas.microsoft.com/office/drawing/2014/main" id="{50D7ACCC-C8F1-43FB-8A0C-1E90083A7A68}"/>
              </a:ext>
            </a:extLst>
          </p:cNvPr>
          <p:cNvSpPr>
            <a:spLocks noGrp="1"/>
          </p:cNvSpPr>
          <p:nvPr/>
        </p:nvSpPr>
        <p:spPr>
          <a:xfrm>
            <a:off x="800100" y="2819400"/>
            <a:ext cx="2114550" cy="1524000"/>
          </a:xfrm>
          <a:prstGeom prst="rect">
            <a:avLst/>
          </a:prstGeom>
          <a:noFill/>
          <a:ln w="0">
            <a:noFill/>
            <a:prstDash val="solid"/>
          </a:ln>
        </p:spPr>
        <p:txBody>
          <a:bodyPr anchor="ctr"/>
          <a:lstStyle/>
          <a:p>
            <a:pPr algn="l">
              <a:buNone/>
              <a:defRPr sz="1350" b="0">
                <a:solidFill>
                  <a:srgbClr val="304452"/>
                </a:solidFill>
              </a:defRPr>
            </a:pPr>
            <a:r>
              <a:rPr sz="1350" b="0">
                <a:solidFill>
                  <a:srgbClr val="304452"/>
                </a:solidFill>
              </a:rPr>
              <a:t>Art. 335b · Probezeit</a:t>
            </a:r>
          </a:p>
          <a:p>
            <a:pPr algn="l">
              <a:buNone/>
              <a:defRPr sz="1350" b="0">
                <a:solidFill>
                  <a:srgbClr val="304452"/>
                </a:solidFill>
              </a:defRPr>
            </a:pPr>
            <a:r>
              <a:rPr sz="1350" b="0">
                <a:solidFill>
                  <a:srgbClr val="304452"/>
                </a:solidFill>
              </a:rPr>
              <a:t>Die Probezeit beträgt grundsätzlich den ersten Monat. Sie kann auf höchstens drei Monate verlän-</a:t>
            </a:r>
          </a:p>
        </p:txBody>
      </p:sp>
      <p:sp>
        <p:nvSpPr>
          <p:cNvPr id="12" name="chunk18">
            <a:extLst>
              <a:ext uri="{FF2B5EF4-FFF2-40B4-BE49-F238E27FC236}">
                <a16:creationId xmlns:a16="http://schemas.microsoft.com/office/drawing/2014/main" id="{F7A34B1E-6B6D-4093-A46C-5EE5D8C2BE3A}"/>
              </a:ext>
            </a:extLst>
          </p:cNvPr>
          <p:cNvSpPr>
            <a:spLocks noGrp="1"/>
          </p:cNvSpPr>
          <p:nvPr/>
        </p:nvSpPr>
        <p:spPr>
          <a:xfrm>
            <a:off x="3390900" y="2552700"/>
            <a:ext cx="1143000" cy="209550"/>
          </a:xfrm>
          <a:prstGeom prst="rect">
            <a:avLst/>
          </a:prstGeom>
          <a:noFill/>
          <a:ln w="0">
            <a:noFill/>
            <a:prstDash val="solid"/>
          </a:ln>
        </p:spPr>
        <p:txBody>
          <a:bodyPr anchor="ctr"/>
          <a:lstStyle/>
          <a:p>
            <a:pPr algn="l">
              <a:buNone/>
              <a:defRPr sz="975" b="1">
                <a:solidFill>
                  <a:srgbClr val="D20A32"/>
                </a:solidFill>
              </a:defRPr>
            </a:pPr>
            <a:r>
              <a:rPr sz="975" b="1">
                <a:solidFill>
                  <a:srgbClr val="D20A32"/>
                </a:solidFill>
              </a:rPr>
              <a:t>CHUNK 18</a:t>
            </a:r>
          </a:p>
        </p:txBody>
      </p:sp>
      <p:sp>
        <p:nvSpPr>
          <p:cNvPr id="13" name="left-text-b">
            <a:extLst>
              <a:ext uri="{FF2B5EF4-FFF2-40B4-BE49-F238E27FC236}">
                <a16:creationId xmlns:a16="http://schemas.microsoft.com/office/drawing/2014/main" id="{66288B83-6315-4E2A-92E5-9D202B19C8EF}"/>
              </a:ext>
            </a:extLst>
          </p:cNvPr>
          <p:cNvSpPr>
            <a:spLocks noGrp="1"/>
          </p:cNvSpPr>
          <p:nvPr/>
        </p:nvSpPr>
        <p:spPr>
          <a:xfrm>
            <a:off x="3390900" y="2819400"/>
            <a:ext cx="1952625" cy="1428750"/>
          </a:xfrm>
          <a:prstGeom prst="rect">
            <a:avLst/>
          </a:prstGeom>
          <a:noFill/>
          <a:ln w="0">
            <a:noFill/>
            <a:prstDash val="solid"/>
          </a:ln>
        </p:spPr>
        <p:txBody>
          <a:bodyPr anchor="ctr"/>
          <a:lstStyle/>
          <a:p>
            <a:pPr algn="l">
              <a:buNone/>
              <a:defRPr sz="1350" b="0">
                <a:solidFill>
                  <a:srgbClr val="304452"/>
                </a:solidFill>
              </a:defRPr>
            </a:pPr>
            <a:r>
              <a:rPr sz="1350" b="0">
                <a:solidFill>
                  <a:srgbClr val="304452"/>
                </a:solidFill>
              </a:rPr>
              <a:t>gert werden. Bei Krankheit …</a:t>
            </a:r>
          </a:p>
          <a:p>
            <a:endParaRPr sz="1350" b="0">
              <a:solidFill>
                <a:srgbClr val="304452"/>
              </a:solidFill>
            </a:endParaRPr>
          </a:p>
          <a:p>
            <a:pPr algn="l">
              <a:buNone/>
              <a:defRPr sz="1350" b="0">
                <a:solidFill>
                  <a:srgbClr val="304452"/>
                </a:solidFill>
              </a:defRPr>
            </a:pPr>
            <a:r>
              <a:rPr sz="1350" b="0">
                <a:solidFill>
                  <a:srgbClr val="304452"/>
                </a:solidFill>
              </a:rPr>
              <a:t>Art. 335c</a:t>
            </a:r>
          </a:p>
          <a:p>
            <a:pPr algn="l">
              <a:buNone/>
              <a:defRPr sz="1350" b="0">
                <a:solidFill>
                  <a:srgbClr val="304452"/>
                </a:solidFill>
              </a:defRPr>
            </a:pPr>
            <a:r>
              <a:rPr sz="1350" b="0">
                <a:solidFill>
                  <a:srgbClr val="304452"/>
                </a:solidFill>
              </a:rPr>
              <a:t>Kündigungsfristen …</a:t>
            </a:r>
          </a:p>
        </p:txBody>
      </p:sp>
      <p:sp>
        <p:nvSpPr>
          <p:cNvPr id="14" name="hard-boundary">
            <a:extLst>
              <a:ext uri="{FF2B5EF4-FFF2-40B4-BE49-F238E27FC236}">
                <a16:creationId xmlns:a16="http://schemas.microsoft.com/office/drawing/2014/main" id="{3A8DD313-725B-4E1C-9433-3901D5DAF639}"/>
              </a:ext>
            </a:extLst>
          </p:cNvPr>
          <p:cNvSpPr>
            <a:spLocks noGrp="1"/>
          </p:cNvSpPr>
          <p:nvPr/>
        </p:nvSpPr>
        <p:spPr>
          <a:xfrm>
            <a:off x="3133725" y="2571750"/>
            <a:ext cx="0" cy="1790700"/>
          </a:xfrm>
          <a:prstGeom prst="line">
            <a:avLst/>
          </a:prstGeom>
          <a:noFill/>
          <a:ln w="38100">
            <a:solidFill>
              <a:srgbClr val="D20A32"/>
            </a:solidFill>
            <a:prstDash val="solid"/>
          </a:ln>
        </p:spPr>
        <p:txBody>
          <a:bodyPr/>
          <a:lstStyle/>
          <a:p>
            <a:endParaRPr/>
          </a:p>
        </p:txBody>
      </p:sp>
      <p:sp>
        <p:nvSpPr>
          <p:cNvPr id="15" name="cut-label">
            <a:extLst>
              <a:ext uri="{FF2B5EF4-FFF2-40B4-BE49-F238E27FC236}">
                <a16:creationId xmlns:a16="http://schemas.microsoft.com/office/drawing/2014/main" id="{72425464-5B7E-4198-BD2D-042E360C98CF}"/>
              </a:ext>
            </a:extLst>
          </p:cNvPr>
          <p:cNvSpPr>
            <a:spLocks noGrp="1"/>
          </p:cNvSpPr>
          <p:nvPr/>
        </p:nvSpPr>
        <p:spPr>
          <a:xfrm>
            <a:off x="2705100" y="4286250"/>
            <a:ext cx="857250" cy="400050"/>
          </a:xfrm>
          <a:prstGeom prst="rect">
            <a:avLst/>
          </a:prstGeom>
          <a:noFill/>
          <a:ln w="0">
            <a:noFill/>
            <a:prstDash val="solid"/>
          </a:ln>
        </p:spPr>
        <p:txBody>
          <a:bodyPr anchor="ctr"/>
          <a:lstStyle/>
          <a:p>
            <a:pPr algn="ctr">
              <a:buNone/>
              <a:defRPr sz="825" b="1">
                <a:solidFill>
                  <a:srgbClr val="D20A32"/>
                </a:solidFill>
              </a:defRPr>
            </a:pPr>
            <a:r>
              <a:rPr sz="825" b="1">
                <a:solidFill>
                  <a:srgbClr val="D20A32"/>
                </a:solidFill>
              </a:rPr>
              <a:t>STARRE</a:t>
            </a:r>
          </a:p>
          <a:p>
            <a:pPr algn="ctr">
              <a:buNone/>
              <a:defRPr sz="825" b="1">
                <a:solidFill>
                  <a:srgbClr val="D20A32"/>
                </a:solidFill>
              </a:defRPr>
            </a:pPr>
            <a:r>
              <a:rPr sz="825" b="1">
                <a:solidFill>
                  <a:srgbClr val="D20A32"/>
                </a:solidFill>
              </a:rPr>
              <a:t>GRENZE</a:t>
            </a:r>
          </a:p>
        </p:txBody>
      </p:sp>
      <p:sp>
        <p:nvSpPr>
          <p:cNvPr id="16" name="left-result">
            <a:extLst>
              <a:ext uri="{FF2B5EF4-FFF2-40B4-BE49-F238E27FC236}">
                <a16:creationId xmlns:a16="http://schemas.microsoft.com/office/drawing/2014/main" id="{2040694A-C9FB-4616-9192-7EA5BE6D57DE}"/>
              </a:ext>
            </a:extLst>
          </p:cNvPr>
          <p:cNvSpPr>
            <a:spLocks noGrp="1"/>
          </p:cNvSpPr>
          <p:nvPr/>
        </p:nvSpPr>
        <p:spPr>
          <a:xfrm>
            <a:off x="885825" y="4752975"/>
            <a:ext cx="4533900" cy="247650"/>
          </a:xfrm>
          <a:prstGeom prst="rect">
            <a:avLst/>
          </a:prstGeom>
          <a:noFill/>
          <a:ln w="0">
            <a:noFill/>
            <a:prstDash val="solid"/>
          </a:ln>
        </p:spPr>
        <p:txBody>
          <a:bodyPr anchor="ctr"/>
          <a:lstStyle/>
          <a:p>
            <a:pPr algn="ctr">
              <a:buNone/>
              <a:defRPr sz="1050" b="1">
                <a:solidFill>
                  <a:srgbClr val="D20A32"/>
                </a:solidFill>
              </a:defRPr>
            </a:pPr>
            <a:r>
              <a:rPr sz="1050" b="1">
                <a:solidFill>
                  <a:srgbClr val="D20A32"/>
                </a:solidFill>
              </a:rPr>
              <a:t>SATZ GETRENNT  •  ARTIKEL VERMISCHT</a:t>
            </a:r>
          </a:p>
        </p:txBody>
      </p:sp>
      <p:sp>
        <p:nvSpPr>
          <p:cNvPr id="17" name="article-block">
            <a:extLst>
              <a:ext uri="{FF2B5EF4-FFF2-40B4-BE49-F238E27FC236}">
                <a16:creationId xmlns:a16="http://schemas.microsoft.com/office/drawing/2014/main" id="{8FC7FE77-AF45-4BCF-8735-F19FD4F129D3}"/>
              </a:ext>
            </a:extLst>
          </p:cNvPr>
          <p:cNvSpPr>
            <a:spLocks noGrp="1"/>
          </p:cNvSpPr>
          <p:nvPr/>
        </p:nvSpPr>
        <p:spPr>
          <a:xfrm>
            <a:off x="6591300" y="2571750"/>
            <a:ext cx="4762500" cy="1047750"/>
          </a:xfrm>
          <a:prstGeom prst="roundRect">
            <a:avLst>
              <a:gd name="adj" fmla="val 7273"/>
            </a:avLst>
          </a:prstGeom>
          <a:solidFill>
            <a:srgbClr val="FFFFFF"/>
          </a:solidFill>
          <a:ln w="14288">
            <a:solidFill>
              <a:srgbClr val="307F87"/>
            </a:solidFill>
            <a:prstDash val="solid"/>
          </a:ln>
        </p:spPr>
        <p:txBody>
          <a:bodyPr/>
          <a:lstStyle/>
          <a:p>
            <a:endParaRPr/>
          </a:p>
        </p:txBody>
      </p:sp>
      <p:sp>
        <p:nvSpPr>
          <p:cNvPr id="18" name="article-tag">
            <a:extLst>
              <a:ext uri="{FF2B5EF4-FFF2-40B4-BE49-F238E27FC236}">
                <a16:creationId xmlns:a16="http://schemas.microsoft.com/office/drawing/2014/main" id="{72724757-D384-4B76-ADE0-C86756F3A085}"/>
              </a:ext>
            </a:extLst>
          </p:cNvPr>
          <p:cNvSpPr>
            <a:spLocks noGrp="1"/>
          </p:cNvSpPr>
          <p:nvPr/>
        </p:nvSpPr>
        <p:spPr>
          <a:xfrm>
            <a:off x="6819900" y="2724150"/>
            <a:ext cx="1524000" cy="209550"/>
          </a:xfrm>
          <a:prstGeom prst="rect">
            <a:avLst/>
          </a:prstGeom>
          <a:noFill/>
          <a:ln w="0">
            <a:noFill/>
            <a:prstDash val="solid"/>
          </a:ln>
        </p:spPr>
        <p:txBody>
          <a:bodyPr anchor="ctr"/>
          <a:lstStyle/>
          <a:p>
            <a:pPr algn="l">
              <a:buNone/>
              <a:defRPr sz="900" b="1">
                <a:solidFill>
                  <a:srgbClr val="307F87"/>
                </a:solidFill>
              </a:defRPr>
            </a:pPr>
            <a:r>
              <a:rPr sz="900" b="1">
                <a:solidFill>
                  <a:srgbClr val="307F87"/>
                </a:solidFill>
              </a:rPr>
              <a:t>ARTIKEL 335b</a:t>
            </a:r>
          </a:p>
        </p:txBody>
      </p:sp>
      <p:sp>
        <p:nvSpPr>
          <p:cNvPr id="19" name="article-text">
            <a:extLst>
              <a:ext uri="{FF2B5EF4-FFF2-40B4-BE49-F238E27FC236}">
                <a16:creationId xmlns:a16="http://schemas.microsoft.com/office/drawing/2014/main" id="{6DCA5135-CD73-404C-8099-498AFA8AE390}"/>
              </a:ext>
            </a:extLst>
          </p:cNvPr>
          <p:cNvSpPr>
            <a:spLocks noGrp="1"/>
          </p:cNvSpPr>
          <p:nvPr/>
        </p:nvSpPr>
        <p:spPr>
          <a:xfrm>
            <a:off x="6819900" y="2952750"/>
            <a:ext cx="4095750" cy="514350"/>
          </a:xfrm>
          <a:prstGeom prst="rect">
            <a:avLst/>
          </a:prstGeom>
          <a:noFill/>
          <a:ln w="0">
            <a:noFill/>
            <a:prstDash val="solid"/>
          </a:ln>
        </p:spPr>
        <p:txBody>
          <a:bodyPr anchor="ctr"/>
          <a:lstStyle/>
          <a:p>
            <a:pPr algn="l">
              <a:buNone/>
              <a:defRPr sz="1350" b="1">
                <a:solidFill>
                  <a:srgbClr val="304452"/>
                </a:solidFill>
              </a:defRPr>
            </a:pPr>
            <a:r>
              <a:rPr sz="1350" b="1">
                <a:solidFill>
                  <a:srgbClr val="304452"/>
                </a:solidFill>
              </a:rPr>
              <a:t>Probezeit</a:t>
            </a:r>
          </a:p>
          <a:p>
            <a:pPr algn="l">
              <a:buNone/>
              <a:defRPr sz="1350" b="1">
                <a:solidFill>
                  <a:srgbClr val="304452"/>
                </a:solidFill>
              </a:defRPr>
            </a:pPr>
            <a:r>
              <a:rPr sz="1350" b="1">
                <a:solidFill>
                  <a:srgbClr val="304452"/>
                </a:solidFill>
              </a:rPr>
              <a:t>Absätze bleiben gemeinsam, solange das Budget reicht.</a:t>
            </a:r>
          </a:p>
        </p:txBody>
      </p:sp>
      <p:sp>
        <p:nvSpPr>
          <p:cNvPr id="20" name="semantic-flow">
            <a:extLst>
              <a:ext uri="{FF2B5EF4-FFF2-40B4-BE49-F238E27FC236}">
                <a16:creationId xmlns:a16="http://schemas.microsoft.com/office/drawing/2014/main" id="{9CAFB230-D60C-4956-AB70-24D876A7D99A}"/>
              </a:ext>
            </a:extLst>
          </p:cNvPr>
          <p:cNvSpPr>
            <a:spLocks noGrp="1"/>
          </p:cNvSpPr>
          <p:nvPr/>
        </p:nvSpPr>
        <p:spPr>
          <a:xfrm>
            <a:off x="8972550" y="3629025"/>
            <a:ext cx="0" cy="228600"/>
          </a:xfrm>
          <a:prstGeom prst="line">
            <a:avLst/>
          </a:prstGeom>
          <a:noFill/>
          <a:ln w="19050">
            <a:solidFill>
              <a:srgbClr val="307F87"/>
            </a:solidFill>
            <a:prstDash val="solid"/>
          </a:ln>
        </p:spPr>
        <p:txBody>
          <a:bodyPr/>
          <a:lstStyle/>
          <a:p>
            <a:endParaRPr/>
          </a:p>
        </p:txBody>
      </p:sp>
      <p:sp>
        <p:nvSpPr>
          <p:cNvPr id="21" name="oversize-note">
            <a:extLst>
              <a:ext uri="{FF2B5EF4-FFF2-40B4-BE49-F238E27FC236}">
                <a16:creationId xmlns:a16="http://schemas.microsoft.com/office/drawing/2014/main" id="{6557A38C-4E89-4CDC-8237-FCB0C661E68A}"/>
              </a:ext>
            </a:extLst>
          </p:cNvPr>
          <p:cNvSpPr>
            <a:spLocks noGrp="1"/>
          </p:cNvSpPr>
          <p:nvPr/>
        </p:nvSpPr>
        <p:spPr>
          <a:xfrm>
            <a:off x="6819900" y="3876675"/>
            <a:ext cx="4095750" cy="266700"/>
          </a:xfrm>
          <a:prstGeom prst="rect">
            <a:avLst/>
          </a:prstGeom>
          <a:noFill/>
          <a:ln w="0">
            <a:noFill/>
            <a:prstDash val="solid"/>
          </a:ln>
        </p:spPr>
        <p:txBody>
          <a:bodyPr anchor="ctr"/>
          <a:lstStyle/>
          <a:p>
            <a:pPr algn="l">
              <a:buNone/>
              <a:defRPr sz="1200" b="0">
                <a:solidFill>
                  <a:srgbClr val="304452"/>
                </a:solidFill>
              </a:defRPr>
            </a:pPr>
            <a:r>
              <a:rPr sz="1200" b="0">
                <a:solidFill>
                  <a:srgbClr val="304452"/>
                </a:solidFill>
              </a:rPr>
              <a:t>Nur bei Überlänge: an Satzgrenzen trennen</a:t>
            </a:r>
          </a:p>
        </p:txBody>
      </p:sp>
      <p:sp>
        <p:nvSpPr>
          <p:cNvPr id="22" name="semantic-flow-2">
            <a:extLst>
              <a:ext uri="{FF2B5EF4-FFF2-40B4-BE49-F238E27FC236}">
                <a16:creationId xmlns:a16="http://schemas.microsoft.com/office/drawing/2014/main" id="{FA1EEF6A-01EC-4691-AC51-EF0E965116DD}"/>
              </a:ext>
            </a:extLst>
          </p:cNvPr>
          <p:cNvSpPr>
            <a:spLocks noGrp="1"/>
          </p:cNvSpPr>
          <p:nvPr/>
        </p:nvSpPr>
        <p:spPr>
          <a:xfrm>
            <a:off x="8972550" y="4171950"/>
            <a:ext cx="0" cy="171450"/>
          </a:xfrm>
          <a:prstGeom prst="line">
            <a:avLst/>
          </a:prstGeom>
          <a:noFill/>
          <a:ln w="19050">
            <a:solidFill>
              <a:srgbClr val="307F87"/>
            </a:solidFill>
            <a:prstDash val="solid"/>
          </a:ln>
        </p:spPr>
        <p:txBody>
          <a:bodyPr/>
          <a:lstStyle/>
          <a:p>
            <a:endParaRPr/>
          </a:p>
        </p:txBody>
      </p:sp>
      <p:sp>
        <p:nvSpPr>
          <p:cNvPr id="23" name="result-chip">
            <a:extLst>
              <a:ext uri="{FF2B5EF4-FFF2-40B4-BE49-F238E27FC236}">
                <a16:creationId xmlns:a16="http://schemas.microsoft.com/office/drawing/2014/main" id="{7BBF8A2F-B0CE-4AF3-A58D-9B9260B96072}"/>
              </a:ext>
            </a:extLst>
          </p:cNvPr>
          <p:cNvSpPr>
            <a:spLocks noGrp="1"/>
          </p:cNvSpPr>
          <p:nvPr/>
        </p:nvSpPr>
        <p:spPr>
          <a:xfrm>
            <a:off x="7353300" y="4362450"/>
            <a:ext cx="3238500" cy="457200"/>
          </a:xfrm>
          <a:prstGeom prst="roundRect">
            <a:avLst>
              <a:gd name="adj" fmla="val 16667"/>
            </a:avLst>
          </a:prstGeom>
          <a:solidFill>
            <a:srgbClr val="EAF4F4"/>
          </a:solidFill>
          <a:ln w="9525">
            <a:solidFill>
              <a:srgbClr val="307F87"/>
            </a:solidFill>
            <a:prstDash val="solid"/>
          </a:ln>
        </p:spPr>
        <p:txBody>
          <a:bodyPr/>
          <a:lstStyle/>
          <a:p>
            <a:endParaRPr/>
          </a:p>
        </p:txBody>
      </p:sp>
      <p:sp>
        <p:nvSpPr>
          <p:cNvPr id="24" name="right-result">
            <a:extLst>
              <a:ext uri="{FF2B5EF4-FFF2-40B4-BE49-F238E27FC236}">
                <a16:creationId xmlns:a16="http://schemas.microsoft.com/office/drawing/2014/main" id="{7348DD27-7E23-4633-BEAA-34EFEEEF7F60}"/>
              </a:ext>
            </a:extLst>
          </p:cNvPr>
          <p:cNvSpPr>
            <a:spLocks noGrp="1"/>
          </p:cNvSpPr>
          <p:nvPr/>
        </p:nvSpPr>
        <p:spPr>
          <a:xfrm>
            <a:off x="7524750" y="4457700"/>
            <a:ext cx="2895600" cy="247650"/>
          </a:xfrm>
          <a:prstGeom prst="rect">
            <a:avLst/>
          </a:prstGeom>
          <a:noFill/>
          <a:ln w="0">
            <a:noFill/>
            <a:prstDash val="solid"/>
          </a:ln>
        </p:spPr>
        <p:txBody>
          <a:bodyPr anchor="ctr"/>
          <a:lstStyle/>
          <a:p>
            <a:pPr algn="ctr">
              <a:buNone/>
              <a:defRPr sz="1050" b="1">
                <a:solidFill>
                  <a:srgbClr val="307F87"/>
                </a:solidFill>
              </a:defRPr>
            </a:pPr>
            <a:r>
              <a:rPr sz="1050" b="1">
                <a:solidFill>
                  <a:srgbClr val="307F87"/>
                </a:solidFill>
              </a:rPr>
              <a:t>BEDEUTUNG BLEIBT ZUSAMMEN</a:t>
            </a:r>
          </a:p>
        </p:txBody>
      </p:sp>
      <p:sp>
        <p:nvSpPr>
          <p:cNvPr id="25" name="takeaway">
            <a:extLst>
              <a:ext uri="{FF2B5EF4-FFF2-40B4-BE49-F238E27FC236}">
                <a16:creationId xmlns:a16="http://schemas.microsoft.com/office/drawing/2014/main" id="{18B3756D-9BFF-41E2-AA7E-61B134B1E097}"/>
              </a:ext>
            </a:extLst>
          </p:cNvPr>
          <p:cNvSpPr>
            <a:spLocks noGrp="1"/>
          </p:cNvSpPr>
          <p:nvPr/>
        </p:nvSpPr>
        <p:spPr>
          <a:xfrm>
            <a:off x="2095500" y="5467350"/>
            <a:ext cx="8001000" cy="647700"/>
          </a:xfrm>
          <a:prstGeom prst="roundRect">
            <a:avLst>
              <a:gd name="adj" fmla="val 17647"/>
            </a:avLst>
          </a:prstGeom>
          <a:solidFill>
            <a:srgbClr val="304452"/>
          </a:solidFill>
          <a:ln w="0">
            <a:solidFill>
              <a:srgbClr val="304452"/>
            </a:solidFill>
            <a:prstDash val="solid"/>
          </a:ln>
        </p:spPr>
        <p:txBody>
          <a:bodyPr/>
          <a:lstStyle/>
          <a:p>
            <a:endParaRPr/>
          </a:p>
        </p:txBody>
      </p:sp>
      <p:sp>
        <p:nvSpPr>
          <p:cNvPr id="26" name="takeaway-text">
            <a:extLst>
              <a:ext uri="{FF2B5EF4-FFF2-40B4-BE49-F238E27FC236}">
                <a16:creationId xmlns:a16="http://schemas.microsoft.com/office/drawing/2014/main" id="{36E28B72-CCDB-43BA-845A-F1523BB4480E}"/>
              </a:ext>
            </a:extLst>
          </p:cNvPr>
          <p:cNvSpPr>
            <a:spLocks noGrp="1"/>
          </p:cNvSpPr>
          <p:nvPr/>
        </p:nvSpPr>
        <p:spPr>
          <a:xfrm>
            <a:off x="2381250" y="5600700"/>
            <a:ext cx="7429500" cy="361950"/>
          </a:xfrm>
          <a:prstGeom prst="rect">
            <a:avLst/>
          </a:prstGeom>
          <a:noFill/>
          <a:ln w="0">
            <a:noFill/>
            <a:prstDash val="solid"/>
          </a:ln>
        </p:spPr>
        <p:txBody>
          <a:bodyPr anchor="ctr"/>
          <a:lstStyle/>
          <a:p>
            <a:pPr algn="ctr">
              <a:buNone/>
              <a:defRPr sz="1650" b="1">
                <a:solidFill>
                  <a:srgbClr val="FFFFFF"/>
                </a:solidFill>
              </a:defRPr>
            </a:pPr>
            <a:r>
              <a:rPr sz="1650" b="1">
                <a:solidFill>
                  <a:srgbClr val="FFFFFF"/>
                </a:solidFill>
              </a:rPr>
              <a:t>Ziel: Token-Budget einhalten, ohne Bedeutung zu zerreißen.</a:t>
            </a:r>
          </a:p>
        </p:txBody>
      </p:sp>
      <p:sp>
        <p:nvSpPr>
          <p:cNvPr id="27" name="page">
            <a:extLst>
              <a:ext uri="{FF2B5EF4-FFF2-40B4-BE49-F238E27FC236}">
                <a16:creationId xmlns:a16="http://schemas.microsoft.com/office/drawing/2014/main" id="{A2F7BA51-B5C1-4387-8006-3CDB0BB160DA}"/>
              </a:ext>
            </a:extLst>
          </p:cNvPr>
          <p:cNvSpPr>
            <a:spLocks noGrp="1"/>
          </p:cNvSpPr>
          <p:nvPr/>
        </p:nvSpPr>
        <p:spPr>
          <a:xfrm>
            <a:off x="533400" y="6448425"/>
            <a:ext cx="419100" cy="171450"/>
          </a:xfrm>
          <a:prstGeom prst="rect">
            <a:avLst/>
          </a:prstGeom>
          <a:noFill/>
          <a:ln w="0">
            <a:noFill/>
            <a:prstDash val="solid"/>
          </a:ln>
        </p:spPr>
        <p:txBody>
          <a:bodyPr anchor="ctr"/>
          <a:lstStyle/>
          <a:p>
            <a:pPr algn="l">
              <a:buNone/>
              <a:defRPr sz="750" b="0">
                <a:solidFill>
                  <a:srgbClr val="304452"/>
                </a:solidFill>
              </a:defRPr>
            </a:pPr>
            <a:r>
              <a:rPr sz="750" b="0">
                <a:solidFill>
                  <a:srgbClr val="304452"/>
                </a:solidFill>
              </a:rPr>
              <a:t>14</a:t>
            </a:r>
          </a:p>
        </p:txBody>
      </p:sp>
      <p:sp>
        <p:nvSpPr>
          <p:cNvPr id="28" name="date">
            <a:extLst>
              <a:ext uri="{FF2B5EF4-FFF2-40B4-BE49-F238E27FC236}">
                <a16:creationId xmlns:a16="http://schemas.microsoft.com/office/drawing/2014/main" id="{EEB93467-AB60-4E30-BC91-279117FB7BE7}"/>
              </a:ext>
            </a:extLst>
          </p:cNvPr>
          <p:cNvSpPr>
            <a:spLocks noGrp="1"/>
          </p:cNvSpPr>
          <p:nvPr/>
        </p:nvSpPr>
        <p:spPr>
          <a:xfrm>
            <a:off x="990600" y="6448425"/>
            <a:ext cx="857250" cy="171450"/>
          </a:xfrm>
          <a:prstGeom prst="rect">
            <a:avLst/>
          </a:prstGeom>
          <a:noFill/>
          <a:ln w="0">
            <a:noFill/>
            <a:prstDash val="solid"/>
          </a:ln>
        </p:spPr>
        <p:txBody>
          <a:bodyPr anchor="ctr"/>
          <a:lstStyle/>
          <a:p>
            <a:pPr algn="l">
              <a:buNone/>
              <a:defRPr sz="750" b="0">
                <a:solidFill>
                  <a:srgbClr val="304452"/>
                </a:solidFill>
              </a:defRPr>
            </a:pPr>
            <a:r>
              <a:rPr sz="750" b="0">
                <a:solidFill>
                  <a:srgbClr val="304452"/>
                </a:solidFill>
              </a:rPr>
              <a:t>04.08.2026</a:t>
            </a:r>
          </a:p>
        </p:txBody>
      </p:sp>
      <p:sp>
        <p:nvSpPr>
          <p:cNvPr id="31" name="Titel 1">
            <a:extLst>
              <a:ext uri="{FF2B5EF4-FFF2-40B4-BE49-F238E27FC236}">
                <a16:creationId xmlns:a16="http://schemas.microsoft.com/office/drawing/2014/main" id="{B2980687-90D9-7016-3632-98FC3B81D643}"/>
              </a:ext>
            </a:extLst>
          </p:cNvPr>
          <p:cNvSpPr>
            <a:spLocks noGrp="1"/>
          </p:cNvSpPr>
          <p:nvPr/>
        </p:nvSpPr>
        <p:spPr>
          <a:xfrm>
            <a:off x="476250" y="342900"/>
            <a:ext cx="11239500" cy="742950"/>
          </a:xfrm>
          <a:prstGeom prst="rect">
            <a:avLst/>
          </a:prstGeom>
        </p:spPr>
        <p:txBody>
          <a:bodyPr anchor="ctr"/>
          <a:lstStyle>
            <a:lvl1pPr algn="l" defTabSz="914400">
              <a:lnSpc>
                <a:spcPct val="90000"/>
              </a:lnSpc>
              <a:spcBef>
                <a:spcPct val="0"/>
              </a:spcBef>
              <a:buNone/>
              <a:defRPr sz="4000" b="0" kern="1200">
                <a:solidFill>
                  <a:schemeClr val="tx1"/>
                </a:solidFill>
                <a:latin typeface="+mj-lt"/>
                <a:ea typeface="+mj-lt"/>
                <a:cs typeface="+mj-lt"/>
              </a:defRPr>
            </a:lvl1pPr>
          </a:lstStyle>
          <a:p>
            <a:pPr>
              <a:buNone/>
              <a:defRPr sz="2850">
                <a:solidFill>
                  <a:srgbClr val="2D3F4B"/>
                </a:solidFill>
                <a:latin typeface="Arial"/>
                <a:ea typeface="Arial"/>
                <a:cs typeface="Arial"/>
              </a:defRPr>
            </a:pPr>
            <a:r>
              <a:rPr sz="2850">
                <a:solidFill>
                  <a:srgbClr val="2D3F4B"/>
                </a:solidFill>
                <a:latin typeface="Arial"/>
                <a:ea typeface="Arial"/>
                <a:cs typeface="Arial"/>
              </a:rPr>
              <a:t>Chunking entscheidet, was auffindbar bleibt</a:t>
            </a:r>
          </a:p>
        </p:txBody>
      </p:sp>
      <p:sp>
        <p:nvSpPr>
          <p:cNvPr id="34" name="Gerader Verbinder 33">
            <a:extLst>
              <a:ext uri="{FF2B5EF4-FFF2-40B4-BE49-F238E27FC236}">
                <a16:creationId xmlns:a16="http://schemas.microsoft.com/office/drawing/2014/main" id="{FF90D4B7-F601-4E48-9709-A4E857A99339}"/>
              </a:ext>
            </a:extLst>
          </p:cNvPr>
          <p:cNvSpPr>
            <a:spLocks noGrp="1"/>
          </p:cNvSpPr>
          <p:nvPr/>
        </p:nvSpPr>
        <p:spPr>
          <a:xfrm>
            <a:off x="885825" y="4257675"/>
            <a:ext cx="57653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txBody>
          <a:bodyPr/>
          <a:lstStyle/>
          <a:p>
            <a:endParaRPr lang="de-DE"/>
          </a:p>
        </p:txBody>
      </p:sp>
      <p:sp>
        <p:nvSpPr>
          <p:cNvPr id="36" name="Gerader Verbinder 35">
            <a:extLst>
              <a:ext uri="{FF2B5EF4-FFF2-40B4-BE49-F238E27FC236}">
                <a16:creationId xmlns:a16="http://schemas.microsoft.com/office/drawing/2014/main" id="{F149C0EE-4D13-4D67-BDB5-DA6BC4940006}"/>
              </a:ext>
            </a:extLst>
          </p:cNvPr>
          <p:cNvSpPr>
            <a:spLocks noGrp="1"/>
          </p:cNvSpPr>
          <p:nvPr/>
        </p:nvSpPr>
        <p:spPr>
          <a:xfrm>
            <a:off x="1462355" y="3992773"/>
            <a:ext cx="0" cy="276225"/>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txBody>
          <a:bodyPr/>
          <a:lstStyle/>
          <a:p>
            <a:endParaRPr lang="de-DE"/>
          </a:p>
        </p:txBody>
      </p:sp>
      <p:sp>
        <p:nvSpPr>
          <p:cNvPr id="38" name="Gerader Verbinder 37">
            <a:extLst>
              <a:ext uri="{FF2B5EF4-FFF2-40B4-BE49-F238E27FC236}">
                <a16:creationId xmlns:a16="http://schemas.microsoft.com/office/drawing/2014/main" id="{4527E6D2-0366-4357-849F-0136B919506F}"/>
              </a:ext>
            </a:extLst>
          </p:cNvPr>
          <p:cNvSpPr>
            <a:spLocks noGrp="1"/>
          </p:cNvSpPr>
          <p:nvPr/>
        </p:nvSpPr>
        <p:spPr>
          <a:xfrm>
            <a:off x="3410491" y="3246409"/>
            <a:ext cx="35062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txBody>
          <a:bodyPr/>
          <a:lstStyle/>
          <a:p>
            <a:endParaRPr lang="de-DE"/>
          </a:p>
        </p:txBody>
      </p:sp>
      <p:sp>
        <p:nvSpPr>
          <p:cNvPr id="39" name="Gerader Verbinder 38">
            <a:extLst>
              <a:ext uri="{FF2B5EF4-FFF2-40B4-BE49-F238E27FC236}">
                <a16:creationId xmlns:a16="http://schemas.microsoft.com/office/drawing/2014/main" id="{594443C3-FD42-42B6-91D7-4F44BE33A013}"/>
              </a:ext>
            </a:extLst>
          </p:cNvPr>
          <p:cNvSpPr>
            <a:spLocks noGrp="1"/>
          </p:cNvSpPr>
          <p:nvPr/>
        </p:nvSpPr>
        <p:spPr>
          <a:xfrm>
            <a:off x="3412105" y="3036497"/>
            <a:ext cx="0" cy="202724"/>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txBody>
          <a:bodyPr/>
          <a:lstStyle/>
          <a:p>
            <a:endParaRPr lang="de-DE"/>
          </a:p>
        </p:txBody>
      </p:sp>
    </p:spTree>
    <p:extLst>
      <p:ext uri="{BB962C8B-B14F-4D97-AF65-F5344CB8AC3E}">
        <p14:creationId xmlns:p14="http://schemas.microsoft.com/office/powerpoint/2010/main" val="2372915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 name="Grafik 12"/>
          <p:cNvPicPr>
            <a:picLocks noChangeAspect="1"/>
          </p:cNvPicPr>
          <p:nvPr/>
        </p:nvPicPr>
        <p:blipFill rotWithShape="1">
          <a:blip r:embed="rId3"/>
          <a:srcRect/>
          <a:stretch/>
        </p:blipFill>
        <p:spPr>
          <a:xfrm>
            <a:off x="5185617" y="4336553"/>
            <a:ext cx="504056" cy="224739"/>
          </a:xfrm>
          <a:prstGeom prst="rect">
            <a:avLst/>
          </a:prstGeom>
        </p:spPr>
      </p:pic>
      <p:sp>
        <p:nvSpPr>
          <p:cNvPr id="17" name="slide-title">
            <a:extLst>
              <a:ext uri="{FF2B5EF4-FFF2-40B4-BE49-F238E27FC236}">
                <a16:creationId xmlns:a16="http://schemas.microsoft.com/office/drawing/2014/main" id="{B94511CE-68DE-4BF9-98FC-216466D2C497}"/>
              </a:ext>
            </a:extLst>
          </p:cNvPr>
          <p:cNvSpPr>
            <a:spLocks noGrp="1"/>
          </p:cNvSpPr>
          <p:nvPr/>
        </p:nvSpPr>
        <p:spPr>
          <a:xfrm>
            <a:off x="476250" y="333375"/>
            <a:ext cx="11239500" cy="714375"/>
          </a:xfrm>
          <a:prstGeom prst="rect">
            <a:avLst/>
          </a:prstGeom>
          <a:noFill/>
          <a:ln w="0">
            <a:noFill/>
            <a:prstDash val="solid"/>
          </a:ln>
        </p:spPr>
        <p:txBody>
          <a:bodyPr anchor="ctr"/>
          <a:lstStyle/>
          <a:p>
            <a:pPr algn="l">
              <a:buNone/>
              <a:defRPr sz="2850" b="0">
                <a:solidFill>
                  <a:srgbClr val="2D3F4B"/>
                </a:solidFill>
                <a:latin typeface="Arial"/>
                <a:ea typeface="Arial"/>
                <a:cs typeface="Arial"/>
              </a:defRPr>
            </a:pPr>
            <a:r>
              <a:rPr sz="2850" b="0">
                <a:solidFill>
                  <a:srgbClr val="2D3F4B"/>
                </a:solidFill>
                <a:latin typeface="Arial"/>
                <a:ea typeface="Arial"/>
                <a:cs typeface="Arial"/>
              </a:rPr>
              <a:t>Reranking sortiert Kandidaten – es findet keine neuen</a:t>
            </a:r>
          </a:p>
        </p:txBody>
      </p:sp>
      <p:sp>
        <p:nvSpPr>
          <p:cNvPr id="18" name="title-rule">
            <a:extLst>
              <a:ext uri="{FF2B5EF4-FFF2-40B4-BE49-F238E27FC236}">
                <a16:creationId xmlns:a16="http://schemas.microsoft.com/office/drawing/2014/main" id="{6942C085-3770-4E03-B601-DAEA48B3476F}"/>
              </a:ext>
            </a:extLst>
          </p:cNvPr>
          <p:cNvSpPr>
            <a:spLocks noGrp="1"/>
          </p:cNvSpPr>
          <p:nvPr/>
        </p:nvSpPr>
        <p:spPr>
          <a:xfrm>
            <a:off x="476250" y="1133475"/>
            <a:ext cx="11239500" cy="0"/>
          </a:xfrm>
          <a:prstGeom prst="line">
            <a:avLst/>
          </a:prstGeom>
          <a:ln w="25718">
            <a:solidFill>
              <a:srgbClr val="C60C30"/>
            </a:solidFill>
            <a:prstDash val="solid"/>
          </a:ln>
        </p:spPr>
        <p:txBody>
          <a:bodyPr/>
          <a:lstStyle/>
          <a:p>
            <a:endParaRPr/>
          </a:p>
        </p:txBody>
      </p:sp>
      <p:sp>
        <p:nvSpPr>
          <p:cNvPr id="19" name="slide-subtitle">
            <a:extLst>
              <a:ext uri="{FF2B5EF4-FFF2-40B4-BE49-F238E27FC236}">
                <a16:creationId xmlns:a16="http://schemas.microsoft.com/office/drawing/2014/main" id="{2B01E572-7675-4F03-90C2-090B6A8A6308}"/>
              </a:ext>
            </a:extLst>
          </p:cNvPr>
          <p:cNvSpPr>
            <a:spLocks noGrp="1"/>
          </p:cNvSpPr>
          <p:nvPr/>
        </p:nvSpPr>
        <p:spPr>
          <a:xfrm>
            <a:off x="523875" y="1362075"/>
            <a:ext cx="11096625" cy="361950"/>
          </a:xfrm>
          <a:prstGeom prst="rect">
            <a:avLst/>
          </a:prstGeom>
          <a:noFill/>
          <a:ln w="0">
            <a:noFill/>
            <a:prstDash val="solid"/>
          </a:ln>
        </p:spPr>
        <p:txBody>
          <a:bodyPr anchor="ctr"/>
          <a:lstStyle/>
          <a:p>
            <a:pPr algn="l">
              <a:buNone/>
              <a:defRPr sz="1650" b="0">
                <a:solidFill>
                  <a:srgbClr val="81725E"/>
                </a:solidFill>
                <a:latin typeface="Arial"/>
                <a:ea typeface="Arial"/>
                <a:cs typeface="Arial"/>
              </a:defRPr>
            </a:pPr>
            <a:r>
              <a:rPr sz="1650" b="0">
                <a:solidFill>
                  <a:srgbClr val="81725E"/>
                </a:solidFill>
                <a:latin typeface="Arial"/>
                <a:ea typeface="Arial"/>
                <a:cs typeface="Arial"/>
              </a:rPr>
              <a:t>Retrieval maximiert Recall; der Cross-Encoder verbessert danach die Reihenfolge.</a:t>
            </a:r>
          </a:p>
        </p:txBody>
      </p:sp>
      <p:sp>
        <p:nvSpPr>
          <p:cNvPr id="20" name="page-number">
            <a:extLst>
              <a:ext uri="{FF2B5EF4-FFF2-40B4-BE49-F238E27FC236}">
                <a16:creationId xmlns:a16="http://schemas.microsoft.com/office/drawing/2014/main" id="{19B956D9-D2CE-4318-AEFE-02BD0C4DF880}"/>
              </a:ext>
            </a:extLst>
          </p:cNvPr>
          <p:cNvSpPr>
            <a:spLocks noGrp="1"/>
          </p:cNvSpPr>
          <p:nvPr/>
        </p:nvSpPr>
        <p:spPr>
          <a:xfrm>
            <a:off x="476250" y="6353175"/>
            <a:ext cx="333375" cy="209550"/>
          </a:xfrm>
          <a:prstGeom prst="rect">
            <a:avLst/>
          </a:prstGeom>
          <a:noFill/>
          <a:ln w="0">
            <a:noFill/>
            <a:prstDash val="solid"/>
          </a:ln>
        </p:spPr>
        <p:txBody>
          <a:bodyPr anchor="t"/>
          <a:lstStyle/>
          <a:p>
            <a:pPr algn="l">
              <a:buNone/>
              <a:defRPr sz="825" b="0">
                <a:solidFill>
                  <a:srgbClr val="2D3F4B"/>
                </a:solidFill>
                <a:latin typeface="Arial"/>
                <a:ea typeface="Arial"/>
                <a:cs typeface="Arial"/>
              </a:defRPr>
            </a:pPr>
            <a:r>
              <a:rPr sz="825" b="0">
                <a:solidFill>
                  <a:srgbClr val="2D3F4B"/>
                </a:solidFill>
                <a:latin typeface="Arial"/>
                <a:ea typeface="Arial"/>
                <a:cs typeface="Arial"/>
              </a:rPr>
              <a:t>15</a:t>
            </a:r>
          </a:p>
        </p:txBody>
      </p:sp>
      <p:sp>
        <p:nvSpPr>
          <p:cNvPr id="21" name="date">
            <a:extLst>
              <a:ext uri="{FF2B5EF4-FFF2-40B4-BE49-F238E27FC236}">
                <a16:creationId xmlns:a16="http://schemas.microsoft.com/office/drawing/2014/main" id="{B5BD695A-B8E6-41C4-B3C6-82F5FB48DFC9}"/>
              </a:ext>
            </a:extLst>
          </p:cNvPr>
          <p:cNvSpPr>
            <a:spLocks noGrp="1"/>
          </p:cNvSpPr>
          <p:nvPr/>
        </p:nvSpPr>
        <p:spPr>
          <a:xfrm>
            <a:off x="933450" y="6353175"/>
            <a:ext cx="857250" cy="209550"/>
          </a:xfrm>
          <a:prstGeom prst="rect">
            <a:avLst/>
          </a:prstGeom>
          <a:noFill/>
          <a:ln w="0">
            <a:noFill/>
            <a:prstDash val="solid"/>
          </a:ln>
        </p:spPr>
        <p:txBody>
          <a:bodyPr anchor="t"/>
          <a:lstStyle/>
          <a:p>
            <a:pPr algn="l">
              <a:buNone/>
              <a:defRPr sz="825" b="0">
                <a:solidFill>
                  <a:srgbClr val="2D3F4B"/>
                </a:solidFill>
                <a:latin typeface="Arial"/>
                <a:ea typeface="Arial"/>
                <a:cs typeface="Arial"/>
              </a:defRPr>
            </a:pPr>
            <a:r>
              <a:rPr sz="825" b="0">
                <a:solidFill>
                  <a:srgbClr val="2D3F4B"/>
                </a:solidFill>
                <a:latin typeface="Arial"/>
                <a:ea typeface="Arial"/>
                <a:cs typeface="Arial"/>
              </a:rPr>
              <a:t>04.08.2026</a:t>
            </a:r>
          </a:p>
        </p:txBody>
      </p:sp>
      <p:sp>
        <p:nvSpPr>
          <p:cNvPr id="22" name="query-label">
            <a:extLst>
              <a:ext uri="{FF2B5EF4-FFF2-40B4-BE49-F238E27FC236}">
                <a16:creationId xmlns:a16="http://schemas.microsoft.com/office/drawing/2014/main" id="{4AFCFE1B-4097-4CCE-A39F-BF4C47DB3070}"/>
              </a:ext>
            </a:extLst>
          </p:cNvPr>
          <p:cNvSpPr>
            <a:spLocks noGrp="1"/>
          </p:cNvSpPr>
          <p:nvPr/>
        </p:nvSpPr>
        <p:spPr>
          <a:xfrm>
            <a:off x="714375" y="2000250"/>
            <a:ext cx="1428750" cy="266700"/>
          </a:xfrm>
          <a:prstGeom prst="rect">
            <a:avLst/>
          </a:prstGeom>
          <a:noFill/>
          <a:ln w="0">
            <a:noFill/>
            <a:prstDash val="solid"/>
          </a:ln>
        </p:spPr>
        <p:txBody>
          <a:bodyPr anchor="t"/>
          <a:lstStyle/>
          <a:p>
            <a:pPr algn="l">
              <a:buNone/>
              <a:defRPr sz="1200" b="1">
                <a:solidFill>
                  <a:srgbClr val="C60C30"/>
                </a:solidFill>
                <a:latin typeface="Arial"/>
                <a:ea typeface="Arial"/>
                <a:cs typeface="Arial"/>
              </a:defRPr>
            </a:pPr>
            <a:r>
              <a:rPr sz="1200" b="1">
                <a:solidFill>
                  <a:srgbClr val="C60C30"/>
                </a:solidFill>
                <a:latin typeface="Arial"/>
                <a:ea typeface="Arial"/>
                <a:cs typeface="Arial"/>
              </a:rPr>
              <a:t>FRAGE</a:t>
            </a:r>
          </a:p>
        </p:txBody>
      </p:sp>
      <p:sp>
        <p:nvSpPr>
          <p:cNvPr id="23" name="query">
            <a:extLst>
              <a:ext uri="{FF2B5EF4-FFF2-40B4-BE49-F238E27FC236}">
                <a16:creationId xmlns:a16="http://schemas.microsoft.com/office/drawing/2014/main" id="{AE50C16A-ECFF-44E7-BB0B-AB5DB1516240}"/>
              </a:ext>
            </a:extLst>
          </p:cNvPr>
          <p:cNvSpPr>
            <a:spLocks noGrp="1"/>
          </p:cNvSpPr>
          <p:nvPr/>
        </p:nvSpPr>
        <p:spPr>
          <a:xfrm>
            <a:off x="666750" y="2286000"/>
            <a:ext cx="2238375" cy="781050"/>
          </a:xfrm>
          <a:prstGeom prst="roundRect">
            <a:avLst>
              <a:gd name="adj" fmla="val 19512"/>
            </a:avLst>
          </a:prstGeom>
          <a:solidFill>
            <a:srgbClr val="2D3F4B"/>
          </a:solidFill>
          <a:ln w="0">
            <a:solidFill>
              <a:srgbClr val="2D3F4B"/>
            </a:solidFill>
            <a:prstDash val="solid"/>
          </a:ln>
        </p:spPr>
        <p:txBody>
          <a:bodyPr/>
          <a:lstStyle/>
          <a:p>
            <a:endParaRPr/>
          </a:p>
        </p:txBody>
      </p:sp>
      <p:sp>
        <p:nvSpPr>
          <p:cNvPr id="24" name="query-text">
            <a:extLst>
              <a:ext uri="{FF2B5EF4-FFF2-40B4-BE49-F238E27FC236}">
                <a16:creationId xmlns:a16="http://schemas.microsoft.com/office/drawing/2014/main" id="{9908C4F4-A34D-4F5F-8602-19FC9D835456}"/>
              </a:ext>
            </a:extLst>
          </p:cNvPr>
          <p:cNvSpPr>
            <a:spLocks noGrp="1"/>
          </p:cNvSpPr>
          <p:nvPr/>
        </p:nvSpPr>
        <p:spPr>
          <a:xfrm>
            <a:off x="857250" y="2438400"/>
            <a:ext cx="1857375" cy="495300"/>
          </a:xfrm>
          <a:prstGeom prst="rect">
            <a:avLst/>
          </a:prstGeom>
          <a:noFill/>
          <a:ln w="0">
            <a:noFill/>
            <a:prstDash val="solid"/>
          </a:ln>
        </p:spPr>
        <p:txBody>
          <a:bodyPr anchor="t"/>
          <a:lstStyle/>
          <a:p>
            <a:pPr algn="ctr">
              <a:buNone/>
              <a:defRPr sz="1575" b="1">
                <a:solidFill>
                  <a:srgbClr val="FFFFFF"/>
                </a:solidFill>
                <a:latin typeface="Arial"/>
                <a:ea typeface="Arial"/>
                <a:cs typeface="Arial"/>
              </a:defRPr>
            </a:pPr>
            <a:r>
              <a:rPr sz="1575" b="1">
                <a:solidFill>
                  <a:srgbClr val="FFFFFF"/>
                </a:solidFill>
                <a:latin typeface="Arial"/>
                <a:ea typeface="Arial"/>
                <a:cs typeface="Arial"/>
              </a:rPr>
              <a:t>Wie lange dauert</a:t>
            </a:r>
          </a:p>
          <a:p>
            <a:pPr algn="ctr">
              <a:buNone/>
              <a:defRPr sz="1575" b="1">
                <a:solidFill>
                  <a:srgbClr val="FFFFFF"/>
                </a:solidFill>
                <a:latin typeface="Arial"/>
                <a:ea typeface="Arial"/>
                <a:cs typeface="Arial"/>
              </a:defRPr>
            </a:pPr>
            <a:r>
              <a:rPr sz="1575" b="1">
                <a:solidFill>
                  <a:srgbClr val="FFFFFF"/>
                </a:solidFill>
                <a:latin typeface="Arial"/>
                <a:ea typeface="Arial"/>
                <a:cs typeface="Arial"/>
              </a:rPr>
              <a:t>die Probezeit?</a:t>
            </a:r>
          </a:p>
        </p:txBody>
      </p:sp>
      <p:sp>
        <p:nvSpPr>
          <p:cNvPr id="25" name="q-to-vector">
            <a:extLst>
              <a:ext uri="{FF2B5EF4-FFF2-40B4-BE49-F238E27FC236}">
                <a16:creationId xmlns:a16="http://schemas.microsoft.com/office/drawing/2014/main" id="{A8585295-75E2-46EA-AC32-126696555F4B}"/>
              </a:ext>
            </a:extLst>
          </p:cNvPr>
          <p:cNvSpPr>
            <a:spLocks noGrp="1"/>
          </p:cNvSpPr>
          <p:nvPr/>
        </p:nvSpPr>
        <p:spPr>
          <a:xfrm>
            <a:off x="2905125" y="2676525"/>
            <a:ext cx="904875" cy="0"/>
          </a:xfrm>
          <a:prstGeom prst="line">
            <a:avLst/>
          </a:prstGeom>
          <a:ln w="23813">
            <a:solidFill>
              <a:srgbClr val="2D3F4B"/>
            </a:solidFill>
            <a:prstDash val="solid"/>
          </a:ln>
        </p:spPr>
        <p:txBody>
          <a:bodyPr/>
          <a:lstStyle/>
          <a:p>
            <a:endParaRPr/>
          </a:p>
        </p:txBody>
      </p:sp>
      <p:sp>
        <p:nvSpPr>
          <p:cNvPr id="26" name="vector-label">
            <a:extLst>
              <a:ext uri="{FF2B5EF4-FFF2-40B4-BE49-F238E27FC236}">
                <a16:creationId xmlns:a16="http://schemas.microsoft.com/office/drawing/2014/main" id="{833F2030-CFCF-4AA3-B1A1-95AB15245F12}"/>
              </a:ext>
            </a:extLst>
          </p:cNvPr>
          <p:cNvSpPr>
            <a:spLocks noGrp="1"/>
          </p:cNvSpPr>
          <p:nvPr/>
        </p:nvSpPr>
        <p:spPr>
          <a:xfrm>
            <a:off x="3905250" y="2000250"/>
            <a:ext cx="2286000" cy="266700"/>
          </a:xfrm>
          <a:prstGeom prst="rect">
            <a:avLst/>
          </a:prstGeom>
          <a:noFill/>
          <a:ln w="0">
            <a:noFill/>
            <a:prstDash val="solid"/>
          </a:ln>
        </p:spPr>
        <p:txBody>
          <a:bodyPr anchor="t"/>
          <a:lstStyle/>
          <a:p>
            <a:pPr algn="l">
              <a:buNone/>
              <a:defRPr sz="1200" b="1">
                <a:solidFill>
                  <a:srgbClr val="C60C30"/>
                </a:solidFill>
                <a:latin typeface="Arial"/>
                <a:ea typeface="Arial"/>
                <a:cs typeface="Arial"/>
              </a:defRPr>
            </a:pPr>
            <a:r>
              <a:rPr sz="1200" b="1">
                <a:solidFill>
                  <a:srgbClr val="C60C30"/>
                </a:solidFill>
                <a:latin typeface="Arial"/>
                <a:ea typeface="Arial"/>
                <a:cs typeface="Arial"/>
              </a:rPr>
              <a:t>VECTOR TOP-10</a:t>
            </a:r>
          </a:p>
        </p:txBody>
      </p:sp>
      <p:sp>
        <p:nvSpPr>
          <p:cNvPr id="27" name="vector-row-0">
            <a:extLst>
              <a:ext uri="{FF2B5EF4-FFF2-40B4-BE49-F238E27FC236}">
                <a16:creationId xmlns:a16="http://schemas.microsoft.com/office/drawing/2014/main" id="{75716B28-0E31-46C2-A3C5-56EECC949C2B}"/>
              </a:ext>
            </a:extLst>
          </p:cNvPr>
          <p:cNvSpPr>
            <a:spLocks noGrp="1"/>
          </p:cNvSpPr>
          <p:nvPr/>
        </p:nvSpPr>
        <p:spPr>
          <a:xfrm>
            <a:off x="3810000" y="2305050"/>
            <a:ext cx="2619375" cy="409575"/>
          </a:xfrm>
          <a:prstGeom prst="roundRect">
            <a:avLst>
              <a:gd name="adj" fmla="val 20930"/>
            </a:avLst>
          </a:prstGeom>
          <a:solidFill>
            <a:srgbClr val="EAE8E5"/>
          </a:solidFill>
          <a:ln w="11430">
            <a:solidFill>
              <a:srgbClr val="C3BBB2"/>
            </a:solidFill>
            <a:prstDash val="solid"/>
          </a:ln>
        </p:spPr>
        <p:txBody>
          <a:bodyPr/>
          <a:lstStyle/>
          <a:p>
            <a:endParaRPr/>
          </a:p>
        </p:txBody>
      </p:sp>
      <p:sp>
        <p:nvSpPr>
          <p:cNvPr id="28" name="vector-rank-0">
            <a:extLst>
              <a:ext uri="{FF2B5EF4-FFF2-40B4-BE49-F238E27FC236}">
                <a16:creationId xmlns:a16="http://schemas.microsoft.com/office/drawing/2014/main" id="{654918F6-C139-4EB0-AC59-BC162E669011}"/>
              </a:ext>
            </a:extLst>
          </p:cNvPr>
          <p:cNvSpPr>
            <a:spLocks noGrp="1"/>
          </p:cNvSpPr>
          <p:nvPr/>
        </p:nvSpPr>
        <p:spPr>
          <a:xfrm>
            <a:off x="3924300" y="2381250"/>
            <a:ext cx="285750" cy="247650"/>
          </a:xfrm>
          <a:prstGeom prst="rect">
            <a:avLst/>
          </a:prstGeom>
          <a:noFill/>
          <a:ln w="0">
            <a:noFill/>
            <a:prstDash val="solid"/>
          </a:ln>
        </p:spPr>
        <p:txBody>
          <a:bodyPr anchor="t"/>
          <a:lstStyle/>
          <a:p>
            <a:pPr algn="ctr">
              <a:buNone/>
              <a:defRPr sz="1275" b="1">
                <a:solidFill>
                  <a:srgbClr val="C60C30"/>
                </a:solidFill>
                <a:latin typeface="Arial"/>
                <a:ea typeface="Arial"/>
                <a:cs typeface="Arial"/>
              </a:defRPr>
            </a:pPr>
            <a:r>
              <a:rPr sz="1275" b="1">
                <a:solidFill>
                  <a:srgbClr val="C60C30"/>
                </a:solidFill>
                <a:latin typeface="Arial"/>
                <a:ea typeface="Arial"/>
                <a:cs typeface="Arial"/>
              </a:rPr>
              <a:t>1</a:t>
            </a:r>
          </a:p>
        </p:txBody>
      </p:sp>
      <p:sp>
        <p:nvSpPr>
          <p:cNvPr id="29" name="vector-name-0">
            <a:extLst>
              <a:ext uri="{FF2B5EF4-FFF2-40B4-BE49-F238E27FC236}">
                <a16:creationId xmlns:a16="http://schemas.microsoft.com/office/drawing/2014/main" id="{F3196F71-6F62-4598-AA72-8D5CA3E92A3C}"/>
              </a:ext>
            </a:extLst>
          </p:cNvPr>
          <p:cNvSpPr>
            <a:spLocks noGrp="1"/>
          </p:cNvSpPr>
          <p:nvPr/>
        </p:nvSpPr>
        <p:spPr>
          <a:xfrm>
            <a:off x="4267200" y="2381250"/>
            <a:ext cx="1476375" cy="247650"/>
          </a:xfrm>
          <a:prstGeom prst="rect">
            <a:avLst/>
          </a:prstGeom>
          <a:noFill/>
          <a:ln w="0">
            <a:noFill/>
            <a:prstDash val="solid"/>
          </a:ln>
        </p:spPr>
        <p:txBody>
          <a:bodyPr anchor="t"/>
          <a:lstStyle/>
          <a:p>
            <a:pPr algn="l">
              <a:buNone/>
              <a:defRPr sz="1275" b="0">
                <a:solidFill>
                  <a:srgbClr val="2D3F4B"/>
                </a:solidFill>
                <a:latin typeface="Arial"/>
                <a:ea typeface="Arial"/>
                <a:cs typeface="Arial"/>
              </a:defRPr>
            </a:pPr>
            <a:r>
              <a:rPr sz="1275" b="0">
                <a:solidFill>
                  <a:srgbClr val="2D3F4B"/>
                </a:solidFill>
                <a:latin typeface="Arial"/>
                <a:ea typeface="Arial"/>
                <a:cs typeface="Arial"/>
              </a:rPr>
              <a:t>Kündigungsfrist</a:t>
            </a:r>
          </a:p>
        </p:txBody>
      </p:sp>
      <p:sp>
        <p:nvSpPr>
          <p:cNvPr id="30" name="vector-score-0">
            <a:extLst>
              <a:ext uri="{FF2B5EF4-FFF2-40B4-BE49-F238E27FC236}">
                <a16:creationId xmlns:a16="http://schemas.microsoft.com/office/drawing/2014/main" id="{F3A744E8-F2AE-463C-86F7-923304CFAC8C}"/>
              </a:ext>
            </a:extLst>
          </p:cNvPr>
          <p:cNvSpPr>
            <a:spLocks noGrp="1"/>
          </p:cNvSpPr>
          <p:nvPr/>
        </p:nvSpPr>
        <p:spPr>
          <a:xfrm>
            <a:off x="5743575" y="2381250"/>
            <a:ext cx="552450" cy="247650"/>
          </a:xfrm>
          <a:prstGeom prst="rect">
            <a:avLst/>
          </a:prstGeom>
          <a:noFill/>
          <a:ln w="0">
            <a:noFill/>
            <a:prstDash val="solid"/>
          </a:ln>
        </p:spPr>
        <p:txBody>
          <a:bodyPr anchor="t"/>
          <a:lstStyle/>
          <a:p>
            <a:pPr algn="r">
              <a:buNone/>
              <a:defRPr sz="975" b="0">
                <a:solidFill>
                  <a:srgbClr val="81725E"/>
                </a:solidFill>
                <a:latin typeface="Arial"/>
                <a:ea typeface="Arial"/>
                <a:cs typeface="Arial"/>
              </a:defRPr>
            </a:pPr>
            <a:r>
              <a:rPr sz="975" b="0">
                <a:solidFill>
                  <a:srgbClr val="81725E"/>
                </a:solidFill>
                <a:latin typeface="Arial"/>
                <a:ea typeface="Arial"/>
                <a:cs typeface="Arial"/>
              </a:rPr>
              <a:t>0.84</a:t>
            </a:r>
          </a:p>
        </p:txBody>
      </p:sp>
      <p:sp>
        <p:nvSpPr>
          <p:cNvPr id="31" name="vector-row-1">
            <a:extLst>
              <a:ext uri="{FF2B5EF4-FFF2-40B4-BE49-F238E27FC236}">
                <a16:creationId xmlns:a16="http://schemas.microsoft.com/office/drawing/2014/main" id="{F450F738-BD5A-48AD-9A41-9FF11D6A9169}"/>
              </a:ext>
            </a:extLst>
          </p:cNvPr>
          <p:cNvSpPr>
            <a:spLocks noGrp="1"/>
          </p:cNvSpPr>
          <p:nvPr/>
        </p:nvSpPr>
        <p:spPr>
          <a:xfrm>
            <a:off x="3810000" y="2809875"/>
            <a:ext cx="2619375" cy="409575"/>
          </a:xfrm>
          <a:prstGeom prst="roundRect">
            <a:avLst>
              <a:gd name="adj" fmla="val 20930"/>
            </a:avLst>
          </a:prstGeom>
          <a:solidFill>
            <a:srgbClr val="F7E5E9"/>
          </a:solidFill>
          <a:ln w="11430">
            <a:solidFill>
              <a:srgbClr val="C3BBB2"/>
            </a:solidFill>
            <a:prstDash val="solid"/>
          </a:ln>
        </p:spPr>
        <p:txBody>
          <a:bodyPr/>
          <a:lstStyle/>
          <a:p>
            <a:endParaRPr/>
          </a:p>
        </p:txBody>
      </p:sp>
      <p:sp>
        <p:nvSpPr>
          <p:cNvPr id="32" name="vector-rank-1">
            <a:extLst>
              <a:ext uri="{FF2B5EF4-FFF2-40B4-BE49-F238E27FC236}">
                <a16:creationId xmlns:a16="http://schemas.microsoft.com/office/drawing/2014/main" id="{405DD948-7785-4115-96DB-DCC22FFBE9BE}"/>
              </a:ext>
            </a:extLst>
          </p:cNvPr>
          <p:cNvSpPr>
            <a:spLocks noGrp="1"/>
          </p:cNvSpPr>
          <p:nvPr/>
        </p:nvSpPr>
        <p:spPr>
          <a:xfrm>
            <a:off x="3924300" y="2886075"/>
            <a:ext cx="285750" cy="247650"/>
          </a:xfrm>
          <a:prstGeom prst="rect">
            <a:avLst/>
          </a:prstGeom>
          <a:noFill/>
          <a:ln w="0">
            <a:noFill/>
            <a:prstDash val="solid"/>
          </a:ln>
        </p:spPr>
        <p:txBody>
          <a:bodyPr anchor="t"/>
          <a:lstStyle/>
          <a:p>
            <a:pPr algn="ctr">
              <a:buNone/>
              <a:defRPr sz="1275" b="1">
                <a:solidFill>
                  <a:srgbClr val="C60C30"/>
                </a:solidFill>
                <a:latin typeface="Arial"/>
                <a:ea typeface="Arial"/>
                <a:cs typeface="Arial"/>
              </a:defRPr>
            </a:pPr>
            <a:r>
              <a:rPr sz="1275" b="1">
                <a:solidFill>
                  <a:srgbClr val="C60C30"/>
                </a:solidFill>
                <a:latin typeface="Arial"/>
                <a:ea typeface="Arial"/>
                <a:cs typeface="Arial"/>
              </a:rPr>
              <a:t>2</a:t>
            </a:r>
          </a:p>
        </p:txBody>
      </p:sp>
      <p:sp>
        <p:nvSpPr>
          <p:cNvPr id="33" name="vector-name-1">
            <a:extLst>
              <a:ext uri="{FF2B5EF4-FFF2-40B4-BE49-F238E27FC236}">
                <a16:creationId xmlns:a16="http://schemas.microsoft.com/office/drawing/2014/main" id="{9DE8906E-4A07-4260-A284-5DB16CA3FBF6}"/>
              </a:ext>
            </a:extLst>
          </p:cNvPr>
          <p:cNvSpPr>
            <a:spLocks noGrp="1"/>
          </p:cNvSpPr>
          <p:nvPr/>
        </p:nvSpPr>
        <p:spPr>
          <a:xfrm>
            <a:off x="4267200" y="2886075"/>
            <a:ext cx="1476375" cy="247650"/>
          </a:xfrm>
          <a:prstGeom prst="rect">
            <a:avLst/>
          </a:prstGeom>
          <a:noFill/>
          <a:ln w="0">
            <a:noFill/>
            <a:prstDash val="solid"/>
          </a:ln>
        </p:spPr>
        <p:txBody>
          <a:bodyPr anchor="t"/>
          <a:lstStyle/>
          <a:p>
            <a:pPr algn="l">
              <a:buNone/>
              <a:defRPr sz="1275" b="0">
                <a:solidFill>
                  <a:srgbClr val="2D3F4B"/>
                </a:solidFill>
                <a:latin typeface="Arial"/>
                <a:ea typeface="Arial"/>
                <a:cs typeface="Arial"/>
              </a:defRPr>
            </a:pPr>
            <a:r>
              <a:rPr sz="1275" b="0">
                <a:solidFill>
                  <a:srgbClr val="2D3F4B"/>
                </a:solidFill>
                <a:latin typeface="Arial"/>
                <a:ea typeface="Arial"/>
                <a:cs typeface="Arial"/>
              </a:rPr>
              <a:t>Art. 335b</a:t>
            </a:r>
          </a:p>
        </p:txBody>
      </p:sp>
      <p:sp>
        <p:nvSpPr>
          <p:cNvPr id="34" name="vector-score-1">
            <a:extLst>
              <a:ext uri="{FF2B5EF4-FFF2-40B4-BE49-F238E27FC236}">
                <a16:creationId xmlns:a16="http://schemas.microsoft.com/office/drawing/2014/main" id="{F4638CD7-6C1D-455B-B790-F22EB2EA7D61}"/>
              </a:ext>
            </a:extLst>
          </p:cNvPr>
          <p:cNvSpPr>
            <a:spLocks noGrp="1"/>
          </p:cNvSpPr>
          <p:nvPr/>
        </p:nvSpPr>
        <p:spPr>
          <a:xfrm>
            <a:off x="5743575" y="2886075"/>
            <a:ext cx="552450" cy="247650"/>
          </a:xfrm>
          <a:prstGeom prst="rect">
            <a:avLst/>
          </a:prstGeom>
          <a:noFill/>
          <a:ln w="0">
            <a:noFill/>
            <a:prstDash val="solid"/>
          </a:ln>
        </p:spPr>
        <p:txBody>
          <a:bodyPr anchor="t"/>
          <a:lstStyle/>
          <a:p>
            <a:pPr algn="r">
              <a:buNone/>
              <a:defRPr sz="975" b="0">
                <a:solidFill>
                  <a:srgbClr val="81725E"/>
                </a:solidFill>
                <a:latin typeface="Arial"/>
                <a:ea typeface="Arial"/>
                <a:cs typeface="Arial"/>
              </a:defRPr>
            </a:pPr>
            <a:r>
              <a:rPr sz="975" b="0">
                <a:solidFill>
                  <a:srgbClr val="81725E"/>
                </a:solidFill>
                <a:latin typeface="Arial"/>
                <a:ea typeface="Arial"/>
                <a:cs typeface="Arial"/>
              </a:rPr>
              <a:t>0.81</a:t>
            </a:r>
          </a:p>
        </p:txBody>
      </p:sp>
      <p:sp>
        <p:nvSpPr>
          <p:cNvPr id="35" name="vector-row-2">
            <a:extLst>
              <a:ext uri="{FF2B5EF4-FFF2-40B4-BE49-F238E27FC236}">
                <a16:creationId xmlns:a16="http://schemas.microsoft.com/office/drawing/2014/main" id="{A0FCE584-190B-47B3-8C38-C35AD8DA58CA}"/>
              </a:ext>
            </a:extLst>
          </p:cNvPr>
          <p:cNvSpPr>
            <a:spLocks noGrp="1"/>
          </p:cNvSpPr>
          <p:nvPr/>
        </p:nvSpPr>
        <p:spPr>
          <a:xfrm>
            <a:off x="3810000" y="3314700"/>
            <a:ext cx="2619375" cy="409575"/>
          </a:xfrm>
          <a:prstGeom prst="roundRect">
            <a:avLst>
              <a:gd name="adj" fmla="val 20930"/>
            </a:avLst>
          </a:prstGeom>
          <a:solidFill>
            <a:srgbClr val="EAE8E5"/>
          </a:solidFill>
          <a:ln w="11430">
            <a:solidFill>
              <a:srgbClr val="C3BBB2"/>
            </a:solidFill>
            <a:prstDash val="solid"/>
          </a:ln>
        </p:spPr>
        <p:txBody>
          <a:bodyPr/>
          <a:lstStyle/>
          <a:p>
            <a:endParaRPr/>
          </a:p>
        </p:txBody>
      </p:sp>
      <p:sp>
        <p:nvSpPr>
          <p:cNvPr id="36" name="vector-rank-2">
            <a:extLst>
              <a:ext uri="{FF2B5EF4-FFF2-40B4-BE49-F238E27FC236}">
                <a16:creationId xmlns:a16="http://schemas.microsoft.com/office/drawing/2014/main" id="{C7C56342-9020-4C47-9143-770E86CB0F73}"/>
              </a:ext>
            </a:extLst>
          </p:cNvPr>
          <p:cNvSpPr>
            <a:spLocks noGrp="1"/>
          </p:cNvSpPr>
          <p:nvPr/>
        </p:nvSpPr>
        <p:spPr>
          <a:xfrm>
            <a:off x="3924300" y="3390900"/>
            <a:ext cx="285750" cy="247650"/>
          </a:xfrm>
          <a:prstGeom prst="rect">
            <a:avLst/>
          </a:prstGeom>
          <a:noFill/>
          <a:ln w="0">
            <a:noFill/>
            <a:prstDash val="solid"/>
          </a:ln>
        </p:spPr>
        <p:txBody>
          <a:bodyPr anchor="t"/>
          <a:lstStyle/>
          <a:p>
            <a:pPr algn="ctr">
              <a:buNone/>
              <a:defRPr sz="1275" b="1">
                <a:solidFill>
                  <a:srgbClr val="C60C30"/>
                </a:solidFill>
                <a:latin typeface="Arial"/>
                <a:ea typeface="Arial"/>
                <a:cs typeface="Arial"/>
              </a:defRPr>
            </a:pPr>
            <a:r>
              <a:rPr sz="1275" b="1">
                <a:solidFill>
                  <a:srgbClr val="C60C30"/>
                </a:solidFill>
                <a:latin typeface="Arial"/>
                <a:ea typeface="Arial"/>
                <a:cs typeface="Arial"/>
              </a:rPr>
              <a:t>3</a:t>
            </a:r>
          </a:p>
        </p:txBody>
      </p:sp>
      <p:sp>
        <p:nvSpPr>
          <p:cNvPr id="37" name="vector-name-2">
            <a:extLst>
              <a:ext uri="{FF2B5EF4-FFF2-40B4-BE49-F238E27FC236}">
                <a16:creationId xmlns:a16="http://schemas.microsoft.com/office/drawing/2014/main" id="{60E08D03-97CE-4C4C-970D-0FC691C98872}"/>
              </a:ext>
            </a:extLst>
          </p:cNvPr>
          <p:cNvSpPr>
            <a:spLocks noGrp="1"/>
          </p:cNvSpPr>
          <p:nvPr/>
        </p:nvSpPr>
        <p:spPr>
          <a:xfrm>
            <a:off x="4267200" y="3390900"/>
            <a:ext cx="1476375" cy="247650"/>
          </a:xfrm>
          <a:prstGeom prst="rect">
            <a:avLst/>
          </a:prstGeom>
          <a:noFill/>
          <a:ln w="0">
            <a:noFill/>
            <a:prstDash val="solid"/>
          </a:ln>
        </p:spPr>
        <p:txBody>
          <a:bodyPr anchor="t"/>
          <a:lstStyle/>
          <a:p>
            <a:pPr algn="l">
              <a:buNone/>
              <a:defRPr sz="1275" b="0">
                <a:solidFill>
                  <a:srgbClr val="2D3F4B"/>
                </a:solidFill>
                <a:latin typeface="Arial"/>
                <a:ea typeface="Arial"/>
                <a:cs typeface="Arial"/>
              </a:defRPr>
            </a:pPr>
            <a:r>
              <a:rPr sz="1275" b="0">
                <a:solidFill>
                  <a:srgbClr val="2D3F4B"/>
                </a:solidFill>
                <a:latin typeface="Arial"/>
                <a:ea typeface="Arial"/>
                <a:cs typeface="Arial"/>
              </a:rPr>
              <a:t>Lehrvertrag</a:t>
            </a:r>
          </a:p>
        </p:txBody>
      </p:sp>
      <p:sp>
        <p:nvSpPr>
          <p:cNvPr id="38" name="vector-score-2">
            <a:extLst>
              <a:ext uri="{FF2B5EF4-FFF2-40B4-BE49-F238E27FC236}">
                <a16:creationId xmlns:a16="http://schemas.microsoft.com/office/drawing/2014/main" id="{159FC6BC-E198-49F2-8A3B-807B9FC1403E}"/>
              </a:ext>
            </a:extLst>
          </p:cNvPr>
          <p:cNvSpPr>
            <a:spLocks noGrp="1"/>
          </p:cNvSpPr>
          <p:nvPr/>
        </p:nvSpPr>
        <p:spPr>
          <a:xfrm>
            <a:off x="5743575" y="3390900"/>
            <a:ext cx="552450" cy="247650"/>
          </a:xfrm>
          <a:prstGeom prst="rect">
            <a:avLst/>
          </a:prstGeom>
          <a:noFill/>
          <a:ln w="0">
            <a:noFill/>
            <a:prstDash val="solid"/>
          </a:ln>
        </p:spPr>
        <p:txBody>
          <a:bodyPr anchor="t"/>
          <a:lstStyle/>
          <a:p>
            <a:pPr algn="r">
              <a:buNone/>
              <a:defRPr sz="975" b="0">
                <a:solidFill>
                  <a:srgbClr val="81725E"/>
                </a:solidFill>
                <a:latin typeface="Arial"/>
                <a:ea typeface="Arial"/>
                <a:cs typeface="Arial"/>
              </a:defRPr>
            </a:pPr>
            <a:r>
              <a:rPr sz="975" b="0">
                <a:solidFill>
                  <a:srgbClr val="81725E"/>
                </a:solidFill>
                <a:latin typeface="Arial"/>
                <a:ea typeface="Arial"/>
                <a:cs typeface="Arial"/>
              </a:rPr>
              <a:t>0.79</a:t>
            </a:r>
          </a:p>
        </p:txBody>
      </p:sp>
      <p:sp>
        <p:nvSpPr>
          <p:cNvPr id="39" name="vector-row-3">
            <a:extLst>
              <a:ext uri="{FF2B5EF4-FFF2-40B4-BE49-F238E27FC236}">
                <a16:creationId xmlns:a16="http://schemas.microsoft.com/office/drawing/2014/main" id="{A778CD48-FBE7-45F1-B1D9-E5C11B2F386B}"/>
              </a:ext>
            </a:extLst>
          </p:cNvPr>
          <p:cNvSpPr>
            <a:spLocks noGrp="1"/>
          </p:cNvSpPr>
          <p:nvPr/>
        </p:nvSpPr>
        <p:spPr>
          <a:xfrm>
            <a:off x="3810000" y="3819525"/>
            <a:ext cx="2619375" cy="409575"/>
          </a:xfrm>
          <a:prstGeom prst="roundRect">
            <a:avLst>
              <a:gd name="adj" fmla="val 20930"/>
            </a:avLst>
          </a:prstGeom>
          <a:solidFill>
            <a:srgbClr val="EAE8E5"/>
          </a:solidFill>
          <a:ln w="11430">
            <a:solidFill>
              <a:srgbClr val="C3BBB2"/>
            </a:solidFill>
            <a:prstDash val="solid"/>
          </a:ln>
        </p:spPr>
        <p:txBody>
          <a:bodyPr/>
          <a:lstStyle/>
          <a:p>
            <a:endParaRPr/>
          </a:p>
        </p:txBody>
      </p:sp>
      <p:sp>
        <p:nvSpPr>
          <p:cNvPr id="40" name="vector-rank-3">
            <a:extLst>
              <a:ext uri="{FF2B5EF4-FFF2-40B4-BE49-F238E27FC236}">
                <a16:creationId xmlns:a16="http://schemas.microsoft.com/office/drawing/2014/main" id="{9C594733-8778-4900-9A18-283E4C7EEFAF}"/>
              </a:ext>
            </a:extLst>
          </p:cNvPr>
          <p:cNvSpPr>
            <a:spLocks noGrp="1"/>
          </p:cNvSpPr>
          <p:nvPr/>
        </p:nvSpPr>
        <p:spPr>
          <a:xfrm>
            <a:off x="3924300" y="3895725"/>
            <a:ext cx="285750" cy="247650"/>
          </a:xfrm>
          <a:prstGeom prst="rect">
            <a:avLst/>
          </a:prstGeom>
          <a:noFill/>
          <a:ln w="0">
            <a:noFill/>
            <a:prstDash val="solid"/>
          </a:ln>
        </p:spPr>
        <p:txBody>
          <a:bodyPr anchor="t"/>
          <a:lstStyle/>
          <a:p>
            <a:pPr algn="ctr">
              <a:buNone/>
              <a:defRPr sz="1275" b="1">
                <a:solidFill>
                  <a:srgbClr val="C60C30"/>
                </a:solidFill>
                <a:latin typeface="Arial"/>
                <a:ea typeface="Arial"/>
                <a:cs typeface="Arial"/>
              </a:defRPr>
            </a:pPr>
            <a:r>
              <a:rPr sz="1275" b="1">
                <a:solidFill>
                  <a:srgbClr val="C60C30"/>
                </a:solidFill>
                <a:latin typeface="Arial"/>
                <a:ea typeface="Arial"/>
                <a:cs typeface="Arial"/>
              </a:rPr>
              <a:t>…</a:t>
            </a:r>
          </a:p>
        </p:txBody>
      </p:sp>
      <p:sp>
        <p:nvSpPr>
          <p:cNvPr id="41" name="vector-name-3">
            <a:extLst>
              <a:ext uri="{FF2B5EF4-FFF2-40B4-BE49-F238E27FC236}">
                <a16:creationId xmlns:a16="http://schemas.microsoft.com/office/drawing/2014/main" id="{E3C360D6-EA6A-4DE2-B03B-146AFD991054}"/>
              </a:ext>
            </a:extLst>
          </p:cNvPr>
          <p:cNvSpPr>
            <a:spLocks noGrp="1"/>
          </p:cNvSpPr>
          <p:nvPr/>
        </p:nvSpPr>
        <p:spPr>
          <a:xfrm>
            <a:off x="4267200" y="3895725"/>
            <a:ext cx="1476375" cy="247650"/>
          </a:xfrm>
          <a:prstGeom prst="rect">
            <a:avLst/>
          </a:prstGeom>
          <a:noFill/>
          <a:ln w="0">
            <a:noFill/>
            <a:prstDash val="solid"/>
          </a:ln>
        </p:spPr>
        <p:txBody>
          <a:bodyPr anchor="t"/>
          <a:lstStyle/>
          <a:p>
            <a:pPr algn="l">
              <a:buNone/>
              <a:defRPr sz="1275" b="0">
                <a:solidFill>
                  <a:srgbClr val="2D3F4B"/>
                </a:solidFill>
                <a:latin typeface="Arial"/>
                <a:ea typeface="Arial"/>
                <a:cs typeface="Arial"/>
              </a:defRPr>
            </a:pPr>
            <a:r>
              <a:rPr sz="1275" b="0">
                <a:solidFill>
                  <a:srgbClr val="2D3F4B"/>
                </a:solidFill>
                <a:latin typeface="Arial"/>
                <a:ea typeface="Arial"/>
                <a:cs typeface="Arial"/>
              </a:rPr>
              <a:t>weitere …</a:t>
            </a:r>
          </a:p>
        </p:txBody>
      </p:sp>
      <p:sp>
        <p:nvSpPr>
          <p:cNvPr id="42" name="vector-score-3">
            <a:extLst>
              <a:ext uri="{FF2B5EF4-FFF2-40B4-BE49-F238E27FC236}">
                <a16:creationId xmlns:a16="http://schemas.microsoft.com/office/drawing/2014/main" id="{EF44EE5C-685F-4580-B31D-49F249227434}"/>
              </a:ext>
            </a:extLst>
          </p:cNvPr>
          <p:cNvSpPr>
            <a:spLocks noGrp="1"/>
          </p:cNvSpPr>
          <p:nvPr/>
        </p:nvSpPr>
        <p:spPr>
          <a:xfrm>
            <a:off x="5743575" y="3895725"/>
            <a:ext cx="552450" cy="247650"/>
          </a:xfrm>
          <a:prstGeom prst="rect">
            <a:avLst/>
          </a:prstGeom>
          <a:noFill/>
          <a:ln w="0">
            <a:noFill/>
            <a:prstDash val="solid"/>
          </a:ln>
        </p:spPr>
        <p:txBody>
          <a:bodyPr anchor="t"/>
          <a:lstStyle/>
          <a:p>
            <a:endParaRPr/>
          </a:p>
        </p:txBody>
      </p:sp>
      <p:sp>
        <p:nvSpPr>
          <p:cNvPr id="43" name="vector-to-rerank">
            <a:extLst>
              <a:ext uri="{FF2B5EF4-FFF2-40B4-BE49-F238E27FC236}">
                <a16:creationId xmlns:a16="http://schemas.microsoft.com/office/drawing/2014/main" id="{8361C6C7-88AF-4C6F-9197-06086CD53D46}"/>
              </a:ext>
            </a:extLst>
          </p:cNvPr>
          <p:cNvSpPr>
            <a:spLocks noGrp="1"/>
          </p:cNvSpPr>
          <p:nvPr/>
        </p:nvSpPr>
        <p:spPr>
          <a:xfrm>
            <a:off x="6477000" y="3009900"/>
            <a:ext cx="762000" cy="0"/>
          </a:xfrm>
          <a:prstGeom prst="line">
            <a:avLst/>
          </a:prstGeom>
          <a:ln w="23813">
            <a:solidFill>
              <a:srgbClr val="43858A"/>
            </a:solidFill>
            <a:prstDash val="solid"/>
          </a:ln>
        </p:spPr>
        <p:txBody>
          <a:bodyPr/>
          <a:lstStyle/>
          <a:p>
            <a:endParaRPr/>
          </a:p>
        </p:txBody>
      </p:sp>
      <p:sp>
        <p:nvSpPr>
          <p:cNvPr id="44" name="cross-encoder">
            <a:extLst>
              <a:ext uri="{FF2B5EF4-FFF2-40B4-BE49-F238E27FC236}">
                <a16:creationId xmlns:a16="http://schemas.microsoft.com/office/drawing/2014/main" id="{5ACAE4B7-BBAD-44F8-9F1E-3C128F4A775F}"/>
              </a:ext>
            </a:extLst>
          </p:cNvPr>
          <p:cNvSpPr>
            <a:spLocks noGrp="1"/>
          </p:cNvSpPr>
          <p:nvPr/>
        </p:nvSpPr>
        <p:spPr>
          <a:xfrm>
            <a:off x="7239000" y="2628900"/>
            <a:ext cx="781050" cy="781050"/>
          </a:xfrm>
          <a:prstGeom prst="ellipse">
            <a:avLst/>
          </a:prstGeom>
          <a:solidFill>
            <a:srgbClr val="43858A"/>
          </a:solidFill>
          <a:ln w="23813">
            <a:solidFill>
              <a:srgbClr val="FFFFFF"/>
            </a:solidFill>
            <a:prstDash val="solid"/>
          </a:ln>
        </p:spPr>
        <p:txBody>
          <a:bodyPr anchor="ctr"/>
          <a:lstStyle/>
          <a:p>
            <a:pPr algn="ctr">
              <a:buNone/>
              <a:defRPr sz="2550" b="1">
                <a:solidFill>
                  <a:srgbClr val="FFFFFF"/>
                </a:solidFill>
                <a:latin typeface="Arial"/>
                <a:ea typeface="Arial"/>
                <a:cs typeface="Arial"/>
              </a:defRPr>
            </a:pPr>
            <a:r>
              <a:rPr sz="2550" b="1">
                <a:solidFill>
                  <a:srgbClr val="FFFFFF"/>
                </a:solidFill>
                <a:latin typeface="Arial"/>
                <a:ea typeface="Arial"/>
                <a:cs typeface="Arial"/>
              </a:rPr>
              <a:t>×</a:t>
            </a:r>
          </a:p>
        </p:txBody>
      </p:sp>
      <p:sp>
        <p:nvSpPr>
          <p:cNvPr id="45" name="cross-label">
            <a:extLst>
              <a:ext uri="{FF2B5EF4-FFF2-40B4-BE49-F238E27FC236}">
                <a16:creationId xmlns:a16="http://schemas.microsoft.com/office/drawing/2014/main" id="{7DBDADD9-B218-4FA9-8FE1-859807B1D72A}"/>
              </a:ext>
            </a:extLst>
          </p:cNvPr>
          <p:cNvSpPr>
            <a:spLocks noGrp="1"/>
          </p:cNvSpPr>
          <p:nvPr/>
        </p:nvSpPr>
        <p:spPr>
          <a:xfrm>
            <a:off x="6858000" y="3524250"/>
            <a:ext cx="1571625" cy="228600"/>
          </a:xfrm>
          <a:prstGeom prst="rect">
            <a:avLst/>
          </a:prstGeom>
          <a:noFill/>
          <a:ln w="0">
            <a:noFill/>
            <a:prstDash val="solid"/>
          </a:ln>
        </p:spPr>
        <p:txBody>
          <a:bodyPr anchor="t"/>
          <a:lstStyle/>
          <a:p>
            <a:pPr algn="ctr">
              <a:buNone/>
              <a:defRPr sz="1125" b="1">
                <a:solidFill>
                  <a:srgbClr val="43858A"/>
                </a:solidFill>
                <a:latin typeface="Arial"/>
                <a:ea typeface="Arial"/>
                <a:cs typeface="Arial"/>
              </a:defRPr>
            </a:pPr>
            <a:r>
              <a:rPr sz="1125" b="1">
                <a:solidFill>
                  <a:srgbClr val="43858A"/>
                </a:solidFill>
                <a:latin typeface="Arial"/>
                <a:ea typeface="Arial"/>
                <a:cs typeface="Arial"/>
              </a:rPr>
              <a:t>CROSS-ENCODER</a:t>
            </a:r>
          </a:p>
        </p:txBody>
      </p:sp>
      <p:sp>
        <p:nvSpPr>
          <p:cNvPr id="46" name="cross-copy">
            <a:extLst>
              <a:ext uri="{FF2B5EF4-FFF2-40B4-BE49-F238E27FC236}">
                <a16:creationId xmlns:a16="http://schemas.microsoft.com/office/drawing/2014/main" id="{4C53539D-4B9C-4E80-804A-FEC352100912}"/>
              </a:ext>
            </a:extLst>
          </p:cNvPr>
          <p:cNvSpPr>
            <a:spLocks noGrp="1"/>
          </p:cNvSpPr>
          <p:nvPr/>
        </p:nvSpPr>
        <p:spPr>
          <a:xfrm>
            <a:off x="6858000" y="3810000"/>
            <a:ext cx="1571625" cy="457200"/>
          </a:xfrm>
          <a:prstGeom prst="rect">
            <a:avLst/>
          </a:prstGeom>
          <a:noFill/>
          <a:ln w="0">
            <a:noFill/>
            <a:prstDash val="solid"/>
          </a:ln>
        </p:spPr>
        <p:txBody>
          <a:bodyPr anchor="t"/>
          <a:lstStyle/>
          <a:p>
            <a:pPr algn="ctr">
              <a:buNone/>
              <a:defRPr sz="1275" b="0">
                <a:solidFill>
                  <a:srgbClr val="2D3F4B"/>
                </a:solidFill>
                <a:latin typeface="Arial"/>
                <a:ea typeface="Arial"/>
                <a:cs typeface="Arial"/>
              </a:defRPr>
            </a:pPr>
            <a:r>
              <a:rPr sz="1275" b="0">
                <a:solidFill>
                  <a:srgbClr val="2D3F4B"/>
                </a:solidFill>
                <a:latin typeface="Arial"/>
                <a:ea typeface="Arial"/>
                <a:cs typeface="Arial"/>
              </a:rPr>
              <a:t>liest Frage + Chunk</a:t>
            </a:r>
          </a:p>
          <a:p>
            <a:pPr algn="ctr">
              <a:buNone/>
              <a:defRPr sz="1275" b="0">
                <a:solidFill>
                  <a:srgbClr val="2D3F4B"/>
                </a:solidFill>
                <a:latin typeface="Arial"/>
                <a:ea typeface="Arial"/>
                <a:cs typeface="Arial"/>
              </a:defRPr>
            </a:pPr>
            <a:r>
              <a:rPr sz="1275" b="0">
                <a:solidFill>
                  <a:srgbClr val="2D3F4B"/>
                </a:solidFill>
                <a:latin typeface="Arial"/>
                <a:ea typeface="Arial"/>
                <a:cs typeface="Arial"/>
              </a:rPr>
              <a:t>gemeinsam</a:t>
            </a:r>
          </a:p>
        </p:txBody>
      </p:sp>
      <p:sp>
        <p:nvSpPr>
          <p:cNvPr id="47" name="rerank-to-top">
            <a:extLst>
              <a:ext uri="{FF2B5EF4-FFF2-40B4-BE49-F238E27FC236}">
                <a16:creationId xmlns:a16="http://schemas.microsoft.com/office/drawing/2014/main" id="{67DC0688-D565-480D-8784-C0ED88D57A86}"/>
              </a:ext>
            </a:extLst>
          </p:cNvPr>
          <p:cNvSpPr>
            <a:spLocks noGrp="1"/>
          </p:cNvSpPr>
          <p:nvPr/>
        </p:nvSpPr>
        <p:spPr>
          <a:xfrm>
            <a:off x="8096250" y="3009900"/>
            <a:ext cx="666750" cy="0"/>
          </a:xfrm>
          <a:prstGeom prst="line">
            <a:avLst/>
          </a:prstGeom>
          <a:ln w="23813">
            <a:solidFill>
              <a:srgbClr val="C9960F"/>
            </a:solidFill>
            <a:prstDash val="solid"/>
          </a:ln>
        </p:spPr>
        <p:txBody>
          <a:bodyPr/>
          <a:lstStyle/>
          <a:p>
            <a:endParaRPr/>
          </a:p>
        </p:txBody>
      </p:sp>
      <p:sp>
        <p:nvSpPr>
          <p:cNvPr id="48" name="top-label">
            <a:extLst>
              <a:ext uri="{FF2B5EF4-FFF2-40B4-BE49-F238E27FC236}">
                <a16:creationId xmlns:a16="http://schemas.microsoft.com/office/drawing/2014/main" id="{813A9E33-65B7-4EAC-9D0B-F4BDF01804F1}"/>
              </a:ext>
            </a:extLst>
          </p:cNvPr>
          <p:cNvSpPr>
            <a:spLocks noGrp="1"/>
          </p:cNvSpPr>
          <p:nvPr/>
        </p:nvSpPr>
        <p:spPr>
          <a:xfrm>
            <a:off x="8858250" y="2000250"/>
            <a:ext cx="2381250" cy="266700"/>
          </a:xfrm>
          <a:prstGeom prst="rect">
            <a:avLst/>
          </a:prstGeom>
          <a:noFill/>
          <a:ln w="0">
            <a:noFill/>
            <a:prstDash val="solid"/>
          </a:ln>
        </p:spPr>
        <p:txBody>
          <a:bodyPr anchor="t"/>
          <a:lstStyle/>
          <a:p>
            <a:pPr algn="l">
              <a:buNone/>
              <a:defRPr sz="1200" b="1">
                <a:solidFill>
                  <a:srgbClr val="C9960F"/>
                </a:solidFill>
                <a:latin typeface="Arial"/>
                <a:ea typeface="Arial"/>
                <a:cs typeface="Arial"/>
              </a:defRPr>
            </a:pPr>
            <a:r>
              <a:rPr sz="1200" b="1">
                <a:solidFill>
                  <a:srgbClr val="C9960F"/>
                </a:solidFill>
                <a:latin typeface="Arial"/>
                <a:ea typeface="Arial"/>
                <a:cs typeface="Arial"/>
              </a:rPr>
              <a:t>TOP-4 IN DEN PROMPT</a:t>
            </a:r>
          </a:p>
        </p:txBody>
      </p:sp>
      <p:sp>
        <p:nvSpPr>
          <p:cNvPr id="49" name="rerank-row-0">
            <a:extLst>
              <a:ext uri="{FF2B5EF4-FFF2-40B4-BE49-F238E27FC236}">
                <a16:creationId xmlns:a16="http://schemas.microsoft.com/office/drawing/2014/main" id="{DF31896F-4FA2-4656-9746-FB94EE4BD9AF}"/>
              </a:ext>
            </a:extLst>
          </p:cNvPr>
          <p:cNvSpPr>
            <a:spLocks noGrp="1"/>
          </p:cNvSpPr>
          <p:nvPr/>
        </p:nvSpPr>
        <p:spPr>
          <a:xfrm>
            <a:off x="8763000" y="2305050"/>
            <a:ext cx="2714625" cy="409575"/>
          </a:xfrm>
          <a:prstGeom prst="roundRect">
            <a:avLst>
              <a:gd name="adj" fmla="val 20930"/>
            </a:avLst>
          </a:prstGeom>
          <a:solidFill>
            <a:srgbClr val="F7EFD8"/>
          </a:solidFill>
          <a:ln w="11430">
            <a:solidFill>
              <a:srgbClr val="C3BBB2"/>
            </a:solidFill>
            <a:prstDash val="solid"/>
          </a:ln>
        </p:spPr>
        <p:txBody>
          <a:bodyPr/>
          <a:lstStyle/>
          <a:p>
            <a:endParaRPr/>
          </a:p>
        </p:txBody>
      </p:sp>
      <p:sp>
        <p:nvSpPr>
          <p:cNvPr id="50" name="rerank-rank-0">
            <a:extLst>
              <a:ext uri="{FF2B5EF4-FFF2-40B4-BE49-F238E27FC236}">
                <a16:creationId xmlns:a16="http://schemas.microsoft.com/office/drawing/2014/main" id="{DFCABBF0-2045-4F3A-B9B2-ED7551345170}"/>
              </a:ext>
            </a:extLst>
          </p:cNvPr>
          <p:cNvSpPr>
            <a:spLocks noGrp="1"/>
          </p:cNvSpPr>
          <p:nvPr/>
        </p:nvSpPr>
        <p:spPr>
          <a:xfrm>
            <a:off x="8877300" y="2381250"/>
            <a:ext cx="285750" cy="247650"/>
          </a:xfrm>
          <a:prstGeom prst="rect">
            <a:avLst/>
          </a:prstGeom>
          <a:noFill/>
          <a:ln w="0">
            <a:noFill/>
            <a:prstDash val="solid"/>
          </a:ln>
        </p:spPr>
        <p:txBody>
          <a:bodyPr anchor="t"/>
          <a:lstStyle/>
          <a:p>
            <a:pPr algn="ctr">
              <a:buNone/>
              <a:defRPr sz="1275" b="1">
                <a:solidFill>
                  <a:srgbClr val="C9960F"/>
                </a:solidFill>
                <a:latin typeface="Arial"/>
                <a:ea typeface="Arial"/>
                <a:cs typeface="Arial"/>
              </a:defRPr>
            </a:pPr>
            <a:r>
              <a:rPr sz="1275" b="1">
                <a:solidFill>
                  <a:srgbClr val="C9960F"/>
                </a:solidFill>
                <a:latin typeface="Arial"/>
                <a:ea typeface="Arial"/>
                <a:cs typeface="Arial"/>
              </a:rPr>
              <a:t>1</a:t>
            </a:r>
          </a:p>
        </p:txBody>
      </p:sp>
      <p:sp>
        <p:nvSpPr>
          <p:cNvPr id="51" name="rerank-name-0">
            <a:extLst>
              <a:ext uri="{FF2B5EF4-FFF2-40B4-BE49-F238E27FC236}">
                <a16:creationId xmlns:a16="http://schemas.microsoft.com/office/drawing/2014/main" id="{2BA02E16-8658-4071-B16E-1B50ACE8422F}"/>
              </a:ext>
            </a:extLst>
          </p:cNvPr>
          <p:cNvSpPr>
            <a:spLocks noGrp="1"/>
          </p:cNvSpPr>
          <p:nvPr/>
        </p:nvSpPr>
        <p:spPr>
          <a:xfrm>
            <a:off x="9220200" y="2381250"/>
            <a:ext cx="1571625" cy="247650"/>
          </a:xfrm>
          <a:prstGeom prst="rect">
            <a:avLst/>
          </a:prstGeom>
          <a:noFill/>
          <a:ln w="0">
            <a:noFill/>
            <a:prstDash val="solid"/>
          </a:ln>
        </p:spPr>
        <p:txBody>
          <a:bodyPr anchor="t"/>
          <a:lstStyle/>
          <a:p>
            <a:pPr algn="l">
              <a:buNone/>
              <a:defRPr sz="1275" b="0">
                <a:solidFill>
                  <a:srgbClr val="2D3F4B"/>
                </a:solidFill>
                <a:latin typeface="Arial"/>
                <a:ea typeface="Arial"/>
                <a:cs typeface="Arial"/>
              </a:defRPr>
            </a:pPr>
            <a:r>
              <a:rPr sz="1275" b="0">
                <a:solidFill>
                  <a:srgbClr val="2D3F4B"/>
                </a:solidFill>
                <a:latin typeface="Arial"/>
                <a:ea typeface="Arial"/>
                <a:cs typeface="Arial"/>
              </a:rPr>
              <a:t>Art. 335b Probezeit</a:t>
            </a:r>
          </a:p>
        </p:txBody>
      </p:sp>
      <p:sp>
        <p:nvSpPr>
          <p:cNvPr id="52" name="rerank-score-0">
            <a:extLst>
              <a:ext uri="{FF2B5EF4-FFF2-40B4-BE49-F238E27FC236}">
                <a16:creationId xmlns:a16="http://schemas.microsoft.com/office/drawing/2014/main" id="{07B20C6D-CD27-4077-AAA0-B89EDA59B42B}"/>
              </a:ext>
            </a:extLst>
          </p:cNvPr>
          <p:cNvSpPr>
            <a:spLocks noGrp="1"/>
          </p:cNvSpPr>
          <p:nvPr/>
        </p:nvSpPr>
        <p:spPr>
          <a:xfrm>
            <a:off x="10791825" y="2381250"/>
            <a:ext cx="552450" cy="247650"/>
          </a:xfrm>
          <a:prstGeom prst="rect">
            <a:avLst/>
          </a:prstGeom>
          <a:noFill/>
          <a:ln w="0">
            <a:noFill/>
            <a:prstDash val="solid"/>
          </a:ln>
        </p:spPr>
        <p:txBody>
          <a:bodyPr anchor="t"/>
          <a:lstStyle/>
          <a:p>
            <a:pPr algn="r">
              <a:buNone/>
              <a:defRPr sz="975" b="0">
                <a:solidFill>
                  <a:srgbClr val="81725E"/>
                </a:solidFill>
                <a:latin typeface="Arial"/>
                <a:ea typeface="Arial"/>
                <a:cs typeface="Arial"/>
              </a:defRPr>
            </a:pPr>
            <a:r>
              <a:rPr sz="975" b="0">
                <a:solidFill>
                  <a:srgbClr val="81725E"/>
                </a:solidFill>
                <a:latin typeface="Arial"/>
                <a:ea typeface="Arial"/>
                <a:cs typeface="Arial"/>
              </a:rPr>
              <a:t>0.96</a:t>
            </a:r>
          </a:p>
        </p:txBody>
      </p:sp>
      <p:sp>
        <p:nvSpPr>
          <p:cNvPr id="53" name="rerank-row-1">
            <a:extLst>
              <a:ext uri="{FF2B5EF4-FFF2-40B4-BE49-F238E27FC236}">
                <a16:creationId xmlns:a16="http://schemas.microsoft.com/office/drawing/2014/main" id="{43762E83-CA22-40AA-A126-60AE96C1F805}"/>
              </a:ext>
            </a:extLst>
          </p:cNvPr>
          <p:cNvSpPr>
            <a:spLocks noGrp="1"/>
          </p:cNvSpPr>
          <p:nvPr/>
        </p:nvSpPr>
        <p:spPr>
          <a:xfrm>
            <a:off x="8763000" y="2809875"/>
            <a:ext cx="2714625" cy="409575"/>
          </a:xfrm>
          <a:prstGeom prst="roundRect">
            <a:avLst>
              <a:gd name="adj" fmla="val 20930"/>
            </a:avLst>
          </a:prstGeom>
          <a:solidFill>
            <a:srgbClr val="EAE8E5"/>
          </a:solidFill>
          <a:ln w="11430">
            <a:solidFill>
              <a:srgbClr val="C3BBB2"/>
            </a:solidFill>
            <a:prstDash val="solid"/>
          </a:ln>
        </p:spPr>
        <p:txBody>
          <a:bodyPr/>
          <a:lstStyle/>
          <a:p>
            <a:endParaRPr/>
          </a:p>
        </p:txBody>
      </p:sp>
      <p:sp>
        <p:nvSpPr>
          <p:cNvPr id="54" name="rerank-rank-1">
            <a:extLst>
              <a:ext uri="{FF2B5EF4-FFF2-40B4-BE49-F238E27FC236}">
                <a16:creationId xmlns:a16="http://schemas.microsoft.com/office/drawing/2014/main" id="{DF13DAEF-B936-47A8-B55C-9728E9BFB1DE}"/>
              </a:ext>
            </a:extLst>
          </p:cNvPr>
          <p:cNvSpPr>
            <a:spLocks noGrp="1"/>
          </p:cNvSpPr>
          <p:nvPr/>
        </p:nvSpPr>
        <p:spPr>
          <a:xfrm>
            <a:off x="8877300" y="2886075"/>
            <a:ext cx="285750" cy="247650"/>
          </a:xfrm>
          <a:prstGeom prst="rect">
            <a:avLst/>
          </a:prstGeom>
          <a:noFill/>
          <a:ln w="0">
            <a:noFill/>
            <a:prstDash val="solid"/>
          </a:ln>
        </p:spPr>
        <p:txBody>
          <a:bodyPr anchor="t"/>
          <a:lstStyle/>
          <a:p>
            <a:pPr algn="ctr">
              <a:buNone/>
              <a:defRPr sz="1275" b="1">
                <a:solidFill>
                  <a:srgbClr val="C9960F"/>
                </a:solidFill>
                <a:latin typeface="Arial"/>
                <a:ea typeface="Arial"/>
                <a:cs typeface="Arial"/>
              </a:defRPr>
            </a:pPr>
            <a:r>
              <a:rPr sz="1275" b="1">
                <a:solidFill>
                  <a:srgbClr val="C9960F"/>
                </a:solidFill>
                <a:latin typeface="Arial"/>
                <a:ea typeface="Arial"/>
                <a:cs typeface="Arial"/>
              </a:rPr>
              <a:t>2</a:t>
            </a:r>
          </a:p>
        </p:txBody>
      </p:sp>
      <p:sp>
        <p:nvSpPr>
          <p:cNvPr id="55" name="rerank-name-1">
            <a:extLst>
              <a:ext uri="{FF2B5EF4-FFF2-40B4-BE49-F238E27FC236}">
                <a16:creationId xmlns:a16="http://schemas.microsoft.com/office/drawing/2014/main" id="{0E124607-AF63-4AE3-8B3E-0D48D011DDE9}"/>
              </a:ext>
            </a:extLst>
          </p:cNvPr>
          <p:cNvSpPr>
            <a:spLocks noGrp="1"/>
          </p:cNvSpPr>
          <p:nvPr/>
        </p:nvSpPr>
        <p:spPr>
          <a:xfrm>
            <a:off x="9220200" y="2886075"/>
            <a:ext cx="1571625" cy="247650"/>
          </a:xfrm>
          <a:prstGeom prst="rect">
            <a:avLst/>
          </a:prstGeom>
          <a:noFill/>
          <a:ln w="0">
            <a:noFill/>
            <a:prstDash val="solid"/>
          </a:ln>
        </p:spPr>
        <p:txBody>
          <a:bodyPr anchor="t"/>
          <a:lstStyle/>
          <a:p>
            <a:pPr algn="l">
              <a:buNone/>
              <a:defRPr sz="1275" b="0">
                <a:solidFill>
                  <a:srgbClr val="2D3F4B"/>
                </a:solidFill>
                <a:latin typeface="Arial"/>
                <a:ea typeface="Arial"/>
                <a:cs typeface="Arial"/>
              </a:defRPr>
            </a:pPr>
            <a:r>
              <a:rPr sz="1275" b="0">
                <a:solidFill>
                  <a:srgbClr val="2D3F4B"/>
                </a:solidFill>
                <a:latin typeface="Arial"/>
                <a:ea typeface="Arial"/>
                <a:cs typeface="Arial"/>
              </a:rPr>
              <a:t>Lehrvertrag</a:t>
            </a:r>
          </a:p>
        </p:txBody>
      </p:sp>
      <p:sp>
        <p:nvSpPr>
          <p:cNvPr id="56" name="rerank-score-1">
            <a:extLst>
              <a:ext uri="{FF2B5EF4-FFF2-40B4-BE49-F238E27FC236}">
                <a16:creationId xmlns:a16="http://schemas.microsoft.com/office/drawing/2014/main" id="{1E43AC17-5C2E-4C76-B5E9-D9550B9C083A}"/>
              </a:ext>
            </a:extLst>
          </p:cNvPr>
          <p:cNvSpPr>
            <a:spLocks noGrp="1"/>
          </p:cNvSpPr>
          <p:nvPr/>
        </p:nvSpPr>
        <p:spPr>
          <a:xfrm>
            <a:off x="10791825" y="2886075"/>
            <a:ext cx="552450" cy="247650"/>
          </a:xfrm>
          <a:prstGeom prst="rect">
            <a:avLst/>
          </a:prstGeom>
          <a:noFill/>
          <a:ln w="0">
            <a:noFill/>
            <a:prstDash val="solid"/>
          </a:ln>
        </p:spPr>
        <p:txBody>
          <a:bodyPr anchor="t"/>
          <a:lstStyle/>
          <a:p>
            <a:pPr algn="r">
              <a:buNone/>
              <a:defRPr sz="975" b="0">
                <a:solidFill>
                  <a:srgbClr val="81725E"/>
                </a:solidFill>
                <a:latin typeface="Arial"/>
                <a:ea typeface="Arial"/>
                <a:cs typeface="Arial"/>
              </a:defRPr>
            </a:pPr>
            <a:r>
              <a:rPr sz="975" b="0">
                <a:solidFill>
                  <a:srgbClr val="81725E"/>
                </a:solidFill>
                <a:latin typeface="Arial"/>
                <a:ea typeface="Arial"/>
                <a:cs typeface="Arial"/>
              </a:rPr>
              <a:t>0.82</a:t>
            </a:r>
          </a:p>
        </p:txBody>
      </p:sp>
      <p:sp>
        <p:nvSpPr>
          <p:cNvPr id="57" name="rerank-row-2">
            <a:extLst>
              <a:ext uri="{FF2B5EF4-FFF2-40B4-BE49-F238E27FC236}">
                <a16:creationId xmlns:a16="http://schemas.microsoft.com/office/drawing/2014/main" id="{C609C74F-E2A9-4EBA-9133-D289232429B9}"/>
              </a:ext>
            </a:extLst>
          </p:cNvPr>
          <p:cNvSpPr>
            <a:spLocks noGrp="1"/>
          </p:cNvSpPr>
          <p:nvPr/>
        </p:nvSpPr>
        <p:spPr>
          <a:xfrm>
            <a:off x="8763000" y="3314700"/>
            <a:ext cx="2714625" cy="409575"/>
          </a:xfrm>
          <a:prstGeom prst="roundRect">
            <a:avLst>
              <a:gd name="adj" fmla="val 20930"/>
            </a:avLst>
          </a:prstGeom>
          <a:solidFill>
            <a:srgbClr val="EAE8E5"/>
          </a:solidFill>
          <a:ln w="11430">
            <a:solidFill>
              <a:srgbClr val="C3BBB2"/>
            </a:solidFill>
            <a:prstDash val="solid"/>
          </a:ln>
        </p:spPr>
        <p:txBody>
          <a:bodyPr/>
          <a:lstStyle/>
          <a:p>
            <a:endParaRPr/>
          </a:p>
        </p:txBody>
      </p:sp>
      <p:sp>
        <p:nvSpPr>
          <p:cNvPr id="58" name="rerank-rank-2">
            <a:extLst>
              <a:ext uri="{FF2B5EF4-FFF2-40B4-BE49-F238E27FC236}">
                <a16:creationId xmlns:a16="http://schemas.microsoft.com/office/drawing/2014/main" id="{B2048EF6-43E1-4F84-8B1D-B9C6C3B4B8EB}"/>
              </a:ext>
            </a:extLst>
          </p:cNvPr>
          <p:cNvSpPr>
            <a:spLocks noGrp="1"/>
          </p:cNvSpPr>
          <p:nvPr/>
        </p:nvSpPr>
        <p:spPr>
          <a:xfrm>
            <a:off x="8877300" y="3390900"/>
            <a:ext cx="285750" cy="247650"/>
          </a:xfrm>
          <a:prstGeom prst="rect">
            <a:avLst/>
          </a:prstGeom>
          <a:noFill/>
          <a:ln w="0">
            <a:noFill/>
            <a:prstDash val="solid"/>
          </a:ln>
        </p:spPr>
        <p:txBody>
          <a:bodyPr anchor="t"/>
          <a:lstStyle/>
          <a:p>
            <a:pPr algn="ctr">
              <a:buNone/>
              <a:defRPr sz="1275" b="1">
                <a:solidFill>
                  <a:srgbClr val="C9960F"/>
                </a:solidFill>
                <a:latin typeface="Arial"/>
                <a:ea typeface="Arial"/>
                <a:cs typeface="Arial"/>
              </a:defRPr>
            </a:pPr>
            <a:r>
              <a:rPr sz="1275" b="1">
                <a:solidFill>
                  <a:srgbClr val="C9960F"/>
                </a:solidFill>
                <a:latin typeface="Arial"/>
                <a:ea typeface="Arial"/>
                <a:cs typeface="Arial"/>
              </a:rPr>
              <a:t>3</a:t>
            </a:r>
          </a:p>
        </p:txBody>
      </p:sp>
      <p:sp>
        <p:nvSpPr>
          <p:cNvPr id="59" name="rerank-name-2">
            <a:extLst>
              <a:ext uri="{FF2B5EF4-FFF2-40B4-BE49-F238E27FC236}">
                <a16:creationId xmlns:a16="http://schemas.microsoft.com/office/drawing/2014/main" id="{C5A9B5BF-424D-4451-A4FC-EAB803240BB3}"/>
              </a:ext>
            </a:extLst>
          </p:cNvPr>
          <p:cNvSpPr>
            <a:spLocks noGrp="1"/>
          </p:cNvSpPr>
          <p:nvPr/>
        </p:nvSpPr>
        <p:spPr>
          <a:xfrm>
            <a:off x="9220200" y="3390900"/>
            <a:ext cx="1571625" cy="247650"/>
          </a:xfrm>
          <a:prstGeom prst="rect">
            <a:avLst/>
          </a:prstGeom>
          <a:noFill/>
          <a:ln w="0">
            <a:noFill/>
            <a:prstDash val="solid"/>
          </a:ln>
        </p:spPr>
        <p:txBody>
          <a:bodyPr anchor="t"/>
          <a:lstStyle/>
          <a:p>
            <a:pPr algn="l">
              <a:buNone/>
              <a:defRPr sz="1275" b="0">
                <a:solidFill>
                  <a:srgbClr val="2D3F4B"/>
                </a:solidFill>
                <a:latin typeface="Arial"/>
                <a:ea typeface="Arial"/>
                <a:cs typeface="Arial"/>
              </a:defRPr>
            </a:pPr>
            <a:r>
              <a:rPr sz="1275" b="0">
                <a:solidFill>
                  <a:srgbClr val="2D3F4B"/>
                </a:solidFill>
                <a:latin typeface="Arial"/>
                <a:ea typeface="Arial"/>
                <a:cs typeface="Arial"/>
              </a:rPr>
              <a:t>Kündigungsfrist</a:t>
            </a:r>
          </a:p>
        </p:txBody>
      </p:sp>
      <p:sp>
        <p:nvSpPr>
          <p:cNvPr id="60" name="rerank-score-2">
            <a:extLst>
              <a:ext uri="{FF2B5EF4-FFF2-40B4-BE49-F238E27FC236}">
                <a16:creationId xmlns:a16="http://schemas.microsoft.com/office/drawing/2014/main" id="{1BFF1FB4-10F1-4284-BC0F-1F8424661F9A}"/>
              </a:ext>
            </a:extLst>
          </p:cNvPr>
          <p:cNvSpPr>
            <a:spLocks noGrp="1"/>
          </p:cNvSpPr>
          <p:nvPr/>
        </p:nvSpPr>
        <p:spPr>
          <a:xfrm>
            <a:off x="10791825" y="3390900"/>
            <a:ext cx="552450" cy="247650"/>
          </a:xfrm>
          <a:prstGeom prst="rect">
            <a:avLst/>
          </a:prstGeom>
          <a:noFill/>
          <a:ln w="0">
            <a:noFill/>
            <a:prstDash val="solid"/>
          </a:ln>
        </p:spPr>
        <p:txBody>
          <a:bodyPr anchor="t"/>
          <a:lstStyle/>
          <a:p>
            <a:pPr algn="r">
              <a:buNone/>
              <a:defRPr sz="975" b="0">
                <a:solidFill>
                  <a:srgbClr val="81725E"/>
                </a:solidFill>
                <a:latin typeface="Arial"/>
                <a:ea typeface="Arial"/>
                <a:cs typeface="Arial"/>
              </a:defRPr>
            </a:pPr>
            <a:r>
              <a:rPr sz="975" b="0">
                <a:solidFill>
                  <a:srgbClr val="81725E"/>
                </a:solidFill>
                <a:latin typeface="Arial"/>
                <a:ea typeface="Arial"/>
                <a:cs typeface="Arial"/>
              </a:rPr>
              <a:t>0.45</a:t>
            </a:r>
          </a:p>
        </p:txBody>
      </p:sp>
      <p:sp>
        <p:nvSpPr>
          <p:cNvPr id="61" name="rerank-row-3">
            <a:extLst>
              <a:ext uri="{FF2B5EF4-FFF2-40B4-BE49-F238E27FC236}">
                <a16:creationId xmlns:a16="http://schemas.microsoft.com/office/drawing/2014/main" id="{DB51D4B7-0DE8-4353-94F1-A0704F80CAF9}"/>
              </a:ext>
            </a:extLst>
          </p:cNvPr>
          <p:cNvSpPr>
            <a:spLocks noGrp="1"/>
          </p:cNvSpPr>
          <p:nvPr/>
        </p:nvSpPr>
        <p:spPr>
          <a:xfrm>
            <a:off x="8763000" y="3819525"/>
            <a:ext cx="2714625" cy="409575"/>
          </a:xfrm>
          <a:prstGeom prst="roundRect">
            <a:avLst>
              <a:gd name="adj" fmla="val 20930"/>
            </a:avLst>
          </a:prstGeom>
          <a:solidFill>
            <a:srgbClr val="EAE8E5"/>
          </a:solidFill>
          <a:ln w="11430">
            <a:solidFill>
              <a:srgbClr val="C3BBB2"/>
            </a:solidFill>
            <a:prstDash val="solid"/>
          </a:ln>
        </p:spPr>
        <p:txBody>
          <a:bodyPr/>
          <a:lstStyle/>
          <a:p>
            <a:endParaRPr/>
          </a:p>
        </p:txBody>
      </p:sp>
      <p:sp>
        <p:nvSpPr>
          <p:cNvPr id="62" name="rerank-rank-3">
            <a:extLst>
              <a:ext uri="{FF2B5EF4-FFF2-40B4-BE49-F238E27FC236}">
                <a16:creationId xmlns:a16="http://schemas.microsoft.com/office/drawing/2014/main" id="{DF7AA6E4-3D92-493B-A90F-691F724EF82C}"/>
              </a:ext>
            </a:extLst>
          </p:cNvPr>
          <p:cNvSpPr>
            <a:spLocks noGrp="1"/>
          </p:cNvSpPr>
          <p:nvPr/>
        </p:nvSpPr>
        <p:spPr>
          <a:xfrm>
            <a:off x="8877300" y="3895725"/>
            <a:ext cx="285750" cy="247650"/>
          </a:xfrm>
          <a:prstGeom prst="rect">
            <a:avLst/>
          </a:prstGeom>
          <a:noFill/>
          <a:ln w="0">
            <a:noFill/>
            <a:prstDash val="solid"/>
          </a:ln>
        </p:spPr>
        <p:txBody>
          <a:bodyPr anchor="t"/>
          <a:lstStyle/>
          <a:p>
            <a:pPr algn="ctr">
              <a:buNone/>
              <a:defRPr sz="1275" b="1">
                <a:solidFill>
                  <a:srgbClr val="C9960F"/>
                </a:solidFill>
                <a:latin typeface="Arial"/>
                <a:ea typeface="Arial"/>
                <a:cs typeface="Arial"/>
              </a:defRPr>
            </a:pPr>
            <a:r>
              <a:rPr sz="1275" b="1">
                <a:solidFill>
                  <a:srgbClr val="C9960F"/>
                </a:solidFill>
                <a:latin typeface="Arial"/>
                <a:ea typeface="Arial"/>
                <a:cs typeface="Arial"/>
              </a:rPr>
              <a:t>4</a:t>
            </a:r>
          </a:p>
        </p:txBody>
      </p:sp>
      <p:sp>
        <p:nvSpPr>
          <p:cNvPr id="63" name="rerank-name-3">
            <a:extLst>
              <a:ext uri="{FF2B5EF4-FFF2-40B4-BE49-F238E27FC236}">
                <a16:creationId xmlns:a16="http://schemas.microsoft.com/office/drawing/2014/main" id="{41564A1E-97CC-48E7-B752-3CEA14E8AE26}"/>
              </a:ext>
            </a:extLst>
          </p:cNvPr>
          <p:cNvSpPr>
            <a:spLocks noGrp="1"/>
          </p:cNvSpPr>
          <p:nvPr/>
        </p:nvSpPr>
        <p:spPr>
          <a:xfrm>
            <a:off x="9220200" y="3895725"/>
            <a:ext cx="1571625" cy="247650"/>
          </a:xfrm>
          <a:prstGeom prst="rect">
            <a:avLst/>
          </a:prstGeom>
          <a:noFill/>
          <a:ln w="0">
            <a:noFill/>
            <a:prstDash val="solid"/>
          </a:ln>
        </p:spPr>
        <p:txBody>
          <a:bodyPr anchor="t"/>
          <a:lstStyle/>
          <a:p>
            <a:pPr algn="l">
              <a:buNone/>
              <a:defRPr sz="1275" b="0">
                <a:solidFill>
                  <a:srgbClr val="2D3F4B"/>
                </a:solidFill>
                <a:latin typeface="Arial"/>
                <a:ea typeface="Arial"/>
                <a:cs typeface="Arial"/>
              </a:defRPr>
            </a:pPr>
            <a:r>
              <a:rPr sz="1275" b="0">
                <a:solidFill>
                  <a:srgbClr val="2D3F4B"/>
                </a:solidFill>
                <a:latin typeface="Arial"/>
                <a:ea typeface="Arial"/>
                <a:cs typeface="Arial"/>
              </a:rPr>
              <a:t>…</a:t>
            </a:r>
          </a:p>
        </p:txBody>
      </p:sp>
      <p:sp>
        <p:nvSpPr>
          <p:cNvPr id="64" name="rerank-score-3">
            <a:extLst>
              <a:ext uri="{FF2B5EF4-FFF2-40B4-BE49-F238E27FC236}">
                <a16:creationId xmlns:a16="http://schemas.microsoft.com/office/drawing/2014/main" id="{349D844A-3120-448C-ABBC-A6E3DF22B64D}"/>
              </a:ext>
            </a:extLst>
          </p:cNvPr>
          <p:cNvSpPr>
            <a:spLocks noGrp="1"/>
          </p:cNvSpPr>
          <p:nvPr/>
        </p:nvSpPr>
        <p:spPr>
          <a:xfrm>
            <a:off x="10791825" y="3895725"/>
            <a:ext cx="552450" cy="247650"/>
          </a:xfrm>
          <a:prstGeom prst="rect">
            <a:avLst/>
          </a:prstGeom>
          <a:noFill/>
          <a:ln w="0">
            <a:noFill/>
            <a:prstDash val="solid"/>
          </a:ln>
        </p:spPr>
        <p:txBody>
          <a:bodyPr anchor="t"/>
          <a:lstStyle/>
          <a:p>
            <a:endParaRPr/>
          </a:p>
        </p:txBody>
      </p:sp>
      <p:sp>
        <p:nvSpPr>
          <p:cNvPr id="65" name="rerank-limit">
            <a:extLst>
              <a:ext uri="{FF2B5EF4-FFF2-40B4-BE49-F238E27FC236}">
                <a16:creationId xmlns:a16="http://schemas.microsoft.com/office/drawing/2014/main" id="{ED2A38C4-D755-44FC-9EA4-1E947591FFC9}"/>
              </a:ext>
            </a:extLst>
          </p:cNvPr>
          <p:cNvSpPr>
            <a:spLocks noGrp="1"/>
          </p:cNvSpPr>
          <p:nvPr/>
        </p:nvSpPr>
        <p:spPr>
          <a:xfrm>
            <a:off x="2190750" y="4953000"/>
            <a:ext cx="7810500" cy="762000"/>
          </a:xfrm>
          <a:prstGeom prst="roundRect">
            <a:avLst>
              <a:gd name="adj" fmla="val 20000"/>
            </a:avLst>
          </a:prstGeom>
          <a:solidFill>
            <a:srgbClr val="2D3F4B"/>
          </a:solidFill>
          <a:ln w="0">
            <a:solidFill>
              <a:srgbClr val="2D3F4B"/>
            </a:solidFill>
            <a:prstDash val="solid"/>
          </a:ln>
        </p:spPr>
        <p:txBody>
          <a:bodyPr/>
          <a:lstStyle/>
          <a:p>
            <a:endParaRPr/>
          </a:p>
        </p:txBody>
      </p:sp>
      <p:sp>
        <p:nvSpPr>
          <p:cNvPr id="66" name="rerank-limit-text">
            <a:extLst>
              <a:ext uri="{FF2B5EF4-FFF2-40B4-BE49-F238E27FC236}">
                <a16:creationId xmlns:a16="http://schemas.microsoft.com/office/drawing/2014/main" id="{AB2897E9-B16F-4F9C-93AB-4458C5596551}"/>
              </a:ext>
            </a:extLst>
          </p:cNvPr>
          <p:cNvSpPr>
            <a:spLocks noGrp="1"/>
          </p:cNvSpPr>
          <p:nvPr/>
        </p:nvSpPr>
        <p:spPr>
          <a:xfrm>
            <a:off x="2476500" y="5048250"/>
            <a:ext cx="7239000" cy="590550"/>
          </a:xfrm>
          <a:prstGeom prst="rect">
            <a:avLst/>
          </a:prstGeom>
          <a:noFill/>
          <a:ln w="0">
            <a:noFill/>
            <a:prstDash val="solid"/>
          </a:ln>
        </p:spPr>
        <p:txBody>
          <a:bodyPr anchor="ctr"/>
          <a:lstStyle/>
          <a:p>
            <a:pPr algn="ctr">
              <a:buNone/>
              <a:defRPr sz="1350" b="1">
                <a:solidFill>
                  <a:srgbClr val="FFFFFF"/>
                </a:solidFill>
                <a:latin typeface="Arial"/>
                <a:ea typeface="Arial"/>
                <a:cs typeface="Arial"/>
              </a:defRPr>
            </a:pPr>
            <a:r>
              <a:rPr sz="1350" b="1">
                <a:solidFill>
                  <a:srgbClr val="FFFFFF"/>
                </a:solidFill>
                <a:latin typeface="Arial"/>
                <a:ea typeface="Arial"/>
                <a:cs typeface="Arial"/>
              </a:rPr>
              <a:t>Recall bleibt die Obergrenze:</a:t>
            </a:r>
          </a:p>
          <a:p>
            <a:pPr algn="ctr">
              <a:buNone/>
              <a:defRPr sz="1350" b="1">
                <a:solidFill>
                  <a:srgbClr val="FFFFFF"/>
                </a:solidFill>
                <a:latin typeface="Arial"/>
                <a:ea typeface="Arial"/>
                <a:cs typeface="Arial"/>
              </a:defRPr>
            </a:pPr>
            <a:r>
              <a:rPr sz="1350" b="1">
                <a:solidFill>
                  <a:srgbClr val="FFFFFF"/>
                </a:solidFill>
                <a:latin typeface="Arial"/>
                <a:ea typeface="Arial"/>
                <a:cs typeface="Arial"/>
              </a:rPr>
              <a:t>Fehlt der richtige Chunk in den Top-10, kann Reranking ihn nicht zurückholen.</a:t>
            </a:r>
          </a:p>
        </p:txBody>
      </p:sp>
    </p:spTree>
    <p:extLst>
      <p:ext uri="{BB962C8B-B14F-4D97-AF65-F5344CB8AC3E}">
        <p14:creationId xmlns:p14="http://schemas.microsoft.com/office/powerpoint/2010/main" val="6441046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598A74DB-1D80-45DD-AD66-28541A57ECC2}"/>
              </a:ext>
            </a:extLst>
          </p:cNvPr>
          <p:cNvSpPr>
            <a:spLocks noGrp="1"/>
          </p:cNvSpPr>
          <p:nvPr/>
        </p:nvSpPr>
        <p:spPr>
          <a:xfrm>
            <a:off x="476250" y="1209674"/>
            <a:ext cx="10477500" cy="304800"/>
          </a:xfrm>
          <a:prstGeom prst="rect">
            <a:avLst/>
          </a:prstGeom>
          <a:noFill/>
          <a:ln w="0">
            <a:noFill/>
            <a:prstDash val="solid"/>
          </a:ln>
        </p:spPr>
        <p:txBody>
          <a:bodyPr anchor="ctr"/>
          <a:lstStyle/>
          <a:p>
            <a:pPr algn="l">
              <a:buNone/>
              <a:defRPr sz="1425" b="0">
                <a:solidFill>
                  <a:srgbClr val="746B5F"/>
                </a:solidFill>
              </a:defRPr>
            </a:pPr>
            <a:r>
              <a:rPr sz="1425" b="0">
                <a:solidFill>
                  <a:srgbClr val="746B5F"/>
                </a:solidFill>
              </a:rPr>
              <a:t>Hybrid Retrieval findet relevante Passagen. Der Graph erweitert sie gezielt um Kontext.</a:t>
            </a:r>
          </a:p>
        </p:txBody>
      </p:sp>
      <p:sp>
        <p:nvSpPr>
          <p:cNvPr id="4" name="flow-1">
            <a:extLst>
              <a:ext uri="{FF2B5EF4-FFF2-40B4-BE49-F238E27FC236}">
                <a16:creationId xmlns:a16="http://schemas.microsoft.com/office/drawing/2014/main" id="{B220FF84-877B-4A53-AEEE-B36C2DCD5C24}"/>
              </a:ext>
            </a:extLst>
          </p:cNvPr>
          <p:cNvSpPr>
            <a:spLocks noGrp="1"/>
          </p:cNvSpPr>
          <p:nvPr/>
        </p:nvSpPr>
        <p:spPr>
          <a:xfrm>
            <a:off x="1981200" y="3181350"/>
            <a:ext cx="266700" cy="438150"/>
          </a:xfrm>
          <a:prstGeom prst="chevron">
            <a:avLst/>
          </a:prstGeom>
          <a:solidFill>
            <a:srgbClr val="B8C1C6"/>
          </a:solidFill>
          <a:ln w="0">
            <a:solidFill>
              <a:srgbClr val="B8C1C6"/>
            </a:solidFill>
            <a:prstDash val="solid"/>
          </a:ln>
        </p:spPr>
        <p:txBody>
          <a:bodyPr/>
          <a:lstStyle/>
          <a:p>
            <a:endParaRPr/>
          </a:p>
        </p:txBody>
      </p:sp>
      <p:sp>
        <p:nvSpPr>
          <p:cNvPr id="5" name="flow-2">
            <a:extLst>
              <a:ext uri="{FF2B5EF4-FFF2-40B4-BE49-F238E27FC236}">
                <a16:creationId xmlns:a16="http://schemas.microsoft.com/office/drawing/2014/main" id="{289C28BA-8205-41D3-8895-860805D26B50}"/>
              </a:ext>
            </a:extLst>
          </p:cNvPr>
          <p:cNvSpPr>
            <a:spLocks noGrp="1"/>
          </p:cNvSpPr>
          <p:nvPr/>
        </p:nvSpPr>
        <p:spPr>
          <a:xfrm>
            <a:off x="4914900" y="3181350"/>
            <a:ext cx="266700" cy="438150"/>
          </a:xfrm>
          <a:prstGeom prst="chevron">
            <a:avLst/>
          </a:prstGeom>
          <a:solidFill>
            <a:srgbClr val="B8C1C6"/>
          </a:solidFill>
          <a:ln w="0">
            <a:solidFill>
              <a:srgbClr val="B8C1C6"/>
            </a:solidFill>
            <a:prstDash val="solid"/>
          </a:ln>
        </p:spPr>
        <p:txBody>
          <a:bodyPr/>
          <a:lstStyle/>
          <a:p>
            <a:endParaRPr/>
          </a:p>
        </p:txBody>
      </p:sp>
      <p:sp>
        <p:nvSpPr>
          <p:cNvPr id="6" name="flow-3">
            <a:extLst>
              <a:ext uri="{FF2B5EF4-FFF2-40B4-BE49-F238E27FC236}">
                <a16:creationId xmlns:a16="http://schemas.microsoft.com/office/drawing/2014/main" id="{7CE22AC2-4395-4F46-ADB7-4E6F9713071E}"/>
              </a:ext>
            </a:extLst>
          </p:cNvPr>
          <p:cNvSpPr>
            <a:spLocks noGrp="1"/>
          </p:cNvSpPr>
          <p:nvPr/>
        </p:nvSpPr>
        <p:spPr>
          <a:xfrm>
            <a:off x="6648450" y="3181350"/>
            <a:ext cx="266700" cy="438150"/>
          </a:xfrm>
          <a:prstGeom prst="chevron">
            <a:avLst/>
          </a:prstGeom>
          <a:solidFill>
            <a:srgbClr val="B8C1C6"/>
          </a:solidFill>
          <a:ln w="0">
            <a:solidFill>
              <a:srgbClr val="B8C1C6"/>
            </a:solidFill>
            <a:prstDash val="solid"/>
          </a:ln>
        </p:spPr>
        <p:txBody>
          <a:bodyPr/>
          <a:lstStyle/>
          <a:p>
            <a:endParaRPr/>
          </a:p>
        </p:txBody>
      </p:sp>
      <p:sp>
        <p:nvSpPr>
          <p:cNvPr id="7" name="flow-4">
            <a:extLst>
              <a:ext uri="{FF2B5EF4-FFF2-40B4-BE49-F238E27FC236}">
                <a16:creationId xmlns:a16="http://schemas.microsoft.com/office/drawing/2014/main" id="{809A29F3-7038-4A3C-B6F0-A12C8EE3AB96}"/>
              </a:ext>
            </a:extLst>
          </p:cNvPr>
          <p:cNvSpPr>
            <a:spLocks noGrp="1"/>
          </p:cNvSpPr>
          <p:nvPr/>
        </p:nvSpPr>
        <p:spPr>
          <a:xfrm>
            <a:off x="9220200" y="3181350"/>
            <a:ext cx="266700" cy="438150"/>
          </a:xfrm>
          <a:prstGeom prst="chevron">
            <a:avLst/>
          </a:prstGeom>
          <a:solidFill>
            <a:srgbClr val="B8C1C6"/>
          </a:solidFill>
          <a:ln w="0">
            <a:solidFill>
              <a:srgbClr val="B8C1C6"/>
            </a:solidFill>
            <a:prstDash val="solid"/>
          </a:ln>
        </p:spPr>
        <p:txBody>
          <a:bodyPr/>
          <a:lstStyle/>
          <a:p>
            <a:endParaRPr/>
          </a:p>
        </p:txBody>
      </p:sp>
      <p:sp>
        <p:nvSpPr>
          <p:cNvPr id="8" name="stage1-label">
            <a:extLst>
              <a:ext uri="{FF2B5EF4-FFF2-40B4-BE49-F238E27FC236}">
                <a16:creationId xmlns:a16="http://schemas.microsoft.com/office/drawing/2014/main" id="{AD68111B-D580-47F9-B9FB-95523347BFD8}"/>
              </a:ext>
            </a:extLst>
          </p:cNvPr>
          <p:cNvSpPr>
            <a:spLocks noGrp="1"/>
          </p:cNvSpPr>
          <p:nvPr/>
        </p:nvSpPr>
        <p:spPr>
          <a:xfrm>
            <a:off x="628650" y="1924050"/>
            <a:ext cx="1524000" cy="228600"/>
          </a:xfrm>
          <a:prstGeom prst="rect">
            <a:avLst/>
          </a:prstGeom>
          <a:noFill/>
          <a:ln w="0">
            <a:noFill/>
            <a:prstDash val="solid"/>
          </a:ln>
        </p:spPr>
        <p:txBody>
          <a:bodyPr anchor="ctr"/>
          <a:lstStyle/>
          <a:p>
            <a:pPr algn="l">
              <a:buNone/>
              <a:defRPr sz="975" b="1">
                <a:solidFill>
                  <a:srgbClr val="746B5F"/>
                </a:solidFill>
              </a:defRPr>
            </a:pPr>
            <a:r>
              <a:rPr sz="975" b="1">
                <a:solidFill>
                  <a:srgbClr val="746B5F"/>
                </a:solidFill>
              </a:rPr>
              <a:t>1  FRAGE</a:t>
            </a:r>
          </a:p>
        </p:txBody>
      </p:sp>
      <p:sp>
        <p:nvSpPr>
          <p:cNvPr id="9" name="question">
            <a:extLst>
              <a:ext uri="{FF2B5EF4-FFF2-40B4-BE49-F238E27FC236}">
                <a16:creationId xmlns:a16="http://schemas.microsoft.com/office/drawing/2014/main" id="{7244B46F-B457-42A2-B523-06F11FB1D894}"/>
              </a:ext>
            </a:extLst>
          </p:cNvPr>
          <p:cNvSpPr>
            <a:spLocks noGrp="1"/>
          </p:cNvSpPr>
          <p:nvPr/>
        </p:nvSpPr>
        <p:spPr>
          <a:xfrm>
            <a:off x="571500" y="2362200"/>
            <a:ext cx="1524000" cy="2000250"/>
          </a:xfrm>
          <a:prstGeom prst="roundRect">
            <a:avLst>
              <a:gd name="adj" fmla="val 7500"/>
            </a:avLst>
          </a:prstGeom>
          <a:solidFill>
            <a:srgbClr val="304452"/>
          </a:solidFill>
          <a:ln w="0">
            <a:solidFill>
              <a:srgbClr val="304452"/>
            </a:solidFill>
            <a:prstDash val="solid"/>
          </a:ln>
        </p:spPr>
        <p:txBody>
          <a:bodyPr/>
          <a:lstStyle/>
          <a:p>
            <a:endParaRPr/>
          </a:p>
        </p:txBody>
      </p:sp>
      <p:sp>
        <p:nvSpPr>
          <p:cNvPr id="10" name="question-mark">
            <a:extLst>
              <a:ext uri="{FF2B5EF4-FFF2-40B4-BE49-F238E27FC236}">
                <a16:creationId xmlns:a16="http://schemas.microsoft.com/office/drawing/2014/main" id="{348340D1-5786-46B2-BCA1-E990BF803158}"/>
              </a:ext>
            </a:extLst>
          </p:cNvPr>
          <p:cNvSpPr>
            <a:spLocks noGrp="1"/>
          </p:cNvSpPr>
          <p:nvPr/>
        </p:nvSpPr>
        <p:spPr>
          <a:xfrm>
            <a:off x="1047750" y="2571750"/>
            <a:ext cx="571500" cy="533400"/>
          </a:xfrm>
          <a:prstGeom prst="rect">
            <a:avLst/>
          </a:prstGeom>
          <a:noFill/>
          <a:ln w="0">
            <a:noFill/>
            <a:prstDash val="solid"/>
          </a:ln>
        </p:spPr>
        <p:txBody>
          <a:bodyPr anchor="ctr"/>
          <a:lstStyle/>
          <a:p>
            <a:pPr algn="ctr">
              <a:buNone/>
              <a:defRPr sz="3150" b="1">
                <a:solidFill>
                  <a:srgbClr val="FFFFFF"/>
                </a:solidFill>
              </a:defRPr>
            </a:pPr>
            <a:r>
              <a:rPr sz="3150" b="1">
                <a:solidFill>
                  <a:srgbClr val="FFFFFF"/>
                </a:solidFill>
              </a:rPr>
              <a:t>?</a:t>
            </a:r>
          </a:p>
        </p:txBody>
      </p:sp>
      <p:sp>
        <p:nvSpPr>
          <p:cNvPr id="11" name="question-copy">
            <a:extLst>
              <a:ext uri="{FF2B5EF4-FFF2-40B4-BE49-F238E27FC236}">
                <a16:creationId xmlns:a16="http://schemas.microsoft.com/office/drawing/2014/main" id="{E169E1EE-4CB6-4AAE-80D5-D25443621D6F}"/>
              </a:ext>
            </a:extLst>
          </p:cNvPr>
          <p:cNvSpPr>
            <a:spLocks noGrp="1"/>
          </p:cNvSpPr>
          <p:nvPr/>
        </p:nvSpPr>
        <p:spPr>
          <a:xfrm>
            <a:off x="723900" y="3181350"/>
            <a:ext cx="1219200" cy="723900"/>
          </a:xfrm>
          <a:prstGeom prst="rect">
            <a:avLst/>
          </a:prstGeom>
          <a:noFill/>
          <a:ln w="0">
            <a:noFill/>
            <a:prstDash val="solid"/>
          </a:ln>
        </p:spPr>
        <p:txBody>
          <a:bodyPr anchor="ctr"/>
          <a:lstStyle/>
          <a:p>
            <a:pPr algn="ctr">
              <a:buNone/>
              <a:defRPr sz="1500" b="1">
                <a:solidFill>
                  <a:srgbClr val="FFFFFF"/>
                </a:solidFill>
              </a:defRPr>
            </a:pPr>
            <a:r>
              <a:rPr sz="1500" b="1">
                <a:solidFill>
                  <a:srgbClr val="FFFFFF"/>
                </a:solidFill>
              </a:rPr>
              <a:t>Was gilt nach</a:t>
            </a:r>
          </a:p>
          <a:p>
            <a:pPr algn="ctr">
              <a:buNone/>
              <a:defRPr sz="1500" b="1">
                <a:solidFill>
                  <a:srgbClr val="FFFFFF"/>
                </a:solidFill>
              </a:defRPr>
            </a:pPr>
            <a:r>
              <a:rPr sz="1500" b="1">
                <a:solidFill>
                  <a:srgbClr val="FFFFFF"/>
                </a:solidFill>
              </a:rPr>
              <a:t>Art. 1 OR?</a:t>
            </a:r>
          </a:p>
        </p:txBody>
      </p:sp>
      <p:sp>
        <p:nvSpPr>
          <p:cNvPr id="12" name="stage2-label">
            <a:extLst>
              <a:ext uri="{FF2B5EF4-FFF2-40B4-BE49-F238E27FC236}">
                <a16:creationId xmlns:a16="http://schemas.microsoft.com/office/drawing/2014/main" id="{76B3E30B-6E9C-49C4-A4D9-623170EB133B}"/>
              </a:ext>
            </a:extLst>
          </p:cNvPr>
          <p:cNvSpPr>
            <a:spLocks noGrp="1"/>
          </p:cNvSpPr>
          <p:nvPr/>
        </p:nvSpPr>
        <p:spPr>
          <a:xfrm>
            <a:off x="2457450" y="1924050"/>
            <a:ext cx="2381250" cy="228600"/>
          </a:xfrm>
          <a:prstGeom prst="rect">
            <a:avLst/>
          </a:prstGeom>
          <a:noFill/>
          <a:ln w="0">
            <a:noFill/>
            <a:prstDash val="solid"/>
          </a:ln>
        </p:spPr>
        <p:txBody>
          <a:bodyPr anchor="ctr"/>
          <a:lstStyle/>
          <a:p>
            <a:pPr algn="l">
              <a:buNone/>
              <a:defRPr sz="975" b="1">
                <a:solidFill>
                  <a:srgbClr val="746B5F"/>
                </a:solidFill>
              </a:defRPr>
            </a:pPr>
            <a:r>
              <a:rPr sz="975" b="1">
                <a:solidFill>
                  <a:srgbClr val="746B5F"/>
                </a:solidFill>
              </a:rPr>
              <a:t>2  HYBRID SUCHEN</a:t>
            </a:r>
          </a:p>
        </p:txBody>
      </p:sp>
      <p:sp>
        <p:nvSpPr>
          <p:cNvPr id="13" name="retrieval-shell">
            <a:extLst>
              <a:ext uri="{FF2B5EF4-FFF2-40B4-BE49-F238E27FC236}">
                <a16:creationId xmlns:a16="http://schemas.microsoft.com/office/drawing/2014/main" id="{9857F60E-DF60-4A5E-A0C5-581D2A407A1B}"/>
              </a:ext>
            </a:extLst>
          </p:cNvPr>
          <p:cNvSpPr>
            <a:spLocks noGrp="1"/>
          </p:cNvSpPr>
          <p:nvPr/>
        </p:nvSpPr>
        <p:spPr>
          <a:xfrm>
            <a:off x="2381250" y="2266950"/>
            <a:ext cx="2667000" cy="2190750"/>
          </a:xfrm>
          <a:prstGeom prst="roundRect">
            <a:avLst>
              <a:gd name="adj" fmla="val 5217"/>
            </a:avLst>
          </a:prstGeom>
          <a:solidFill>
            <a:srgbClr val="F6F7F7"/>
          </a:solidFill>
          <a:ln w="9525">
            <a:solidFill>
              <a:srgbClr val="D7DDDF"/>
            </a:solidFill>
            <a:prstDash val="solid"/>
          </a:ln>
        </p:spPr>
        <p:txBody>
          <a:bodyPr/>
          <a:lstStyle/>
          <a:p>
            <a:endParaRPr/>
          </a:p>
        </p:txBody>
      </p:sp>
      <p:sp>
        <p:nvSpPr>
          <p:cNvPr id="14" name="semantic">
            <a:extLst>
              <a:ext uri="{FF2B5EF4-FFF2-40B4-BE49-F238E27FC236}">
                <a16:creationId xmlns:a16="http://schemas.microsoft.com/office/drawing/2014/main" id="{2BB447C8-B808-4FA8-84BC-424411EDDFFC}"/>
              </a:ext>
            </a:extLst>
          </p:cNvPr>
          <p:cNvSpPr>
            <a:spLocks noGrp="1"/>
          </p:cNvSpPr>
          <p:nvPr/>
        </p:nvSpPr>
        <p:spPr>
          <a:xfrm>
            <a:off x="2609850" y="2505075"/>
            <a:ext cx="2209800" cy="714375"/>
          </a:xfrm>
          <a:prstGeom prst="roundRect">
            <a:avLst>
              <a:gd name="adj" fmla="val 10667"/>
            </a:avLst>
          </a:prstGeom>
          <a:solidFill>
            <a:srgbClr val="FAEDF0"/>
          </a:solidFill>
          <a:ln w="11430">
            <a:solidFill>
              <a:srgbClr val="D20A32"/>
            </a:solidFill>
            <a:prstDash val="solid"/>
          </a:ln>
        </p:spPr>
        <p:txBody>
          <a:bodyPr/>
          <a:lstStyle/>
          <a:p>
            <a:endParaRPr/>
          </a:p>
        </p:txBody>
      </p:sp>
      <p:sp>
        <p:nvSpPr>
          <p:cNvPr id="15" name="semantic-title">
            <a:extLst>
              <a:ext uri="{FF2B5EF4-FFF2-40B4-BE49-F238E27FC236}">
                <a16:creationId xmlns:a16="http://schemas.microsoft.com/office/drawing/2014/main" id="{4E361F9E-9187-4347-A714-B3A84599E622}"/>
              </a:ext>
            </a:extLst>
          </p:cNvPr>
          <p:cNvSpPr>
            <a:spLocks noGrp="1"/>
          </p:cNvSpPr>
          <p:nvPr/>
        </p:nvSpPr>
        <p:spPr>
          <a:xfrm>
            <a:off x="2781300" y="2609850"/>
            <a:ext cx="1866900" cy="209550"/>
          </a:xfrm>
          <a:prstGeom prst="rect">
            <a:avLst/>
          </a:prstGeom>
          <a:noFill/>
          <a:ln w="0">
            <a:noFill/>
            <a:prstDash val="solid"/>
          </a:ln>
        </p:spPr>
        <p:txBody>
          <a:bodyPr anchor="ctr"/>
          <a:lstStyle/>
          <a:p>
            <a:pPr algn="ctr">
              <a:buNone/>
              <a:defRPr sz="975" b="1">
                <a:solidFill>
                  <a:srgbClr val="D20A32"/>
                </a:solidFill>
              </a:defRPr>
            </a:pPr>
            <a:r>
              <a:rPr sz="975" b="1">
                <a:solidFill>
                  <a:srgbClr val="D20A32"/>
                </a:solidFill>
              </a:rPr>
              <a:t>SEMANTISCH</a:t>
            </a:r>
          </a:p>
        </p:txBody>
      </p:sp>
      <p:sp>
        <p:nvSpPr>
          <p:cNvPr id="16" name="semantic-copy">
            <a:extLst>
              <a:ext uri="{FF2B5EF4-FFF2-40B4-BE49-F238E27FC236}">
                <a16:creationId xmlns:a16="http://schemas.microsoft.com/office/drawing/2014/main" id="{0BE3B2CE-06DF-47C4-B20E-B5FB15A07661}"/>
              </a:ext>
            </a:extLst>
          </p:cNvPr>
          <p:cNvSpPr>
            <a:spLocks noGrp="1"/>
          </p:cNvSpPr>
          <p:nvPr/>
        </p:nvSpPr>
        <p:spPr>
          <a:xfrm>
            <a:off x="2781300" y="2847975"/>
            <a:ext cx="1866900" cy="209550"/>
          </a:xfrm>
          <a:prstGeom prst="rect">
            <a:avLst/>
          </a:prstGeom>
          <a:noFill/>
          <a:ln w="0">
            <a:noFill/>
            <a:prstDash val="solid"/>
          </a:ln>
        </p:spPr>
        <p:txBody>
          <a:bodyPr anchor="ctr"/>
          <a:lstStyle/>
          <a:p>
            <a:pPr algn="ctr">
              <a:buNone/>
              <a:defRPr sz="1125" b="0">
                <a:solidFill>
                  <a:srgbClr val="304452"/>
                </a:solidFill>
              </a:defRPr>
            </a:pPr>
            <a:r>
              <a:rPr sz="1125" b="0">
                <a:solidFill>
                  <a:srgbClr val="304452"/>
                </a:solidFill>
              </a:rPr>
              <a:t>ähnliche Bedeutung</a:t>
            </a:r>
          </a:p>
        </p:txBody>
      </p:sp>
      <p:sp>
        <p:nvSpPr>
          <p:cNvPr id="17" name="lexical">
            <a:extLst>
              <a:ext uri="{FF2B5EF4-FFF2-40B4-BE49-F238E27FC236}">
                <a16:creationId xmlns:a16="http://schemas.microsoft.com/office/drawing/2014/main" id="{6A731CA1-4326-4828-A048-3CBC572829D8}"/>
              </a:ext>
            </a:extLst>
          </p:cNvPr>
          <p:cNvSpPr>
            <a:spLocks noGrp="1"/>
          </p:cNvSpPr>
          <p:nvPr/>
        </p:nvSpPr>
        <p:spPr>
          <a:xfrm>
            <a:off x="2609850" y="3438525"/>
            <a:ext cx="2209800" cy="714375"/>
          </a:xfrm>
          <a:prstGeom prst="roundRect">
            <a:avLst>
              <a:gd name="adj" fmla="val 10667"/>
            </a:avLst>
          </a:prstGeom>
          <a:solidFill>
            <a:srgbClr val="EAF4F4"/>
          </a:solidFill>
          <a:ln w="11430">
            <a:solidFill>
              <a:srgbClr val="307F87"/>
            </a:solidFill>
            <a:prstDash val="solid"/>
          </a:ln>
        </p:spPr>
        <p:txBody>
          <a:bodyPr/>
          <a:lstStyle/>
          <a:p>
            <a:endParaRPr/>
          </a:p>
        </p:txBody>
      </p:sp>
      <p:sp>
        <p:nvSpPr>
          <p:cNvPr id="18" name="lexical-title">
            <a:extLst>
              <a:ext uri="{FF2B5EF4-FFF2-40B4-BE49-F238E27FC236}">
                <a16:creationId xmlns:a16="http://schemas.microsoft.com/office/drawing/2014/main" id="{13AABFC2-2DAE-4BEB-AB12-DC43990A5D46}"/>
              </a:ext>
            </a:extLst>
          </p:cNvPr>
          <p:cNvSpPr>
            <a:spLocks noGrp="1"/>
          </p:cNvSpPr>
          <p:nvPr/>
        </p:nvSpPr>
        <p:spPr>
          <a:xfrm>
            <a:off x="2781300" y="3543300"/>
            <a:ext cx="1866900" cy="209550"/>
          </a:xfrm>
          <a:prstGeom prst="rect">
            <a:avLst/>
          </a:prstGeom>
          <a:noFill/>
          <a:ln w="0">
            <a:noFill/>
            <a:prstDash val="solid"/>
          </a:ln>
        </p:spPr>
        <p:txBody>
          <a:bodyPr anchor="ctr"/>
          <a:lstStyle/>
          <a:p>
            <a:pPr algn="ctr">
              <a:buNone/>
              <a:defRPr sz="975" b="1">
                <a:solidFill>
                  <a:srgbClr val="307F87"/>
                </a:solidFill>
              </a:defRPr>
            </a:pPr>
            <a:r>
              <a:rPr sz="975" b="1">
                <a:solidFill>
                  <a:srgbClr val="307F87"/>
                </a:solidFill>
              </a:rPr>
              <a:t>LEXIKALISCH</a:t>
            </a:r>
          </a:p>
        </p:txBody>
      </p:sp>
      <p:sp>
        <p:nvSpPr>
          <p:cNvPr id="19" name="lexical-copy">
            <a:extLst>
              <a:ext uri="{FF2B5EF4-FFF2-40B4-BE49-F238E27FC236}">
                <a16:creationId xmlns:a16="http://schemas.microsoft.com/office/drawing/2014/main" id="{9FFDED9B-C5A8-4D35-AED5-08B8808E6621}"/>
              </a:ext>
            </a:extLst>
          </p:cNvPr>
          <p:cNvSpPr>
            <a:spLocks noGrp="1"/>
          </p:cNvSpPr>
          <p:nvPr/>
        </p:nvSpPr>
        <p:spPr>
          <a:xfrm>
            <a:off x="2781300" y="3781425"/>
            <a:ext cx="1866900" cy="209550"/>
          </a:xfrm>
          <a:prstGeom prst="rect">
            <a:avLst/>
          </a:prstGeom>
          <a:noFill/>
          <a:ln w="0">
            <a:noFill/>
            <a:prstDash val="solid"/>
          </a:ln>
        </p:spPr>
        <p:txBody>
          <a:bodyPr anchor="ctr"/>
          <a:lstStyle/>
          <a:p>
            <a:pPr algn="ctr">
              <a:buNone/>
              <a:defRPr sz="1125" b="0">
                <a:solidFill>
                  <a:srgbClr val="304452"/>
                </a:solidFill>
              </a:defRPr>
            </a:pPr>
            <a:r>
              <a:rPr sz="1125" b="0">
                <a:solidFill>
                  <a:srgbClr val="304452"/>
                </a:solidFill>
              </a:rPr>
              <a:t>Begriffe, Titel, Artikel</a:t>
            </a:r>
          </a:p>
        </p:txBody>
      </p:sp>
      <p:sp>
        <p:nvSpPr>
          <p:cNvPr id="20" name="stage3-label">
            <a:extLst>
              <a:ext uri="{FF2B5EF4-FFF2-40B4-BE49-F238E27FC236}">
                <a16:creationId xmlns:a16="http://schemas.microsoft.com/office/drawing/2014/main" id="{235356C2-D245-426F-8CBE-5E61C6210532}"/>
              </a:ext>
            </a:extLst>
          </p:cNvPr>
          <p:cNvSpPr>
            <a:spLocks noGrp="1"/>
          </p:cNvSpPr>
          <p:nvPr/>
        </p:nvSpPr>
        <p:spPr>
          <a:xfrm>
            <a:off x="5295900" y="1924050"/>
            <a:ext cx="1524000" cy="228600"/>
          </a:xfrm>
          <a:prstGeom prst="rect">
            <a:avLst/>
          </a:prstGeom>
          <a:noFill/>
          <a:ln w="0">
            <a:noFill/>
            <a:prstDash val="solid"/>
          </a:ln>
        </p:spPr>
        <p:txBody>
          <a:bodyPr anchor="ctr"/>
          <a:lstStyle/>
          <a:p>
            <a:pPr algn="l">
              <a:buNone/>
              <a:defRPr sz="975" b="1">
                <a:solidFill>
                  <a:srgbClr val="746B5F"/>
                </a:solidFill>
              </a:defRPr>
            </a:pPr>
            <a:r>
              <a:rPr sz="975" b="1">
                <a:solidFill>
                  <a:srgbClr val="746B5F"/>
                </a:solidFill>
              </a:rPr>
              <a:t>3  FUSIONIEREN</a:t>
            </a:r>
          </a:p>
        </p:txBody>
      </p:sp>
      <p:sp>
        <p:nvSpPr>
          <p:cNvPr id="21" name="rrf-circle">
            <a:extLst>
              <a:ext uri="{FF2B5EF4-FFF2-40B4-BE49-F238E27FC236}">
                <a16:creationId xmlns:a16="http://schemas.microsoft.com/office/drawing/2014/main" id="{D4B349E2-9E52-4F2E-B8F2-230B2D6416A5}"/>
              </a:ext>
            </a:extLst>
          </p:cNvPr>
          <p:cNvSpPr>
            <a:spLocks noGrp="1"/>
          </p:cNvSpPr>
          <p:nvPr/>
        </p:nvSpPr>
        <p:spPr>
          <a:xfrm>
            <a:off x="5305425" y="2647950"/>
            <a:ext cx="1200150" cy="1200150"/>
          </a:xfrm>
          <a:prstGeom prst="ellipse">
            <a:avLst/>
          </a:prstGeom>
          <a:solidFill>
            <a:srgbClr val="834A78"/>
          </a:solidFill>
          <a:ln w="0">
            <a:solidFill>
              <a:srgbClr val="834A78"/>
            </a:solidFill>
            <a:prstDash val="solid"/>
          </a:ln>
        </p:spPr>
        <p:txBody>
          <a:bodyPr/>
          <a:lstStyle/>
          <a:p>
            <a:endParaRPr/>
          </a:p>
        </p:txBody>
      </p:sp>
      <p:sp>
        <p:nvSpPr>
          <p:cNvPr id="22" name="rrf">
            <a:extLst>
              <a:ext uri="{FF2B5EF4-FFF2-40B4-BE49-F238E27FC236}">
                <a16:creationId xmlns:a16="http://schemas.microsoft.com/office/drawing/2014/main" id="{AB1BF576-4F9B-4627-91D6-22C9CC9302AD}"/>
              </a:ext>
            </a:extLst>
          </p:cNvPr>
          <p:cNvSpPr>
            <a:spLocks noGrp="1"/>
          </p:cNvSpPr>
          <p:nvPr/>
        </p:nvSpPr>
        <p:spPr>
          <a:xfrm>
            <a:off x="5514975" y="3052764"/>
            <a:ext cx="762000" cy="342900"/>
          </a:xfrm>
          <a:prstGeom prst="rect">
            <a:avLst/>
          </a:prstGeom>
          <a:noFill/>
          <a:ln w="0">
            <a:noFill/>
            <a:prstDash val="solid"/>
          </a:ln>
        </p:spPr>
        <p:txBody>
          <a:bodyPr anchor="ctr"/>
          <a:lstStyle/>
          <a:p>
            <a:pPr algn="ctr">
              <a:buNone/>
              <a:defRPr sz="1950" b="1">
                <a:solidFill>
                  <a:srgbClr val="FFFFFF"/>
                </a:solidFill>
              </a:defRPr>
            </a:pPr>
            <a:r>
              <a:rPr sz="1950" b="1">
                <a:solidFill>
                  <a:srgbClr val="FFFFFF"/>
                </a:solidFill>
              </a:rPr>
              <a:t>RRF</a:t>
            </a:r>
          </a:p>
        </p:txBody>
      </p:sp>
      <p:sp>
        <p:nvSpPr>
          <p:cNvPr id="23" name="rrf-copy">
            <a:extLst>
              <a:ext uri="{FF2B5EF4-FFF2-40B4-BE49-F238E27FC236}">
                <a16:creationId xmlns:a16="http://schemas.microsoft.com/office/drawing/2014/main" id="{7628CD87-A2E9-4DE0-A32F-092CF186B32D}"/>
              </a:ext>
            </a:extLst>
          </p:cNvPr>
          <p:cNvSpPr>
            <a:spLocks noGrp="1"/>
          </p:cNvSpPr>
          <p:nvPr/>
        </p:nvSpPr>
        <p:spPr>
          <a:xfrm>
            <a:off x="5267325" y="3898447"/>
            <a:ext cx="1276350" cy="457200"/>
          </a:xfrm>
          <a:prstGeom prst="rect">
            <a:avLst/>
          </a:prstGeom>
          <a:noFill/>
          <a:ln w="0">
            <a:noFill/>
            <a:prstDash val="solid"/>
          </a:ln>
        </p:spPr>
        <p:txBody>
          <a:bodyPr anchor="ctr"/>
          <a:lstStyle/>
          <a:p>
            <a:pPr algn="ctr">
              <a:buNone/>
              <a:defRPr sz="1125" b="1">
                <a:solidFill>
                  <a:srgbClr val="834A78"/>
                </a:solidFill>
              </a:defRPr>
            </a:pPr>
            <a:r>
              <a:rPr sz="1125" b="1">
                <a:solidFill>
                  <a:srgbClr val="834A78"/>
                </a:solidFill>
              </a:rPr>
              <a:t>ein gemeinsames</a:t>
            </a:r>
          </a:p>
          <a:p>
            <a:pPr algn="ctr">
              <a:buNone/>
              <a:defRPr sz="1125" b="1">
                <a:solidFill>
                  <a:srgbClr val="834A78"/>
                </a:solidFill>
              </a:defRPr>
            </a:pPr>
            <a:r>
              <a:rPr sz="1125" b="1">
                <a:solidFill>
                  <a:srgbClr val="834A78"/>
                </a:solidFill>
              </a:rPr>
              <a:t>Ranking</a:t>
            </a:r>
          </a:p>
        </p:txBody>
      </p:sp>
      <p:sp>
        <p:nvSpPr>
          <p:cNvPr id="24" name="stage4-label">
            <a:extLst>
              <a:ext uri="{FF2B5EF4-FFF2-40B4-BE49-F238E27FC236}">
                <a16:creationId xmlns:a16="http://schemas.microsoft.com/office/drawing/2014/main" id="{7121B195-CD04-42B9-857A-7411FCE0D2AE}"/>
              </a:ext>
            </a:extLst>
          </p:cNvPr>
          <p:cNvSpPr>
            <a:spLocks noGrp="1"/>
          </p:cNvSpPr>
          <p:nvPr/>
        </p:nvSpPr>
        <p:spPr>
          <a:xfrm>
            <a:off x="7029450" y="1924050"/>
            <a:ext cx="2190750" cy="228600"/>
          </a:xfrm>
          <a:prstGeom prst="rect">
            <a:avLst/>
          </a:prstGeom>
          <a:noFill/>
          <a:ln w="0">
            <a:noFill/>
            <a:prstDash val="solid"/>
          </a:ln>
        </p:spPr>
        <p:txBody>
          <a:bodyPr anchor="ctr"/>
          <a:lstStyle/>
          <a:p>
            <a:pPr algn="l">
              <a:buNone/>
              <a:defRPr sz="975" b="1">
                <a:solidFill>
                  <a:srgbClr val="746B5F"/>
                </a:solidFill>
              </a:defRPr>
            </a:pPr>
            <a:r>
              <a:rPr sz="975" b="1">
                <a:solidFill>
                  <a:srgbClr val="746B5F"/>
                </a:solidFill>
              </a:rPr>
              <a:t>4  GRAPH ERWEITERT</a:t>
            </a:r>
          </a:p>
        </p:txBody>
      </p:sp>
      <p:sp>
        <p:nvSpPr>
          <p:cNvPr id="25" name="graph-shell">
            <a:extLst>
              <a:ext uri="{FF2B5EF4-FFF2-40B4-BE49-F238E27FC236}">
                <a16:creationId xmlns:a16="http://schemas.microsoft.com/office/drawing/2014/main" id="{87E6382C-B553-4245-B050-7CD41D1EFB82}"/>
              </a:ext>
            </a:extLst>
          </p:cNvPr>
          <p:cNvSpPr>
            <a:spLocks noGrp="1"/>
          </p:cNvSpPr>
          <p:nvPr/>
        </p:nvSpPr>
        <p:spPr>
          <a:xfrm>
            <a:off x="6953250" y="2266950"/>
            <a:ext cx="2400300" cy="2190750"/>
          </a:xfrm>
          <a:prstGeom prst="roundRect">
            <a:avLst>
              <a:gd name="adj" fmla="val 5217"/>
            </a:avLst>
          </a:prstGeom>
          <a:solidFill>
            <a:srgbClr val="FBF3DF"/>
          </a:solidFill>
          <a:ln w="9525">
            <a:solidFill>
              <a:srgbClr val="E5D4AA"/>
            </a:solidFill>
            <a:prstDash val="solid"/>
          </a:ln>
        </p:spPr>
        <p:txBody>
          <a:bodyPr/>
          <a:lstStyle/>
          <a:p>
            <a:endParaRPr/>
          </a:p>
        </p:txBody>
      </p:sp>
      <p:sp>
        <p:nvSpPr>
          <p:cNvPr id="26" name="edge-a">
            <a:extLst>
              <a:ext uri="{FF2B5EF4-FFF2-40B4-BE49-F238E27FC236}">
                <a16:creationId xmlns:a16="http://schemas.microsoft.com/office/drawing/2014/main" id="{7B9FB8E1-886E-4AE5-939D-AB152D87E07E}"/>
              </a:ext>
            </a:extLst>
          </p:cNvPr>
          <p:cNvSpPr>
            <a:spLocks noGrp="1"/>
          </p:cNvSpPr>
          <p:nvPr/>
        </p:nvSpPr>
        <p:spPr>
          <a:xfrm>
            <a:off x="7553325" y="3105150"/>
            <a:ext cx="723900" cy="0"/>
          </a:xfrm>
          <a:prstGeom prst="line">
            <a:avLst/>
          </a:prstGeom>
          <a:noFill/>
          <a:ln w="19050">
            <a:solidFill>
              <a:srgbClr val="304452"/>
            </a:solidFill>
            <a:prstDash val="solid"/>
          </a:ln>
        </p:spPr>
        <p:txBody>
          <a:bodyPr/>
          <a:lstStyle/>
          <a:p>
            <a:endParaRPr/>
          </a:p>
        </p:txBody>
      </p:sp>
      <p:sp>
        <p:nvSpPr>
          <p:cNvPr id="27" name="edge-b">
            <a:extLst>
              <a:ext uri="{FF2B5EF4-FFF2-40B4-BE49-F238E27FC236}">
                <a16:creationId xmlns:a16="http://schemas.microsoft.com/office/drawing/2014/main" id="{AC5CC76D-E5AD-4B63-A324-2CB690352918}"/>
              </a:ext>
            </a:extLst>
          </p:cNvPr>
          <p:cNvSpPr>
            <a:spLocks noGrp="1"/>
          </p:cNvSpPr>
          <p:nvPr/>
        </p:nvSpPr>
        <p:spPr>
          <a:xfrm>
            <a:off x="7553325" y="3105150"/>
            <a:ext cx="819150" cy="409575"/>
          </a:xfrm>
          <a:prstGeom prst="line">
            <a:avLst/>
          </a:prstGeom>
          <a:noFill/>
          <a:ln w="19050">
            <a:solidFill>
              <a:srgbClr val="304452"/>
            </a:solidFill>
            <a:prstDash val="solid"/>
          </a:ln>
        </p:spPr>
        <p:txBody>
          <a:bodyPr/>
          <a:lstStyle/>
          <a:p>
            <a:endParaRPr/>
          </a:p>
        </p:txBody>
      </p:sp>
      <p:sp>
        <p:nvSpPr>
          <p:cNvPr id="28" name="edge-c">
            <a:extLst>
              <a:ext uri="{FF2B5EF4-FFF2-40B4-BE49-F238E27FC236}">
                <a16:creationId xmlns:a16="http://schemas.microsoft.com/office/drawing/2014/main" id="{EAC8DC4F-3E13-4478-BA01-2FAEA4D054D4}"/>
              </a:ext>
            </a:extLst>
          </p:cNvPr>
          <p:cNvSpPr>
            <a:spLocks noGrp="1"/>
          </p:cNvSpPr>
          <p:nvPr/>
        </p:nvSpPr>
        <p:spPr>
          <a:xfrm>
            <a:off x="8277225" y="2743200"/>
            <a:ext cx="95250" cy="771525"/>
          </a:xfrm>
          <a:prstGeom prst="line">
            <a:avLst/>
          </a:prstGeom>
          <a:noFill/>
          <a:ln w="19050">
            <a:solidFill>
              <a:srgbClr val="304452"/>
            </a:solidFill>
            <a:prstDash val="solid"/>
          </a:ln>
        </p:spPr>
        <p:txBody>
          <a:bodyPr/>
          <a:lstStyle/>
          <a:p>
            <a:endParaRPr/>
          </a:p>
        </p:txBody>
      </p:sp>
      <p:sp>
        <p:nvSpPr>
          <p:cNvPr id="29" name="node-main">
            <a:extLst>
              <a:ext uri="{FF2B5EF4-FFF2-40B4-BE49-F238E27FC236}">
                <a16:creationId xmlns:a16="http://schemas.microsoft.com/office/drawing/2014/main" id="{E0D88280-E72C-4BF1-AA0D-01F27726CF1B}"/>
              </a:ext>
            </a:extLst>
          </p:cNvPr>
          <p:cNvSpPr>
            <a:spLocks noGrp="1"/>
          </p:cNvSpPr>
          <p:nvPr/>
        </p:nvSpPr>
        <p:spPr>
          <a:xfrm>
            <a:off x="7334250" y="2819400"/>
            <a:ext cx="590550" cy="590550"/>
          </a:xfrm>
          <a:prstGeom prst="ellipse">
            <a:avLst/>
          </a:prstGeom>
          <a:solidFill>
            <a:srgbClr val="D49400"/>
          </a:solidFill>
          <a:ln w="19050">
            <a:solidFill>
              <a:srgbClr val="FFFFFF"/>
            </a:solidFill>
            <a:prstDash val="solid"/>
          </a:ln>
        </p:spPr>
        <p:txBody>
          <a:bodyPr/>
          <a:lstStyle/>
          <a:p>
            <a:endParaRPr/>
          </a:p>
        </p:txBody>
      </p:sp>
      <p:sp>
        <p:nvSpPr>
          <p:cNvPr id="30" name="node-neighbor-1">
            <a:extLst>
              <a:ext uri="{FF2B5EF4-FFF2-40B4-BE49-F238E27FC236}">
                <a16:creationId xmlns:a16="http://schemas.microsoft.com/office/drawing/2014/main" id="{75FEA930-0C69-4D20-BBBF-D441480D64A8}"/>
              </a:ext>
            </a:extLst>
          </p:cNvPr>
          <p:cNvSpPr>
            <a:spLocks noGrp="1"/>
          </p:cNvSpPr>
          <p:nvPr/>
        </p:nvSpPr>
        <p:spPr>
          <a:xfrm>
            <a:off x="8096250" y="2457450"/>
            <a:ext cx="590550" cy="590550"/>
          </a:xfrm>
          <a:prstGeom prst="ellipse">
            <a:avLst/>
          </a:prstGeom>
          <a:solidFill>
            <a:srgbClr val="307F87"/>
          </a:solidFill>
          <a:ln w="19050">
            <a:solidFill>
              <a:srgbClr val="FFFFFF"/>
            </a:solidFill>
            <a:prstDash val="solid"/>
          </a:ln>
        </p:spPr>
        <p:txBody>
          <a:bodyPr/>
          <a:lstStyle/>
          <a:p>
            <a:endParaRPr/>
          </a:p>
        </p:txBody>
      </p:sp>
      <p:sp>
        <p:nvSpPr>
          <p:cNvPr id="31" name="node-neighbor-2">
            <a:extLst>
              <a:ext uri="{FF2B5EF4-FFF2-40B4-BE49-F238E27FC236}">
                <a16:creationId xmlns:a16="http://schemas.microsoft.com/office/drawing/2014/main" id="{79228D47-291B-4A14-8451-268CE67330B9}"/>
              </a:ext>
            </a:extLst>
          </p:cNvPr>
          <p:cNvSpPr>
            <a:spLocks noGrp="1"/>
          </p:cNvSpPr>
          <p:nvPr/>
        </p:nvSpPr>
        <p:spPr>
          <a:xfrm>
            <a:off x="8191500" y="3238500"/>
            <a:ext cx="590550" cy="590550"/>
          </a:xfrm>
          <a:prstGeom prst="ellipse">
            <a:avLst/>
          </a:prstGeom>
          <a:solidFill>
            <a:srgbClr val="8A7D66"/>
          </a:solidFill>
          <a:ln w="19050">
            <a:solidFill>
              <a:srgbClr val="FFFFFF"/>
            </a:solidFill>
            <a:prstDash val="solid"/>
          </a:ln>
        </p:spPr>
        <p:txBody>
          <a:bodyPr/>
          <a:lstStyle/>
          <a:p>
            <a:endParaRPr/>
          </a:p>
        </p:txBody>
      </p:sp>
      <p:sp>
        <p:nvSpPr>
          <p:cNvPr id="32" name="node-main-label">
            <a:extLst>
              <a:ext uri="{FF2B5EF4-FFF2-40B4-BE49-F238E27FC236}">
                <a16:creationId xmlns:a16="http://schemas.microsoft.com/office/drawing/2014/main" id="{7DC7B519-47AB-46C9-8569-5B18627185C8}"/>
              </a:ext>
            </a:extLst>
          </p:cNvPr>
          <p:cNvSpPr>
            <a:spLocks noGrp="1"/>
          </p:cNvSpPr>
          <p:nvPr/>
        </p:nvSpPr>
        <p:spPr>
          <a:xfrm>
            <a:off x="7391400" y="2990850"/>
            <a:ext cx="476250" cy="190500"/>
          </a:xfrm>
          <a:prstGeom prst="rect">
            <a:avLst/>
          </a:prstGeom>
          <a:noFill/>
          <a:ln w="0">
            <a:noFill/>
            <a:prstDash val="solid"/>
          </a:ln>
        </p:spPr>
        <p:txBody>
          <a:bodyPr anchor="ctr"/>
          <a:lstStyle/>
          <a:p>
            <a:pPr algn="ctr">
              <a:buNone/>
              <a:defRPr sz="825" b="1">
                <a:solidFill>
                  <a:srgbClr val="FFFFFF"/>
                </a:solidFill>
              </a:defRPr>
            </a:pPr>
            <a:r>
              <a:rPr sz="825" b="1">
                <a:solidFill>
                  <a:srgbClr val="FFFFFF"/>
                </a:solidFill>
              </a:rPr>
              <a:t>Art. 1</a:t>
            </a:r>
          </a:p>
        </p:txBody>
      </p:sp>
      <p:sp>
        <p:nvSpPr>
          <p:cNvPr id="33" name="node-n1-label">
            <a:extLst>
              <a:ext uri="{FF2B5EF4-FFF2-40B4-BE49-F238E27FC236}">
                <a16:creationId xmlns:a16="http://schemas.microsoft.com/office/drawing/2014/main" id="{F903413A-E460-4D34-B643-823E1C767178}"/>
              </a:ext>
            </a:extLst>
          </p:cNvPr>
          <p:cNvSpPr>
            <a:spLocks noGrp="1"/>
          </p:cNvSpPr>
          <p:nvPr/>
        </p:nvSpPr>
        <p:spPr>
          <a:xfrm>
            <a:off x="8115300" y="2628900"/>
            <a:ext cx="552450" cy="190500"/>
          </a:xfrm>
          <a:prstGeom prst="rect">
            <a:avLst/>
          </a:prstGeom>
          <a:noFill/>
          <a:ln w="0">
            <a:noFill/>
            <a:prstDash val="solid"/>
          </a:ln>
        </p:spPr>
        <p:txBody>
          <a:bodyPr anchor="ctr"/>
          <a:lstStyle/>
          <a:p>
            <a:pPr algn="ctr">
              <a:buNone/>
              <a:defRPr sz="750" b="1">
                <a:solidFill>
                  <a:srgbClr val="FFFFFF"/>
                </a:solidFill>
              </a:defRPr>
            </a:pPr>
            <a:r>
              <a:rPr sz="750" b="1">
                <a:solidFill>
                  <a:srgbClr val="FFFFFF"/>
                </a:solidFill>
              </a:rPr>
              <a:t>Begriff</a:t>
            </a:r>
          </a:p>
        </p:txBody>
      </p:sp>
      <p:sp>
        <p:nvSpPr>
          <p:cNvPr id="34" name="node-n2-label">
            <a:extLst>
              <a:ext uri="{FF2B5EF4-FFF2-40B4-BE49-F238E27FC236}">
                <a16:creationId xmlns:a16="http://schemas.microsoft.com/office/drawing/2014/main" id="{29989550-207A-4BD6-8F84-7740CB818630}"/>
              </a:ext>
            </a:extLst>
          </p:cNvPr>
          <p:cNvSpPr>
            <a:spLocks noGrp="1"/>
          </p:cNvSpPr>
          <p:nvPr/>
        </p:nvSpPr>
        <p:spPr>
          <a:xfrm>
            <a:off x="8210550" y="3409950"/>
            <a:ext cx="552450" cy="190500"/>
          </a:xfrm>
          <a:prstGeom prst="rect">
            <a:avLst/>
          </a:prstGeom>
          <a:noFill/>
          <a:ln w="0">
            <a:noFill/>
            <a:prstDash val="solid"/>
          </a:ln>
        </p:spPr>
        <p:txBody>
          <a:bodyPr anchor="ctr"/>
          <a:lstStyle/>
          <a:p>
            <a:pPr algn="ctr">
              <a:buNone/>
              <a:defRPr sz="750" b="1">
                <a:solidFill>
                  <a:srgbClr val="FFFFFF"/>
                </a:solidFill>
              </a:defRPr>
            </a:pPr>
            <a:r>
              <a:rPr sz="750" b="1">
                <a:solidFill>
                  <a:srgbClr val="FFFFFF"/>
                </a:solidFill>
              </a:rPr>
              <a:t>Verweis</a:t>
            </a:r>
          </a:p>
        </p:txBody>
      </p:sp>
      <p:sp>
        <p:nvSpPr>
          <p:cNvPr id="35" name="graph-copy">
            <a:extLst>
              <a:ext uri="{FF2B5EF4-FFF2-40B4-BE49-F238E27FC236}">
                <a16:creationId xmlns:a16="http://schemas.microsoft.com/office/drawing/2014/main" id="{2F6AB87D-0801-4287-AA63-75DC59C00ABE}"/>
              </a:ext>
            </a:extLst>
          </p:cNvPr>
          <p:cNvSpPr>
            <a:spLocks noGrp="1"/>
          </p:cNvSpPr>
          <p:nvPr/>
        </p:nvSpPr>
        <p:spPr>
          <a:xfrm>
            <a:off x="7219950" y="3914775"/>
            <a:ext cx="1866900" cy="400050"/>
          </a:xfrm>
          <a:prstGeom prst="rect">
            <a:avLst/>
          </a:prstGeom>
          <a:noFill/>
          <a:ln w="0">
            <a:noFill/>
            <a:prstDash val="solid"/>
          </a:ln>
        </p:spPr>
        <p:txBody>
          <a:bodyPr anchor="ctr"/>
          <a:lstStyle/>
          <a:p>
            <a:pPr algn="ctr">
              <a:buNone/>
              <a:defRPr sz="1125" b="1">
                <a:solidFill>
                  <a:srgbClr val="304452"/>
                </a:solidFill>
              </a:defRPr>
            </a:pPr>
            <a:r>
              <a:rPr sz="1125" b="1">
                <a:solidFill>
                  <a:srgbClr val="304452"/>
                </a:solidFill>
              </a:rPr>
              <a:t>relevante Nachbarn</a:t>
            </a:r>
          </a:p>
          <a:p>
            <a:pPr algn="ctr">
              <a:buNone/>
              <a:defRPr sz="1125" b="1">
                <a:solidFill>
                  <a:srgbClr val="304452"/>
                </a:solidFill>
              </a:defRPr>
            </a:pPr>
            <a:r>
              <a:rPr sz="1125" b="1">
                <a:solidFill>
                  <a:srgbClr val="304452"/>
                </a:solidFill>
              </a:rPr>
              <a:t>gezielt ergänzen</a:t>
            </a:r>
          </a:p>
        </p:txBody>
      </p:sp>
      <p:sp>
        <p:nvSpPr>
          <p:cNvPr id="36" name="stage5-label">
            <a:extLst>
              <a:ext uri="{FF2B5EF4-FFF2-40B4-BE49-F238E27FC236}">
                <a16:creationId xmlns:a16="http://schemas.microsoft.com/office/drawing/2014/main" id="{D2446592-1FE5-4105-BA2B-CE0893685701}"/>
              </a:ext>
            </a:extLst>
          </p:cNvPr>
          <p:cNvSpPr>
            <a:spLocks noGrp="1"/>
          </p:cNvSpPr>
          <p:nvPr/>
        </p:nvSpPr>
        <p:spPr>
          <a:xfrm>
            <a:off x="9658350" y="1924050"/>
            <a:ext cx="1619250" cy="228600"/>
          </a:xfrm>
          <a:prstGeom prst="rect">
            <a:avLst/>
          </a:prstGeom>
          <a:noFill/>
          <a:ln w="0">
            <a:noFill/>
            <a:prstDash val="solid"/>
          </a:ln>
        </p:spPr>
        <p:txBody>
          <a:bodyPr anchor="ctr"/>
          <a:lstStyle/>
          <a:p>
            <a:pPr algn="l">
              <a:buNone/>
              <a:defRPr sz="975" b="1">
                <a:solidFill>
                  <a:srgbClr val="746B5F"/>
                </a:solidFill>
              </a:defRPr>
            </a:pPr>
            <a:r>
              <a:rPr sz="975" b="1">
                <a:solidFill>
                  <a:srgbClr val="746B5F"/>
                </a:solidFill>
              </a:rPr>
              <a:t>5  KONTEXT</a:t>
            </a:r>
          </a:p>
        </p:txBody>
      </p:sp>
      <p:sp>
        <p:nvSpPr>
          <p:cNvPr id="37" name="context">
            <a:extLst>
              <a:ext uri="{FF2B5EF4-FFF2-40B4-BE49-F238E27FC236}">
                <a16:creationId xmlns:a16="http://schemas.microsoft.com/office/drawing/2014/main" id="{296F1C51-5F1D-4F1F-80AF-8E958467C608}"/>
              </a:ext>
            </a:extLst>
          </p:cNvPr>
          <p:cNvSpPr>
            <a:spLocks noGrp="1"/>
          </p:cNvSpPr>
          <p:nvPr/>
        </p:nvSpPr>
        <p:spPr>
          <a:xfrm>
            <a:off x="9582150" y="2266950"/>
            <a:ext cx="2076450" cy="2190750"/>
          </a:xfrm>
          <a:prstGeom prst="roundRect">
            <a:avLst>
              <a:gd name="adj" fmla="val 5505"/>
            </a:avLst>
          </a:prstGeom>
          <a:solidFill>
            <a:srgbClr val="304452"/>
          </a:solidFill>
          <a:ln w="0">
            <a:solidFill>
              <a:srgbClr val="304452"/>
            </a:solidFill>
            <a:prstDash val="solid"/>
          </a:ln>
        </p:spPr>
        <p:txBody>
          <a:bodyPr/>
          <a:lstStyle/>
          <a:p>
            <a:endParaRPr/>
          </a:p>
        </p:txBody>
      </p:sp>
      <p:sp>
        <p:nvSpPr>
          <p:cNvPr id="38" name="context-title">
            <a:extLst>
              <a:ext uri="{FF2B5EF4-FFF2-40B4-BE49-F238E27FC236}">
                <a16:creationId xmlns:a16="http://schemas.microsoft.com/office/drawing/2014/main" id="{18310556-A6F3-4EF0-9434-83C9E0CDC80A}"/>
              </a:ext>
            </a:extLst>
          </p:cNvPr>
          <p:cNvSpPr>
            <a:spLocks noGrp="1"/>
          </p:cNvSpPr>
          <p:nvPr/>
        </p:nvSpPr>
        <p:spPr>
          <a:xfrm>
            <a:off x="9810750" y="2476500"/>
            <a:ext cx="1619250" cy="514350"/>
          </a:xfrm>
          <a:prstGeom prst="rect">
            <a:avLst/>
          </a:prstGeom>
          <a:noFill/>
          <a:ln w="0">
            <a:noFill/>
            <a:prstDash val="solid"/>
          </a:ln>
        </p:spPr>
        <p:txBody>
          <a:bodyPr anchor="ctr"/>
          <a:lstStyle/>
          <a:p>
            <a:pPr algn="ctr">
              <a:buNone/>
              <a:defRPr sz="1350" b="1">
                <a:solidFill>
                  <a:srgbClr val="FFFFFF"/>
                </a:solidFill>
              </a:defRPr>
            </a:pPr>
            <a:r>
              <a:rPr sz="1350" b="1">
                <a:solidFill>
                  <a:srgbClr val="FFFFFF"/>
                </a:solidFill>
              </a:rPr>
              <a:t>KURATIERTER</a:t>
            </a:r>
          </a:p>
          <a:p>
            <a:pPr algn="ctr">
              <a:buNone/>
              <a:defRPr sz="1350" b="1">
                <a:solidFill>
                  <a:srgbClr val="FFFFFF"/>
                </a:solidFill>
              </a:defRPr>
            </a:pPr>
            <a:r>
              <a:rPr sz="1350" b="1">
                <a:solidFill>
                  <a:srgbClr val="FFFFFF"/>
                </a:solidFill>
              </a:rPr>
              <a:t>KONTEXT</a:t>
            </a:r>
          </a:p>
        </p:txBody>
      </p:sp>
      <p:sp>
        <p:nvSpPr>
          <p:cNvPr id="39" name="context-rule">
            <a:extLst>
              <a:ext uri="{FF2B5EF4-FFF2-40B4-BE49-F238E27FC236}">
                <a16:creationId xmlns:a16="http://schemas.microsoft.com/office/drawing/2014/main" id="{0502F995-463E-4825-8FE2-0C53FB9F416D}"/>
              </a:ext>
            </a:extLst>
          </p:cNvPr>
          <p:cNvSpPr>
            <a:spLocks noGrp="1"/>
          </p:cNvSpPr>
          <p:nvPr/>
        </p:nvSpPr>
        <p:spPr>
          <a:xfrm>
            <a:off x="9858375" y="3114675"/>
            <a:ext cx="1524000" cy="0"/>
          </a:xfrm>
          <a:prstGeom prst="line">
            <a:avLst/>
          </a:prstGeom>
          <a:noFill/>
          <a:ln w="9525">
            <a:solidFill>
              <a:srgbClr val="80909A"/>
            </a:solidFill>
            <a:prstDash val="solid"/>
          </a:ln>
        </p:spPr>
        <p:txBody>
          <a:bodyPr/>
          <a:lstStyle/>
          <a:p>
            <a:endParaRPr/>
          </a:p>
        </p:txBody>
      </p:sp>
      <p:sp>
        <p:nvSpPr>
          <p:cNvPr id="40" name="context-items">
            <a:extLst>
              <a:ext uri="{FF2B5EF4-FFF2-40B4-BE49-F238E27FC236}">
                <a16:creationId xmlns:a16="http://schemas.microsoft.com/office/drawing/2014/main" id="{3E12AC63-7D0A-4A89-A39A-57AFDE02000B}"/>
              </a:ext>
            </a:extLst>
          </p:cNvPr>
          <p:cNvSpPr>
            <a:spLocks noGrp="1"/>
          </p:cNvSpPr>
          <p:nvPr/>
        </p:nvSpPr>
        <p:spPr>
          <a:xfrm>
            <a:off x="9839325" y="3276600"/>
            <a:ext cx="1600200" cy="838200"/>
          </a:xfrm>
          <a:prstGeom prst="rect">
            <a:avLst/>
          </a:prstGeom>
          <a:noFill/>
          <a:ln w="0">
            <a:noFill/>
            <a:prstDash val="solid"/>
          </a:ln>
        </p:spPr>
        <p:txBody>
          <a:bodyPr anchor="ctr"/>
          <a:lstStyle/>
          <a:p>
            <a:pPr algn="l">
              <a:buNone/>
              <a:defRPr sz="1125" b="0">
                <a:solidFill>
                  <a:srgbClr val="FFFFFF"/>
                </a:solidFill>
              </a:defRPr>
            </a:pPr>
            <a:r>
              <a:rPr sz="1125" b="0">
                <a:solidFill>
                  <a:srgbClr val="FFFFFF"/>
                </a:solidFill>
              </a:rPr>
              <a:t>• beste Treffer</a:t>
            </a:r>
          </a:p>
          <a:p>
            <a:pPr algn="l">
              <a:buNone/>
              <a:defRPr sz="1125" b="0">
                <a:solidFill>
                  <a:srgbClr val="FFFFFF"/>
                </a:solidFill>
              </a:defRPr>
            </a:pPr>
            <a:r>
              <a:rPr sz="1125" b="0">
                <a:solidFill>
                  <a:srgbClr val="FFFFFF"/>
                </a:solidFill>
              </a:rPr>
              <a:t>• passende Nachbarn</a:t>
            </a:r>
          </a:p>
          <a:p>
            <a:pPr algn="l">
              <a:buNone/>
              <a:defRPr sz="1125" b="0">
                <a:solidFill>
                  <a:srgbClr val="FFFFFF"/>
                </a:solidFill>
              </a:defRPr>
            </a:pPr>
            <a:r>
              <a:rPr sz="1125" b="0">
                <a:solidFill>
                  <a:srgbClr val="FFFFFF"/>
                </a:solidFill>
              </a:rPr>
              <a:t>• innerhalb des Limits</a:t>
            </a:r>
          </a:p>
        </p:txBody>
      </p:sp>
      <p:sp>
        <p:nvSpPr>
          <p:cNvPr id="41" name="takeaway">
            <a:extLst>
              <a:ext uri="{FF2B5EF4-FFF2-40B4-BE49-F238E27FC236}">
                <a16:creationId xmlns:a16="http://schemas.microsoft.com/office/drawing/2014/main" id="{8D67E1C2-6641-4B1A-BC5F-F5469ACC23E4}"/>
              </a:ext>
            </a:extLst>
          </p:cNvPr>
          <p:cNvSpPr>
            <a:spLocks noGrp="1"/>
          </p:cNvSpPr>
          <p:nvPr/>
        </p:nvSpPr>
        <p:spPr>
          <a:xfrm>
            <a:off x="1924050" y="4962525"/>
            <a:ext cx="8343900" cy="685800"/>
          </a:xfrm>
          <a:prstGeom prst="roundRect">
            <a:avLst>
              <a:gd name="adj" fmla="val 16667"/>
            </a:avLst>
          </a:prstGeom>
          <a:solidFill>
            <a:srgbClr val="304452"/>
          </a:solidFill>
          <a:ln w="0">
            <a:solidFill>
              <a:srgbClr val="304452"/>
            </a:solidFill>
            <a:prstDash val="solid"/>
          </a:ln>
        </p:spPr>
        <p:txBody>
          <a:bodyPr/>
          <a:lstStyle/>
          <a:p>
            <a:endParaRPr/>
          </a:p>
        </p:txBody>
      </p:sp>
      <p:sp>
        <p:nvSpPr>
          <p:cNvPr id="42" name="takeaway-title">
            <a:extLst>
              <a:ext uri="{FF2B5EF4-FFF2-40B4-BE49-F238E27FC236}">
                <a16:creationId xmlns:a16="http://schemas.microsoft.com/office/drawing/2014/main" id="{5BBAAA32-C1B5-4CDA-B33D-FF0DAEDEE8DE}"/>
              </a:ext>
            </a:extLst>
          </p:cNvPr>
          <p:cNvSpPr>
            <a:spLocks noGrp="1"/>
          </p:cNvSpPr>
          <p:nvPr/>
        </p:nvSpPr>
        <p:spPr>
          <a:xfrm>
            <a:off x="2209800" y="5076825"/>
            <a:ext cx="2190750" cy="247650"/>
          </a:xfrm>
          <a:prstGeom prst="rect">
            <a:avLst/>
          </a:prstGeom>
          <a:noFill/>
          <a:ln w="0">
            <a:noFill/>
            <a:prstDash val="solid"/>
          </a:ln>
        </p:spPr>
        <p:txBody>
          <a:bodyPr anchor="ctr"/>
          <a:lstStyle/>
          <a:p>
            <a:pPr algn="l">
              <a:buNone/>
              <a:defRPr sz="1275" b="1">
                <a:solidFill>
                  <a:srgbClr val="FFFFFF"/>
                </a:solidFill>
              </a:defRPr>
            </a:pPr>
            <a:r>
              <a:rPr sz="1275" b="1">
                <a:solidFill>
                  <a:srgbClr val="FFFFFF"/>
                </a:solidFill>
              </a:rPr>
              <a:t>Reihenfolge zählt:</a:t>
            </a:r>
          </a:p>
        </p:txBody>
      </p:sp>
      <p:sp>
        <p:nvSpPr>
          <p:cNvPr id="43" name="takeaway-copy">
            <a:extLst>
              <a:ext uri="{FF2B5EF4-FFF2-40B4-BE49-F238E27FC236}">
                <a16:creationId xmlns:a16="http://schemas.microsoft.com/office/drawing/2014/main" id="{4AEAB268-5AEF-4125-A134-19A80386259B}"/>
              </a:ext>
            </a:extLst>
          </p:cNvPr>
          <p:cNvSpPr>
            <a:spLocks noGrp="1"/>
          </p:cNvSpPr>
          <p:nvPr/>
        </p:nvSpPr>
        <p:spPr>
          <a:xfrm>
            <a:off x="2209800" y="5314950"/>
            <a:ext cx="7772400" cy="228600"/>
          </a:xfrm>
          <a:prstGeom prst="rect">
            <a:avLst/>
          </a:prstGeom>
          <a:noFill/>
          <a:ln w="0">
            <a:noFill/>
            <a:prstDash val="solid"/>
          </a:ln>
        </p:spPr>
        <p:txBody>
          <a:bodyPr anchor="ctr"/>
          <a:lstStyle/>
          <a:p>
            <a:pPr algn="l">
              <a:buNone/>
              <a:defRPr sz="1425" b="1">
                <a:solidFill>
                  <a:srgbClr val="FFFFFF"/>
                </a:solidFill>
              </a:defRPr>
            </a:pPr>
            <a:r>
              <a:rPr sz="1425" b="1">
                <a:solidFill>
                  <a:srgbClr val="FFFFFF"/>
                </a:solidFill>
              </a:rPr>
              <a:t>erst Treffer fusionieren, dann Beziehungen ergänzen.</a:t>
            </a:r>
          </a:p>
        </p:txBody>
      </p:sp>
      <p:sp>
        <p:nvSpPr>
          <p:cNvPr id="44" name="page">
            <a:extLst>
              <a:ext uri="{FF2B5EF4-FFF2-40B4-BE49-F238E27FC236}">
                <a16:creationId xmlns:a16="http://schemas.microsoft.com/office/drawing/2014/main" id="{FA5986F7-ED63-474F-8ABE-805440A84E62}"/>
              </a:ext>
            </a:extLst>
          </p:cNvPr>
          <p:cNvSpPr>
            <a:spLocks noGrp="1"/>
          </p:cNvSpPr>
          <p:nvPr/>
        </p:nvSpPr>
        <p:spPr>
          <a:xfrm>
            <a:off x="533400" y="6438900"/>
            <a:ext cx="419100" cy="171450"/>
          </a:xfrm>
          <a:prstGeom prst="rect">
            <a:avLst/>
          </a:prstGeom>
          <a:noFill/>
          <a:ln w="0">
            <a:noFill/>
            <a:prstDash val="solid"/>
          </a:ln>
        </p:spPr>
        <p:txBody>
          <a:bodyPr anchor="ctr"/>
          <a:lstStyle/>
          <a:p>
            <a:pPr algn="l">
              <a:buNone/>
              <a:defRPr sz="750" b="0">
                <a:solidFill>
                  <a:srgbClr val="304452"/>
                </a:solidFill>
              </a:defRPr>
            </a:pPr>
            <a:r>
              <a:rPr sz="750" b="0">
                <a:solidFill>
                  <a:srgbClr val="304452"/>
                </a:solidFill>
              </a:rPr>
              <a:t>16</a:t>
            </a:r>
          </a:p>
        </p:txBody>
      </p:sp>
      <p:sp>
        <p:nvSpPr>
          <p:cNvPr id="45" name="date">
            <a:extLst>
              <a:ext uri="{FF2B5EF4-FFF2-40B4-BE49-F238E27FC236}">
                <a16:creationId xmlns:a16="http://schemas.microsoft.com/office/drawing/2014/main" id="{C8C00A7A-1BAC-469B-98B0-317D78BCFDCE}"/>
              </a:ext>
            </a:extLst>
          </p:cNvPr>
          <p:cNvSpPr>
            <a:spLocks noGrp="1"/>
          </p:cNvSpPr>
          <p:nvPr/>
        </p:nvSpPr>
        <p:spPr>
          <a:xfrm>
            <a:off x="990600" y="6438900"/>
            <a:ext cx="857250" cy="171450"/>
          </a:xfrm>
          <a:prstGeom prst="rect">
            <a:avLst/>
          </a:prstGeom>
          <a:noFill/>
          <a:ln w="0">
            <a:noFill/>
            <a:prstDash val="solid"/>
          </a:ln>
        </p:spPr>
        <p:txBody>
          <a:bodyPr anchor="ctr"/>
          <a:lstStyle/>
          <a:p>
            <a:pPr algn="l">
              <a:buNone/>
              <a:defRPr sz="750" b="0">
                <a:solidFill>
                  <a:srgbClr val="304452"/>
                </a:solidFill>
              </a:defRPr>
            </a:pPr>
            <a:r>
              <a:rPr sz="750" b="0">
                <a:solidFill>
                  <a:srgbClr val="304452"/>
                </a:solidFill>
              </a:rPr>
              <a:t>04.08.2026</a:t>
            </a:r>
          </a:p>
        </p:txBody>
      </p:sp>
      <p:sp>
        <p:nvSpPr>
          <p:cNvPr id="47" name="slide-title">
            <a:extLst>
              <a:ext uri="{FF2B5EF4-FFF2-40B4-BE49-F238E27FC236}">
                <a16:creationId xmlns:a16="http://schemas.microsoft.com/office/drawing/2014/main" id="{C2984923-51DE-0413-B15B-2A1630DEB66E}"/>
              </a:ext>
            </a:extLst>
          </p:cNvPr>
          <p:cNvSpPr>
            <a:spLocks noGrp="1"/>
          </p:cNvSpPr>
          <p:nvPr/>
        </p:nvSpPr>
        <p:spPr>
          <a:xfrm>
            <a:off x="476250" y="333375"/>
            <a:ext cx="11239500" cy="714375"/>
          </a:xfrm>
          <a:prstGeom prst="rect">
            <a:avLst/>
          </a:prstGeom>
          <a:noFill/>
          <a:ln w="0">
            <a:noFill/>
            <a:prstDash val="solid"/>
          </a:ln>
        </p:spPr>
        <p:txBody>
          <a:bodyPr anchor="ctr"/>
          <a:lstStyle/>
          <a:p>
            <a:pPr algn="l">
              <a:buNone/>
              <a:defRPr sz="2850" b="0">
                <a:solidFill>
                  <a:srgbClr val="2D3F4B"/>
                </a:solidFill>
                <a:latin typeface="Arial"/>
                <a:ea typeface="Arial"/>
                <a:cs typeface="Arial"/>
              </a:defRPr>
            </a:pPr>
            <a:r>
              <a:rPr sz="2850" b="0" dirty="0" err="1">
                <a:solidFill>
                  <a:srgbClr val="2D3F4B"/>
                </a:solidFill>
                <a:latin typeface="Arial"/>
                <a:ea typeface="Arial"/>
                <a:cs typeface="Arial"/>
              </a:rPr>
              <a:t>GraphRAG</a:t>
            </a:r>
            <a:r>
              <a:rPr sz="2850" b="0" dirty="0">
                <a:solidFill>
                  <a:srgbClr val="2D3F4B"/>
                </a:solidFill>
                <a:latin typeface="Arial"/>
                <a:ea typeface="Arial"/>
                <a:cs typeface="Arial"/>
              </a:rPr>
              <a:t> </a:t>
            </a:r>
            <a:r>
              <a:rPr sz="2850" b="0" dirty="0" err="1">
                <a:solidFill>
                  <a:srgbClr val="2D3F4B"/>
                </a:solidFill>
                <a:latin typeface="Arial"/>
                <a:ea typeface="Arial"/>
                <a:cs typeface="Arial"/>
              </a:rPr>
              <a:t>verbindet</a:t>
            </a:r>
            <a:r>
              <a:rPr sz="2850" b="0" dirty="0">
                <a:solidFill>
                  <a:srgbClr val="2D3F4B"/>
                </a:solidFill>
                <a:latin typeface="Arial"/>
                <a:ea typeface="Arial"/>
                <a:cs typeface="Arial"/>
              </a:rPr>
              <a:t> </a:t>
            </a:r>
            <a:r>
              <a:rPr sz="2850" b="0" dirty="0" err="1">
                <a:solidFill>
                  <a:srgbClr val="2D3F4B"/>
                </a:solidFill>
                <a:latin typeface="Arial"/>
                <a:ea typeface="Arial"/>
                <a:cs typeface="Arial"/>
              </a:rPr>
              <a:t>mehrere</a:t>
            </a:r>
            <a:r>
              <a:rPr sz="2850" b="0" dirty="0">
                <a:solidFill>
                  <a:srgbClr val="2D3F4B"/>
                </a:solidFill>
                <a:latin typeface="Arial"/>
                <a:ea typeface="Arial"/>
                <a:cs typeface="Arial"/>
              </a:rPr>
              <a:t> </a:t>
            </a:r>
            <a:r>
              <a:rPr sz="2850" b="0" dirty="0" err="1">
                <a:solidFill>
                  <a:srgbClr val="2D3F4B"/>
                </a:solidFill>
                <a:latin typeface="Arial"/>
                <a:ea typeface="Arial"/>
                <a:cs typeface="Arial"/>
              </a:rPr>
              <a:t>Suchsignale</a:t>
            </a:r>
            <a:endParaRPr sz="2850" b="0" dirty="0">
              <a:solidFill>
                <a:srgbClr val="2D3F4B"/>
              </a:solidFill>
              <a:latin typeface="Arial"/>
              <a:ea typeface="Arial"/>
              <a:cs typeface="Arial"/>
            </a:endParaRPr>
          </a:p>
        </p:txBody>
      </p:sp>
    </p:spTree>
    <p:extLst>
      <p:ext uri="{BB962C8B-B14F-4D97-AF65-F5344CB8AC3E}">
        <p14:creationId xmlns:p14="http://schemas.microsoft.com/office/powerpoint/2010/main" val="10696963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ffline-label">
            <a:extLst>
              <a:ext uri="{FF2B5EF4-FFF2-40B4-BE49-F238E27FC236}">
                <a16:creationId xmlns:a16="http://schemas.microsoft.com/office/drawing/2014/main" id="{6DA752F8-763C-4CCC-BFED-D72863B0E678}"/>
              </a:ext>
            </a:extLst>
          </p:cNvPr>
          <p:cNvSpPr>
            <a:spLocks noGrp="1"/>
          </p:cNvSpPr>
          <p:nvPr/>
        </p:nvSpPr>
        <p:spPr>
          <a:xfrm>
            <a:off x="552450" y="1266825"/>
            <a:ext cx="2857500" cy="228600"/>
          </a:xfrm>
          <a:prstGeom prst="rect">
            <a:avLst/>
          </a:prstGeom>
          <a:noFill/>
          <a:ln w="0">
            <a:noFill/>
            <a:prstDash val="solid"/>
          </a:ln>
        </p:spPr>
        <p:txBody>
          <a:bodyPr anchor="ctr"/>
          <a:lstStyle/>
          <a:p>
            <a:pPr algn="l">
              <a:defRPr sz="975" b="1">
                <a:solidFill>
                  <a:srgbClr val="746B5F"/>
                </a:solidFill>
              </a:defRPr>
            </a:pPr>
            <a:r>
              <a:rPr sz="975" b="1">
                <a:solidFill>
                  <a:srgbClr val="746B5F"/>
                </a:solidFill>
              </a:rPr>
              <a:t>INDEXIERUNG · EINMALIG</a:t>
            </a:r>
          </a:p>
        </p:txBody>
      </p:sp>
      <p:sp>
        <p:nvSpPr>
          <p:cNvPr id="4" name="online-label">
            <a:extLst>
              <a:ext uri="{FF2B5EF4-FFF2-40B4-BE49-F238E27FC236}">
                <a16:creationId xmlns:a16="http://schemas.microsoft.com/office/drawing/2014/main" id="{D5A91E62-8CE5-4D2A-96C2-B0FEE8C0C4FC}"/>
              </a:ext>
            </a:extLst>
          </p:cNvPr>
          <p:cNvSpPr>
            <a:spLocks noGrp="1"/>
          </p:cNvSpPr>
          <p:nvPr/>
        </p:nvSpPr>
        <p:spPr>
          <a:xfrm>
            <a:off x="552450" y="3324225"/>
            <a:ext cx="2857500" cy="228600"/>
          </a:xfrm>
          <a:prstGeom prst="rect">
            <a:avLst/>
          </a:prstGeom>
          <a:noFill/>
          <a:ln w="0">
            <a:noFill/>
            <a:prstDash val="solid"/>
          </a:ln>
        </p:spPr>
        <p:txBody>
          <a:bodyPr anchor="ctr"/>
          <a:lstStyle/>
          <a:p>
            <a:pPr algn="l">
              <a:defRPr sz="975" b="1">
                <a:solidFill>
                  <a:srgbClr val="746B5F"/>
                </a:solidFill>
              </a:defRPr>
            </a:pPr>
            <a:r>
              <a:rPr sz="975" b="1">
                <a:solidFill>
                  <a:srgbClr val="746B5F"/>
                </a:solidFill>
              </a:rPr>
              <a:t>RETRIEVAL · PRO FRAGE</a:t>
            </a:r>
          </a:p>
        </p:txBody>
      </p:sp>
      <p:sp>
        <p:nvSpPr>
          <p:cNvPr id="5" name="offline-a">
            <a:extLst>
              <a:ext uri="{FF2B5EF4-FFF2-40B4-BE49-F238E27FC236}">
                <a16:creationId xmlns:a16="http://schemas.microsoft.com/office/drawing/2014/main" id="{19DF6C67-85CE-4348-A1E7-197C10019817}"/>
              </a:ext>
            </a:extLst>
          </p:cNvPr>
          <p:cNvSpPr>
            <a:spLocks noGrp="1"/>
          </p:cNvSpPr>
          <p:nvPr/>
        </p:nvSpPr>
        <p:spPr>
          <a:xfrm>
            <a:off x="2457450" y="2114550"/>
            <a:ext cx="238125" cy="361950"/>
          </a:xfrm>
          <a:prstGeom prst="chevron">
            <a:avLst/>
          </a:prstGeom>
          <a:solidFill>
            <a:srgbClr val="8B969C"/>
          </a:solidFill>
          <a:ln w="0">
            <a:solidFill>
              <a:srgbClr val="8B969C"/>
            </a:solidFill>
            <a:prstDash val="solid"/>
          </a:ln>
        </p:spPr>
        <p:txBody>
          <a:bodyPr/>
          <a:lstStyle/>
          <a:p>
            <a:endParaRPr lang="de-DE"/>
          </a:p>
        </p:txBody>
      </p:sp>
      <p:sp>
        <p:nvSpPr>
          <p:cNvPr id="6" name="offline-b">
            <a:extLst>
              <a:ext uri="{FF2B5EF4-FFF2-40B4-BE49-F238E27FC236}">
                <a16:creationId xmlns:a16="http://schemas.microsoft.com/office/drawing/2014/main" id="{C113773C-627C-49B7-B5E0-0A8B0BF0B485}"/>
              </a:ext>
            </a:extLst>
          </p:cNvPr>
          <p:cNvSpPr>
            <a:spLocks noGrp="1"/>
          </p:cNvSpPr>
          <p:nvPr/>
        </p:nvSpPr>
        <p:spPr>
          <a:xfrm>
            <a:off x="5105400" y="2114550"/>
            <a:ext cx="238125" cy="361950"/>
          </a:xfrm>
          <a:prstGeom prst="chevron">
            <a:avLst/>
          </a:prstGeom>
          <a:solidFill>
            <a:srgbClr val="8B969C"/>
          </a:solidFill>
          <a:ln w="0">
            <a:solidFill>
              <a:srgbClr val="8B969C"/>
            </a:solidFill>
            <a:prstDash val="solid"/>
          </a:ln>
        </p:spPr>
        <p:txBody>
          <a:bodyPr/>
          <a:lstStyle/>
          <a:p>
            <a:endParaRPr lang="de-DE"/>
          </a:p>
        </p:txBody>
      </p:sp>
      <p:sp>
        <p:nvSpPr>
          <p:cNvPr id="7" name="chroma-to-retrieval">
            <a:extLst>
              <a:ext uri="{FF2B5EF4-FFF2-40B4-BE49-F238E27FC236}">
                <a16:creationId xmlns:a16="http://schemas.microsoft.com/office/drawing/2014/main" id="{E1D61F91-AD88-4EAA-A2B4-A117D6CBC4F1}"/>
              </a:ext>
            </a:extLst>
          </p:cNvPr>
          <p:cNvSpPr>
            <a:spLocks noGrp="1"/>
          </p:cNvSpPr>
          <p:nvPr/>
        </p:nvSpPr>
        <p:spPr>
          <a:xfrm>
            <a:off x="1562100" y="2857500"/>
            <a:ext cx="0" cy="866775"/>
          </a:xfrm>
          <a:prstGeom prst="line">
            <a:avLst/>
          </a:prstGeom>
          <a:noFill/>
          <a:ln w="19050">
            <a:solidFill>
              <a:srgbClr val="8B969C"/>
            </a:solidFill>
            <a:prstDash val="solid"/>
          </a:ln>
        </p:spPr>
        <p:txBody>
          <a:bodyPr/>
          <a:lstStyle/>
          <a:p>
            <a:endParaRPr lang="de-DE"/>
          </a:p>
        </p:txBody>
      </p:sp>
      <p:sp>
        <p:nvSpPr>
          <p:cNvPr id="8" name="graph-to-expansion">
            <a:extLst>
              <a:ext uri="{FF2B5EF4-FFF2-40B4-BE49-F238E27FC236}">
                <a16:creationId xmlns:a16="http://schemas.microsoft.com/office/drawing/2014/main" id="{28866ECA-EB72-4E26-9C56-C857B0A464F0}"/>
              </a:ext>
            </a:extLst>
          </p:cNvPr>
          <p:cNvSpPr>
            <a:spLocks noGrp="1"/>
          </p:cNvSpPr>
          <p:nvPr/>
        </p:nvSpPr>
        <p:spPr>
          <a:xfrm>
            <a:off x="6781800" y="2857500"/>
            <a:ext cx="0" cy="866775"/>
          </a:xfrm>
          <a:prstGeom prst="line">
            <a:avLst/>
          </a:prstGeom>
          <a:noFill/>
          <a:ln w="19050">
            <a:solidFill>
              <a:srgbClr val="D49400"/>
            </a:solidFill>
            <a:prstDash val="solid"/>
          </a:ln>
        </p:spPr>
        <p:txBody>
          <a:bodyPr/>
          <a:lstStyle/>
          <a:p>
            <a:endParaRPr lang="de-DE"/>
          </a:p>
        </p:txBody>
      </p:sp>
      <p:sp>
        <p:nvSpPr>
          <p:cNvPr id="9" name="online-a">
            <a:extLst>
              <a:ext uri="{FF2B5EF4-FFF2-40B4-BE49-F238E27FC236}">
                <a16:creationId xmlns:a16="http://schemas.microsoft.com/office/drawing/2014/main" id="{6AC78953-BCD6-45B2-B15C-B7D2100A1DF5}"/>
              </a:ext>
            </a:extLst>
          </p:cNvPr>
          <p:cNvSpPr>
            <a:spLocks noGrp="1"/>
          </p:cNvSpPr>
          <p:nvPr/>
        </p:nvSpPr>
        <p:spPr>
          <a:xfrm>
            <a:off x="1943100" y="4238625"/>
            <a:ext cx="228600" cy="342900"/>
          </a:xfrm>
          <a:prstGeom prst="chevron">
            <a:avLst/>
          </a:prstGeom>
          <a:solidFill>
            <a:srgbClr val="8B969C"/>
          </a:solidFill>
          <a:ln w="0">
            <a:solidFill>
              <a:srgbClr val="8B969C"/>
            </a:solidFill>
            <a:prstDash val="solid"/>
          </a:ln>
        </p:spPr>
        <p:txBody>
          <a:bodyPr/>
          <a:lstStyle/>
          <a:p>
            <a:endParaRPr lang="de-DE"/>
          </a:p>
        </p:txBody>
      </p:sp>
      <p:sp>
        <p:nvSpPr>
          <p:cNvPr id="10" name="online-b">
            <a:extLst>
              <a:ext uri="{FF2B5EF4-FFF2-40B4-BE49-F238E27FC236}">
                <a16:creationId xmlns:a16="http://schemas.microsoft.com/office/drawing/2014/main" id="{47D8CED9-5A05-4C68-AB24-5E3C2FE229AE}"/>
              </a:ext>
            </a:extLst>
          </p:cNvPr>
          <p:cNvSpPr>
            <a:spLocks noGrp="1"/>
          </p:cNvSpPr>
          <p:nvPr/>
        </p:nvSpPr>
        <p:spPr>
          <a:xfrm>
            <a:off x="5267325" y="4238625"/>
            <a:ext cx="228600" cy="342900"/>
          </a:xfrm>
          <a:prstGeom prst="chevron">
            <a:avLst/>
          </a:prstGeom>
          <a:solidFill>
            <a:srgbClr val="8B969C"/>
          </a:solidFill>
          <a:ln w="0">
            <a:solidFill>
              <a:srgbClr val="8B969C"/>
            </a:solidFill>
            <a:prstDash val="solid"/>
          </a:ln>
        </p:spPr>
        <p:txBody>
          <a:bodyPr/>
          <a:lstStyle/>
          <a:p>
            <a:endParaRPr lang="de-DE"/>
          </a:p>
        </p:txBody>
      </p:sp>
      <p:sp>
        <p:nvSpPr>
          <p:cNvPr id="11" name="online-c">
            <a:extLst>
              <a:ext uri="{FF2B5EF4-FFF2-40B4-BE49-F238E27FC236}">
                <a16:creationId xmlns:a16="http://schemas.microsoft.com/office/drawing/2014/main" id="{63FA47F8-9E04-4280-A03C-45E24A49FDC2}"/>
              </a:ext>
            </a:extLst>
          </p:cNvPr>
          <p:cNvSpPr>
            <a:spLocks noGrp="1"/>
          </p:cNvSpPr>
          <p:nvPr/>
        </p:nvSpPr>
        <p:spPr>
          <a:xfrm>
            <a:off x="7134225" y="4238625"/>
            <a:ext cx="228600" cy="342900"/>
          </a:xfrm>
          <a:prstGeom prst="chevron">
            <a:avLst/>
          </a:prstGeom>
          <a:solidFill>
            <a:srgbClr val="8B969C"/>
          </a:solidFill>
          <a:ln w="0">
            <a:solidFill>
              <a:srgbClr val="8B969C"/>
            </a:solidFill>
            <a:prstDash val="solid"/>
          </a:ln>
        </p:spPr>
        <p:txBody>
          <a:bodyPr/>
          <a:lstStyle/>
          <a:p>
            <a:endParaRPr lang="de-DE"/>
          </a:p>
        </p:txBody>
      </p:sp>
      <p:sp>
        <p:nvSpPr>
          <p:cNvPr id="12" name="online-d">
            <a:extLst>
              <a:ext uri="{FF2B5EF4-FFF2-40B4-BE49-F238E27FC236}">
                <a16:creationId xmlns:a16="http://schemas.microsoft.com/office/drawing/2014/main" id="{9A26D8C7-A5E5-4458-82FE-B39AF22287CE}"/>
              </a:ext>
            </a:extLst>
          </p:cNvPr>
          <p:cNvSpPr>
            <a:spLocks noGrp="1"/>
          </p:cNvSpPr>
          <p:nvPr/>
        </p:nvSpPr>
        <p:spPr>
          <a:xfrm>
            <a:off x="8743950" y="4238625"/>
            <a:ext cx="228600" cy="342900"/>
          </a:xfrm>
          <a:prstGeom prst="chevron">
            <a:avLst/>
          </a:prstGeom>
          <a:solidFill>
            <a:srgbClr val="8B969C"/>
          </a:solidFill>
          <a:ln w="0">
            <a:solidFill>
              <a:srgbClr val="8B969C"/>
            </a:solidFill>
            <a:prstDash val="solid"/>
          </a:ln>
        </p:spPr>
        <p:txBody>
          <a:bodyPr/>
          <a:lstStyle/>
          <a:p>
            <a:endParaRPr lang="de-DE"/>
          </a:p>
        </p:txBody>
      </p:sp>
      <p:sp>
        <p:nvSpPr>
          <p:cNvPr id="13" name="online-e">
            <a:extLst>
              <a:ext uri="{FF2B5EF4-FFF2-40B4-BE49-F238E27FC236}">
                <a16:creationId xmlns:a16="http://schemas.microsoft.com/office/drawing/2014/main" id="{59DE0A52-324E-47EB-A796-823028200231}"/>
              </a:ext>
            </a:extLst>
          </p:cNvPr>
          <p:cNvSpPr>
            <a:spLocks noGrp="1"/>
          </p:cNvSpPr>
          <p:nvPr/>
        </p:nvSpPr>
        <p:spPr>
          <a:xfrm>
            <a:off x="10239375" y="4238625"/>
            <a:ext cx="228600" cy="342900"/>
          </a:xfrm>
          <a:prstGeom prst="chevron">
            <a:avLst/>
          </a:prstGeom>
          <a:solidFill>
            <a:srgbClr val="D20A32"/>
          </a:solidFill>
          <a:ln w="0">
            <a:solidFill>
              <a:srgbClr val="D20A32"/>
            </a:solidFill>
            <a:prstDash val="solid"/>
          </a:ln>
        </p:spPr>
        <p:txBody>
          <a:bodyPr/>
          <a:lstStyle/>
          <a:p>
            <a:endParaRPr lang="de-DE"/>
          </a:p>
        </p:txBody>
      </p:sp>
      <p:sp>
        <p:nvSpPr>
          <p:cNvPr id="14" name="chroma">
            <a:extLst>
              <a:ext uri="{FF2B5EF4-FFF2-40B4-BE49-F238E27FC236}">
                <a16:creationId xmlns:a16="http://schemas.microsoft.com/office/drawing/2014/main" id="{CC1CC97F-41C4-4B5E-9FCE-22FF6E967F9B}"/>
              </a:ext>
            </a:extLst>
          </p:cNvPr>
          <p:cNvSpPr>
            <a:spLocks noGrp="1"/>
          </p:cNvSpPr>
          <p:nvPr/>
        </p:nvSpPr>
        <p:spPr>
          <a:xfrm>
            <a:off x="609600" y="1676400"/>
            <a:ext cx="1714500" cy="1200150"/>
          </a:xfrm>
          <a:prstGeom prst="roundRect">
            <a:avLst>
              <a:gd name="adj" fmla="val 9524"/>
            </a:avLst>
          </a:prstGeom>
          <a:solidFill>
            <a:srgbClr val="EAF4FB"/>
          </a:solidFill>
          <a:ln w="12383">
            <a:solidFill>
              <a:srgbClr val="7D9AB0"/>
            </a:solidFill>
            <a:prstDash val="solid"/>
          </a:ln>
        </p:spPr>
        <p:txBody>
          <a:bodyPr/>
          <a:lstStyle/>
          <a:p>
            <a:endParaRPr lang="de-DE"/>
          </a:p>
        </p:txBody>
      </p:sp>
      <p:sp>
        <p:nvSpPr>
          <p:cNvPr id="15" name="chroma-title">
            <a:extLst>
              <a:ext uri="{FF2B5EF4-FFF2-40B4-BE49-F238E27FC236}">
                <a16:creationId xmlns:a16="http://schemas.microsoft.com/office/drawing/2014/main" id="{2CE18B33-E8C2-40A3-83ED-EA0833511B70}"/>
              </a:ext>
            </a:extLst>
          </p:cNvPr>
          <p:cNvSpPr>
            <a:spLocks noGrp="1"/>
          </p:cNvSpPr>
          <p:nvPr/>
        </p:nvSpPr>
        <p:spPr>
          <a:xfrm>
            <a:off x="742950" y="1790700"/>
            <a:ext cx="1447800" cy="228600"/>
          </a:xfrm>
          <a:prstGeom prst="rect">
            <a:avLst/>
          </a:prstGeom>
          <a:noFill/>
          <a:ln w="0">
            <a:noFill/>
            <a:prstDash val="solid"/>
          </a:ln>
        </p:spPr>
        <p:txBody>
          <a:bodyPr anchor="ctr"/>
          <a:lstStyle/>
          <a:p>
            <a:pPr algn="ctr">
              <a:defRPr sz="1050" b="1">
                <a:solidFill>
                  <a:srgbClr val="304452"/>
                </a:solidFill>
              </a:defRPr>
            </a:pPr>
            <a:r>
              <a:rPr sz="1050" b="1">
                <a:solidFill>
                  <a:srgbClr val="304452"/>
                </a:solidFill>
              </a:rPr>
              <a:t>CHROMA INDEX</a:t>
            </a:r>
          </a:p>
        </p:txBody>
      </p:sp>
      <p:sp>
        <p:nvSpPr>
          <p:cNvPr id="16" name="chroma-icon">
            <a:extLst>
              <a:ext uri="{FF2B5EF4-FFF2-40B4-BE49-F238E27FC236}">
                <a16:creationId xmlns:a16="http://schemas.microsoft.com/office/drawing/2014/main" id="{71290B5F-8DE4-4308-A16A-A5690A055D47}"/>
              </a:ext>
            </a:extLst>
          </p:cNvPr>
          <p:cNvSpPr>
            <a:spLocks noGrp="1"/>
          </p:cNvSpPr>
          <p:nvPr/>
        </p:nvSpPr>
        <p:spPr>
          <a:xfrm>
            <a:off x="1171575" y="2076450"/>
            <a:ext cx="590550" cy="304800"/>
          </a:xfrm>
          <a:prstGeom prst="rect">
            <a:avLst/>
          </a:prstGeom>
          <a:noFill/>
          <a:ln w="0">
            <a:noFill/>
            <a:prstDash val="solid"/>
          </a:ln>
        </p:spPr>
        <p:txBody>
          <a:bodyPr anchor="ctr"/>
          <a:lstStyle/>
          <a:p>
            <a:pPr algn="ctr">
              <a:defRPr sz="2250" b="1">
                <a:solidFill>
                  <a:srgbClr val="438B92"/>
                </a:solidFill>
              </a:defRPr>
            </a:pPr>
            <a:r>
              <a:rPr sz="2250" b="1">
                <a:solidFill>
                  <a:srgbClr val="438B92"/>
                </a:solidFill>
              </a:rPr>
              <a:t>≋</a:t>
            </a:r>
          </a:p>
        </p:txBody>
      </p:sp>
      <p:sp>
        <p:nvSpPr>
          <p:cNvPr id="17" name="chroma-copy">
            <a:extLst>
              <a:ext uri="{FF2B5EF4-FFF2-40B4-BE49-F238E27FC236}">
                <a16:creationId xmlns:a16="http://schemas.microsoft.com/office/drawing/2014/main" id="{6746A859-008E-46DB-9915-363EEE2EDE11}"/>
              </a:ext>
            </a:extLst>
          </p:cNvPr>
          <p:cNvSpPr>
            <a:spLocks noGrp="1"/>
          </p:cNvSpPr>
          <p:nvPr/>
        </p:nvSpPr>
        <p:spPr>
          <a:xfrm>
            <a:off x="742950" y="2476500"/>
            <a:ext cx="1447800" cy="228600"/>
          </a:xfrm>
          <a:prstGeom prst="rect">
            <a:avLst/>
          </a:prstGeom>
          <a:noFill/>
          <a:ln w="0">
            <a:noFill/>
            <a:prstDash val="solid"/>
          </a:ln>
        </p:spPr>
        <p:txBody>
          <a:bodyPr anchor="ctr"/>
          <a:lstStyle/>
          <a:p>
            <a:pPr algn="ctr">
              <a:defRPr sz="1050" b="0">
                <a:solidFill>
                  <a:srgbClr val="304452"/>
                </a:solidFill>
              </a:defRPr>
            </a:pPr>
            <a:r>
              <a:rPr sz="1050" b="0">
                <a:solidFill>
                  <a:srgbClr val="304452"/>
                </a:solidFill>
              </a:rPr>
              <a:t>Chunks + Embeddings</a:t>
            </a:r>
          </a:p>
        </p:txBody>
      </p:sp>
      <p:sp>
        <p:nvSpPr>
          <p:cNvPr id="18" name="graph-builder">
            <a:extLst>
              <a:ext uri="{FF2B5EF4-FFF2-40B4-BE49-F238E27FC236}">
                <a16:creationId xmlns:a16="http://schemas.microsoft.com/office/drawing/2014/main" id="{7403451D-2936-47A8-987E-8CB23B3AD79B}"/>
              </a:ext>
            </a:extLst>
          </p:cNvPr>
          <p:cNvSpPr>
            <a:spLocks noGrp="1"/>
          </p:cNvSpPr>
          <p:nvPr/>
        </p:nvSpPr>
        <p:spPr>
          <a:xfrm>
            <a:off x="2819400" y="1676400"/>
            <a:ext cx="2152650" cy="1200150"/>
          </a:xfrm>
          <a:prstGeom prst="roundRect">
            <a:avLst>
              <a:gd name="adj" fmla="val 9524"/>
            </a:avLst>
          </a:prstGeom>
          <a:solidFill>
            <a:srgbClr val="FFF7DE"/>
          </a:solidFill>
          <a:ln w="12383">
            <a:solidFill>
              <a:srgbClr val="D4B873"/>
            </a:solidFill>
            <a:prstDash val="solid"/>
          </a:ln>
        </p:spPr>
        <p:txBody>
          <a:bodyPr/>
          <a:lstStyle/>
          <a:p>
            <a:endParaRPr lang="de-DE"/>
          </a:p>
        </p:txBody>
      </p:sp>
      <p:sp>
        <p:nvSpPr>
          <p:cNvPr id="19" name="builder-title">
            <a:extLst>
              <a:ext uri="{FF2B5EF4-FFF2-40B4-BE49-F238E27FC236}">
                <a16:creationId xmlns:a16="http://schemas.microsoft.com/office/drawing/2014/main" id="{8785B8A9-1FA2-4439-BDC1-083103765453}"/>
              </a:ext>
            </a:extLst>
          </p:cNvPr>
          <p:cNvSpPr>
            <a:spLocks noGrp="1"/>
          </p:cNvSpPr>
          <p:nvPr/>
        </p:nvSpPr>
        <p:spPr>
          <a:xfrm>
            <a:off x="2990850" y="1790700"/>
            <a:ext cx="1809750" cy="228600"/>
          </a:xfrm>
          <a:prstGeom prst="rect">
            <a:avLst/>
          </a:prstGeom>
          <a:noFill/>
          <a:ln w="0">
            <a:noFill/>
            <a:prstDash val="solid"/>
          </a:ln>
        </p:spPr>
        <p:txBody>
          <a:bodyPr anchor="ctr"/>
          <a:lstStyle/>
          <a:p>
            <a:pPr algn="ctr">
              <a:defRPr sz="1050" b="1">
                <a:solidFill>
                  <a:srgbClr val="304452"/>
                </a:solidFill>
              </a:defRPr>
            </a:pPr>
            <a:r>
              <a:rPr sz="1050" b="1">
                <a:solidFill>
                  <a:srgbClr val="304452"/>
                </a:solidFill>
              </a:rPr>
              <a:t>GRAPH AUFBAU</a:t>
            </a:r>
          </a:p>
        </p:txBody>
      </p:sp>
      <p:sp>
        <p:nvSpPr>
          <p:cNvPr id="20" name="builder-copy">
            <a:extLst>
              <a:ext uri="{FF2B5EF4-FFF2-40B4-BE49-F238E27FC236}">
                <a16:creationId xmlns:a16="http://schemas.microsoft.com/office/drawing/2014/main" id="{234B7E2E-6351-47A8-B0E6-B46EA55CAB11}"/>
              </a:ext>
            </a:extLst>
          </p:cNvPr>
          <p:cNvSpPr>
            <a:spLocks noGrp="1"/>
          </p:cNvSpPr>
          <p:nvPr/>
        </p:nvSpPr>
        <p:spPr>
          <a:xfrm>
            <a:off x="3009900" y="2171700"/>
            <a:ext cx="1771650" cy="514350"/>
          </a:xfrm>
          <a:prstGeom prst="rect">
            <a:avLst/>
          </a:prstGeom>
          <a:noFill/>
          <a:ln w="0">
            <a:noFill/>
            <a:prstDash val="solid"/>
          </a:ln>
        </p:spPr>
        <p:txBody>
          <a:bodyPr anchor="ctr"/>
          <a:lstStyle/>
          <a:p>
            <a:pPr algn="ctr">
              <a:defRPr sz="1125" b="0">
                <a:solidFill>
                  <a:srgbClr val="304452"/>
                </a:solidFill>
              </a:defRPr>
            </a:pPr>
            <a:r>
              <a:rPr sz="1125" b="0">
                <a:solidFill>
                  <a:srgbClr val="304452"/>
                </a:solidFill>
              </a:rPr>
              <a:t>Nachbar-Chunks verbinden</a:t>
            </a:r>
          </a:p>
          <a:p>
            <a:pPr algn="ctr">
              <a:defRPr sz="1125" b="0">
                <a:solidFill>
                  <a:srgbClr val="304452"/>
                </a:solidFill>
              </a:defRPr>
            </a:pPr>
            <a:r>
              <a:rPr sz="1125" b="0">
                <a:solidFill>
                  <a:srgbClr val="304452"/>
                </a:solidFill>
              </a:rPr>
              <a:t>Artikelverweise erkennen</a:t>
            </a:r>
          </a:p>
        </p:txBody>
      </p:sp>
      <p:sp>
        <p:nvSpPr>
          <p:cNvPr id="21" name="retrieval-graph">
            <a:extLst>
              <a:ext uri="{FF2B5EF4-FFF2-40B4-BE49-F238E27FC236}">
                <a16:creationId xmlns:a16="http://schemas.microsoft.com/office/drawing/2014/main" id="{4E4A29B1-FE7F-472A-B981-94E221ED998E}"/>
              </a:ext>
            </a:extLst>
          </p:cNvPr>
          <p:cNvSpPr>
            <a:spLocks noGrp="1"/>
          </p:cNvSpPr>
          <p:nvPr/>
        </p:nvSpPr>
        <p:spPr>
          <a:xfrm>
            <a:off x="5448300" y="1457325"/>
            <a:ext cx="2667000" cy="1419225"/>
          </a:xfrm>
          <a:prstGeom prst="roundRect">
            <a:avLst>
              <a:gd name="adj" fmla="val 9524"/>
            </a:avLst>
          </a:prstGeom>
          <a:solidFill>
            <a:srgbClr val="FBF3DF"/>
          </a:solidFill>
          <a:ln w="12383">
            <a:solidFill>
              <a:srgbClr val="D4B873"/>
            </a:solidFill>
            <a:prstDash val="solid"/>
          </a:ln>
        </p:spPr>
        <p:txBody>
          <a:bodyPr/>
          <a:lstStyle/>
          <a:p>
            <a:endParaRPr lang="de-DE"/>
          </a:p>
        </p:txBody>
      </p:sp>
      <p:sp>
        <p:nvSpPr>
          <p:cNvPr id="22" name="graph-title">
            <a:extLst>
              <a:ext uri="{FF2B5EF4-FFF2-40B4-BE49-F238E27FC236}">
                <a16:creationId xmlns:a16="http://schemas.microsoft.com/office/drawing/2014/main" id="{DEACF8D4-F30F-41B9-B70D-E69F6D0D0C2C}"/>
              </a:ext>
            </a:extLst>
          </p:cNvPr>
          <p:cNvSpPr>
            <a:spLocks noGrp="1"/>
          </p:cNvSpPr>
          <p:nvPr/>
        </p:nvSpPr>
        <p:spPr>
          <a:xfrm>
            <a:off x="5657850" y="1565508"/>
            <a:ext cx="2247900" cy="228600"/>
          </a:xfrm>
          <a:prstGeom prst="rect">
            <a:avLst/>
          </a:prstGeom>
          <a:noFill/>
          <a:ln w="0">
            <a:noFill/>
            <a:prstDash val="solid"/>
          </a:ln>
        </p:spPr>
        <p:txBody>
          <a:bodyPr anchor="ctr"/>
          <a:lstStyle/>
          <a:p>
            <a:pPr algn="ctr">
              <a:defRPr sz="1050" b="1">
                <a:solidFill>
                  <a:srgbClr val="304452"/>
                </a:solidFill>
              </a:defRPr>
            </a:pPr>
            <a:r>
              <a:rPr sz="1050" b="1" dirty="0">
                <a:solidFill>
                  <a:srgbClr val="304452"/>
                </a:solidFill>
              </a:rPr>
              <a:t>RETRIEVAL-GRAPH</a:t>
            </a:r>
          </a:p>
        </p:txBody>
      </p:sp>
      <p:sp>
        <p:nvSpPr>
          <p:cNvPr id="23" name="edge-1">
            <a:extLst>
              <a:ext uri="{FF2B5EF4-FFF2-40B4-BE49-F238E27FC236}">
                <a16:creationId xmlns:a16="http://schemas.microsoft.com/office/drawing/2014/main" id="{DF5F2E1A-EC13-404C-A28C-81CF55DCF8A5}"/>
              </a:ext>
            </a:extLst>
          </p:cNvPr>
          <p:cNvSpPr>
            <a:spLocks noGrp="1"/>
          </p:cNvSpPr>
          <p:nvPr/>
        </p:nvSpPr>
        <p:spPr>
          <a:xfrm>
            <a:off x="6267450" y="2213637"/>
            <a:ext cx="523875" cy="0"/>
          </a:xfrm>
          <a:prstGeom prst="line">
            <a:avLst/>
          </a:prstGeom>
          <a:noFill/>
          <a:ln w="17145">
            <a:solidFill>
              <a:srgbClr val="304452"/>
            </a:solidFill>
            <a:prstDash val="solid"/>
          </a:ln>
        </p:spPr>
        <p:txBody>
          <a:bodyPr/>
          <a:lstStyle/>
          <a:p>
            <a:endParaRPr lang="de-DE"/>
          </a:p>
        </p:txBody>
      </p:sp>
      <p:sp>
        <p:nvSpPr>
          <p:cNvPr id="24" name="edge-2">
            <a:extLst>
              <a:ext uri="{FF2B5EF4-FFF2-40B4-BE49-F238E27FC236}">
                <a16:creationId xmlns:a16="http://schemas.microsoft.com/office/drawing/2014/main" id="{8BFB1F9E-4FEA-4883-8098-2AEE3AA044FB}"/>
              </a:ext>
            </a:extLst>
          </p:cNvPr>
          <p:cNvSpPr>
            <a:spLocks noGrp="1"/>
          </p:cNvSpPr>
          <p:nvPr/>
        </p:nvSpPr>
        <p:spPr>
          <a:xfrm>
            <a:off x="6267450" y="2213637"/>
            <a:ext cx="552450" cy="266700"/>
          </a:xfrm>
          <a:prstGeom prst="line">
            <a:avLst/>
          </a:prstGeom>
          <a:noFill/>
          <a:ln w="17145">
            <a:solidFill>
              <a:srgbClr val="304452"/>
            </a:solidFill>
            <a:prstDash val="solid"/>
          </a:ln>
        </p:spPr>
        <p:txBody>
          <a:bodyPr/>
          <a:lstStyle/>
          <a:p>
            <a:endParaRPr lang="de-DE"/>
          </a:p>
        </p:txBody>
      </p:sp>
      <p:sp>
        <p:nvSpPr>
          <p:cNvPr id="25" name="edge-3">
            <a:extLst>
              <a:ext uri="{FF2B5EF4-FFF2-40B4-BE49-F238E27FC236}">
                <a16:creationId xmlns:a16="http://schemas.microsoft.com/office/drawing/2014/main" id="{0801B21F-A87C-489C-A1EA-A4303EBFD824}"/>
              </a:ext>
            </a:extLst>
          </p:cNvPr>
          <p:cNvSpPr>
            <a:spLocks noGrp="1"/>
          </p:cNvSpPr>
          <p:nvPr/>
        </p:nvSpPr>
        <p:spPr>
          <a:xfrm>
            <a:off x="6791325" y="2042187"/>
            <a:ext cx="28575" cy="438150"/>
          </a:xfrm>
          <a:prstGeom prst="line">
            <a:avLst/>
          </a:prstGeom>
          <a:noFill/>
          <a:ln w="17145">
            <a:solidFill>
              <a:srgbClr val="304452"/>
            </a:solidFill>
            <a:prstDash val="solid"/>
          </a:ln>
        </p:spPr>
        <p:txBody>
          <a:bodyPr/>
          <a:lstStyle/>
          <a:p>
            <a:endParaRPr lang="de-DE"/>
          </a:p>
        </p:txBody>
      </p:sp>
      <p:sp>
        <p:nvSpPr>
          <p:cNvPr id="26" name="graph-node-a">
            <a:extLst>
              <a:ext uri="{FF2B5EF4-FFF2-40B4-BE49-F238E27FC236}">
                <a16:creationId xmlns:a16="http://schemas.microsoft.com/office/drawing/2014/main" id="{60032362-9DD8-408B-BE77-420624EA905F}"/>
              </a:ext>
            </a:extLst>
          </p:cNvPr>
          <p:cNvSpPr>
            <a:spLocks noGrp="1"/>
          </p:cNvSpPr>
          <p:nvPr/>
        </p:nvSpPr>
        <p:spPr>
          <a:xfrm>
            <a:off x="6038850" y="1994562"/>
            <a:ext cx="457200" cy="457200"/>
          </a:xfrm>
          <a:prstGeom prst="ellipse">
            <a:avLst/>
          </a:prstGeom>
          <a:solidFill>
            <a:srgbClr val="D49400"/>
          </a:solidFill>
          <a:ln w="19050">
            <a:solidFill>
              <a:srgbClr val="FFFFFF"/>
            </a:solidFill>
            <a:prstDash val="solid"/>
          </a:ln>
        </p:spPr>
        <p:txBody>
          <a:bodyPr/>
          <a:lstStyle/>
          <a:p>
            <a:endParaRPr lang="de-DE"/>
          </a:p>
        </p:txBody>
      </p:sp>
      <p:sp>
        <p:nvSpPr>
          <p:cNvPr id="27" name="graph-node-b">
            <a:extLst>
              <a:ext uri="{FF2B5EF4-FFF2-40B4-BE49-F238E27FC236}">
                <a16:creationId xmlns:a16="http://schemas.microsoft.com/office/drawing/2014/main" id="{DF7BC5A2-1AA7-47A4-B514-2F3BF3141A3A}"/>
              </a:ext>
            </a:extLst>
          </p:cNvPr>
          <p:cNvSpPr>
            <a:spLocks noGrp="1"/>
          </p:cNvSpPr>
          <p:nvPr/>
        </p:nvSpPr>
        <p:spPr>
          <a:xfrm>
            <a:off x="6591300" y="1823112"/>
            <a:ext cx="457200" cy="457200"/>
          </a:xfrm>
          <a:prstGeom prst="ellipse">
            <a:avLst/>
          </a:prstGeom>
          <a:solidFill>
            <a:srgbClr val="438B92"/>
          </a:solidFill>
          <a:ln w="19050">
            <a:solidFill>
              <a:srgbClr val="FFFFFF"/>
            </a:solidFill>
            <a:prstDash val="solid"/>
          </a:ln>
        </p:spPr>
        <p:txBody>
          <a:bodyPr/>
          <a:lstStyle/>
          <a:p>
            <a:endParaRPr lang="de-DE"/>
          </a:p>
        </p:txBody>
      </p:sp>
      <p:sp>
        <p:nvSpPr>
          <p:cNvPr id="28" name="graph-node-c">
            <a:extLst>
              <a:ext uri="{FF2B5EF4-FFF2-40B4-BE49-F238E27FC236}">
                <a16:creationId xmlns:a16="http://schemas.microsoft.com/office/drawing/2014/main" id="{0FC2CB06-C7E2-415D-8FE1-AEC78C16116D}"/>
              </a:ext>
            </a:extLst>
          </p:cNvPr>
          <p:cNvSpPr>
            <a:spLocks noGrp="1"/>
          </p:cNvSpPr>
          <p:nvPr/>
        </p:nvSpPr>
        <p:spPr>
          <a:xfrm>
            <a:off x="6629400" y="2299362"/>
            <a:ext cx="457200" cy="457200"/>
          </a:xfrm>
          <a:prstGeom prst="ellipse">
            <a:avLst/>
          </a:prstGeom>
          <a:solidFill>
            <a:srgbClr val="834A78"/>
          </a:solidFill>
          <a:ln w="19050">
            <a:solidFill>
              <a:srgbClr val="FFFFFF"/>
            </a:solidFill>
            <a:prstDash val="solid"/>
          </a:ln>
        </p:spPr>
        <p:txBody>
          <a:bodyPr/>
          <a:lstStyle/>
          <a:p>
            <a:endParaRPr lang="de-DE"/>
          </a:p>
        </p:txBody>
      </p:sp>
      <p:sp>
        <p:nvSpPr>
          <p:cNvPr id="29" name="graph-node-a-text">
            <a:extLst>
              <a:ext uri="{FF2B5EF4-FFF2-40B4-BE49-F238E27FC236}">
                <a16:creationId xmlns:a16="http://schemas.microsoft.com/office/drawing/2014/main" id="{FB5569D5-DD95-41EF-9E59-747DC6DD7B15}"/>
              </a:ext>
            </a:extLst>
          </p:cNvPr>
          <p:cNvSpPr>
            <a:spLocks noGrp="1"/>
          </p:cNvSpPr>
          <p:nvPr/>
        </p:nvSpPr>
        <p:spPr>
          <a:xfrm>
            <a:off x="6067425" y="2127912"/>
            <a:ext cx="400050" cy="152400"/>
          </a:xfrm>
          <a:prstGeom prst="rect">
            <a:avLst/>
          </a:prstGeom>
          <a:noFill/>
          <a:ln w="0">
            <a:noFill/>
            <a:prstDash val="solid"/>
          </a:ln>
        </p:spPr>
        <p:txBody>
          <a:bodyPr anchor="ctr"/>
          <a:lstStyle/>
          <a:p>
            <a:pPr algn="ctr">
              <a:defRPr sz="825" b="1">
                <a:solidFill>
                  <a:srgbClr val="FFFFFF"/>
                </a:solidFill>
              </a:defRPr>
            </a:pPr>
            <a:r>
              <a:rPr sz="825" b="1">
                <a:solidFill>
                  <a:srgbClr val="FFFFFF"/>
                </a:solidFill>
              </a:rPr>
              <a:t>C</a:t>
            </a:r>
          </a:p>
        </p:txBody>
      </p:sp>
      <p:sp>
        <p:nvSpPr>
          <p:cNvPr id="30" name="graph-node-b-text">
            <a:extLst>
              <a:ext uri="{FF2B5EF4-FFF2-40B4-BE49-F238E27FC236}">
                <a16:creationId xmlns:a16="http://schemas.microsoft.com/office/drawing/2014/main" id="{597FBF2D-F27D-42D0-9022-D8894C200963}"/>
              </a:ext>
            </a:extLst>
          </p:cNvPr>
          <p:cNvSpPr>
            <a:spLocks noGrp="1"/>
          </p:cNvSpPr>
          <p:nvPr/>
        </p:nvSpPr>
        <p:spPr>
          <a:xfrm>
            <a:off x="6619875" y="1956462"/>
            <a:ext cx="400050" cy="152400"/>
          </a:xfrm>
          <a:prstGeom prst="rect">
            <a:avLst/>
          </a:prstGeom>
          <a:noFill/>
          <a:ln w="0">
            <a:noFill/>
            <a:prstDash val="solid"/>
          </a:ln>
        </p:spPr>
        <p:txBody>
          <a:bodyPr anchor="ctr"/>
          <a:lstStyle/>
          <a:p>
            <a:pPr algn="ctr">
              <a:defRPr sz="825" b="1">
                <a:solidFill>
                  <a:srgbClr val="FFFFFF"/>
                </a:solidFill>
              </a:defRPr>
            </a:pPr>
            <a:r>
              <a:rPr sz="825" b="1">
                <a:solidFill>
                  <a:srgbClr val="FFFFFF"/>
                </a:solidFill>
              </a:rPr>
              <a:t>N</a:t>
            </a:r>
          </a:p>
        </p:txBody>
      </p:sp>
      <p:sp>
        <p:nvSpPr>
          <p:cNvPr id="31" name="graph-node-c-text">
            <a:extLst>
              <a:ext uri="{FF2B5EF4-FFF2-40B4-BE49-F238E27FC236}">
                <a16:creationId xmlns:a16="http://schemas.microsoft.com/office/drawing/2014/main" id="{3D955317-A0A7-4111-944F-7AE6C3F6061E}"/>
              </a:ext>
            </a:extLst>
          </p:cNvPr>
          <p:cNvSpPr>
            <a:spLocks noGrp="1"/>
          </p:cNvSpPr>
          <p:nvPr/>
        </p:nvSpPr>
        <p:spPr>
          <a:xfrm>
            <a:off x="6657975" y="2432712"/>
            <a:ext cx="400050" cy="152400"/>
          </a:xfrm>
          <a:prstGeom prst="rect">
            <a:avLst/>
          </a:prstGeom>
          <a:noFill/>
          <a:ln w="0">
            <a:noFill/>
            <a:prstDash val="solid"/>
          </a:ln>
        </p:spPr>
        <p:txBody>
          <a:bodyPr anchor="ctr"/>
          <a:lstStyle/>
          <a:p>
            <a:pPr algn="ctr">
              <a:defRPr sz="675" b="1">
                <a:solidFill>
                  <a:srgbClr val="FFFFFF"/>
                </a:solidFill>
              </a:defRPr>
            </a:pPr>
            <a:r>
              <a:rPr sz="675" b="1">
                <a:solidFill>
                  <a:srgbClr val="FFFFFF"/>
                </a:solidFill>
              </a:rPr>
              <a:t>Art.</a:t>
            </a:r>
          </a:p>
        </p:txBody>
      </p:sp>
      <p:sp>
        <p:nvSpPr>
          <p:cNvPr id="32" name="graph-meta">
            <a:extLst>
              <a:ext uri="{FF2B5EF4-FFF2-40B4-BE49-F238E27FC236}">
                <a16:creationId xmlns:a16="http://schemas.microsoft.com/office/drawing/2014/main" id="{FA44BF42-776B-4511-A762-5F6AF180EF02}"/>
              </a:ext>
            </a:extLst>
          </p:cNvPr>
          <p:cNvSpPr>
            <a:spLocks noGrp="1"/>
          </p:cNvSpPr>
          <p:nvPr/>
        </p:nvSpPr>
        <p:spPr>
          <a:xfrm>
            <a:off x="7219950" y="2466975"/>
            <a:ext cx="742950" cy="190500"/>
          </a:xfrm>
          <a:prstGeom prst="rect">
            <a:avLst/>
          </a:prstGeom>
          <a:noFill/>
          <a:ln w="0">
            <a:noFill/>
            <a:prstDash val="solid"/>
          </a:ln>
        </p:spPr>
        <p:txBody>
          <a:bodyPr anchor="ctr"/>
          <a:lstStyle/>
          <a:p>
            <a:pPr algn="ctr">
              <a:defRPr sz="825" b="0">
                <a:solidFill>
                  <a:srgbClr val="746B5F"/>
                </a:solidFill>
              </a:defRPr>
            </a:pPr>
            <a:r>
              <a:rPr sz="825" b="0">
                <a:solidFill>
                  <a:srgbClr val="746B5F"/>
                </a:solidFill>
              </a:rPr>
              <a:t>JSON · versioniert</a:t>
            </a:r>
          </a:p>
        </p:txBody>
      </p:sp>
      <p:sp>
        <p:nvSpPr>
          <p:cNvPr id="33" name="query">
            <a:extLst>
              <a:ext uri="{FF2B5EF4-FFF2-40B4-BE49-F238E27FC236}">
                <a16:creationId xmlns:a16="http://schemas.microsoft.com/office/drawing/2014/main" id="{89EEF038-DF75-4FD3-8420-37BD6E68EC96}"/>
              </a:ext>
            </a:extLst>
          </p:cNvPr>
          <p:cNvSpPr>
            <a:spLocks noGrp="1"/>
          </p:cNvSpPr>
          <p:nvPr/>
        </p:nvSpPr>
        <p:spPr>
          <a:xfrm>
            <a:off x="609600" y="3752850"/>
            <a:ext cx="1200150" cy="1314450"/>
          </a:xfrm>
          <a:prstGeom prst="roundRect">
            <a:avLst>
              <a:gd name="adj" fmla="val 9524"/>
            </a:avLst>
          </a:prstGeom>
          <a:solidFill>
            <a:srgbClr val="D20A32"/>
          </a:solidFill>
          <a:ln w="12383">
            <a:solidFill>
              <a:srgbClr val="304452"/>
            </a:solidFill>
            <a:prstDash val="solid"/>
          </a:ln>
        </p:spPr>
        <p:txBody>
          <a:bodyPr/>
          <a:lstStyle/>
          <a:p>
            <a:endParaRPr lang="de-DE"/>
          </a:p>
        </p:txBody>
      </p:sp>
      <p:sp>
        <p:nvSpPr>
          <p:cNvPr id="34" name="query-title">
            <a:extLst>
              <a:ext uri="{FF2B5EF4-FFF2-40B4-BE49-F238E27FC236}">
                <a16:creationId xmlns:a16="http://schemas.microsoft.com/office/drawing/2014/main" id="{47169CE0-1BB1-46D0-8121-598FEBF4CEB4}"/>
              </a:ext>
            </a:extLst>
          </p:cNvPr>
          <p:cNvSpPr>
            <a:spLocks noGrp="1"/>
          </p:cNvSpPr>
          <p:nvPr/>
        </p:nvSpPr>
        <p:spPr>
          <a:xfrm>
            <a:off x="723900" y="3876675"/>
            <a:ext cx="971550" cy="228600"/>
          </a:xfrm>
          <a:prstGeom prst="rect">
            <a:avLst/>
          </a:prstGeom>
          <a:noFill/>
          <a:ln w="0">
            <a:noFill/>
            <a:prstDash val="solid"/>
          </a:ln>
        </p:spPr>
        <p:txBody>
          <a:bodyPr anchor="ctr"/>
          <a:lstStyle/>
          <a:p>
            <a:pPr algn="ctr">
              <a:defRPr sz="1050" b="1">
                <a:solidFill>
                  <a:srgbClr val="FFFFFF"/>
                </a:solidFill>
              </a:defRPr>
            </a:pPr>
            <a:r>
              <a:rPr sz="1050" b="1">
                <a:solidFill>
                  <a:srgbClr val="FFFFFF"/>
                </a:solidFill>
              </a:rPr>
              <a:t>FRAGE</a:t>
            </a:r>
          </a:p>
        </p:txBody>
      </p:sp>
      <p:sp>
        <p:nvSpPr>
          <p:cNvPr id="35" name="query-mark">
            <a:extLst>
              <a:ext uri="{FF2B5EF4-FFF2-40B4-BE49-F238E27FC236}">
                <a16:creationId xmlns:a16="http://schemas.microsoft.com/office/drawing/2014/main" id="{C9416B88-7F91-4F71-9AF8-F0B7E00C56B3}"/>
              </a:ext>
            </a:extLst>
          </p:cNvPr>
          <p:cNvSpPr>
            <a:spLocks noGrp="1"/>
          </p:cNvSpPr>
          <p:nvPr/>
        </p:nvSpPr>
        <p:spPr>
          <a:xfrm>
            <a:off x="942975" y="4171950"/>
            <a:ext cx="533400" cy="457200"/>
          </a:xfrm>
          <a:prstGeom prst="rect">
            <a:avLst/>
          </a:prstGeom>
          <a:noFill/>
          <a:ln w="0">
            <a:noFill/>
            <a:prstDash val="solid"/>
          </a:ln>
        </p:spPr>
        <p:txBody>
          <a:bodyPr anchor="ctr"/>
          <a:lstStyle/>
          <a:p>
            <a:pPr algn="ctr">
              <a:defRPr sz="2700" b="1">
                <a:solidFill>
                  <a:srgbClr val="FFFFFF"/>
                </a:solidFill>
              </a:defRPr>
            </a:pPr>
            <a:r>
              <a:rPr sz="2700" b="1">
                <a:solidFill>
                  <a:srgbClr val="FFFFFF"/>
                </a:solidFill>
              </a:rPr>
              <a:t>?</a:t>
            </a:r>
          </a:p>
        </p:txBody>
      </p:sp>
      <p:sp>
        <p:nvSpPr>
          <p:cNvPr id="36" name="query-copy">
            <a:extLst>
              <a:ext uri="{FF2B5EF4-FFF2-40B4-BE49-F238E27FC236}">
                <a16:creationId xmlns:a16="http://schemas.microsoft.com/office/drawing/2014/main" id="{8D0B80C6-FB2D-4B7B-B782-1AE0DC19C7D4}"/>
              </a:ext>
            </a:extLst>
          </p:cNvPr>
          <p:cNvSpPr>
            <a:spLocks noGrp="1"/>
          </p:cNvSpPr>
          <p:nvPr/>
        </p:nvSpPr>
        <p:spPr>
          <a:xfrm>
            <a:off x="723900" y="4695825"/>
            <a:ext cx="971550" cy="228600"/>
          </a:xfrm>
          <a:prstGeom prst="rect">
            <a:avLst/>
          </a:prstGeom>
          <a:noFill/>
          <a:ln w="0">
            <a:noFill/>
            <a:prstDash val="solid"/>
          </a:ln>
        </p:spPr>
        <p:txBody>
          <a:bodyPr anchor="ctr"/>
          <a:lstStyle/>
          <a:p>
            <a:pPr algn="ctr">
              <a:defRPr sz="900" b="0">
                <a:solidFill>
                  <a:srgbClr val="FFFFFF"/>
                </a:solidFill>
              </a:defRPr>
            </a:pPr>
            <a:r>
              <a:rPr sz="900" b="0">
                <a:solidFill>
                  <a:srgbClr val="FFFFFF"/>
                </a:solidFill>
              </a:rPr>
              <a:t>z. B. Probezeit</a:t>
            </a:r>
          </a:p>
        </p:txBody>
      </p:sp>
      <p:sp>
        <p:nvSpPr>
          <p:cNvPr id="37" name="hybrid-search">
            <a:extLst>
              <a:ext uri="{FF2B5EF4-FFF2-40B4-BE49-F238E27FC236}">
                <a16:creationId xmlns:a16="http://schemas.microsoft.com/office/drawing/2014/main" id="{D2DAD954-C170-4F91-BE86-F2F97EA63E96}"/>
              </a:ext>
            </a:extLst>
          </p:cNvPr>
          <p:cNvSpPr>
            <a:spLocks noGrp="1"/>
          </p:cNvSpPr>
          <p:nvPr/>
        </p:nvSpPr>
        <p:spPr>
          <a:xfrm>
            <a:off x="2286000" y="3638550"/>
            <a:ext cx="2857500" cy="1543050"/>
          </a:xfrm>
          <a:prstGeom prst="roundRect">
            <a:avLst>
              <a:gd name="adj" fmla="val 7407"/>
            </a:avLst>
          </a:prstGeom>
          <a:solidFill>
            <a:srgbClr val="F7F8F8"/>
          </a:solidFill>
          <a:ln w="12383">
            <a:solidFill>
              <a:srgbClr val="C8CED1"/>
            </a:solidFill>
            <a:prstDash val="solid"/>
          </a:ln>
        </p:spPr>
        <p:txBody>
          <a:bodyPr/>
          <a:lstStyle/>
          <a:p>
            <a:endParaRPr lang="de-DE"/>
          </a:p>
        </p:txBody>
      </p:sp>
      <p:sp>
        <p:nvSpPr>
          <p:cNvPr id="38" name="hybrid-title">
            <a:extLst>
              <a:ext uri="{FF2B5EF4-FFF2-40B4-BE49-F238E27FC236}">
                <a16:creationId xmlns:a16="http://schemas.microsoft.com/office/drawing/2014/main" id="{729C4379-61DB-42A3-87AE-F272F6F48E0C}"/>
              </a:ext>
            </a:extLst>
          </p:cNvPr>
          <p:cNvSpPr>
            <a:spLocks noGrp="1"/>
          </p:cNvSpPr>
          <p:nvPr/>
        </p:nvSpPr>
        <p:spPr>
          <a:xfrm>
            <a:off x="2476500" y="3752850"/>
            <a:ext cx="2476500" cy="209550"/>
          </a:xfrm>
          <a:prstGeom prst="rect">
            <a:avLst/>
          </a:prstGeom>
          <a:noFill/>
          <a:ln w="0">
            <a:noFill/>
            <a:prstDash val="solid"/>
          </a:ln>
        </p:spPr>
        <p:txBody>
          <a:bodyPr anchor="ctr"/>
          <a:lstStyle/>
          <a:p>
            <a:pPr algn="ctr">
              <a:defRPr sz="1050" b="1">
                <a:solidFill>
                  <a:srgbClr val="304452"/>
                </a:solidFill>
              </a:defRPr>
            </a:pPr>
            <a:r>
              <a:rPr sz="1050" b="1">
                <a:solidFill>
                  <a:srgbClr val="304452"/>
                </a:solidFill>
              </a:rPr>
              <a:t>HYBRIDE SEED-SUCHE</a:t>
            </a:r>
          </a:p>
        </p:txBody>
      </p:sp>
      <p:sp>
        <p:nvSpPr>
          <p:cNvPr id="39" name="semantic-seed">
            <a:extLst>
              <a:ext uri="{FF2B5EF4-FFF2-40B4-BE49-F238E27FC236}">
                <a16:creationId xmlns:a16="http://schemas.microsoft.com/office/drawing/2014/main" id="{BECB72AA-E625-4C39-AE21-5C05950B0497}"/>
              </a:ext>
            </a:extLst>
          </p:cNvPr>
          <p:cNvSpPr>
            <a:spLocks noGrp="1"/>
          </p:cNvSpPr>
          <p:nvPr/>
        </p:nvSpPr>
        <p:spPr>
          <a:xfrm>
            <a:off x="2457450" y="4057650"/>
            <a:ext cx="1200150" cy="876300"/>
          </a:xfrm>
          <a:prstGeom prst="roundRect">
            <a:avLst>
              <a:gd name="adj" fmla="val 8696"/>
            </a:avLst>
          </a:prstGeom>
          <a:solidFill>
            <a:srgbClr val="EAF4FB"/>
          </a:solidFill>
          <a:ln w="9525">
            <a:solidFill>
              <a:srgbClr val="438B92"/>
            </a:solidFill>
            <a:prstDash val="solid"/>
          </a:ln>
        </p:spPr>
        <p:txBody>
          <a:bodyPr/>
          <a:lstStyle/>
          <a:p>
            <a:endParaRPr lang="de-DE"/>
          </a:p>
        </p:txBody>
      </p:sp>
      <p:sp>
        <p:nvSpPr>
          <p:cNvPr id="40" name="semantic-title">
            <a:extLst>
              <a:ext uri="{FF2B5EF4-FFF2-40B4-BE49-F238E27FC236}">
                <a16:creationId xmlns:a16="http://schemas.microsoft.com/office/drawing/2014/main" id="{02473319-2FCE-4AF7-84DA-BE90BD32E145}"/>
              </a:ext>
            </a:extLst>
          </p:cNvPr>
          <p:cNvSpPr>
            <a:spLocks noGrp="1"/>
          </p:cNvSpPr>
          <p:nvPr/>
        </p:nvSpPr>
        <p:spPr>
          <a:xfrm>
            <a:off x="2533650" y="4143375"/>
            <a:ext cx="1047750" cy="190500"/>
          </a:xfrm>
          <a:prstGeom prst="rect">
            <a:avLst/>
          </a:prstGeom>
          <a:noFill/>
          <a:ln w="0">
            <a:noFill/>
            <a:prstDash val="solid"/>
          </a:ln>
        </p:spPr>
        <p:txBody>
          <a:bodyPr anchor="ctr"/>
          <a:lstStyle/>
          <a:p>
            <a:pPr algn="ctr">
              <a:defRPr sz="825" b="1">
                <a:solidFill>
                  <a:srgbClr val="438B92"/>
                </a:solidFill>
              </a:defRPr>
            </a:pPr>
            <a:r>
              <a:rPr sz="825" b="1">
                <a:solidFill>
                  <a:srgbClr val="438B92"/>
                </a:solidFill>
              </a:rPr>
              <a:t>SEMANTISCH</a:t>
            </a:r>
          </a:p>
        </p:txBody>
      </p:sp>
      <p:sp>
        <p:nvSpPr>
          <p:cNvPr id="41" name="semantic-copy">
            <a:extLst>
              <a:ext uri="{FF2B5EF4-FFF2-40B4-BE49-F238E27FC236}">
                <a16:creationId xmlns:a16="http://schemas.microsoft.com/office/drawing/2014/main" id="{333641BF-992B-420E-BBA8-F15F90B8253E}"/>
              </a:ext>
            </a:extLst>
          </p:cNvPr>
          <p:cNvSpPr>
            <a:spLocks noGrp="1"/>
          </p:cNvSpPr>
          <p:nvPr/>
        </p:nvSpPr>
        <p:spPr>
          <a:xfrm>
            <a:off x="2533650" y="4400550"/>
            <a:ext cx="1047750" cy="361950"/>
          </a:xfrm>
          <a:prstGeom prst="rect">
            <a:avLst/>
          </a:prstGeom>
          <a:noFill/>
          <a:ln w="0">
            <a:noFill/>
            <a:prstDash val="solid"/>
          </a:ln>
        </p:spPr>
        <p:txBody>
          <a:bodyPr anchor="ctr"/>
          <a:lstStyle/>
          <a:p>
            <a:pPr algn="ctr">
              <a:defRPr sz="975" b="0">
                <a:solidFill>
                  <a:srgbClr val="304452"/>
                </a:solidFill>
              </a:defRPr>
            </a:pPr>
            <a:r>
              <a:rPr sz="975" b="0">
                <a:solidFill>
                  <a:srgbClr val="304452"/>
                </a:solidFill>
              </a:rPr>
              <a:t>Vektor-Treffer</a:t>
            </a:r>
          </a:p>
          <a:p>
            <a:pPr algn="ctr">
              <a:defRPr sz="975" b="0">
                <a:solidFill>
                  <a:srgbClr val="304452"/>
                </a:solidFill>
              </a:defRPr>
            </a:pPr>
            <a:r>
              <a:rPr sz="975" b="0">
                <a:solidFill>
                  <a:srgbClr val="304452"/>
                </a:solidFill>
              </a:rPr>
              <a:t>Top 3</a:t>
            </a:r>
          </a:p>
        </p:txBody>
      </p:sp>
      <p:sp>
        <p:nvSpPr>
          <p:cNvPr id="42" name="lexical-seed">
            <a:extLst>
              <a:ext uri="{FF2B5EF4-FFF2-40B4-BE49-F238E27FC236}">
                <a16:creationId xmlns:a16="http://schemas.microsoft.com/office/drawing/2014/main" id="{162B6F7F-A70F-493D-B90B-969B6B585F17}"/>
              </a:ext>
            </a:extLst>
          </p:cNvPr>
          <p:cNvSpPr>
            <a:spLocks noGrp="1"/>
          </p:cNvSpPr>
          <p:nvPr/>
        </p:nvSpPr>
        <p:spPr>
          <a:xfrm>
            <a:off x="3752850" y="4057650"/>
            <a:ext cx="1219200" cy="876300"/>
          </a:xfrm>
          <a:prstGeom prst="roundRect">
            <a:avLst>
              <a:gd name="adj" fmla="val 8696"/>
            </a:avLst>
          </a:prstGeom>
          <a:solidFill>
            <a:srgbClr val="FFF7DE"/>
          </a:solidFill>
          <a:ln w="9525">
            <a:solidFill>
              <a:srgbClr val="D49400"/>
            </a:solidFill>
            <a:prstDash val="solid"/>
          </a:ln>
        </p:spPr>
        <p:txBody>
          <a:bodyPr/>
          <a:lstStyle/>
          <a:p>
            <a:endParaRPr lang="de-DE"/>
          </a:p>
        </p:txBody>
      </p:sp>
      <p:sp>
        <p:nvSpPr>
          <p:cNvPr id="43" name="lexical-title">
            <a:extLst>
              <a:ext uri="{FF2B5EF4-FFF2-40B4-BE49-F238E27FC236}">
                <a16:creationId xmlns:a16="http://schemas.microsoft.com/office/drawing/2014/main" id="{06A9A115-F718-4445-B299-4207BA68CFDE}"/>
              </a:ext>
            </a:extLst>
          </p:cNvPr>
          <p:cNvSpPr>
            <a:spLocks noGrp="1"/>
          </p:cNvSpPr>
          <p:nvPr/>
        </p:nvSpPr>
        <p:spPr>
          <a:xfrm>
            <a:off x="3819525" y="4143375"/>
            <a:ext cx="1085850" cy="190500"/>
          </a:xfrm>
          <a:prstGeom prst="rect">
            <a:avLst/>
          </a:prstGeom>
          <a:noFill/>
          <a:ln w="0">
            <a:noFill/>
            <a:prstDash val="solid"/>
          </a:ln>
        </p:spPr>
        <p:txBody>
          <a:bodyPr anchor="ctr"/>
          <a:lstStyle/>
          <a:p>
            <a:pPr algn="ctr">
              <a:defRPr sz="825" b="1">
                <a:solidFill>
                  <a:srgbClr val="D49400"/>
                </a:solidFill>
              </a:defRPr>
            </a:pPr>
            <a:r>
              <a:rPr sz="825" b="1">
                <a:solidFill>
                  <a:srgbClr val="D49400"/>
                </a:solidFill>
              </a:rPr>
              <a:t>LEXIK + ZITAT</a:t>
            </a:r>
          </a:p>
        </p:txBody>
      </p:sp>
      <p:sp>
        <p:nvSpPr>
          <p:cNvPr id="44" name="lexical-copy">
            <a:extLst>
              <a:ext uri="{FF2B5EF4-FFF2-40B4-BE49-F238E27FC236}">
                <a16:creationId xmlns:a16="http://schemas.microsoft.com/office/drawing/2014/main" id="{09AB0CDC-5DAD-41A6-8C61-9BDE993A59B5}"/>
              </a:ext>
            </a:extLst>
          </p:cNvPr>
          <p:cNvSpPr>
            <a:spLocks noGrp="1"/>
          </p:cNvSpPr>
          <p:nvPr/>
        </p:nvSpPr>
        <p:spPr>
          <a:xfrm>
            <a:off x="3819525" y="4400550"/>
            <a:ext cx="1085850" cy="361950"/>
          </a:xfrm>
          <a:prstGeom prst="rect">
            <a:avLst/>
          </a:prstGeom>
          <a:noFill/>
          <a:ln w="0">
            <a:noFill/>
            <a:prstDash val="solid"/>
          </a:ln>
        </p:spPr>
        <p:txBody>
          <a:bodyPr anchor="ctr"/>
          <a:lstStyle/>
          <a:p>
            <a:pPr algn="ctr">
              <a:defRPr sz="975" b="0">
                <a:solidFill>
                  <a:srgbClr val="304452"/>
                </a:solidFill>
              </a:defRPr>
            </a:pPr>
            <a:r>
              <a:rPr sz="975" b="0">
                <a:solidFill>
                  <a:srgbClr val="304452"/>
                </a:solidFill>
              </a:rPr>
              <a:t>Artikel-Matches</a:t>
            </a:r>
          </a:p>
          <a:p>
            <a:pPr algn="ctr">
              <a:defRPr sz="975" b="0">
                <a:solidFill>
                  <a:srgbClr val="304452"/>
                </a:solidFill>
              </a:defRPr>
            </a:pPr>
            <a:r>
              <a:rPr sz="975" b="0">
                <a:solidFill>
                  <a:srgbClr val="304452"/>
                </a:solidFill>
              </a:rPr>
              <a:t>Top 2</a:t>
            </a:r>
          </a:p>
        </p:txBody>
      </p:sp>
      <p:sp>
        <p:nvSpPr>
          <p:cNvPr id="45" name="graph-expand">
            <a:extLst>
              <a:ext uri="{FF2B5EF4-FFF2-40B4-BE49-F238E27FC236}">
                <a16:creationId xmlns:a16="http://schemas.microsoft.com/office/drawing/2014/main" id="{D7039158-B742-4138-B5D4-85222B365420}"/>
              </a:ext>
            </a:extLst>
          </p:cNvPr>
          <p:cNvSpPr>
            <a:spLocks noGrp="1"/>
          </p:cNvSpPr>
          <p:nvPr/>
        </p:nvSpPr>
        <p:spPr>
          <a:xfrm>
            <a:off x="5619750" y="3752850"/>
            <a:ext cx="1390650" cy="1314450"/>
          </a:xfrm>
          <a:prstGeom prst="roundRect">
            <a:avLst>
              <a:gd name="adj" fmla="val 8696"/>
            </a:avLst>
          </a:prstGeom>
          <a:solidFill>
            <a:srgbClr val="FBF3DF"/>
          </a:solidFill>
          <a:ln w="12383">
            <a:solidFill>
              <a:srgbClr val="D49400"/>
            </a:solidFill>
            <a:prstDash val="solid"/>
          </a:ln>
        </p:spPr>
        <p:txBody>
          <a:bodyPr/>
          <a:lstStyle/>
          <a:p>
            <a:endParaRPr lang="de-DE"/>
          </a:p>
        </p:txBody>
      </p:sp>
      <p:sp>
        <p:nvSpPr>
          <p:cNvPr id="46" name="expand-title">
            <a:extLst>
              <a:ext uri="{FF2B5EF4-FFF2-40B4-BE49-F238E27FC236}">
                <a16:creationId xmlns:a16="http://schemas.microsoft.com/office/drawing/2014/main" id="{2AB58551-35C9-40DC-9B28-B6FCF1B7E6CA}"/>
              </a:ext>
            </a:extLst>
          </p:cNvPr>
          <p:cNvSpPr>
            <a:spLocks noGrp="1"/>
          </p:cNvSpPr>
          <p:nvPr/>
        </p:nvSpPr>
        <p:spPr>
          <a:xfrm>
            <a:off x="5762625" y="3876675"/>
            <a:ext cx="1104900" cy="419100"/>
          </a:xfrm>
          <a:prstGeom prst="rect">
            <a:avLst/>
          </a:prstGeom>
          <a:noFill/>
          <a:ln w="0">
            <a:noFill/>
            <a:prstDash val="solid"/>
          </a:ln>
        </p:spPr>
        <p:txBody>
          <a:bodyPr anchor="ctr"/>
          <a:lstStyle/>
          <a:p>
            <a:pPr algn="ctr">
              <a:defRPr sz="1050" b="1">
                <a:solidFill>
                  <a:srgbClr val="D49400"/>
                </a:solidFill>
              </a:defRPr>
            </a:pPr>
            <a:r>
              <a:rPr sz="1050" b="1">
                <a:solidFill>
                  <a:srgbClr val="D49400"/>
                </a:solidFill>
              </a:rPr>
              <a:t>GRAPH</a:t>
            </a:r>
          </a:p>
          <a:p>
            <a:pPr algn="ctr">
              <a:defRPr sz="1050" b="1">
                <a:solidFill>
                  <a:srgbClr val="D49400"/>
                </a:solidFill>
              </a:defRPr>
            </a:pPr>
            <a:r>
              <a:rPr sz="1050" b="1">
                <a:solidFill>
                  <a:srgbClr val="D49400"/>
                </a:solidFill>
              </a:rPr>
              <a:t>ERWEITERN</a:t>
            </a:r>
          </a:p>
        </p:txBody>
      </p:sp>
      <p:sp>
        <p:nvSpPr>
          <p:cNvPr id="47" name="expand-copy">
            <a:extLst>
              <a:ext uri="{FF2B5EF4-FFF2-40B4-BE49-F238E27FC236}">
                <a16:creationId xmlns:a16="http://schemas.microsoft.com/office/drawing/2014/main" id="{89A1AF99-CEBE-4E8A-8D51-040FFB50F5BD}"/>
              </a:ext>
            </a:extLst>
          </p:cNvPr>
          <p:cNvSpPr>
            <a:spLocks noGrp="1"/>
          </p:cNvSpPr>
          <p:nvPr/>
        </p:nvSpPr>
        <p:spPr>
          <a:xfrm>
            <a:off x="5762625" y="4438650"/>
            <a:ext cx="1104900" cy="400050"/>
          </a:xfrm>
          <a:prstGeom prst="rect">
            <a:avLst/>
          </a:prstGeom>
          <a:noFill/>
          <a:ln w="0">
            <a:noFill/>
            <a:prstDash val="solid"/>
          </a:ln>
        </p:spPr>
        <p:txBody>
          <a:bodyPr anchor="ctr"/>
          <a:lstStyle/>
          <a:p>
            <a:pPr algn="ctr">
              <a:defRPr sz="975" b="0">
                <a:solidFill>
                  <a:srgbClr val="304452"/>
                </a:solidFill>
              </a:defRPr>
            </a:pPr>
            <a:r>
              <a:rPr sz="975" b="0">
                <a:solidFill>
                  <a:srgbClr val="304452"/>
                </a:solidFill>
              </a:rPr>
              <a:t>Nachbarn +</a:t>
            </a:r>
          </a:p>
          <a:p>
            <a:pPr algn="ctr">
              <a:defRPr sz="975" b="0">
                <a:solidFill>
                  <a:srgbClr val="304452"/>
                </a:solidFill>
              </a:defRPr>
            </a:pPr>
            <a:r>
              <a:rPr sz="975" b="0">
                <a:solidFill>
                  <a:srgbClr val="304452"/>
                </a:solidFill>
              </a:rPr>
              <a:t>Referenzziele</a:t>
            </a:r>
          </a:p>
        </p:txBody>
      </p:sp>
      <p:sp>
        <p:nvSpPr>
          <p:cNvPr id="48" name="context">
            <a:extLst>
              <a:ext uri="{FF2B5EF4-FFF2-40B4-BE49-F238E27FC236}">
                <a16:creationId xmlns:a16="http://schemas.microsoft.com/office/drawing/2014/main" id="{1213F267-0D7A-4A49-9897-7B2839492127}"/>
              </a:ext>
            </a:extLst>
          </p:cNvPr>
          <p:cNvSpPr>
            <a:spLocks noGrp="1"/>
          </p:cNvSpPr>
          <p:nvPr/>
        </p:nvSpPr>
        <p:spPr>
          <a:xfrm>
            <a:off x="7486650" y="3752850"/>
            <a:ext cx="1143000" cy="1314450"/>
          </a:xfrm>
          <a:prstGeom prst="roundRect">
            <a:avLst>
              <a:gd name="adj" fmla="val 10000"/>
            </a:avLst>
          </a:prstGeom>
          <a:solidFill>
            <a:srgbClr val="E9E7E4"/>
          </a:solidFill>
          <a:ln w="12383">
            <a:solidFill>
              <a:srgbClr val="BEB5A9"/>
            </a:solidFill>
            <a:prstDash val="solid"/>
          </a:ln>
        </p:spPr>
        <p:txBody>
          <a:bodyPr/>
          <a:lstStyle/>
          <a:p>
            <a:endParaRPr lang="de-DE"/>
          </a:p>
        </p:txBody>
      </p:sp>
      <p:sp>
        <p:nvSpPr>
          <p:cNvPr id="49" name="context-title">
            <a:extLst>
              <a:ext uri="{FF2B5EF4-FFF2-40B4-BE49-F238E27FC236}">
                <a16:creationId xmlns:a16="http://schemas.microsoft.com/office/drawing/2014/main" id="{0F33D502-91E8-43E0-945D-0D8BBE6D3D8F}"/>
              </a:ext>
            </a:extLst>
          </p:cNvPr>
          <p:cNvSpPr>
            <a:spLocks noGrp="1"/>
          </p:cNvSpPr>
          <p:nvPr/>
        </p:nvSpPr>
        <p:spPr>
          <a:xfrm>
            <a:off x="7600950" y="3876675"/>
            <a:ext cx="914400" cy="228600"/>
          </a:xfrm>
          <a:prstGeom prst="rect">
            <a:avLst/>
          </a:prstGeom>
          <a:noFill/>
          <a:ln w="0">
            <a:noFill/>
            <a:prstDash val="solid"/>
          </a:ln>
        </p:spPr>
        <p:txBody>
          <a:bodyPr anchor="ctr"/>
          <a:lstStyle/>
          <a:p>
            <a:pPr algn="ctr">
              <a:defRPr sz="1050" b="1">
                <a:solidFill>
                  <a:srgbClr val="304452"/>
                </a:solidFill>
              </a:defRPr>
            </a:pPr>
            <a:r>
              <a:rPr sz="1050" b="1">
                <a:solidFill>
                  <a:srgbClr val="304452"/>
                </a:solidFill>
              </a:rPr>
              <a:t>KONTEXT</a:t>
            </a:r>
          </a:p>
        </p:txBody>
      </p:sp>
      <p:sp>
        <p:nvSpPr>
          <p:cNvPr id="50" name="context-number">
            <a:extLst>
              <a:ext uri="{FF2B5EF4-FFF2-40B4-BE49-F238E27FC236}">
                <a16:creationId xmlns:a16="http://schemas.microsoft.com/office/drawing/2014/main" id="{18246756-0EF2-4B68-B932-DCC89058C66A}"/>
              </a:ext>
            </a:extLst>
          </p:cNvPr>
          <p:cNvSpPr>
            <a:spLocks noGrp="1"/>
          </p:cNvSpPr>
          <p:nvPr/>
        </p:nvSpPr>
        <p:spPr>
          <a:xfrm>
            <a:off x="7705725" y="4191000"/>
            <a:ext cx="704850" cy="381000"/>
          </a:xfrm>
          <a:prstGeom prst="rect">
            <a:avLst/>
          </a:prstGeom>
          <a:noFill/>
          <a:ln w="0">
            <a:noFill/>
            <a:prstDash val="solid"/>
          </a:ln>
        </p:spPr>
        <p:txBody>
          <a:bodyPr anchor="ctr"/>
          <a:lstStyle/>
          <a:p>
            <a:pPr algn="ctr">
              <a:defRPr sz="1950" b="1">
                <a:solidFill>
                  <a:srgbClr val="834A78"/>
                </a:solidFill>
              </a:defRPr>
            </a:pPr>
            <a:r>
              <a:rPr sz="1950" b="1">
                <a:solidFill>
                  <a:srgbClr val="834A78"/>
                </a:solidFill>
              </a:rPr>
              <a:t>≤ 6</a:t>
            </a:r>
          </a:p>
        </p:txBody>
      </p:sp>
      <p:sp>
        <p:nvSpPr>
          <p:cNvPr id="51" name="context-copy">
            <a:extLst>
              <a:ext uri="{FF2B5EF4-FFF2-40B4-BE49-F238E27FC236}">
                <a16:creationId xmlns:a16="http://schemas.microsoft.com/office/drawing/2014/main" id="{7C88B95F-906B-4211-AD70-BC9CBAF461CD}"/>
              </a:ext>
            </a:extLst>
          </p:cNvPr>
          <p:cNvSpPr>
            <a:spLocks noGrp="1"/>
          </p:cNvSpPr>
          <p:nvPr/>
        </p:nvSpPr>
        <p:spPr>
          <a:xfrm>
            <a:off x="7600950" y="4638675"/>
            <a:ext cx="914400" cy="323850"/>
          </a:xfrm>
          <a:prstGeom prst="rect">
            <a:avLst/>
          </a:prstGeom>
          <a:noFill/>
          <a:ln w="0">
            <a:noFill/>
            <a:prstDash val="solid"/>
          </a:ln>
        </p:spPr>
        <p:txBody>
          <a:bodyPr anchor="ctr"/>
          <a:lstStyle/>
          <a:p>
            <a:pPr algn="ctr">
              <a:defRPr sz="825" b="0">
                <a:solidFill>
                  <a:srgbClr val="304452"/>
                </a:solidFill>
              </a:defRPr>
            </a:pPr>
            <a:r>
              <a:rPr sz="825" b="0">
                <a:solidFill>
                  <a:srgbClr val="304452"/>
                </a:solidFill>
              </a:rPr>
              <a:t>Chunks mit</a:t>
            </a:r>
          </a:p>
          <a:p>
            <a:pPr algn="ctr">
              <a:defRPr sz="825" b="0">
                <a:solidFill>
                  <a:srgbClr val="304452"/>
                </a:solidFill>
              </a:defRPr>
            </a:pPr>
            <a:r>
              <a:rPr sz="825" b="0">
                <a:solidFill>
                  <a:srgbClr val="304452"/>
                </a:solidFill>
              </a:rPr>
              <a:t>Quellenhinweis</a:t>
            </a:r>
          </a:p>
        </p:txBody>
      </p:sp>
      <p:sp>
        <p:nvSpPr>
          <p:cNvPr id="52" name="llm">
            <a:extLst>
              <a:ext uri="{FF2B5EF4-FFF2-40B4-BE49-F238E27FC236}">
                <a16:creationId xmlns:a16="http://schemas.microsoft.com/office/drawing/2014/main" id="{4E0BB49F-8171-4811-9F5F-660E8742F27F}"/>
              </a:ext>
            </a:extLst>
          </p:cNvPr>
          <p:cNvSpPr>
            <a:spLocks noGrp="1"/>
          </p:cNvSpPr>
          <p:nvPr/>
        </p:nvSpPr>
        <p:spPr>
          <a:xfrm>
            <a:off x="9086850" y="3752850"/>
            <a:ext cx="1028700" cy="1314450"/>
          </a:xfrm>
          <a:prstGeom prst="roundRect">
            <a:avLst>
              <a:gd name="adj" fmla="val 11111"/>
            </a:avLst>
          </a:prstGeom>
          <a:solidFill>
            <a:srgbClr val="F6D98C"/>
          </a:solidFill>
          <a:ln w="12383">
            <a:solidFill>
              <a:srgbClr val="D4B873"/>
            </a:solidFill>
            <a:prstDash val="solid"/>
          </a:ln>
        </p:spPr>
        <p:txBody>
          <a:bodyPr/>
          <a:lstStyle/>
          <a:p>
            <a:endParaRPr lang="de-DE"/>
          </a:p>
        </p:txBody>
      </p:sp>
      <p:sp>
        <p:nvSpPr>
          <p:cNvPr id="53" name="llm-title">
            <a:extLst>
              <a:ext uri="{FF2B5EF4-FFF2-40B4-BE49-F238E27FC236}">
                <a16:creationId xmlns:a16="http://schemas.microsoft.com/office/drawing/2014/main" id="{D412F89F-744C-49DD-8B40-FBC053133BE3}"/>
              </a:ext>
            </a:extLst>
          </p:cNvPr>
          <p:cNvSpPr>
            <a:spLocks noGrp="1"/>
          </p:cNvSpPr>
          <p:nvPr/>
        </p:nvSpPr>
        <p:spPr>
          <a:xfrm>
            <a:off x="9220200" y="3876675"/>
            <a:ext cx="762000" cy="228600"/>
          </a:xfrm>
          <a:prstGeom prst="rect">
            <a:avLst/>
          </a:prstGeom>
          <a:noFill/>
          <a:ln w="0">
            <a:noFill/>
            <a:prstDash val="solid"/>
          </a:ln>
        </p:spPr>
        <p:txBody>
          <a:bodyPr anchor="ctr"/>
          <a:lstStyle/>
          <a:p>
            <a:pPr algn="ctr">
              <a:defRPr sz="1050" b="1">
                <a:solidFill>
                  <a:srgbClr val="304452"/>
                </a:solidFill>
              </a:defRPr>
            </a:pPr>
            <a:r>
              <a:rPr sz="1050" b="1">
                <a:solidFill>
                  <a:srgbClr val="304452"/>
                </a:solidFill>
              </a:rPr>
              <a:t>LLM</a:t>
            </a:r>
          </a:p>
        </p:txBody>
      </p:sp>
      <p:sp>
        <p:nvSpPr>
          <p:cNvPr id="54" name="llm-name">
            <a:extLst>
              <a:ext uri="{FF2B5EF4-FFF2-40B4-BE49-F238E27FC236}">
                <a16:creationId xmlns:a16="http://schemas.microsoft.com/office/drawing/2014/main" id="{57B300AD-850A-4974-B1E3-A3DCC5AE3108}"/>
              </a:ext>
            </a:extLst>
          </p:cNvPr>
          <p:cNvSpPr>
            <a:spLocks noGrp="1"/>
          </p:cNvSpPr>
          <p:nvPr/>
        </p:nvSpPr>
        <p:spPr>
          <a:xfrm>
            <a:off x="9220200" y="4276725"/>
            <a:ext cx="762000" cy="247650"/>
          </a:xfrm>
          <a:prstGeom prst="rect">
            <a:avLst/>
          </a:prstGeom>
          <a:noFill/>
          <a:ln w="0">
            <a:noFill/>
            <a:prstDash val="solid"/>
          </a:ln>
        </p:spPr>
        <p:txBody>
          <a:bodyPr anchor="ctr"/>
          <a:lstStyle/>
          <a:p>
            <a:pPr algn="ctr">
              <a:defRPr sz="975" b="1">
                <a:solidFill>
                  <a:srgbClr val="304452"/>
                </a:solidFill>
              </a:defRPr>
            </a:pPr>
            <a:r>
              <a:rPr sz="975" b="1">
                <a:solidFill>
                  <a:srgbClr val="304452"/>
                </a:solidFill>
              </a:rPr>
              <a:t>llama3.2</a:t>
            </a:r>
          </a:p>
        </p:txBody>
      </p:sp>
      <p:sp>
        <p:nvSpPr>
          <p:cNvPr id="55" name="llm-copy">
            <a:extLst>
              <a:ext uri="{FF2B5EF4-FFF2-40B4-BE49-F238E27FC236}">
                <a16:creationId xmlns:a16="http://schemas.microsoft.com/office/drawing/2014/main" id="{72201C2E-32CA-45F1-9BC2-E0537A451FC2}"/>
              </a:ext>
            </a:extLst>
          </p:cNvPr>
          <p:cNvSpPr>
            <a:spLocks noGrp="1"/>
          </p:cNvSpPr>
          <p:nvPr/>
        </p:nvSpPr>
        <p:spPr>
          <a:xfrm>
            <a:off x="9220200" y="4619625"/>
            <a:ext cx="762000" cy="285750"/>
          </a:xfrm>
          <a:prstGeom prst="rect">
            <a:avLst/>
          </a:prstGeom>
          <a:noFill/>
          <a:ln w="0">
            <a:noFill/>
            <a:prstDash val="solid"/>
          </a:ln>
        </p:spPr>
        <p:txBody>
          <a:bodyPr anchor="ctr"/>
          <a:lstStyle/>
          <a:p>
            <a:pPr algn="ctr">
              <a:defRPr sz="825" b="0">
                <a:solidFill>
                  <a:srgbClr val="304452"/>
                </a:solidFill>
              </a:defRPr>
            </a:pPr>
            <a:r>
              <a:rPr sz="825" b="0">
                <a:solidFill>
                  <a:srgbClr val="304452"/>
                </a:solidFill>
              </a:rPr>
              <a:t>nur aus dem</a:t>
            </a:r>
          </a:p>
          <a:p>
            <a:pPr algn="ctr">
              <a:defRPr sz="825" b="0">
                <a:solidFill>
                  <a:srgbClr val="304452"/>
                </a:solidFill>
              </a:defRPr>
            </a:pPr>
            <a:r>
              <a:rPr sz="825" b="0">
                <a:solidFill>
                  <a:srgbClr val="304452"/>
                </a:solidFill>
              </a:rPr>
              <a:t>Kontext</a:t>
            </a:r>
          </a:p>
        </p:txBody>
      </p:sp>
      <p:sp>
        <p:nvSpPr>
          <p:cNvPr id="56" name="response">
            <a:extLst>
              <a:ext uri="{FF2B5EF4-FFF2-40B4-BE49-F238E27FC236}">
                <a16:creationId xmlns:a16="http://schemas.microsoft.com/office/drawing/2014/main" id="{6EE3B20E-0032-42EF-80FE-40F6861BAD1D}"/>
              </a:ext>
            </a:extLst>
          </p:cNvPr>
          <p:cNvSpPr>
            <a:spLocks noGrp="1"/>
          </p:cNvSpPr>
          <p:nvPr/>
        </p:nvSpPr>
        <p:spPr>
          <a:xfrm>
            <a:off x="10591800" y="3752850"/>
            <a:ext cx="1066800" cy="1314450"/>
          </a:xfrm>
          <a:prstGeom prst="roundRect">
            <a:avLst>
              <a:gd name="adj" fmla="val 10714"/>
            </a:avLst>
          </a:prstGeom>
          <a:solidFill>
            <a:srgbClr val="438B92"/>
          </a:solidFill>
          <a:ln w="12383">
            <a:solidFill>
              <a:srgbClr val="304452"/>
            </a:solidFill>
            <a:prstDash val="solid"/>
          </a:ln>
        </p:spPr>
        <p:txBody>
          <a:bodyPr/>
          <a:lstStyle/>
          <a:p>
            <a:endParaRPr lang="de-DE"/>
          </a:p>
        </p:txBody>
      </p:sp>
      <p:sp>
        <p:nvSpPr>
          <p:cNvPr id="57" name="response-title">
            <a:extLst>
              <a:ext uri="{FF2B5EF4-FFF2-40B4-BE49-F238E27FC236}">
                <a16:creationId xmlns:a16="http://schemas.microsoft.com/office/drawing/2014/main" id="{8824F4C0-CE61-497B-A8ED-D16C0712DF8E}"/>
              </a:ext>
            </a:extLst>
          </p:cNvPr>
          <p:cNvSpPr>
            <a:spLocks noGrp="1"/>
          </p:cNvSpPr>
          <p:nvPr/>
        </p:nvSpPr>
        <p:spPr>
          <a:xfrm>
            <a:off x="10629900" y="3876675"/>
            <a:ext cx="990600" cy="228600"/>
          </a:xfrm>
          <a:prstGeom prst="rect">
            <a:avLst/>
          </a:prstGeom>
          <a:noFill/>
          <a:ln w="0">
            <a:noFill/>
            <a:prstDash val="solid"/>
          </a:ln>
        </p:spPr>
        <p:txBody>
          <a:bodyPr anchor="ctr"/>
          <a:lstStyle/>
          <a:p>
            <a:pPr algn="ctr">
              <a:defRPr sz="825" b="1">
                <a:solidFill>
                  <a:srgbClr val="FFFFFF"/>
                </a:solidFill>
              </a:defRPr>
            </a:pPr>
            <a:r>
              <a:rPr sz="825" b="1">
                <a:solidFill>
                  <a:srgbClr val="FFFFFF"/>
                </a:solidFill>
              </a:rPr>
              <a:t>ANTWORT</a:t>
            </a:r>
          </a:p>
        </p:txBody>
      </p:sp>
      <p:sp>
        <p:nvSpPr>
          <p:cNvPr id="58" name="response-arrow">
            <a:extLst>
              <a:ext uri="{FF2B5EF4-FFF2-40B4-BE49-F238E27FC236}">
                <a16:creationId xmlns:a16="http://schemas.microsoft.com/office/drawing/2014/main" id="{45CEBEFB-B5D2-451E-9F66-666A9AE04508}"/>
              </a:ext>
            </a:extLst>
          </p:cNvPr>
          <p:cNvSpPr>
            <a:spLocks noGrp="1"/>
          </p:cNvSpPr>
          <p:nvPr/>
        </p:nvSpPr>
        <p:spPr>
          <a:xfrm>
            <a:off x="10810875" y="4200525"/>
            <a:ext cx="628650" cy="400050"/>
          </a:xfrm>
          <a:prstGeom prst="rect">
            <a:avLst/>
          </a:prstGeom>
          <a:noFill/>
          <a:ln w="0">
            <a:noFill/>
            <a:prstDash val="solid"/>
          </a:ln>
        </p:spPr>
        <p:txBody>
          <a:bodyPr anchor="ctr"/>
          <a:lstStyle/>
          <a:p>
            <a:pPr algn="ctr">
              <a:defRPr sz="2550" b="1">
                <a:solidFill>
                  <a:srgbClr val="FFFFFF"/>
                </a:solidFill>
              </a:defRPr>
            </a:pPr>
            <a:r>
              <a:rPr sz="2550" b="1">
                <a:solidFill>
                  <a:srgbClr val="FFFFFF"/>
                </a:solidFill>
              </a:rPr>
              <a:t>↪</a:t>
            </a:r>
          </a:p>
        </p:txBody>
      </p:sp>
      <p:sp>
        <p:nvSpPr>
          <p:cNvPr id="59" name="response-copy">
            <a:extLst>
              <a:ext uri="{FF2B5EF4-FFF2-40B4-BE49-F238E27FC236}">
                <a16:creationId xmlns:a16="http://schemas.microsoft.com/office/drawing/2014/main" id="{B68AAC64-DAB5-4507-9F71-A43BD9D8DE1A}"/>
              </a:ext>
            </a:extLst>
          </p:cNvPr>
          <p:cNvSpPr>
            <a:spLocks noGrp="1"/>
          </p:cNvSpPr>
          <p:nvPr/>
        </p:nvSpPr>
        <p:spPr>
          <a:xfrm>
            <a:off x="10706100" y="4657725"/>
            <a:ext cx="838200" cy="285750"/>
          </a:xfrm>
          <a:prstGeom prst="rect">
            <a:avLst/>
          </a:prstGeom>
          <a:noFill/>
          <a:ln w="0">
            <a:noFill/>
            <a:prstDash val="solid"/>
          </a:ln>
        </p:spPr>
        <p:txBody>
          <a:bodyPr anchor="ctr"/>
          <a:lstStyle/>
          <a:p>
            <a:pPr algn="ctr">
              <a:defRPr sz="825" b="0">
                <a:solidFill>
                  <a:srgbClr val="FFFFFF"/>
                </a:solidFill>
              </a:defRPr>
            </a:pPr>
            <a:r>
              <a:rPr sz="825" b="0">
                <a:solidFill>
                  <a:srgbClr val="FFFFFF"/>
                </a:solidFill>
              </a:rPr>
              <a:t>mit Gesetz</a:t>
            </a:r>
          </a:p>
          <a:p>
            <a:pPr algn="ctr">
              <a:defRPr sz="825" b="0">
                <a:solidFill>
                  <a:srgbClr val="FFFFFF"/>
                </a:solidFill>
              </a:defRPr>
            </a:pPr>
            <a:r>
              <a:rPr sz="825" b="0">
                <a:solidFill>
                  <a:srgbClr val="FFFFFF"/>
                </a:solidFill>
              </a:rPr>
              <a:t>und Artikel</a:t>
            </a:r>
          </a:p>
        </p:txBody>
      </p:sp>
      <p:sp>
        <p:nvSpPr>
          <p:cNvPr id="60" name="takeaway">
            <a:extLst>
              <a:ext uri="{FF2B5EF4-FFF2-40B4-BE49-F238E27FC236}">
                <a16:creationId xmlns:a16="http://schemas.microsoft.com/office/drawing/2014/main" id="{C597EED5-1433-43EC-B778-780B05115E00}"/>
              </a:ext>
            </a:extLst>
          </p:cNvPr>
          <p:cNvSpPr>
            <a:spLocks noGrp="1"/>
          </p:cNvSpPr>
          <p:nvPr/>
        </p:nvSpPr>
        <p:spPr>
          <a:xfrm>
            <a:off x="2133600" y="5476875"/>
            <a:ext cx="7924800" cy="552450"/>
          </a:xfrm>
          <a:prstGeom prst="roundRect">
            <a:avLst>
              <a:gd name="adj" fmla="val 20690"/>
            </a:avLst>
          </a:prstGeom>
          <a:solidFill>
            <a:srgbClr val="304452"/>
          </a:solidFill>
          <a:ln w="0">
            <a:solidFill>
              <a:srgbClr val="304452"/>
            </a:solidFill>
            <a:prstDash val="solid"/>
          </a:ln>
        </p:spPr>
        <p:txBody>
          <a:bodyPr/>
          <a:lstStyle/>
          <a:p>
            <a:endParaRPr lang="de-DE"/>
          </a:p>
        </p:txBody>
      </p:sp>
      <p:sp>
        <p:nvSpPr>
          <p:cNvPr id="61" name="takeaway-text">
            <a:extLst>
              <a:ext uri="{FF2B5EF4-FFF2-40B4-BE49-F238E27FC236}">
                <a16:creationId xmlns:a16="http://schemas.microsoft.com/office/drawing/2014/main" id="{EAAFE297-DA29-42FE-9CBE-B29468E3B1E2}"/>
              </a:ext>
            </a:extLst>
          </p:cNvPr>
          <p:cNvSpPr>
            <a:spLocks noGrp="1"/>
          </p:cNvSpPr>
          <p:nvPr/>
        </p:nvSpPr>
        <p:spPr>
          <a:xfrm>
            <a:off x="2381250" y="5591175"/>
            <a:ext cx="7429500" cy="323850"/>
          </a:xfrm>
          <a:prstGeom prst="rect">
            <a:avLst/>
          </a:prstGeom>
          <a:noFill/>
          <a:ln w="0">
            <a:noFill/>
            <a:prstDash val="solid"/>
          </a:ln>
        </p:spPr>
        <p:txBody>
          <a:bodyPr anchor="ctr"/>
          <a:lstStyle/>
          <a:p>
            <a:pPr algn="ctr">
              <a:defRPr sz="1350" b="1">
                <a:solidFill>
                  <a:srgbClr val="FFFFFF"/>
                </a:solidFill>
              </a:defRPr>
            </a:pPr>
            <a:r>
              <a:rPr sz="1350" b="1">
                <a:solidFill>
                  <a:srgbClr val="FFFFFF"/>
                </a:solidFill>
              </a:rPr>
              <a:t>Semantik + Lexik + explizite Zitate → Graph-Nachbarn → begrenzter Kontext</a:t>
            </a:r>
          </a:p>
        </p:txBody>
      </p:sp>
      <p:sp>
        <p:nvSpPr>
          <p:cNvPr id="62" name="page">
            <a:extLst>
              <a:ext uri="{FF2B5EF4-FFF2-40B4-BE49-F238E27FC236}">
                <a16:creationId xmlns:a16="http://schemas.microsoft.com/office/drawing/2014/main" id="{D6346274-97AE-48AA-98B8-3ABC947AF2F7}"/>
              </a:ext>
            </a:extLst>
          </p:cNvPr>
          <p:cNvSpPr>
            <a:spLocks noGrp="1"/>
          </p:cNvSpPr>
          <p:nvPr/>
        </p:nvSpPr>
        <p:spPr>
          <a:xfrm>
            <a:off x="533400" y="6448425"/>
            <a:ext cx="419100" cy="171450"/>
          </a:xfrm>
          <a:prstGeom prst="rect">
            <a:avLst/>
          </a:prstGeom>
          <a:noFill/>
          <a:ln w="0">
            <a:noFill/>
            <a:prstDash val="solid"/>
          </a:ln>
        </p:spPr>
        <p:txBody>
          <a:bodyPr anchor="ctr"/>
          <a:lstStyle/>
          <a:p>
            <a:pPr algn="l">
              <a:defRPr sz="750" b="0">
                <a:solidFill>
                  <a:srgbClr val="304452"/>
                </a:solidFill>
              </a:defRPr>
            </a:pPr>
            <a:r>
              <a:rPr sz="750" b="0">
                <a:solidFill>
                  <a:srgbClr val="304452"/>
                </a:solidFill>
              </a:rPr>
              <a:t>17</a:t>
            </a:r>
          </a:p>
        </p:txBody>
      </p:sp>
      <p:sp>
        <p:nvSpPr>
          <p:cNvPr id="63" name="date">
            <a:extLst>
              <a:ext uri="{FF2B5EF4-FFF2-40B4-BE49-F238E27FC236}">
                <a16:creationId xmlns:a16="http://schemas.microsoft.com/office/drawing/2014/main" id="{C2419470-3B66-4279-B1FB-D565F64C4069}"/>
              </a:ext>
            </a:extLst>
          </p:cNvPr>
          <p:cNvSpPr>
            <a:spLocks noGrp="1"/>
          </p:cNvSpPr>
          <p:nvPr/>
        </p:nvSpPr>
        <p:spPr>
          <a:xfrm>
            <a:off x="990600" y="6448425"/>
            <a:ext cx="857250" cy="171450"/>
          </a:xfrm>
          <a:prstGeom prst="rect">
            <a:avLst/>
          </a:prstGeom>
          <a:noFill/>
          <a:ln w="0">
            <a:noFill/>
            <a:prstDash val="solid"/>
          </a:ln>
        </p:spPr>
        <p:txBody>
          <a:bodyPr anchor="ctr"/>
          <a:lstStyle/>
          <a:p>
            <a:pPr algn="l">
              <a:defRPr sz="750" b="0">
                <a:solidFill>
                  <a:srgbClr val="304452"/>
                </a:solidFill>
              </a:defRPr>
            </a:pPr>
            <a:r>
              <a:rPr sz="750" b="0">
                <a:solidFill>
                  <a:srgbClr val="304452"/>
                </a:solidFill>
              </a:rPr>
              <a:t>04.08.2026</a:t>
            </a:r>
          </a:p>
        </p:txBody>
      </p:sp>
      <p:sp>
        <p:nvSpPr>
          <p:cNvPr id="132" name="slide-title">
            <a:extLst>
              <a:ext uri="{FF2B5EF4-FFF2-40B4-BE49-F238E27FC236}">
                <a16:creationId xmlns:a16="http://schemas.microsoft.com/office/drawing/2014/main" id="{239C4669-0BE9-772E-98E4-69BE8C283166}"/>
              </a:ext>
            </a:extLst>
          </p:cNvPr>
          <p:cNvSpPr>
            <a:spLocks noGrp="1"/>
          </p:cNvSpPr>
          <p:nvPr/>
        </p:nvSpPr>
        <p:spPr>
          <a:xfrm>
            <a:off x="476250" y="333375"/>
            <a:ext cx="11239500" cy="714375"/>
          </a:xfrm>
          <a:prstGeom prst="rect">
            <a:avLst/>
          </a:prstGeom>
          <a:noFill/>
          <a:ln w="0">
            <a:noFill/>
            <a:prstDash val="solid"/>
          </a:ln>
        </p:spPr>
        <p:txBody>
          <a:bodyPr anchor="ctr"/>
          <a:lstStyle/>
          <a:p>
            <a:pPr algn="l">
              <a:buNone/>
              <a:defRPr sz="2850" b="0">
                <a:solidFill>
                  <a:srgbClr val="2D3F4B"/>
                </a:solidFill>
                <a:latin typeface="Arial"/>
                <a:ea typeface="Arial"/>
                <a:cs typeface="Arial"/>
              </a:defRPr>
            </a:pPr>
            <a:r>
              <a:rPr lang="de-DE" sz="2850" b="0" dirty="0">
                <a:solidFill>
                  <a:srgbClr val="2D3F4B"/>
                </a:solidFill>
                <a:latin typeface="Arial"/>
                <a:ea typeface="Arial"/>
                <a:cs typeface="Arial"/>
              </a:rPr>
              <a:t>Hybrider </a:t>
            </a:r>
            <a:r>
              <a:rPr sz="2850" b="0" dirty="0" err="1">
                <a:solidFill>
                  <a:srgbClr val="2D3F4B"/>
                </a:solidFill>
                <a:latin typeface="Arial"/>
                <a:ea typeface="Arial"/>
                <a:cs typeface="Arial"/>
              </a:rPr>
              <a:t>GraphRAG</a:t>
            </a:r>
            <a:r>
              <a:rPr sz="2850" b="0" dirty="0">
                <a:solidFill>
                  <a:srgbClr val="2D3F4B"/>
                </a:solidFill>
                <a:latin typeface="Arial"/>
                <a:ea typeface="Arial"/>
                <a:cs typeface="Arial"/>
              </a:rPr>
              <a:t> </a:t>
            </a:r>
            <a:r>
              <a:rPr sz="2850" b="0" dirty="0" err="1">
                <a:solidFill>
                  <a:srgbClr val="2D3F4B"/>
                </a:solidFill>
                <a:latin typeface="Arial"/>
                <a:ea typeface="Arial"/>
                <a:cs typeface="Arial"/>
              </a:rPr>
              <a:t>verbindet</a:t>
            </a:r>
            <a:r>
              <a:rPr sz="2850" b="0" dirty="0">
                <a:solidFill>
                  <a:srgbClr val="2D3F4B"/>
                </a:solidFill>
                <a:latin typeface="Arial"/>
                <a:ea typeface="Arial"/>
                <a:cs typeface="Arial"/>
              </a:rPr>
              <a:t> </a:t>
            </a:r>
            <a:r>
              <a:rPr sz="2850" b="0" dirty="0" err="1">
                <a:solidFill>
                  <a:srgbClr val="2D3F4B"/>
                </a:solidFill>
                <a:latin typeface="Arial"/>
                <a:ea typeface="Arial"/>
                <a:cs typeface="Arial"/>
              </a:rPr>
              <a:t>mehrere</a:t>
            </a:r>
            <a:r>
              <a:rPr sz="2850" b="0" dirty="0">
                <a:solidFill>
                  <a:srgbClr val="2D3F4B"/>
                </a:solidFill>
                <a:latin typeface="Arial"/>
                <a:ea typeface="Arial"/>
                <a:cs typeface="Arial"/>
              </a:rPr>
              <a:t> </a:t>
            </a:r>
            <a:r>
              <a:rPr sz="2850" b="0" dirty="0" err="1">
                <a:solidFill>
                  <a:srgbClr val="2D3F4B"/>
                </a:solidFill>
                <a:latin typeface="Arial"/>
                <a:ea typeface="Arial"/>
                <a:cs typeface="Arial"/>
              </a:rPr>
              <a:t>Suchsignale</a:t>
            </a:r>
            <a:endParaRPr sz="2850" b="0" dirty="0">
              <a:solidFill>
                <a:srgbClr val="2D3F4B"/>
              </a:solidFill>
              <a:latin typeface="Arial"/>
              <a:ea typeface="Arial"/>
              <a:cs typeface="Arial"/>
            </a:endParaRPr>
          </a:p>
        </p:txBody>
      </p:sp>
    </p:spTree>
    <p:extLst>
      <p:ext uri="{BB962C8B-B14F-4D97-AF65-F5344CB8AC3E}">
        <p14:creationId xmlns:p14="http://schemas.microsoft.com/office/powerpoint/2010/main" val="10800522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rule">
            <a:extLst>
              <a:ext uri="{FF2B5EF4-FFF2-40B4-BE49-F238E27FC236}">
                <a16:creationId xmlns:a16="http://schemas.microsoft.com/office/drawing/2014/main" id="{D9277F89-7AAC-4778-8ADF-2F34CDC56F6F}"/>
              </a:ext>
            </a:extLst>
          </p:cNvPr>
          <p:cNvSpPr>
            <a:spLocks noGrp="1"/>
          </p:cNvSpPr>
          <p:nvPr/>
        </p:nvSpPr>
        <p:spPr>
          <a:xfrm>
            <a:off x="476250" y="1133475"/>
            <a:ext cx="11239500" cy="0"/>
          </a:xfrm>
          <a:prstGeom prst="line">
            <a:avLst/>
          </a:prstGeom>
          <a:ln w="25718">
            <a:solidFill>
              <a:srgbClr val="C60C30"/>
            </a:solidFill>
            <a:prstDash val="solid"/>
          </a:ln>
        </p:spPr>
        <p:txBody>
          <a:bodyPr/>
          <a:lstStyle/>
          <a:p>
            <a:endParaRPr/>
          </a:p>
        </p:txBody>
      </p:sp>
      <p:sp>
        <p:nvSpPr>
          <p:cNvPr id="4" name="slide-subtitle">
            <a:extLst>
              <a:ext uri="{FF2B5EF4-FFF2-40B4-BE49-F238E27FC236}">
                <a16:creationId xmlns:a16="http://schemas.microsoft.com/office/drawing/2014/main" id="{D4843392-06B7-4F34-8C77-0B596171C446}"/>
              </a:ext>
            </a:extLst>
          </p:cNvPr>
          <p:cNvSpPr>
            <a:spLocks noGrp="1"/>
          </p:cNvSpPr>
          <p:nvPr/>
        </p:nvSpPr>
        <p:spPr>
          <a:xfrm>
            <a:off x="523875" y="1362075"/>
            <a:ext cx="11096625" cy="361950"/>
          </a:xfrm>
          <a:prstGeom prst="rect">
            <a:avLst/>
          </a:prstGeom>
          <a:noFill/>
          <a:ln w="0">
            <a:noFill/>
            <a:prstDash val="solid"/>
          </a:ln>
        </p:spPr>
        <p:txBody>
          <a:bodyPr anchor="ctr"/>
          <a:lstStyle/>
          <a:p>
            <a:pPr algn="l">
              <a:buNone/>
              <a:defRPr sz="1650" b="0">
                <a:solidFill>
                  <a:srgbClr val="81725E"/>
                </a:solidFill>
                <a:latin typeface="Arial"/>
                <a:ea typeface="Arial"/>
                <a:cs typeface="Arial"/>
              </a:defRPr>
            </a:pPr>
            <a:r>
              <a:rPr sz="1650" b="0">
                <a:solidFill>
                  <a:srgbClr val="81725E"/>
                </a:solidFill>
                <a:latin typeface="Arial"/>
                <a:ea typeface="Arial"/>
                <a:cs typeface="Arial"/>
              </a:rPr>
              <a:t>Reranking verbessert die Rangfolge; GraphRAG ergänzt exakte Artikelauflösung.</a:t>
            </a:r>
          </a:p>
        </p:txBody>
      </p:sp>
      <p:sp>
        <p:nvSpPr>
          <p:cNvPr id="5" name="page-number">
            <a:extLst>
              <a:ext uri="{FF2B5EF4-FFF2-40B4-BE49-F238E27FC236}">
                <a16:creationId xmlns:a16="http://schemas.microsoft.com/office/drawing/2014/main" id="{FA6800FF-1EDC-425C-A287-9EAA2429BC64}"/>
              </a:ext>
            </a:extLst>
          </p:cNvPr>
          <p:cNvSpPr>
            <a:spLocks noGrp="1"/>
          </p:cNvSpPr>
          <p:nvPr/>
        </p:nvSpPr>
        <p:spPr>
          <a:xfrm>
            <a:off x="476250" y="6353175"/>
            <a:ext cx="333375" cy="209550"/>
          </a:xfrm>
          <a:prstGeom prst="rect">
            <a:avLst/>
          </a:prstGeom>
          <a:noFill/>
          <a:ln w="0">
            <a:noFill/>
            <a:prstDash val="solid"/>
          </a:ln>
        </p:spPr>
        <p:txBody>
          <a:bodyPr anchor="t"/>
          <a:lstStyle/>
          <a:p>
            <a:pPr algn="l">
              <a:buNone/>
              <a:defRPr sz="825" b="0">
                <a:solidFill>
                  <a:srgbClr val="2D3F4B"/>
                </a:solidFill>
                <a:latin typeface="Arial"/>
                <a:ea typeface="Arial"/>
                <a:cs typeface="Arial"/>
              </a:defRPr>
            </a:pPr>
            <a:r>
              <a:rPr sz="825" b="0">
                <a:solidFill>
                  <a:srgbClr val="2D3F4B"/>
                </a:solidFill>
                <a:latin typeface="Arial"/>
                <a:ea typeface="Arial"/>
                <a:cs typeface="Arial"/>
              </a:rPr>
              <a:t>17</a:t>
            </a:r>
          </a:p>
        </p:txBody>
      </p:sp>
      <p:sp>
        <p:nvSpPr>
          <p:cNvPr id="6" name="date">
            <a:extLst>
              <a:ext uri="{FF2B5EF4-FFF2-40B4-BE49-F238E27FC236}">
                <a16:creationId xmlns:a16="http://schemas.microsoft.com/office/drawing/2014/main" id="{3C29CD7A-329D-4286-9215-067AD7218592}"/>
              </a:ext>
            </a:extLst>
          </p:cNvPr>
          <p:cNvSpPr>
            <a:spLocks noGrp="1"/>
          </p:cNvSpPr>
          <p:nvPr/>
        </p:nvSpPr>
        <p:spPr>
          <a:xfrm>
            <a:off x="933450" y="6353175"/>
            <a:ext cx="857250" cy="209550"/>
          </a:xfrm>
          <a:prstGeom prst="rect">
            <a:avLst/>
          </a:prstGeom>
          <a:noFill/>
          <a:ln w="0">
            <a:noFill/>
            <a:prstDash val="solid"/>
          </a:ln>
        </p:spPr>
        <p:txBody>
          <a:bodyPr anchor="t"/>
          <a:lstStyle/>
          <a:p>
            <a:pPr algn="l">
              <a:buNone/>
              <a:defRPr sz="825" b="0">
                <a:solidFill>
                  <a:srgbClr val="2D3F4B"/>
                </a:solidFill>
                <a:latin typeface="Arial"/>
                <a:ea typeface="Arial"/>
                <a:cs typeface="Arial"/>
              </a:defRPr>
            </a:pPr>
            <a:r>
              <a:rPr sz="825" b="0">
                <a:solidFill>
                  <a:srgbClr val="2D3F4B"/>
                </a:solidFill>
                <a:latin typeface="Arial"/>
                <a:ea typeface="Arial"/>
                <a:cs typeface="Arial"/>
              </a:rPr>
              <a:t>04.08.2026</a:t>
            </a:r>
          </a:p>
        </p:txBody>
      </p:sp>
      <p:sp>
        <p:nvSpPr>
          <p:cNvPr id="7" name="ARTICLE RECALL@K-label">
            <a:extLst>
              <a:ext uri="{FF2B5EF4-FFF2-40B4-BE49-F238E27FC236}">
                <a16:creationId xmlns:a16="http://schemas.microsoft.com/office/drawing/2014/main" id="{EF3CBA10-81F9-496B-9B1B-D5798E9DEA26}"/>
              </a:ext>
            </a:extLst>
          </p:cNvPr>
          <p:cNvSpPr>
            <a:spLocks noGrp="1"/>
          </p:cNvSpPr>
          <p:nvPr/>
        </p:nvSpPr>
        <p:spPr>
          <a:xfrm>
            <a:off x="619125" y="2047875"/>
            <a:ext cx="3143250" cy="266700"/>
          </a:xfrm>
          <a:prstGeom prst="rect">
            <a:avLst/>
          </a:prstGeom>
          <a:noFill/>
          <a:ln w="0">
            <a:noFill/>
            <a:prstDash val="solid"/>
          </a:ln>
        </p:spPr>
        <p:txBody>
          <a:bodyPr anchor="t"/>
          <a:lstStyle/>
          <a:p>
            <a:pPr algn="ctr">
              <a:buNone/>
              <a:defRPr sz="1200" b="1">
                <a:solidFill>
                  <a:srgbClr val="C60C30"/>
                </a:solidFill>
                <a:latin typeface="Arial"/>
                <a:ea typeface="Arial"/>
                <a:cs typeface="Arial"/>
              </a:defRPr>
            </a:pPr>
            <a:r>
              <a:rPr sz="1200" b="1">
                <a:solidFill>
                  <a:srgbClr val="C60C30"/>
                </a:solidFill>
                <a:latin typeface="Arial"/>
                <a:ea typeface="Arial"/>
                <a:cs typeface="Arial"/>
              </a:rPr>
              <a:t>ARTICLE RECALL@K</a:t>
            </a:r>
          </a:p>
        </p:txBody>
      </p:sp>
      <p:sp>
        <p:nvSpPr>
          <p:cNvPr id="8" name="ARTICLE RECALL@K-box">
            <a:extLst>
              <a:ext uri="{FF2B5EF4-FFF2-40B4-BE49-F238E27FC236}">
                <a16:creationId xmlns:a16="http://schemas.microsoft.com/office/drawing/2014/main" id="{7D7415F9-B995-47D9-ACB0-CF9EA215DF97}"/>
              </a:ext>
            </a:extLst>
          </p:cNvPr>
          <p:cNvSpPr>
            <a:spLocks noGrp="1"/>
          </p:cNvSpPr>
          <p:nvPr/>
        </p:nvSpPr>
        <p:spPr>
          <a:xfrm>
            <a:off x="619125" y="2381250"/>
            <a:ext cx="3143250" cy="2238375"/>
          </a:xfrm>
          <a:prstGeom prst="roundRect">
            <a:avLst>
              <a:gd name="adj" fmla="val 7660"/>
            </a:avLst>
          </a:prstGeom>
          <a:solidFill>
            <a:srgbClr val="EAE8E5"/>
          </a:solidFill>
          <a:ln w="11430">
            <a:solidFill>
              <a:srgbClr val="C3BBB2"/>
            </a:solidFill>
            <a:prstDash val="solid"/>
          </a:ln>
        </p:spPr>
        <p:txBody>
          <a:bodyPr/>
          <a:lstStyle/>
          <a:p>
            <a:endParaRPr/>
          </a:p>
        </p:txBody>
      </p:sp>
      <p:sp>
        <p:nvSpPr>
          <p:cNvPr id="9" name="ARTICLE RECALL@K-vector-label">
            <a:extLst>
              <a:ext uri="{FF2B5EF4-FFF2-40B4-BE49-F238E27FC236}">
                <a16:creationId xmlns:a16="http://schemas.microsoft.com/office/drawing/2014/main" id="{6807D616-2734-411A-9F80-248B050D6544}"/>
              </a:ext>
            </a:extLst>
          </p:cNvPr>
          <p:cNvSpPr>
            <a:spLocks noGrp="1"/>
          </p:cNvSpPr>
          <p:nvPr/>
        </p:nvSpPr>
        <p:spPr>
          <a:xfrm>
            <a:off x="857250" y="2647950"/>
            <a:ext cx="1190625" cy="228600"/>
          </a:xfrm>
          <a:prstGeom prst="rect">
            <a:avLst/>
          </a:prstGeom>
          <a:noFill/>
          <a:ln w="0">
            <a:noFill/>
            <a:prstDash val="solid"/>
          </a:ln>
        </p:spPr>
        <p:txBody>
          <a:bodyPr anchor="t"/>
          <a:lstStyle/>
          <a:p>
            <a:pPr algn="ctr">
              <a:buNone/>
              <a:defRPr sz="825" b="1">
                <a:solidFill>
                  <a:srgbClr val="304554"/>
                </a:solidFill>
                <a:latin typeface="Arial"/>
                <a:ea typeface="Arial"/>
                <a:cs typeface="Arial"/>
              </a:defRPr>
            </a:pPr>
            <a:r>
              <a:rPr sz="825" b="1">
                <a:solidFill>
                  <a:srgbClr val="304554"/>
                </a:solidFill>
                <a:latin typeface="Arial"/>
                <a:ea typeface="Arial"/>
                <a:cs typeface="Arial"/>
              </a:rPr>
              <a:t>FIXED</a:t>
            </a:r>
          </a:p>
          <a:p>
            <a:pPr algn="ctr">
              <a:buNone/>
              <a:defRPr sz="825" b="1">
                <a:solidFill>
                  <a:srgbClr val="304554"/>
                </a:solidFill>
                <a:latin typeface="Arial"/>
                <a:ea typeface="Arial"/>
                <a:cs typeface="Arial"/>
              </a:defRPr>
            </a:pPr>
            <a:r>
              <a:rPr sz="825" b="1">
                <a:solidFill>
                  <a:srgbClr val="304554"/>
                </a:solidFill>
                <a:latin typeface="Arial"/>
                <a:ea typeface="Arial"/>
                <a:cs typeface="Arial"/>
              </a:rPr>
              <a:t>SEMANTIC</a:t>
            </a:r>
          </a:p>
        </p:txBody>
      </p:sp>
      <p:sp>
        <p:nvSpPr>
          <p:cNvPr id="10" name="ARTICLE RECALL@K-vector">
            <a:extLst>
              <a:ext uri="{FF2B5EF4-FFF2-40B4-BE49-F238E27FC236}">
                <a16:creationId xmlns:a16="http://schemas.microsoft.com/office/drawing/2014/main" id="{D9C1AC8B-20E7-4FC6-B1E1-7135C819100A}"/>
              </a:ext>
            </a:extLst>
          </p:cNvPr>
          <p:cNvSpPr>
            <a:spLocks noGrp="1"/>
          </p:cNvSpPr>
          <p:nvPr/>
        </p:nvSpPr>
        <p:spPr>
          <a:xfrm>
            <a:off x="857250" y="2952750"/>
            <a:ext cx="1190625" cy="552450"/>
          </a:xfrm>
          <a:prstGeom prst="rect">
            <a:avLst/>
          </a:prstGeom>
          <a:noFill/>
          <a:ln w="0">
            <a:noFill/>
            <a:prstDash val="solid"/>
          </a:ln>
        </p:spPr>
        <p:txBody>
          <a:bodyPr anchor="ctr"/>
          <a:lstStyle/>
          <a:p>
            <a:pPr algn="ctr">
              <a:buNone/>
              <a:defRPr sz="1725" b="1">
                <a:solidFill>
                  <a:srgbClr val="304554"/>
                </a:solidFill>
                <a:latin typeface="Arial"/>
                <a:ea typeface="Arial"/>
                <a:cs typeface="Arial"/>
              </a:defRPr>
            </a:pPr>
            <a:r>
              <a:rPr sz="1725" b="1">
                <a:solidFill>
                  <a:srgbClr val="304554"/>
                </a:solidFill>
                <a:latin typeface="Arial"/>
                <a:ea typeface="Arial"/>
                <a:cs typeface="Arial"/>
              </a:rPr>
              <a:t>54 %</a:t>
            </a:r>
          </a:p>
          <a:p>
            <a:pPr algn="ctr">
              <a:buNone/>
              <a:defRPr sz="1725" b="1">
                <a:solidFill>
                  <a:srgbClr val="304554"/>
                </a:solidFill>
                <a:latin typeface="Arial"/>
                <a:ea typeface="Arial"/>
                <a:cs typeface="Arial"/>
              </a:defRPr>
            </a:pPr>
            <a:r>
              <a:rPr sz="1725" b="1">
                <a:solidFill>
                  <a:srgbClr val="304554"/>
                </a:solidFill>
                <a:latin typeface="Arial"/>
                <a:ea typeface="Arial"/>
                <a:cs typeface="Arial"/>
              </a:rPr>
              <a:t>33 %</a:t>
            </a:r>
          </a:p>
        </p:txBody>
      </p:sp>
      <p:sp>
        <p:nvSpPr>
          <p:cNvPr id="11" name="ARTICLE RECALL@K-graph-label">
            <a:extLst>
              <a:ext uri="{FF2B5EF4-FFF2-40B4-BE49-F238E27FC236}">
                <a16:creationId xmlns:a16="http://schemas.microsoft.com/office/drawing/2014/main" id="{547E2263-E275-431C-90EE-995868326356}"/>
              </a:ext>
            </a:extLst>
          </p:cNvPr>
          <p:cNvSpPr>
            <a:spLocks noGrp="1"/>
          </p:cNvSpPr>
          <p:nvPr/>
        </p:nvSpPr>
        <p:spPr>
          <a:xfrm>
            <a:off x="2333625" y="2647950"/>
            <a:ext cx="1190625" cy="228600"/>
          </a:xfrm>
          <a:prstGeom prst="rect">
            <a:avLst/>
          </a:prstGeom>
          <a:noFill/>
          <a:ln w="0">
            <a:noFill/>
            <a:prstDash val="solid"/>
          </a:ln>
        </p:spPr>
        <p:txBody>
          <a:bodyPr anchor="t"/>
          <a:lstStyle/>
          <a:p>
            <a:pPr algn="ctr">
              <a:buNone/>
              <a:defRPr sz="825" b="1">
                <a:solidFill>
                  <a:srgbClr val="304554"/>
                </a:solidFill>
                <a:latin typeface="Arial"/>
                <a:ea typeface="Arial"/>
                <a:cs typeface="Arial"/>
              </a:defRPr>
            </a:pPr>
            <a:r>
              <a:rPr sz="825" b="1">
                <a:solidFill>
                  <a:srgbClr val="304554"/>
                </a:solidFill>
                <a:latin typeface="Arial"/>
                <a:ea typeface="Arial"/>
                <a:cs typeface="Arial"/>
              </a:rPr>
              <a:t>RERANK</a:t>
            </a:r>
          </a:p>
          <a:p>
            <a:pPr algn="ctr">
              <a:buNone/>
              <a:defRPr sz="825" b="1">
                <a:solidFill>
                  <a:srgbClr val="304554"/>
                </a:solidFill>
                <a:latin typeface="Arial"/>
                <a:ea typeface="Arial"/>
                <a:cs typeface="Arial"/>
              </a:defRPr>
            </a:pPr>
            <a:r>
              <a:rPr sz="825" b="1">
                <a:solidFill>
                  <a:srgbClr val="304554"/>
                </a:solidFill>
                <a:latin typeface="Arial"/>
                <a:ea typeface="Arial"/>
                <a:cs typeface="Arial"/>
              </a:rPr>
              <a:t>GRAPH</a:t>
            </a:r>
          </a:p>
        </p:txBody>
      </p:sp>
      <p:sp>
        <p:nvSpPr>
          <p:cNvPr id="12" name="ARTICLE RECALL@K-graph">
            <a:extLst>
              <a:ext uri="{FF2B5EF4-FFF2-40B4-BE49-F238E27FC236}">
                <a16:creationId xmlns:a16="http://schemas.microsoft.com/office/drawing/2014/main" id="{A26240DA-17D0-465A-909D-667A7CEC6A78}"/>
              </a:ext>
            </a:extLst>
          </p:cNvPr>
          <p:cNvSpPr>
            <a:spLocks noGrp="1"/>
          </p:cNvSpPr>
          <p:nvPr/>
        </p:nvSpPr>
        <p:spPr>
          <a:xfrm>
            <a:off x="2333625" y="2952750"/>
            <a:ext cx="1190625" cy="552450"/>
          </a:xfrm>
          <a:prstGeom prst="rect">
            <a:avLst/>
          </a:prstGeom>
          <a:noFill/>
          <a:ln w="0">
            <a:noFill/>
            <a:prstDash val="solid"/>
          </a:ln>
        </p:spPr>
        <p:txBody>
          <a:bodyPr anchor="ctr"/>
          <a:lstStyle/>
          <a:p>
            <a:pPr algn="ctr">
              <a:buNone/>
              <a:defRPr sz="1725" b="1">
                <a:solidFill>
                  <a:srgbClr val="4B9298"/>
                </a:solidFill>
                <a:latin typeface="Arial"/>
                <a:ea typeface="Arial"/>
                <a:cs typeface="Arial"/>
              </a:defRPr>
            </a:pPr>
            <a:r>
              <a:rPr sz="1725" b="1">
                <a:solidFill>
                  <a:srgbClr val="4B9298"/>
                </a:solidFill>
                <a:latin typeface="Arial"/>
                <a:ea typeface="Arial"/>
                <a:cs typeface="Arial"/>
              </a:rPr>
              <a:t>71 %</a:t>
            </a:r>
          </a:p>
          <a:p>
            <a:pPr algn="ctr">
              <a:buNone/>
              <a:defRPr sz="1725" b="1">
                <a:solidFill>
                  <a:srgbClr val="4B9298"/>
                </a:solidFill>
                <a:latin typeface="Arial"/>
                <a:ea typeface="Arial"/>
                <a:cs typeface="Arial"/>
              </a:defRPr>
            </a:pPr>
            <a:r>
              <a:rPr sz="1725" b="1">
                <a:solidFill>
                  <a:srgbClr val="4B9298"/>
                </a:solidFill>
                <a:latin typeface="Arial"/>
                <a:ea typeface="Arial"/>
                <a:cs typeface="Arial"/>
              </a:rPr>
              <a:t>88 %</a:t>
            </a:r>
          </a:p>
        </p:txBody>
      </p:sp>
      <p:sp>
        <p:nvSpPr>
          <p:cNvPr id="13" name="ARTICLE RECALL@K-divider">
            <a:extLst>
              <a:ext uri="{FF2B5EF4-FFF2-40B4-BE49-F238E27FC236}">
                <a16:creationId xmlns:a16="http://schemas.microsoft.com/office/drawing/2014/main" id="{60C88283-300A-41E7-BA4D-36B297E1C6AD}"/>
              </a:ext>
            </a:extLst>
          </p:cNvPr>
          <p:cNvSpPr>
            <a:spLocks noGrp="1"/>
          </p:cNvSpPr>
          <p:nvPr/>
        </p:nvSpPr>
        <p:spPr>
          <a:xfrm>
            <a:off x="2190750" y="2686050"/>
            <a:ext cx="0" cy="952500"/>
          </a:xfrm>
          <a:prstGeom prst="line">
            <a:avLst/>
          </a:prstGeom>
          <a:ln w="11430">
            <a:solidFill>
              <a:srgbClr val="C3BBB2"/>
            </a:solidFill>
            <a:prstDash val="solid"/>
          </a:ln>
        </p:spPr>
        <p:txBody>
          <a:bodyPr/>
          <a:lstStyle/>
          <a:p>
            <a:endParaRPr/>
          </a:p>
        </p:txBody>
      </p:sp>
      <p:sp>
        <p:nvSpPr>
          <p:cNvPr id="14" name="ARTICLE RECALL@K-note">
            <a:extLst>
              <a:ext uri="{FF2B5EF4-FFF2-40B4-BE49-F238E27FC236}">
                <a16:creationId xmlns:a16="http://schemas.microsoft.com/office/drawing/2014/main" id="{65BAC4C0-738D-4FD4-9F9C-DC3CABA4D556}"/>
              </a:ext>
            </a:extLst>
          </p:cNvPr>
          <p:cNvSpPr>
            <a:spLocks noGrp="1"/>
          </p:cNvSpPr>
          <p:nvPr/>
        </p:nvSpPr>
        <p:spPr>
          <a:xfrm>
            <a:off x="904875" y="3848100"/>
            <a:ext cx="2571750" cy="438150"/>
          </a:xfrm>
          <a:prstGeom prst="rect">
            <a:avLst/>
          </a:prstGeom>
          <a:noFill/>
          <a:ln w="0">
            <a:noFill/>
            <a:prstDash val="solid"/>
          </a:ln>
        </p:spPr>
        <p:txBody>
          <a:bodyPr anchor="t"/>
          <a:lstStyle/>
          <a:p>
            <a:pPr algn="ctr">
              <a:buNone/>
              <a:defRPr sz="1050" b="1">
                <a:solidFill>
                  <a:srgbClr val="304554"/>
                </a:solidFill>
                <a:latin typeface="Arial"/>
                <a:ea typeface="Arial"/>
                <a:cs typeface="Arial"/>
              </a:defRPr>
            </a:pPr>
            <a:r>
              <a:rPr sz="1050" b="1">
                <a:solidFill>
                  <a:srgbClr val="304554"/>
                </a:solidFill>
                <a:latin typeface="Arial"/>
                <a:ea typeface="Arial"/>
                <a:cs typeface="Arial"/>
              </a:rPr>
              <a:t>Graph liefert den höchsten Recall</a:t>
            </a:r>
          </a:p>
        </p:txBody>
      </p:sp>
      <p:sp>
        <p:nvSpPr>
          <p:cNvPr id="15" name="ARTICLE MRR-label">
            <a:extLst>
              <a:ext uri="{FF2B5EF4-FFF2-40B4-BE49-F238E27FC236}">
                <a16:creationId xmlns:a16="http://schemas.microsoft.com/office/drawing/2014/main" id="{428A152A-7185-4B7C-9D9F-F04877D61454}"/>
              </a:ext>
            </a:extLst>
          </p:cNvPr>
          <p:cNvSpPr>
            <a:spLocks noGrp="1"/>
          </p:cNvSpPr>
          <p:nvPr/>
        </p:nvSpPr>
        <p:spPr>
          <a:xfrm>
            <a:off x="4095750" y="2047875"/>
            <a:ext cx="3143250" cy="266700"/>
          </a:xfrm>
          <a:prstGeom prst="rect">
            <a:avLst/>
          </a:prstGeom>
          <a:noFill/>
          <a:ln w="0">
            <a:noFill/>
            <a:prstDash val="solid"/>
          </a:ln>
        </p:spPr>
        <p:txBody>
          <a:bodyPr anchor="t"/>
          <a:lstStyle/>
          <a:p>
            <a:pPr algn="ctr">
              <a:buNone/>
              <a:defRPr sz="1200" b="1">
                <a:solidFill>
                  <a:srgbClr val="43858A"/>
                </a:solidFill>
                <a:latin typeface="Arial"/>
                <a:ea typeface="Arial"/>
                <a:cs typeface="Arial"/>
              </a:defRPr>
            </a:pPr>
            <a:r>
              <a:rPr sz="1200" b="1">
                <a:solidFill>
                  <a:srgbClr val="43858A"/>
                </a:solidFill>
                <a:latin typeface="Arial"/>
                <a:ea typeface="Arial"/>
                <a:cs typeface="Arial"/>
              </a:rPr>
              <a:t>ARTICLE MRR</a:t>
            </a:r>
          </a:p>
        </p:txBody>
      </p:sp>
      <p:sp>
        <p:nvSpPr>
          <p:cNvPr id="16" name="ARTICLE MRR-box">
            <a:extLst>
              <a:ext uri="{FF2B5EF4-FFF2-40B4-BE49-F238E27FC236}">
                <a16:creationId xmlns:a16="http://schemas.microsoft.com/office/drawing/2014/main" id="{C1FBDDDE-552F-4923-8326-79A1F4AA6167}"/>
              </a:ext>
            </a:extLst>
          </p:cNvPr>
          <p:cNvSpPr>
            <a:spLocks noGrp="1"/>
          </p:cNvSpPr>
          <p:nvPr/>
        </p:nvSpPr>
        <p:spPr>
          <a:xfrm>
            <a:off x="4095750" y="2381250"/>
            <a:ext cx="3143250" cy="2238375"/>
          </a:xfrm>
          <a:prstGeom prst="roundRect">
            <a:avLst>
              <a:gd name="adj" fmla="val 7660"/>
            </a:avLst>
          </a:prstGeom>
          <a:solidFill>
            <a:srgbClr val="EAE8E5"/>
          </a:solidFill>
          <a:ln w="11430">
            <a:solidFill>
              <a:srgbClr val="C3BBB2"/>
            </a:solidFill>
            <a:prstDash val="solid"/>
          </a:ln>
        </p:spPr>
        <p:txBody>
          <a:bodyPr/>
          <a:lstStyle/>
          <a:p>
            <a:endParaRPr/>
          </a:p>
        </p:txBody>
      </p:sp>
      <p:sp>
        <p:nvSpPr>
          <p:cNvPr id="17" name="ARTICLE MRR-vector-label">
            <a:extLst>
              <a:ext uri="{FF2B5EF4-FFF2-40B4-BE49-F238E27FC236}">
                <a16:creationId xmlns:a16="http://schemas.microsoft.com/office/drawing/2014/main" id="{231458E9-0363-4E1A-909E-88E4A78AF7E5}"/>
              </a:ext>
            </a:extLst>
          </p:cNvPr>
          <p:cNvSpPr>
            <a:spLocks noGrp="1"/>
          </p:cNvSpPr>
          <p:nvPr/>
        </p:nvSpPr>
        <p:spPr>
          <a:xfrm>
            <a:off x="4333875" y="2647950"/>
            <a:ext cx="1190625" cy="228600"/>
          </a:xfrm>
          <a:prstGeom prst="rect">
            <a:avLst/>
          </a:prstGeom>
          <a:noFill/>
          <a:ln w="0">
            <a:noFill/>
            <a:prstDash val="solid"/>
          </a:ln>
        </p:spPr>
        <p:txBody>
          <a:bodyPr anchor="t"/>
          <a:lstStyle/>
          <a:p>
            <a:pPr algn="ctr">
              <a:buNone/>
              <a:defRPr sz="825" b="1">
                <a:solidFill>
                  <a:srgbClr val="304554"/>
                </a:solidFill>
                <a:latin typeface="Arial"/>
                <a:ea typeface="Arial"/>
                <a:cs typeface="Arial"/>
              </a:defRPr>
            </a:pPr>
            <a:r>
              <a:rPr sz="825" b="1">
                <a:solidFill>
                  <a:srgbClr val="304554"/>
                </a:solidFill>
                <a:latin typeface="Arial"/>
                <a:ea typeface="Arial"/>
                <a:cs typeface="Arial"/>
              </a:rPr>
              <a:t>FIXED</a:t>
            </a:r>
          </a:p>
          <a:p>
            <a:pPr algn="ctr">
              <a:buNone/>
              <a:defRPr sz="825" b="1">
                <a:solidFill>
                  <a:srgbClr val="304554"/>
                </a:solidFill>
                <a:latin typeface="Arial"/>
                <a:ea typeface="Arial"/>
                <a:cs typeface="Arial"/>
              </a:defRPr>
            </a:pPr>
            <a:r>
              <a:rPr sz="825" b="1">
                <a:solidFill>
                  <a:srgbClr val="304554"/>
                </a:solidFill>
                <a:latin typeface="Arial"/>
                <a:ea typeface="Arial"/>
                <a:cs typeface="Arial"/>
              </a:rPr>
              <a:t>SEMANTIC</a:t>
            </a:r>
          </a:p>
        </p:txBody>
      </p:sp>
      <p:sp>
        <p:nvSpPr>
          <p:cNvPr id="18" name="ARTICLE MRR-vector">
            <a:extLst>
              <a:ext uri="{FF2B5EF4-FFF2-40B4-BE49-F238E27FC236}">
                <a16:creationId xmlns:a16="http://schemas.microsoft.com/office/drawing/2014/main" id="{C57CA6CF-6455-4AE6-8EAA-CFE4AB39514B}"/>
              </a:ext>
            </a:extLst>
          </p:cNvPr>
          <p:cNvSpPr>
            <a:spLocks noGrp="1"/>
          </p:cNvSpPr>
          <p:nvPr/>
        </p:nvSpPr>
        <p:spPr>
          <a:xfrm>
            <a:off x="4333875" y="2952750"/>
            <a:ext cx="1190625" cy="552450"/>
          </a:xfrm>
          <a:prstGeom prst="rect">
            <a:avLst/>
          </a:prstGeom>
          <a:noFill/>
          <a:ln w="0">
            <a:noFill/>
            <a:prstDash val="solid"/>
          </a:ln>
        </p:spPr>
        <p:txBody>
          <a:bodyPr anchor="ctr"/>
          <a:lstStyle/>
          <a:p>
            <a:pPr algn="ctr">
              <a:buNone/>
              <a:defRPr sz="1725" b="1">
                <a:solidFill>
                  <a:srgbClr val="304554"/>
                </a:solidFill>
                <a:latin typeface="Arial"/>
                <a:ea typeface="Arial"/>
                <a:cs typeface="Arial"/>
              </a:defRPr>
            </a:pPr>
            <a:r>
              <a:rPr sz="1725" b="1">
                <a:solidFill>
                  <a:srgbClr val="304554"/>
                </a:solidFill>
                <a:latin typeface="Arial"/>
                <a:ea typeface="Arial"/>
                <a:cs typeface="Arial"/>
              </a:rPr>
              <a:t>0.43</a:t>
            </a:r>
          </a:p>
          <a:p>
            <a:pPr algn="ctr">
              <a:buNone/>
              <a:defRPr sz="1725" b="1">
                <a:solidFill>
                  <a:srgbClr val="304554"/>
                </a:solidFill>
                <a:latin typeface="Arial"/>
                <a:ea typeface="Arial"/>
                <a:cs typeface="Arial"/>
              </a:defRPr>
            </a:pPr>
            <a:r>
              <a:rPr sz="1725" b="1">
                <a:solidFill>
                  <a:srgbClr val="304554"/>
                </a:solidFill>
                <a:latin typeface="Arial"/>
                <a:ea typeface="Arial"/>
                <a:cs typeface="Arial"/>
              </a:rPr>
              <a:t>0.25</a:t>
            </a:r>
          </a:p>
        </p:txBody>
      </p:sp>
      <p:sp>
        <p:nvSpPr>
          <p:cNvPr id="19" name="ARTICLE MRR-graph-label">
            <a:extLst>
              <a:ext uri="{FF2B5EF4-FFF2-40B4-BE49-F238E27FC236}">
                <a16:creationId xmlns:a16="http://schemas.microsoft.com/office/drawing/2014/main" id="{34D2D5AD-316C-4BC7-AB0E-006E3CD5A7A1}"/>
              </a:ext>
            </a:extLst>
          </p:cNvPr>
          <p:cNvSpPr>
            <a:spLocks noGrp="1"/>
          </p:cNvSpPr>
          <p:nvPr/>
        </p:nvSpPr>
        <p:spPr>
          <a:xfrm>
            <a:off x="5810250" y="2647950"/>
            <a:ext cx="1190625" cy="228600"/>
          </a:xfrm>
          <a:prstGeom prst="rect">
            <a:avLst/>
          </a:prstGeom>
          <a:noFill/>
          <a:ln w="0">
            <a:noFill/>
            <a:prstDash val="solid"/>
          </a:ln>
        </p:spPr>
        <p:txBody>
          <a:bodyPr anchor="t"/>
          <a:lstStyle/>
          <a:p>
            <a:pPr algn="ctr">
              <a:buNone/>
              <a:defRPr sz="825" b="1">
                <a:solidFill>
                  <a:srgbClr val="304554"/>
                </a:solidFill>
                <a:latin typeface="Arial"/>
                <a:ea typeface="Arial"/>
                <a:cs typeface="Arial"/>
              </a:defRPr>
            </a:pPr>
            <a:r>
              <a:rPr sz="825" b="1">
                <a:solidFill>
                  <a:srgbClr val="304554"/>
                </a:solidFill>
                <a:latin typeface="Arial"/>
                <a:ea typeface="Arial"/>
                <a:cs typeface="Arial"/>
              </a:rPr>
              <a:t>RERANK</a:t>
            </a:r>
          </a:p>
          <a:p>
            <a:pPr algn="ctr">
              <a:buNone/>
              <a:defRPr sz="825" b="1">
                <a:solidFill>
                  <a:srgbClr val="304554"/>
                </a:solidFill>
                <a:latin typeface="Arial"/>
                <a:ea typeface="Arial"/>
                <a:cs typeface="Arial"/>
              </a:defRPr>
            </a:pPr>
            <a:r>
              <a:rPr sz="825" b="1">
                <a:solidFill>
                  <a:srgbClr val="304554"/>
                </a:solidFill>
                <a:latin typeface="Arial"/>
                <a:ea typeface="Arial"/>
                <a:cs typeface="Arial"/>
              </a:rPr>
              <a:t>GRAPH</a:t>
            </a:r>
          </a:p>
        </p:txBody>
      </p:sp>
      <p:sp>
        <p:nvSpPr>
          <p:cNvPr id="20" name="ARTICLE MRR-graph">
            <a:extLst>
              <a:ext uri="{FF2B5EF4-FFF2-40B4-BE49-F238E27FC236}">
                <a16:creationId xmlns:a16="http://schemas.microsoft.com/office/drawing/2014/main" id="{9D4F12F2-CF98-4779-9C1F-BB3867E6ED32}"/>
              </a:ext>
            </a:extLst>
          </p:cNvPr>
          <p:cNvSpPr>
            <a:spLocks noGrp="1"/>
          </p:cNvSpPr>
          <p:nvPr/>
        </p:nvSpPr>
        <p:spPr>
          <a:xfrm>
            <a:off x="5810250" y="2952750"/>
            <a:ext cx="1190625" cy="552450"/>
          </a:xfrm>
          <a:prstGeom prst="rect">
            <a:avLst/>
          </a:prstGeom>
          <a:noFill/>
          <a:ln w="0">
            <a:noFill/>
            <a:prstDash val="solid"/>
          </a:ln>
        </p:spPr>
        <p:txBody>
          <a:bodyPr anchor="ctr"/>
          <a:lstStyle/>
          <a:p>
            <a:pPr algn="ctr">
              <a:buNone/>
              <a:defRPr sz="1725" b="1">
                <a:solidFill>
                  <a:srgbClr val="4B9298"/>
                </a:solidFill>
                <a:latin typeface="Arial"/>
                <a:ea typeface="Arial"/>
                <a:cs typeface="Arial"/>
              </a:defRPr>
            </a:pPr>
            <a:r>
              <a:rPr sz="1725" b="1">
                <a:solidFill>
                  <a:srgbClr val="4B9298"/>
                </a:solidFill>
                <a:latin typeface="Arial"/>
                <a:ea typeface="Arial"/>
                <a:cs typeface="Arial"/>
              </a:rPr>
              <a:t>0.68</a:t>
            </a:r>
          </a:p>
          <a:p>
            <a:pPr algn="ctr">
              <a:buNone/>
              <a:defRPr sz="1725" b="1">
                <a:solidFill>
                  <a:srgbClr val="4B9298"/>
                </a:solidFill>
                <a:latin typeface="Arial"/>
                <a:ea typeface="Arial"/>
                <a:cs typeface="Arial"/>
              </a:defRPr>
            </a:pPr>
            <a:r>
              <a:rPr sz="1725" b="1">
                <a:solidFill>
                  <a:srgbClr val="4B9298"/>
                </a:solidFill>
                <a:latin typeface="Arial"/>
                <a:ea typeface="Arial"/>
                <a:cs typeface="Arial"/>
              </a:rPr>
              <a:t>0.52</a:t>
            </a:r>
          </a:p>
        </p:txBody>
      </p:sp>
      <p:sp>
        <p:nvSpPr>
          <p:cNvPr id="21" name="ARTICLE MRR-divider">
            <a:extLst>
              <a:ext uri="{FF2B5EF4-FFF2-40B4-BE49-F238E27FC236}">
                <a16:creationId xmlns:a16="http://schemas.microsoft.com/office/drawing/2014/main" id="{AF3DB5C0-E728-477B-889B-6F68B673147F}"/>
              </a:ext>
            </a:extLst>
          </p:cNvPr>
          <p:cNvSpPr>
            <a:spLocks noGrp="1"/>
          </p:cNvSpPr>
          <p:nvPr/>
        </p:nvSpPr>
        <p:spPr>
          <a:xfrm>
            <a:off x="5667375" y="2686050"/>
            <a:ext cx="0" cy="952500"/>
          </a:xfrm>
          <a:prstGeom prst="line">
            <a:avLst/>
          </a:prstGeom>
          <a:ln w="11430">
            <a:solidFill>
              <a:srgbClr val="C3BBB2"/>
            </a:solidFill>
            <a:prstDash val="solid"/>
          </a:ln>
        </p:spPr>
        <p:txBody>
          <a:bodyPr/>
          <a:lstStyle/>
          <a:p>
            <a:endParaRPr/>
          </a:p>
        </p:txBody>
      </p:sp>
      <p:sp>
        <p:nvSpPr>
          <p:cNvPr id="22" name="ARTICLE MRR-note">
            <a:extLst>
              <a:ext uri="{FF2B5EF4-FFF2-40B4-BE49-F238E27FC236}">
                <a16:creationId xmlns:a16="http://schemas.microsoft.com/office/drawing/2014/main" id="{17CB93E4-3093-4C24-808C-3EA62722BD80}"/>
              </a:ext>
            </a:extLst>
          </p:cNvPr>
          <p:cNvSpPr>
            <a:spLocks noGrp="1"/>
          </p:cNvSpPr>
          <p:nvPr/>
        </p:nvSpPr>
        <p:spPr>
          <a:xfrm>
            <a:off x="4381500" y="3848100"/>
            <a:ext cx="2571750" cy="438150"/>
          </a:xfrm>
          <a:prstGeom prst="rect">
            <a:avLst/>
          </a:prstGeom>
          <a:noFill/>
          <a:ln w="0">
            <a:noFill/>
            <a:prstDash val="solid"/>
          </a:ln>
        </p:spPr>
        <p:txBody>
          <a:bodyPr anchor="t"/>
          <a:lstStyle/>
          <a:p>
            <a:pPr algn="ctr">
              <a:buNone/>
              <a:defRPr sz="1050" b="1">
                <a:solidFill>
                  <a:srgbClr val="304554"/>
                </a:solidFill>
                <a:latin typeface="Arial"/>
                <a:ea typeface="Arial"/>
                <a:cs typeface="Arial"/>
              </a:defRPr>
            </a:pPr>
            <a:r>
              <a:rPr sz="1050" b="1">
                <a:solidFill>
                  <a:srgbClr val="304554"/>
                </a:solidFill>
                <a:latin typeface="Arial"/>
                <a:ea typeface="Arial"/>
                <a:cs typeface="Arial"/>
              </a:rPr>
              <a:t>Reranker ordnet Treffer am besten</a:t>
            </a:r>
          </a:p>
        </p:txBody>
      </p:sp>
      <p:sp>
        <p:nvSpPr>
          <p:cNvPr id="23" name="Ø KONTEXT-TOKENS-label">
            <a:extLst>
              <a:ext uri="{FF2B5EF4-FFF2-40B4-BE49-F238E27FC236}">
                <a16:creationId xmlns:a16="http://schemas.microsoft.com/office/drawing/2014/main" id="{55D09288-0EF6-4C48-BD66-8A8F092889F5}"/>
              </a:ext>
            </a:extLst>
          </p:cNvPr>
          <p:cNvSpPr>
            <a:spLocks noGrp="1"/>
          </p:cNvSpPr>
          <p:nvPr/>
        </p:nvSpPr>
        <p:spPr>
          <a:xfrm>
            <a:off x="7572375" y="2047875"/>
            <a:ext cx="3143250" cy="266700"/>
          </a:xfrm>
          <a:prstGeom prst="rect">
            <a:avLst/>
          </a:prstGeom>
          <a:noFill/>
          <a:ln w="0">
            <a:noFill/>
            <a:prstDash val="solid"/>
          </a:ln>
        </p:spPr>
        <p:txBody>
          <a:bodyPr anchor="t"/>
          <a:lstStyle/>
          <a:p>
            <a:pPr algn="ctr">
              <a:buNone/>
              <a:defRPr sz="1200" b="1">
                <a:solidFill>
                  <a:srgbClr val="C9960F"/>
                </a:solidFill>
                <a:latin typeface="Arial"/>
                <a:ea typeface="Arial"/>
                <a:cs typeface="Arial"/>
              </a:defRPr>
            </a:pPr>
            <a:r>
              <a:rPr sz="1200" b="1">
                <a:solidFill>
                  <a:srgbClr val="C9960F"/>
                </a:solidFill>
                <a:latin typeface="Arial"/>
                <a:ea typeface="Arial"/>
                <a:cs typeface="Arial"/>
              </a:rPr>
              <a:t>Ø KONTEXT-TOKENS</a:t>
            </a:r>
          </a:p>
        </p:txBody>
      </p:sp>
      <p:sp>
        <p:nvSpPr>
          <p:cNvPr id="24" name="Ø KONTEXT-TOKENS-box">
            <a:extLst>
              <a:ext uri="{FF2B5EF4-FFF2-40B4-BE49-F238E27FC236}">
                <a16:creationId xmlns:a16="http://schemas.microsoft.com/office/drawing/2014/main" id="{EC9B1F93-451A-4B2C-972B-A295635DCBB8}"/>
              </a:ext>
            </a:extLst>
          </p:cNvPr>
          <p:cNvSpPr>
            <a:spLocks noGrp="1"/>
          </p:cNvSpPr>
          <p:nvPr/>
        </p:nvSpPr>
        <p:spPr>
          <a:xfrm>
            <a:off x="7572375" y="2381250"/>
            <a:ext cx="3143250" cy="2238375"/>
          </a:xfrm>
          <a:prstGeom prst="roundRect">
            <a:avLst>
              <a:gd name="adj" fmla="val 7660"/>
            </a:avLst>
          </a:prstGeom>
          <a:solidFill>
            <a:srgbClr val="EAE8E5"/>
          </a:solidFill>
          <a:ln w="11430">
            <a:solidFill>
              <a:srgbClr val="C3BBB2"/>
            </a:solidFill>
            <a:prstDash val="solid"/>
          </a:ln>
        </p:spPr>
        <p:txBody>
          <a:bodyPr/>
          <a:lstStyle/>
          <a:p>
            <a:endParaRPr/>
          </a:p>
        </p:txBody>
      </p:sp>
      <p:sp>
        <p:nvSpPr>
          <p:cNvPr id="25" name="Ø KONTEXT-TOKENS-vector-label">
            <a:extLst>
              <a:ext uri="{FF2B5EF4-FFF2-40B4-BE49-F238E27FC236}">
                <a16:creationId xmlns:a16="http://schemas.microsoft.com/office/drawing/2014/main" id="{D47DBC2B-B2FA-49FF-B10A-1CA89217518E}"/>
              </a:ext>
            </a:extLst>
          </p:cNvPr>
          <p:cNvSpPr>
            <a:spLocks noGrp="1"/>
          </p:cNvSpPr>
          <p:nvPr/>
        </p:nvSpPr>
        <p:spPr>
          <a:xfrm>
            <a:off x="7810500" y="2647950"/>
            <a:ext cx="1190625" cy="228600"/>
          </a:xfrm>
          <a:prstGeom prst="rect">
            <a:avLst/>
          </a:prstGeom>
          <a:noFill/>
          <a:ln w="0">
            <a:noFill/>
            <a:prstDash val="solid"/>
          </a:ln>
        </p:spPr>
        <p:txBody>
          <a:bodyPr anchor="t"/>
          <a:lstStyle/>
          <a:p>
            <a:pPr algn="ctr">
              <a:buNone/>
              <a:defRPr sz="825" b="1">
                <a:solidFill>
                  <a:srgbClr val="304554"/>
                </a:solidFill>
                <a:latin typeface="Arial"/>
                <a:ea typeface="Arial"/>
                <a:cs typeface="Arial"/>
              </a:defRPr>
            </a:pPr>
            <a:r>
              <a:rPr sz="825" b="1">
                <a:solidFill>
                  <a:srgbClr val="304554"/>
                </a:solidFill>
                <a:latin typeface="Arial"/>
                <a:ea typeface="Arial"/>
                <a:cs typeface="Arial"/>
              </a:rPr>
              <a:t>FIXED</a:t>
            </a:r>
          </a:p>
          <a:p>
            <a:pPr algn="ctr">
              <a:buNone/>
              <a:defRPr sz="825" b="1">
                <a:solidFill>
                  <a:srgbClr val="304554"/>
                </a:solidFill>
                <a:latin typeface="Arial"/>
                <a:ea typeface="Arial"/>
                <a:cs typeface="Arial"/>
              </a:defRPr>
            </a:pPr>
            <a:r>
              <a:rPr sz="825" b="1">
                <a:solidFill>
                  <a:srgbClr val="304554"/>
                </a:solidFill>
                <a:latin typeface="Arial"/>
                <a:ea typeface="Arial"/>
                <a:cs typeface="Arial"/>
              </a:rPr>
              <a:t>SEMANTIC</a:t>
            </a:r>
          </a:p>
        </p:txBody>
      </p:sp>
      <p:sp>
        <p:nvSpPr>
          <p:cNvPr id="26" name="Ø KONTEXT-TOKENS-vector">
            <a:extLst>
              <a:ext uri="{FF2B5EF4-FFF2-40B4-BE49-F238E27FC236}">
                <a16:creationId xmlns:a16="http://schemas.microsoft.com/office/drawing/2014/main" id="{B7396388-1560-49C3-9812-48B1D9941EE2}"/>
              </a:ext>
            </a:extLst>
          </p:cNvPr>
          <p:cNvSpPr>
            <a:spLocks noGrp="1"/>
          </p:cNvSpPr>
          <p:nvPr/>
        </p:nvSpPr>
        <p:spPr>
          <a:xfrm>
            <a:off x="7810500" y="2952750"/>
            <a:ext cx="1190625" cy="552450"/>
          </a:xfrm>
          <a:prstGeom prst="rect">
            <a:avLst/>
          </a:prstGeom>
          <a:noFill/>
          <a:ln w="0">
            <a:noFill/>
            <a:prstDash val="solid"/>
          </a:ln>
        </p:spPr>
        <p:txBody>
          <a:bodyPr anchor="ctr"/>
          <a:lstStyle/>
          <a:p>
            <a:pPr algn="ctr">
              <a:buNone/>
              <a:defRPr sz="1725" b="1">
                <a:solidFill>
                  <a:srgbClr val="304554"/>
                </a:solidFill>
                <a:latin typeface="Arial"/>
                <a:ea typeface="Arial"/>
                <a:cs typeface="Arial"/>
              </a:defRPr>
            </a:pPr>
            <a:r>
              <a:rPr sz="1725" b="1">
                <a:solidFill>
                  <a:srgbClr val="304554"/>
                </a:solidFill>
                <a:latin typeface="Arial"/>
                <a:ea typeface="Arial"/>
                <a:cs typeface="Arial"/>
              </a:rPr>
              <a:t>1 289</a:t>
            </a:r>
          </a:p>
          <a:p>
            <a:pPr algn="ctr">
              <a:buNone/>
              <a:defRPr sz="1725" b="1">
                <a:solidFill>
                  <a:srgbClr val="304554"/>
                </a:solidFill>
                <a:latin typeface="Arial"/>
                <a:ea typeface="Arial"/>
                <a:cs typeface="Arial"/>
              </a:defRPr>
            </a:pPr>
            <a:r>
              <a:rPr sz="1725" b="1">
                <a:solidFill>
                  <a:srgbClr val="304554"/>
                </a:solidFill>
                <a:latin typeface="Arial"/>
                <a:ea typeface="Arial"/>
                <a:cs typeface="Arial"/>
              </a:rPr>
              <a:t>892</a:t>
            </a:r>
          </a:p>
        </p:txBody>
      </p:sp>
      <p:sp>
        <p:nvSpPr>
          <p:cNvPr id="27" name="Ø KONTEXT-TOKENS-graph-label">
            <a:extLst>
              <a:ext uri="{FF2B5EF4-FFF2-40B4-BE49-F238E27FC236}">
                <a16:creationId xmlns:a16="http://schemas.microsoft.com/office/drawing/2014/main" id="{5ADB093D-5CA8-470A-B582-671D3E476C43}"/>
              </a:ext>
            </a:extLst>
          </p:cNvPr>
          <p:cNvSpPr>
            <a:spLocks noGrp="1"/>
          </p:cNvSpPr>
          <p:nvPr/>
        </p:nvSpPr>
        <p:spPr>
          <a:xfrm>
            <a:off x="9286875" y="2647950"/>
            <a:ext cx="1190625" cy="228600"/>
          </a:xfrm>
          <a:prstGeom prst="rect">
            <a:avLst/>
          </a:prstGeom>
          <a:noFill/>
          <a:ln w="0">
            <a:noFill/>
            <a:prstDash val="solid"/>
          </a:ln>
        </p:spPr>
        <p:txBody>
          <a:bodyPr anchor="t"/>
          <a:lstStyle/>
          <a:p>
            <a:pPr algn="ctr">
              <a:buNone/>
              <a:defRPr sz="825" b="1">
                <a:solidFill>
                  <a:srgbClr val="304554"/>
                </a:solidFill>
                <a:latin typeface="Arial"/>
                <a:ea typeface="Arial"/>
                <a:cs typeface="Arial"/>
              </a:defRPr>
            </a:pPr>
            <a:r>
              <a:rPr sz="825" b="1">
                <a:solidFill>
                  <a:srgbClr val="304554"/>
                </a:solidFill>
                <a:latin typeface="Arial"/>
                <a:ea typeface="Arial"/>
                <a:cs typeface="Arial"/>
              </a:rPr>
              <a:t>RERANK</a:t>
            </a:r>
          </a:p>
          <a:p>
            <a:pPr algn="ctr">
              <a:buNone/>
              <a:defRPr sz="825" b="1">
                <a:solidFill>
                  <a:srgbClr val="304554"/>
                </a:solidFill>
                <a:latin typeface="Arial"/>
                <a:ea typeface="Arial"/>
                <a:cs typeface="Arial"/>
              </a:defRPr>
            </a:pPr>
            <a:r>
              <a:rPr sz="825" b="1">
                <a:solidFill>
                  <a:srgbClr val="304554"/>
                </a:solidFill>
                <a:latin typeface="Arial"/>
                <a:ea typeface="Arial"/>
                <a:cs typeface="Arial"/>
              </a:rPr>
              <a:t>GRAPH</a:t>
            </a:r>
          </a:p>
        </p:txBody>
      </p:sp>
      <p:sp>
        <p:nvSpPr>
          <p:cNvPr id="28" name="Ø KONTEXT-TOKENS-graph">
            <a:extLst>
              <a:ext uri="{FF2B5EF4-FFF2-40B4-BE49-F238E27FC236}">
                <a16:creationId xmlns:a16="http://schemas.microsoft.com/office/drawing/2014/main" id="{4EC3510F-1F82-480E-A1CA-8D6D9B83C091}"/>
              </a:ext>
            </a:extLst>
          </p:cNvPr>
          <p:cNvSpPr>
            <a:spLocks noGrp="1"/>
          </p:cNvSpPr>
          <p:nvPr/>
        </p:nvSpPr>
        <p:spPr>
          <a:xfrm>
            <a:off x="9286875" y="2952750"/>
            <a:ext cx="1190625" cy="552450"/>
          </a:xfrm>
          <a:prstGeom prst="rect">
            <a:avLst/>
          </a:prstGeom>
          <a:noFill/>
          <a:ln w="0">
            <a:noFill/>
            <a:prstDash val="solid"/>
          </a:ln>
        </p:spPr>
        <p:txBody>
          <a:bodyPr anchor="ctr"/>
          <a:lstStyle/>
          <a:p>
            <a:pPr algn="ctr">
              <a:buNone/>
              <a:defRPr sz="1725" b="1">
                <a:solidFill>
                  <a:srgbClr val="4B9298"/>
                </a:solidFill>
                <a:latin typeface="Arial"/>
                <a:ea typeface="Arial"/>
                <a:cs typeface="Arial"/>
              </a:defRPr>
            </a:pPr>
            <a:r>
              <a:rPr sz="1725" b="1">
                <a:solidFill>
                  <a:srgbClr val="4B9298"/>
                </a:solidFill>
                <a:latin typeface="Arial"/>
                <a:ea typeface="Arial"/>
                <a:cs typeface="Arial"/>
              </a:rPr>
              <a:t>923</a:t>
            </a:r>
          </a:p>
          <a:p>
            <a:pPr algn="ctr">
              <a:buNone/>
              <a:defRPr sz="1725" b="1">
                <a:solidFill>
                  <a:srgbClr val="4B9298"/>
                </a:solidFill>
                <a:latin typeface="Arial"/>
                <a:ea typeface="Arial"/>
                <a:cs typeface="Arial"/>
              </a:defRPr>
            </a:pPr>
            <a:r>
              <a:rPr sz="1725" b="1">
                <a:solidFill>
                  <a:srgbClr val="4B9298"/>
                </a:solidFill>
                <a:latin typeface="Arial"/>
                <a:ea typeface="Arial"/>
                <a:cs typeface="Arial"/>
              </a:rPr>
              <a:t>802</a:t>
            </a:r>
          </a:p>
        </p:txBody>
      </p:sp>
      <p:sp>
        <p:nvSpPr>
          <p:cNvPr id="29" name="Ø KONTEXT-TOKENS-divider">
            <a:extLst>
              <a:ext uri="{FF2B5EF4-FFF2-40B4-BE49-F238E27FC236}">
                <a16:creationId xmlns:a16="http://schemas.microsoft.com/office/drawing/2014/main" id="{145BFBDE-E6FD-49B8-BBC5-524B55F1BA5C}"/>
              </a:ext>
            </a:extLst>
          </p:cNvPr>
          <p:cNvSpPr>
            <a:spLocks noGrp="1"/>
          </p:cNvSpPr>
          <p:nvPr/>
        </p:nvSpPr>
        <p:spPr>
          <a:xfrm>
            <a:off x="9144000" y="2686050"/>
            <a:ext cx="0" cy="952500"/>
          </a:xfrm>
          <a:prstGeom prst="line">
            <a:avLst/>
          </a:prstGeom>
          <a:ln w="11430">
            <a:solidFill>
              <a:srgbClr val="C3BBB2"/>
            </a:solidFill>
            <a:prstDash val="solid"/>
          </a:ln>
        </p:spPr>
        <p:txBody>
          <a:bodyPr/>
          <a:lstStyle/>
          <a:p>
            <a:endParaRPr/>
          </a:p>
        </p:txBody>
      </p:sp>
      <p:sp>
        <p:nvSpPr>
          <p:cNvPr id="30" name="Ø KONTEXT-TOKENS-note">
            <a:extLst>
              <a:ext uri="{FF2B5EF4-FFF2-40B4-BE49-F238E27FC236}">
                <a16:creationId xmlns:a16="http://schemas.microsoft.com/office/drawing/2014/main" id="{4C16585F-8D37-419B-AAB3-5B9A97F84267}"/>
              </a:ext>
            </a:extLst>
          </p:cNvPr>
          <p:cNvSpPr>
            <a:spLocks noGrp="1"/>
          </p:cNvSpPr>
          <p:nvPr/>
        </p:nvSpPr>
        <p:spPr>
          <a:xfrm>
            <a:off x="7858125" y="3848100"/>
            <a:ext cx="2571750" cy="438150"/>
          </a:xfrm>
          <a:prstGeom prst="rect">
            <a:avLst/>
          </a:prstGeom>
          <a:noFill/>
          <a:ln w="0">
            <a:noFill/>
            <a:prstDash val="solid"/>
          </a:ln>
        </p:spPr>
        <p:txBody>
          <a:bodyPr anchor="t"/>
          <a:lstStyle/>
          <a:p>
            <a:pPr algn="ctr">
              <a:buNone/>
              <a:defRPr sz="1050" b="1">
                <a:solidFill>
                  <a:srgbClr val="304554"/>
                </a:solidFill>
                <a:latin typeface="Arial"/>
                <a:ea typeface="Arial"/>
                <a:cs typeface="Arial"/>
              </a:defRPr>
            </a:pPr>
            <a:r>
              <a:rPr sz="1050" b="1">
                <a:solidFill>
                  <a:srgbClr val="304554"/>
                </a:solidFill>
                <a:latin typeface="Arial"/>
                <a:ea typeface="Arial"/>
                <a:cs typeface="Arial"/>
              </a:rPr>
              <a:t>Graph: 10 % weniger als Semantic</a:t>
            </a:r>
          </a:p>
        </p:txBody>
      </p:sp>
      <p:sp>
        <p:nvSpPr>
          <p:cNvPr id="31" name="retrieval-warning">
            <a:extLst>
              <a:ext uri="{FF2B5EF4-FFF2-40B4-BE49-F238E27FC236}">
                <a16:creationId xmlns:a16="http://schemas.microsoft.com/office/drawing/2014/main" id="{2F201B38-0977-4C2C-9102-295F9B84C078}"/>
              </a:ext>
            </a:extLst>
          </p:cNvPr>
          <p:cNvSpPr>
            <a:spLocks noGrp="1"/>
          </p:cNvSpPr>
          <p:nvPr/>
        </p:nvSpPr>
        <p:spPr>
          <a:xfrm>
            <a:off x="2095500" y="5000625"/>
            <a:ext cx="8001000" cy="666750"/>
          </a:xfrm>
          <a:prstGeom prst="roundRect">
            <a:avLst>
              <a:gd name="adj" fmla="val 22857"/>
            </a:avLst>
          </a:prstGeom>
          <a:solidFill>
            <a:srgbClr val="2D3F4B"/>
          </a:solidFill>
          <a:ln w="0">
            <a:solidFill>
              <a:srgbClr val="2D3F4B"/>
            </a:solidFill>
            <a:prstDash val="solid"/>
          </a:ln>
        </p:spPr>
        <p:txBody>
          <a:bodyPr/>
          <a:lstStyle/>
          <a:p>
            <a:endParaRPr/>
          </a:p>
        </p:txBody>
      </p:sp>
      <p:sp>
        <p:nvSpPr>
          <p:cNvPr id="32" name="retrieval-warning-text">
            <a:extLst>
              <a:ext uri="{FF2B5EF4-FFF2-40B4-BE49-F238E27FC236}">
                <a16:creationId xmlns:a16="http://schemas.microsoft.com/office/drawing/2014/main" id="{5B2B257E-F684-4CF7-A132-B09ED4E57461}"/>
              </a:ext>
            </a:extLst>
          </p:cNvPr>
          <p:cNvSpPr>
            <a:spLocks noGrp="1"/>
          </p:cNvSpPr>
          <p:nvPr/>
        </p:nvSpPr>
        <p:spPr>
          <a:xfrm>
            <a:off x="2333625" y="5181600"/>
            <a:ext cx="7524750" cy="304800"/>
          </a:xfrm>
          <a:prstGeom prst="rect">
            <a:avLst/>
          </a:prstGeom>
          <a:noFill/>
          <a:ln w="0">
            <a:noFill/>
            <a:prstDash val="solid"/>
          </a:ln>
        </p:spPr>
        <p:txBody>
          <a:bodyPr anchor="ctr"/>
          <a:lstStyle/>
          <a:p>
            <a:pPr algn="ctr">
              <a:buNone/>
              <a:defRPr sz="1200" b="1">
                <a:solidFill>
                  <a:srgbClr val="FFFFFF"/>
                </a:solidFill>
                <a:latin typeface="Arial"/>
                <a:ea typeface="Arial"/>
                <a:cs typeface="Arial"/>
              </a:defRPr>
            </a:pPr>
            <a:r>
              <a:rPr sz="1200" b="1">
                <a:solidFill>
                  <a:srgbClr val="FFFFFF"/>
                </a:solidFill>
                <a:latin typeface="Arial"/>
                <a:ea typeface="Arial"/>
                <a:cs typeface="Arial"/>
              </a:rPr>
              <a:t>Retrieval ≠ Antwortqualität: Der richtige Artikel muss im Kontext sein – und korrekt genutzt werden.</a:t>
            </a:r>
          </a:p>
        </p:txBody>
      </p:sp>
      <p:sp>
        <p:nvSpPr>
          <p:cNvPr id="36" name="Titel 1">
            <a:extLst>
              <a:ext uri="{FF2B5EF4-FFF2-40B4-BE49-F238E27FC236}">
                <a16:creationId xmlns:a16="http://schemas.microsoft.com/office/drawing/2014/main" id="{C2C3951A-6174-5B25-11EA-FD430B5FD51F}"/>
              </a:ext>
            </a:extLst>
          </p:cNvPr>
          <p:cNvSpPr>
            <a:spLocks noGrp="1"/>
          </p:cNvSpPr>
          <p:nvPr>
            <p:ph type="title"/>
          </p:nvPr>
        </p:nvSpPr>
        <p:spPr>
          <a:xfrm>
            <a:off x="482461" y="346633"/>
            <a:ext cx="11230114" cy="767605"/>
          </a:xfrm>
        </p:spPr>
        <p:txBody>
          <a:bodyPr/>
          <a:lstStyle/>
          <a:p>
            <a:r>
              <a:rPr sz="3600"/>
              <a:t>GraphRAG: höchster Article-Recall, kleinster Kontext</a:t>
            </a:r>
          </a:p>
        </p:txBody>
      </p:sp>
    </p:spTree>
    <p:extLst>
      <p:ext uri="{BB962C8B-B14F-4D97-AF65-F5344CB8AC3E}">
        <p14:creationId xmlns:p14="http://schemas.microsoft.com/office/powerpoint/2010/main" val="10998449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a:extLst>
              <a:ext uri="{FF2B5EF4-FFF2-40B4-BE49-F238E27FC236}">
                <a16:creationId xmlns:a16="http://schemas.microsoft.com/office/drawing/2014/main" id="{081F6242-4B33-4F6E-ABF2-96C4D73D1765}"/>
              </a:ext>
            </a:extLst>
          </p:cNvPr>
          <p:cNvSpPr>
            <a:spLocks noGrp="1"/>
          </p:cNvSpPr>
          <p:nvPr/>
        </p:nvSpPr>
        <p:spPr>
          <a:xfrm>
            <a:off x="476250" y="333375"/>
            <a:ext cx="11239500" cy="714375"/>
          </a:xfrm>
          <a:prstGeom prst="rect">
            <a:avLst/>
          </a:prstGeom>
          <a:noFill/>
          <a:ln w="0">
            <a:noFill/>
            <a:prstDash val="solid"/>
          </a:ln>
        </p:spPr>
        <p:txBody>
          <a:bodyPr anchor="ctr"/>
          <a:lstStyle/>
          <a:p>
            <a:pPr algn="l">
              <a:buNone/>
              <a:defRPr sz="2850" b="0">
                <a:solidFill>
                  <a:srgbClr val="2D3F4B"/>
                </a:solidFill>
                <a:latin typeface="Arial"/>
                <a:ea typeface="Arial"/>
                <a:cs typeface="Arial"/>
              </a:defRPr>
            </a:pPr>
            <a:r>
              <a:rPr sz="2850" b="0">
                <a:solidFill>
                  <a:srgbClr val="2D3F4B"/>
                </a:solidFill>
                <a:latin typeface="Arial"/>
                <a:ea typeface="Arial"/>
                <a:cs typeface="Arial"/>
              </a:rPr>
              <a:t>Besseres Retrieval verbessert Antworten – garantiert sie aber nicht</a:t>
            </a:r>
          </a:p>
        </p:txBody>
      </p:sp>
      <p:sp>
        <p:nvSpPr>
          <p:cNvPr id="3" name="title-rule">
            <a:extLst>
              <a:ext uri="{FF2B5EF4-FFF2-40B4-BE49-F238E27FC236}">
                <a16:creationId xmlns:a16="http://schemas.microsoft.com/office/drawing/2014/main" id="{4BE0893D-6444-4CF5-896E-61287A6092E5}"/>
              </a:ext>
            </a:extLst>
          </p:cNvPr>
          <p:cNvSpPr>
            <a:spLocks noGrp="1"/>
          </p:cNvSpPr>
          <p:nvPr/>
        </p:nvSpPr>
        <p:spPr>
          <a:xfrm>
            <a:off x="476250" y="1133475"/>
            <a:ext cx="11239500" cy="0"/>
          </a:xfrm>
          <a:prstGeom prst="line">
            <a:avLst/>
          </a:prstGeom>
          <a:ln w="25718">
            <a:solidFill>
              <a:srgbClr val="C60C30"/>
            </a:solidFill>
            <a:prstDash val="solid"/>
          </a:ln>
        </p:spPr>
        <p:txBody>
          <a:bodyPr/>
          <a:lstStyle/>
          <a:p>
            <a:endParaRPr/>
          </a:p>
        </p:txBody>
      </p:sp>
      <p:sp>
        <p:nvSpPr>
          <p:cNvPr id="4" name="slide-subtitle">
            <a:extLst>
              <a:ext uri="{FF2B5EF4-FFF2-40B4-BE49-F238E27FC236}">
                <a16:creationId xmlns:a16="http://schemas.microsoft.com/office/drawing/2014/main" id="{4E8CE74E-69E1-4652-A334-2E118021F7D4}"/>
              </a:ext>
            </a:extLst>
          </p:cNvPr>
          <p:cNvSpPr>
            <a:spLocks noGrp="1"/>
          </p:cNvSpPr>
          <p:nvPr/>
        </p:nvSpPr>
        <p:spPr>
          <a:xfrm>
            <a:off x="523875" y="1362075"/>
            <a:ext cx="11096625" cy="361950"/>
          </a:xfrm>
          <a:prstGeom prst="rect">
            <a:avLst/>
          </a:prstGeom>
          <a:noFill/>
          <a:ln w="0">
            <a:noFill/>
            <a:prstDash val="solid"/>
          </a:ln>
        </p:spPr>
        <p:txBody>
          <a:bodyPr anchor="ctr"/>
          <a:lstStyle/>
          <a:p>
            <a:pPr algn="l">
              <a:buNone/>
              <a:defRPr sz="1650" b="0">
                <a:solidFill>
                  <a:srgbClr val="81725E"/>
                </a:solidFill>
                <a:latin typeface="Arial"/>
                <a:ea typeface="Arial"/>
                <a:cs typeface="Arial"/>
              </a:defRPr>
            </a:pPr>
            <a:r>
              <a:rPr sz="1650" b="1">
                <a:solidFill>
                  <a:srgbClr val="2D3F4B"/>
                </a:solidFill>
                <a:latin typeface="Arial"/>
                <a:ea typeface="Arial"/>
                <a:cs typeface="Arial"/>
              </a:rPr>
              <a:t>Faktenabdeckung</a:t>
            </a:r>
            <a:r>
              <a:rPr sz="1650" b="0">
                <a:solidFill>
                  <a:srgbClr val="81725E"/>
                </a:solidFill>
                <a:latin typeface="Arial"/>
                <a:ea typeface="Arial"/>
                <a:cs typeface="Arial"/>
              </a:rPr>
              <a:t> </a:t>
            </a:r>
            <a:r>
              <a:rPr sz="1650" b="0">
                <a:solidFill>
                  <a:schemeClr val="accent3"/>
                </a:solidFill>
                <a:latin typeface="Arial"/>
                <a:ea typeface="Arial"/>
                <a:cs typeface="Arial"/>
              </a:rPr>
              <a:t>und</a:t>
            </a:r>
            <a:r>
              <a:rPr sz="1650" b="0">
                <a:solidFill>
                  <a:srgbClr val="81725E"/>
                </a:solidFill>
                <a:latin typeface="Arial"/>
                <a:ea typeface="Arial"/>
                <a:cs typeface="Arial"/>
              </a:rPr>
              <a:t> </a:t>
            </a:r>
            <a:r>
              <a:rPr sz="1650" b="1">
                <a:solidFill>
                  <a:schemeClr val="accent5"/>
                </a:solidFill>
                <a:latin typeface="Arial"/>
                <a:ea typeface="Arial"/>
                <a:cs typeface="Arial"/>
              </a:rPr>
              <a:t>Zitationsvollständigkeit</a:t>
            </a:r>
            <a:r>
              <a:rPr sz="1650" b="0">
                <a:solidFill>
                  <a:srgbClr val="81725E"/>
                </a:solidFill>
                <a:latin typeface="Arial"/>
                <a:ea typeface="Arial"/>
                <a:cs typeface="Arial"/>
              </a:rPr>
              <a:t> bleiben vom generierenden Modell abhängig.</a:t>
            </a:r>
          </a:p>
        </p:txBody>
      </p:sp>
      <p:sp>
        <p:nvSpPr>
          <p:cNvPr id="5" name="page-number">
            <a:extLst>
              <a:ext uri="{FF2B5EF4-FFF2-40B4-BE49-F238E27FC236}">
                <a16:creationId xmlns:a16="http://schemas.microsoft.com/office/drawing/2014/main" id="{6F5DB894-47F0-45EE-961A-FA84C16F5063}"/>
              </a:ext>
            </a:extLst>
          </p:cNvPr>
          <p:cNvSpPr>
            <a:spLocks noGrp="1"/>
          </p:cNvSpPr>
          <p:nvPr/>
        </p:nvSpPr>
        <p:spPr>
          <a:xfrm>
            <a:off x="476250" y="6353175"/>
            <a:ext cx="333375" cy="209550"/>
          </a:xfrm>
          <a:prstGeom prst="rect">
            <a:avLst/>
          </a:prstGeom>
          <a:noFill/>
          <a:ln w="0">
            <a:noFill/>
            <a:prstDash val="solid"/>
          </a:ln>
        </p:spPr>
        <p:txBody>
          <a:bodyPr anchor="t"/>
          <a:lstStyle/>
          <a:p>
            <a:pPr algn="l">
              <a:buNone/>
              <a:defRPr sz="825" b="0">
                <a:solidFill>
                  <a:srgbClr val="2D3F4B"/>
                </a:solidFill>
                <a:latin typeface="Arial"/>
                <a:ea typeface="Arial"/>
                <a:cs typeface="Arial"/>
              </a:defRPr>
            </a:pPr>
            <a:r>
              <a:rPr sz="825" b="0">
                <a:solidFill>
                  <a:srgbClr val="2D3F4B"/>
                </a:solidFill>
                <a:latin typeface="Arial"/>
                <a:ea typeface="Arial"/>
                <a:cs typeface="Arial"/>
              </a:rPr>
              <a:t>18</a:t>
            </a:r>
          </a:p>
        </p:txBody>
      </p:sp>
      <p:sp>
        <p:nvSpPr>
          <p:cNvPr id="6" name="date">
            <a:extLst>
              <a:ext uri="{FF2B5EF4-FFF2-40B4-BE49-F238E27FC236}">
                <a16:creationId xmlns:a16="http://schemas.microsoft.com/office/drawing/2014/main" id="{83E97BF4-D377-48CC-BB94-BEF3C4096844}"/>
              </a:ext>
            </a:extLst>
          </p:cNvPr>
          <p:cNvSpPr>
            <a:spLocks noGrp="1"/>
          </p:cNvSpPr>
          <p:nvPr/>
        </p:nvSpPr>
        <p:spPr>
          <a:xfrm>
            <a:off x="933450" y="6353175"/>
            <a:ext cx="857250" cy="209550"/>
          </a:xfrm>
          <a:prstGeom prst="rect">
            <a:avLst/>
          </a:prstGeom>
          <a:noFill/>
          <a:ln w="0">
            <a:noFill/>
            <a:prstDash val="solid"/>
          </a:ln>
        </p:spPr>
        <p:txBody>
          <a:bodyPr anchor="t"/>
          <a:lstStyle/>
          <a:p>
            <a:pPr algn="l">
              <a:buNone/>
              <a:defRPr sz="825" b="0">
                <a:solidFill>
                  <a:srgbClr val="2D3F4B"/>
                </a:solidFill>
                <a:latin typeface="Arial"/>
                <a:ea typeface="Arial"/>
                <a:cs typeface="Arial"/>
              </a:defRPr>
            </a:pPr>
            <a:r>
              <a:rPr sz="825" b="0">
                <a:solidFill>
                  <a:srgbClr val="2D3F4B"/>
                </a:solidFill>
                <a:latin typeface="Arial"/>
                <a:ea typeface="Arial"/>
                <a:cs typeface="Arial"/>
              </a:rPr>
              <a:t>04.08.2026</a:t>
            </a:r>
          </a:p>
        </p:txBody>
      </p:sp>
      <p:sp>
        <p:nvSpPr>
          <p:cNvPr id="7" name="vector-legend">
            <a:extLst>
              <a:ext uri="{FF2B5EF4-FFF2-40B4-BE49-F238E27FC236}">
                <a16:creationId xmlns:a16="http://schemas.microsoft.com/office/drawing/2014/main" id="{09A808F1-D77E-495F-8E10-BC91447259C4}"/>
              </a:ext>
            </a:extLst>
          </p:cNvPr>
          <p:cNvSpPr>
            <a:spLocks noGrp="1"/>
          </p:cNvSpPr>
          <p:nvPr/>
        </p:nvSpPr>
        <p:spPr>
          <a:xfrm>
            <a:off x="5905500" y="1933575"/>
            <a:ext cx="1238250" cy="228600"/>
          </a:xfrm>
          <a:prstGeom prst="rect">
            <a:avLst/>
          </a:prstGeom>
          <a:noFill/>
          <a:ln w="0">
            <a:noFill/>
            <a:prstDash val="solid"/>
          </a:ln>
        </p:spPr>
        <p:txBody>
          <a:bodyPr anchor="t"/>
          <a:lstStyle/>
          <a:p>
            <a:pPr algn="ctr">
              <a:buNone/>
              <a:defRPr sz="900" b="1">
                <a:solidFill>
                  <a:srgbClr val="304554"/>
                </a:solidFill>
                <a:latin typeface="Arial"/>
                <a:ea typeface="Arial"/>
                <a:cs typeface="Arial"/>
              </a:defRPr>
            </a:pPr>
            <a:r>
              <a:rPr sz="900" b="1">
                <a:solidFill>
                  <a:srgbClr val="304554"/>
                </a:solidFill>
                <a:latin typeface="Arial"/>
                <a:ea typeface="Arial"/>
                <a:cs typeface="Arial"/>
              </a:rPr>
              <a:t>FAKTEN</a:t>
            </a:r>
          </a:p>
        </p:txBody>
      </p:sp>
      <p:sp>
        <p:nvSpPr>
          <p:cNvPr id="8" name="graph-legend">
            <a:extLst>
              <a:ext uri="{FF2B5EF4-FFF2-40B4-BE49-F238E27FC236}">
                <a16:creationId xmlns:a16="http://schemas.microsoft.com/office/drawing/2014/main" id="{182E2D9D-9544-42BF-B9FE-8FA6D5B68094}"/>
              </a:ext>
            </a:extLst>
          </p:cNvPr>
          <p:cNvSpPr>
            <a:spLocks noGrp="1"/>
          </p:cNvSpPr>
          <p:nvPr/>
        </p:nvSpPr>
        <p:spPr>
          <a:xfrm>
            <a:off x="9334500" y="1933575"/>
            <a:ext cx="1238250" cy="228600"/>
          </a:xfrm>
          <a:prstGeom prst="rect">
            <a:avLst/>
          </a:prstGeom>
          <a:noFill/>
          <a:ln w="0">
            <a:noFill/>
            <a:prstDash val="solid"/>
          </a:ln>
        </p:spPr>
        <p:txBody>
          <a:bodyPr anchor="t"/>
          <a:lstStyle/>
          <a:p>
            <a:pPr algn="ctr">
              <a:buNone/>
              <a:defRPr sz="900" b="1">
                <a:solidFill>
                  <a:srgbClr val="4B9298"/>
                </a:solidFill>
                <a:latin typeface="Arial"/>
                <a:ea typeface="Arial"/>
                <a:cs typeface="Arial"/>
              </a:defRPr>
            </a:pPr>
            <a:r>
              <a:rPr sz="900" b="1">
                <a:solidFill>
                  <a:srgbClr val="4B9298"/>
                </a:solidFill>
                <a:latin typeface="Arial"/>
                <a:ea typeface="Arial"/>
                <a:cs typeface="Arial"/>
              </a:rPr>
              <a:t>ZITATE</a:t>
            </a:r>
          </a:p>
        </p:txBody>
      </p:sp>
      <p:sp>
        <p:nvSpPr>
          <p:cNvPr id="9" name="answer-label-0">
            <a:extLst>
              <a:ext uri="{FF2B5EF4-FFF2-40B4-BE49-F238E27FC236}">
                <a16:creationId xmlns:a16="http://schemas.microsoft.com/office/drawing/2014/main" id="{F644021E-4EA3-4333-B6C6-71447EA970FD}"/>
              </a:ext>
            </a:extLst>
          </p:cNvPr>
          <p:cNvSpPr>
            <a:spLocks noGrp="1"/>
          </p:cNvSpPr>
          <p:nvPr/>
        </p:nvSpPr>
        <p:spPr>
          <a:xfrm>
            <a:off x="809625" y="2381250"/>
            <a:ext cx="2381250" cy="266700"/>
          </a:xfrm>
          <a:prstGeom prst="rect">
            <a:avLst/>
          </a:prstGeom>
          <a:noFill/>
          <a:ln w="0">
            <a:noFill/>
            <a:prstDash val="solid"/>
          </a:ln>
        </p:spPr>
        <p:txBody>
          <a:bodyPr anchor="t"/>
          <a:lstStyle/>
          <a:p>
            <a:pPr algn="l">
              <a:buNone/>
              <a:defRPr sz="1200" b="1">
                <a:solidFill>
                  <a:srgbClr val="304554"/>
                </a:solidFill>
                <a:latin typeface="Arial"/>
                <a:ea typeface="Arial"/>
                <a:cs typeface="Arial"/>
              </a:defRPr>
            </a:pPr>
            <a:r>
              <a:rPr sz="1200" b="1">
                <a:solidFill>
                  <a:srgbClr val="304554"/>
                </a:solidFill>
                <a:latin typeface="Arial"/>
                <a:ea typeface="Arial"/>
                <a:cs typeface="Arial"/>
              </a:rPr>
              <a:t>FIXED VECTOR</a:t>
            </a:r>
          </a:p>
        </p:txBody>
      </p:sp>
      <p:sp>
        <p:nvSpPr>
          <p:cNvPr id="10" name="answer-track-0">
            <a:extLst>
              <a:ext uri="{FF2B5EF4-FFF2-40B4-BE49-F238E27FC236}">
                <a16:creationId xmlns:a16="http://schemas.microsoft.com/office/drawing/2014/main" id="{CD52C4E7-8EAC-4232-B810-8D9CE953E96F}"/>
              </a:ext>
            </a:extLst>
          </p:cNvPr>
          <p:cNvSpPr>
            <a:spLocks noGrp="1"/>
          </p:cNvSpPr>
          <p:nvPr/>
        </p:nvSpPr>
        <p:spPr>
          <a:xfrm>
            <a:off x="3333750" y="2333625"/>
            <a:ext cx="7239000" cy="323850"/>
          </a:xfrm>
          <a:prstGeom prst="roundRect">
            <a:avLst>
              <a:gd name="adj" fmla="val 23529"/>
            </a:avLst>
          </a:prstGeom>
          <a:solidFill>
            <a:srgbClr val="EAE8E5"/>
          </a:solidFill>
          <a:ln w="0">
            <a:solidFill>
              <a:srgbClr val="EAE8E5"/>
            </a:solidFill>
            <a:prstDash val="solid"/>
          </a:ln>
        </p:spPr>
        <p:txBody>
          <a:bodyPr/>
          <a:lstStyle/>
          <a:p>
            <a:endParaRPr/>
          </a:p>
        </p:txBody>
      </p:sp>
      <p:sp>
        <p:nvSpPr>
          <p:cNvPr id="11" name="answer-vector-0">
            <a:extLst>
              <a:ext uri="{FF2B5EF4-FFF2-40B4-BE49-F238E27FC236}">
                <a16:creationId xmlns:a16="http://schemas.microsoft.com/office/drawing/2014/main" id="{D815D55A-0D7C-44A8-AA50-EC90B2002923}"/>
              </a:ext>
            </a:extLst>
          </p:cNvPr>
          <p:cNvSpPr>
            <a:spLocks noGrp="1"/>
          </p:cNvSpPr>
          <p:nvPr/>
        </p:nvSpPr>
        <p:spPr>
          <a:xfrm>
            <a:off x="3333750" y="2333625"/>
            <a:ext cx="2500313" cy="133350"/>
          </a:xfrm>
          <a:prstGeom prst="roundRect">
            <a:avLst>
              <a:gd name="adj" fmla="val 35714"/>
            </a:avLst>
          </a:prstGeom>
          <a:solidFill>
            <a:srgbClr val="2D3F4B"/>
          </a:solidFill>
          <a:ln w="0">
            <a:solidFill>
              <a:srgbClr val="2D3F4B"/>
            </a:solidFill>
            <a:prstDash val="solid"/>
          </a:ln>
        </p:spPr>
        <p:txBody>
          <a:bodyPr/>
          <a:lstStyle/>
          <a:p>
            <a:endParaRPr/>
          </a:p>
        </p:txBody>
      </p:sp>
      <p:sp>
        <p:nvSpPr>
          <p:cNvPr id="12" name="answer-graph-0">
            <a:extLst>
              <a:ext uri="{FF2B5EF4-FFF2-40B4-BE49-F238E27FC236}">
                <a16:creationId xmlns:a16="http://schemas.microsoft.com/office/drawing/2014/main" id="{BB53964E-818F-4DC4-AE34-6E8EDDF08C88}"/>
              </a:ext>
            </a:extLst>
          </p:cNvPr>
          <p:cNvSpPr>
            <a:spLocks noGrp="1"/>
          </p:cNvSpPr>
          <p:nvPr/>
        </p:nvSpPr>
        <p:spPr>
          <a:xfrm>
            <a:off x="3333750" y="2524125"/>
            <a:ext cx="2680335" cy="133350"/>
          </a:xfrm>
          <a:prstGeom prst="roundRect">
            <a:avLst>
              <a:gd name="adj" fmla="val 35714"/>
            </a:avLst>
          </a:prstGeom>
          <a:solidFill>
            <a:srgbClr val="43858A"/>
          </a:solidFill>
          <a:ln w="0">
            <a:solidFill>
              <a:srgbClr val="43858A"/>
            </a:solidFill>
            <a:prstDash val="solid"/>
          </a:ln>
        </p:spPr>
        <p:txBody>
          <a:bodyPr/>
          <a:lstStyle/>
          <a:p>
            <a:endParaRPr/>
          </a:p>
        </p:txBody>
      </p:sp>
      <p:sp>
        <p:nvSpPr>
          <p:cNvPr id="13" name="answer-vector-value-0">
            <a:extLst>
              <a:ext uri="{FF2B5EF4-FFF2-40B4-BE49-F238E27FC236}">
                <a16:creationId xmlns:a16="http://schemas.microsoft.com/office/drawing/2014/main" id="{15FC6A3E-1FB8-4F11-8DDF-D10B06C1F5D8}"/>
              </a:ext>
            </a:extLst>
          </p:cNvPr>
          <p:cNvSpPr>
            <a:spLocks noGrp="1"/>
          </p:cNvSpPr>
          <p:nvPr/>
        </p:nvSpPr>
        <p:spPr>
          <a:xfrm>
            <a:off x="5905500" y="2352675"/>
            <a:ext cx="1238250" cy="304800"/>
          </a:xfrm>
          <a:prstGeom prst="rect">
            <a:avLst/>
          </a:prstGeom>
          <a:noFill/>
          <a:ln w="0">
            <a:noFill/>
            <a:prstDash val="solid"/>
          </a:ln>
        </p:spPr>
        <p:txBody>
          <a:bodyPr anchor="t"/>
          <a:lstStyle/>
          <a:p>
            <a:pPr algn="ctr">
              <a:buNone/>
              <a:defRPr sz="1050" b="1">
                <a:solidFill>
                  <a:srgbClr val="304554"/>
                </a:solidFill>
                <a:latin typeface="Arial"/>
                <a:ea typeface="Arial"/>
                <a:cs typeface="Arial"/>
              </a:defRPr>
            </a:pPr>
            <a:r>
              <a:rPr sz="1050" b="1">
                <a:solidFill>
                  <a:srgbClr val="304554"/>
                </a:solidFill>
                <a:latin typeface="Arial"/>
                <a:ea typeface="Arial"/>
                <a:cs typeface="Arial"/>
              </a:rPr>
              <a:t>61 %</a:t>
            </a:r>
          </a:p>
        </p:txBody>
      </p:sp>
      <p:sp>
        <p:nvSpPr>
          <p:cNvPr id="14" name="answer-graph-value-0">
            <a:extLst>
              <a:ext uri="{FF2B5EF4-FFF2-40B4-BE49-F238E27FC236}">
                <a16:creationId xmlns:a16="http://schemas.microsoft.com/office/drawing/2014/main" id="{5B66303E-CD5B-4104-9851-08AF5483B83C}"/>
              </a:ext>
            </a:extLst>
          </p:cNvPr>
          <p:cNvSpPr>
            <a:spLocks noGrp="1"/>
          </p:cNvSpPr>
          <p:nvPr/>
        </p:nvSpPr>
        <p:spPr>
          <a:xfrm>
            <a:off x="9334500" y="2333625"/>
            <a:ext cx="1238250" cy="361950"/>
          </a:xfrm>
          <a:prstGeom prst="rect">
            <a:avLst/>
          </a:prstGeom>
          <a:noFill/>
          <a:ln w="0">
            <a:noFill/>
            <a:prstDash val="solid"/>
          </a:ln>
        </p:spPr>
        <p:txBody>
          <a:bodyPr anchor="t"/>
          <a:lstStyle/>
          <a:p>
            <a:pPr algn="ctr">
              <a:buNone/>
              <a:defRPr sz="1050" b="1">
                <a:solidFill>
                  <a:srgbClr val="4B9298"/>
                </a:solidFill>
                <a:latin typeface="Arial"/>
                <a:ea typeface="Arial"/>
                <a:cs typeface="Arial"/>
              </a:defRPr>
            </a:pPr>
            <a:r>
              <a:rPr sz="1050" b="1">
                <a:solidFill>
                  <a:srgbClr val="4B9298"/>
                </a:solidFill>
                <a:latin typeface="Arial"/>
                <a:ea typeface="Arial"/>
                <a:cs typeface="Arial"/>
              </a:rPr>
              <a:t>50 %</a:t>
            </a:r>
          </a:p>
        </p:txBody>
      </p:sp>
      <p:sp>
        <p:nvSpPr>
          <p:cNvPr id="15" name="answer-label-1">
            <a:extLst>
              <a:ext uri="{FF2B5EF4-FFF2-40B4-BE49-F238E27FC236}">
                <a16:creationId xmlns:a16="http://schemas.microsoft.com/office/drawing/2014/main" id="{5D2739FB-2E39-4684-8ABD-8687D59B98F9}"/>
              </a:ext>
            </a:extLst>
          </p:cNvPr>
          <p:cNvSpPr>
            <a:spLocks noGrp="1"/>
          </p:cNvSpPr>
          <p:nvPr/>
        </p:nvSpPr>
        <p:spPr>
          <a:xfrm>
            <a:off x="809625" y="3105150"/>
            <a:ext cx="2381250" cy="266700"/>
          </a:xfrm>
          <a:prstGeom prst="rect">
            <a:avLst/>
          </a:prstGeom>
          <a:noFill/>
          <a:ln w="0">
            <a:noFill/>
            <a:prstDash val="solid"/>
          </a:ln>
        </p:spPr>
        <p:txBody>
          <a:bodyPr anchor="t"/>
          <a:lstStyle/>
          <a:p>
            <a:pPr algn="l">
              <a:buNone/>
              <a:defRPr sz="1200" b="1">
                <a:solidFill>
                  <a:srgbClr val="304554"/>
                </a:solidFill>
                <a:latin typeface="Arial"/>
                <a:ea typeface="Arial"/>
                <a:cs typeface="Arial"/>
              </a:defRPr>
            </a:pPr>
            <a:r>
              <a:rPr sz="1200" b="1">
                <a:solidFill>
                  <a:srgbClr val="304554"/>
                </a:solidFill>
                <a:latin typeface="Arial"/>
                <a:ea typeface="Arial"/>
                <a:cs typeface="Arial"/>
              </a:rPr>
              <a:t>SEMANTIC VECTOR</a:t>
            </a:r>
          </a:p>
        </p:txBody>
      </p:sp>
      <p:sp>
        <p:nvSpPr>
          <p:cNvPr id="16" name="answer-track-1">
            <a:extLst>
              <a:ext uri="{FF2B5EF4-FFF2-40B4-BE49-F238E27FC236}">
                <a16:creationId xmlns:a16="http://schemas.microsoft.com/office/drawing/2014/main" id="{0E22B5BF-ED28-4C12-844F-DF49548A172A}"/>
              </a:ext>
            </a:extLst>
          </p:cNvPr>
          <p:cNvSpPr>
            <a:spLocks noGrp="1"/>
          </p:cNvSpPr>
          <p:nvPr/>
        </p:nvSpPr>
        <p:spPr>
          <a:xfrm>
            <a:off x="3333750" y="3057525"/>
            <a:ext cx="7239000" cy="323850"/>
          </a:xfrm>
          <a:prstGeom prst="roundRect">
            <a:avLst>
              <a:gd name="adj" fmla="val 23529"/>
            </a:avLst>
          </a:prstGeom>
          <a:solidFill>
            <a:srgbClr val="EAE8E5"/>
          </a:solidFill>
          <a:ln w="0">
            <a:solidFill>
              <a:srgbClr val="EAE8E5"/>
            </a:solidFill>
            <a:prstDash val="solid"/>
          </a:ln>
        </p:spPr>
        <p:txBody>
          <a:bodyPr/>
          <a:lstStyle/>
          <a:p>
            <a:endParaRPr/>
          </a:p>
        </p:txBody>
      </p:sp>
      <p:sp>
        <p:nvSpPr>
          <p:cNvPr id="17" name="answer-vector-1">
            <a:extLst>
              <a:ext uri="{FF2B5EF4-FFF2-40B4-BE49-F238E27FC236}">
                <a16:creationId xmlns:a16="http://schemas.microsoft.com/office/drawing/2014/main" id="{7F4BC1FE-F1FA-4BE2-AD4B-4FA5DD6F8674}"/>
              </a:ext>
            </a:extLst>
          </p:cNvPr>
          <p:cNvSpPr>
            <a:spLocks noGrp="1"/>
          </p:cNvSpPr>
          <p:nvPr/>
        </p:nvSpPr>
        <p:spPr>
          <a:xfrm>
            <a:off x="3333750" y="3057525"/>
            <a:ext cx="1548765" cy="133350"/>
          </a:xfrm>
          <a:prstGeom prst="roundRect">
            <a:avLst>
              <a:gd name="adj" fmla="val 35714"/>
            </a:avLst>
          </a:prstGeom>
          <a:solidFill>
            <a:srgbClr val="2D3F4B"/>
          </a:solidFill>
          <a:ln w="0">
            <a:solidFill>
              <a:srgbClr val="2D3F4B"/>
            </a:solidFill>
            <a:prstDash val="solid"/>
          </a:ln>
        </p:spPr>
        <p:txBody>
          <a:bodyPr/>
          <a:lstStyle/>
          <a:p>
            <a:endParaRPr/>
          </a:p>
        </p:txBody>
      </p:sp>
      <p:sp>
        <p:nvSpPr>
          <p:cNvPr id="18" name="answer-graph-1">
            <a:extLst>
              <a:ext uri="{FF2B5EF4-FFF2-40B4-BE49-F238E27FC236}">
                <a16:creationId xmlns:a16="http://schemas.microsoft.com/office/drawing/2014/main" id="{4AE258E7-C0C6-4ABC-B2D2-F8CB86EBBE56}"/>
              </a:ext>
            </a:extLst>
          </p:cNvPr>
          <p:cNvSpPr>
            <a:spLocks noGrp="1"/>
          </p:cNvSpPr>
          <p:nvPr/>
        </p:nvSpPr>
        <p:spPr>
          <a:xfrm>
            <a:off x="3333750" y="3248025"/>
            <a:ext cx="1131570" cy="133350"/>
          </a:xfrm>
          <a:prstGeom prst="roundRect">
            <a:avLst>
              <a:gd name="adj" fmla="val 35714"/>
            </a:avLst>
          </a:prstGeom>
          <a:solidFill>
            <a:srgbClr val="43858A"/>
          </a:solidFill>
          <a:ln w="0">
            <a:solidFill>
              <a:srgbClr val="43858A"/>
            </a:solidFill>
            <a:prstDash val="solid"/>
          </a:ln>
        </p:spPr>
        <p:txBody>
          <a:bodyPr/>
          <a:lstStyle/>
          <a:p>
            <a:endParaRPr/>
          </a:p>
        </p:txBody>
      </p:sp>
      <p:sp>
        <p:nvSpPr>
          <p:cNvPr id="19" name="answer-vector-value-1">
            <a:extLst>
              <a:ext uri="{FF2B5EF4-FFF2-40B4-BE49-F238E27FC236}">
                <a16:creationId xmlns:a16="http://schemas.microsoft.com/office/drawing/2014/main" id="{14483468-A4B8-4F79-A663-AE547265F0BD}"/>
              </a:ext>
            </a:extLst>
          </p:cNvPr>
          <p:cNvSpPr>
            <a:spLocks noGrp="1"/>
          </p:cNvSpPr>
          <p:nvPr/>
        </p:nvSpPr>
        <p:spPr>
          <a:xfrm>
            <a:off x="5905500" y="3095625"/>
            <a:ext cx="1238250" cy="266700"/>
          </a:xfrm>
          <a:prstGeom prst="rect">
            <a:avLst/>
          </a:prstGeom>
          <a:noFill/>
          <a:ln w="0">
            <a:noFill/>
            <a:prstDash val="solid"/>
          </a:ln>
        </p:spPr>
        <p:txBody>
          <a:bodyPr anchor="t"/>
          <a:lstStyle/>
          <a:p>
            <a:pPr algn="ctr">
              <a:buNone/>
              <a:defRPr sz="1050" b="1">
                <a:solidFill>
                  <a:srgbClr val="304554"/>
                </a:solidFill>
                <a:latin typeface="Arial"/>
                <a:ea typeface="Arial"/>
                <a:cs typeface="Arial"/>
              </a:defRPr>
            </a:pPr>
            <a:r>
              <a:rPr sz="1050" b="1">
                <a:solidFill>
                  <a:srgbClr val="304554"/>
                </a:solidFill>
                <a:latin typeface="Arial"/>
                <a:ea typeface="Arial"/>
                <a:cs typeface="Arial"/>
              </a:rPr>
              <a:t>31 %</a:t>
            </a:r>
          </a:p>
        </p:txBody>
      </p:sp>
      <p:sp>
        <p:nvSpPr>
          <p:cNvPr id="20" name="answer-graph-value-1">
            <a:extLst>
              <a:ext uri="{FF2B5EF4-FFF2-40B4-BE49-F238E27FC236}">
                <a16:creationId xmlns:a16="http://schemas.microsoft.com/office/drawing/2014/main" id="{7F61F969-D311-4122-B5D0-77EEBB5FF900}"/>
              </a:ext>
            </a:extLst>
          </p:cNvPr>
          <p:cNvSpPr>
            <a:spLocks noGrp="1"/>
          </p:cNvSpPr>
          <p:nvPr/>
        </p:nvSpPr>
        <p:spPr>
          <a:xfrm>
            <a:off x="9334500" y="3076575"/>
            <a:ext cx="1238250" cy="342900"/>
          </a:xfrm>
          <a:prstGeom prst="rect">
            <a:avLst/>
          </a:prstGeom>
          <a:noFill/>
          <a:ln w="0">
            <a:noFill/>
            <a:prstDash val="solid"/>
          </a:ln>
        </p:spPr>
        <p:txBody>
          <a:bodyPr anchor="t"/>
          <a:lstStyle/>
          <a:p>
            <a:pPr algn="ctr">
              <a:buNone/>
              <a:defRPr sz="1050" b="1">
                <a:solidFill>
                  <a:srgbClr val="4B9298"/>
                </a:solidFill>
                <a:latin typeface="Arial"/>
                <a:ea typeface="Arial"/>
                <a:cs typeface="Arial"/>
              </a:defRPr>
            </a:pPr>
            <a:r>
              <a:rPr sz="1050" b="1">
                <a:solidFill>
                  <a:srgbClr val="4B9298"/>
                </a:solidFill>
                <a:latin typeface="Arial"/>
                <a:ea typeface="Arial"/>
                <a:cs typeface="Arial"/>
              </a:rPr>
              <a:t>50 %</a:t>
            </a:r>
          </a:p>
        </p:txBody>
      </p:sp>
      <p:sp>
        <p:nvSpPr>
          <p:cNvPr id="21" name="answer-label-2">
            <a:extLst>
              <a:ext uri="{FF2B5EF4-FFF2-40B4-BE49-F238E27FC236}">
                <a16:creationId xmlns:a16="http://schemas.microsoft.com/office/drawing/2014/main" id="{D328B61F-A548-4C86-905D-BCC6969EEF3F}"/>
              </a:ext>
            </a:extLst>
          </p:cNvPr>
          <p:cNvSpPr>
            <a:spLocks noGrp="1"/>
          </p:cNvSpPr>
          <p:nvPr/>
        </p:nvSpPr>
        <p:spPr>
          <a:xfrm>
            <a:off x="809625" y="3829050"/>
            <a:ext cx="2381250" cy="266700"/>
          </a:xfrm>
          <a:prstGeom prst="rect">
            <a:avLst/>
          </a:prstGeom>
          <a:noFill/>
          <a:ln w="0">
            <a:noFill/>
            <a:prstDash val="solid"/>
          </a:ln>
        </p:spPr>
        <p:txBody>
          <a:bodyPr anchor="t"/>
          <a:lstStyle/>
          <a:p>
            <a:pPr algn="l">
              <a:buNone/>
              <a:defRPr sz="1200" b="1">
                <a:solidFill>
                  <a:srgbClr val="304554"/>
                </a:solidFill>
                <a:latin typeface="Arial"/>
                <a:ea typeface="Arial"/>
                <a:cs typeface="Arial"/>
              </a:defRPr>
            </a:pPr>
            <a:r>
              <a:rPr sz="1200" b="1">
                <a:solidFill>
                  <a:srgbClr val="304554"/>
                </a:solidFill>
                <a:latin typeface="Arial"/>
                <a:ea typeface="Arial"/>
                <a:cs typeface="Arial"/>
              </a:rPr>
              <a:t>RERANK</a:t>
            </a:r>
          </a:p>
        </p:txBody>
      </p:sp>
      <p:sp>
        <p:nvSpPr>
          <p:cNvPr id="22" name="answer-track-2">
            <a:extLst>
              <a:ext uri="{FF2B5EF4-FFF2-40B4-BE49-F238E27FC236}">
                <a16:creationId xmlns:a16="http://schemas.microsoft.com/office/drawing/2014/main" id="{29E716F6-82C1-4CF3-94ED-DD12A5CFC24D}"/>
              </a:ext>
            </a:extLst>
          </p:cNvPr>
          <p:cNvSpPr>
            <a:spLocks noGrp="1"/>
          </p:cNvSpPr>
          <p:nvPr/>
        </p:nvSpPr>
        <p:spPr>
          <a:xfrm>
            <a:off x="3333750" y="3781425"/>
            <a:ext cx="7239000" cy="323850"/>
          </a:xfrm>
          <a:prstGeom prst="roundRect">
            <a:avLst>
              <a:gd name="adj" fmla="val 23529"/>
            </a:avLst>
          </a:prstGeom>
          <a:solidFill>
            <a:srgbClr val="EAE8E5"/>
          </a:solidFill>
          <a:ln w="0">
            <a:solidFill>
              <a:srgbClr val="EAE8E5"/>
            </a:solidFill>
            <a:prstDash val="solid"/>
          </a:ln>
        </p:spPr>
        <p:txBody>
          <a:bodyPr/>
          <a:lstStyle/>
          <a:p>
            <a:endParaRPr/>
          </a:p>
        </p:txBody>
      </p:sp>
      <p:sp>
        <p:nvSpPr>
          <p:cNvPr id="23" name="answer-vector-2">
            <a:extLst>
              <a:ext uri="{FF2B5EF4-FFF2-40B4-BE49-F238E27FC236}">
                <a16:creationId xmlns:a16="http://schemas.microsoft.com/office/drawing/2014/main" id="{C7FE44CB-CE2E-4AB9-8B83-B7CDCB1FF94B}"/>
              </a:ext>
            </a:extLst>
          </p:cNvPr>
          <p:cNvSpPr>
            <a:spLocks noGrp="1"/>
          </p:cNvSpPr>
          <p:nvPr/>
        </p:nvSpPr>
        <p:spPr>
          <a:xfrm>
            <a:off x="3333750" y="3781425"/>
            <a:ext cx="2500313" cy="133350"/>
          </a:xfrm>
          <a:prstGeom prst="roundRect">
            <a:avLst>
              <a:gd name="adj" fmla="val 35714"/>
            </a:avLst>
          </a:prstGeom>
          <a:solidFill>
            <a:srgbClr val="2D3F4B"/>
          </a:solidFill>
          <a:ln w="0">
            <a:solidFill>
              <a:srgbClr val="2D3F4B"/>
            </a:solidFill>
            <a:prstDash val="solid"/>
          </a:ln>
        </p:spPr>
        <p:txBody>
          <a:bodyPr/>
          <a:lstStyle/>
          <a:p>
            <a:endParaRPr/>
          </a:p>
        </p:txBody>
      </p:sp>
      <p:sp>
        <p:nvSpPr>
          <p:cNvPr id="24" name="answer-graph-2">
            <a:extLst>
              <a:ext uri="{FF2B5EF4-FFF2-40B4-BE49-F238E27FC236}">
                <a16:creationId xmlns:a16="http://schemas.microsoft.com/office/drawing/2014/main" id="{745C60FD-E4CA-48A4-A1ED-078A87DF842E}"/>
              </a:ext>
            </a:extLst>
          </p:cNvPr>
          <p:cNvSpPr>
            <a:spLocks noGrp="1"/>
          </p:cNvSpPr>
          <p:nvPr/>
        </p:nvSpPr>
        <p:spPr>
          <a:xfrm>
            <a:off x="3333750" y="3971925"/>
            <a:ext cx="2263140" cy="133350"/>
          </a:xfrm>
          <a:prstGeom prst="roundRect">
            <a:avLst>
              <a:gd name="adj" fmla="val 35714"/>
            </a:avLst>
          </a:prstGeom>
          <a:solidFill>
            <a:srgbClr val="43858A"/>
          </a:solidFill>
          <a:ln w="0">
            <a:solidFill>
              <a:srgbClr val="43858A"/>
            </a:solidFill>
            <a:prstDash val="solid"/>
          </a:ln>
        </p:spPr>
        <p:txBody>
          <a:bodyPr/>
          <a:lstStyle/>
          <a:p>
            <a:endParaRPr/>
          </a:p>
        </p:txBody>
      </p:sp>
      <p:sp>
        <p:nvSpPr>
          <p:cNvPr id="25" name="answer-vector-value-2">
            <a:extLst>
              <a:ext uri="{FF2B5EF4-FFF2-40B4-BE49-F238E27FC236}">
                <a16:creationId xmlns:a16="http://schemas.microsoft.com/office/drawing/2014/main" id="{4D669E4F-7E72-4113-85F1-5B8620FC673A}"/>
              </a:ext>
            </a:extLst>
          </p:cNvPr>
          <p:cNvSpPr>
            <a:spLocks noGrp="1"/>
          </p:cNvSpPr>
          <p:nvPr/>
        </p:nvSpPr>
        <p:spPr>
          <a:xfrm>
            <a:off x="5905500" y="3813499"/>
            <a:ext cx="1238250" cy="323850"/>
          </a:xfrm>
          <a:prstGeom prst="rect">
            <a:avLst/>
          </a:prstGeom>
          <a:noFill/>
          <a:ln w="0">
            <a:noFill/>
            <a:prstDash val="solid"/>
          </a:ln>
        </p:spPr>
        <p:txBody>
          <a:bodyPr anchor="t"/>
          <a:lstStyle/>
          <a:p>
            <a:pPr algn="ctr">
              <a:buNone/>
              <a:defRPr sz="1050" b="1">
                <a:solidFill>
                  <a:srgbClr val="304554"/>
                </a:solidFill>
                <a:latin typeface="Arial"/>
                <a:ea typeface="Arial"/>
                <a:cs typeface="Arial"/>
              </a:defRPr>
            </a:pPr>
            <a:r>
              <a:rPr sz="1050" b="1">
                <a:solidFill>
                  <a:srgbClr val="304554"/>
                </a:solidFill>
                <a:latin typeface="Arial"/>
                <a:ea typeface="Arial"/>
                <a:cs typeface="Arial"/>
              </a:rPr>
              <a:t>46 %</a:t>
            </a:r>
          </a:p>
        </p:txBody>
      </p:sp>
      <p:sp>
        <p:nvSpPr>
          <p:cNvPr id="26" name="answer-graph-value-2">
            <a:extLst>
              <a:ext uri="{FF2B5EF4-FFF2-40B4-BE49-F238E27FC236}">
                <a16:creationId xmlns:a16="http://schemas.microsoft.com/office/drawing/2014/main" id="{4104BA02-0CB7-4307-83BC-5DC51EADA8F7}"/>
              </a:ext>
            </a:extLst>
          </p:cNvPr>
          <p:cNvSpPr>
            <a:spLocks noGrp="1"/>
          </p:cNvSpPr>
          <p:nvPr/>
        </p:nvSpPr>
        <p:spPr>
          <a:xfrm>
            <a:off x="9334500" y="3824751"/>
            <a:ext cx="1238250" cy="342900"/>
          </a:xfrm>
          <a:prstGeom prst="rect">
            <a:avLst/>
          </a:prstGeom>
          <a:noFill/>
          <a:ln w="0">
            <a:noFill/>
            <a:prstDash val="solid"/>
          </a:ln>
        </p:spPr>
        <p:txBody>
          <a:bodyPr anchor="t"/>
          <a:lstStyle/>
          <a:p>
            <a:pPr algn="ctr">
              <a:buNone/>
              <a:defRPr sz="1050" b="1">
                <a:solidFill>
                  <a:srgbClr val="4B9298"/>
                </a:solidFill>
                <a:latin typeface="Arial"/>
                <a:ea typeface="Arial"/>
                <a:cs typeface="Arial"/>
              </a:defRPr>
            </a:pPr>
            <a:r>
              <a:rPr sz="1050" b="1">
                <a:solidFill>
                  <a:srgbClr val="4B9298"/>
                </a:solidFill>
                <a:latin typeface="Arial"/>
                <a:ea typeface="Arial"/>
                <a:cs typeface="Arial"/>
              </a:rPr>
              <a:t>67 %</a:t>
            </a:r>
          </a:p>
        </p:txBody>
      </p:sp>
      <p:sp>
        <p:nvSpPr>
          <p:cNvPr id="27" name="answer-label-3">
            <a:extLst>
              <a:ext uri="{FF2B5EF4-FFF2-40B4-BE49-F238E27FC236}">
                <a16:creationId xmlns:a16="http://schemas.microsoft.com/office/drawing/2014/main" id="{76AFE1D7-C283-4335-8E11-05DE644D4A08}"/>
              </a:ext>
            </a:extLst>
          </p:cNvPr>
          <p:cNvSpPr>
            <a:spLocks noGrp="1"/>
          </p:cNvSpPr>
          <p:nvPr/>
        </p:nvSpPr>
        <p:spPr>
          <a:xfrm>
            <a:off x="809625" y="4552950"/>
            <a:ext cx="2381250" cy="266700"/>
          </a:xfrm>
          <a:prstGeom prst="rect">
            <a:avLst/>
          </a:prstGeom>
          <a:noFill/>
          <a:ln w="0">
            <a:noFill/>
            <a:prstDash val="solid"/>
          </a:ln>
        </p:spPr>
        <p:txBody>
          <a:bodyPr anchor="t"/>
          <a:lstStyle/>
          <a:p>
            <a:pPr algn="l">
              <a:buNone/>
              <a:defRPr sz="1200" b="1">
                <a:solidFill>
                  <a:srgbClr val="304554"/>
                </a:solidFill>
                <a:latin typeface="Arial"/>
                <a:ea typeface="Arial"/>
                <a:cs typeface="Arial"/>
              </a:defRPr>
            </a:pPr>
            <a:r>
              <a:rPr sz="1200" b="1">
                <a:solidFill>
                  <a:srgbClr val="304554"/>
                </a:solidFill>
                <a:latin typeface="Arial"/>
                <a:ea typeface="Arial"/>
                <a:cs typeface="Arial"/>
              </a:rPr>
              <a:t>GRAPH</a:t>
            </a:r>
          </a:p>
        </p:txBody>
      </p:sp>
      <p:sp>
        <p:nvSpPr>
          <p:cNvPr id="28" name="answer-track-3">
            <a:extLst>
              <a:ext uri="{FF2B5EF4-FFF2-40B4-BE49-F238E27FC236}">
                <a16:creationId xmlns:a16="http://schemas.microsoft.com/office/drawing/2014/main" id="{89582727-F40A-4A51-BB3A-0AE3BE8B8D07}"/>
              </a:ext>
            </a:extLst>
          </p:cNvPr>
          <p:cNvSpPr>
            <a:spLocks noGrp="1"/>
          </p:cNvSpPr>
          <p:nvPr/>
        </p:nvSpPr>
        <p:spPr>
          <a:xfrm>
            <a:off x="3333750" y="4505325"/>
            <a:ext cx="7239000" cy="323850"/>
          </a:xfrm>
          <a:prstGeom prst="roundRect">
            <a:avLst>
              <a:gd name="adj" fmla="val 23529"/>
            </a:avLst>
          </a:prstGeom>
          <a:solidFill>
            <a:srgbClr val="EAE8E5"/>
          </a:solidFill>
          <a:ln w="0">
            <a:solidFill>
              <a:srgbClr val="EAE8E5"/>
            </a:solidFill>
            <a:prstDash val="solid"/>
          </a:ln>
        </p:spPr>
        <p:txBody>
          <a:bodyPr/>
          <a:lstStyle/>
          <a:p>
            <a:endParaRPr/>
          </a:p>
        </p:txBody>
      </p:sp>
      <p:sp>
        <p:nvSpPr>
          <p:cNvPr id="29" name="answer-vector-3">
            <a:extLst>
              <a:ext uri="{FF2B5EF4-FFF2-40B4-BE49-F238E27FC236}">
                <a16:creationId xmlns:a16="http://schemas.microsoft.com/office/drawing/2014/main" id="{ED35D6E3-1C58-4383-9FDA-E579FEF736CC}"/>
              </a:ext>
            </a:extLst>
          </p:cNvPr>
          <p:cNvSpPr>
            <a:spLocks noGrp="1"/>
          </p:cNvSpPr>
          <p:nvPr/>
        </p:nvSpPr>
        <p:spPr>
          <a:xfrm>
            <a:off x="3333750" y="4505325"/>
            <a:ext cx="2500313" cy="133350"/>
          </a:xfrm>
          <a:prstGeom prst="roundRect">
            <a:avLst>
              <a:gd name="adj" fmla="val 35714"/>
            </a:avLst>
          </a:prstGeom>
          <a:solidFill>
            <a:srgbClr val="2D3F4B"/>
          </a:solidFill>
          <a:ln w="0">
            <a:solidFill>
              <a:srgbClr val="2D3F4B"/>
            </a:solidFill>
            <a:prstDash val="solid"/>
          </a:ln>
        </p:spPr>
        <p:txBody>
          <a:bodyPr/>
          <a:lstStyle/>
          <a:p>
            <a:endParaRPr/>
          </a:p>
        </p:txBody>
      </p:sp>
      <p:sp>
        <p:nvSpPr>
          <p:cNvPr id="30" name="answer-graph-3">
            <a:extLst>
              <a:ext uri="{FF2B5EF4-FFF2-40B4-BE49-F238E27FC236}">
                <a16:creationId xmlns:a16="http://schemas.microsoft.com/office/drawing/2014/main" id="{E0D3BA54-4C52-486E-AE48-EF82B2146E4C}"/>
              </a:ext>
            </a:extLst>
          </p:cNvPr>
          <p:cNvSpPr>
            <a:spLocks noGrp="1"/>
          </p:cNvSpPr>
          <p:nvPr/>
        </p:nvSpPr>
        <p:spPr>
          <a:xfrm>
            <a:off x="3333750" y="4695825"/>
            <a:ext cx="2143125" cy="133350"/>
          </a:xfrm>
          <a:prstGeom prst="roundRect">
            <a:avLst>
              <a:gd name="adj" fmla="val 35714"/>
            </a:avLst>
          </a:prstGeom>
          <a:solidFill>
            <a:srgbClr val="43858A"/>
          </a:solidFill>
          <a:ln w="0">
            <a:solidFill>
              <a:srgbClr val="43858A"/>
            </a:solidFill>
            <a:prstDash val="solid"/>
          </a:ln>
        </p:spPr>
        <p:txBody>
          <a:bodyPr/>
          <a:lstStyle/>
          <a:p>
            <a:endParaRPr/>
          </a:p>
        </p:txBody>
      </p:sp>
      <p:sp>
        <p:nvSpPr>
          <p:cNvPr id="31" name="answer-vector-value-3">
            <a:extLst>
              <a:ext uri="{FF2B5EF4-FFF2-40B4-BE49-F238E27FC236}">
                <a16:creationId xmlns:a16="http://schemas.microsoft.com/office/drawing/2014/main" id="{22847C93-13B2-4FCD-884C-339530532C0C}"/>
              </a:ext>
            </a:extLst>
          </p:cNvPr>
          <p:cNvSpPr>
            <a:spLocks noGrp="1"/>
          </p:cNvSpPr>
          <p:nvPr/>
        </p:nvSpPr>
        <p:spPr>
          <a:xfrm>
            <a:off x="5905500" y="4543425"/>
            <a:ext cx="1238250" cy="304800"/>
          </a:xfrm>
          <a:prstGeom prst="rect">
            <a:avLst/>
          </a:prstGeom>
          <a:noFill/>
          <a:ln w="0">
            <a:noFill/>
            <a:prstDash val="solid"/>
          </a:ln>
        </p:spPr>
        <p:txBody>
          <a:bodyPr anchor="t"/>
          <a:lstStyle/>
          <a:p>
            <a:pPr algn="ctr">
              <a:buNone/>
              <a:defRPr sz="1050" b="1">
                <a:solidFill>
                  <a:srgbClr val="304554"/>
                </a:solidFill>
                <a:latin typeface="Arial"/>
                <a:ea typeface="Arial"/>
                <a:cs typeface="Arial"/>
              </a:defRPr>
            </a:pPr>
            <a:r>
              <a:rPr sz="1050" b="1">
                <a:solidFill>
                  <a:srgbClr val="304554"/>
                </a:solidFill>
                <a:latin typeface="Arial"/>
                <a:ea typeface="Arial"/>
                <a:cs typeface="Arial"/>
              </a:rPr>
              <a:t>56 %</a:t>
            </a:r>
          </a:p>
        </p:txBody>
      </p:sp>
      <p:sp>
        <p:nvSpPr>
          <p:cNvPr id="32" name="answer-graph-value-3">
            <a:extLst>
              <a:ext uri="{FF2B5EF4-FFF2-40B4-BE49-F238E27FC236}">
                <a16:creationId xmlns:a16="http://schemas.microsoft.com/office/drawing/2014/main" id="{3B732BA7-C587-498C-9592-C4835650E0B4}"/>
              </a:ext>
            </a:extLst>
          </p:cNvPr>
          <p:cNvSpPr>
            <a:spLocks noGrp="1"/>
          </p:cNvSpPr>
          <p:nvPr/>
        </p:nvSpPr>
        <p:spPr>
          <a:xfrm>
            <a:off x="9334500" y="4543425"/>
            <a:ext cx="1238250" cy="323850"/>
          </a:xfrm>
          <a:prstGeom prst="rect">
            <a:avLst/>
          </a:prstGeom>
          <a:noFill/>
          <a:ln w="0">
            <a:noFill/>
            <a:prstDash val="solid"/>
          </a:ln>
        </p:spPr>
        <p:txBody>
          <a:bodyPr anchor="t"/>
          <a:lstStyle/>
          <a:p>
            <a:pPr algn="ctr">
              <a:buNone/>
              <a:defRPr sz="1050" b="1">
                <a:solidFill>
                  <a:srgbClr val="4B9298"/>
                </a:solidFill>
                <a:latin typeface="Arial"/>
                <a:ea typeface="Arial"/>
                <a:cs typeface="Arial"/>
              </a:defRPr>
            </a:pPr>
            <a:r>
              <a:rPr sz="1050" b="1">
                <a:solidFill>
                  <a:srgbClr val="4B9298"/>
                </a:solidFill>
                <a:latin typeface="Arial"/>
                <a:ea typeface="Arial"/>
                <a:cs typeface="Arial"/>
              </a:rPr>
              <a:t>67 %</a:t>
            </a:r>
          </a:p>
        </p:txBody>
      </p:sp>
      <p:sp>
        <p:nvSpPr>
          <p:cNvPr id="33" name="answer-takeaway">
            <a:extLst>
              <a:ext uri="{FF2B5EF4-FFF2-40B4-BE49-F238E27FC236}">
                <a16:creationId xmlns:a16="http://schemas.microsoft.com/office/drawing/2014/main" id="{2AA0DE22-934A-4C0E-96FA-E40C29FEBB03}"/>
              </a:ext>
            </a:extLst>
          </p:cNvPr>
          <p:cNvSpPr>
            <a:spLocks noGrp="1"/>
          </p:cNvSpPr>
          <p:nvPr/>
        </p:nvSpPr>
        <p:spPr>
          <a:xfrm>
            <a:off x="1143000" y="5286375"/>
            <a:ext cx="9906000" cy="590550"/>
          </a:xfrm>
          <a:prstGeom prst="roundRect">
            <a:avLst>
              <a:gd name="adj" fmla="val 24194"/>
            </a:avLst>
          </a:prstGeom>
          <a:solidFill>
            <a:srgbClr val="2D3F4B"/>
          </a:solidFill>
          <a:ln w="0">
            <a:solidFill>
              <a:srgbClr val="2D3F4B"/>
            </a:solidFill>
            <a:prstDash val="solid"/>
          </a:ln>
        </p:spPr>
        <p:txBody>
          <a:bodyPr/>
          <a:lstStyle/>
          <a:p>
            <a:endParaRPr/>
          </a:p>
        </p:txBody>
      </p:sp>
      <p:sp>
        <p:nvSpPr>
          <p:cNvPr id="34" name="answer-takeaway-text">
            <a:extLst>
              <a:ext uri="{FF2B5EF4-FFF2-40B4-BE49-F238E27FC236}">
                <a16:creationId xmlns:a16="http://schemas.microsoft.com/office/drawing/2014/main" id="{C9D6EE62-779C-461F-BAA7-8968A6BCD9FB}"/>
              </a:ext>
            </a:extLst>
          </p:cNvPr>
          <p:cNvSpPr>
            <a:spLocks noGrp="1"/>
          </p:cNvSpPr>
          <p:nvPr/>
        </p:nvSpPr>
        <p:spPr>
          <a:xfrm>
            <a:off x="1428750" y="5429250"/>
            <a:ext cx="9334500" cy="304800"/>
          </a:xfrm>
          <a:prstGeom prst="rect">
            <a:avLst/>
          </a:prstGeom>
          <a:noFill/>
          <a:ln w="0">
            <a:noFill/>
            <a:prstDash val="solid"/>
          </a:ln>
        </p:spPr>
        <p:txBody>
          <a:bodyPr anchor="ctr"/>
          <a:lstStyle/>
          <a:p>
            <a:pPr algn="ctr">
              <a:buNone/>
              <a:defRPr sz="1200" b="1">
                <a:solidFill>
                  <a:srgbClr val="FFFFFF"/>
                </a:solidFill>
                <a:latin typeface="Arial"/>
                <a:ea typeface="Arial"/>
                <a:cs typeface="Arial"/>
              </a:defRPr>
            </a:pPr>
            <a:r>
              <a:rPr sz="1200" b="1">
                <a:solidFill>
                  <a:srgbClr val="FFFFFF"/>
                </a:solidFill>
                <a:latin typeface="Arial"/>
                <a:ea typeface="Arial"/>
                <a:cs typeface="Arial"/>
              </a:rPr>
              <a:t>Graph maximiert den Recall · Antwortqualität bleibt ein eigener Prüfschritt</a:t>
            </a:r>
          </a:p>
        </p:txBody>
      </p:sp>
    </p:spTree>
    <p:extLst>
      <p:ext uri="{BB962C8B-B14F-4D97-AF65-F5344CB8AC3E}">
        <p14:creationId xmlns:p14="http://schemas.microsoft.com/office/powerpoint/2010/main" val="11973681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clean-canvas">
            <a:extLst>
              <a:ext uri="{FF2B5EF4-FFF2-40B4-BE49-F238E27FC236}">
                <a16:creationId xmlns:a16="http://schemas.microsoft.com/office/drawing/2014/main" id="{AC4D295C-DA35-4948-9A28-42A34DDCB8DC}"/>
              </a:ext>
            </a:extLst>
          </p:cNvPr>
          <p:cNvSpPr>
            <a:spLocks noGrp="1"/>
          </p:cNvSpPr>
          <p:nvPr/>
        </p:nvSpPr>
        <p:spPr>
          <a:xfrm>
            <a:off x="0" y="0"/>
            <a:ext cx="12192000" cy="6096000"/>
          </a:xfrm>
          <a:prstGeom prst="rect">
            <a:avLst/>
          </a:prstGeom>
          <a:solidFill>
            <a:srgbClr val="FFFFFF"/>
          </a:solidFill>
          <a:ln w="0">
            <a:solidFill>
              <a:srgbClr val="FFFFFF"/>
            </a:solidFill>
            <a:prstDash val="solid"/>
          </a:ln>
        </p:spPr>
        <p:txBody>
          <a:bodyPr/>
          <a:lstStyle/>
          <a:p>
            <a:endParaRPr/>
          </a:p>
        </p:txBody>
      </p:sp>
      <p:sp>
        <p:nvSpPr>
          <p:cNvPr id="2" name="slide-title">
            <a:extLst>
              <a:ext uri="{FF2B5EF4-FFF2-40B4-BE49-F238E27FC236}">
                <a16:creationId xmlns:a16="http://schemas.microsoft.com/office/drawing/2014/main" id="{EBF84E5B-9733-4D1C-891F-87753FEF6200}"/>
              </a:ext>
            </a:extLst>
          </p:cNvPr>
          <p:cNvSpPr>
            <a:spLocks noGrp="1"/>
          </p:cNvSpPr>
          <p:nvPr/>
        </p:nvSpPr>
        <p:spPr>
          <a:xfrm>
            <a:off x="476250" y="333375"/>
            <a:ext cx="11239500" cy="714375"/>
          </a:xfrm>
          <a:prstGeom prst="rect">
            <a:avLst/>
          </a:prstGeom>
          <a:noFill/>
          <a:ln w="0">
            <a:noFill/>
            <a:prstDash val="solid"/>
          </a:ln>
        </p:spPr>
        <p:txBody>
          <a:bodyPr anchor="ctr"/>
          <a:lstStyle/>
          <a:p>
            <a:pPr algn="l">
              <a:buNone/>
              <a:defRPr sz="2850" b="0">
                <a:solidFill>
                  <a:srgbClr val="2D3F4B"/>
                </a:solidFill>
                <a:latin typeface="Arial"/>
                <a:ea typeface="Arial"/>
                <a:cs typeface="Arial"/>
              </a:defRPr>
            </a:pPr>
            <a:r>
              <a:rPr sz="2850" b="0">
                <a:solidFill>
                  <a:srgbClr val="2D3F4B"/>
                </a:solidFill>
                <a:latin typeface="Arial"/>
                <a:ea typeface="Arial"/>
                <a:cs typeface="Arial"/>
              </a:rPr>
              <a:t>Wahlmodul: Drei Gruppen, ein gemeinsamer Befund</a:t>
            </a:r>
          </a:p>
        </p:txBody>
      </p:sp>
      <p:sp>
        <p:nvSpPr>
          <p:cNvPr id="3" name="title-rule">
            <a:extLst>
              <a:ext uri="{FF2B5EF4-FFF2-40B4-BE49-F238E27FC236}">
                <a16:creationId xmlns:a16="http://schemas.microsoft.com/office/drawing/2014/main" id="{F89291CC-D312-4577-8F2B-4346D995CEAB}"/>
              </a:ext>
            </a:extLst>
          </p:cNvPr>
          <p:cNvSpPr>
            <a:spLocks noGrp="1"/>
          </p:cNvSpPr>
          <p:nvPr/>
        </p:nvSpPr>
        <p:spPr>
          <a:xfrm>
            <a:off x="476250" y="1133475"/>
            <a:ext cx="11239500" cy="0"/>
          </a:xfrm>
          <a:prstGeom prst="line">
            <a:avLst/>
          </a:prstGeom>
          <a:ln w="25718">
            <a:solidFill>
              <a:srgbClr val="C60C30"/>
            </a:solidFill>
            <a:prstDash val="solid"/>
          </a:ln>
        </p:spPr>
        <p:txBody>
          <a:bodyPr/>
          <a:lstStyle/>
          <a:p>
            <a:endParaRPr/>
          </a:p>
        </p:txBody>
      </p:sp>
      <p:sp>
        <p:nvSpPr>
          <p:cNvPr id="4" name="slide-subtitle">
            <a:extLst>
              <a:ext uri="{FF2B5EF4-FFF2-40B4-BE49-F238E27FC236}">
                <a16:creationId xmlns:a16="http://schemas.microsoft.com/office/drawing/2014/main" id="{70ADD6C2-1AC9-4217-B4C9-AF01182573B5}"/>
              </a:ext>
            </a:extLst>
          </p:cNvPr>
          <p:cNvSpPr>
            <a:spLocks noGrp="1"/>
          </p:cNvSpPr>
          <p:nvPr/>
        </p:nvSpPr>
        <p:spPr>
          <a:xfrm>
            <a:off x="523875" y="1362075"/>
            <a:ext cx="11096625" cy="361950"/>
          </a:xfrm>
          <a:prstGeom prst="rect">
            <a:avLst/>
          </a:prstGeom>
          <a:noFill/>
          <a:ln w="0">
            <a:noFill/>
            <a:prstDash val="solid"/>
          </a:ln>
        </p:spPr>
        <p:txBody>
          <a:bodyPr anchor="ctr"/>
          <a:lstStyle/>
          <a:p>
            <a:pPr algn="l">
              <a:buNone/>
              <a:defRPr sz="1650" b="0">
                <a:solidFill>
                  <a:srgbClr val="81725E"/>
                </a:solidFill>
                <a:latin typeface="Arial"/>
                <a:ea typeface="Arial"/>
                <a:cs typeface="Arial"/>
              </a:defRPr>
            </a:pPr>
            <a:r>
              <a:rPr sz="1650" b="0">
                <a:solidFill>
                  <a:srgbClr val="81725E"/>
                </a:solidFill>
                <a:latin typeface="Arial"/>
                <a:ea typeface="Arial"/>
                <a:cs typeface="Arial"/>
              </a:rPr>
              <a:t>12 Minuten arbeiten · 2 Minuten pro Gruppe berichten.</a:t>
            </a:r>
          </a:p>
        </p:txBody>
      </p:sp>
      <p:sp>
        <p:nvSpPr>
          <p:cNvPr id="5" name="page-number">
            <a:extLst>
              <a:ext uri="{FF2B5EF4-FFF2-40B4-BE49-F238E27FC236}">
                <a16:creationId xmlns:a16="http://schemas.microsoft.com/office/drawing/2014/main" id="{F2F966EA-E422-4BBB-B627-88842C325471}"/>
              </a:ext>
            </a:extLst>
          </p:cNvPr>
          <p:cNvSpPr>
            <a:spLocks noGrp="1"/>
          </p:cNvSpPr>
          <p:nvPr/>
        </p:nvSpPr>
        <p:spPr>
          <a:xfrm>
            <a:off x="476250" y="6353175"/>
            <a:ext cx="333375" cy="209550"/>
          </a:xfrm>
          <a:prstGeom prst="rect">
            <a:avLst/>
          </a:prstGeom>
          <a:noFill/>
          <a:ln w="0">
            <a:noFill/>
            <a:prstDash val="solid"/>
          </a:ln>
        </p:spPr>
        <p:txBody>
          <a:bodyPr anchor="t"/>
          <a:lstStyle/>
          <a:p>
            <a:pPr algn="l">
              <a:buNone/>
              <a:defRPr sz="825" b="0">
                <a:solidFill>
                  <a:srgbClr val="2D3F4B"/>
                </a:solidFill>
                <a:latin typeface="Arial"/>
                <a:ea typeface="Arial"/>
                <a:cs typeface="Arial"/>
              </a:defRPr>
            </a:pPr>
            <a:r>
              <a:rPr sz="825" b="0">
                <a:solidFill>
                  <a:srgbClr val="2D3F4B"/>
                </a:solidFill>
                <a:latin typeface="Arial"/>
                <a:ea typeface="Arial"/>
                <a:cs typeface="Arial"/>
              </a:rPr>
              <a:t>19</a:t>
            </a:r>
          </a:p>
        </p:txBody>
      </p:sp>
      <p:sp>
        <p:nvSpPr>
          <p:cNvPr id="6" name="date">
            <a:extLst>
              <a:ext uri="{FF2B5EF4-FFF2-40B4-BE49-F238E27FC236}">
                <a16:creationId xmlns:a16="http://schemas.microsoft.com/office/drawing/2014/main" id="{4833612B-0FF9-48C5-8892-1F549D115E52}"/>
              </a:ext>
            </a:extLst>
          </p:cNvPr>
          <p:cNvSpPr>
            <a:spLocks noGrp="1"/>
          </p:cNvSpPr>
          <p:nvPr/>
        </p:nvSpPr>
        <p:spPr>
          <a:xfrm>
            <a:off x="933450" y="6353175"/>
            <a:ext cx="857250" cy="209550"/>
          </a:xfrm>
          <a:prstGeom prst="rect">
            <a:avLst/>
          </a:prstGeom>
          <a:noFill/>
          <a:ln w="0">
            <a:noFill/>
            <a:prstDash val="solid"/>
          </a:ln>
        </p:spPr>
        <p:txBody>
          <a:bodyPr anchor="t"/>
          <a:lstStyle/>
          <a:p>
            <a:pPr algn="l">
              <a:buNone/>
              <a:defRPr sz="825" b="0">
                <a:solidFill>
                  <a:srgbClr val="2D3F4B"/>
                </a:solidFill>
                <a:latin typeface="Arial"/>
                <a:ea typeface="Arial"/>
                <a:cs typeface="Arial"/>
              </a:defRPr>
            </a:pPr>
            <a:r>
              <a:rPr sz="825" b="0">
                <a:solidFill>
                  <a:srgbClr val="2D3F4B"/>
                </a:solidFill>
                <a:latin typeface="Arial"/>
                <a:ea typeface="Arial"/>
                <a:cs typeface="Arial"/>
              </a:rPr>
              <a:t>04.08.2026</a:t>
            </a:r>
          </a:p>
        </p:txBody>
      </p:sp>
      <p:sp>
        <p:nvSpPr>
          <p:cNvPr id="7" name="group-A">
            <a:extLst>
              <a:ext uri="{FF2B5EF4-FFF2-40B4-BE49-F238E27FC236}">
                <a16:creationId xmlns:a16="http://schemas.microsoft.com/office/drawing/2014/main" id="{EC920C96-5295-4FDD-AFFA-13A35BF7F3C0}"/>
              </a:ext>
            </a:extLst>
          </p:cNvPr>
          <p:cNvSpPr>
            <a:spLocks noGrp="1"/>
          </p:cNvSpPr>
          <p:nvPr/>
        </p:nvSpPr>
        <p:spPr>
          <a:xfrm>
            <a:off x="571500" y="2143125"/>
            <a:ext cx="3286125" cy="2857500"/>
          </a:xfrm>
          <a:prstGeom prst="roundRect">
            <a:avLst>
              <a:gd name="adj" fmla="val 6000"/>
            </a:avLst>
          </a:prstGeom>
          <a:solidFill>
            <a:srgbClr val="EAE8E5"/>
          </a:solidFill>
          <a:ln w="11430">
            <a:solidFill>
              <a:srgbClr val="C3BBB2"/>
            </a:solidFill>
            <a:prstDash val="solid"/>
          </a:ln>
        </p:spPr>
        <p:txBody>
          <a:bodyPr/>
          <a:lstStyle/>
          <a:p>
            <a:endParaRPr/>
          </a:p>
        </p:txBody>
      </p:sp>
      <p:sp>
        <p:nvSpPr>
          <p:cNvPr id="8" name="group-A-circle">
            <a:extLst>
              <a:ext uri="{FF2B5EF4-FFF2-40B4-BE49-F238E27FC236}">
                <a16:creationId xmlns:a16="http://schemas.microsoft.com/office/drawing/2014/main" id="{850B0871-2BE2-439D-BCB3-4B2FC36B3F86}"/>
              </a:ext>
            </a:extLst>
          </p:cNvPr>
          <p:cNvSpPr>
            <a:spLocks noGrp="1"/>
          </p:cNvSpPr>
          <p:nvPr/>
        </p:nvSpPr>
        <p:spPr>
          <a:xfrm>
            <a:off x="762000" y="2333625"/>
            <a:ext cx="552450" cy="552450"/>
          </a:xfrm>
          <a:prstGeom prst="ellipse">
            <a:avLst/>
          </a:prstGeom>
          <a:solidFill>
            <a:srgbClr val="C60C30"/>
          </a:solidFill>
          <a:ln w="23813">
            <a:solidFill>
              <a:srgbClr val="FFFFFF"/>
            </a:solidFill>
            <a:prstDash val="solid"/>
          </a:ln>
        </p:spPr>
        <p:txBody>
          <a:bodyPr anchor="ctr"/>
          <a:lstStyle/>
          <a:p>
            <a:pPr algn="ctr">
              <a:buNone/>
              <a:defRPr sz="1800" b="1">
                <a:solidFill>
                  <a:srgbClr val="FFFFFF"/>
                </a:solidFill>
                <a:latin typeface="Arial"/>
                <a:ea typeface="Arial"/>
                <a:cs typeface="Arial"/>
              </a:defRPr>
            </a:pPr>
            <a:r>
              <a:rPr sz="1800" b="1">
                <a:solidFill>
                  <a:srgbClr val="FFFFFF"/>
                </a:solidFill>
                <a:latin typeface="Arial"/>
                <a:ea typeface="Arial"/>
                <a:cs typeface="Arial"/>
              </a:rPr>
              <a:t>A</a:t>
            </a:r>
          </a:p>
        </p:txBody>
      </p:sp>
      <p:sp>
        <p:nvSpPr>
          <p:cNvPr id="9" name="group-A-title">
            <a:extLst>
              <a:ext uri="{FF2B5EF4-FFF2-40B4-BE49-F238E27FC236}">
                <a16:creationId xmlns:a16="http://schemas.microsoft.com/office/drawing/2014/main" id="{25A4E71B-24F7-4B6A-85F0-8283D10FF878}"/>
              </a:ext>
            </a:extLst>
          </p:cNvPr>
          <p:cNvSpPr>
            <a:spLocks noGrp="1"/>
          </p:cNvSpPr>
          <p:nvPr/>
        </p:nvSpPr>
        <p:spPr>
          <a:xfrm>
            <a:off x="1447800" y="2362200"/>
            <a:ext cx="2095500" cy="285750"/>
          </a:xfrm>
          <a:prstGeom prst="rect">
            <a:avLst/>
          </a:prstGeom>
          <a:noFill/>
          <a:ln w="0">
            <a:noFill/>
            <a:prstDash val="solid"/>
          </a:ln>
        </p:spPr>
        <p:txBody>
          <a:bodyPr anchor="t"/>
          <a:lstStyle/>
          <a:p>
            <a:pPr algn="l">
              <a:buNone/>
              <a:defRPr sz="1650" b="1">
                <a:solidFill>
                  <a:srgbClr val="C60C30"/>
                </a:solidFill>
                <a:latin typeface="Arial"/>
                <a:ea typeface="Arial"/>
                <a:cs typeface="Arial"/>
              </a:defRPr>
            </a:pPr>
            <a:r>
              <a:rPr sz="1650" b="1">
                <a:solidFill>
                  <a:srgbClr val="C60C30"/>
                </a:solidFill>
                <a:latin typeface="Arial"/>
                <a:ea typeface="Arial"/>
                <a:cs typeface="Arial"/>
              </a:rPr>
              <a:t>CHUNKING</a:t>
            </a:r>
          </a:p>
        </p:txBody>
      </p:sp>
      <p:sp>
        <p:nvSpPr>
          <p:cNvPr id="10" name="group-A-cmd">
            <a:extLst>
              <a:ext uri="{FF2B5EF4-FFF2-40B4-BE49-F238E27FC236}">
                <a16:creationId xmlns:a16="http://schemas.microsoft.com/office/drawing/2014/main" id="{C674CE20-CB53-4813-A7CF-E06B1F0558B8}"/>
              </a:ext>
            </a:extLst>
          </p:cNvPr>
          <p:cNvSpPr>
            <a:spLocks noGrp="1"/>
          </p:cNvSpPr>
          <p:nvPr/>
        </p:nvSpPr>
        <p:spPr>
          <a:xfrm>
            <a:off x="762000" y="3000375"/>
            <a:ext cx="2905125" cy="428625"/>
          </a:xfrm>
          <a:prstGeom prst="roundRect">
            <a:avLst>
              <a:gd name="adj" fmla="val 22222"/>
            </a:avLst>
          </a:prstGeom>
          <a:solidFill>
            <a:srgbClr val="2D3F4B"/>
          </a:solidFill>
          <a:ln w="0">
            <a:solidFill>
              <a:srgbClr val="2D3F4B"/>
            </a:solidFill>
            <a:prstDash val="solid"/>
          </a:ln>
        </p:spPr>
        <p:txBody>
          <a:bodyPr/>
          <a:lstStyle/>
          <a:p>
            <a:endParaRPr/>
          </a:p>
        </p:txBody>
      </p:sp>
      <p:sp>
        <p:nvSpPr>
          <p:cNvPr id="11" name="group-A-cmd-text">
            <a:extLst>
              <a:ext uri="{FF2B5EF4-FFF2-40B4-BE49-F238E27FC236}">
                <a16:creationId xmlns:a16="http://schemas.microsoft.com/office/drawing/2014/main" id="{A74ECB2F-9423-4AF5-BFEB-3B514146449B}"/>
              </a:ext>
            </a:extLst>
          </p:cNvPr>
          <p:cNvSpPr>
            <a:spLocks noGrp="1"/>
          </p:cNvSpPr>
          <p:nvPr/>
        </p:nvSpPr>
        <p:spPr>
          <a:xfrm>
            <a:off x="857250" y="3095625"/>
            <a:ext cx="2714625" cy="238125"/>
          </a:xfrm>
          <a:prstGeom prst="rect">
            <a:avLst/>
          </a:prstGeom>
          <a:noFill/>
          <a:ln w="0">
            <a:noFill/>
            <a:prstDash val="solid"/>
          </a:ln>
        </p:spPr>
        <p:txBody>
          <a:bodyPr anchor="t"/>
          <a:lstStyle/>
          <a:p>
            <a:pPr algn="ctr">
              <a:buNone/>
              <a:defRPr sz="1125" b="1">
                <a:solidFill>
                  <a:srgbClr val="FFFFFF"/>
                </a:solidFill>
                <a:latin typeface="Arial"/>
                <a:ea typeface="Arial"/>
                <a:cs typeface="Arial"/>
              </a:defRPr>
            </a:pPr>
            <a:r>
              <a:rPr sz="1125" b="1">
                <a:solidFill>
                  <a:srgbClr val="FFFFFF"/>
                </a:solidFill>
                <a:latin typeface="Arial"/>
                <a:ea typeface="Arial"/>
                <a:cs typeface="Arial"/>
              </a:rPr>
              <a:t>rag-3a-ingest.py --dry-run</a:t>
            </a:r>
          </a:p>
        </p:txBody>
      </p:sp>
      <p:sp>
        <p:nvSpPr>
          <p:cNvPr id="12" name="group-A-steps">
            <a:extLst>
              <a:ext uri="{FF2B5EF4-FFF2-40B4-BE49-F238E27FC236}">
                <a16:creationId xmlns:a16="http://schemas.microsoft.com/office/drawing/2014/main" id="{8074F7A1-356D-42A3-A660-1021FFDCF85F}"/>
              </a:ext>
            </a:extLst>
          </p:cNvPr>
          <p:cNvSpPr>
            <a:spLocks noGrp="1"/>
          </p:cNvSpPr>
          <p:nvPr/>
        </p:nvSpPr>
        <p:spPr>
          <a:xfrm>
            <a:off x="838200" y="3714750"/>
            <a:ext cx="2762250" cy="1000125"/>
          </a:xfrm>
          <a:prstGeom prst="rect">
            <a:avLst/>
          </a:prstGeom>
          <a:noFill/>
          <a:ln w="0">
            <a:noFill/>
            <a:prstDash val="solid"/>
          </a:ln>
        </p:spPr>
        <p:txBody>
          <a:bodyPr anchor="t"/>
          <a:lstStyle/>
          <a:p>
            <a:pPr algn="l">
              <a:buNone/>
              <a:defRPr sz="1425" b="0">
                <a:solidFill>
                  <a:srgbClr val="2D3F4B"/>
                </a:solidFill>
                <a:latin typeface="Arial"/>
                <a:ea typeface="Arial"/>
                <a:cs typeface="Arial"/>
              </a:defRPr>
            </a:pPr>
            <a:r>
              <a:rPr sz="1425" b="0">
                <a:solidFill>
                  <a:srgbClr val="2D3F4B"/>
                </a:solidFill>
                <a:latin typeface="Arial"/>
                <a:ea typeface="Arial"/>
                <a:cs typeface="Arial"/>
              </a:rPr>
              <a:t>3 Chunks prüfen</a:t>
            </a:r>
          </a:p>
          <a:p>
            <a:pPr algn="l">
              <a:buNone/>
              <a:defRPr sz="1425" b="0">
                <a:solidFill>
                  <a:srgbClr val="2D3F4B"/>
                </a:solidFill>
                <a:latin typeface="Arial"/>
                <a:ea typeface="Arial"/>
                <a:cs typeface="Arial"/>
              </a:defRPr>
            </a:pPr>
            <a:r>
              <a:rPr sz="1425" b="0">
                <a:solidFill>
                  <a:srgbClr val="2D3F4B"/>
                </a:solidFill>
                <a:latin typeface="Arial"/>
                <a:ea typeface="Arial"/>
                <a:cs typeface="Arial"/>
              </a:rPr>
              <a:t>Satz-/Artikelgrenzen markieren</a:t>
            </a:r>
          </a:p>
          <a:p>
            <a:pPr algn="l">
              <a:buNone/>
              <a:defRPr sz="1425" b="0">
                <a:solidFill>
                  <a:srgbClr val="2D3F4B"/>
                </a:solidFill>
                <a:latin typeface="Arial"/>
                <a:ea typeface="Arial"/>
                <a:cs typeface="Arial"/>
              </a:defRPr>
            </a:pPr>
            <a:r>
              <a:rPr sz="1425" b="0">
                <a:solidFill>
                  <a:srgbClr val="2D3F4B"/>
                </a:solidFill>
                <a:latin typeface="Arial"/>
                <a:ea typeface="Arial"/>
                <a:cs typeface="Arial"/>
              </a:rPr>
              <a:t>Rauschen benennen</a:t>
            </a:r>
          </a:p>
        </p:txBody>
      </p:sp>
      <p:sp>
        <p:nvSpPr>
          <p:cNvPr id="13" name="group-B">
            <a:extLst>
              <a:ext uri="{FF2B5EF4-FFF2-40B4-BE49-F238E27FC236}">
                <a16:creationId xmlns:a16="http://schemas.microsoft.com/office/drawing/2014/main" id="{300F9B10-87A9-44F1-A7FD-E55CB172AA3A}"/>
              </a:ext>
            </a:extLst>
          </p:cNvPr>
          <p:cNvSpPr>
            <a:spLocks noGrp="1"/>
          </p:cNvSpPr>
          <p:nvPr/>
        </p:nvSpPr>
        <p:spPr>
          <a:xfrm>
            <a:off x="4143375" y="2143125"/>
            <a:ext cx="3286125" cy="2857500"/>
          </a:xfrm>
          <a:prstGeom prst="roundRect">
            <a:avLst>
              <a:gd name="adj" fmla="val 6000"/>
            </a:avLst>
          </a:prstGeom>
          <a:solidFill>
            <a:srgbClr val="EAE8E5"/>
          </a:solidFill>
          <a:ln w="11430">
            <a:solidFill>
              <a:srgbClr val="C3BBB2"/>
            </a:solidFill>
            <a:prstDash val="solid"/>
          </a:ln>
        </p:spPr>
        <p:txBody>
          <a:bodyPr/>
          <a:lstStyle/>
          <a:p>
            <a:endParaRPr/>
          </a:p>
        </p:txBody>
      </p:sp>
      <p:sp>
        <p:nvSpPr>
          <p:cNvPr id="14" name="group-B-circle">
            <a:extLst>
              <a:ext uri="{FF2B5EF4-FFF2-40B4-BE49-F238E27FC236}">
                <a16:creationId xmlns:a16="http://schemas.microsoft.com/office/drawing/2014/main" id="{04DD9E87-3637-4802-80B9-887E2116B43C}"/>
              </a:ext>
            </a:extLst>
          </p:cNvPr>
          <p:cNvSpPr>
            <a:spLocks noGrp="1"/>
          </p:cNvSpPr>
          <p:nvPr/>
        </p:nvSpPr>
        <p:spPr>
          <a:xfrm>
            <a:off x="4333875" y="2333625"/>
            <a:ext cx="552450" cy="552450"/>
          </a:xfrm>
          <a:prstGeom prst="ellipse">
            <a:avLst/>
          </a:prstGeom>
          <a:solidFill>
            <a:srgbClr val="43858A"/>
          </a:solidFill>
          <a:ln w="23813">
            <a:solidFill>
              <a:srgbClr val="FFFFFF"/>
            </a:solidFill>
            <a:prstDash val="solid"/>
          </a:ln>
        </p:spPr>
        <p:txBody>
          <a:bodyPr anchor="ctr"/>
          <a:lstStyle/>
          <a:p>
            <a:pPr algn="ctr">
              <a:buNone/>
              <a:defRPr sz="1800" b="1">
                <a:solidFill>
                  <a:srgbClr val="FFFFFF"/>
                </a:solidFill>
                <a:latin typeface="Arial"/>
                <a:ea typeface="Arial"/>
                <a:cs typeface="Arial"/>
              </a:defRPr>
            </a:pPr>
            <a:r>
              <a:rPr sz="1800" b="1">
                <a:solidFill>
                  <a:srgbClr val="FFFFFF"/>
                </a:solidFill>
                <a:latin typeface="Arial"/>
                <a:ea typeface="Arial"/>
                <a:cs typeface="Arial"/>
              </a:rPr>
              <a:t>B</a:t>
            </a:r>
          </a:p>
        </p:txBody>
      </p:sp>
      <p:sp>
        <p:nvSpPr>
          <p:cNvPr id="15" name="group-B-title">
            <a:extLst>
              <a:ext uri="{FF2B5EF4-FFF2-40B4-BE49-F238E27FC236}">
                <a16:creationId xmlns:a16="http://schemas.microsoft.com/office/drawing/2014/main" id="{C9771E63-35EE-46B2-9E76-70B5FF6052EB}"/>
              </a:ext>
            </a:extLst>
          </p:cNvPr>
          <p:cNvSpPr>
            <a:spLocks noGrp="1"/>
          </p:cNvSpPr>
          <p:nvPr/>
        </p:nvSpPr>
        <p:spPr>
          <a:xfrm>
            <a:off x="5019675" y="2362200"/>
            <a:ext cx="2095500" cy="285750"/>
          </a:xfrm>
          <a:prstGeom prst="rect">
            <a:avLst/>
          </a:prstGeom>
          <a:noFill/>
          <a:ln w="0">
            <a:noFill/>
            <a:prstDash val="solid"/>
          </a:ln>
        </p:spPr>
        <p:txBody>
          <a:bodyPr anchor="t"/>
          <a:lstStyle/>
          <a:p>
            <a:pPr algn="l">
              <a:buNone/>
              <a:defRPr sz="1650" b="1">
                <a:solidFill>
                  <a:srgbClr val="43858A"/>
                </a:solidFill>
                <a:latin typeface="Arial"/>
                <a:ea typeface="Arial"/>
                <a:cs typeface="Arial"/>
              </a:defRPr>
            </a:pPr>
            <a:r>
              <a:rPr sz="1650" b="1">
                <a:solidFill>
                  <a:srgbClr val="43858A"/>
                </a:solidFill>
                <a:latin typeface="Arial"/>
                <a:ea typeface="Arial"/>
                <a:cs typeface="Arial"/>
              </a:rPr>
              <a:t>RERANKING</a:t>
            </a:r>
          </a:p>
        </p:txBody>
      </p:sp>
      <p:sp>
        <p:nvSpPr>
          <p:cNvPr id="16" name="group-B-cmd">
            <a:extLst>
              <a:ext uri="{FF2B5EF4-FFF2-40B4-BE49-F238E27FC236}">
                <a16:creationId xmlns:a16="http://schemas.microsoft.com/office/drawing/2014/main" id="{80BDC8F3-A090-45DA-8ACB-04D1480F9BA1}"/>
              </a:ext>
            </a:extLst>
          </p:cNvPr>
          <p:cNvSpPr>
            <a:spLocks noGrp="1"/>
          </p:cNvSpPr>
          <p:nvPr/>
        </p:nvSpPr>
        <p:spPr>
          <a:xfrm>
            <a:off x="4333875" y="3000375"/>
            <a:ext cx="2905125" cy="428625"/>
          </a:xfrm>
          <a:prstGeom prst="roundRect">
            <a:avLst>
              <a:gd name="adj" fmla="val 22222"/>
            </a:avLst>
          </a:prstGeom>
          <a:solidFill>
            <a:srgbClr val="2D3F4B"/>
          </a:solidFill>
          <a:ln w="0">
            <a:solidFill>
              <a:srgbClr val="2D3F4B"/>
            </a:solidFill>
            <a:prstDash val="solid"/>
          </a:ln>
        </p:spPr>
        <p:txBody>
          <a:bodyPr/>
          <a:lstStyle/>
          <a:p>
            <a:endParaRPr/>
          </a:p>
        </p:txBody>
      </p:sp>
      <p:sp>
        <p:nvSpPr>
          <p:cNvPr id="17" name="group-B-cmd-text">
            <a:extLst>
              <a:ext uri="{FF2B5EF4-FFF2-40B4-BE49-F238E27FC236}">
                <a16:creationId xmlns:a16="http://schemas.microsoft.com/office/drawing/2014/main" id="{48EFDDD9-A70D-4642-838F-814277314702}"/>
              </a:ext>
            </a:extLst>
          </p:cNvPr>
          <p:cNvSpPr>
            <a:spLocks noGrp="1"/>
          </p:cNvSpPr>
          <p:nvPr/>
        </p:nvSpPr>
        <p:spPr>
          <a:xfrm>
            <a:off x="4429125" y="3095625"/>
            <a:ext cx="2714625" cy="238125"/>
          </a:xfrm>
          <a:prstGeom prst="rect">
            <a:avLst/>
          </a:prstGeom>
          <a:noFill/>
          <a:ln w="0">
            <a:noFill/>
            <a:prstDash val="solid"/>
          </a:ln>
        </p:spPr>
        <p:txBody>
          <a:bodyPr anchor="t"/>
          <a:lstStyle/>
          <a:p>
            <a:pPr algn="ctr">
              <a:buNone/>
              <a:defRPr sz="1125" b="1">
                <a:solidFill>
                  <a:srgbClr val="FFFFFF"/>
                </a:solidFill>
                <a:latin typeface="Arial"/>
                <a:ea typeface="Arial"/>
                <a:cs typeface="Arial"/>
              </a:defRPr>
            </a:pPr>
            <a:r>
              <a:rPr sz="1125" b="1">
                <a:solidFill>
                  <a:srgbClr val="FFFFFF"/>
                </a:solidFill>
                <a:latin typeface="Arial"/>
                <a:ea typeface="Arial"/>
                <a:cs typeface="Arial"/>
              </a:rPr>
              <a:t>rag-3b vs. rag-3c</a:t>
            </a:r>
          </a:p>
        </p:txBody>
      </p:sp>
      <p:sp>
        <p:nvSpPr>
          <p:cNvPr id="18" name="group-B-steps">
            <a:extLst>
              <a:ext uri="{FF2B5EF4-FFF2-40B4-BE49-F238E27FC236}">
                <a16:creationId xmlns:a16="http://schemas.microsoft.com/office/drawing/2014/main" id="{1AFABA19-4829-4EC5-BED9-4FC81EBD27C7}"/>
              </a:ext>
            </a:extLst>
          </p:cNvPr>
          <p:cNvSpPr>
            <a:spLocks noGrp="1"/>
          </p:cNvSpPr>
          <p:nvPr/>
        </p:nvSpPr>
        <p:spPr>
          <a:xfrm>
            <a:off x="4410075" y="3714750"/>
            <a:ext cx="2762250" cy="1000125"/>
          </a:xfrm>
          <a:prstGeom prst="rect">
            <a:avLst/>
          </a:prstGeom>
          <a:noFill/>
          <a:ln w="0">
            <a:noFill/>
            <a:prstDash val="solid"/>
          </a:ln>
        </p:spPr>
        <p:txBody>
          <a:bodyPr anchor="t"/>
          <a:lstStyle/>
          <a:p>
            <a:pPr algn="l">
              <a:buNone/>
              <a:defRPr sz="1425" b="0">
                <a:solidFill>
                  <a:srgbClr val="2D3F4B"/>
                </a:solidFill>
                <a:latin typeface="Arial"/>
                <a:ea typeface="Arial"/>
                <a:cs typeface="Arial"/>
              </a:defRPr>
            </a:pPr>
            <a:r>
              <a:rPr sz="1425" b="0">
                <a:solidFill>
                  <a:srgbClr val="2D3F4B"/>
                </a:solidFill>
                <a:latin typeface="Arial"/>
                <a:ea typeface="Arial"/>
                <a:cs typeface="Arial"/>
              </a:rPr>
              <a:t>gleiche Frage verwenden</a:t>
            </a:r>
          </a:p>
          <a:p>
            <a:pPr algn="l">
              <a:buNone/>
              <a:defRPr sz="1425" b="0">
                <a:solidFill>
                  <a:srgbClr val="2D3F4B"/>
                </a:solidFill>
                <a:latin typeface="Arial"/>
                <a:ea typeface="Arial"/>
                <a:cs typeface="Arial"/>
              </a:defRPr>
            </a:pPr>
            <a:r>
              <a:rPr sz="1425" b="0">
                <a:solidFill>
                  <a:srgbClr val="2D3F4B"/>
                </a:solidFill>
                <a:latin typeface="Arial"/>
                <a:ea typeface="Arial"/>
                <a:cs typeface="Arial"/>
              </a:rPr>
              <a:t>Vector- und Rerank-Rang vergleichen</a:t>
            </a:r>
          </a:p>
          <a:p>
            <a:pPr algn="l">
              <a:buNone/>
              <a:defRPr sz="1425" b="0">
                <a:solidFill>
                  <a:srgbClr val="2D3F4B"/>
                </a:solidFill>
                <a:latin typeface="Arial"/>
                <a:ea typeface="Arial"/>
                <a:cs typeface="Arial"/>
              </a:defRPr>
            </a:pPr>
            <a:r>
              <a:rPr sz="1425" b="0">
                <a:solidFill>
                  <a:srgbClr val="2D3F4B"/>
                </a:solidFill>
                <a:latin typeface="Arial"/>
                <a:ea typeface="Arial"/>
                <a:cs typeface="Arial"/>
              </a:rPr>
              <a:t>Recall-Grenze benennen</a:t>
            </a:r>
          </a:p>
        </p:txBody>
      </p:sp>
      <p:sp>
        <p:nvSpPr>
          <p:cNvPr id="19" name="group-C">
            <a:extLst>
              <a:ext uri="{FF2B5EF4-FFF2-40B4-BE49-F238E27FC236}">
                <a16:creationId xmlns:a16="http://schemas.microsoft.com/office/drawing/2014/main" id="{4BF2D0CF-269B-4C1A-A991-8138B0BD86DE}"/>
              </a:ext>
            </a:extLst>
          </p:cNvPr>
          <p:cNvSpPr>
            <a:spLocks noGrp="1"/>
          </p:cNvSpPr>
          <p:nvPr/>
        </p:nvSpPr>
        <p:spPr>
          <a:xfrm>
            <a:off x="7715250" y="2143125"/>
            <a:ext cx="3286125" cy="2857500"/>
          </a:xfrm>
          <a:prstGeom prst="roundRect">
            <a:avLst>
              <a:gd name="adj" fmla="val 6000"/>
            </a:avLst>
          </a:prstGeom>
          <a:solidFill>
            <a:srgbClr val="EAE8E5"/>
          </a:solidFill>
          <a:ln w="11430">
            <a:solidFill>
              <a:srgbClr val="C3BBB2"/>
            </a:solidFill>
            <a:prstDash val="solid"/>
          </a:ln>
        </p:spPr>
        <p:txBody>
          <a:bodyPr/>
          <a:lstStyle/>
          <a:p>
            <a:endParaRPr/>
          </a:p>
        </p:txBody>
      </p:sp>
      <p:sp>
        <p:nvSpPr>
          <p:cNvPr id="20" name="group-C-circle">
            <a:extLst>
              <a:ext uri="{FF2B5EF4-FFF2-40B4-BE49-F238E27FC236}">
                <a16:creationId xmlns:a16="http://schemas.microsoft.com/office/drawing/2014/main" id="{E479CC1C-5C8C-4E72-8DD0-5DF24AEA68ED}"/>
              </a:ext>
            </a:extLst>
          </p:cNvPr>
          <p:cNvSpPr>
            <a:spLocks noGrp="1"/>
          </p:cNvSpPr>
          <p:nvPr/>
        </p:nvSpPr>
        <p:spPr>
          <a:xfrm>
            <a:off x="7905750" y="2333625"/>
            <a:ext cx="552450" cy="552450"/>
          </a:xfrm>
          <a:prstGeom prst="ellipse">
            <a:avLst/>
          </a:prstGeom>
          <a:solidFill>
            <a:srgbClr val="C9960F"/>
          </a:solidFill>
          <a:ln w="23813">
            <a:solidFill>
              <a:srgbClr val="FFFFFF"/>
            </a:solidFill>
            <a:prstDash val="solid"/>
          </a:ln>
        </p:spPr>
        <p:txBody>
          <a:bodyPr anchor="ctr"/>
          <a:lstStyle/>
          <a:p>
            <a:pPr algn="ctr">
              <a:buNone/>
              <a:defRPr sz="1800" b="1">
                <a:solidFill>
                  <a:srgbClr val="FFFFFF"/>
                </a:solidFill>
                <a:latin typeface="Arial"/>
                <a:ea typeface="Arial"/>
                <a:cs typeface="Arial"/>
              </a:defRPr>
            </a:pPr>
            <a:r>
              <a:rPr sz="1800" b="1">
                <a:solidFill>
                  <a:srgbClr val="FFFFFF"/>
                </a:solidFill>
                <a:latin typeface="Arial"/>
                <a:ea typeface="Arial"/>
                <a:cs typeface="Arial"/>
              </a:rPr>
              <a:t>C</a:t>
            </a:r>
          </a:p>
        </p:txBody>
      </p:sp>
      <p:sp>
        <p:nvSpPr>
          <p:cNvPr id="21" name="group-C-title">
            <a:extLst>
              <a:ext uri="{FF2B5EF4-FFF2-40B4-BE49-F238E27FC236}">
                <a16:creationId xmlns:a16="http://schemas.microsoft.com/office/drawing/2014/main" id="{3F8F19D1-1D63-4972-83AE-65B8598154D9}"/>
              </a:ext>
            </a:extLst>
          </p:cNvPr>
          <p:cNvSpPr>
            <a:spLocks noGrp="1"/>
          </p:cNvSpPr>
          <p:nvPr/>
        </p:nvSpPr>
        <p:spPr>
          <a:xfrm>
            <a:off x="8591550" y="2362200"/>
            <a:ext cx="2095500" cy="285750"/>
          </a:xfrm>
          <a:prstGeom prst="rect">
            <a:avLst/>
          </a:prstGeom>
          <a:noFill/>
          <a:ln w="0">
            <a:noFill/>
            <a:prstDash val="solid"/>
          </a:ln>
        </p:spPr>
        <p:txBody>
          <a:bodyPr anchor="t"/>
          <a:lstStyle/>
          <a:p>
            <a:pPr algn="l">
              <a:buNone/>
              <a:defRPr sz="1650" b="1">
                <a:solidFill>
                  <a:srgbClr val="C9960F"/>
                </a:solidFill>
                <a:latin typeface="Arial"/>
                <a:ea typeface="Arial"/>
                <a:cs typeface="Arial"/>
              </a:defRPr>
            </a:pPr>
            <a:r>
              <a:rPr sz="1650" b="1">
                <a:solidFill>
                  <a:srgbClr val="C9960F"/>
                </a:solidFill>
                <a:latin typeface="Arial"/>
                <a:ea typeface="Arial"/>
                <a:cs typeface="Arial"/>
              </a:rPr>
              <a:t>GRAPH + EVAL</a:t>
            </a:r>
          </a:p>
        </p:txBody>
      </p:sp>
      <p:sp>
        <p:nvSpPr>
          <p:cNvPr id="22" name="group-C-cmd">
            <a:extLst>
              <a:ext uri="{FF2B5EF4-FFF2-40B4-BE49-F238E27FC236}">
                <a16:creationId xmlns:a16="http://schemas.microsoft.com/office/drawing/2014/main" id="{FB97BB89-001E-4F47-86E7-A9F7ED630D5A}"/>
              </a:ext>
            </a:extLst>
          </p:cNvPr>
          <p:cNvSpPr>
            <a:spLocks noGrp="1"/>
          </p:cNvSpPr>
          <p:nvPr/>
        </p:nvSpPr>
        <p:spPr>
          <a:xfrm>
            <a:off x="7905750" y="3000375"/>
            <a:ext cx="2905125" cy="428625"/>
          </a:xfrm>
          <a:prstGeom prst="roundRect">
            <a:avLst>
              <a:gd name="adj" fmla="val 22222"/>
            </a:avLst>
          </a:prstGeom>
          <a:solidFill>
            <a:srgbClr val="2D3F4B"/>
          </a:solidFill>
          <a:ln w="0">
            <a:solidFill>
              <a:srgbClr val="2D3F4B"/>
            </a:solidFill>
            <a:prstDash val="solid"/>
          </a:ln>
        </p:spPr>
        <p:txBody>
          <a:bodyPr/>
          <a:lstStyle/>
          <a:p>
            <a:endParaRPr/>
          </a:p>
        </p:txBody>
      </p:sp>
      <p:sp>
        <p:nvSpPr>
          <p:cNvPr id="23" name="group-C-cmd-text">
            <a:extLst>
              <a:ext uri="{FF2B5EF4-FFF2-40B4-BE49-F238E27FC236}">
                <a16:creationId xmlns:a16="http://schemas.microsoft.com/office/drawing/2014/main" id="{484FB4AE-F334-410B-ACF9-0B95576ECBA5}"/>
              </a:ext>
            </a:extLst>
          </p:cNvPr>
          <p:cNvSpPr>
            <a:spLocks noGrp="1"/>
          </p:cNvSpPr>
          <p:nvPr/>
        </p:nvSpPr>
        <p:spPr>
          <a:xfrm>
            <a:off x="8001000" y="3095625"/>
            <a:ext cx="2714625" cy="238125"/>
          </a:xfrm>
          <a:prstGeom prst="rect">
            <a:avLst/>
          </a:prstGeom>
          <a:noFill/>
          <a:ln w="0">
            <a:noFill/>
            <a:prstDash val="solid"/>
          </a:ln>
        </p:spPr>
        <p:txBody>
          <a:bodyPr anchor="t"/>
          <a:lstStyle/>
          <a:p>
            <a:pPr algn="ctr">
              <a:buNone/>
              <a:defRPr sz="1125" b="1">
                <a:solidFill>
                  <a:srgbClr val="FFFFFF"/>
                </a:solidFill>
                <a:latin typeface="Arial"/>
                <a:ea typeface="Arial"/>
                <a:cs typeface="Arial"/>
              </a:defRPr>
            </a:pPr>
            <a:r>
              <a:rPr sz="1125" b="1">
                <a:solidFill>
                  <a:srgbClr val="FFFFFF"/>
                </a:solidFill>
                <a:latin typeface="Arial"/>
                <a:ea typeface="Arial"/>
                <a:cs typeface="Arial"/>
              </a:rPr>
              <a:t>rag-4b-chat.py / evaluate.py</a:t>
            </a:r>
          </a:p>
        </p:txBody>
      </p:sp>
      <p:sp>
        <p:nvSpPr>
          <p:cNvPr id="24" name="group-C-steps">
            <a:extLst>
              <a:ext uri="{FF2B5EF4-FFF2-40B4-BE49-F238E27FC236}">
                <a16:creationId xmlns:a16="http://schemas.microsoft.com/office/drawing/2014/main" id="{5478C050-1666-4E0D-95D8-CE130572D0E5}"/>
              </a:ext>
            </a:extLst>
          </p:cNvPr>
          <p:cNvSpPr>
            <a:spLocks noGrp="1"/>
          </p:cNvSpPr>
          <p:nvPr/>
        </p:nvSpPr>
        <p:spPr>
          <a:xfrm>
            <a:off x="7981950" y="3714750"/>
            <a:ext cx="2762250" cy="1000125"/>
          </a:xfrm>
          <a:prstGeom prst="rect">
            <a:avLst/>
          </a:prstGeom>
          <a:noFill/>
          <a:ln w="0">
            <a:noFill/>
            <a:prstDash val="solid"/>
          </a:ln>
        </p:spPr>
        <p:txBody>
          <a:bodyPr anchor="t"/>
          <a:lstStyle/>
          <a:p>
            <a:pPr algn="l">
              <a:buNone/>
              <a:defRPr sz="1425" b="0">
                <a:solidFill>
                  <a:srgbClr val="2D3F4B"/>
                </a:solidFill>
                <a:latin typeface="Arial"/>
                <a:ea typeface="Arial"/>
                <a:cs typeface="Arial"/>
              </a:defRPr>
            </a:pPr>
            <a:r>
              <a:rPr sz="1425" b="0">
                <a:solidFill>
                  <a:srgbClr val="2D3F4B"/>
                </a:solidFill>
                <a:latin typeface="Arial"/>
                <a:ea typeface="Arial"/>
                <a:cs typeface="Arial"/>
              </a:rPr>
              <a:t>Referenzfrage testen</a:t>
            </a:r>
          </a:p>
          <a:p>
            <a:pPr algn="l">
              <a:buNone/>
              <a:defRPr sz="1425" b="0">
                <a:solidFill>
                  <a:srgbClr val="2D3F4B"/>
                </a:solidFill>
                <a:latin typeface="Arial"/>
                <a:ea typeface="Arial"/>
                <a:cs typeface="Arial"/>
              </a:defRPr>
            </a:pPr>
            <a:r>
              <a:rPr sz="1425" b="0">
                <a:solidFill>
                  <a:srgbClr val="2D3F4B"/>
                </a:solidFill>
                <a:latin typeface="Arial"/>
                <a:ea typeface="Arial"/>
                <a:cs typeface="Arial"/>
              </a:rPr>
              <a:t>Vector und Graph vergleichen</a:t>
            </a:r>
          </a:p>
          <a:p>
            <a:pPr algn="l">
              <a:buNone/>
              <a:defRPr sz="1425" b="0">
                <a:solidFill>
                  <a:srgbClr val="2D3F4B"/>
                </a:solidFill>
                <a:latin typeface="Arial"/>
                <a:ea typeface="Arial"/>
                <a:cs typeface="Arial"/>
              </a:defRPr>
            </a:pPr>
            <a:r>
              <a:rPr sz="1425" b="0">
                <a:solidFill>
                  <a:srgbClr val="2D3F4B"/>
                </a:solidFill>
                <a:latin typeface="Arial"/>
                <a:ea typeface="Arial"/>
                <a:cs typeface="Arial"/>
              </a:rPr>
              <a:t>Token-Trade-off erklären</a:t>
            </a:r>
          </a:p>
        </p:txBody>
      </p:sp>
      <p:sp>
        <p:nvSpPr>
          <p:cNvPr id="25" name="group-output">
            <a:extLst>
              <a:ext uri="{FF2B5EF4-FFF2-40B4-BE49-F238E27FC236}">
                <a16:creationId xmlns:a16="http://schemas.microsoft.com/office/drawing/2014/main" id="{52A6162D-5932-436E-A042-07A49271FBD3}"/>
              </a:ext>
            </a:extLst>
          </p:cNvPr>
          <p:cNvSpPr>
            <a:spLocks noGrp="1"/>
          </p:cNvSpPr>
          <p:nvPr/>
        </p:nvSpPr>
        <p:spPr>
          <a:xfrm>
            <a:off x="2190750" y="5286375"/>
            <a:ext cx="7810500" cy="571500"/>
          </a:xfrm>
          <a:prstGeom prst="roundRect">
            <a:avLst>
              <a:gd name="adj" fmla="val 25000"/>
            </a:avLst>
          </a:prstGeom>
          <a:solidFill>
            <a:srgbClr val="2D3F4B"/>
          </a:solidFill>
          <a:ln w="0">
            <a:solidFill>
              <a:srgbClr val="2D3F4B"/>
            </a:solidFill>
            <a:prstDash val="solid"/>
          </a:ln>
        </p:spPr>
        <p:txBody>
          <a:bodyPr/>
          <a:lstStyle/>
          <a:p>
            <a:endParaRPr/>
          </a:p>
        </p:txBody>
      </p:sp>
      <p:sp>
        <p:nvSpPr>
          <p:cNvPr id="26" name="group-output-text">
            <a:extLst>
              <a:ext uri="{FF2B5EF4-FFF2-40B4-BE49-F238E27FC236}">
                <a16:creationId xmlns:a16="http://schemas.microsoft.com/office/drawing/2014/main" id="{9C814ADF-AAEF-44FB-9C55-E660AF5CD6C7}"/>
              </a:ext>
            </a:extLst>
          </p:cNvPr>
          <p:cNvSpPr>
            <a:spLocks noGrp="1"/>
          </p:cNvSpPr>
          <p:nvPr/>
        </p:nvSpPr>
        <p:spPr>
          <a:xfrm>
            <a:off x="2428875" y="5410200"/>
            <a:ext cx="7334250" cy="323850"/>
          </a:xfrm>
          <a:prstGeom prst="rect">
            <a:avLst/>
          </a:prstGeom>
          <a:noFill/>
          <a:ln w="0">
            <a:noFill/>
            <a:prstDash val="solid"/>
          </a:ln>
        </p:spPr>
        <p:txBody>
          <a:bodyPr anchor="ctr"/>
          <a:lstStyle/>
          <a:p>
            <a:pPr algn="ctr">
              <a:buNone/>
              <a:defRPr sz="1425" b="1">
                <a:solidFill>
                  <a:srgbClr val="FFFFFF"/>
                </a:solidFill>
                <a:latin typeface="Arial"/>
                <a:ea typeface="Arial"/>
                <a:cs typeface="Arial"/>
              </a:defRPr>
            </a:pPr>
            <a:r>
              <a:rPr sz="1425" b="1">
                <a:solidFill>
                  <a:srgbClr val="FFFFFF"/>
                </a:solidFill>
                <a:latin typeface="Arial"/>
                <a:ea typeface="Arial"/>
                <a:cs typeface="Arial"/>
              </a:rPr>
              <a:t>Output: besser · schlechter · verbleibende Grenze</a:t>
            </a:r>
          </a:p>
        </p:txBody>
      </p:sp>
    </p:spTree>
    <p:extLst>
      <p:ext uri="{BB962C8B-B14F-4D97-AF65-F5344CB8AC3E}">
        <p14:creationId xmlns:p14="http://schemas.microsoft.com/office/powerpoint/2010/main" val="5517268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a:extLst>
              <a:ext uri="{FF2B5EF4-FFF2-40B4-BE49-F238E27FC236}">
                <a16:creationId xmlns:a16="http://schemas.microsoft.com/office/drawing/2014/main" id="{EDAA12F4-DD2B-4E05-B0F5-F6000E07CF9A}"/>
              </a:ext>
            </a:extLst>
          </p:cNvPr>
          <p:cNvSpPr>
            <a:spLocks noGrp="1"/>
          </p:cNvSpPr>
          <p:nvPr/>
        </p:nvSpPr>
        <p:spPr>
          <a:xfrm>
            <a:off x="476250" y="333375"/>
            <a:ext cx="11239500" cy="714375"/>
          </a:xfrm>
          <a:prstGeom prst="rect">
            <a:avLst/>
          </a:prstGeom>
          <a:noFill/>
          <a:ln w="0">
            <a:noFill/>
            <a:prstDash val="solid"/>
          </a:ln>
        </p:spPr>
        <p:txBody>
          <a:bodyPr anchor="ctr"/>
          <a:lstStyle/>
          <a:p>
            <a:pPr algn="l">
              <a:buNone/>
              <a:defRPr sz="2850" b="0">
                <a:solidFill>
                  <a:srgbClr val="2D3F4B"/>
                </a:solidFill>
                <a:latin typeface="Arial"/>
                <a:ea typeface="Arial"/>
                <a:cs typeface="Arial"/>
              </a:defRPr>
            </a:pPr>
            <a:r>
              <a:rPr sz="2850" b="0">
                <a:solidFill>
                  <a:srgbClr val="2D3F4B"/>
                </a:solidFill>
                <a:latin typeface="Arial"/>
                <a:ea typeface="Arial"/>
                <a:cs typeface="Arial"/>
              </a:rPr>
              <a:t>Frameworkwahl ist eine Betriebsentscheidung</a:t>
            </a:r>
          </a:p>
        </p:txBody>
      </p:sp>
      <p:sp>
        <p:nvSpPr>
          <p:cNvPr id="3" name="title-rule">
            <a:extLst>
              <a:ext uri="{FF2B5EF4-FFF2-40B4-BE49-F238E27FC236}">
                <a16:creationId xmlns:a16="http://schemas.microsoft.com/office/drawing/2014/main" id="{742A57DF-B26E-46AE-AE0B-871F1DC60C91}"/>
              </a:ext>
            </a:extLst>
          </p:cNvPr>
          <p:cNvSpPr>
            <a:spLocks noGrp="1"/>
          </p:cNvSpPr>
          <p:nvPr/>
        </p:nvSpPr>
        <p:spPr>
          <a:xfrm>
            <a:off x="476250" y="1133475"/>
            <a:ext cx="11239500" cy="0"/>
          </a:xfrm>
          <a:prstGeom prst="line">
            <a:avLst/>
          </a:prstGeom>
          <a:ln w="25718">
            <a:solidFill>
              <a:srgbClr val="C60C30"/>
            </a:solidFill>
            <a:prstDash val="solid"/>
          </a:ln>
        </p:spPr>
        <p:txBody>
          <a:bodyPr/>
          <a:lstStyle/>
          <a:p>
            <a:endParaRPr/>
          </a:p>
        </p:txBody>
      </p:sp>
      <p:sp>
        <p:nvSpPr>
          <p:cNvPr id="4" name="slide-subtitle">
            <a:extLst>
              <a:ext uri="{FF2B5EF4-FFF2-40B4-BE49-F238E27FC236}">
                <a16:creationId xmlns:a16="http://schemas.microsoft.com/office/drawing/2014/main" id="{19E3B18D-0B98-4491-AD8E-10927075BBBF}"/>
              </a:ext>
            </a:extLst>
          </p:cNvPr>
          <p:cNvSpPr>
            <a:spLocks noGrp="1"/>
          </p:cNvSpPr>
          <p:nvPr/>
        </p:nvSpPr>
        <p:spPr>
          <a:xfrm>
            <a:off x="523875" y="1362075"/>
            <a:ext cx="11096625" cy="361950"/>
          </a:xfrm>
          <a:prstGeom prst="rect">
            <a:avLst/>
          </a:prstGeom>
          <a:noFill/>
          <a:ln w="0">
            <a:noFill/>
            <a:prstDash val="solid"/>
          </a:ln>
        </p:spPr>
        <p:txBody>
          <a:bodyPr anchor="ctr"/>
          <a:lstStyle/>
          <a:p>
            <a:pPr algn="l">
              <a:buNone/>
              <a:defRPr sz="1650" b="0">
                <a:solidFill>
                  <a:srgbClr val="81725E"/>
                </a:solidFill>
                <a:latin typeface="Arial"/>
                <a:ea typeface="Arial"/>
                <a:cs typeface="Arial"/>
              </a:defRPr>
            </a:pPr>
            <a:r>
              <a:rPr sz="1650" b="0">
                <a:solidFill>
                  <a:srgbClr val="81725E"/>
                </a:solidFill>
                <a:latin typeface="Arial"/>
                <a:ea typeface="Arial"/>
                <a:cs typeface="Arial"/>
              </a:rPr>
              <a:t>Nicht jede Pipeline muss from scratch bleiben – aber jede Abstraktion hat einen Preis.</a:t>
            </a:r>
          </a:p>
        </p:txBody>
      </p:sp>
      <p:sp>
        <p:nvSpPr>
          <p:cNvPr id="5" name="page-number">
            <a:extLst>
              <a:ext uri="{FF2B5EF4-FFF2-40B4-BE49-F238E27FC236}">
                <a16:creationId xmlns:a16="http://schemas.microsoft.com/office/drawing/2014/main" id="{64613A8E-4082-42D5-AA71-10FF924D770A}"/>
              </a:ext>
            </a:extLst>
          </p:cNvPr>
          <p:cNvSpPr>
            <a:spLocks noGrp="1"/>
          </p:cNvSpPr>
          <p:nvPr/>
        </p:nvSpPr>
        <p:spPr>
          <a:xfrm>
            <a:off x="476250" y="6353175"/>
            <a:ext cx="333375" cy="209550"/>
          </a:xfrm>
          <a:prstGeom prst="rect">
            <a:avLst/>
          </a:prstGeom>
          <a:noFill/>
          <a:ln w="0">
            <a:noFill/>
            <a:prstDash val="solid"/>
          </a:ln>
        </p:spPr>
        <p:txBody>
          <a:bodyPr anchor="t"/>
          <a:lstStyle/>
          <a:p>
            <a:pPr algn="l">
              <a:buNone/>
              <a:defRPr sz="825" b="0">
                <a:solidFill>
                  <a:srgbClr val="2D3F4B"/>
                </a:solidFill>
                <a:latin typeface="Arial"/>
                <a:ea typeface="Arial"/>
                <a:cs typeface="Arial"/>
              </a:defRPr>
            </a:pPr>
            <a:r>
              <a:rPr sz="825" b="0">
                <a:solidFill>
                  <a:srgbClr val="2D3F4B"/>
                </a:solidFill>
                <a:latin typeface="Arial"/>
                <a:ea typeface="Arial"/>
                <a:cs typeface="Arial"/>
              </a:rPr>
              <a:t>20</a:t>
            </a:r>
          </a:p>
        </p:txBody>
      </p:sp>
      <p:sp>
        <p:nvSpPr>
          <p:cNvPr id="6" name="date">
            <a:extLst>
              <a:ext uri="{FF2B5EF4-FFF2-40B4-BE49-F238E27FC236}">
                <a16:creationId xmlns:a16="http://schemas.microsoft.com/office/drawing/2014/main" id="{E8C00810-502E-440A-9433-BC807C209338}"/>
              </a:ext>
            </a:extLst>
          </p:cNvPr>
          <p:cNvSpPr>
            <a:spLocks noGrp="1"/>
          </p:cNvSpPr>
          <p:nvPr/>
        </p:nvSpPr>
        <p:spPr>
          <a:xfrm>
            <a:off x="933450" y="6353175"/>
            <a:ext cx="857250" cy="209550"/>
          </a:xfrm>
          <a:prstGeom prst="rect">
            <a:avLst/>
          </a:prstGeom>
          <a:noFill/>
          <a:ln w="0">
            <a:noFill/>
            <a:prstDash val="solid"/>
          </a:ln>
        </p:spPr>
        <p:txBody>
          <a:bodyPr anchor="t"/>
          <a:lstStyle/>
          <a:p>
            <a:pPr algn="l">
              <a:buNone/>
              <a:defRPr sz="825" b="0">
                <a:solidFill>
                  <a:srgbClr val="2D3F4B"/>
                </a:solidFill>
                <a:latin typeface="Arial"/>
                <a:ea typeface="Arial"/>
                <a:cs typeface="Arial"/>
              </a:defRPr>
            </a:pPr>
            <a:r>
              <a:rPr sz="825" b="0">
                <a:solidFill>
                  <a:srgbClr val="2D3F4B"/>
                </a:solidFill>
                <a:latin typeface="Arial"/>
                <a:ea typeface="Arial"/>
                <a:cs typeface="Arial"/>
              </a:rPr>
              <a:t>04.08.2026</a:t>
            </a:r>
          </a:p>
        </p:txBody>
      </p:sp>
      <p:sp>
        <p:nvSpPr>
          <p:cNvPr id="7" name="x-axis">
            <a:extLst>
              <a:ext uri="{FF2B5EF4-FFF2-40B4-BE49-F238E27FC236}">
                <a16:creationId xmlns:a16="http://schemas.microsoft.com/office/drawing/2014/main" id="{96B07D62-4C31-4ADF-A74C-D0F2724D9DF4}"/>
              </a:ext>
            </a:extLst>
          </p:cNvPr>
          <p:cNvSpPr>
            <a:spLocks noGrp="1"/>
          </p:cNvSpPr>
          <p:nvPr/>
        </p:nvSpPr>
        <p:spPr>
          <a:xfrm>
            <a:off x="1809750" y="4905375"/>
            <a:ext cx="8191500" cy="0"/>
          </a:xfrm>
          <a:prstGeom prst="line">
            <a:avLst/>
          </a:prstGeom>
          <a:ln w="20955">
            <a:solidFill>
              <a:srgbClr val="2D3F4B"/>
            </a:solidFill>
            <a:prstDash val="solid"/>
          </a:ln>
        </p:spPr>
        <p:txBody>
          <a:bodyPr/>
          <a:lstStyle/>
          <a:p>
            <a:endParaRPr/>
          </a:p>
        </p:txBody>
      </p:sp>
      <p:sp>
        <p:nvSpPr>
          <p:cNvPr id="8" name="y-axis">
            <a:extLst>
              <a:ext uri="{FF2B5EF4-FFF2-40B4-BE49-F238E27FC236}">
                <a16:creationId xmlns:a16="http://schemas.microsoft.com/office/drawing/2014/main" id="{09F97B8F-205F-43FE-82A5-81EA03E8914A}"/>
              </a:ext>
            </a:extLst>
          </p:cNvPr>
          <p:cNvSpPr>
            <a:spLocks noGrp="1"/>
          </p:cNvSpPr>
          <p:nvPr/>
        </p:nvSpPr>
        <p:spPr>
          <a:xfrm>
            <a:off x="1809750" y="2047875"/>
            <a:ext cx="0" cy="2857500"/>
          </a:xfrm>
          <a:prstGeom prst="line">
            <a:avLst/>
          </a:prstGeom>
          <a:ln w="20955">
            <a:solidFill>
              <a:srgbClr val="2D3F4B"/>
            </a:solidFill>
            <a:prstDash val="solid"/>
          </a:ln>
        </p:spPr>
        <p:txBody>
          <a:bodyPr/>
          <a:lstStyle/>
          <a:p>
            <a:endParaRPr/>
          </a:p>
        </p:txBody>
      </p:sp>
      <p:sp>
        <p:nvSpPr>
          <p:cNvPr id="9" name="x-left">
            <a:extLst>
              <a:ext uri="{FF2B5EF4-FFF2-40B4-BE49-F238E27FC236}">
                <a16:creationId xmlns:a16="http://schemas.microsoft.com/office/drawing/2014/main" id="{A3107278-4324-4CCB-A9C5-9EA8564A0FEB}"/>
              </a:ext>
            </a:extLst>
          </p:cNvPr>
          <p:cNvSpPr>
            <a:spLocks noGrp="1"/>
          </p:cNvSpPr>
          <p:nvPr/>
        </p:nvSpPr>
        <p:spPr>
          <a:xfrm>
            <a:off x="1790700" y="5106761"/>
            <a:ext cx="1428750" cy="238125"/>
          </a:xfrm>
          <a:prstGeom prst="rect">
            <a:avLst/>
          </a:prstGeom>
          <a:noFill/>
          <a:ln w="0">
            <a:noFill/>
            <a:prstDash val="solid"/>
          </a:ln>
        </p:spPr>
        <p:txBody>
          <a:bodyPr anchor="t"/>
          <a:lstStyle/>
          <a:p>
            <a:pPr algn="l">
              <a:buNone/>
              <a:defRPr sz="1125" b="0">
                <a:solidFill>
                  <a:srgbClr val="81725E"/>
                </a:solidFill>
                <a:latin typeface="Arial"/>
                <a:ea typeface="Arial"/>
                <a:cs typeface="Arial"/>
              </a:defRPr>
            </a:pPr>
            <a:r>
              <a:rPr sz="1125" b="0">
                <a:solidFill>
                  <a:srgbClr val="81725E"/>
                </a:solidFill>
                <a:latin typeface="Arial"/>
                <a:ea typeface="Arial"/>
                <a:cs typeface="Arial"/>
              </a:rPr>
              <a:t>mehr Kontrolle</a:t>
            </a:r>
          </a:p>
        </p:txBody>
      </p:sp>
      <p:sp>
        <p:nvSpPr>
          <p:cNvPr id="10" name="x-right">
            <a:extLst>
              <a:ext uri="{FF2B5EF4-FFF2-40B4-BE49-F238E27FC236}">
                <a16:creationId xmlns:a16="http://schemas.microsoft.com/office/drawing/2014/main" id="{FF49C5B0-8F5A-4726-A35B-46A99C4D985C}"/>
              </a:ext>
            </a:extLst>
          </p:cNvPr>
          <p:cNvSpPr>
            <a:spLocks noGrp="1"/>
          </p:cNvSpPr>
          <p:nvPr/>
        </p:nvSpPr>
        <p:spPr>
          <a:xfrm>
            <a:off x="8422821" y="5106760"/>
            <a:ext cx="1619250" cy="238125"/>
          </a:xfrm>
          <a:prstGeom prst="rect">
            <a:avLst/>
          </a:prstGeom>
          <a:noFill/>
          <a:ln w="0">
            <a:noFill/>
            <a:prstDash val="solid"/>
          </a:ln>
        </p:spPr>
        <p:txBody>
          <a:bodyPr anchor="t"/>
          <a:lstStyle/>
          <a:p>
            <a:pPr algn="r">
              <a:buNone/>
              <a:defRPr sz="1125" b="0">
                <a:solidFill>
                  <a:srgbClr val="81725E"/>
                </a:solidFill>
                <a:latin typeface="Arial"/>
                <a:ea typeface="Arial"/>
                <a:cs typeface="Arial"/>
              </a:defRPr>
            </a:pPr>
            <a:r>
              <a:rPr sz="1125" b="0">
                <a:solidFill>
                  <a:srgbClr val="81725E"/>
                </a:solidFill>
                <a:latin typeface="Arial"/>
                <a:ea typeface="Arial"/>
                <a:cs typeface="Arial"/>
              </a:rPr>
              <a:t>schneller produktiv</a:t>
            </a:r>
          </a:p>
        </p:txBody>
      </p:sp>
      <p:sp>
        <p:nvSpPr>
          <p:cNvPr id="11" name="y-top">
            <a:extLst>
              <a:ext uri="{FF2B5EF4-FFF2-40B4-BE49-F238E27FC236}">
                <a16:creationId xmlns:a16="http://schemas.microsoft.com/office/drawing/2014/main" id="{16EA4B36-BD1C-4C7D-9C9B-33A770181DCA}"/>
              </a:ext>
            </a:extLst>
          </p:cNvPr>
          <p:cNvSpPr>
            <a:spLocks noGrp="1"/>
          </p:cNvSpPr>
          <p:nvPr/>
        </p:nvSpPr>
        <p:spPr>
          <a:xfrm>
            <a:off x="523875" y="1786618"/>
            <a:ext cx="1714500" cy="238125"/>
          </a:xfrm>
          <a:prstGeom prst="rect">
            <a:avLst/>
          </a:prstGeom>
          <a:noFill/>
          <a:ln w="0">
            <a:noFill/>
            <a:prstDash val="solid"/>
          </a:ln>
        </p:spPr>
        <p:txBody>
          <a:bodyPr anchor="t"/>
          <a:lstStyle/>
          <a:p>
            <a:pPr algn="l">
              <a:buNone/>
              <a:defRPr sz="1125" b="0">
                <a:solidFill>
                  <a:srgbClr val="81725E"/>
                </a:solidFill>
                <a:latin typeface="Arial"/>
                <a:ea typeface="Arial"/>
                <a:cs typeface="Arial"/>
              </a:defRPr>
            </a:pPr>
            <a:r>
              <a:rPr sz="1125" b="0">
                <a:solidFill>
                  <a:srgbClr val="81725E"/>
                </a:solidFill>
                <a:latin typeface="Arial"/>
                <a:ea typeface="Arial"/>
                <a:cs typeface="Arial"/>
              </a:rPr>
              <a:t>mehr Betriebsaufwand</a:t>
            </a:r>
          </a:p>
        </p:txBody>
      </p:sp>
      <p:sp>
        <p:nvSpPr>
          <p:cNvPr id="12" name="y-bottom">
            <a:extLst>
              <a:ext uri="{FF2B5EF4-FFF2-40B4-BE49-F238E27FC236}">
                <a16:creationId xmlns:a16="http://schemas.microsoft.com/office/drawing/2014/main" id="{396F6BF1-1DD0-44B1-A1A6-960B58C529A3}"/>
              </a:ext>
            </a:extLst>
          </p:cNvPr>
          <p:cNvSpPr>
            <a:spLocks noGrp="1"/>
          </p:cNvSpPr>
          <p:nvPr/>
        </p:nvSpPr>
        <p:spPr>
          <a:xfrm>
            <a:off x="528637" y="4862512"/>
            <a:ext cx="1666875" cy="238125"/>
          </a:xfrm>
          <a:prstGeom prst="rect">
            <a:avLst/>
          </a:prstGeom>
          <a:noFill/>
          <a:ln w="0">
            <a:noFill/>
            <a:prstDash val="solid"/>
          </a:ln>
        </p:spPr>
        <p:txBody>
          <a:bodyPr anchor="t"/>
          <a:lstStyle/>
          <a:p>
            <a:pPr algn="l">
              <a:buNone/>
              <a:defRPr sz="1125" b="0">
                <a:solidFill>
                  <a:srgbClr val="81725E"/>
                </a:solidFill>
                <a:latin typeface="Arial"/>
                <a:ea typeface="Arial"/>
                <a:cs typeface="Arial"/>
              </a:defRPr>
            </a:pPr>
            <a:r>
              <a:rPr sz="1125" b="0">
                <a:solidFill>
                  <a:srgbClr val="81725E"/>
                </a:solidFill>
                <a:latin typeface="Arial"/>
                <a:ea typeface="Arial"/>
                <a:cs typeface="Arial"/>
              </a:rPr>
              <a:t>weniger Eigenbetrieb</a:t>
            </a:r>
          </a:p>
        </p:txBody>
      </p:sp>
      <p:sp>
        <p:nvSpPr>
          <p:cNvPr id="13" name="FROM SCRATCH-dot">
            <a:extLst>
              <a:ext uri="{FF2B5EF4-FFF2-40B4-BE49-F238E27FC236}">
                <a16:creationId xmlns:a16="http://schemas.microsoft.com/office/drawing/2014/main" id="{9780354F-5B02-4472-84DB-86CF8A93F4C1}"/>
              </a:ext>
            </a:extLst>
          </p:cNvPr>
          <p:cNvSpPr>
            <a:spLocks noGrp="1"/>
          </p:cNvSpPr>
          <p:nvPr/>
        </p:nvSpPr>
        <p:spPr>
          <a:xfrm>
            <a:off x="2619375" y="2428875"/>
            <a:ext cx="323850" cy="323850"/>
          </a:xfrm>
          <a:prstGeom prst="ellipse">
            <a:avLst/>
          </a:prstGeom>
          <a:solidFill>
            <a:srgbClr val="C60C30"/>
          </a:solidFill>
          <a:ln w="23813">
            <a:solidFill>
              <a:srgbClr val="FFFFFF"/>
            </a:solidFill>
            <a:prstDash val="solid"/>
          </a:ln>
        </p:spPr>
        <p:txBody>
          <a:bodyPr anchor="ctr"/>
          <a:lstStyle/>
          <a:p>
            <a:endParaRPr/>
          </a:p>
        </p:txBody>
      </p:sp>
      <p:sp>
        <p:nvSpPr>
          <p:cNvPr id="14" name="FROM SCRATCH-title">
            <a:extLst>
              <a:ext uri="{FF2B5EF4-FFF2-40B4-BE49-F238E27FC236}">
                <a16:creationId xmlns:a16="http://schemas.microsoft.com/office/drawing/2014/main" id="{5BE1D7D4-1C6A-4141-AB4C-A508A486943E}"/>
              </a:ext>
            </a:extLst>
          </p:cNvPr>
          <p:cNvSpPr>
            <a:spLocks noGrp="1"/>
          </p:cNvSpPr>
          <p:nvPr/>
        </p:nvSpPr>
        <p:spPr>
          <a:xfrm>
            <a:off x="1905000" y="2066925"/>
            <a:ext cx="1762125" cy="238125"/>
          </a:xfrm>
          <a:prstGeom prst="rect">
            <a:avLst/>
          </a:prstGeom>
          <a:noFill/>
          <a:ln w="0">
            <a:noFill/>
            <a:prstDash val="solid"/>
          </a:ln>
        </p:spPr>
        <p:txBody>
          <a:bodyPr anchor="t"/>
          <a:lstStyle/>
          <a:p>
            <a:pPr algn="ctr">
              <a:buNone/>
              <a:defRPr sz="1200" b="1">
                <a:solidFill>
                  <a:srgbClr val="C60C30"/>
                </a:solidFill>
                <a:latin typeface="Arial"/>
                <a:ea typeface="Arial"/>
                <a:cs typeface="Arial"/>
              </a:defRPr>
            </a:pPr>
            <a:r>
              <a:rPr sz="1200" b="1">
                <a:solidFill>
                  <a:srgbClr val="C60C30"/>
                </a:solidFill>
                <a:latin typeface="Arial"/>
                <a:ea typeface="Arial"/>
                <a:cs typeface="Arial"/>
              </a:rPr>
              <a:t>FROM SCRATCH</a:t>
            </a:r>
          </a:p>
        </p:txBody>
      </p:sp>
      <p:sp>
        <p:nvSpPr>
          <p:cNvPr id="15" name="FROM SCRATCH-copy">
            <a:extLst>
              <a:ext uri="{FF2B5EF4-FFF2-40B4-BE49-F238E27FC236}">
                <a16:creationId xmlns:a16="http://schemas.microsoft.com/office/drawing/2014/main" id="{EBE98188-3B98-4DF7-9017-EA4E8E1580BB}"/>
              </a:ext>
            </a:extLst>
          </p:cNvPr>
          <p:cNvSpPr>
            <a:spLocks noGrp="1"/>
          </p:cNvSpPr>
          <p:nvPr/>
        </p:nvSpPr>
        <p:spPr>
          <a:xfrm>
            <a:off x="1809750" y="2828925"/>
            <a:ext cx="1952625" cy="495300"/>
          </a:xfrm>
          <a:prstGeom prst="rect">
            <a:avLst/>
          </a:prstGeom>
          <a:noFill/>
          <a:ln w="0">
            <a:noFill/>
            <a:prstDash val="solid"/>
          </a:ln>
        </p:spPr>
        <p:txBody>
          <a:bodyPr anchor="t"/>
          <a:lstStyle/>
          <a:p>
            <a:pPr algn="ctr">
              <a:buNone/>
              <a:defRPr sz="1200" b="0">
                <a:solidFill>
                  <a:srgbClr val="2D3F4B"/>
                </a:solidFill>
                <a:latin typeface="Arial"/>
                <a:ea typeface="Arial"/>
                <a:cs typeface="Arial"/>
              </a:defRPr>
            </a:pPr>
            <a:r>
              <a:rPr sz="1200" b="0">
                <a:solidFill>
                  <a:srgbClr val="2D3F4B"/>
                </a:solidFill>
                <a:latin typeface="Arial"/>
                <a:ea typeface="Arial"/>
                <a:cs typeface="Arial"/>
              </a:rPr>
              <a:t>Verstehen · Kontrolle</a:t>
            </a:r>
          </a:p>
          <a:p>
            <a:pPr algn="ctr">
              <a:buNone/>
              <a:defRPr sz="1200" b="0">
                <a:solidFill>
                  <a:srgbClr val="2D3F4B"/>
                </a:solidFill>
                <a:latin typeface="Arial"/>
                <a:ea typeface="Arial"/>
                <a:cs typeface="Arial"/>
              </a:defRPr>
            </a:pPr>
            <a:r>
              <a:rPr sz="1200" b="0">
                <a:solidFill>
                  <a:srgbClr val="2D3F4B"/>
                </a:solidFill>
                <a:latin typeface="Arial"/>
                <a:ea typeface="Arial"/>
                <a:cs typeface="Arial"/>
              </a:rPr>
              <a:t>mehr Eigenarbeit</a:t>
            </a:r>
          </a:p>
        </p:txBody>
      </p:sp>
      <p:sp>
        <p:nvSpPr>
          <p:cNvPr id="16" name="RAG-FRAMEWORK-dot">
            <a:extLst>
              <a:ext uri="{FF2B5EF4-FFF2-40B4-BE49-F238E27FC236}">
                <a16:creationId xmlns:a16="http://schemas.microsoft.com/office/drawing/2014/main" id="{98BAE187-90E2-4FC9-8A02-97149E81B474}"/>
              </a:ext>
            </a:extLst>
          </p:cNvPr>
          <p:cNvSpPr>
            <a:spLocks noGrp="1"/>
          </p:cNvSpPr>
          <p:nvPr/>
        </p:nvSpPr>
        <p:spPr>
          <a:xfrm>
            <a:off x="5191125" y="3190875"/>
            <a:ext cx="323850" cy="323850"/>
          </a:xfrm>
          <a:prstGeom prst="ellipse">
            <a:avLst/>
          </a:prstGeom>
          <a:solidFill>
            <a:srgbClr val="43858A"/>
          </a:solidFill>
          <a:ln w="23813">
            <a:solidFill>
              <a:srgbClr val="FFFFFF"/>
            </a:solidFill>
            <a:prstDash val="solid"/>
          </a:ln>
        </p:spPr>
        <p:txBody>
          <a:bodyPr anchor="ctr"/>
          <a:lstStyle/>
          <a:p>
            <a:endParaRPr/>
          </a:p>
        </p:txBody>
      </p:sp>
      <p:sp>
        <p:nvSpPr>
          <p:cNvPr id="17" name="RAG-FRAMEWORK-title">
            <a:extLst>
              <a:ext uri="{FF2B5EF4-FFF2-40B4-BE49-F238E27FC236}">
                <a16:creationId xmlns:a16="http://schemas.microsoft.com/office/drawing/2014/main" id="{F5355E09-C538-4B0F-9698-496A71581BF3}"/>
              </a:ext>
            </a:extLst>
          </p:cNvPr>
          <p:cNvSpPr>
            <a:spLocks noGrp="1"/>
          </p:cNvSpPr>
          <p:nvPr/>
        </p:nvSpPr>
        <p:spPr>
          <a:xfrm>
            <a:off x="4476750" y="2828925"/>
            <a:ext cx="1762125" cy="238125"/>
          </a:xfrm>
          <a:prstGeom prst="rect">
            <a:avLst/>
          </a:prstGeom>
          <a:noFill/>
          <a:ln w="0">
            <a:noFill/>
            <a:prstDash val="solid"/>
          </a:ln>
        </p:spPr>
        <p:txBody>
          <a:bodyPr anchor="t"/>
          <a:lstStyle/>
          <a:p>
            <a:pPr algn="ctr">
              <a:buNone/>
              <a:defRPr sz="1200" b="1">
                <a:solidFill>
                  <a:srgbClr val="43858A"/>
                </a:solidFill>
                <a:latin typeface="Arial"/>
                <a:ea typeface="Arial"/>
                <a:cs typeface="Arial"/>
              </a:defRPr>
            </a:pPr>
            <a:r>
              <a:rPr sz="1200" b="1">
                <a:solidFill>
                  <a:srgbClr val="43858A"/>
                </a:solidFill>
                <a:latin typeface="Arial"/>
                <a:ea typeface="Arial"/>
                <a:cs typeface="Arial"/>
              </a:rPr>
              <a:t>RAG-FRAMEWORK</a:t>
            </a:r>
          </a:p>
        </p:txBody>
      </p:sp>
      <p:sp>
        <p:nvSpPr>
          <p:cNvPr id="18" name="RAG-FRAMEWORK-copy">
            <a:extLst>
              <a:ext uri="{FF2B5EF4-FFF2-40B4-BE49-F238E27FC236}">
                <a16:creationId xmlns:a16="http://schemas.microsoft.com/office/drawing/2014/main" id="{506AC957-DD96-4CE9-8293-25F0847C835D}"/>
              </a:ext>
            </a:extLst>
          </p:cNvPr>
          <p:cNvSpPr>
            <a:spLocks noGrp="1"/>
          </p:cNvSpPr>
          <p:nvPr/>
        </p:nvSpPr>
        <p:spPr>
          <a:xfrm>
            <a:off x="4381500" y="3590925"/>
            <a:ext cx="1952625" cy="495300"/>
          </a:xfrm>
          <a:prstGeom prst="rect">
            <a:avLst/>
          </a:prstGeom>
          <a:noFill/>
          <a:ln w="0">
            <a:noFill/>
            <a:prstDash val="solid"/>
          </a:ln>
        </p:spPr>
        <p:txBody>
          <a:bodyPr anchor="t"/>
          <a:lstStyle/>
          <a:p>
            <a:pPr algn="ctr">
              <a:buNone/>
              <a:defRPr sz="1200" b="0">
                <a:solidFill>
                  <a:srgbClr val="2D3F4B"/>
                </a:solidFill>
                <a:latin typeface="Arial"/>
                <a:ea typeface="Arial"/>
                <a:cs typeface="Arial"/>
              </a:defRPr>
            </a:pPr>
            <a:r>
              <a:rPr sz="1200" b="0">
                <a:solidFill>
                  <a:srgbClr val="2D3F4B"/>
                </a:solidFill>
                <a:latin typeface="Arial"/>
                <a:ea typeface="Arial"/>
                <a:cs typeface="Arial"/>
              </a:rPr>
              <a:t>LlamaIndex · LangChain</a:t>
            </a:r>
          </a:p>
          <a:p>
            <a:pPr algn="ctr">
              <a:buNone/>
              <a:defRPr sz="1200" b="0">
                <a:solidFill>
                  <a:srgbClr val="2D3F4B"/>
                </a:solidFill>
                <a:latin typeface="Arial"/>
                <a:ea typeface="Arial"/>
                <a:cs typeface="Arial"/>
              </a:defRPr>
            </a:pPr>
            <a:r>
              <a:rPr sz="1200" b="0">
                <a:solidFill>
                  <a:srgbClr val="2D3F4B"/>
                </a:solidFill>
                <a:latin typeface="Arial"/>
                <a:ea typeface="Arial"/>
                <a:cs typeface="Arial"/>
              </a:rPr>
              <a:t>mehr Convenience</a:t>
            </a:r>
          </a:p>
        </p:txBody>
      </p:sp>
      <p:sp>
        <p:nvSpPr>
          <p:cNvPr id="19" name="LANGGRAPH-dot">
            <a:extLst>
              <a:ext uri="{FF2B5EF4-FFF2-40B4-BE49-F238E27FC236}">
                <a16:creationId xmlns:a16="http://schemas.microsoft.com/office/drawing/2014/main" id="{4C0CF755-2687-4A20-BDFB-6CDA3626671D}"/>
              </a:ext>
            </a:extLst>
          </p:cNvPr>
          <p:cNvSpPr>
            <a:spLocks noGrp="1"/>
          </p:cNvSpPr>
          <p:nvPr/>
        </p:nvSpPr>
        <p:spPr>
          <a:xfrm>
            <a:off x="7000875" y="2286000"/>
            <a:ext cx="323850" cy="323850"/>
          </a:xfrm>
          <a:prstGeom prst="ellipse">
            <a:avLst/>
          </a:prstGeom>
          <a:solidFill>
            <a:srgbClr val="7C466F"/>
          </a:solidFill>
          <a:ln w="23813">
            <a:solidFill>
              <a:srgbClr val="FFFFFF"/>
            </a:solidFill>
            <a:prstDash val="solid"/>
          </a:ln>
        </p:spPr>
        <p:txBody>
          <a:bodyPr anchor="ctr"/>
          <a:lstStyle/>
          <a:p>
            <a:endParaRPr/>
          </a:p>
        </p:txBody>
      </p:sp>
      <p:sp>
        <p:nvSpPr>
          <p:cNvPr id="20" name="LANGGRAPH-title">
            <a:extLst>
              <a:ext uri="{FF2B5EF4-FFF2-40B4-BE49-F238E27FC236}">
                <a16:creationId xmlns:a16="http://schemas.microsoft.com/office/drawing/2014/main" id="{37626446-594F-4437-BE59-ECA708345EF4}"/>
              </a:ext>
            </a:extLst>
          </p:cNvPr>
          <p:cNvSpPr>
            <a:spLocks noGrp="1"/>
          </p:cNvSpPr>
          <p:nvPr/>
        </p:nvSpPr>
        <p:spPr>
          <a:xfrm>
            <a:off x="6286500" y="1924050"/>
            <a:ext cx="1762125" cy="238125"/>
          </a:xfrm>
          <a:prstGeom prst="rect">
            <a:avLst/>
          </a:prstGeom>
          <a:noFill/>
          <a:ln w="0">
            <a:noFill/>
            <a:prstDash val="solid"/>
          </a:ln>
        </p:spPr>
        <p:txBody>
          <a:bodyPr anchor="t"/>
          <a:lstStyle/>
          <a:p>
            <a:pPr algn="ctr">
              <a:buNone/>
              <a:defRPr sz="1200" b="1">
                <a:solidFill>
                  <a:srgbClr val="7C466F"/>
                </a:solidFill>
                <a:latin typeface="Arial"/>
                <a:ea typeface="Arial"/>
                <a:cs typeface="Arial"/>
              </a:defRPr>
            </a:pPr>
            <a:r>
              <a:rPr sz="1200" b="1">
                <a:solidFill>
                  <a:srgbClr val="7C466F"/>
                </a:solidFill>
                <a:latin typeface="Arial"/>
                <a:ea typeface="Arial"/>
                <a:cs typeface="Arial"/>
              </a:rPr>
              <a:t>LANGGRAPH</a:t>
            </a:r>
          </a:p>
        </p:txBody>
      </p:sp>
      <p:sp>
        <p:nvSpPr>
          <p:cNvPr id="21" name="LANGGRAPH-copy">
            <a:extLst>
              <a:ext uri="{FF2B5EF4-FFF2-40B4-BE49-F238E27FC236}">
                <a16:creationId xmlns:a16="http://schemas.microsoft.com/office/drawing/2014/main" id="{5A15689D-93E5-42CA-A428-9FBF76E79A08}"/>
              </a:ext>
            </a:extLst>
          </p:cNvPr>
          <p:cNvSpPr>
            <a:spLocks noGrp="1"/>
          </p:cNvSpPr>
          <p:nvPr/>
        </p:nvSpPr>
        <p:spPr>
          <a:xfrm>
            <a:off x="6191250" y="2686050"/>
            <a:ext cx="1952625" cy="495300"/>
          </a:xfrm>
          <a:prstGeom prst="rect">
            <a:avLst/>
          </a:prstGeom>
          <a:noFill/>
          <a:ln w="0">
            <a:noFill/>
            <a:prstDash val="solid"/>
          </a:ln>
        </p:spPr>
        <p:txBody>
          <a:bodyPr anchor="t"/>
          <a:lstStyle/>
          <a:p>
            <a:pPr algn="ctr">
              <a:buNone/>
              <a:defRPr sz="1200" b="0">
                <a:solidFill>
                  <a:srgbClr val="2D3F4B"/>
                </a:solidFill>
                <a:latin typeface="Arial"/>
                <a:ea typeface="Arial"/>
                <a:cs typeface="Arial"/>
              </a:defRPr>
            </a:pPr>
            <a:r>
              <a:rPr sz="1200" b="0">
                <a:solidFill>
                  <a:srgbClr val="2D3F4B"/>
                </a:solidFill>
                <a:latin typeface="Arial"/>
                <a:ea typeface="Arial"/>
                <a:cs typeface="Arial"/>
              </a:rPr>
              <a:t>zustandsbasierte</a:t>
            </a:r>
          </a:p>
          <a:p>
            <a:pPr algn="ctr">
              <a:buNone/>
              <a:defRPr sz="1200" b="0">
                <a:solidFill>
                  <a:srgbClr val="2D3F4B"/>
                </a:solidFill>
                <a:latin typeface="Arial"/>
                <a:ea typeface="Arial"/>
                <a:cs typeface="Arial"/>
              </a:defRPr>
            </a:pPr>
            <a:r>
              <a:rPr sz="1200" b="0">
                <a:solidFill>
                  <a:srgbClr val="2D3F4B"/>
                </a:solidFill>
                <a:latin typeface="Arial"/>
                <a:ea typeface="Arial"/>
                <a:cs typeface="Arial"/>
              </a:rPr>
              <a:t>agentische Abläufe</a:t>
            </a:r>
          </a:p>
        </p:txBody>
      </p:sp>
      <p:sp>
        <p:nvSpPr>
          <p:cNvPr id="22" name="MANAGED-dot">
            <a:extLst>
              <a:ext uri="{FF2B5EF4-FFF2-40B4-BE49-F238E27FC236}">
                <a16:creationId xmlns:a16="http://schemas.microsoft.com/office/drawing/2014/main" id="{7A80B41C-37E5-4542-A3DA-BA1EC67ADDB2}"/>
              </a:ext>
            </a:extLst>
          </p:cNvPr>
          <p:cNvSpPr>
            <a:spLocks noGrp="1"/>
          </p:cNvSpPr>
          <p:nvPr/>
        </p:nvSpPr>
        <p:spPr>
          <a:xfrm>
            <a:off x="8572500" y="3857625"/>
            <a:ext cx="323850" cy="323850"/>
          </a:xfrm>
          <a:prstGeom prst="ellipse">
            <a:avLst/>
          </a:prstGeom>
          <a:solidFill>
            <a:srgbClr val="C9960F"/>
          </a:solidFill>
          <a:ln w="23813">
            <a:solidFill>
              <a:srgbClr val="FFFFFF"/>
            </a:solidFill>
            <a:prstDash val="solid"/>
          </a:ln>
        </p:spPr>
        <p:txBody>
          <a:bodyPr anchor="ctr"/>
          <a:lstStyle/>
          <a:p>
            <a:endParaRPr/>
          </a:p>
        </p:txBody>
      </p:sp>
      <p:sp>
        <p:nvSpPr>
          <p:cNvPr id="23" name="MANAGED-title">
            <a:extLst>
              <a:ext uri="{FF2B5EF4-FFF2-40B4-BE49-F238E27FC236}">
                <a16:creationId xmlns:a16="http://schemas.microsoft.com/office/drawing/2014/main" id="{104B4D8E-CE6A-4B5E-9E50-98D9100A4C68}"/>
              </a:ext>
            </a:extLst>
          </p:cNvPr>
          <p:cNvSpPr>
            <a:spLocks noGrp="1"/>
          </p:cNvSpPr>
          <p:nvPr/>
        </p:nvSpPr>
        <p:spPr>
          <a:xfrm>
            <a:off x="7858125" y="3495675"/>
            <a:ext cx="1762125" cy="238125"/>
          </a:xfrm>
          <a:prstGeom prst="rect">
            <a:avLst/>
          </a:prstGeom>
          <a:noFill/>
          <a:ln w="0">
            <a:noFill/>
            <a:prstDash val="solid"/>
          </a:ln>
        </p:spPr>
        <p:txBody>
          <a:bodyPr anchor="t"/>
          <a:lstStyle/>
          <a:p>
            <a:pPr algn="ctr">
              <a:buNone/>
              <a:defRPr sz="1200" b="1">
                <a:solidFill>
                  <a:srgbClr val="C9960F"/>
                </a:solidFill>
                <a:latin typeface="Arial"/>
                <a:ea typeface="Arial"/>
                <a:cs typeface="Arial"/>
              </a:defRPr>
            </a:pPr>
            <a:r>
              <a:rPr sz="1200" b="1">
                <a:solidFill>
                  <a:srgbClr val="C9960F"/>
                </a:solidFill>
                <a:latin typeface="Arial"/>
                <a:ea typeface="Arial"/>
                <a:cs typeface="Arial"/>
              </a:rPr>
              <a:t>MANAGED</a:t>
            </a:r>
          </a:p>
        </p:txBody>
      </p:sp>
      <p:sp>
        <p:nvSpPr>
          <p:cNvPr id="24" name="MANAGED-copy">
            <a:extLst>
              <a:ext uri="{FF2B5EF4-FFF2-40B4-BE49-F238E27FC236}">
                <a16:creationId xmlns:a16="http://schemas.microsoft.com/office/drawing/2014/main" id="{6F063988-9DC7-47FE-B05D-BEAA4ECF85F4}"/>
              </a:ext>
            </a:extLst>
          </p:cNvPr>
          <p:cNvSpPr>
            <a:spLocks noGrp="1"/>
          </p:cNvSpPr>
          <p:nvPr/>
        </p:nvSpPr>
        <p:spPr>
          <a:xfrm>
            <a:off x="7762875" y="4257675"/>
            <a:ext cx="1952625" cy="495300"/>
          </a:xfrm>
          <a:prstGeom prst="rect">
            <a:avLst/>
          </a:prstGeom>
          <a:noFill/>
          <a:ln w="0">
            <a:noFill/>
            <a:prstDash val="solid"/>
          </a:ln>
        </p:spPr>
        <p:txBody>
          <a:bodyPr anchor="t"/>
          <a:lstStyle/>
          <a:p>
            <a:pPr algn="ctr">
              <a:buNone/>
              <a:defRPr sz="1200" b="0">
                <a:solidFill>
                  <a:srgbClr val="2D3F4B"/>
                </a:solidFill>
                <a:latin typeface="Arial"/>
                <a:ea typeface="Arial"/>
                <a:cs typeface="Arial"/>
              </a:defRPr>
            </a:pPr>
            <a:r>
              <a:rPr sz="1200" b="0">
                <a:solidFill>
                  <a:srgbClr val="2D3F4B"/>
                </a:solidFill>
                <a:latin typeface="Arial"/>
                <a:ea typeface="Arial"/>
                <a:cs typeface="Arial"/>
              </a:rPr>
              <a:t>Search / File Search</a:t>
            </a:r>
          </a:p>
          <a:p>
            <a:pPr algn="ctr">
              <a:buNone/>
              <a:defRPr sz="1200" b="0">
                <a:solidFill>
                  <a:srgbClr val="2D3F4B"/>
                </a:solidFill>
                <a:latin typeface="Arial"/>
                <a:ea typeface="Arial"/>
                <a:cs typeface="Arial"/>
              </a:defRPr>
            </a:pPr>
            <a:r>
              <a:rPr sz="1200" b="0">
                <a:solidFill>
                  <a:srgbClr val="2D3F4B"/>
                </a:solidFill>
                <a:latin typeface="Arial"/>
                <a:ea typeface="Arial"/>
                <a:cs typeface="Arial"/>
              </a:rPr>
              <a:t>Betrieb ausgelagert</a:t>
            </a:r>
          </a:p>
        </p:txBody>
      </p:sp>
      <p:sp>
        <p:nvSpPr>
          <p:cNvPr id="25" name="framework-question">
            <a:extLst>
              <a:ext uri="{FF2B5EF4-FFF2-40B4-BE49-F238E27FC236}">
                <a16:creationId xmlns:a16="http://schemas.microsoft.com/office/drawing/2014/main" id="{1A71FE68-94A4-4DF6-8C4E-2D1FF6AE0259}"/>
              </a:ext>
            </a:extLst>
          </p:cNvPr>
          <p:cNvSpPr>
            <a:spLocks noGrp="1"/>
          </p:cNvSpPr>
          <p:nvPr/>
        </p:nvSpPr>
        <p:spPr>
          <a:xfrm>
            <a:off x="2524125" y="5572125"/>
            <a:ext cx="7143750" cy="400050"/>
          </a:xfrm>
          <a:prstGeom prst="roundRect">
            <a:avLst>
              <a:gd name="adj" fmla="val 28571"/>
            </a:avLst>
          </a:prstGeom>
          <a:solidFill>
            <a:srgbClr val="2D3F4B"/>
          </a:solidFill>
          <a:ln w="0">
            <a:solidFill>
              <a:srgbClr val="2D3F4B"/>
            </a:solidFill>
            <a:prstDash val="solid"/>
          </a:ln>
        </p:spPr>
        <p:txBody>
          <a:bodyPr/>
          <a:lstStyle/>
          <a:p>
            <a:endParaRPr/>
          </a:p>
        </p:txBody>
      </p:sp>
      <p:sp>
        <p:nvSpPr>
          <p:cNvPr id="26" name="framework-question-text">
            <a:extLst>
              <a:ext uri="{FF2B5EF4-FFF2-40B4-BE49-F238E27FC236}">
                <a16:creationId xmlns:a16="http://schemas.microsoft.com/office/drawing/2014/main" id="{2E134B1B-CA2D-4AA8-9422-8D553538956C}"/>
              </a:ext>
            </a:extLst>
          </p:cNvPr>
          <p:cNvSpPr>
            <a:spLocks noGrp="1"/>
          </p:cNvSpPr>
          <p:nvPr/>
        </p:nvSpPr>
        <p:spPr>
          <a:xfrm>
            <a:off x="2714625" y="5657850"/>
            <a:ext cx="6762750" cy="228600"/>
          </a:xfrm>
          <a:prstGeom prst="rect">
            <a:avLst/>
          </a:prstGeom>
          <a:noFill/>
          <a:ln w="0">
            <a:noFill/>
            <a:prstDash val="solid"/>
          </a:ln>
        </p:spPr>
        <p:txBody>
          <a:bodyPr anchor="t"/>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Entscheidend: Datenresidenz · Berechtigungen · Observability · Lock-in</a:t>
            </a:r>
          </a:p>
        </p:txBody>
      </p:sp>
    </p:spTree>
    <p:extLst>
      <p:ext uri="{BB962C8B-B14F-4D97-AF65-F5344CB8AC3E}">
        <p14:creationId xmlns:p14="http://schemas.microsoft.com/office/powerpoint/2010/main" val="11416475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a:extLst>
              <a:ext uri="{FF2B5EF4-FFF2-40B4-BE49-F238E27FC236}">
                <a16:creationId xmlns:a16="http://schemas.microsoft.com/office/drawing/2014/main" id="{4EA02B6D-B5AD-492C-AC7D-DA36712DCA39}"/>
              </a:ext>
            </a:extLst>
          </p:cNvPr>
          <p:cNvSpPr>
            <a:spLocks noGrp="1"/>
          </p:cNvSpPr>
          <p:nvPr/>
        </p:nvSpPr>
        <p:spPr>
          <a:xfrm>
            <a:off x="476250" y="333375"/>
            <a:ext cx="11239500" cy="714375"/>
          </a:xfrm>
          <a:prstGeom prst="rect">
            <a:avLst/>
          </a:prstGeom>
          <a:noFill/>
          <a:ln w="0">
            <a:noFill/>
            <a:prstDash val="solid"/>
          </a:ln>
        </p:spPr>
        <p:txBody>
          <a:bodyPr anchor="ctr"/>
          <a:lstStyle/>
          <a:p>
            <a:pPr algn="l">
              <a:buNone/>
              <a:defRPr sz="2850" b="0">
                <a:solidFill>
                  <a:srgbClr val="2D3F4B"/>
                </a:solidFill>
                <a:latin typeface="Arial"/>
                <a:ea typeface="Arial"/>
                <a:cs typeface="Arial"/>
              </a:defRPr>
            </a:pPr>
            <a:r>
              <a:rPr sz="2850" b="0">
                <a:solidFill>
                  <a:srgbClr val="2D3F4B"/>
                </a:solidFill>
                <a:latin typeface="Arial"/>
                <a:ea typeface="Arial"/>
                <a:cs typeface="Arial"/>
              </a:rPr>
              <a:t>Drei Leitlinien für gutes RAG</a:t>
            </a:r>
          </a:p>
        </p:txBody>
      </p:sp>
      <p:sp>
        <p:nvSpPr>
          <p:cNvPr id="3" name="title-rule">
            <a:extLst>
              <a:ext uri="{FF2B5EF4-FFF2-40B4-BE49-F238E27FC236}">
                <a16:creationId xmlns:a16="http://schemas.microsoft.com/office/drawing/2014/main" id="{F07EF700-241F-4664-BD5F-529E0F094C76}"/>
              </a:ext>
            </a:extLst>
          </p:cNvPr>
          <p:cNvSpPr>
            <a:spLocks noGrp="1"/>
          </p:cNvSpPr>
          <p:nvPr/>
        </p:nvSpPr>
        <p:spPr>
          <a:xfrm>
            <a:off x="476250" y="1133475"/>
            <a:ext cx="11239500" cy="0"/>
          </a:xfrm>
          <a:prstGeom prst="line">
            <a:avLst/>
          </a:prstGeom>
          <a:ln w="25718">
            <a:solidFill>
              <a:srgbClr val="C60C30"/>
            </a:solidFill>
            <a:prstDash val="solid"/>
          </a:ln>
        </p:spPr>
        <p:txBody>
          <a:bodyPr/>
          <a:lstStyle/>
          <a:p>
            <a:endParaRPr/>
          </a:p>
        </p:txBody>
      </p:sp>
      <p:sp>
        <p:nvSpPr>
          <p:cNvPr id="4" name="slide-subtitle">
            <a:extLst>
              <a:ext uri="{FF2B5EF4-FFF2-40B4-BE49-F238E27FC236}">
                <a16:creationId xmlns:a16="http://schemas.microsoft.com/office/drawing/2014/main" id="{BDF0D373-FA57-4027-8FD3-996257B19EC7}"/>
              </a:ext>
            </a:extLst>
          </p:cNvPr>
          <p:cNvSpPr>
            <a:spLocks noGrp="1"/>
          </p:cNvSpPr>
          <p:nvPr/>
        </p:nvSpPr>
        <p:spPr>
          <a:xfrm>
            <a:off x="476251" y="1362075"/>
            <a:ext cx="11239500" cy="361950"/>
          </a:xfrm>
          <a:prstGeom prst="rect">
            <a:avLst/>
          </a:prstGeom>
          <a:noFill/>
          <a:ln w="0">
            <a:noFill/>
            <a:prstDash val="solid"/>
          </a:ln>
        </p:spPr>
        <p:txBody>
          <a:bodyPr anchor="ctr"/>
          <a:lstStyle/>
          <a:p>
            <a:pPr algn="l">
              <a:buNone/>
              <a:defRPr sz="1650" b="0">
                <a:solidFill>
                  <a:srgbClr val="81725E"/>
                </a:solidFill>
                <a:latin typeface="Arial"/>
                <a:ea typeface="Arial"/>
                <a:cs typeface="Arial"/>
              </a:defRPr>
            </a:pPr>
            <a:r>
              <a:rPr sz="1650" b="0">
                <a:solidFill>
                  <a:srgbClr val="81725E"/>
                </a:solidFill>
                <a:latin typeface="Arial"/>
                <a:ea typeface="Arial"/>
                <a:cs typeface="Arial"/>
              </a:rPr>
              <a:t>Komplexität nur hinzufügen, wenn eine Messung den Bedarf zeigt.</a:t>
            </a:r>
          </a:p>
        </p:txBody>
      </p:sp>
      <p:sp>
        <p:nvSpPr>
          <p:cNvPr id="5" name="page-number">
            <a:extLst>
              <a:ext uri="{FF2B5EF4-FFF2-40B4-BE49-F238E27FC236}">
                <a16:creationId xmlns:a16="http://schemas.microsoft.com/office/drawing/2014/main" id="{7CBC6EC8-EACD-4600-9722-C03F9C1C9380}"/>
              </a:ext>
            </a:extLst>
          </p:cNvPr>
          <p:cNvSpPr>
            <a:spLocks noGrp="1"/>
          </p:cNvSpPr>
          <p:nvPr/>
        </p:nvSpPr>
        <p:spPr>
          <a:xfrm>
            <a:off x="476250" y="6353175"/>
            <a:ext cx="333375" cy="209550"/>
          </a:xfrm>
          <a:prstGeom prst="rect">
            <a:avLst/>
          </a:prstGeom>
          <a:noFill/>
          <a:ln w="0">
            <a:noFill/>
            <a:prstDash val="solid"/>
          </a:ln>
        </p:spPr>
        <p:txBody>
          <a:bodyPr anchor="t"/>
          <a:lstStyle/>
          <a:p>
            <a:pPr algn="l">
              <a:buNone/>
              <a:defRPr sz="825" b="0">
                <a:solidFill>
                  <a:srgbClr val="2D3F4B"/>
                </a:solidFill>
                <a:latin typeface="Arial"/>
                <a:ea typeface="Arial"/>
                <a:cs typeface="Arial"/>
              </a:defRPr>
            </a:pPr>
            <a:r>
              <a:rPr sz="825" b="0">
                <a:solidFill>
                  <a:srgbClr val="2D3F4B"/>
                </a:solidFill>
                <a:latin typeface="Arial"/>
                <a:ea typeface="Arial"/>
                <a:cs typeface="Arial"/>
              </a:rPr>
              <a:t>21</a:t>
            </a:r>
          </a:p>
        </p:txBody>
      </p:sp>
      <p:sp>
        <p:nvSpPr>
          <p:cNvPr id="6" name="date">
            <a:extLst>
              <a:ext uri="{FF2B5EF4-FFF2-40B4-BE49-F238E27FC236}">
                <a16:creationId xmlns:a16="http://schemas.microsoft.com/office/drawing/2014/main" id="{D0226D88-56BD-4415-B305-4CB64634BD80}"/>
              </a:ext>
            </a:extLst>
          </p:cNvPr>
          <p:cNvSpPr>
            <a:spLocks noGrp="1"/>
          </p:cNvSpPr>
          <p:nvPr/>
        </p:nvSpPr>
        <p:spPr>
          <a:xfrm>
            <a:off x="933450" y="6353175"/>
            <a:ext cx="857250" cy="209550"/>
          </a:xfrm>
          <a:prstGeom prst="rect">
            <a:avLst/>
          </a:prstGeom>
          <a:noFill/>
          <a:ln w="0">
            <a:noFill/>
            <a:prstDash val="solid"/>
          </a:ln>
        </p:spPr>
        <p:txBody>
          <a:bodyPr anchor="t"/>
          <a:lstStyle/>
          <a:p>
            <a:pPr algn="l">
              <a:buNone/>
              <a:defRPr sz="825" b="0">
                <a:solidFill>
                  <a:srgbClr val="2D3F4B"/>
                </a:solidFill>
                <a:latin typeface="Arial"/>
                <a:ea typeface="Arial"/>
                <a:cs typeface="Arial"/>
              </a:defRPr>
            </a:pPr>
            <a:r>
              <a:rPr sz="825" b="0">
                <a:solidFill>
                  <a:srgbClr val="2D3F4B"/>
                </a:solidFill>
                <a:latin typeface="Arial"/>
                <a:ea typeface="Arial"/>
                <a:cs typeface="Arial"/>
              </a:rPr>
              <a:t>04.08.2026</a:t>
            </a:r>
          </a:p>
        </p:txBody>
      </p:sp>
      <p:sp>
        <p:nvSpPr>
          <p:cNvPr id="7" name="principle-01">
            <a:extLst>
              <a:ext uri="{FF2B5EF4-FFF2-40B4-BE49-F238E27FC236}">
                <a16:creationId xmlns:a16="http://schemas.microsoft.com/office/drawing/2014/main" id="{3EED0ECA-81FE-4E51-99F3-B997FDAEEA1E}"/>
              </a:ext>
            </a:extLst>
          </p:cNvPr>
          <p:cNvSpPr>
            <a:spLocks noGrp="1"/>
          </p:cNvSpPr>
          <p:nvPr/>
        </p:nvSpPr>
        <p:spPr>
          <a:xfrm>
            <a:off x="857250" y="2095500"/>
            <a:ext cx="685800" cy="685800"/>
          </a:xfrm>
          <a:prstGeom prst="ellipse">
            <a:avLst/>
          </a:prstGeom>
          <a:solidFill>
            <a:srgbClr val="C60C30"/>
          </a:solidFill>
          <a:ln w="23813">
            <a:solidFill>
              <a:srgbClr val="FFFFFF"/>
            </a:solidFill>
            <a:prstDash val="solid"/>
          </a:ln>
        </p:spPr>
        <p:txBody>
          <a:bodyPr anchor="ctr"/>
          <a:lstStyle/>
          <a:p>
            <a:pPr algn="ctr">
              <a:buNone/>
              <a:defRPr sz="1575" b="1">
                <a:solidFill>
                  <a:srgbClr val="FFFFFF"/>
                </a:solidFill>
                <a:latin typeface="Arial"/>
                <a:ea typeface="Arial"/>
                <a:cs typeface="Arial"/>
              </a:defRPr>
            </a:pPr>
            <a:r>
              <a:rPr sz="1575" b="1">
                <a:solidFill>
                  <a:srgbClr val="FFFFFF"/>
                </a:solidFill>
                <a:latin typeface="Arial"/>
                <a:ea typeface="Arial"/>
                <a:cs typeface="Arial"/>
              </a:rPr>
              <a:t>01</a:t>
            </a:r>
          </a:p>
        </p:txBody>
      </p:sp>
      <p:sp>
        <p:nvSpPr>
          <p:cNvPr id="8" name="principle-01-title">
            <a:extLst>
              <a:ext uri="{FF2B5EF4-FFF2-40B4-BE49-F238E27FC236}">
                <a16:creationId xmlns:a16="http://schemas.microsoft.com/office/drawing/2014/main" id="{2292FA96-0737-4693-82B4-9FB221A5B192}"/>
              </a:ext>
            </a:extLst>
          </p:cNvPr>
          <p:cNvSpPr>
            <a:spLocks noGrp="1"/>
          </p:cNvSpPr>
          <p:nvPr/>
        </p:nvSpPr>
        <p:spPr>
          <a:xfrm>
            <a:off x="1857375" y="2124075"/>
            <a:ext cx="3429000" cy="323850"/>
          </a:xfrm>
          <a:prstGeom prst="rect">
            <a:avLst/>
          </a:prstGeom>
          <a:noFill/>
          <a:ln w="0">
            <a:noFill/>
            <a:prstDash val="solid"/>
          </a:ln>
        </p:spPr>
        <p:txBody>
          <a:bodyPr anchor="t"/>
          <a:lstStyle/>
          <a:p>
            <a:pPr algn="l">
              <a:buNone/>
              <a:defRPr sz="1875" b="1">
                <a:solidFill>
                  <a:srgbClr val="C60C30"/>
                </a:solidFill>
                <a:latin typeface="Arial"/>
                <a:ea typeface="Arial"/>
                <a:cs typeface="Arial"/>
              </a:defRPr>
            </a:pPr>
            <a:r>
              <a:rPr sz="1875" b="1">
                <a:solidFill>
                  <a:srgbClr val="C60C30"/>
                </a:solidFill>
                <a:latin typeface="Arial"/>
                <a:ea typeface="Arial"/>
                <a:cs typeface="Arial"/>
              </a:rPr>
              <a:t>Kontext wird konstruiert</a:t>
            </a:r>
          </a:p>
        </p:txBody>
      </p:sp>
      <p:sp>
        <p:nvSpPr>
          <p:cNvPr id="9" name="principle-01-copy">
            <a:extLst>
              <a:ext uri="{FF2B5EF4-FFF2-40B4-BE49-F238E27FC236}">
                <a16:creationId xmlns:a16="http://schemas.microsoft.com/office/drawing/2014/main" id="{C521967B-E4FB-430E-9F16-72F07C10F939}"/>
              </a:ext>
            </a:extLst>
          </p:cNvPr>
          <p:cNvSpPr>
            <a:spLocks noGrp="1"/>
          </p:cNvSpPr>
          <p:nvPr/>
        </p:nvSpPr>
        <p:spPr>
          <a:xfrm>
            <a:off x="5334000" y="2076450"/>
            <a:ext cx="5810250" cy="590550"/>
          </a:xfrm>
          <a:prstGeom prst="rect">
            <a:avLst/>
          </a:prstGeom>
          <a:noFill/>
          <a:ln w="0">
            <a:noFill/>
            <a:prstDash val="solid"/>
          </a:ln>
        </p:spPr>
        <p:txBody>
          <a:bodyPr anchor="ctr"/>
          <a:lstStyle/>
          <a:p>
            <a:pPr algn="l">
              <a:buNone/>
              <a:defRPr sz="1500" b="0">
                <a:solidFill>
                  <a:srgbClr val="2D3F4B"/>
                </a:solidFill>
                <a:latin typeface="Arial"/>
                <a:ea typeface="Arial"/>
                <a:cs typeface="Arial"/>
              </a:defRPr>
            </a:pPr>
            <a:r>
              <a:rPr sz="1500" b="0">
                <a:solidFill>
                  <a:srgbClr val="2D3F4B"/>
                </a:solidFill>
                <a:latin typeface="Arial"/>
                <a:ea typeface="Arial"/>
                <a:cs typeface="Arial"/>
              </a:rPr>
              <a:t>Chunking, Metadaten und Suchsignale bestimmen, was das Modell überhaupt sehen kann.</a:t>
            </a:r>
          </a:p>
        </p:txBody>
      </p:sp>
      <p:sp>
        <p:nvSpPr>
          <p:cNvPr id="10" name="principle-01-rule">
            <a:extLst>
              <a:ext uri="{FF2B5EF4-FFF2-40B4-BE49-F238E27FC236}">
                <a16:creationId xmlns:a16="http://schemas.microsoft.com/office/drawing/2014/main" id="{7B19927C-95BE-44B9-8D53-780E0D4D9AC6}"/>
              </a:ext>
            </a:extLst>
          </p:cNvPr>
          <p:cNvSpPr>
            <a:spLocks noGrp="1"/>
          </p:cNvSpPr>
          <p:nvPr/>
        </p:nvSpPr>
        <p:spPr>
          <a:xfrm>
            <a:off x="1857375" y="2905125"/>
            <a:ext cx="9286875" cy="0"/>
          </a:xfrm>
          <a:prstGeom prst="line">
            <a:avLst/>
          </a:prstGeom>
          <a:ln w="11430">
            <a:solidFill>
              <a:srgbClr val="C3BBB2"/>
            </a:solidFill>
            <a:prstDash val="solid"/>
          </a:ln>
        </p:spPr>
        <p:txBody>
          <a:bodyPr/>
          <a:lstStyle/>
          <a:p>
            <a:endParaRPr/>
          </a:p>
        </p:txBody>
      </p:sp>
      <p:sp>
        <p:nvSpPr>
          <p:cNvPr id="11" name="principle-02">
            <a:extLst>
              <a:ext uri="{FF2B5EF4-FFF2-40B4-BE49-F238E27FC236}">
                <a16:creationId xmlns:a16="http://schemas.microsoft.com/office/drawing/2014/main" id="{D9957B7D-2649-421E-B490-97CC2C34C027}"/>
              </a:ext>
            </a:extLst>
          </p:cNvPr>
          <p:cNvSpPr>
            <a:spLocks noGrp="1"/>
          </p:cNvSpPr>
          <p:nvPr/>
        </p:nvSpPr>
        <p:spPr>
          <a:xfrm>
            <a:off x="857250" y="3238500"/>
            <a:ext cx="685800" cy="685800"/>
          </a:xfrm>
          <a:prstGeom prst="ellipse">
            <a:avLst/>
          </a:prstGeom>
          <a:solidFill>
            <a:srgbClr val="43858A"/>
          </a:solidFill>
          <a:ln w="23813">
            <a:solidFill>
              <a:srgbClr val="FFFFFF"/>
            </a:solidFill>
            <a:prstDash val="solid"/>
          </a:ln>
        </p:spPr>
        <p:txBody>
          <a:bodyPr anchor="ctr"/>
          <a:lstStyle/>
          <a:p>
            <a:pPr algn="ctr">
              <a:buNone/>
              <a:defRPr sz="1575" b="1">
                <a:solidFill>
                  <a:srgbClr val="FFFFFF"/>
                </a:solidFill>
                <a:latin typeface="Arial"/>
                <a:ea typeface="Arial"/>
                <a:cs typeface="Arial"/>
              </a:defRPr>
            </a:pPr>
            <a:r>
              <a:rPr sz="1575" b="1">
                <a:solidFill>
                  <a:srgbClr val="FFFFFF"/>
                </a:solidFill>
                <a:latin typeface="Arial"/>
                <a:ea typeface="Arial"/>
                <a:cs typeface="Arial"/>
              </a:rPr>
              <a:t>02</a:t>
            </a:r>
          </a:p>
        </p:txBody>
      </p:sp>
      <p:sp>
        <p:nvSpPr>
          <p:cNvPr id="12" name="principle-02-title">
            <a:extLst>
              <a:ext uri="{FF2B5EF4-FFF2-40B4-BE49-F238E27FC236}">
                <a16:creationId xmlns:a16="http://schemas.microsoft.com/office/drawing/2014/main" id="{27D8C3FA-261C-4E11-B444-AE6927B7C4D9}"/>
              </a:ext>
            </a:extLst>
          </p:cNvPr>
          <p:cNvSpPr>
            <a:spLocks noGrp="1"/>
          </p:cNvSpPr>
          <p:nvPr/>
        </p:nvSpPr>
        <p:spPr>
          <a:xfrm>
            <a:off x="1857375" y="3267075"/>
            <a:ext cx="3429000" cy="323850"/>
          </a:xfrm>
          <a:prstGeom prst="rect">
            <a:avLst/>
          </a:prstGeom>
          <a:noFill/>
          <a:ln w="0">
            <a:noFill/>
            <a:prstDash val="solid"/>
          </a:ln>
        </p:spPr>
        <p:txBody>
          <a:bodyPr anchor="t"/>
          <a:lstStyle/>
          <a:p>
            <a:pPr algn="l">
              <a:buNone/>
              <a:defRPr sz="1875" b="1">
                <a:solidFill>
                  <a:srgbClr val="43858A"/>
                </a:solidFill>
                <a:latin typeface="Arial"/>
                <a:ea typeface="Arial"/>
                <a:cs typeface="Arial"/>
              </a:defRPr>
            </a:pPr>
            <a:r>
              <a:rPr sz="1875" b="1">
                <a:solidFill>
                  <a:srgbClr val="43858A"/>
                </a:solidFill>
                <a:latin typeface="Arial"/>
                <a:ea typeface="Arial"/>
                <a:cs typeface="Arial"/>
              </a:rPr>
              <a:t>Retrieval wird gemessen</a:t>
            </a:r>
          </a:p>
        </p:txBody>
      </p:sp>
      <p:sp>
        <p:nvSpPr>
          <p:cNvPr id="13" name="principle-02-copy">
            <a:extLst>
              <a:ext uri="{FF2B5EF4-FFF2-40B4-BE49-F238E27FC236}">
                <a16:creationId xmlns:a16="http://schemas.microsoft.com/office/drawing/2014/main" id="{609701F5-B6B7-4461-BC07-C778FE26E0EE}"/>
              </a:ext>
            </a:extLst>
          </p:cNvPr>
          <p:cNvSpPr>
            <a:spLocks noGrp="1"/>
          </p:cNvSpPr>
          <p:nvPr/>
        </p:nvSpPr>
        <p:spPr>
          <a:xfrm>
            <a:off x="5334000" y="3219450"/>
            <a:ext cx="5810250" cy="590550"/>
          </a:xfrm>
          <a:prstGeom prst="rect">
            <a:avLst/>
          </a:prstGeom>
          <a:noFill/>
          <a:ln w="0">
            <a:noFill/>
            <a:prstDash val="solid"/>
          </a:ln>
        </p:spPr>
        <p:txBody>
          <a:bodyPr anchor="ctr"/>
          <a:lstStyle/>
          <a:p>
            <a:pPr algn="l">
              <a:buNone/>
              <a:defRPr sz="1500" b="0">
                <a:solidFill>
                  <a:srgbClr val="2D3F4B"/>
                </a:solidFill>
                <a:latin typeface="Arial"/>
                <a:ea typeface="Arial"/>
                <a:cs typeface="Arial"/>
              </a:defRPr>
            </a:pPr>
            <a:r>
              <a:rPr sz="1500" b="0">
                <a:solidFill>
                  <a:srgbClr val="2D3F4B"/>
                </a:solidFill>
                <a:latin typeface="Arial"/>
                <a:ea typeface="Arial"/>
                <a:cs typeface="Arial"/>
              </a:rPr>
              <a:t>Recall, Rang und Kontextbudget zuerst prüfen – erst danach die Generierung bewerten.</a:t>
            </a:r>
          </a:p>
        </p:txBody>
      </p:sp>
      <p:sp>
        <p:nvSpPr>
          <p:cNvPr id="14" name="principle-02-rule">
            <a:extLst>
              <a:ext uri="{FF2B5EF4-FFF2-40B4-BE49-F238E27FC236}">
                <a16:creationId xmlns:a16="http://schemas.microsoft.com/office/drawing/2014/main" id="{E4AB6B7C-6D4F-472D-9948-E031B026F578}"/>
              </a:ext>
            </a:extLst>
          </p:cNvPr>
          <p:cNvSpPr>
            <a:spLocks noGrp="1"/>
          </p:cNvSpPr>
          <p:nvPr/>
        </p:nvSpPr>
        <p:spPr>
          <a:xfrm>
            <a:off x="1857375" y="4048125"/>
            <a:ext cx="9286875" cy="0"/>
          </a:xfrm>
          <a:prstGeom prst="line">
            <a:avLst/>
          </a:prstGeom>
          <a:ln w="11430">
            <a:solidFill>
              <a:srgbClr val="C3BBB2"/>
            </a:solidFill>
            <a:prstDash val="solid"/>
          </a:ln>
        </p:spPr>
        <p:txBody>
          <a:bodyPr/>
          <a:lstStyle/>
          <a:p>
            <a:endParaRPr/>
          </a:p>
        </p:txBody>
      </p:sp>
      <p:sp>
        <p:nvSpPr>
          <p:cNvPr id="15" name="principle-03">
            <a:extLst>
              <a:ext uri="{FF2B5EF4-FFF2-40B4-BE49-F238E27FC236}">
                <a16:creationId xmlns:a16="http://schemas.microsoft.com/office/drawing/2014/main" id="{7AA5CCBE-8DB4-4B54-8173-B99501498DBB}"/>
              </a:ext>
            </a:extLst>
          </p:cNvPr>
          <p:cNvSpPr>
            <a:spLocks noGrp="1"/>
          </p:cNvSpPr>
          <p:nvPr/>
        </p:nvSpPr>
        <p:spPr>
          <a:xfrm>
            <a:off x="857250" y="4381500"/>
            <a:ext cx="685800" cy="685800"/>
          </a:xfrm>
          <a:prstGeom prst="ellipse">
            <a:avLst/>
          </a:prstGeom>
          <a:solidFill>
            <a:srgbClr val="C9960F"/>
          </a:solidFill>
          <a:ln w="23813">
            <a:solidFill>
              <a:srgbClr val="FFFFFF"/>
            </a:solidFill>
            <a:prstDash val="solid"/>
          </a:ln>
        </p:spPr>
        <p:txBody>
          <a:bodyPr anchor="ctr"/>
          <a:lstStyle/>
          <a:p>
            <a:pPr algn="ctr">
              <a:buNone/>
              <a:defRPr sz="1575" b="1">
                <a:solidFill>
                  <a:srgbClr val="FFFFFF"/>
                </a:solidFill>
                <a:latin typeface="Arial"/>
                <a:ea typeface="Arial"/>
                <a:cs typeface="Arial"/>
              </a:defRPr>
            </a:pPr>
            <a:r>
              <a:rPr sz="1575" b="1">
                <a:solidFill>
                  <a:srgbClr val="FFFFFF"/>
                </a:solidFill>
                <a:latin typeface="Arial"/>
                <a:ea typeface="Arial"/>
                <a:cs typeface="Arial"/>
              </a:rPr>
              <a:t>03</a:t>
            </a:r>
          </a:p>
        </p:txBody>
      </p:sp>
      <p:sp>
        <p:nvSpPr>
          <p:cNvPr id="16" name="principle-03-title">
            <a:extLst>
              <a:ext uri="{FF2B5EF4-FFF2-40B4-BE49-F238E27FC236}">
                <a16:creationId xmlns:a16="http://schemas.microsoft.com/office/drawing/2014/main" id="{8FD72371-4B9E-482C-B00F-048F1079C1C4}"/>
              </a:ext>
            </a:extLst>
          </p:cNvPr>
          <p:cNvSpPr>
            <a:spLocks noGrp="1"/>
          </p:cNvSpPr>
          <p:nvPr/>
        </p:nvSpPr>
        <p:spPr>
          <a:xfrm>
            <a:off x="1857375" y="4410075"/>
            <a:ext cx="3429000" cy="323850"/>
          </a:xfrm>
          <a:prstGeom prst="rect">
            <a:avLst/>
          </a:prstGeom>
          <a:noFill/>
          <a:ln w="0">
            <a:noFill/>
            <a:prstDash val="solid"/>
          </a:ln>
        </p:spPr>
        <p:txBody>
          <a:bodyPr anchor="t"/>
          <a:lstStyle/>
          <a:p>
            <a:pPr algn="l">
              <a:buNone/>
              <a:defRPr sz="1875" b="1">
                <a:solidFill>
                  <a:srgbClr val="C9960F"/>
                </a:solidFill>
                <a:latin typeface="Arial"/>
                <a:ea typeface="Arial"/>
                <a:cs typeface="Arial"/>
              </a:defRPr>
            </a:pPr>
            <a:r>
              <a:rPr sz="1875" b="1">
                <a:solidFill>
                  <a:srgbClr val="C9960F"/>
                </a:solidFill>
                <a:latin typeface="Arial"/>
                <a:ea typeface="Arial"/>
                <a:cs typeface="Arial"/>
              </a:rPr>
              <a:t>Belege schlagen Plausibilität</a:t>
            </a:r>
          </a:p>
        </p:txBody>
      </p:sp>
      <p:sp>
        <p:nvSpPr>
          <p:cNvPr id="17" name="principle-03-copy">
            <a:extLst>
              <a:ext uri="{FF2B5EF4-FFF2-40B4-BE49-F238E27FC236}">
                <a16:creationId xmlns:a16="http://schemas.microsoft.com/office/drawing/2014/main" id="{04C09685-628F-4B34-8B46-295A5FC0DA6F}"/>
              </a:ext>
            </a:extLst>
          </p:cNvPr>
          <p:cNvSpPr>
            <a:spLocks noGrp="1"/>
          </p:cNvSpPr>
          <p:nvPr/>
        </p:nvSpPr>
        <p:spPr>
          <a:xfrm>
            <a:off x="5334000" y="4362450"/>
            <a:ext cx="5810250" cy="590550"/>
          </a:xfrm>
          <a:prstGeom prst="rect">
            <a:avLst/>
          </a:prstGeom>
          <a:noFill/>
          <a:ln w="0">
            <a:noFill/>
            <a:prstDash val="solid"/>
          </a:ln>
        </p:spPr>
        <p:txBody>
          <a:bodyPr anchor="ctr"/>
          <a:lstStyle/>
          <a:p>
            <a:pPr algn="l">
              <a:buNone/>
              <a:defRPr sz="1500" b="0">
                <a:solidFill>
                  <a:srgbClr val="2D3F4B"/>
                </a:solidFill>
                <a:latin typeface="Arial"/>
                <a:ea typeface="Arial"/>
                <a:cs typeface="Arial"/>
              </a:defRPr>
            </a:pPr>
            <a:r>
              <a:rPr sz="1500" b="0">
                <a:solidFill>
                  <a:srgbClr val="2D3F4B"/>
                </a:solidFill>
                <a:latin typeface="Arial"/>
                <a:ea typeface="Arial"/>
                <a:cs typeface="Arial"/>
              </a:rPr>
              <a:t>Eine gute Antwort deckt Fakten ab und weist nachvollziehbare, passende Quellen aus.</a:t>
            </a:r>
          </a:p>
        </p:txBody>
      </p:sp>
      <p:sp>
        <p:nvSpPr>
          <p:cNvPr id="18" name="final-path">
            <a:extLst>
              <a:ext uri="{FF2B5EF4-FFF2-40B4-BE49-F238E27FC236}">
                <a16:creationId xmlns:a16="http://schemas.microsoft.com/office/drawing/2014/main" id="{C394096E-41A1-4874-9DD0-A5B4CEA9B520}"/>
              </a:ext>
            </a:extLst>
          </p:cNvPr>
          <p:cNvSpPr>
            <a:spLocks noGrp="1"/>
          </p:cNvSpPr>
          <p:nvPr/>
        </p:nvSpPr>
        <p:spPr>
          <a:xfrm>
            <a:off x="2476500" y="5572125"/>
            <a:ext cx="7239000" cy="400050"/>
          </a:xfrm>
          <a:prstGeom prst="roundRect">
            <a:avLst>
              <a:gd name="adj" fmla="val 28571"/>
            </a:avLst>
          </a:prstGeom>
          <a:solidFill>
            <a:srgbClr val="2D3F4B"/>
          </a:solidFill>
          <a:ln w="0">
            <a:solidFill>
              <a:srgbClr val="2D3F4B"/>
            </a:solidFill>
            <a:prstDash val="solid"/>
          </a:ln>
        </p:spPr>
        <p:txBody>
          <a:bodyPr/>
          <a:lstStyle/>
          <a:p>
            <a:endParaRPr/>
          </a:p>
        </p:txBody>
      </p:sp>
      <p:sp>
        <p:nvSpPr>
          <p:cNvPr id="19" name="final-path-text">
            <a:extLst>
              <a:ext uri="{FF2B5EF4-FFF2-40B4-BE49-F238E27FC236}">
                <a16:creationId xmlns:a16="http://schemas.microsoft.com/office/drawing/2014/main" id="{B9D0D05C-582B-4D4E-A353-4577B1236631}"/>
              </a:ext>
            </a:extLst>
          </p:cNvPr>
          <p:cNvSpPr>
            <a:spLocks noGrp="1"/>
          </p:cNvSpPr>
          <p:nvPr/>
        </p:nvSpPr>
        <p:spPr>
          <a:xfrm>
            <a:off x="2714625" y="5603420"/>
            <a:ext cx="6762750" cy="228600"/>
          </a:xfrm>
          <a:prstGeom prst="rect">
            <a:avLst/>
          </a:prstGeom>
          <a:noFill/>
          <a:ln w="0">
            <a:noFill/>
            <a:prstDash val="solid"/>
          </a:ln>
        </p:spPr>
        <p:txBody>
          <a:bodyPr anchor="t"/>
          <a:lstStyle/>
          <a:p>
            <a:pPr algn="ctr">
              <a:buNone/>
              <a:defRPr sz="1500" b="1">
                <a:solidFill>
                  <a:srgbClr val="FFFFFF"/>
                </a:solidFill>
                <a:latin typeface="Arial"/>
                <a:ea typeface="Arial"/>
                <a:cs typeface="Arial"/>
              </a:defRPr>
            </a:pPr>
            <a:r>
              <a:rPr sz="1500" b="1">
                <a:solidFill>
                  <a:srgbClr val="FFFFFF"/>
                </a:solidFill>
                <a:latin typeface="Arial"/>
                <a:ea typeface="Arial"/>
                <a:cs typeface="Arial"/>
              </a:rPr>
              <a:t>Einfach starten  →  messen  →  gezielt verbessern</a:t>
            </a:r>
          </a:p>
        </p:txBody>
      </p:sp>
    </p:spTree>
    <p:extLst>
      <p:ext uri="{BB962C8B-B14F-4D97-AF65-F5344CB8AC3E}">
        <p14:creationId xmlns:p14="http://schemas.microsoft.com/office/powerpoint/2010/main" val="17487037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F5ED318-A0E3-33DA-186A-A994F234DFBD}"/>
              </a:ext>
            </a:extLst>
          </p:cNvPr>
          <p:cNvSpPr>
            <a:spLocks noGrp="1"/>
          </p:cNvSpPr>
          <p:nvPr>
            <p:ph type="title"/>
          </p:nvPr>
        </p:nvSpPr>
        <p:spPr/>
        <p:txBody>
          <a:bodyPr/>
          <a:lstStyle/>
          <a:p>
            <a:r>
              <a:t>Vielen Dank für Ihr Interesse!</a:t>
            </a:r>
          </a:p>
        </p:txBody>
      </p:sp>
      <p:sp>
        <p:nvSpPr>
          <p:cNvPr id="3" name="Datumsplatzhalter 2">
            <a:extLst>
              <a:ext uri="{FF2B5EF4-FFF2-40B4-BE49-F238E27FC236}">
                <a16:creationId xmlns:a16="http://schemas.microsoft.com/office/drawing/2014/main" id="{D520D941-00BE-1928-54F8-8F67225E072A}"/>
              </a:ext>
            </a:extLst>
          </p:cNvPr>
          <p:cNvSpPr>
            <a:spLocks noGrp="1"/>
          </p:cNvSpPr>
          <p:nvPr>
            <p:ph type="dt" idx="10"/>
          </p:nvPr>
        </p:nvSpPr>
        <p:spPr/>
        <p:txBody>
          <a:bodyPr/>
          <a:lstStyle/>
          <a:p>
            <a:fld id="{0CA583EE-97BD-443A-B41B-1EE41A4CF6B6}" type="datetime1">
              <a:t>06.08.2026</a:t>
            </a:fld>
            <a:endParaRPr/>
          </a:p>
        </p:txBody>
      </p:sp>
      <p:sp>
        <p:nvSpPr>
          <p:cNvPr id="4" name="Foliennummernplatzhalter 3">
            <a:extLst>
              <a:ext uri="{FF2B5EF4-FFF2-40B4-BE49-F238E27FC236}">
                <a16:creationId xmlns:a16="http://schemas.microsoft.com/office/drawing/2014/main" id="{8FEE0C9C-6980-3524-3FEC-B04CA0F3A651}"/>
              </a:ext>
            </a:extLst>
          </p:cNvPr>
          <p:cNvSpPr>
            <a:spLocks noGrp="1"/>
          </p:cNvSpPr>
          <p:nvPr>
            <p:ph type="sldNum" idx="12"/>
          </p:nvPr>
        </p:nvSpPr>
        <p:spPr/>
        <p:txBody>
          <a:bodyPr/>
          <a:lstStyle/>
          <a:p>
            <a:fld id="{CE7E00E2-F08D-429A-AD9B-1ECBEC02F4DB}" type="slidenum">
              <a:t>22</a:t>
            </a:fld>
            <a:endParaRPr/>
          </a:p>
        </p:txBody>
      </p:sp>
      <p:sp>
        <p:nvSpPr>
          <p:cNvPr id="5" name="Inhaltsplatzhalter 4">
            <a:extLst>
              <a:ext uri="{FF2B5EF4-FFF2-40B4-BE49-F238E27FC236}">
                <a16:creationId xmlns:a16="http://schemas.microsoft.com/office/drawing/2014/main" id="{8BBA1CD5-D089-0FD1-257C-A5895C09AB76}"/>
              </a:ext>
            </a:extLst>
          </p:cNvPr>
          <p:cNvSpPr>
            <a:spLocks noGrp="1"/>
          </p:cNvSpPr>
          <p:nvPr>
            <p:ph idx="13"/>
          </p:nvPr>
        </p:nvSpPr>
        <p:spPr>
          <a:xfrm>
            <a:off x="482460" y="3591718"/>
            <a:ext cx="4927739" cy="1894681"/>
          </a:xfrm>
        </p:spPr>
        <p:txBody>
          <a:bodyPr/>
          <a:lstStyle/>
          <a:p>
            <a:pPr marL="12600" indent="0">
              <a:buNone/>
            </a:pPr>
            <a:r>
              <a:rPr b="1"/>
              <a:t>Stephanie Mehltretter</a:t>
            </a:r>
            <a:br/>
            <a:r>
              <a:t>Data Engineer</a:t>
            </a:r>
            <a:br/>
            <a:r>
              <a:t>stephanie.mehltretter@akros.ch</a:t>
            </a:r>
          </a:p>
        </p:txBody>
      </p:sp>
      <p:sp>
        <p:nvSpPr>
          <p:cNvPr id="9" name="Oval 5">
            <a:extLst>
              <a:ext uri="{FF2B5EF4-FFF2-40B4-BE49-F238E27FC236}">
                <a16:creationId xmlns:a16="http://schemas.microsoft.com/office/drawing/2014/main" id="{BBC828D5-DEFC-1FEE-4C28-DACDABE4DD56}"/>
              </a:ext>
            </a:extLst>
          </p:cNvPr>
          <p:cNvSpPr>
            <a:spLocks noGrp="1"/>
          </p:cNvSpPr>
          <p:nvPr/>
        </p:nvSpPr>
        <p:spPr>
          <a:xfrm>
            <a:off x="479425" y="1412874"/>
            <a:ext cx="2016125" cy="2016125"/>
          </a:xfrm>
          <a:prstGeom prst="ellipse">
            <a:avLst/>
          </a:prstGeom>
          <a:blipFill rotWithShape="1">
            <a:blip r:embed="rId3"/>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11" name="Oval 5">
            <a:extLst>
              <a:ext uri="{FF2B5EF4-FFF2-40B4-BE49-F238E27FC236}">
                <a16:creationId xmlns:a16="http://schemas.microsoft.com/office/drawing/2014/main" id="{1EB7C2CE-C986-702F-35DA-160F6C5EB35B}"/>
              </a:ext>
            </a:extLst>
          </p:cNvPr>
          <p:cNvSpPr>
            <a:spLocks noGrp="1"/>
          </p:cNvSpPr>
          <p:nvPr/>
        </p:nvSpPr>
        <p:spPr>
          <a:xfrm>
            <a:off x="6191250" y="1412873"/>
            <a:ext cx="2016125" cy="2016125"/>
          </a:xfrm>
          <a:prstGeom prst="ellipse">
            <a:avLst/>
          </a:prstGeom>
          <a:blipFill rotWithShape="1">
            <a:blip r:embed="rId4"/>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14" name="Inhaltsplatzhalter 4">
            <a:extLst>
              <a:ext uri="{FF2B5EF4-FFF2-40B4-BE49-F238E27FC236}">
                <a16:creationId xmlns:a16="http://schemas.microsoft.com/office/drawing/2014/main" id="{C2D6FB40-D7B8-D840-02D9-487F37706B98}"/>
              </a:ext>
            </a:extLst>
          </p:cNvPr>
          <p:cNvSpPr>
            <a:spLocks noGrp="1"/>
          </p:cNvSpPr>
          <p:nvPr/>
        </p:nvSpPr>
        <p:spPr>
          <a:xfrm>
            <a:off x="6191250" y="3591718"/>
            <a:ext cx="3332302" cy="1894681"/>
          </a:xfrm>
          <a:prstGeom prst="rect">
            <a:avLst/>
          </a:prstGeom>
        </p:spPr>
        <p:txBody>
          <a:bodyPr vert="horz" lIns="0" tIns="0" rIns="0" bIns="0">
            <a:noAutofit/>
          </a:bodyPr>
          <a:lstStyle>
            <a:lvl1pPr marL="228600" indent="-216000" algn="l" defTabSz="914400">
              <a:lnSpc>
                <a:spcPct val="100000"/>
              </a:lnSpc>
              <a:spcBef>
                <a:spcPts val="0"/>
              </a:spcBef>
              <a:spcAft>
                <a:spcPts val="1000"/>
              </a:spcAft>
              <a:buClr>
                <a:schemeClr val="accent1"/>
              </a:buClr>
              <a:buFont typeface="Arial"/>
              <a:buChar char="•"/>
              <a:defRPr sz="2400" kern="1200">
                <a:solidFill>
                  <a:schemeClr val="tx1"/>
                </a:solidFill>
                <a:latin typeface="+mn-lt"/>
                <a:ea typeface="+mn-lt"/>
                <a:cs typeface="+mn-lt"/>
              </a:defRPr>
            </a:lvl1pPr>
            <a:lvl2pPr marL="432000" indent="-216000" algn="l" defTabSz="914400">
              <a:lnSpc>
                <a:spcPct val="100000"/>
              </a:lnSpc>
              <a:spcBef>
                <a:spcPts val="0"/>
              </a:spcBef>
              <a:spcAft>
                <a:spcPts val="1000"/>
              </a:spcAft>
              <a:buClr>
                <a:schemeClr val="accent1"/>
              </a:buClr>
              <a:buFont typeface="Arial"/>
              <a:buChar char="•"/>
              <a:defRPr sz="2400" kern="1200">
                <a:solidFill>
                  <a:schemeClr val="tx1"/>
                </a:solidFill>
                <a:latin typeface="+mn-lt"/>
                <a:ea typeface="+mn-lt"/>
                <a:cs typeface="+mn-lt"/>
              </a:defRPr>
            </a:lvl2pPr>
            <a:lvl3pPr marL="648000" indent="-216000" algn="l" defTabSz="914400">
              <a:lnSpc>
                <a:spcPct val="100000"/>
              </a:lnSpc>
              <a:spcBef>
                <a:spcPts val="0"/>
              </a:spcBef>
              <a:spcAft>
                <a:spcPts val="1000"/>
              </a:spcAft>
              <a:buClr>
                <a:schemeClr val="accent1"/>
              </a:buClr>
              <a:buFont typeface="Arial"/>
              <a:buChar char="•"/>
              <a:defRPr sz="2400" kern="1200">
                <a:solidFill>
                  <a:schemeClr val="tx1"/>
                </a:solidFill>
                <a:latin typeface="+mn-lt"/>
                <a:ea typeface="+mn-lt"/>
                <a:cs typeface="+mn-lt"/>
              </a:defRPr>
            </a:lvl3pPr>
            <a:lvl4pPr marL="864000" indent="-216000" algn="l" defTabSz="914400">
              <a:lnSpc>
                <a:spcPct val="100000"/>
              </a:lnSpc>
              <a:spcBef>
                <a:spcPts val="0"/>
              </a:spcBef>
              <a:spcAft>
                <a:spcPts val="1000"/>
              </a:spcAft>
              <a:buClr>
                <a:schemeClr val="accent1"/>
              </a:buClr>
              <a:buFont typeface="Arial"/>
              <a:buChar char="•"/>
              <a:defRPr sz="2400" kern="1200">
                <a:solidFill>
                  <a:schemeClr val="tx1"/>
                </a:solidFill>
                <a:latin typeface="+mn-lt"/>
                <a:ea typeface="+mn-lt"/>
                <a:cs typeface="+mn-lt"/>
              </a:defRPr>
            </a:lvl4pPr>
            <a:lvl5pPr marL="1080000" indent="-216000" algn="l" defTabSz="914400">
              <a:lnSpc>
                <a:spcPct val="100000"/>
              </a:lnSpc>
              <a:spcBef>
                <a:spcPts val="0"/>
              </a:spcBef>
              <a:spcAft>
                <a:spcPts val="1000"/>
              </a:spcAft>
              <a:buClr>
                <a:schemeClr val="accent1"/>
              </a:buClr>
              <a:buFont typeface="Arial"/>
              <a:buChar char="•"/>
              <a:defRPr sz="2400" kern="1200">
                <a:solidFill>
                  <a:schemeClr val="tx1"/>
                </a:solidFill>
                <a:latin typeface="+mn-lt"/>
                <a:ea typeface="+mn-lt"/>
                <a:cs typeface="+mn-lt"/>
              </a:defRPr>
            </a:lvl5pPr>
            <a:lvl6pPr marL="1296000" indent="-216000" algn="l" defTabSz="914400">
              <a:lnSpc>
                <a:spcPct val="100000"/>
              </a:lnSpc>
              <a:spcBef>
                <a:spcPts val="0"/>
              </a:spcBef>
              <a:spcAft>
                <a:spcPts val="1000"/>
              </a:spcAft>
              <a:buClr>
                <a:schemeClr val="accent1"/>
              </a:buClr>
              <a:buFont typeface="Arial"/>
              <a:buChar char="•"/>
              <a:defRPr sz="2400" kern="1200">
                <a:solidFill>
                  <a:schemeClr val="tx1"/>
                </a:solidFill>
                <a:latin typeface="+mn-lt"/>
                <a:ea typeface="+mn-lt"/>
                <a:cs typeface="+mn-lt"/>
              </a:defRPr>
            </a:lvl6pPr>
            <a:lvl7pPr marL="1512000" indent="-216000" algn="l" defTabSz="914400">
              <a:lnSpc>
                <a:spcPct val="100000"/>
              </a:lnSpc>
              <a:spcBef>
                <a:spcPts val="0"/>
              </a:spcBef>
              <a:spcAft>
                <a:spcPts val="1000"/>
              </a:spcAft>
              <a:buClr>
                <a:schemeClr val="accent1"/>
              </a:buClr>
              <a:buFont typeface="Arial"/>
              <a:buChar char="•"/>
              <a:defRPr sz="2400" kern="1200">
                <a:solidFill>
                  <a:schemeClr val="tx1"/>
                </a:solidFill>
                <a:latin typeface="+mn-lt"/>
                <a:ea typeface="+mn-lt"/>
                <a:cs typeface="+mn-lt"/>
              </a:defRPr>
            </a:lvl7pPr>
            <a:lvl8pPr marL="1728000" indent="-216000" algn="l" defTabSz="914400">
              <a:lnSpc>
                <a:spcPct val="100000"/>
              </a:lnSpc>
              <a:spcBef>
                <a:spcPts val="0"/>
              </a:spcBef>
              <a:spcAft>
                <a:spcPts val="1000"/>
              </a:spcAft>
              <a:buClr>
                <a:schemeClr val="accent1"/>
              </a:buClr>
              <a:buFont typeface="Arial"/>
              <a:buChar char="•"/>
              <a:defRPr sz="2400" kern="1200">
                <a:solidFill>
                  <a:schemeClr val="tx1"/>
                </a:solidFill>
                <a:latin typeface="+mn-lt"/>
                <a:ea typeface="+mn-lt"/>
                <a:cs typeface="+mn-lt"/>
              </a:defRPr>
            </a:lvl8pPr>
            <a:lvl9pPr marL="1944000" indent="-216000" algn="l" defTabSz="914400">
              <a:lnSpc>
                <a:spcPct val="100000"/>
              </a:lnSpc>
              <a:spcBef>
                <a:spcPts val="0"/>
              </a:spcBef>
              <a:spcAft>
                <a:spcPts val="1000"/>
              </a:spcAft>
              <a:buClr>
                <a:schemeClr val="accent1"/>
              </a:buClr>
              <a:buFont typeface="Arial"/>
              <a:buChar char="•"/>
              <a:defRPr sz="2400" kern="1200">
                <a:solidFill>
                  <a:schemeClr val="tx1"/>
                </a:solidFill>
                <a:latin typeface="+mn-lt"/>
                <a:ea typeface="+mn-lt"/>
                <a:cs typeface="+mn-lt"/>
              </a:defRPr>
            </a:lvl9pPr>
          </a:lstStyle>
          <a:p>
            <a:pPr marL="12600" indent="0">
              <a:buFont typeface="Arial"/>
              <a:buNone/>
            </a:pPr>
            <a:r>
              <a:rPr b="1"/>
              <a:t>Dr. Daniel Frey</a:t>
            </a:r>
            <a:br/>
            <a:r>
              <a:t>Agile Coach</a:t>
            </a:r>
            <a:br/>
            <a:r>
              <a:t>daniel.frey@akros.ch</a:t>
            </a:r>
          </a:p>
        </p:txBody>
      </p:sp>
    </p:spTree>
    <p:extLst>
      <p:ext uri="{BB962C8B-B14F-4D97-AF65-F5344CB8AC3E}">
        <p14:creationId xmlns:p14="http://schemas.microsoft.com/office/powerpoint/2010/main" val="4275060143"/>
      </p:ext>
    </p:extLst>
  </p:cSld>
  <p:clrMapOvr>
    <a:masterClrMapping/>
  </p:clrMapOvr>
</p:sld>
</file>

<file path=ppt/theme/theme1.xml><?xml version="1.0" encoding="utf-8"?>
<a:theme xmlns:a="http://schemas.openxmlformats.org/drawingml/2006/main" name="AKROS">
  <a:themeElements>
    <a:clrScheme name="AKROS">
      <a:dk1>
        <a:srgbClr val="2D3F4B"/>
      </a:dk1>
      <a:lt1>
        <a:srgbClr val="FFFFFF"/>
      </a:lt1>
      <a:dk2>
        <a:srgbClr val="C3BBB2"/>
      </a:dk2>
      <a:lt2>
        <a:srgbClr val="EAE8E5"/>
      </a:lt2>
      <a:accent1>
        <a:srgbClr val="C60C30"/>
      </a:accent1>
      <a:accent2>
        <a:srgbClr val="9BC7EE"/>
      </a:accent2>
      <a:accent3>
        <a:srgbClr val="81725E"/>
      </a:accent3>
      <a:accent4>
        <a:srgbClr val="7C466F"/>
      </a:accent4>
      <a:accent5>
        <a:srgbClr val="43858A"/>
      </a:accent5>
      <a:accent6>
        <a:srgbClr val="C9960F"/>
      </a:accent6>
      <a:hlink>
        <a:srgbClr val="9BC7EE"/>
      </a:hlink>
      <a:folHlink>
        <a:srgbClr val="7C466F"/>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KRO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AKROS">
  <a:themeElements>
    <a:clrScheme name="AKROS">
      <a:dk1>
        <a:srgbClr val="2D3F4B"/>
      </a:dk1>
      <a:lt1>
        <a:srgbClr val="FFFFFF"/>
      </a:lt1>
      <a:dk2>
        <a:srgbClr val="C3BBB2"/>
      </a:dk2>
      <a:lt2>
        <a:srgbClr val="EAE8E5"/>
      </a:lt2>
      <a:accent1>
        <a:srgbClr val="C60C30"/>
      </a:accent1>
      <a:accent2>
        <a:srgbClr val="9BC7EE"/>
      </a:accent2>
      <a:accent3>
        <a:srgbClr val="81725E"/>
      </a:accent3>
      <a:accent4>
        <a:srgbClr val="7C466F"/>
      </a:accent4>
      <a:accent5>
        <a:srgbClr val="43858A"/>
      </a:accent5>
      <a:accent6>
        <a:srgbClr val="C9960F"/>
      </a:accent6>
      <a:hlink>
        <a:srgbClr val="9BC7EE"/>
      </a:hlink>
      <a:folHlink>
        <a:srgbClr val="7C466F"/>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KRO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4003</Words>
  <Application>Microsoft Office PowerPoint</Application>
  <DocSecurity>0</DocSecurity>
  <PresentationFormat>Breitbild</PresentationFormat>
  <Paragraphs>589</Paragraphs>
  <Slides>22</Slides>
  <Notes>22</Notes>
  <HiddenSlides>0</HiddenSlides>
  <MMClips>0</MMClips>
  <ScaleCrop>false</ScaleCrop>
  <HeadingPairs>
    <vt:vector size="6" baseType="variant">
      <vt:variant>
        <vt:lpstr>Verwendete Schriftarten</vt:lpstr>
      </vt:variant>
      <vt:variant>
        <vt:i4>1</vt:i4>
      </vt:variant>
      <vt:variant>
        <vt:lpstr>Design</vt:lpstr>
      </vt:variant>
      <vt:variant>
        <vt:i4>1</vt:i4>
      </vt:variant>
      <vt:variant>
        <vt:lpstr>Folientitel</vt:lpstr>
      </vt:variant>
      <vt:variant>
        <vt:i4>22</vt:i4>
      </vt:variant>
    </vt:vector>
  </HeadingPairs>
  <TitlesOfParts>
    <vt:vector size="24" baseType="lpstr">
      <vt:lpstr>Arial</vt:lpstr>
      <vt:lpstr>AKROS</vt:lpstr>
      <vt:lpstr>Retrieval-Augmented Generator (RAG)</vt:lpstr>
      <vt:lpstr>Agenda</vt:lpstr>
      <vt:lpstr>Was ist RAG?</vt:lpstr>
      <vt:lpstr>Reine LLMs haben drei blinde Flecken</vt:lpstr>
      <vt:lpstr>RAG verschiebt die Aufgabe</vt:lpstr>
      <vt:lpstr>Vier Bausteine formen den LLM-Kontext</vt:lpstr>
      <vt:lpstr>Vier Bausteine formen den LLM-Kontext</vt:lpstr>
      <vt:lpstr>Aufbau eines Vector RAGs</vt:lpstr>
      <vt:lpstr>Aufbau eines Vector RAGs</vt:lpstr>
      <vt:lpstr>Vom Modellaufruf zum messbaren RAG</vt:lpstr>
      <vt:lpstr>Hands-on</vt:lpstr>
      <vt:lpstr>Advanced RAG</vt:lpstr>
      <vt:lpstr>PowerPoint-Präsentation</vt:lpstr>
      <vt:lpstr>PowerPoint-Präsentation</vt:lpstr>
      <vt:lpstr>PowerPoint-Präsentation</vt:lpstr>
      <vt:lpstr>PowerPoint-Präsentation</vt:lpstr>
      <vt:lpstr>GraphRAG: höchster Article-Recall, kleinster Kontext</vt:lpstr>
      <vt:lpstr>PowerPoint-Präsentation</vt:lpstr>
      <vt:lpstr>PowerPoint-Präsentation</vt:lpstr>
      <vt:lpstr>PowerPoint-Präsentation</vt:lpstr>
      <vt:lpstr>PowerPoint-Präsentation</vt:lpstr>
      <vt:lpstr>Vielen Dank für Ihr Interesse!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Mehltretter Stephanie</cp:lastModifiedBy>
  <cp:revision>1</cp:revision>
  <dcterms:created xsi:type="dcterms:W3CDTF">2026-08-06T13:02:57Z</dcterms:created>
  <dcterms:modified xsi:type="dcterms:W3CDTF">2026-08-06T14:36:27Z</dcterms:modified>
</cp:coreProperties>
</file>